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wmf" ContentType="image/x-wmf"/>
  <Default Extension="jpeg" ContentType="image/jpeg"/>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theme/themeOverride1.xml" ContentType="application/vnd.openxmlformats-officedocument.themeOverride+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9" r:id="rId1"/>
  </p:sldMasterIdLst>
  <p:notesMasterIdLst>
    <p:notesMasterId r:id="rId124"/>
  </p:notesMasterIdLst>
  <p:handoutMasterIdLst>
    <p:handoutMasterId r:id="rId125"/>
  </p:handoutMasterIdLst>
  <p:sldIdLst>
    <p:sldId id="309" r:id="rId2"/>
    <p:sldId id="256" r:id="rId3"/>
    <p:sldId id="371" r:id="rId4"/>
    <p:sldId id="257" r:id="rId5"/>
    <p:sldId id="370" r:id="rId6"/>
    <p:sldId id="372" r:id="rId7"/>
    <p:sldId id="373" r:id="rId8"/>
    <p:sldId id="258" r:id="rId9"/>
    <p:sldId id="315" r:id="rId10"/>
    <p:sldId id="297" r:id="rId11"/>
    <p:sldId id="259" r:id="rId12"/>
    <p:sldId id="374" r:id="rId13"/>
    <p:sldId id="375" r:id="rId14"/>
    <p:sldId id="285" r:id="rId15"/>
    <p:sldId id="376" r:id="rId16"/>
    <p:sldId id="377" r:id="rId17"/>
    <p:sldId id="405" r:id="rId18"/>
    <p:sldId id="398" r:id="rId19"/>
    <p:sldId id="260" r:id="rId20"/>
    <p:sldId id="338" r:id="rId21"/>
    <p:sldId id="414" r:id="rId22"/>
    <p:sldId id="263" r:id="rId23"/>
    <p:sldId id="408" r:id="rId24"/>
    <p:sldId id="411" r:id="rId25"/>
    <p:sldId id="410" r:id="rId26"/>
    <p:sldId id="262" r:id="rId27"/>
    <p:sldId id="264" r:id="rId28"/>
    <p:sldId id="266" r:id="rId29"/>
    <p:sldId id="265" r:id="rId30"/>
    <p:sldId id="267" r:id="rId31"/>
    <p:sldId id="268" r:id="rId32"/>
    <p:sldId id="269" r:id="rId33"/>
    <p:sldId id="433" r:id="rId34"/>
    <p:sldId id="434" r:id="rId35"/>
    <p:sldId id="435" r:id="rId36"/>
    <p:sldId id="436" r:id="rId37"/>
    <p:sldId id="270" r:id="rId38"/>
    <p:sldId id="271" r:id="rId39"/>
    <p:sldId id="407" r:id="rId40"/>
    <p:sldId id="418" r:id="rId41"/>
    <p:sldId id="454" r:id="rId42"/>
    <p:sldId id="378" r:id="rId43"/>
    <p:sldId id="379" r:id="rId44"/>
    <p:sldId id="380" r:id="rId45"/>
    <p:sldId id="299" r:id="rId46"/>
    <p:sldId id="301" r:id="rId47"/>
    <p:sldId id="303" r:id="rId48"/>
    <p:sldId id="304" r:id="rId49"/>
    <p:sldId id="305" r:id="rId50"/>
    <p:sldId id="381" r:id="rId51"/>
    <p:sldId id="437" r:id="rId52"/>
    <p:sldId id="438" r:id="rId53"/>
    <p:sldId id="439" r:id="rId54"/>
    <p:sldId id="440" r:id="rId55"/>
    <p:sldId id="441" r:id="rId56"/>
    <p:sldId id="419" r:id="rId57"/>
    <p:sldId id="382" r:id="rId58"/>
    <p:sldId id="448" r:id="rId59"/>
    <p:sldId id="450" r:id="rId60"/>
    <p:sldId id="449" r:id="rId61"/>
    <p:sldId id="274" r:id="rId62"/>
    <p:sldId id="444" r:id="rId63"/>
    <p:sldId id="307" r:id="rId64"/>
    <p:sldId id="443" r:id="rId65"/>
    <p:sldId id="453" r:id="rId66"/>
    <p:sldId id="388" r:id="rId67"/>
    <p:sldId id="384" r:id="rId68"/>
    <p:sldId id="385" r:id="rId69"/>
    <p:sldId id="386" r:id="rId70"/>
    <p:sldId id="389" r:id="rId71"/>
    <p:sldId id="455" r:id="rId72"/>
    <p:sldId id="313" r:id="rId73"/>
    <p:sldId id="276" r:id="rId74"/>
    <p:sldId id="344" r:id="rId75"/>
    <p:sldId id="364" r:id="rId76"/>
    <p:sldId id="365" r:id="rId77"/>
    <p:sldId id="366" r:id="rId78"/>
    <p:sldId id="396" r:id="rId79"/>
    <p:sldId id="394" r:id="rId80"/>
    <p:sldId id="346" r:id="rId81"/>
    <p:sldId id="347" r:id="rId82"/>
    <p:sldId id="421" r:id="rId83"/>
    <p:sldId id="415" r:id="rId84"/>
    <p:sldId id="277" r:id="rId85"/>
    <p:sldId id="362" r:id="rId86"/>
    <p:sldId id="361" r:id="rId87"/>
    <p:sldId id="283" r:id="rId88"/>
    <p:sldId id="397" r:id="rId89"/>
    <p:sldId id="278" r:id="rId90"/>
    <p:sldId id="349" r:id="rId91"/>
    <p:sldId id="348" r:id="rId92"/>
    <p:sldId id="279" r:id="rId93"/>
    <p:sldId id="284" r:id="rId94"/>
    <p:sldId id="350" r:id="rId95"/>
    <p:sldId id="321" r:id="rId96"/>
    <p:sldId id="322" r:id="rId97"/>
    <p:sldId id="351" r:id="rId98"/>
    <p:sldId id="289" r:id="rId99"/>
    <p:sldId id="290" r:id="rId100"/>
    <p:sldId id="291" r:id="rId101"/>
    <p:sldId id="445" r:id="rId102"/>
    <p:sldId id="446" r:id="rId103"/>
    <p:sldId id="447" r:id="rId104"/>
    <p:sldId id="292" r:id="rId105"/>
    <p:sldId id="352" r:id="rId106"/>
    <p:sldId id="353" r:id="rId107"/>
    <p:sldId id="354" r:id="rId108"/>
    <p:sldId id="355" r:id="rId109"/>
    <p:sldId id="356" r:id="rId110"/>
    <p:sldId id="357" r:id="rId111"/>
    <p:sldId id="429" r:id="rId112"/>
    <p:sldId id="430" r:id="rId113"/>
    <p:sldId id="452" r:id="rId114"/>
    <p:sldId id="319" r:id="rId115"/>
    <p:sldId id="369" r:id="rId116"/>
    <p:sldId id="312" r:id="rId117"/>
    <p:sldId id="425" r:id="rId118"/>
    <p:sldId id="426" r:id="rId119"/>
    <p:sldId id="427" r:id="rId120"/>
    <p:sldId id="428" r:id="rId121"/>
    <p:sldId id="423" r:id="rId122"/>
    <p:sldId id="424" r:id="rId123"/>
  </p:sldIdLst>
  <p:sldSz cx="9144000" cy="6858000" type="screen4x3"/>
  <p:notesSz cx="6858000" cy="9144000"/>
  <p:defaultTex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FF00FF"/>
    <a:srgbClr val="FF9900"/>
    <a:srgbClr val="FF3300"/>
    <a:srgbClr val="AFBF39"/>
    <a:srgbClr val="FFFF00"/>
    <a:srgbClr val="0099FF"/>
    <a:srgbClr val="0099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460" autoAdjust="0"/>
    <p:restoredTop sz="83829" autoAdjust="0"/>
  </p:normalViewPr>
  <p:slideViewPr>
    <p:cSldViewPr>
      <p:cViewPr varScale="1">
        <p:scale>
          <a:sx n="70" d="100"/>
          <a:sy n="70" d="100"/>
        </p:scale>
        <p:origin x="1821" y="41"/>
      </p:cViewPr>
      <p:guideLst>
        <p:guide orient="horz" pos="2160"/>
        <p:guide pos="2880"/>
      </p:guideLst>
    </p:cSldViewPr>
  </p:slideViewPr>
  <p:notesTextViewPr>
    <p:cViewPr>
      <p:scale>
        <a:sx n="100" d="100"/>
        <a:sy n="100" d="100"/>
      </p:scale>
      <p:origin x="0" y="0"/>
    </p:cViewPr>
  </p:notesTextViewPr>
  <p:notesViewPr>
    <p:cSldViewPr>
      <p:cViewPr varScale="1">
        <p:scale>
          <a:sx n="128" d="100"/>
          <a:sy n="128" d="100"/>
        </p:scale>
        <p:origin x="3768" y="62"/>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theme" Target="theme/theme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notesMaster" Target="notesMasters/notesMaster1.xml"/><Relationship Id="rId129" Type="http://schemas.openxmlformats.org/officeDocument/2006/relationships/tableStyles" Target="tableStyles.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handoutMaster" Target="handoutMasters/handout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5.wmf"/><Relationship Id="rId1" Type="http://schemas.openxmlformats.org/officeDocument/2006/relationships/image" Target="../media/image4.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8.e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image" Target="../media/image9.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image" Target="../media/image12.wmf"/><Relationship Id="rId1" Type="http://schemas.openxmlformats.org/officeDocument/2006/relationships/image" Target="../media/image11.wmf"/><Relationship Id="rId6" Type="http://schemas.openxmlformats.org/officeDocument/2006/relationships/image" Target="../media/image15.wmf"/><Relationship Id="rId5" Type="http://schemas.openxmlformats.org/officeDocument/2006/relationships/image" Target="../media/image9.wmf"/><Relationship Id="rId4" Type="http://schemas.openxmlformats.org/officeDocument/2006/relationships/image" Target="../media/image14.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image" Target="../media/image16.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9.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0.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29.wmf"/><Relationship Id="rId1" Type="http://schemas.openxmlformats.org/officeDocument/2006/relationships/image" Target="../media/image28.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32.wmf"/><Relationship Id="rId1" Type="http://schemas.openxmlformats.org/officeDocument/2006/relationships/image" Target="../media/image31.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35.wmf"/><Relationship Id="rId1" Type="http://schemas.openxmlformats.org/officeDocument/2006/relationships/image" Target="../media/image34.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38.wmf"/><Relationship Id="rId2" Type="http://schemas.openxmlformats.org/officeDocument/2006/relationships/image" Target="../media/image37.wmf"/><Relationship Id="rId1" Type="http://schemas.openxmlformats.org/officeDocument/2006/relationships/image" Target="../media/image36.wmf"/><Relationship Id="rId4" Type="http://schemas.openxmlformats.org/officeDocument/2006/relationships/image" Target="../media/image32.w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41.wmf"/><Relationship Id="rId7" Type="http://schemas.openxmlformats.org/officeDocument/2006/relationships/image" Target="../media/image45.wmf"/><Relationship Id="rId2" Type="http://schemas.openxmlformats.org/officeDocument/2006/relationships/image" Target="../media/image40.wmf"/><Relationship Id="rId1" Type="http://schemas.openxmlformats.org/officeDocument/2006/relationships/image" Target="../media/image39.wmf"/><Relationship Id="rId6" Type="http://schemas.openxmlformats.org/officeDocument/2006/relationships/image" Target="../media/image44.wmf"/><Relationship Id="rId5" Type="http://schemas.openxmlformats.org/officeDocument/2006/relationships/image" Target="../media/image43.wmf"/><Relationship Id="rId4" Type="http://schemas.openxmlformats.org/officeDocument/2006/relationships/image" Target="../media/image42.w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48.w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50.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53.wmf"/><Relationship Id="rId1" Type="http://schemas.openxmlformats.org/officeDocument/2006/relationships/image" Target="../media/image52.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55.wmf"/><Relationship Id="rId1" Type="http://schemas.openxmlformats.org/officeDocument/2006/relationships/image" Target="../media/image54.wmf"/></Relationships>
</file>

<file path=ppt/drawings/_rels/vmlDrawing24.v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58.wmf"/><Relationship Id="rId1" Type="http://schemas.openxmlformats.org/officeDocument/2006/relationships/image" Target="../media/image57.w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59.e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61.wmf"/><Relationship Id="rId1" Type="http://schemas.openxmlformats.org/officeDocument/2006/relationships/image" Target="../media/image60.wmf"/></Relationships>
</file>

<file path=ppt/drawings/_rels/vmlDrawing27.vml.rels><?xml version="1.0" encoding="UTF-8" standalone="yes"?>
<Relationships xmlns="http://schemas.openxmlformats.org/package/2006/relationships"><Relationship Id="rId3" Type="http://schemas.openxmlformats.org/officeDocument/2006/relationships/image" Target="../media/image61.wmf"/><Relationship Id="rId2" Type="http://schemas.openxmlformats.org/officeDocument/2006/relationships/image" Target="../media/image62.wmf"/><Relationship Id="rId1" Type="http://schemas.openxmlformats.org/officeDocument/2006/relationships/image" Target="../media/image57.w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63.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65.wmf"/><Relationship Id="rId1" Type="http://schemas.openxmlformats.org/officeDocument/2006/relationships/image" Target="../media/image64.wmf"/></Relationships>
</file>

<file path=ppt/drawings/_rels/vmlDrawing31.vml.rels><?xml version="1.0" encoding="UTF-8" standalone="yes"?>
<Relationships xmlns="http://schemas.openxmlformats.org/package/2006/relationships"><Relationship Id="rId2" Type="http://schemas.openxmlformats.org/officeDocument/2006/relationships/image" Target="../media/image67.wmf"/><Relationship Id="rId1" Type="http://schemas.openxmlformats.org/officeDocument/2006/relationships/image" Target="../media/image66.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68.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5E2B6073-64A6-4E59-988D-369AFF5D59EC}"/>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a:extLst>
              <a:ext uri="{FF2B5EF4-FFF2-40B4-BE49-F238E27FC236}">
                <a16:creationId xmlns:a16="http://schemas.microsoft.com/office/drawing/2014/main" id="{B6FE8B60-E875-4524-8057-0547D252238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a:defRPr/>
            </a:pPr>
            <a:fld id="{EED18A74-1E9B-449B-943D-A674EF2374F7}" type="datetimeFigureOut">
              <a:rPr lang="zh-CN" altLang="en-US"/>
              <a:pPr>
                <a:defRPr/>
              </a:pPr>
              <a:t>2023/4/19</a:t>
            </a:fld>
            <a:endParaRPr lang="zh-CN" altLang="en-US"/>
          </a:p>
        </p:txBody>
      </p:sp>
      <p:sp>
        <p:nvSpPr>
          <p:cNvPr id="4" name="页脚占位符 3">
            <a:extLst>
              <a:ext uri="{FF2B5EF4-FFF2-40B4-BE49-F238E27FC236}">
                <a16:creationId xmlns:a16="http://schemas.microsoft.com/office/drawing/2014/main" id="{82F3AD06-04E0-4A9A-8A73-21C4A5F2837F}"/>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a:defRPr/>
            </a:pPr>
            <a:endParaRPr lang="zh-CN" altLang="en-US"/>
          </a:p>
        </p:txBody>
      </p:sp>
      <p:sp>
        <p:nvSpPr>
          <p:cNvPr id="5" name="灯片编号占位符 4">
            <a:extLst>
              <a:ext uri="{FF2B5EF4-FFF2-40B4-BE49-F238E27FC236}">
                <a16:creationId xmlns:a16="http://schemas.microsoft.com/office/drawing/2014/main" id="{E59BDA6B-3D81-45BE-A42F-8166540F72DB}"/>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a:defRPr/>
            </a:pPr>
            <a:fld id="{75E3FCB3-AE7A-495B-AFBC-78C21229AE3D}" type="slidenum">
              <a:rPr lang="zh-CN" altLang="en-US"/>
              <a:pPr>
                <a:defRPr/>
              </a:pPr>
              <a:t>‹#›</a:t>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F7BBC573-0304-4EB3-8136-6AC0F5F3931E}"/>
              </a:ext>
            </a:extLst>
          </p:cNvPr>
          <p:cNvSpPr>
            <a:spLocks noGrp="1"/>
          </p:cNvSpPr>
          <p:nvPr>
            <p:ph type="hdr" sz="quarter"/>
          </p:nvPr>
        </p:nvSpPr>
        <p:spPr>
          <a:xfrm>
            <a:off x="0" y="0"/>
            <a:ext cx="2971800" cy="457200"/>
          </a:xfrm>
          <a:prstGeom prst="rect">
            <a:avLst/>
          </a:prstGeom>
        </p:spPr>
        <p:txBody>
          <a:bodyPr vert="horz" lIns="91440" tIns="45720" rIns="91440" bIns="45720" rtlCol="0"/>
          <a:lstStyle>
            <a:lvl1pPr algn="l" eaLnBrk="1" hangingPunct="1">
              <a:defRPr sz="1200">
                <a:latin typeface="Arial" charset="0"/>
              </a:defRPr>
            </a:lvl1pPr>
          </a:lstStyle>
          <a:p>
            <a:pPr>
              <a:defRPr/>
            </a:pPr>
            <a:endParaRPr lang="zh-CN" altLang="en-US"/>
          </a:p>
        </p:txBody>
      </p:sp>
      <p:sp>
        <p:nvSpPr>
          <p:cNvPr id="3" name="日期占位符 2">
            <a:extLst>
              <a:ext uri="{FF2B5EF4-FFF2-40B4-BE49-F238E27FC236}">
                <a16:creationId xmlns:a16="http://schemas.microsoft.com/office/drawing/2014/main" id="{9FF66F70-548A-490B-A046-769101DD9C57}"/>
              </a:ext>
            </a:extLst>
          </p:cNvPr>
          <p:cNvSpPr>
            <a:spLocks noGrp="1"/>
          </p:cNvSpPr>
          <p:nvPr>
            <p:ph type="dt" idx="1"/>
          </p:nvPr>
        </p:nvSpPr>
        <p:spPr>
          <a:xfrm>
            <a:off x="3884613" y="0"/>
            <a:ext cx="2971800" cy="457200"/>
          </a:xfrm>
          <a:prstGeom prst="rect">
            <a:avLst/>
          </a:prstGeom>
        </p:spPr>
        <p:txBody>
          <a:bodyPr vert="horz" lIns="91440" tIns="45720" rIns="91440" bIns="45720" rtlCol="0"/>
          <a:lstStyle>
            <a:lvl1pPr algn="r" eaLnBrk="1" hangingPunct="1">
              <a:defRPr sz="1200">
                <a:latin typeface="Arial" charset="0"/>
              </a:defRPr>
            </a:lvl1pPr>
          </a:lstStyle>
          <a:p>
            <a:pPr>
              <a:defRPr/>
            </a:pPr>
            <a:fld id="{17AF9527-B5D2-49A3-BA21-AF7D16A58E9C}" type="datetimeFigureOut">
              <a:rPr lang="zh-CN" altLang="en-US"/>
              <a:pPr>
                <a:defRPr/>
              </a:pPr>
              <a:t>2023/4/19</a:t>
            </a:fld>
            <a:endParaRPr lang="zh-CN" altLang="en-US"/>
          </a:p>
        </p:txBody>
      </p:sp>
      <p:sp>
        <p:nvSpPr>
          <p:cNvPr id="4" name="幻灯片图像占位符 3">
            <a:extLst>
              <a:ext uri="{FF2B5EF4-FFF2-40B4-BE49-F238E27FC236}">
                <a16:creationId xmlns:a16="http://schemas.microsoft.com/office/drawing/2014/main" id="{4C6FE422-DAD3-4F00-9F99-294D4E119F7B}"/>
              </a:ext>
            </a:extLst>
          </p:cNvPr>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a:extLst>
              <a:ext uri="{FF2B5EF4-FFF2-40B4-BE49-F238E27FC236}">
                <a16:creationId xmlns:a16="http://schemas.microsoft.com/office/drawing/2014/main" id="{DD52CF8B-488F-42B0-A8F3-22FCE0B8371E}"/>
              </a:ext>
            </a:extLst>
          </p:cNvPr>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a:extLst>
              <a:ext uri="{FF2B5EF4-FFF2-40B4-BE49-F238E27FC236}">
                <a16:creationId xmlns:a16="http://schemas.microsoft.com/office/drawing/2014/main" id="{68BA20CB-9CBF-4F65-B36C-E662AF2DD96A}"/>
              </a:ext>
            </a:extLst>
          </p:cNvPr>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eaLnBrk="1" hangingPunct="1">
              <a:defRPr sz="1200">
                <a:latin typeface="Arial" charset="0"/>
              </a:defRPr>
            </a:lvl1pPr>
          </a:lstStyle>
          <a:p>
            <a:pPr>
              <a:defRPr/>
            </a:pPr>
            <a:endParaRPr lang="zh-CN" altLang="en-US"/>
          </a:p>
        </p:txBody>
      </p:sp>
      <p:sp>
        <p:nvSpPr>
          <p:cNvPr id="7" name="灯片编号占位符 6">
            <a:extLst>
              <a:ext uri="{FF2B5EF4-FFF2-40B4-BE49-F238E27FC236}">
                <a16:creationId xmlns:a16="http://schemas.microsoft.com/office/drawing/2014/main" id="{BBC099A2-657C-4E4E-8DEB-D2CA622E7CCA}"/>
              </a:ext>
            </a:extLst>
          </p:cNvPr>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CEA7FE24-BC97-44BF-B95C-4310880CD89B}" type="slidenum">
              <a:rPr lang="zh-CN" altLang="en-US"/>
              <a:pPr>
                <a:defRPr/>
              </a:pPr>
              <a:t>‹#›</a:t>
            </a:fld>
            <a:endParaRPr lang="zh-CN"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a:extLst>
              <a:ext uri="{FF2B5EF4-FFF2-40B4-BE49-F238E27FC236}">
                <a16:creationId xmlns:a16="http://schemas.microsoft.com/office/drawing/2014/main" id="{F97446D5-AEDA-4409-8728-BF78D47FBA2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a:extLst>
              <a:ext uri="{FF2B5EF4-FFF2-40B4-BE49-F238E27FC236}">
                <a16:creationId xmlns:a16="http://schemas.microsoft.com/office/drawing/2014/main" id="{AEC869C3-97D6-4685-B30D-C35A71910F3C}"/>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zh-CN"/>
              <a:t>https://www.bilibili.com/video/BV1e34y1B73d/?p=4&amp;spm_id_from=pageDriver&amp;vd_source=c8707d8c7ddaaa17c43ad2d6384d075c</a:t>
            </a:r>
            <a:endParaRPr lang="zh-CN" altLang="en-US"/>
          </a:p>
        </p:txBody>
      </p:sp>
      <p:sp>
        <p:nvSpPr>
          <p:cNvPr id="6148" name="灯片编号占位符 3">
            <a:extLst>
              <a:ext uri="{FF2B5EF4-FFF2-40B4-BE49-F238E27FC236}">
                <a16:creationId xmlns:a16="http://schemas.microsoft.com/office/drawing/2014/main" id="{16316D3D-DEE8-4B9B-8F19-20B397C5BCE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814D189E-1D5A-4636-A906-176CA70BA3BF}" type="slidenum">
              <a:rPr lang="zh-CN" altLang="en-US" smtClean="0"/>
              <a:pPr/>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幻灯片图像占位符 1">
            <a:extLst>
              <a:ext uri="{FF2B5EF4-FFF2-40B4-BE49-F238E27FC236}">
                <a16:creationId xmlns:a16="http://schemas.microsoft.com/office/drawing/2014/main" id="{3547B3F6-2583-4719-A894-9026CBF7F9E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7" name="备注占位符 2">
            <a:extLst>
              <a:ext uri="{FF2B5EF4-FFF2-40B4-BE49-F238E27FC236}">
                <a16:creationId xmlns:a16="http://schemas.microsoft.com/office/drawing/2014/main" id="{85A7F1C6-3B33-4175-8FC9-6F246A09938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zh-CN" altLang="en-US" dirty="0"/>
              <a:t>行号代表产地，列号代表销地</a:t>
            </a:r>
          </a:p>
        </p:txBody>
      </p:sp>
      <p:sp>
        <p:nvSpPr>
          <p:cNvPr id="11268" name="灯片编号占位符 3">
            <a:extLst>
              <a:ext uri="{FF2B5EF4-FFF2-40B4-BE49-F238E27FC236}">
                <a16:creationId xmlns:a16="http://schemas.microsoft.com/office/drawing/2014/main" id="{462AF108-A9F9-42F5-9620-0DF89F85602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D24C2C2F-DFB3-4676-A390-0FF6674EA4C1}" type="slidenum">
              <a:rPr lang="zh-CN" altLang="en-US" smtClean="0"/>
              <a:pPr/>
              <a:t>5</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幻灯片图像占位符 1">
            <a:extLst>
              <a:ext uri="{FF2B5EF4-FFF2-40B4-BE49-F238E27FC236}">
                <a16:creationId xmlns:a16="http://schemas.microsoft.com/office/drawing/2014/main" id="{559A35F0-99AB-480C-AC9C-AAA6305E3DE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315" name="备注占位符 2">
            <a:extLst>
              <a:ext uri="{FF2B5EF4-FFF2-40B4-BE49-F238E27FC236}">
                <a16:creationId xmlns:a16="http://schemas.microsoft.com/office/drawing/2014/main" id="{B40E2C9E-2FFB-4BFD-99DB-68EB3A6638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zh-CN" dirty="0" err="1"/>
              <a:t>i</a:t>
            </a:r>
            <a:r>
              <a:rPr lang="zh-CN" altLang="en-US" dirty="0"/>
              <a:t>行 </a:t>
            </a:r>
            <a:r>
              <a:rPr lang="en-US" altLang="zh-CN" dirty="0"/>
              <a:t>j</a:t>
            </a:r>
            <a:r>
              <a:rPr lang="zh-CN" altLang="en-US" dirty="0"/>
              <a:t>列表示 产地</a:t>
            </a:r>
            <a:r>
              <a:rPr lang="en-US" altLang="zh-CN" dirty="0" err="1"/>
              <a:t>i</a:t>
            </a:r>
            <a:r>
              <a:rPr lang="zh-CN" altLang="en-US" dirty="0"/>
              <a:t>往销地</a:t>
            </a:r>
            <a:r>
              <a:rPr lang="en-US" altLang="zh-CN" dirty="0"/>
              <a:t>j</a:t>
            </a:r>
            <a:r>
              <a:rPr lang="zh-CN" altLang="en-US" dirty="0"/>
              <a:t>运输。</a:t>
            </a:r>
            <a:r>
              <a:rPr lang="en-US" altLang="zh-CN" dirty="0" err="1"/>
              <a:t>Xij</a:t>
            </a:r>
            <a:r>
              <a:rPr lang="zh-CN" altLang="en-US" dirty="0"/>
              <a:t>是指从产地</a:t>
            </a:r>
            <a:r>
              <a:rPr lang="en-US" altLang="zh-CN" dirty="0" err="1"/>
              <a:t>i</a:t>
            </a:r>
            <a:r>
              <a:rPr lang="zh-CN" altLang="en-US" dirty="0"/>
              <a:t>运向销地的运量，</a:t>
            </a:r>
            <a:r>
              <a:rPr lang="en-US" altLang="zh-CN" dirty="0" err="1"/>
              <a:t>cij</a:t>
            </a:r>
            <a:r>
              <a:rPr lang="zh-CN" altLang="en-US" dirty="0"/>
              <a:t>是指单位运费。</a:t>
            </a:r>
            <a:endParaRPr lang="en-US" altLang="zh-CN" dirty="0"/>
          </a:p>
          <a:p>
            <a:endParaRPr lang="en-US" altLang="zh-CN" dirty="0"/>
          </a:p>
          <a:p>
            <a:r>
              <a:rPr lang="zh-CN" altLang="en-US" dirty="0"/>
              <a:t>总的运价就是 </a:t>
            </a:r>
            <a:r>
              <a:rPr lang="en-US" altLang="zh-CN" dirty="0" err="1"/>
              <a:t>cijxij</a:t>
            </a:r>
            <a:r>
              <a:rPr lang="zh-CN" altLang="en-US" dirty="0"/>
              <a:t>乘积之后，对所有的</a:t>
            </a:r>
            <a:r>
              <a:rPr lang="en-US" altLang="zh-CN" dirty="0" err="1"/>
              <a:t>ij</a:t>
            </a:r>
            <a:r>
              <a:rPr lang="zh-CN" altLang="en-US" dirty="0"/>
              <a:t>求和就是总的运费。目标是总的运费最小。</a:t>
            </a:r>
            <a:endParaRPr lang="en-US" altLang="zh-CN" dirty="0"/>
          </a:p>
          <a:p>
            <a:endParaRPr lang="en-US" altLang="zh-CN" dirty="0"/>
          </a:p>
          <a:p>
            <a:r>
              <a:rPr lang="zh-CN" altLang="en-US" dirty="0"/>
              <a:t>然后约束条件是各地的生产的产品全部卖出，销售的产品全部</a:t>
            </a:r>
          </a:p>
        </p:txBody>
      </p:sp>
      <p:sp>
        <p:nvSpPr>
          <p:cNvPr id="13316" name="灯片编号占位符 3">
            <a:extLst>
              <a:ext uri="{FF2B5EF4-FFF2-40B4-BE49-F238E27FC236}">
                <a16:creationId xmlns:a16="http://schemas.microsoft.com/office/drawing/2014/main" id="{03656255-B084-40E5-BAFA-45EE2EC9917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00ED3F1E-05EC-4880-8029-33BB040B29CC}" type="slidenum">
              <a:rPr lang="zh-CN" altLang="en-US" smtClean="0"/>
              <a:pPr/>
              <a:t>6</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幻灯片图像占位符 1">
            <a:extLst>
              <a:ext uri="{FF2B5EF4-FFF2-40B4-BE49-F238E27FC236}">
                <a16:creationId xmlns:a16="http://schemas.microsoft.com/office/drawing/2014/main" id="{3D4B2789-EF7C-4FE4-91E6-0A8E1F207E1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435" name="备注占位符 2">
            <a:extLst>
              <a:ext uri="{FF2B5EF4-FFF2-40B4-BE49-F238E27FC236}">
                <a16:creationId xmlns:a16="http://schemas.microsoft.com/office/drawing/2014/main" id="{38B38276-91CD-4C22-AA9C-FCA9C098764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zh-CN" altLang="en-US"/>
              <a:t>行代表产地 列代表销地</a:t>
            </a:r>
          </a:p>
        </p:txBody>
      </p:sp>
      <p:sp>
        <p:nvSpPr>
          <p:cNvPr id="18436" name="灯片编号占位符 3">
            <a:extLst>
              <a:ext uri="{FF2B5EF4-FFF2-40B4-BE49-F238E27FC236}">
                <a16:creationId xmlns:a16="http://schemas.microsoft.com/office/drawing/2014/main" id="{8C524135-6CAB-48EB-877B-A0DC96FF949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BFFC99C8-76FD-4D10-85CE-318656DEF7C8}" type="slidenum">
              <a:rPr lang="zh-CN" altLang="en-US" smtClean="0"/>
              <a:pPr/>
              <a:t>10</a:t>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幻灯片图像占位符 1">
            <a:extLst>
              <a:ext uri="{FF2B5EF4-FFF2-40B4-BE49-F238E27FC236}">
                <a16:creationId xmlns:a16="http://schemas.microsoft.com/office/drawing/2014/main" id="{B549B679-F2F1-435A-AA49-6B93B8827BE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579" name="备注占位符 2">
            <a:extLst>
              <a:ext uri="{FF2B5EF4-FFF2-40B4-BE49-F238E27FC236}">
                <a16:creationId xmlns:a16="http://schemas.microsoft.com/office/drawing/2014/main" id="{FC906F07-0626-4CF2-BA7F-7177D3B272EB}"/>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zh-CN"/>
              <a:t>M+n-1</a:t>
            </a:r>
            <a:r>
              <a:rPr lang="zh-CN" altLang="en-US"/>
              <a:t>个约束意味着</a:t>
            </a:r>
            <a:r>
              <a:rPr lang="en-US" altLang="zh-CN"/>
              <a:t>m+n-1</a:t>
            </a:r>
            <a:r>
              <a:rPr lang="zh-CN" altLang="en-US"/>
              <a:t>个基变量，剩下的都取</a:t>
            </a:r>
            <a:r>
              <a:rPr lang="en-US" altLang="zh-CN"/>
              <a:t>0</a:t>
            </a:r>
          </a:p>
          <a:p>
            <a:endParaRPr lang="en-US" altLang="zh-CN"/>
          </a:p>
          <a:p>
            <a:r>
              <a:rPr lang="zh-CN" altLang="en-US"/>
              <a:t>为什么？因为每个产地的东西至少运往一个销地，每个销地至少接收一个产地</a:t>
            </a:r>
          </a:p>
        </p:txBody>
      </p:sp>
      <p:sp>
        <p:nvSpPr>
          <p:cNvPr id="24580" name="灯片编号占位符 3">
            <a:extLst>
              <a:ext uri="{FF2B5EF4-FFF2-40B4-BE49-F238E27FC236}">
                <a16:creationId xmlns:a16="http://schemas.microsoft.com/office/drawing/2014/main" id="{E4EA5F54-8F0C-41C7-B3A8-64F94E7185B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BA1E4492-D504-4A85-A715-816B088B3F78}" type="slidenum">
              <a:rPr lang="zh-CN" altLang="en-US" smtClean="0"/>
              <a:pPr/>
              <a:t>15</a:t>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幻灯片图像占位符 1">
            <a:extLst>
              <a:ext uri="{FF2B5EF4-FFF2-40B4-BE49-F238E27FC236}">
                <a16:creationId xmlns:a16="http://schemas.microsoft.com/office/drawing/2014/main" id="{28FFEDCC-4343-4D5E-8114-EC8D6422668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备注占位符 2">
            <a:extLst>
              <a:ext uri="{FF2B5EF4-FFF2-40B4-BE49-F238E27FC236}">
                <a16:creationId xmlns:a16="http://schemas.microsoft.com/office/drawing/2014/main" id="{606B819B-5CC7-435E-8164-52D8F7FCA68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CN" altLang="en-US"/>
          </a:p>
        </p:txBody>
      </p:sp>
      <p:sp>
        <p:nvSpPr>
          <p:cNvPr id="28676" name="灯片编号占位符 3">
            <a:extLst>
              <a:ext uri="{FF2B5EF4-FFF2-40B4-BE49-F238E27FC236}">
                <a16:creationId xmlns:a16="http://schemas.microsoft.com/office/drawing/2014/main" id="{85D1707D-13E3-4565-9426-67A8D11B170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552A743F-24EF-45F1-A503-920FB9A47B9D}" type="slidenum">
              <a:rPr lang="zh-CN" altLang="en-US" smtClean="0"/>
              <a:pPr/>
              <a:t>18</a:t>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幻灯片图像占位符 1">
            <a:extLst>
              <a:ext uri="{FF2B5EF4-FFF2-40B4-BE49-F238E27FC236}">
                <a16:creationId xmlns:a16="http://schemas.microsoft.com/office/drawing/2014/main" id="{26F20FE8-536F-4B8F-B121-905E32B793B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0659" name="备注占位符 2">
            <a:extLst>
              <a:ext uri="{FF2B5EF4-FFF2-40B4-BE49-F238E27FC236}">
                <a16:creationId xmlns:a16="http://schemas.microsoft.com/office/drawing/2014/main" id="{A8F56E6A-17A8-4ABD-9D7E-560F56CE32E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zh-CN" altLang="zh-CN"/>
              <a:t>这个矩阵是很有个性的一个矩阵</a:t>
            </a:r>
            <a:r>
              <a:rPr lang="en-US" altLang="zh-CN"/>
              <a:t>. </a:t>
            </a:r>
            <a:r>
              <a:rPr lang="zh-CN" altLang="en-US"/>
              <a:t>有个性才能让人记忆深刻</a:t>
            </a:r>
          </a:p>
        </p:txBody>
      </p:sp>
      <p:sp>
        <p:nvSpPr>
          <p:cNvPr id="70660" name="灯片编号占位符 3">
            <a:extLst>
              <a:ext uri="{FF2B5EF4-FFF2-40B4-BE49-F238E27FC236}">
                <a16:creationId xmlns:a16="http://schemas.microsoft.com/office/drawing/2014/main" id="{789726C3-8741-4EC3-A50A-E337C544C1B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F0F6E780-33B5-4909-94A1-379DD7EF8A65}" type="slidenum">
              <a:rPr lang="zh-CN" altLang="en-US" smtClean="0"/>
              <a:pPr/>
              <a:t>58</a:t>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幻灯片图像占位符 1">
            <a:extLst>
              <a:ext uri="{FF2B5EF4-FFF2-40B4-BE49-F238E27FC236}">
                <a16:creationId xmlns:a16="http://schemas.microsoft.com/office/drawing/2014/main" id="{D3D65F87-9A76-4DE4-9961-926FAEAC4DC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0051" name="备注占位符 2">
            <a:extLst>
              <a:ext uri="{FF2B5EF4-FFF2-40B4-BE49-F238E27FC236}">
                <a16:creationId xmlns:a16="http://schemas.microsoft.com/office/drawing/2014/main" id="{8C5D2125-3E0C-407A-97FA-FB287D69050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130052" name="灯片编号占位符 3">
            <a:extLst>
              <a:ext uri="{FF2B5EF4-FFF2-40B4-BE49-F238E27FC236}">
                <a16:creationId xmlns:a16="http://schemas.microsoft.com/office/drawing/2014/main" id="{D42F008F-EA90-4D4A-92ED-161066AC062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fld id="{34BB3A8F-0242-4A87-BE31-8F62141366E0}" type="slidenum">
              <a:rPr lang="zh-CN" altLang="en-US" smtClean="0"/>
              <a:pPr/>
              <a:t>116</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2B2D2A05-09E3-4C0F-B181-5AC51D3EC18C}"/>
              </a:ext>
            </a:extLst>
          </p:cNvPr>
          <p:cNvSpPr>
            <a:spLocks noChangeArrowheads="1"/>
          </p:cNvSpPr>
          <p:nvPr/>
        </p:nvSpPr>
        <p:spPr bwMode="auto">
          <a:xfrm>
            <a:off x="609600" y="1219200"/>
            <a:ext cx="79248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 name="Line 8">
            <a:extLst>
              <a:ext uri="{FF2B5EF4-FFF2-40B4-BE49-F238E27FC236}">
                <a16:creationId xmlns:a16="http://schemas.microsoft.com/office/drawing/2014/main" id="{191EF2EA-3A07-4C0F-AA14-CD4461DA38E1}"/>
              </a:ext>
            </a:extLst>
          </p:cNvPr>
          <p:cNvSpPr>
            <a:spLocks noChangeShapeType="1"/>
          </p:cNvSpPr>
          <p:nvPr/>
        </p:nvSpPr>
        <p:spPr bwMode="auto">
          <a:xfrm>
            <a:off x="1981200" y="3962400"/>
            <a:ext cx="6511925"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 name="Picture 9" descr="校徽">
            <a:extLst>
              <a:ext uri="{FF2B5EF4-FFF2-40B4-BE49-F238E27FC236}">
                <a16:creationId xmlns:a16="http://schemas.microsoft.com/office/drawing/2014/main" id="{A4BB74D0-9D05-429A-81E7-F090064B44A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152400"/>
            <a:ext cx="990600" cy="966788"/>
          </a:xfrm>
          <a:prstGeom prst="rect">
            <a:avLst/>
          </a:prstGeom>
          <a:solidFill>
            <a:schemeClr val="bg1">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7154" name="Rectangle 2"/>
          <p:cNvSpPr>
            <a:spLocks noGrp="1" noChangeArrowheads="1"/>
          </p:cNvSpPr>
          <p:nvPr>
            <p:ph type="ctrTitle"/>
          </p:nvPr>
        </p:nvSpPr>
        <p:spPr>
          <a:xfrm>
            <a:off x="914400" y="1524000"/>
            <a:ext cx="7623175" cy="1752600"/>
          </a:xfrm>
        </p:spPr>
        <p:txBody>
          <a:bodyPr/>
          <a:lstStyle>
            <a:lvl1pPr>
              <a:defRPr sz="3600"/>
            </a:lvl1pPr>
          </a:lstStyle>
          <a:p>
            <a:r>
              <a:rPr lang="zh-CN" altLang="en-US"/>
              <a:t>单击此处编辑母版标题样式</a:t>
            </a:r>
          </a:p>
        </p:txBody>
      </p:sp>
      <p:sp>
        <p:nvSpPr>
          <p:cNvPr id="177155" name="Rectangle 3"/>
          <p:cNvSpPr>
            <a:spLocks noGrp="1" noChangeArrowheads="1"/>
          </p:cNvSpPr>
          <p:nvPr>
            <p:ph type="subTitle" idx="1"/>
          </p:nvPr>
        </p:nvSpPr>
        <p:spPr>
          <a:xfrm>
            <a:off x="1981200" y="2997200"/>
            <a:ext cx="6553200" cy="1752600"/>
          </a:xfrm>
        </p:spPr>
        <p:txBody>
          <a:bodyPr/>
          <a:lstStyle>
            <a:lvl1pPr marL="0" indent="0" algn="ctr">
              <a:buFont typeface="Wingdings" pitchFamily="2" charset="2"/>
              <a:buNone/>
              <a:defRPr sz="6000">
                <a:solidFill>
                  <a:schemeClr val="tx2"/>
                </a:solidFill>
              </a:defRPr>
            </a:lvl1pPr>
          </a:lstStyle>
          <a:p>
            <a:r>
              <a:rPr lang="zh-CN" altLang="en-US"/>
              <a:t>单击此处编辑母版副标题样式</a:t>
            </a:r>
          </a:p>
        </p:txBody>
      </p:sp>
      <p:sp>
        <p:nvSpPr>
          <p:cNvPr id="7" name="Rectangle 4">
            <a:extLst>
              <a:ext uri="{FF2B5EF4-FFF2-40B4-BE49-F238E27FC236}">
                <a16:creationId xmlns:a16="http://schemas.microsoft.com/office/drawing/2014/main" id="{D75B2DA4-6DA8-4071-9ADC-D8387964FB4C}"/>
              </a:ext>
            </a:extLst>
          </p:cNvPr>
          <p:cNvSpPr>
            <a:spLocks noGrp="1" noChangeArrowheads="1"/>
          </p:cNvSpPr>
          <p:nvPr>
            <p:ph type="dt" sz="half" idx="10"/>
          </p:nvPr>
        </p:nvSpPr>
        <p:spPr/>
        <p:txBody>
          <a:bodyPr/>
          <a:lstStyle>
            <a:lvl1pPr>
              <a:defRPr/>
            </a:lvl1pPr>
          </a:lstStyle>
          <a:p>
            <a:pPr>
              <a:defRPr/>
            </a:pPr>
            <a:endParaRPr lang="en-US" altLang="zh-CN"/>
          </a:p>
        </p:txBody>
      </p:sp>
      <p:sp>
        <p:nvSpPr>
          <p:cNvPr id="8" name="Rectangle 5">
            <a:extLst>
              <a:ext uri="{FF2B5EF4-FFF2-40B4-BE49-F238E27FC236}">
                <a16:creationId xmlns:a16="http://schemas.microsoft.com/office/drawing/2014/main" id="{F6C9167E-8A98-479B-AF63-81E606FD9467}"/>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zh-CN"/>
          </a:p>
        </p:txBody>
      </p:sp>
      <p:sp>
        <p:nvSpPr>
          <p:cNvPr id="9" name="Rectangle 6">
            <a:extLst>
              <a:ext uri="{FF2B5EF4-FFF2-40B4-BE49-F238E27FC236}">
                <a16:creationId xmlns:a16="http://schemas.microsoft.com/office/drawing/2014/main" id="{6405593F-DCB5-45B2-92F2-8E3DEB597965}"/>
              </a:ext>
            </a:extLst>
          </p:cNvPr>
          <p:cNvSpPr>
            <a:spLocks noGrp="1" noChangeArrowheads="1"/>
          </p:cNvSpPr>
          <p:nvPr>
            <p:ph type="sldNum" sz="quarter" idx="12"/>
          </p:nvPr>
        </p:nvSpPr>
        <p:spPr/>
        <p:txBody>
          <a:bodyPr/>
          <a:lstStyle>
            <a:lvl1pPr>
              <a:defRPr/>
            </a:lvl1pPr>
          </a:lstStyle>
          <a:p>
            <a:pPr>
              <a:defRPr/>
            </a:pPr>
            <a:fld id="{0B8D8171-0CCB-4FE3-9476-031F1381CD0E}" type="slidenum">
              <a:rPr lang="en-US" altLang="zh-CN"/>
              <a:pPr>
                <a:defRPr/>
              </a:pPr>
              <a:t>‹#›</a:t>
            </a:fld>
            <a:endParaRPr lang="en-US" altLang="zh-CN"/>
          </a:p>
        </p:txBody>
      </p:sp>
    </p:spTree>
    <p:extLst>
      <p:ext uri="{BB962C8B-B14F-4D97-AF65-F5344CB8AC3E}">
        <p14:creationId xmlns:p14="http://schemas.microsoft.com/office/powerpoint/2010/main" val="182760685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3A7CAA0F-8A2D-413F-B22E-839DF7FFEFAC}"/>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51371A71-2812-40B9-8295-722EEC673955}"/>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id="{41DFB507-9A78-43CE-8048-B8570939ECC1}"/>
              </a:ext>
            </a:extLst>
          </p:cNvPr>
          <p:cNvSpPr>
            <a:spLocks noGrp="1" noChangeArrowheads="1"/>
          </p:cNvSpPr>
          <p:nvPr>
            <p:ph type="sldNum" sz="quarter" idx="12"/>
          </p:nvPr>
        </p:nvSpPr>
        <p:spPr>
          <a:ln/>
        </p:spPr>
        <p:txBody>
          <a:bodyPr/>
          <a:lstStyle>
            <a:lvl1pPr>
              <a:defRPr/>
            </a:lvl1pPr>
          </a:lstStyle>
          <a:p>
            <a:pPr>
              <a:defRPr/>
            </a:pPr>
            <a:fld id="{E2963C70-22F6-45B8-BAD7-A5CC7D0DBE6C}" type="slidenum">
              <a:rPr lang="en-US" altLang="zh-CN"/>
              <a:pPr>
                <a:defRPr/>
              </a:pPr>
              <a:t>‹#›</a:t>
            </a:fld>
            <a:endParaRPr lang="en-US" altLang="zh-CN"/>
          </a:p>
        </p:txBody>
      </p:sp>
    </p:spTree>
    <p:extLst>
      <p:ext uri="{BB962C8B-B14F-4D97-AF65-F5344CB8AC3E}">
        <p14:creationId xmlns:p14="http://schemas.microsoft.com/office/powerpoint/2010/main" val="19415057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Rectangle 4">
            <a:extLst>
              <a:ext uri="{FF2B5EF4-FFF2-40B4-BE49-F238E27FC236}">
                <a16:creationId xmlns:a16="http://schemas.microsoft.com/office/drawing/2014/main" id="{A6F6E180-2E42-415B-95BB-A726F7758B9A}"/>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032CBA0F-F972-449E-A83B-9053FFA4E430}"/>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id="{E4954F83-E0AE-4823-807D-B2AE812FB1DD}"/>
              </a:ext>
            </a:extLst>
          </p:cNvPr>
          <p:cNvSpPr>
            <a:spLocks noGrp="1" noChangeArrowheads="1"/>
          </p:cNvSpPr>
          <p:nvPr>
            <p:ph type="sldNum" sz="quarter" idx="12"/>
          </p:nvPr>
        </p:nvSpPr>
        <p:spPr>
          <a:ln/>
        </p:spPr>
        <p:txBody>
          <a:bodyPr/>
          <a:lstStyle>
            <a:lvl1pPr>
              <a:defRPr/>
            </a:lvl1pPr>
          </a:lstStyle>
          <a:p>
            <a:pPr>
              <a:defRPr/>
            </a:pPr>
            <a:fld id="{7E793260-1DDD-4803-85F3-DB76322935D5}" type="slidenum">
              <a:rPr lang="en-US" altLang="zh-CN"/>
              <a:pPr>
                <a:defRPr/>
              </a:pPr>
              <a:t>‹#›</a:t>
            </a:fld>
            <a:endParaRPr lang="en-US" altLang="zh-CN"/>
          </a:p>
        </p:txBody>
      </p:sp>
    </p:spTree>
    <p:extLst>
      <p:ext uri="{BB962C8B-B14F-4D97-AF65-F5344CB8AC3E}">
        <p14:creationId xmlns:p14="http://schemas.microsoft.com/office/powerpoint/2010/main" val="331510135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143000"/>
            <a:ext cx="4038600" cy="49879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143000"/>
            <a:ext cx="4038600" cy="49879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a:extLst>
              <a:ext uri="{FF2B5EF4-FFF2-40B4-BE49-F238E27FC236}">
                <a16:creationId xmlns:a16="http://schemas.microsoft.com/office/drawing/2014/main" id="{D634DFC5-9E4F-47AC-8401-801A4D88F6BC}"/>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8A4FB018-1EA6-42D3-9562-73FF015BECAD}"/>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a:extLst>
              <a:ext uri="{FF2B5EF4-FFF2-40B4-BE49-F238E27FC236}">
                <a16:creationId xmlns:a16="http://schemas.microsoft.com/office/drawing/2014/main" id="{DAF1522F-25CC-4424-8B4E-783016785496}"/>
              </a:ext>
            </a:extLst>
          </p:cNvPr>
          <p:cNvSpPr>
            <a:spLocks noGrp="1" noChangeArrowheads="1"/>
          </p:cNvSpPr>
          <p:nvPr>
            <p:ph type="sldNum" sz="quarter" idx="12"/>
          </p:nvPr>
        </p:nvSpPr>
        <p:spPr>
          <a:ln/>
        </p:spPr>
        <p:txBody>
          <a:bodyPr/>
          <a:lstStyle>
            <a:lvl1pPr>
              <a:defRPr/>
            </a:lvl1pPr>
          </a:lstStyle>
          <a:p>
            <a:pPr>
              <a:defRPr/>
            </a:pPr>
            <a:fld id="{729510C4-DF27-44EB-A8BC-466C330D0AD7}" type="slidenum">
              <a:rPr lang="en-US" altLang="zh-CN"/>
              <a:pPr>
                <a:defRPr/>
              </a:pPr>
              <a:t>‹#›</a:t>
            </a:fld>
            <a:endParaRPr lang="en-US" altLang="zh-CN"/>
          </a:p>
        </p:txBody>
      </p:sp>
    </p:spTree>
    <p:extLst>
      <p:ext uri="{BB962C8B-B14F-4D97-AF65-F5344CB8AC3E}">
        <p14:creationId xmlns:p14="http://schemas.microsoft.com/office/powerpoint/2010/main" val="501086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a:extLst>
              <a:ext uri="{FF2B5EF4-FFF2-40B4-BE49-F238E27FC236}">
                <a16:creationId xmlns:a16="http://schemas.microsoft.com/office/drawing/2014/main" id="{54E21758-133C-41B7-9A7C-7E61EB315845}"/>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8" name="Rectangle 5">
            <a:extLst>
              <a:ext uri="{FF2B5EF4-FFF2-40B4-BE49-F238E27FC236}">
                <a16:creationId xmlns:a16="http://schemas.microsoft.com/office/drawing/2014/main" id="{651DC8EF-3C51-409E-9C1C-CB13DF8335A3}"/>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9" name="Rectangle 6">
            <a:extLst>
              <a:ext uri="{FF2B5EF4-FFF2-40B4-BE49-F238E27FC236}">
                <a16:creationId xmlns:a16="http://schemas.microsoft.com/office/drawing/2014/main" id="{35D28CDC-5DC1-4E9A-A934-FDD9AD1816C7}"/>
              </a:ext>
            </a:extLst>
          </p:cNvPr>
          <p:cNvSpPr>
            <a:spLocks noGrp="1" noChangeArrowheads="1"/>
          </p:cNvSpPr>
          <p:nvPr>
            <p:ph type="sldNum" sz="quarter" idx="12"/>
          </p:nvPr>
        </p:nvSpPr>
        <p:spPr>
          <a:ln/>
        </p:spPr>
        <p:txBody>
          <a:bodyPr/>
          <a:lstStyle>
            <a:lvl1pPr>
              <a:defRPr/>
            </a:lvl1pPr>
          </a:lstStyle>
          <a:p>
            <a:pPr>
              <a:defRPr/>
            </a:pPr>
            <a:fld id="{2B1223D8-83A4-4A9B-8C94-E6262D2D4AB0}" type="slidenum">
              <a:rPr lang="en-US" altLang="zh-CN"/>
              <a:pPr>
                <a:defRPr/>
              </a:pPr>
              <a:t>‹#›</a:t>
            </a:fld>
            <a:endParaRPr lang="en-US" altLang="zh-CN"/>
          </a:p>
        </p:txBody>
      </p:sp>
    </p:spTree>
    <p:extLst>
      <p:ext uri="{BB962C8B-B14F-4D97-AF65-F5344CB8AC3E}">
        <p14:creationId xmlns:p14="http://schemas.microsoft.com/office/powerpoint/2010/main" val="331796136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Rectangle 4">
            <a:extLst>
              <a:ext uri="{FF2B5EF4-FFF2-40B4-BE49-F238E27FC236}">
                <a16:creationId xmlns:a16="http://schemas.microsoft.com/office/drawing/2014/main" id="{7DEFFE12-C4A3-4C93-9437-DBAC3AE747D8}"/>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4" name="Rectangle 5">
            <a:extLst>
              <a:ext uri="{FF2B5EF4-FFF2-40B4-BE49-F238E27FC236}">
                <a16:creationId xmlns:a16="http://schemas.microsoft.com/office/drawing/2014/main" id="{7B27B23B-17E5-4CBC-A7CB-4F08FFF1861B}"/>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5" name="Rectangle 6">
            <a:extLst>
              <a:ext uri="{FF2B5EF4-FFF2-40B4-BE49-F238E27FC236}">
                <a16:creationId xmlns:a16="http://schemas.microsoft.com/office/drawing/2014/main" id="{26C894FC-B89E-440C-AB52-18E91C660C07}"/>
              </a:ext>
            </a:extLst>
          </p:cNvPr>
          <p:cNvSpPr>
            <a:spLocks noGrp="1" noChangeArrowheads="1"/>
          </p:cNvSpPr>
          <p:nvPr>
            <p:ph type="sldNum" sz="quarter" idx="12"/>
          </p:nvPr>
        </p:nvSpPr>
        <p:spPr>
          <a:ln/>
        </p:spPr>
        <p:txBody>
          <a:bodyPr/>
          <a:lstStyle>
            <a:lvl1pPr>
              <a:defRPr/>
            </a:lvl1pPr>
          </a:lstStyle>
          <a:p>
            <a:pPr>
              <a:defRPr/>
            </a:pPr>
            <a:fld id="{CC68B483-E029-4E86-8AF7-CF893F0A980E}" type="slidenum">
              <a:rPr lang="en-US" altLang="zh-CN"/>
              <a:pPr>
                <a:defRPr/>
              </a:pPr>
              <a:t>‹#›</a:t>
            </a:fld>
            <a:endParaRPr lang="en-US" altLang="zh-CN"/>
          </a:p>
        </p:txBody>
      </p:sp>
    </p:spTree>
    <p:extLst>
      <p:ext uri="{BB962C8B-B14F-4D97-AF65-F5344CB8AC3E}">
        <p14:creationId xmlns:p14="http://schemas.microsoft.com/office/powerpoint/2010/main" val="653321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5D5A794-5B84-4E1C-9361-5930D0454117}"/>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3" name="Rectangle 5">
            <a:extLst>
              <a:ext uri="{FF2B5EF4-FFF2-40B4-BE49-F238E27FC236}">
                <a16:creationId xmlns:a16="http://schemas.microsoft.com/office/drawing/2014/main" id="{1E16DB11-0C3B-4165-9CB4-162E953BD17B}"/>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4" name="Rectangle 6">
            <a:extLst>
              <a:ext uri="{FF2B5EF4-FFF2-40B4-BE49-F238E27FC236}">
                <a16:creationId xmlns:a16="http://schemas.microsoft.com/office/drawing/2014/main" id="{FDB33DD1-CA91-41FE-8761-D2B6134A6203}"/>
              </a:ext>
            </a:extLst>
          </p:cNvPr>
          <p:cNvSpPr>
            <a:spLocks noGrp="1" noChangeArrowheads="1"/>
          </p:cNvSpPr>
          <p:nvPr>
            <p:ph type="sldNum" sz="quarter" idx="12"/>
          </p:nvPr>
        </p:nvSpPr>
        <p:spPr>
          <a:ln/>
        </p:spPr>
        <p:txBody>
          <a:bodyPr/>
          <a:lstStyle>
            <a:lvl1pPr>
              <a:defRPr/>
            </a:lvl1pPr>
          </a:lstStyle>
          <a:p>
            <a:pPr>
              <a:defRPr/>
            </a:pPr>
            <a:fld id="{A1BF60B3-2D05-4224-ABE1-7D71FFEEDF9B}" type="slidenum">
              <a:rPr lang="en-US" altLang="zh-CN"/>
              <a:pPr>
                <a:defRPr/>
              </a:pPr>
              <a:t>‹#›</a:t>
            </a:fld>
            <a:endParaRPr lang="en-US" altLang="zh-CN"/>
          </a:p>
        </p:txBody>
      </p:sp>
    </p:spTree>
    <p:extLst>
      <p:ext uri="{BB962C8B-B14F-4D97-AF65-F5344CB8AC3E}">
        <p14:creationId xmlns:p14="http://schemas.microsoft.com/office/powerpoint/2010/main" val="110254134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a:extLst>
              <a:ext uri="{FF2B5EF4-FFF2-40B4-BE49-F238E27FC236}">
                <a16:creationId xmlns:a16="http://schemas.microsoft.com/office/drawing/2014/main" id="{96588B64-E9D6-4734-B2E3-E96CE8A61315}"/>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BA1E94C2-1140-4793-A025-0AEBC27476B8}"/>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a:extLst>
              <a:ext uri="{FF2B5EF4-FFF2-40B4-BE49-F238E27FC236}">
                <a16:creationId xmlns:a16="http://schemas.microsoft.com/office/drawing/2014/main" id="{A3C75148-B92E-4C68-A1DD-BF612FF040B8}"/>
              </a:ext>
            </a:extLst>
          </p:cNvPr>
          <p:cNvSpPr>
            <a:spLocks noGrp="1" noChangeArrowheads="1"/>
          </p:cNvSpPr>
          <p:nvPr>
            <p:ph type="sldNum" sz="quarter" idx="12"/>
          </p:nvPr>
        </p:nvSpPr>
        <p:spPr>
          <a:ln/>
        </p:spPr>
        <p:txBody>
          <a:bodyPr/>
          <a:lstStyle>
            <a:lvl1pPr>
              <a:defRPr/>
            </a:lvl1pPr>
          </a:lstStyle>
          <a:p>
            <a:pPr>
              <a:defRPr/>
            </a:pPr>
            <a:fld id="{B8ACF5A2-D4FD-4CDD-98F3-8021CBF7DFEB}" type="slidenum">
              <a:rPr lang="en-US" altLang="zh-CN"/>
              <a:pPr>
                <a:defRPr/>
              </a:pPr>
              <a:t>‹#›</a:t>
            </a:fld>
            <a:endParaRPr lang="en-US" altLang="zh-CN"/>
          </a:p>
        </p:txBody>
      </p:sp>
    </p:spTree>
    <p:extLst>
      <p:ext uri="{BB962C8B-B14F-4D97-AF65-F5344CB8AC3E}">
        <p14:creationId xmlns:p14="http://schemas.microsoft.com/office/powerpoint/2010/main" val="268776412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a:extLst>
              <a:ext uri="{FF2B5EF4-FFF2-40B4-BE49-F238E27FC236}">
                <a16:creationId xmlns:a16="http://schemas.microsoft.com/office/drawing/2014/main" id="{B2D87E7F-6A75-44A7-8AA4-A35FB19A0896}"/>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B7444648-CFE9-49BF-A243-0D59F212DEFB}"/>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a:extLst>
              <a:ext uri="{FF2B5EF4-FFF2-40B4-BE49-F238E27FC236}">
                <a16:creationId xmlns:a16="http://schemas.microsoft.com/office/drawing/2014/main" id="{D265DFB1-6D94-4787-98CC-3E9427A9FDAF}"/>
              </a:ext>
            </a:extLst>
          </p:cNvPr>
          <p:cNvSpPr>
            <a:spLocks noGrp="1" noChangeArrowheads="1"/>
          </p:cNvSpPr>
          <p:nvPr>
            <p:ph type="sldNum" sz="quarter" idx="12"/>
          </p:nvPr>
        </p:nvSpPr>
        <p:spPr>
          <a:ln/>
        </p:spPr>
        <p:txBody>
          <a:bodyPr/>
          <a:lstStyle>
            <a:lvl1pPr>
              <a:defRPr/>
            </a:lvl1pPr>
          </a:lstStyle>
          <a:p>
            <a:pPr>
              <a:defRPr/>
            </a:pPr>
            <a:fld id="{1B91C094-43F6-4AFF-B702-D68180F7C3E8}" type="slidenum">
              <a:rPr lang="en-US" altLang="zh-CN"/>
              <a:pPr>
                <a:defRPr/>
              </a:pPr>
              <a:t>‹#›</a:t>
            </a:fld>
            <a:endParaRPr lang="en-US" altLang="zh-CN"/>
          </a:p>
        </p:txBody>
      </p:sp>
    </p:spTree>
    <p:extLst>
      <p:ext uri="{BB962C8B-B14F-4D97-AF65-F5344CB8AC3E}">
        <p14:creationId xmlns:p14="http://schemas.microsoft.com/office/powerpoint/2010/main" val="303471225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92E31A94-9452-4750-BD49-C9EFA9B20871}"/>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7D12C5EF-F357-4EE2-821C-2DE5FDE20A45}"/>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id="{6CB8EFBE-0293-4D66-B866-DDED0019035B}"/>
              </a:ext>
            </a:extLst>
          </p:cNvPr>
          <p:cNvSpPr>
            <a:spLocks noGrp="1" noChangeArrowheads="1"/>
          </p:cNvSpPr>
          <p:nvPr>
            <p:ph type="sldNum" sz="quarter" idx="12"/>
          </p:nvPr>
        </p:nvSpPr>
        <p:spPr>
          <a:ln/>
        </p:spPr>
        <p:txBody>
          <a:bodyPr/>
          <a:lstStyle>
            <a:lvl1pPr>
              <a:defRPr/>
            </a:lvl1pPr>
          </a:lstStyle>
          <a:p>
            <a:pPr>
              <a:defRPr/>
            </a:pPr>
            <a:fld id="{B9C0D643-CFB0-4089-A6A7-C5AD2D683B23}" type="slidenum">
              <a:rPr lang="en-US" altLang="zh-CN"/>
              <a:pPr>
                <a:defRPr/>
              </a:pPr>
              <a:t>‹#›</a:t>
            </a:fld>
            <a:endParaRPr lang="en-US" altLang="zh-CN"/>
          </a:p>
        </p:txBody>
      </p:sp>
    </p:spTree>
    <p:extLst>
      <p:ext uri="{BB962C8B-B14F-4D97-AF65-F5344CB8AC3E}">
        <p14:creationId xmlns:p14="http://schemas.microsoft.com/office/powerpoint/2010/main" val="11763328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5575"/>
            <a:ext cx="2057400" cy="5975350"/>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5575"/>
            <a:ext cx="6019800" cy="597535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DDB67511-7F13-40C4-A98E-9F13E544FE13}"/>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1FA276E0-D3BD-404D-94EC-55B4A84B6EBB}"/>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id="{5930951F-F1D9-46FA-9F3E-CB1DDE016DDE}"/>
              </a:ext>
            </a:extLst>
          </p:cNvPr>
          <p:cNvSpPr>
            <a:spLocks noGrp="1" noChangeArrowheads="1"/>
          </p:cNvSpPr>
          <p:nvPr>
            <p:ph type="sldNum" sz="quarter" idx="12"/>
          </p:nvPr>
        </p:nvSpPr>
        <p:spPr>
          <a:ln/>
        </p:spPr>
        <p:txBody>
          <a:bodyPr/>
          <a:lstStyle>
            <a:lvl1pPr>
              <a:defRPr/>
            </a:lvl1pPr>
          </a:lstStyle>
          <a:p>
            <a:pPr>
              <a:defRPr/>
            </a:pPr>
            <a:fld id="{7D6A46E1-5B9D-4274-BA66-D520F8000AEE}" type="slidenum">
              <a:rPr lang="en-US" altLang="zh-CN"/>
              <a:pPr>
                <a:defRPr/>
              </a:pPr>
              <a:t>‹#›</a:t>
            </a:fld>
            <a:endParaRPr lang="en-US" altLang="zh-CN"/>
          </a:p>
        </p:txBody>
      </p:sp>
    </p:spTree>
    <p:extLst>
      <p:ext uri="{BB962C8B-B14F-4D97-AF65-F5344CB8AC3E}">
        <p14:creationId xmlns:p14="http://schemas.microsoft.com/office/powerpoint/2010/main" val="339786151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TwoObj" preserve="1">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155575"/>
            <a:ext cx="8229600" cy="911225"/>
          </a:xfrm>
        </p:spPr>
        <p:txBody>
          <a:bodyPr/>
          <a:lstStyle/>
          <a:p>
            <a:r>
              <a:rPr lang="zh-CN" altLang="en-US"/>
              <a:t>单击此处编辑母版标题样式</a:t>
            </a:r>
          </a:p>
        </p:txBody>
      </p:sp>
      <p:sp>
        <p:nvSpPr>
          <p:cNvPr id="3" name="文本占位符 2"/>
          <p:cNvSpPr>
            <a:spLocks noGrp="1"/>
          </p:cNvSpPr>
          <p:nvPr>
            <p:ph type="body" sz="half" idx="1"/>
          </p:nvPr>
        </p:nvSpPr>
        <p:spPr>
          <a:xfrm>
            <a:off x="457200" y="1143000"/>
            <a:ext cx="4038600" cy="4987925"/>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quarter" idx="2"/>
          </p:nvPr>
        </p:nvSpPr>
        <p:spPr>
          <a:xfrm>
            <a:off x="4648200" y="1143000"/>
            <a:ext cx="4038600" cy="241776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内容占位符 4"/>
          <p:cNvSpPr>
            <a:spLocks noGrp="1"/>
          </p:cNvSpPr>
          <p:nvPr>
            <p:ph sz="quarter" idx="3"/>
          </p:nvPr>
        </p:nvSpPr>
        <p:spPr>
          <a:xfrm>
            <a:off x="4648200" y="3713163"/>
            <a:ext cx="4038600" cy="2417762"/>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Rectangle 4">
            <a:extLst>
              <a:ext uri="{FF2B5EF4-FFF2-40B4-BE49-F238E27FC236}">
                <a16:creationId xmlns:a16="http://schemas.microsoft.com/office/drawing/2014/main" id="{EA740559-FA35-4635-BC8D-24A4FD3C9EF7}"/>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7" name="Rectangle 5">
            <a:extLst>
              <a:ext uri="{FF2B5EF4-FFF2-40B4-BE49-F238E27FC236}">
                <a16:creationId xmlns:a16="http://schemas.microsoft.com/office/drawing/2014/main" id="{94922D4E-7C88-4249-A640-58BF05A9DD60}"/>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8" name="Rectangle 6">
            <a:extLst>
              <a:ext uri="{FF2B5EF4-FFF2-40B4-BE49-F238E27FC236}">
                <a16:creationId xmlns:a16="http://schemas.microsoft.com/office/drawing/2014/main" id="{EE2895D1-6309-40B5-97FC-1F6D828541FE}"/>
              </a:ext>
            </a:extLst>
          </p:cNvPr>
          <p:cNvSpPr>
            <a:spLocks noGrp="1" noChangeArrowheads="1"/>
          </p:cNvSpPr>
          <p:nvPr>
            <p:ph type="sldNum" sz="quarter" idx="12"/>
          </p:nvPr>
        </p:nvSpPr>
        <p:spPr>
          <a:ln/>
        </p:spPr>
        <p:txBody>
          <a:bodyPr/>
          <a:lstStyle>
            <a:lvl1pPr>
              <a:defRPr/>
            </a:lvl1pPr>
          </a:lstStyle>
          <a:p>
            <a:pPr>
              <a:defRPr/>
            </a:pPr>
            <a:fld id="{252F24BA-8BCF-4A22-9DEC-7D9898B398A1}" type="slidenum">
              <a:rPr lang="en-US" altLang="zh-CN"/>
              <a:pPr>
                <a:defRPr/>
              </a:pPr>
              <a:t>‹#›</a:t>
            </a:fld>
            <a:endParaRPr lang="en-US" altLang="zh-CN"/>
          </a:p>
        </p:txBody>
      </p:sp>
    </p:spTree>
    <p:extLst>
      <p:ext uri="{BB962C8B-B14F-4D97-AF65-F5344CB8AC3E}">
        <p14:creationId xmlns:p14="http://schemas.microsoft.com/office/powerpoint/2010/main" val="257843947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155575"/>
            <a:ext cx="8229600" cy="911225"/>
          </a:xfrm>
        </p:spPr>
        <p:txBody>
          <a:bodyPr/>
          <a:lstStyle/>
          <a:p>
            <a:r>
              <a:rPr lang="zh-CN" altLang="en-US"/>
              <a:t>单击此处编辑母版标题样式</a:t>
            </a:r>
          </a:p>
        </p:txBody>
      </p:sp>
      <p:sp>
        <p:nvSpPr>
          <p:cNvPr id="3" name="文本占位符 2"/>
          <p:cNvSpPr>
            <a:spLocks noGrp="1"/>
          </p:cNvSpPr>
          <p:nvPr>
            <p:ph type="body" sz="half" idx="1"/>
          </p:nvPr>
        </p:nvSpPr>
        <p:spPr>
          <a:xfrm>
            <a:off x="457200" y="1143000"/>
            <a:ext cx="4038600" cy="4987925"/>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143000"/>
            <a:ext cx="4038600" cy="4987925"/>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a:extLst>
              <a:ext uri="{FF2B5EF4-FFF2-40B4-BE49-F238E27FC236}">
                <a16:creationId xmlns:a16="http://schemas.microsoft.com/office/drawing/2014/main" id="{5B49DF54-B162-4C83-A40A-B3824F548BA0}"/>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00B4D08D-74BF-4801-BA5D-8504580B8A0D}"/>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a:extLst>
              <a:ext uri="{FF2B5EF4-FFF2-40B4-BE49-F238E27FC236}">
                <a16:creationId xmlns:a16="http://schemas.microsoft.com/office/drawing/2014/main" id="{CB7F705F-C58D-4D83-8B32-BB09F51F84FA}"/>
              </a:ext>
            </a:extLst>
          </p:cNvPr>
          <p:cNvSpPr>
            <a:spLocks noGrp="1" noChangeArrowheads="1"/>
          </p:cNvSpPr>
          <p:nvPr>
            <p:ph type="sldNum" sz="quarter" idx="12"/>
          </p:nvPr>
        </p:nvSpPr>
        <p:spPr>
          <a:ln/>
        </p:spPr>
        <p:txBody>
          <a:bodyPr/>
          <a:lstStyle>
            <a:lvl1pPr>
              <a:defRPr/>
            </a:lvl1pPr>
          </a:lstStyle>
          <a:p>
            <a:pPr>
              <a:defRPr/>
            </a:pPr>
            <a:fld id="{0B10C9EA-3E6E-4B5C-AED3-E2F1CA2F7A8C}" type="slidenum">
              <a:rPr lang="en-US" altLang="zh-CN"/>
              <a:pPr>
                <a:defRPr/>
              </a:pPr>
              <a:t>‹#›</a:t>
            </a:fld>
            <a:endParaRPr lang="en-US" altLang="zh-CN"/>
          </a:p>
        </p:txBody>
      </p:sp>
    </p:spTree>
    <p:extLst>
      <p:ext uri="{BB962C8B-B14F-4D97-AF65-F5344CB8AC3E}">
        <p14:creationId xmlns:p14="http://schemas.microsoft.com/office/powerpoint/2010/main" val="140921954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bl" preserve="1">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457200" y="155575"/>
            <a:ext cx="8229600" cy="911225"/>
          </a:xfrm>
        </p:spPr>
        <p:txBody>
          <a:bodyPr/>
          <a:lstStyle/>
          <a:p>
            <a:r>
              <a:rPr lang="zh-CN" altLang="en-US"/>
              <a:t>单击此处编辑母版标题样式</a:t>
            </a:r>
          </a:p>
        </p:txBody>
      </p:sp>
      <p:sp>
        <p:nvSpPr>
          <p:cNvPr id="3" name="表格占位符 2"/>
          <p:cNvSpPr>
            <a:spLocks noGrp="1"/>
          </p:cNvSpPr>
          <p:nvPr>
            <p:ph type="tbl" idx="1"/>
          </p:nvPr>
        </p:nvSpPr>
        <p:spPr>
          <a:xfrm>
            <a:off x="457200" y="1143000"/>
            <a:ext cx="8229600" cy="4987925"/>
          </a:xfrm>
        </p:spPr>
        <p:txBody>
          <a:bodyPr/>
          <a:lstStyle/>
          <a:p>
            <a:pPr lvl="0"/>
            <a:endParaRPr lang="zh-CN" altLang="en-US" noProof="0"/>
          </a:p>
        </p:txBody>
      </p:sp>
      <p:sp>
        <p:nvSpPr>
          <p:cNvPr id="4" name="Rectangle 4">
            <a:extLst>
              <a:ext uri="{FF2B5EF4-FFF2-40B4-BE49-F238E27FC236}">
                <a16:creationId xmlns:a16="http://schemas.microsoft.com/office/drawing/2014/main" id="{DF27B27A-C952-4DB5-857F-BB29111AF988}"/>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34E9B165-B476-4376-874C-DBB2090D4F34}"/>
              </a:ext>
            </a:extLst>
          </p:cNvPr>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id="{8A56E9FD-7D75-464F-806B-2CB37B7AA634}"/>
              </a:ext>
            </a:extLst>
          </p:cNvPr>
          <p:cNvSpPr>
            <a:spLocks noGrp="1" noChangeArrowheads="1"/>
          </p:cNvSpPr>
          <p:nvPr>
            <p:ph type="sldNum" sz="quarter" idx="12"/>
          </p:nvPr>
        </p:nvSpPr>
        <p:spPr>
          <a:ln/>
        </p:spPr>
        <p:txBody>
          <a:bodyPr/>
          <a:lstStyle>
            <a:lvl1pPr>
              <a:defRPr/>
            </a:lvl1pPr>
          </a:lstStyle>
          <a:p>
            <a:pPr>
              <a:defRPr/>
            </a:pPr>
            <a:fld id="{BE1A02E0-7D27-4F68-853B-EE86323964C4}" type="slidenum">
              <a:rPr lang="en-US" altLang="zh-CN"/>
              <a:pPr>
                <a:defRPr/>
              </a:pPr>
              <a:t>‹#›</a:t>
            </a:fld>
            <a:endParaRPr lang="en-US" altLang="zh-CN"/>
          </a:p>
        </p:txBody>
      </p:sp>
    </p:spTree>
    <p:extLst>
      <p:ext uri="{BB962C8B-B14F-4D97-AF65-F5344CB8AC3E}">
        <p14:creationId xmlns:p14="http://schemas.microsoft.com/office/powerpoint/2010/main" val="4287499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18A433DA-B02D-4643-82AE-F681BE56D6BE}"/>
              </a:ext>
            </a:extLst>
          </p:cNvPr>
          <p:cNvSpPr>
            <a:spLocks noGrp="1" noChangeArrowheads="1"/>
          </p:cNvSpPr>
          <p:nvPr>
            <p:ph type="title"/>
          </p:nvPr>
        </p:nvSpPr>
        <p:spPr bwMode="auto">
          <a:xfrm>
            <a:off x="457200" y="155575"/>
            <a:ext cx="8229600"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单击此处编辑母版标题样式</a:t>
            </a:r>
          </a:p>
        </p:txBody>
      </p:sp>
      <p:sp>
        <p:nvSpPr>
          <p:cNvPr id="1027" name="Rectangle 3">
            <a:extLst>
              <a:ext uri="{FF2B5EF4-FFF2-40B4-BE49-F238E27FC236}">
                <a16:creationId xmlns:a16="http://schemas.microsoft.com/office/drawing/2014/main" id="{9784C121-F4CC-420E-8405-8E6CE318785E}"/>
              </a:ext>
            </a:extLst>
          </p:cNvPr>
          <p:cNvSpPr>
            <a:spLocks noGrp="1" noChangeArrowheads="1"/>
          </p:cNvSpPr>
          <p:nvPr>
            <p:ph type="body" idx="1"/>
          </p:nvPr>
        </p:nvSpPr>
        <p:spPr bwMode="auto">
          <a:xfrm>
            <a:off x="457200" y="1143000"/>
            <a:ext cx="8229600" cy="498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176132" name="Rectangle 4">
            <a:extLst>
              <a:ext uri="{FF2B5EF4-FFF2-40B4-BE49-F238E27FC236}">
                <a16:creationId xmlns:a16="http://schemas.microsoft.com/office/drawing/2014/main" id="{D0BE2A10-2BB6-4D7B-A67A-F028775C4295}"/>
              </a:ext>
            </a:extLst>
          </p:cNvPr>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latin typeface="+mj-lt"/>
              </a:defRPr>
            </a:lvl1pPr>
          </a:lstStyle>
          <a:p>
            <a:pPr>
              <a:defRPr/>
            </a:pPr>
            <a:endParaRPr lang="en-US" altLang="zh-CN"/>
          </a:p>
        </p:txBody>
      </p:sp>
      <p:sp>
        <p:nvSpPr>
          <p:cNvPr id="176133" name="Rectangle 5">
            <a:extLst>
              <a:ext uri="{FF2B5EF4-FFF2-40B4-BE49-F238E27FC236}">
                <a16:creationId xmlns:a16="http://schemas.microsoft.com/office/drawing/2014/main" id="{FD5895D1-1C35-4E1C-B1BB-C3692AACC85F}"/>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latin typeface="+mj-lt"/>
              </a:defRPr>
            </a:lvl1pPr>
          </a:lstStyle>
          <a:p>
            <a:pPr>
              <a:defRPr/>
            </a:pPr>
            <a:endParaRPr lang="en-US" altLang="zh-CN"/>
          </a:p>
        </p:txBody>
      </p:sp>
      <p:sp>
        <p:nvSpPr>
          <p:cNvPr id="176134" name="Rectangle 6">
            <a:extLst>
              <a:ext uri="{FF2B5EF4-FFF2-40B4-BE49-F238E27FC236}">
                <a16:creationId xmlns:a16="http://schemas.microsoft.com/office/drawing/2014/main" id="{5F9708F6-C7EC-4AA8-BD15-26742FD90CE3}"/>
              </a:ext>
            </a:extLst>
          </p:cNvPr>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latin typeface="Garamond" panose="02020404030301010803" pitchFamily="18" charset="0"/>
              </a:defRPr>
            </a:lvl1pPr>
          </a:lstStyle>
          <a:p>
            <a:pPr>
              <a:defRPr/>
            </a:pPr>
            <a:fld id="{D1EF14C8-3A85-4F40-AF01-FB96093B32CD}" type="slidenum">
              <a:rPr lang="en-US" altLang="zh-CN"/>
              <a:pPr>
                <a:defRPr/>
              </a:pPr>
              <a:t>‹#›</a:t>
            </a:fld>
            <a:endParaRPr lang="en-US" altLang="zh-CN"/>
          </a:p>
        </p:txBody>
      </p:sp>
      <p:sp>
        <p:nvSpPr>
          <p:cNvPr id="1031" name="Freeform 7">
            <a:extLst>
              <a:ext uri="{FF2B5EF4-FFF2-40B4-BE49-F238E27FC236}">
                <a16:creationId xmlns:a16="http://schemas.microsoft.com/office/drawing/2014/main" id="{93D4D1FA-BAE9-4C57-958E-102DAEDD873C}"/>
              </a:ext>
            </a:extLst>
          </p:cNvPr>
          <p:cNvSpPr>
            <a:spLocks noChangeArrowheads="1"/>
          </p:cNvSpPr>
          <p:nvPr/>
        </p:nvSpPr>
        <p:spPr bwMode="auto">
          <a:xfrm>
            <a:off x="457200" y="152400"/>
            <a:ext cx="8229600" cy="6096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1905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2" name="Line 8">
            <a:extLst>
              <a:ext uri="{FF2B5EF4-FFF2-40B4-BE49-F238E27FC236}">
                <a16:creationId xmlns:a16="http://schemas.microsoft.com/office/drawing/2014/main" id="{1212A7A5-5F6F-4FA6-9DE1-57D2C8A7FB61}"/>
              </a:ext>
            </a:extLst>
          </p:cNvPr>
          <p:cNvSpPr>
            <a:spLocks noChangeShapeType="1"/>
          </p:cNvSpPr>
          <p:nvPr/>
        </p:nvSpPr>
        <p:spPr bwMode="auto">
          <a:xfrm>
            <a:off x="457200" y="662940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033" name="Picture 9" descr="校徽">
            <a:extLst>
              <a:ext uri="{FF2B5EF4-FFF2-40B4-BE49-F238E27FC236}">
                <a16:creationId xmlns:a16="http://schemas.microsoft.com/office/drawing/2014/main" id="{7EDADC7D-24FD-4D21-B278-3FCA92E479CE}"/>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72400" y="225425"/>
            <a:ext cx="785813" cy="765175"/>
          </a:xfrm>
          <a:prstGeom prst="rect">
            <a:avLst/>
          </a:prstGeom>
          <a:solidFill>
            <a:schemeClr val="bg1">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4443" r:id="rId1"/>
    <p:sldLayoutId id="2147484430" r:id="rId2"/>
    <p:sldLayoutId id="2147484431" r:id="rId3"/>
    <p:sldLayoutId id="2147484432" r:id="rId4"/>
    <p:sldLayoutId id="2147484433" r:id="rId5"/>
    <p:sldLayoutId id="2147484434" r:id="rId6"/>
    <p:sldLayoutId id="2147484435" r:id="rId7"/>
    <p:sldLayoutId id="2147484436" r:id="rId8"/>
    <p:sldLayoutId id="2147484437" r:id="rId9"/>
    <p:sldLayoutId id="2147484438" r:id="rId10"/>
    <p:sldLayoutId id="2147484439" r:id="rId11"/>
    <p:sldLayoutId id="2147484440" r:id="rId12"/>
    <p:sldLayoutId id="2147484441" r:id="rId13"/>
    <p:sldLayoutId id="2147484442" r:id="rId14"/>
  </p:sldLayoutIdLst>
  <p:txStyles>
    <p:titleStyle>
      <a:lvl1pPr algn="l" rtl="0" eaLnBrk="0" fontAlgn="base" hangingPunct="0">
        <a:spcBef>
          <a:spcPct val="0"/>
        </a:spcBef>
        <a:spcAft>
          <a:spcPct val="0"/>
        </a:spcAft>
        <a:defRPr sz="4200" b="1">
          <a:solidFill>
            <a:schemeClr val="tx2"/>
          </a:solidFill>
          <a:latin typeface="+mj-lt"/>
          <a:ea typeface="+mj-ea"/>
          <a:cs typeface="+mj-cs"/>
        </a:defRPr>
      </a:lvl1pPr>
      <a:lvl2pPr algn="l" rtl="0" eaLnBrk="0" fontAlgn="base" hangingPunct="0">
        <a:spcBef>
          <a:spcPct val="0"/>
        </a:spcBef>
        <a:spcAft>
          <a:spcPct val="0"/>
        </a:spcAft>
        <a:defRPr sz="4200" b="1">
          <a:solidFill>
            <a:schemeClr val="tx2"/>
          </a:solidFill>
          <a:latin typeface="Garamond" pitchFamily="18" charset="0"/>
          <a:ea typeface="宋体" pitchFamily="2" charset="-122"/>
        </a:defRPr>
      </a:lvl2pPr>
      <a:lvl3pPr algn="l" rtl="0" eaLnBrk="0" fontAlgn="base" hangingPunct="0">
        <a:spcBef>
          <a:spcPct val="0"/>
        </a:spcBef>
        <a:spcAft>
          <a:spcPct val="0"/>
        </a:spcAft>
        <a:defRPr sz="4200" b="1">
          <a:solidFill>
            <a:schemeClr val="tx2"/>
          </a:solidFill>
          <a:latin typeface="Garamond" pitchFamily="18" charset="0"/>
          <a:ea typeface="宋体" pitchFamily="2" charset="-122"/>
        </a:defRPr>
      </a:lvl3pPr>
      <a:lvl4pPr algn="l" rtl="0" eaLnBrk="0" fontAlgn="base" hangingPunct="0">
        <a:spcBef>
          <a:spcPct val="0"/>
        </a:spcBef>
        <a:spcAft>
          <a:spcPct val="0"/>
        </a:spcAft>
        <a:defRPr sz="4200" b="1">
          <a:solidFill>
            <a:schemeClr val="tx2"/>
          </a:solidFill>
          <a:latin typeface="Garamond" pitchFamily="18" charset="0"/>
          <a:ea typeface="宋体" pitchFamily="2" charset="-122"/>
        </a:defRPr>
      </a:lvl4pPr>
      <a:lvl5pPr algn="l" rtl="0" eaLnBrk="0" fontAlgn="base" hangingPunct="0">
        <a:spcBef>
          <a:spcPct val="0"/>
        </a:spcBef>
        <a:spcAft>
          <a:spcPct val="0"/>
        </a:spcAft>
        <a:defRPr sz="4200" b="1">
          <a:solidFill>
            <a:schemeClr val="tx2"/>
          </a:solidFill>
          <a:latin typeface="Garamond" pitchFamily="18" charset="0"/>
          <a:ea typeface="宋体" pitchFamily="2" charset="-122"/>
        </a:defRPr>
      </a:lvl5pPr>
      <a:lvl6pPr marL="457200" algn="l" rtl="0" fontAlgn="base">
        <a:spcBef>
          <a:spcPct val="0"/>
        </a:spcBef>
        <a:spcAft>
          <a:spcPct val="0"/>
        </a:spcAft>
        <a:defRPr sz="4200" b="1">
          <a:solidFill>
            <a:schemeClr val="tx2"/>
          </a:solidFill>
          <a:latin typeface="Garamond" pitchFamily="18" charset="0"/>
          <a:ea typeface="宋体" pitchFamily="2" charset="-122"/>
        </a:defRPr>
      </a:lvl6pPr>
      <a:lvl7pPr marL="914400" algn="l" rtl="0" fontAlgn="base">
        <a:spcBef>
          <a:spcPct val="0"/>
        </a:spcBef>
        <a:spcAft>
          <a:spcPct val="0"/>
        </a:spcAft>
        <a:defRPr sz="4200" b="1">
          <a:solidFill>
            <a:schemeClr val="tx2"/>
          </a:solidFill>
          <a:latin typeface="Garamond" pitchFamily="18" charset="0"/>
          <a:ea typeface="宋体" pitchFamily="2" charset="-122"/>
        </a:defRPr>
      </a:lvl7pPr>
      <a:lvl8pPr marL="1371600" algn="l" rtl="0" fontAlgn="base">
        <a:spcBef>
          <a:spcPct val="0"/>
        </a:spcBef>
        <a:spcAft>
          <a:spcPct val="0"/>
        </a:spcAft>
        <a:defRPr sz="4200" b="1">
          <a:solidFill>
            <a:schemeClr val="tx2"/>
          </a:solidFill>
          <a:latin typeface="Garamond" pitchFamily="18" charset="0"/>
          <a:ea typeface="宋体" pitchFamily="2" charset="-122"/>
        </a:defRPr>
      </a:lvl8pPr>
      <a:lvl9pPr marL="1828800" algn="l" rtl="0" fontAlgn="base">
        <a:spcBef>
          <a:spcPct val="0"/>
        </a:spcBef>
        <a:spcAft>
          <a:spcPct val="0"/>
        </a:spcAft>
        <a:defRPr sz="4200" b="1">
          <a:solidFill>
            <a:schemeClr val="tx2"/>
          </a:solidFill>
          <a:latin typeface="Garamond" pitchFamily="18" charset="0"/>
          <a:ea typeface="宋体" pitchFamily="2" charset="-122"/>
        </a:defRPr>
      </a:lvl9pPr>
    </p:titleStyle>
    <p:body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3200" b="1">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800" b="1">
          <a:solidFill>
            <a:schemeClr val="tx1"/>
          </a:solidFill>
          <a:latin typeface="+mn-lt"/>
          <a:ea typeface="+mn-ea"/>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400" b="1">
          <a:solidFill>
            <a:schemeClr val="tx1"/>
          </a:solidFill>
          <a:latin typeface="+mn-lt"/>
          <a:ea typeface="+mn-ea"/>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mn-ea"/>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vmlDrawing" Target="../drawings/vmlDrawing1.vml"/><Relationship Id="rId5" Type="http://schemas.openxmlformats.org/officeDocument/2006/relationships/image" Target="../media/image3.emf"/><Relationship Id="rId4" Type="http://schemas.openxmlformats.org/officeDocument/2006/relationships/oleObject" Target="../embeddings/oleObject1.bin"/></Relationships>
</file>

<file path=ppt/slides/_rels/slide7.xml.rels><?xml version="1.0" encoding="UTF-8" standalone="yes"?>
<Relationships xmlns="http://schemas.openxmlformats.org/package/2006/relationships"><Relationship Id="rId8" Type="http://schemas.openxmlformats.org/officeDocument/2006/relationships/image" Target="../media/image6.wmf"/><Relationship Id="rId3" Type="http://schemas.openxmlformats.org/officeDocument/2006/relationships/oleObject" Target="../embeddings/oleObject2.bin"/><Relationship Id="rId7" Type="http://schemas.openxmlformats.org/officeDocument/2006/relationships/oleObject" Target="../embeddings/oleObject4.bin"/><Relationship Id="rId2" Type="http://schemas.openxmlformats.org/officeDocument/2006/relationships/slideLayout" Target="../slideLayouts/slideLayout4.xml"/><Relationship Id="rId1" Type="http://schemas.openxmlformats.org/officeDocument/2006/relationships/vmlDrawing" Target="../drawings/vmlDrawing2.vml"/><Relationship Id="rId6" Type="http://schemas.openxmlformats.org/officeDocument/2006/relationships/image" Target="../media/image5.wmf"/><Relationship Id="rId5" Type="http://schemas.openxmlformats.org/officeDocument/2006/relationships/oleObject" Target="../embeddings/oleObject3.bin"/><Relationship Id="rId4" Type="http://schemas.openxmlformats.org/officeDocument/2006/relationships/image" Target="../media/image4.wmf"/></Relationships>
</file>

<file path=ppt/slides/_rels/slide8.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12.xml"/><Relationship Id="rId1" Type="http://schemas.openxmlformats.org/officeDocument/2006/relationships/vmlDrawing" Target="../drawings/vmlDrawing3.vml"/><Relationship Id="rId4" Type="http://schemas.openxmlformats.org/officeDocument/2006/relationships/image" Target="../media/image7.wmf"/></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4.xml"/><Relationship Id="rId1" Type="http://schemas.openxmlformats.org/officeDocument/2006/relationships/vmlDrawing" Target="../drawings/vmlDrawing4.vml"/><Relationship Id="rId5" Type="http://schemas.openxmlformats.org/officeDocument/2006/relationships/image" Target="../media/image8.emf"/><Relationship Id="rId4" Type="http://schemas.openxmlformats.org/officeDocument/2006/relationships/oleObject" Target="../embeddings/oleObject6.bin"/></Relationships>
</file>

<file path=ppt/slides/_rels/slide11.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13.xml"/><Relationship Id="rId1" Type="http://schemas.openxmlformats.org/officeDocument/2006/relationships/vmlDrawing" Target="../drawings/vmlDrawing5.vml"/><Relationship Id="rId6" Type="http://schemas.openxmlformats.org/officeDocument/2006/relationships/image" Target="../media/image10.wmf"/><Relationship Id="rId5" Type="http://schemas.openxmlformats.org/officeDocument/2006/relationships/oleObject" Target="../embeddings/oleObject8.bin"/><Relationship Id="rId4" Type="http://schemas.openxmlformats.org/officeDocument/2006/relationships/image" Target="../media/image9.wmf"/></Relationships>
</file>

<file path=ppt/slides/_rels/slide12.xml.rels><?xml version="1.0" encoding="UTF-8" standalone="yes"?>
<Relationships xmlns="http://schemas.openxmlformats.org/package/2006/relationships"><Relationship Id="rId8" Type="http://schemas.openxmlformats.org/officeDocument/2006/relationships/image" Target="../media/image13.wmf"/><Relationship Id="rId13" Type="http://schemas.openxmlformats.org/officeDocument/2006/relationships/oleObject" Target="../embeddings/oleObject14.bin"/><Relationship Id="rId3" Type="http://schemas.openxmlformats.org/officeDocument/2006/relationships/oleObject" Target="../embeddings/oleObject9.bin"/><Relationship Id="rId7" Type="http://schemas.openxmlformats.org/officeDocument/2006/relationships/oleObject" Target="../embeddings/oleObject11.bin"/><Relationship Id="rId12" Type="http://schemas.openxmlformats.org/officeDocument/2006/relationships/image" Target="../media/image9.wmf"/><Relationship Id="rId2" Type="http://schemas.openxmlformats.org/officeDocument/2006/relationships/slideLayout" Target="../slideLayouts/slideLayout7.xml"/><Relationship Id="rId1" Type="http://schemas.openxmlformats.org/officeDocument/2006/relationships/vmlDrawing" Target="../drawings/vmlDrawing6.vml"/><Relationship Id="rId6" Type="http://schemas.openxmlformats.org/officeDocument/2006/relationships/image" Target="../media/image12.wmf"/><Relationship Id="rId11" Type="http://schemas.openxmlformats.org/officeDocument/2006/relationships/oleObject" Target="../embeddings/oleObject13.bin"/><Relationship Id="rId5" Type="http://schemas.openxmlformats.org/officeDocument/2006/relationships/oleObject" Target="../embeddings/oleObject10.bin"/><Relationship Id="rId10" Type="http://schemas.openxmlformats.org/officeDocument/2006/relationships/image" Target="../media/image14.wmf"/><Relationship Id="rId4" Type="http://schemas.openxmlformats.org/officeDocument/2006/relationships/image" Target="../media/image11.wmf"/><Relationship Id="rId9" Type="http://schemas.openxmlformats.org/officeDocument/2006/relationships/oleObject" Target="../embeddings/oleObject12.bin"/><Relationship Id="rId14" Type="http://schemas.openxmlformats.org/officeDocument/2006/relationships/image" Target="../media/image15.wmf"/></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image" Target="../media/image17.wmf"/><Relationship Id="rId5" Type="http://schemas.openxmlformats.org/officeDocument/2006/relationships/oleObject" Target="../embeddings/oleObject16.bin"/><Relationship Id="rId4" Type="http://schemas.openxmlformats.org/officeDocument/2006/relationships/image" Target="../media/image16.wmf"/></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Layout" Target="../slideLayouts/slideLayout13.xml"/><Relationship Id="rId1" Type="http://schemas.openxmlformats.org/officeDocument/2006/relationships/vmlDrawing" Target="../drawings/vmlDrawing8.vml"/><Relationship Id="rId4" Type="http://schemas.openxmlformats.org/officeDocument/2006/relationships/image" Target="../media/image18.wmf"/></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Layout" Target="../slideLayouts/slideLayout2.xml"/><Relationship Id="rId1" Type="http://schemas.openxmlformats.org/officeDocument/2006/relationships/vmlDrawing" Target="../drawings/vmlDrawing9.vml"/><Relationship Id="rId4" Type="http://schemas.openxmlformats.org/officeDocument/2006/relationships/image" Target="../media/image19.wmf"/></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Layout" Target="../slideLayouts/slideLayout7.xml"/><Relationship Id="rId1" Type="http://schemas.openxmlformats.org/officeDocument/2006/relationships/vmlDrawing" Target="../drawings/vmlDrawing10.vml"/><Relationship Id="rId4" Type="http://schemas.openxmlformats.org/officeDocument/2006/relationships/image" Target="../media/image20.wmf"/></Relationships>
</file>

<file path=ppt/slides/_rels/slide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7.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2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vmlDrawing" Target="../drawings/vmlDrawing11.vml"/><Relationship Id="rId5" Type="http://schemas.openxmlformats.org/officeDocument/2006/relationships/image" Target="../media/image18.wmf"/><Relationship Id="rId4" Type="http://schemas.openxmlformats.org/officeDocument/2006/relationships/oleObject" Target="../embeddings/oleObject20.bin"/></Relationships>
</file>

<file path=ppt/slides/_rels/slide59.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image" Target="../media/image29.wmf"/><Relationship Id="rId5" Type="http://schemas.openxmlformats.org/officeDocument/2006/relationships/oleObject" Target="../embeddings/oleObject22.bin"/><Relationship Id="rId4" Type="http://schemas.openxmlformats.org/officeDocument/2006/relationships/image" Target="../media/image28.wmf"/></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1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Layout" Target="../slideLayouts/slideLayout13.xml"/><Relationship Id="rId1" Type="http://schemas.openxmlformats.org/officeDocument/2006/relationships/vmlDrawing" Target="../drawings/vmlDrawing13.vml"/><Relationship Id="rId4" Type="http://schemas.openxmlformats.org/officeDocument/2006/relationships/image" Target="../media/image18.wmf"/></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oleObject" Target="../embeddings/oleObject24.bin"/><Relationship Id="rId7" Type="http://schemas.openxmlformats.org/officeDocument/2006/relationships/image" Target="../media/image33.png"/><Relationship Id="rId2" Type="http://schemas.openxmlformats.org/officeDocument/2006/relationships/slideLayout" Target="../slideLayouts/slideLayout2.xml"/><Relationship Id="rId1" Type="http://schemas.openxmlformats.org/officeDocument/2006/relationships/vmlDrawing" Target="../drawings/vmlDrawing14.vml"/><Relationship Id="rId6" Type="http://schemas.openxmlformats.org/officeDocument/2006/relationships/image" Target="../media/image32.wmf"/><Relationship Id="rId5" Type="http://schemas.openxmlformats.org/officeDocument/2006/relationships/oleObject" Target="../embeddings/oleObject25.bin"/><Relationship Id="rId4" Type="http://schemas.openxmlformats.org/officeDocument/2006/relationships/image" Target="../media/image31.wmf"/></Relationships>
</file>

<file path=ppt/slides/_rels/slide68.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Layout" Target="../slideLayouts/slideLayout13.xml"/><Relationship Id="rId1" Type="http://schemas.openxmlformats.org/officeDocument/2006/relationships/vmlDrawing" Target="../drawings/vmlDrawing15.vml"/><Relationship Id="rId6" Type="http://schemas.openxmlformats.org/officeDocument/2006/relationships/image" Target="../media/image35.wmf"/><Relationship Id="rId5" Type="http://schemas.openxmlformats.org/officeDocument/2006/relationships/oleObject" Target="../embeddings/oleObject27.bin"/><Relationship Id="rId4" Type="http://schemas.openxmlformats.org/officeDocument/2006/relationships/image" Target="../media/image34.wmf"/></Relationships>
</file>

<file path=ppt/slides/_rels/slide69.xml.rels><?xml version="1.0" encoding="UTF-8" standalone="yes"?>
<Relationships xmlns="http://schemas.openxmlformats.org/package/2006/relationships"><Relationship Id="rId8" Type="http://schemas.openxmlformats.org/officeDocument/2006/relationships/image" Target="../media/image38.wmf"/><Relationship Id="rId3" Type="http://schemas.openxmlformats.org/officeDocument/2006/relationships/oleObject" Target="../embeddings/oleObject28.bin"/><Relationship Id="rId7" Type="http://schemas.openxmlformats.org/officeDocument/2006/relationships/oleObject" Target="../embeddings/oleObject30.bin"/><Relationship Id="rId2" Type="http://schemas.openxmlformats.org/officeDocument/2006/relationships/slideLayout" Target="../slideLayouts/slideLayout13.xml"/><Relationship Id="rId1" Type="http://schemas.openxmlformats.org/officeDocument/2006/relationships/vmlDrawing" Target="../drawings/vmlDrawing16.vml"/><Relationship Id="rId6" Type="http://schemas.openxmlformats.org/officeDocument/2006/relationships/image" Target="../media/image37.wmf"/><Relationship Id="rId5" Type="http://schemas.openxmlformats.org/officeDocument/2006/relationships/oleObject" Target="../embeddings/oleObject29.bin"/><Relationship Id="rId10" Type="http://schemas.openxmlformats.org/officeDocument/2006/relationships/image" Target="../media/image32.wmf"/><Relationship Id="rId4" Type="http://schemas.openxmlformats.org/officeDocument/2006/relationships/image" Target="../media/image36.wmf"/><Relationship Id="rId9" Type="http://schemas.openxmlformats.org/officeDocument/2006/relationships/oleObject" Target="../embeddings/oleObject31.bin"/></Relationships>
</file>

<file path=ppt/slides/_rels/slide70.xml.rels><?xml version="1.0" encoding="UTF-8" standalone="yes"?>
<Relationships xmlns="http://schemas.openxmlformats.org/package/2006/relationships"><Relationship Id="rId8" Type="http://schemas.openxmlformats.org/officeDocument/2006/relationships/image" Target="../media/image41.wmf"/><Relationship Id="rId13" Type="http://schemas.openxmlformats.org/officeDocument/2006/relationships/oleObject" Target="../embeddings/oleObject37.bin"/><Relationship Id="rId3" Type="http://schemas.openxmlformats.org/officeDocument/2006/relationships/oleObject" Target="../embeddings/oleObject32.bin"/><Relationship Id="rId7" Type="http://schemas.openxmlformats.org/officeDocument/2006/relationships/oleObject" Target="../embeddings/oleObject34.bin"/><Relationship Id="rId12" Type="http://schemas.openxmlformats.org/officeDocument/2006/relationships/image" Target="../media/image43.wmf"/><Relationship Id="rId2" Type="http://schemas.openxmlformats.org/officeDocument/2006/relationships/slideLayout" Target="../slideLayouts/slideLayout13.xml"/><Relationship Id="rId16" Type="http://schemas.openxmlformats.org/officeDocument/2006/relationships/image" Target="../media/image45.wmf"/><Relationship Id="rId1" Type="http://schemas.openxmlformats.org/officeDocument/2006/relationships/vmlDrawing" Target="../drawings/vmlDrawing17.vml"/><Relationship Id="rId6" Type="http://schemas.openxmlformats.org/officeDocument/2006/relationships/image" Target="../media/image40.wmf"/><Relationship Id="rId11" Type="http://schemas.openxmlformats.org/officeDocument/2006/relationships/oleObject" Target="../embeddings/oleObject36.bin"/><Relationship Id="rId5" Type="http://schemas.openxmlformats.org/officeDocument/2006/relationships/oleObject" Target="../embeddings/oleObject33.bin"/><Relationship Id="rId15" Type="http://schemas.openxmlformats.org/officeDocument/2006/relationships/oleObject" Target="../embeddings/oleObject38.bin"/><Relationship Id="rId10" Type="http://schemas.openxmlformats.org/officeDocument/2006/relationships/image" Target="../media/image42.wmf"/><Relationship Id="rId4" Type="http://schemas.openxmlformats.org/officeDocument/2006/relationships/image" Target="../media/image39.wmf"/><Relationship Id="rId9" Type="http://schemas.openxmlformats.org/officeDocument/2006/relationships/oleObject" Target="../embeddings/oleObject35.bin"/><Relationship Id="rId14" Type="http://schemas.openxmlformats.org/officeDocument/2006/relationships/image" Target="../media/image44.wmf"/></Relationships>
</file>

<file path=ppt/slides/_rels/slide7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png"/><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Layout" Target="../slideLayouts/slideLayout2.xml"/><Relationship Id="rId1" Type="http://schemas.openxmlformats.org/officeDocument/2006/relationships/vmlDrawing" Target="../drawings/vmlDrawing18.vml"/><Relationship Id="rId4" Type="http://schemas.openxmlformats.org/officeDocument/2006/relationships/image" Target="../media/image18.wmf"/></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Layout" Target="../slideLayouts/slideLayout2.xml"/><Relationship Id="rId1" Type="http://schemas.openxmlformats.org/officeDocument/2006/relationships/vmlDrawing" Target="../drawings/vmlDrawing19.vml"/><Relationship Id="rId4" Type="http://schemas.openxmlformats.org/officeDocument/2006/relationships/image" Target="../media/image48.wmf"/></Relationships>
</file>

<file path=ppt/slides/_rels/slide78.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Layout" Target="../slideLayouts/slideLayout2.xml"/><Relationship Id="rId1" Type="http://schemas.openxmlformats.org/officeDocument/2006/relationships/vmlDrawing" Target="../drawings/vmlDrawing20.vml"/><Relationship Id="rId4" Type="http://schemas.openxmlformats.org/officeDocument/2006/relationships/image" Target="../media/image49.wmf"/></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oleObject" Target="../embeddings/oleObject42.bin"/><Relationship Id="rId2" Type="http://schemas.openxmlformats.org/officeDocument/2006/relationships/slideLayout" Target="../slideLayouts/slideLayout2.xml"/><Relationship Id="rId1" Type="http://schemas.openxmlformats.org/officeDocument/2006/relationships/vmlDrawing" Target="../drawings/vmlDrawing21.vml"/><Relationship Id="rId4" Type="http://schemas.openxmlformats.org/officeDocument/2006/relationships/image" Target="../media/image50.wmf"/></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1.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slideLayout" Target="../slideLayouts/slideLayout12.xml"/><Relationship Id="rId1" Type="http://schemas.openxmlformats.org/officeDocument/2006/relationships/vmlDrawing" Target="../drawings/vmlDrawing22.vml"/><Relationship Id="rId6" Type="http://schemas.openxmlformats.org/officeDocument/2006/relationships/image" Target="../media/image53.wmf"/><Relationship Id="rId5" Type="http://schemas.openxmlformats.org/officeDocument/2006/relationships/oleObject" Target="../embeddings/oleObject44.bin"/><Relationship Id="rId4" Type="http://schemas.openxmlformats.org/officeDocument/2006/relationships/image" Target="../media/image52.wmf"/></Relationships>
</file>

<file path=ppt/slides/_rels/slide92.xml.rels><?xml version="1.0" encoding="UTF-8" standalone="yes"?>
<Relationships xmlns="http://schemas.openxmlformats.org/package/2006/relationships"><Relationship Id="rId3" Type="http://schemas.openxmlformats.org/officeDocument/2006/relationships/oleObject" Target="../embeddings/oleObject45.bin"/><Relationship Id="rId7" Type="http://schemas.openxmlformats.org/officeDocument/2006/relationships/image" Target="../media/image56.png"/><Relationship Id="rId2" Type="http://schemas.openxmlformats.org/officeDocument/2006/relationships/slideLayout" Target="../slideLayouts/slideLayout12.xml"/><Relationship Id="rId1" Type="http://schemas.openxmlformats.org/officeDocument/2006/relationships/vmlDrawing" Target="../drawings/vmlDrawing23.vml"/><Relationship Id="rId6" Type="http://schemas.openxmlformats.org/officeDocument/2006/relationships/image" Target="../media/image55.wmf"/><Relationship Id="rId5" Type="http://schemas.openxmlformats.org/officeDocument/2006/relationships/oleObject" Target="../embeddings/oleObject46.bin"/><Relationship Id="rId4" Type="http://schemas.openxmlformats.org/officeDocument/2006/relationships/image" Target="../media/image54.wmf"/></Relationships>
</file>

<file path=ppt/slides/_rels/slide93.xml.rels><?xml version="1.0" encoding="UTF-8" standalone="yes"?>
<Relationships xmlns="http://schemas.openxmlformats.org/package/2006/relationships"><Relationship Id="rId8" Type="http://schemas.openxmlformats.org/officeDocument/2006/relationships/image" Target="../media/image54.wmf"/><Relationship Id="rId3" Type="http://schemas.openxmlformats.org/officeDocument/2006/relationships/oleObject" Target="../embeddings/oleObject47.bin"/><Relationship Id="rId7" Type="http://schemas.openxmlformats.org/officeDocument/2006/relationships/oleObject" Target="../embeddings/oleObject49.bin"/><Relationship Id="rId2" Type="http://schemas.openxmlformats.org/officeDocument/2006/relationships/slideLayout" Target="../slideLayouts/slideLayout12.xml"/><Relationship Id="rId1" Type="http://schemas.openxmlformats.org/officeDocument/2006/relationships/vmlDrawing" Target="../drawings/vmlDrawing24.vml"/><Relationship Id="rId6" Type="http://schemas.openxmlformats.org/officeDocument/2006/relationships/image" Target="../media/image58.wmf"/><Relationship Id="rId5" Type="http://schemas.openxmlformats.org/officeDocument/2006/relationships/oleObject" Target="../embeddings/oleObject48.bin"/><Relationship Id="rId4" Type="http://schemas.openxmlformats.org/officeDocument/2006/relationships/image" Target="../media/image57.wmf"/></Relationships>
</file>

<file path=ppt/slides/_rels/slide94.xml.rels><?xml version="1.0" encoding="UTF-8" standalone="yes"?>
<Relationships xmlns="http://schemas.openxmlformats.org/package/2006/relationships"><Relationship Id="rId3" Type="http://schemas.openxmlformats.org/officeDocument/2006/relationships/oleObject" Target="../embeddings/oleObject50.bin"/><Relationship Id="rId2" Type="http://schemas.openxmlformats.org/officeDocument/2006/relationships/slideLayout" Target="../slideLayouts/slideLayout14.xml"/><Relationship Id="rId1" Type="http://schemas.openxmlformats.org/officeDocument/2006/relationships/vmlDrawing" Target="../drawings/vmlDrawing25.vml"/><Relationship Id="rId4" Type="http://schemas.openxmlformats.org/officeDocument/2006/relationships/image" Target="../media/image59.emf"/></Relationships>
</file>

<file path=ppt/slides/_rels/slide95.xml.rels><?xml version="1.0" encoding="UTF-8" standalone="yes"?>
<Relationships xmlns="http://schemas.openxmlformats.org/package/2006/relationships"><Relationship Id="rId3" Type="http://schemas.openxmlformats.org/officeDocument/2006/relationships/oleObject" Target="../embeddings/oleObject51.bin"/><Relationship Id="rId7" Type="http://schemas.openxmlformats.org/officeDocument/2006/relationships/image" Target="../media/image56.png"/><Relationship Id="rId2" Type="http://schemas.openxmlformats.org/officeDocument/2006/relationships/slideLayout" Target="../slideLayouts/slideLayout12.xml"/><Relationship Id="rId1" Type="http://schemas.openxmlformats.org/officeDocument/2006/relationships/vmlDrawing" Target="../drawings/vmlDrawing26.vml"/><Relationship Id="rId6" Type="http://schemas.openxmlformats.org/officeDocument/2006/relationships/image" Target="../media/image61.wmf"/><Relationship Id="rId5" Type="http://schemas.openxmlformats.org/officeDocument/2006/relationships/oleObject" Target="../embeddings/oleObject52.bin"/><Relationship Id="rId4" Type="http://schemas.openxmlformats.org/officeDocument/2006/relationships/image" Target="../media/image60.wmf"/></Relationships>
</file>

<file path=ppt/slides/_rels/slide96.xml.rels><?xml version="1.0" encoding="UTF-8" standalone="yes"?>
<Relationships xmlns="http://schemas.openxmlformats.org/package/2006/relationships"><Relationship Id="rId8" Type="http://schemas.openxmlformats.org/officeDocument/2006/relationships/image" Target="../media/image61.wmf"/><Relationship Id="rId3" Type="http://schemas.openxmlformats.org/officeDocument/2006/relationships/oleObject" Target="../embeddings/oleObject53.bin"/><Relationship Id="rId7" Type="http://schemas.openxmlformats.org/officeDocument/2006/relationships/oleObject" Target="../embeddings/oleObject55.bin"/><Relationship Id="rId2" Type="http://schemas.openxmlformats.org/officeDocument/2006/relationships/slideLayout" Target="../slideLayouts/slideLayout12.xml"/><Relationship Id="rId1" Type="http://schemas.openxmlformats.org/officeDocument/2006/relationships/vmlDrawing" Target="../drawings/vmlDrawing27.vml"/><Relationship Id="rId6" Type="http://schemas.openxmlformats.org/officeDocument/2006/relationships/image" Target="../media/image62.wmf"/><Relationship Id="rId5" Type="http://schemas.openxmlformats.org/officeDocument/2006/relationships/oleObject" Target="../embeddings/oleObject54.bin"/><Relationship Id="rId4" Type="http://schemas.openxmlformats.org/officeDocument/2006/relationships/image" Target="../media/image57.wmf"/></Relationships>
</file>

<file path=ppt/slides/_rels/slide97.xml.rels><?xml version="1.0" encoding="UTF-8" standalone="yes"?>
<Relationships xmlns="http://schemas.openxmlformats.org/package/2006/relationships"><Relationship Id="rId3" Type="http://schemas.openxmlformats.org/officeDocument/2006/relationships/oleObject" Target="../embeddings/oleObject56.bin"/><Relationship Id="rId2" Type="http://schemas.openxmlformats.org/officeDocument/2006/relationships/slideLayout" Target="../slideLayouts/slideLayout14.xml"/><Relationship Id="rId1" Type="http://schemas.openxmlformats.org/officeDocument/2006/relationships/vmlDrawing" Target="../drawings/vmlDrawing28.vml"/><Relationship Id="rId4" Type="http://schemas.openxmlformats.org/officeDocument/2006/relationships/image" Target="../media/image63.emf"/></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3" Type="http://schemas.openxmlformats.org/officeDocument/2006/relationships/oleObject" Target="../embeddings/oleObject57.bin"/><Relationship Id="rId2" Type="http://schemas.openxmlformats.org/officeDocument/2006/relationships/slideLayout" Target="../slideLayouts/slideLayout2.xml"/><Relationship Id="rId1" Type="http://schemas.openxmlformats.org/officeDocument/2006/relationships/vmlDrawing" Target="../drawings/vmlDrawing29.vml"/><Relationship Id="rId4" Type="http://schemas.openxmlformats.org/officeDocument/2006/relationships/image" Target="../media/image54.wmf"/></Relationships>
</file>

<file path=ppt/slides/_rels/slide107.xml.rels><?xml version="1.0" encoding="UTF-8" standalone="yes"?>
<Relationships xmlns="http://schemas.openxmlformats.org/package/2006/relationships"><Relationship Id="rId8" Type="http://schemas.openxmlformats.org/officeDocument/2006/relationships/oleObject" Target="../embeddings/oleObject60.bin"/><Relationship Id="rId3" Type="http://schemas.openxmlformats.org/officeDocument/2006/relationships/slideLayout" Target="../slideLayouts/slideLayout2.xml"/><Relationship Id="rId7" Type="http://schemas.openxmlformats.org/officeDocument/2006/relationships/image" Target="../media/image65.wmf"/><Relationship Id="rId2" Type="http://schemas.openxmlformats.org/officeDocument/2006/relationships/vmlDrawing" Target="../drawings/vmlDrawing30.vml"/><Relationship Id="rId1" Type="http://schemas.openxmlformats.org/officeDocument/2006/relationships/themeOverride" Target="../theme/themeOverride1.xml"/><Relationship Id="rId6" Type="http://schemas.openxmlformats.org/officeDocument/2006/relationships/oleObject" Target="../embeddings/oleObject59.bin"/><Relationship Id="rId5" Type="http://schemas.openxmlformats.org/officeDocument/2006/relationships/image" Target="../media/image64.wmf"/><Relationship Id="rId4" Type="http://schemas.openxmlformats.org/officeDocument/2006/relationships/oleObject" Target="../embeddings/oleObject58.bin"/><Relationship Id="rId9" Type="http://schemas.openxmlformats.org/officeDocument/2006/relationships/image" Target="../media/image54.wmf"/></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oleObject" Target="../embeddings/oleObject61.bin"/><Relationship Id="rId2" Type="http://schemas.openxmlformats.org/officeDocument/2006/relationships/slideLayout" Target="../slideLayouts/slideLayout2.xml"/><Relationship Id="rId1" Type="http://schemas.openxmlformats.org/officeDocument/2006/relationships/vmlDrawing" Target="../drawings/vmlDrawing31.vml"/><Relationship Id="rId6" Type="http://schemas.openxmlformats.org/officeDocument/2006/relationships/image" Target="../media/image67.wmf"/><Relationship Id="rId5" Type="http://schemas.openxmlformats.org/officeDocument/2006/relationships/oleObject" Target="../embeddings/oleObject62.bin"/><Relationship Id="rId4" Type="http://schemas.openxmlformats.org/officeDocument/2006/relationships/image" Target="../media/image66.wmf"/></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oleObject" Target="../embeddings/oleObject63.bin"/><Relationship Id="rId2" Type="http://schemas.openxmlformats.org/officeDocument/2006/relationships/slideLayout" Target="../slideLayouts/slideLayout2.xml"/><Relationship Id="rId1" Type="http://schemas.openxmlformats.org/officeDocument/2006/relationships/vmlDrawing" Target="../drawings/vmlDrawing32.vml"/><Relationship Id="rId4" Type="http://schemas.openxmlformats.org/officeDocument/2006/relationships/image" Target="../media/image68.wmf"/></Relationships>
</file>

<file path=ppt/slides/_rels/slide11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2.xml"/><Relationship Id="rId4" Type="http://schemas.openxmlformats.org/officeDocument/2006/relationships/image" Target="../media/image71.png"/></Relationships>
</file>

<file path=ppt/slides/_rels/slide113.xml.rels><?xml version="1.0" encoding="UTF-8" standalone="yes"?>
<Relationships xmlns="http://schemas.openxmlformats.org/package/2006/relationships"><Relationship Id="rId2" Type="http://schemas.openxmlformats.org/officeDocument/2006/relationships/image" Target="../media/image72.emf"/><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a:extLst>
              <a:ext uri="{FF2B5EF4-FFF2-40B4-BE49-F238E27FC236}">
                <a16:creationId xmlns:a16="http://schemas.microsoft.com/office/drawing/2014/main" id="{077A1542-A246-47A8-B0E1-B52F1B52D1E4}"/>
              </a:ext>
            </a:extLst>
          </p:cNvPr>
          <p:cNvSpPr>
            <a:spLocks noGrp="1" noChangeArrowheads="1"/>
          </p:cNvSpPr>
          <p:nvPr>
            <p:ph type="ctrTitle"/>
          </p:nvPr>
        </p:nvSpPr>
        <p:spPr>
          <a:xfrm>
            <a:off x="914400" y="1524000"/>
            <a:ext cx="7623175" cy="2133600"/>
          </a:xfrm>
        </p:spPr>
        <p:txBody>
          <a:bodyPr/>
          <a:lstStyle/>
          <a:p>
            <a:pPr algn="ctr" eaLnBrk="1" hangingPunct="1"/>
            <a:br>
              <a:rPr lang="en-US" altLang="zh-CN" b="0"/>
            </a:br>
            <a:r>
              <a:rPr lang="zh-CN" altLang="en-US" sz="6000"/>
              <a:t>运 筹 学</a:t>
            </a:r>
          </a:p>
        </p:txBody>
      </p:sp>
      <p:sp>
        <p:nvSpPr>
          <p:cNvPr id="5123" name="Rectangle 3">
            <a:extLst>
              <a:ext uri="{FF2B5EF4-FFF2-40B4-BE49-F238E27FC236}">
                <a16:creationId xmlns:a16="http://schemas.microsoft.com/office/drawing/2014/main" id="{64F72156-CF91-4A9B-847A-3B75F7C7C761}"/>
              </a:ext>
            </a:extLst>
          </p:cNvPr>
          <p:cNvSpPr>
            <a:spLocks noGrp="1" noChangeArrowheads="1"/>
          </p:cNvSpPr>
          <p:nvPr>
            <p:ph type="subTitle" idx="1"/>
          </p:nvPr>
        </p:nvSpPr>
        <p:spPr>
          <a:xfrm>
            <a:off x="2362200" y="3962400"/>
            <a:ext cx="6553200" cy="1981200"/>
          </a:xfrm>
        </p:spPr>
        <p:txBody>
          <a:bodyPr/>
          <a:lstStyle/>
          <a:p>
            <a:pPr eaLnBrk="1" hangingPunct="1">
              <a:lnSpc>
                <a:spcPct val="80000"/>
              </a:lnSpc>
            </a:pPr>
            <a:endParaRPr lang="en-US" altLang="zh-CN" b="0">
              <a:latin typeface="楷体_GB2312" pitchFamily="49" charset="-122"/>
              <a:ea typeface="楷体_GB2312" pitchFamily="49" charset="-122"/>
            </a:endParaRPr>
          </a:p>
          <a:p>
            <a:pPr eaLnBrk="1" hangingPunct="1">
              <a:lnSpc>
                <a:spcPct val="80000"/>
              </a:lnSpc>
            </a:pPr>
            <a:r>
              <a:rPr lang="zh-CN" altLang="en-US" sz="2400" b="0">
                <a:ea typeface="楷体_GB2312" pitchFamily="49" charset="-122"/>
              </a:rPr>
              <a:t>影像科学与技术实验室</a:t>
            </a:r>
          </a:p>
          <a:p>
            <a:pPr eaLnBrk="1" hangingPunct="1">
              <a:lnSpc>
                <a:spcPct val="80000"/>
              </a:lnSpc>
            </a:pPr>
            <a:r>
              <a:rPr lang="zh-CN" altLang="en-US" sz="2400" b="0">
                <a:ea typeface="楷体_GB2312" pitchFamily="49" charset="-122"/>
              </a:rPr>
              <a:t>东南大学计算机学院</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a:extLst>
              <a:ext uri="{FF2B5EF4-FFF2-40B4-BE49-F238E27FC236}">
                <a16:creationId xmlns:a16="http://schemas.microsoft.com/office/drawing/2014/main" id="{F4279257-5065-4DDC-BBE4-B688D36B2BED}"/>
              </a:ext>
            </a:extLst>
          </p:cNvPr>
          <p:cNvSpPr>
            <a:spLocks noGrp="1" noChangeArrowheads="1"/>
          </p:cNvSpPr>
          <p:nvPr>
            <p:ph type="ctrTitle"/>
          </p:nvPr>
        </p:nvSpPr>
        <p:spPr/>
        <p:txBody>
          <a:bodyPr/>
          <a:lstStyle/>
          <a:p>
            <a:pPr eaLnBrk="1" hangingPunct="1"/>
            <a:r>
              <a:rPr lang="zh-CN" altLang="en-US"/>
              <a:t>第四章</a:t>
            </a:r>
          </a:p>
        </p:txBody>
      </p:sp>
      <p:sp>
        <p:nvSpPr>
          <p:cNvPr id="7171" name="Rectangle 3">
            <a:extLst>
              <a:ext uri="{FF2B5EF4-FFF2-40B4-BE49-F238E27FC236}">
                <a16:creationId xmlns:a16="http://schemas.microsoft.com/office/drawing/2014/main" id="{FE57A310-BF18-4643-A087-1A68AC0E2DBC}"/>
              </a:ext>
            </a:extLst>
          </p:cNvPr>
          <p:cNvSpPr>
            <a:spLocks noGrp="1" noChangeArrowheads="1"/>
          </p:cNvSpPr>
          <p:nvPr>
            <p:ph type="subTitle" idx="1"/>
          </p:nvPr>
        </p:nvSpPr>
        <p:spPr/>
        <p:txBody>
          <a:bodyPr/>
          <a:lstStyle/>
          <a:p>
            <a:pPr eaLnBrk="1" hangingPunct="1"/>
            <a:r>
              <a:rPr lang="zh-CN" altLang="en-US"/>
              <a:t>运 输 问 题</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a:extLst>
              <a:ext uri="{FF2B5EF4-FFF2-40B4-BE49-F238E27FC236}">
                <a16:creationId xmlns:a16="http://schemas.microsoft.com/office/drawing/2014/main" id="{377EEC7D-12AE-4780-861E-A23B41432B87}"/>
              </a:ext>
            </a:extLst>
          </p:cNvPr>
          <p:cNvSpPr>
            <a:spLocks noGrp="1" noChangeArrowheads="1"/>
          </p:cNvSpPr>
          <p:nvPr>
            <p:ph type="title"/>
          </p:nvPr>
        </p:nvSpPr>
        <p:spPr/>
        <p:txBody>
          <a:bodyPr/>
          <a:lstStyle/>
          <a:p>
            <a:pPr eaLnBrk="1" hangingPunct="1"/>
            <a:r>
              <a:rPr lang="zh-CN" altLang="en-US"/>
              <a:t>本章学习要求</a:t>
            </a:r>
          </a:p>
        </p:txBody>
      </p:sp>
      <p:sp>
        <p:nvSpPr>
          <p:cNvPr id="14339" name="Rectangle 3">
            <a:extLst>
              <a:ext uri="{FF2B5EF4-FFF2-40B4-BE49-F238E27FC236}">
                <a16:creationId xmlns:a16="http://schemas.microsoft.com/office/drawing/2014/main" id="{C01C3052-BA95-46C4-91FC-DC8966A5DFF4}"/>
              </a:ext>
            </a:extLst>
          </p:cNvPr>
          <p:cNvSpPr>
            <a:spLocks noGrp="1" noChangeArrowheads="1"/>
          </p:cNvSpPr>
          <p:nvPr>
            <p:ph type="body" idx="1"/>
          </p:nvPr>
        </p:nvSpPr>
        <p:spPr>
          <a:xfrm>
            <a:off x="342900" y="1371600"/>
            <a:ext cx="8458200" cy="5029200"/>
          </a:xfrm>
        </p:spPr>
        <p:txBody>
          <a:bodyPr/>
          <a:lstStyle/>
          <a:p>
            <a:pPr eaLnBrk="1" hangingPunct="1">
              <a:lnSpc>
                <a:spcPct val="200000"/>
              </a:lnSpc>
              <a:defRPr/>
            </a:pPr>
            <a:r>
              <a:rPr lang="zh-CN" altLang="en-US" dirty="0"/>
              <a:t>理解运输问题的数学模型及其解的特征</a:t>
            </a:r>
          </a:p>
          <a:p>
            <a:pPr eaLnBrk="1" hangingPunct="1">
              <a:lnSpc>
                <a:spcPct val="200000"/>
              </a:lnSpc>
              <a:defRPr/>
            </a:pPr>
            <a:r>
              <a:rPr lang="zh-CN" altLang="en-US" dirty="0"/>
              <a:t>掌握产销平衡运输问题的求解方法</a:t>
            </a:r>
            <a:endParaRPr lang="en-US" altLang="zh-CN" dirty="0"/>
          </a:p>
          <a:p>
            <a:pPr marL="0" indent="0" eaLnBrk="1" hangingPunct="1">
              <a:lnSpc>
                <a:spcPct val="200000"/>
              </a:lnSpc>
              <a:buFont typeface="Wingdings" panose="05000000000000000000" pitchFamily="2" charset="2"/>
              <a:buNone/>
              <a:defRPr/>
            </a:pPr>
            <a:r>
              <a:rPr lang="zh-CN" altLang="en-US" sz="2400" dirty="0"/>
              <a:t>     表上作业法（最小元素法，伏格尔法，位势法，闭回路法）</a:t>
            </a:r>
          </a:p>
          <a:p>
            <a:pPr eaLnBrk="1" hangingPunct="1">
              <a:lnSpc>
                <a:spcPct val="200000"/>
              </a:lnSpc>
              <a:defRPr/>
            </a:pPr>
            <a:r>
              <a:rPr lang="zh-CN" altLang="en-US" dirty="0"/>
              <a:t>了解产销不平衡运输问题的求解思路</a:t>
            </a:r>
          </a:p>
          <a:p>
            <a:pPr eaLnBrk="1" hangingPunct="1">
              <a:lnSpc>
                <a:spcPct val="200000"/>
              </a:lnSpc>
              <a:defRPr/>
            </a:pPr>
            <a:r>
              <a:rPr lang="zh-CN" altLang="en-US" dirty="0"/>
              <a:t>学会自己解决实际中的运输问题</a:t>
            </a:r>
            <a:endParaRPr lang="en-US" altLang="zh-CN"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4339">
                                            <p:txEl>
                                              <p:pRg st="0" end="0"/>
                                            </p:txEl>
                                          </p:spTgt>
                                        </p:tgtEl>
                                        <p:attrNameLst>
                                          <p:attrName>style.visibility</p:attrName>
                                        </p:attrNameLst>
                                      </p:cBhvr>
                                      <p:to>
                                        <p:strVal val="visible"/>
                                      </p:to>
                                    </p:set>
                                    <p:animEffect transition="in" filter="blinds(horizontal)">
                                      <p:cBhvr>
                                        <p:cTn id="7" dur="500"/>
                                        <p:tgtEl>
                                          <p:spTgt spid="14339">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4339">
                                            <p:txEl>
                                              <p:pRg st="1" end="1"/>
                                            </p:txEl>
                                          </p:spTgt>
                                        </p:tgtEl>
                                        <p:attrNameLst>
                                          <p:attrName>style.visibility</p:attrName>
                                        </p:attrNameLst>
                                      </p:cBhvr>
                                      <p:to>
                                        <p:strVal val="visible"/>
                                      </p:to>
                                    </p:set>
                                    <p:animEffect transition="in" filter="blinds(horizontal)">
                                      <p:cBhvr>
                                        <p:cTn id="12" dur="500"/>
                                        <p:tgtEl>
                                          <p:spTgt spid="14339">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4339">
                                            <p:txEl>
                                              <p:pRg st="2" end="2"/>
                                            </p:txEl>
                                          </p:spTgt>
                                        </p:tgtEl>
                                        <p:attrNameLst>
                                          <p:attrName>style.visibility</p:attrName>
                                        </p:attrNameLst>
                                      </p:cBhvr>
                                      <p:to>
                                        <p:strVal val="visible"/>
                                      </p:to>
                                    </p:set>
                                    <p:animEffect transition="in" filter="blinds(horizontal)">
                                      <p:cBhvr>
                                        <p:cTn id="17" dur="500"/>
                                        <p:tgtEl>
                                          <p:spTgt spid="14339">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4339">
                                            <p:txEl>
                                              <p:pRg st="3" end="3"/>
                                            </p:txEl>
                                          </p:spTgt>
                                        </p:tgtEl>
                                        <p:attrNameLst>
                                          <p:attrName>style.visibility</p:attrName>
                                        </p:attrNameLst>
                                      </p:cBhvr>
                                      <p:to>
                                        <p:strVal val="visible"/>
                                      </p:to>
                                    </p:set>
                                    <p:animEffect transition="in" filter="blinds(horizontal)">
                                      <p:cBhvr>
                                        <p:cTn id="22" dur="500"/>
                                        <p:tgtEl>
                                          <p:spTgt spid="14339">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4339">
                                            <p:txEl>
                                              <p:pRg st="4" end="4"/>
                                            </p:txEl>
                                          </p:spTgt>
                                        </p:tgtEl>
                                        <p:attrNameLst>
                                          <p:attrName>style.visibility</p:attrName>
                                        </p:attrNameLst>
                                      </p:cBhvr>
                                      <p:to>
                                        <p:strVal val="visible"/>
                                      </p:to>
                                    </p:set>
                                    <p:animEffect transition="in" filter="blinds(horizontal)">
                                      <p:cBhvr>
                                        <p:cTn id="27" dur="500"/>
                                        <p:tgtEl>
                                          <p:spTgt spid="14339">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9"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4">
            <a:extLst>
              <a:ext uri="{FF2B5EF4-FFF2-40B4-BE49-F238E27FC236}">
                <a16:creationId xmlns:a16="http://schemas.microsoft.com/office/drawing/2014/main" id="{7C02B0B1-2DE7-4D49-816B-B5C4BCA5B762}"/>
              </a:ext>
            </a:extLst>
          </p:cNvPr>
          <p:cNvSpPr>
            <a:spLocks noGrp="1" noChangeArrowheads="1"/>
          </p:cNvSpPr>
          <p:nvPr>
            <p:ph type="ctrTitle"/>
          </p:nvPr>
        </p:nvSpPr>
        <p:spPr/>
        <p:txBody>
          <a:bodyPr/>
          <a:lstStyle/>
          <a:p>
            <a:pPr eaLnBrk="1" hangingPunct="1"/>
            <a:r>
              <a:rPr lang="zh-CN" altLang="en-US"/>
              <a:t>第四章之第一节</a:t>
            </a:r>
          </a:p>
        </p:txBody>
      </p:sp>
      <p:sp>
        <p:nvSpPr>
          <p:cNvPr id="9219" name="Rectangle 5">
            <a:extLst>
              <a:ext uri="{FF2B5EF4-FFF2-40B4-BE49-F238E27FC236}">
                <a16:creationId xmlns:a16="http://schemas.microsoft.com/office/drawing/2014/main" id="{7E8B7148-BEF9-4DB6-AEE1-9ABD07FD41C5}"/>
              </a:ext>
            </a:extLst>
          </p:cNvPr>
          <p:cNvSpPr>
            <a:spLocks noGrp="1" noChangeArrowheads="1"/>
          </p:cNvSpPr>
          <p:nvPr>
            <p:ph type="subTitle" idx="1"/>
          </p:nvPr>
        </p:nvSpPr>
        <p:spPr/>
        <p:txBody>
          <a:bodyPr/>
          <a:lstStyle/>
          <a:p>
            <a:pPr eaLnBrk="1" hangingPunct="1"/>
            <a:r>
              <a:rPr lang="zh-CN" altLang="en-US" sz="5400"/>
              <a:t>运输问题的数学模型</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a:extLst>
              <a:ext uri="{FF2B5EF4-FFF2-40B4-BE49-F238E27FC236}">
                <a16:creationId xmlns:a16="http://schemas.microsoft.com/office/drawing/2014/main" id="{2FB9C7B5-D4E7-48FA-99C6-303FFBDC8172}"/>
              </a:ext>
            </a:extLst>
          </p:cNvPr>
          <p:cNvSpPr>
            <a:spLocks noGrp="1" noChangeArrowheads="1"/>
          </p:cNvSpPr>
          <p:nvPr>
            <p:ph type="title"/>
          </p:nvPr>
        </p:nvSpPr>
        <p:spPr/>
        <p:txBody>
          <a:bodyPr/>
          <a:lstStyle/>
          <a:p>
            <a:pPr eaLnBrk="1" hangingPunct="1"/>
            <a:r>
              <a:rPr lang="zh-CN" altLang="en-US"/>
              <a:t>运输问题的引例</a:t>
            </a:r>
          </a:p>
        </p:txBody>
      </p:sp>
      <p:sp>
        <p:nvSpPr>
          <p:cNvPr id="2" name="矩形 1">
            <a:extLst>
              <a:ext uri="{FF2B5EF4-FFF2-40B4-BE49-F238E27FC236}">
                <a16:creationId xmlns:a16="http://schemas.microsoft.com/office/drawing/2014/main" id="{A9D8F3C4-9B53-4BD0-85B5-8477B6B52198}"/>
              </a:ext>
            </a:extLst>
          </p:cNvPr>
          <p:cNvSpPr/>
          <p:nvPr/>
        </p:nvSpPr>
        <p:spPr>
          <a:xfrm>
            <a:off x="76200" y="892175"/>
            <a:ext cx="5105400" cy="2520950"/>
          </a:xfrm>
          <a:prstGeom prst="rect">
            <a:avLst/>
          </a:prstGeom>
        </p:spPr>
        <p:txBody>
          <a:bodyPr>
            <a:spAutoFit/>
          </a:bodyPr>
          <a:lstStyle/>
          <a:p>
            <a:pPr algn="just">
              <a:lnSpc>
                <a:spcPct val="150000"/>
              </a:lnSpc>
              <a:spcAft>
                <a:spcPts val="0"/>
              </a:spcAft>
              <a:defRPr/>
            </a:pPr>
            <a:r>
              <a:rPr lang="en-US" altLang="zh-CN" b="1" kern="100" dirty="0">
                <a:latin typeface="Times New Roman" panose="02020603050405020304" pitchFamily="18" charset="0"/>
                <a:ea typeface="黑体" panose="02010609060101010101" pitchFamily="49" charset="-122"/>
              </a:rPr>
              <a:t>P&amp;T</a:t>
            </a:r>
            <a:r>
              <a:rPr lang="zh-CN" altLang="zh-CN" b="1" kern="100" dirty="0">
                <a:latin typeface="Times New Roman" panose="02020603050405020304" pitchFamily="18" charset="0"/>
                <a:ea typeface="黑体" panose="02010609060101010101" pitchFamily="49" charset="-122"/>
              </a:rPr>
              <a:t>公司的一个主要产品是罐装豌豆。豌豆的产地有</a:t>
            </a:r>
            <a:r>
              <a:rPr lang="en-US" altLang="zh-CN" b="1" kern="100" dirty="0">
                <a:latin typeface="Times New Roman" panose="02020603050405020304" pitchFamily="18" charset="0"/>
                <a:ea typeface="黑体" panose="02010609060101010101" pitchFamily="49" charset="-122"/>
              </a:rPr>
              <a:t>3</a:t>
            </a:r>
            <a:r>
              <a:rPr lang="zh-CN" altLang="zh-CN" b="1" kern="100" dirty="0">
                <a:latin typeface="Times New Roman" panose="02020603050405020304" pitchFamily="18" charset="0"/>
                <a:ea typeface="黑体" panose="02010609060101010101" pitchFamily="49" charset="-122"/>
              </a:rPr>
              <a:t>个，然后由卡车运到美国西部的</a:t>
            </a:r>
            <a:r>
              <a:rPr lang="en-US" altLang="zh-CN" b="1" kern="100" dirty="0">
                <a:latin typeface="Times New Roman" panose="02020603050405020304" pitchFamily="18" charset="0"/>
                <a:ea typeface="黑体" panose="02010609060101010101" pitchFamily="49" charset="-122"/>
              </a:rPr>
              <a:t>4</a:t>
            </a:r>
            <a:r>
              <a:rPr lang="zh-CN" altLang="zh-CN" b="1" kern="100" dirty="0">
                <a:latin typeface="Times New Roman" panose="02020603050405020304" pitchFamily="18" charset="0"/>
                <a:ea typeface="黑体" panose="02010609060101010101" pitchFamily="49" charset="-122"/>
              </a:rPr>
              <a:t>个仓库。由于运费是主要的花费，管理层要研究出一种方案</a:t>
            </a:r>
            <a:r>
              <a:rPr lang="zh-CN" altLang="en-US" b="1" kern="100" dirty="0">
                <a:latin typeface="Times New Roman" panose="02020603050405020304" pitchFamily="18" charset="0"/>
                <a:ea typeface="黑体" panose="02010609060101010101" pitchFamily="49" charset="-122"/>
              </a:rPr>
              <a:t>以</a:t>
            </a:r>
            <a:r>
              <a:rPr lang="zh-CN" altLang="zh-CN" b="1" kern="100" dirty="0">
                <a:latin typeface="Times New Roman" panose="02020603050405020304" pitchFamily="18" charset="0"/>
                <a:ea typeface="黑体" panose="02010609060101010101" pitchFamily="49" charset="-122"/>
              </a:rPr>
              <a:t>尽可能地减少费用。货车负载和每货车豌豆的运费如表</a:t>
            </a:r>
            <a:r>
              <a:rPr lang="en-US" altLang="zh-CN" b="1" kern="100" dirty="0">
                <a:latin typeface="Times New Roman" panose="02020603050405020304" pitchFamily="18" charset="0"/>
                <a:ea typeface="黑体" panose="02010609060101010101" pitchFamily="49" charset="-122"/>
              </a:rPr>
              <a:t>1</a:t>
            </a:r>
            <a:r>
              <a:rPr lang="zh-CN" altLang="zh-CN" b="1" kern="100" dirty="0">
                <a:latin typeface="Times New Roman" panose="02020603050405020304" pitchFamily="18" charset="0"/>
                <a:ea typeface="黑体" panose="02010609060101010101" pitchFamily="49" charset="-122"/>
              </a:rPr>
              <a:t>所示。可知共有</a:t>
            </a:r>
            <a:r>
              <a:rPr lang="en-US" altLang="zh-CN" b="1" kern="100" dirty="0">
                <a:latin typeface="Times New Roman" panose="02020603050405020304" pitchFamily="18" charset="0"/>
                <a:ea typeface="黑体" panose="02010609060101010101" pitchFamily="49" charset="-122"/>
              </a:rPr>
              <a:t>300</a:t>
            </a:r>
            <a:r>
              <a:rPr lang="zh-CN" altLang="zh-CN" b="1" kern="100" dirty="0">
                <a:latin typeface="Times New Roman" panose="02020603050405020304" pitchFamily="18" charset="0"/>
                <a:ea typeface="黑体" panose="02010609060101010101" pitchFamily="49" charset="-122"/>
              </a:rPr>
              <a:t>货车的豌豆等待运输，现在的问题是如何安排运输使运费最低？</a:t>
            </a:r>
            <a:endParaRPr lang="zh-CN" altLang="zh-CN" sz="1100" kern="100" dirty="0">
              <a:latin typeface="Times New Roman" panose="02020603050405020304" pitchFamily="18" charset="0"/>
            </a:endParaRPr>
          </a:p>
        </p:txBody>
      </p:sp>
      <p:pic>
        <p:nvPicPr>
          <p:cNvPr id="10244" name="图片 4">
            <a:extLst>
              <a:ext uri="{FF2B5EF4-FFF2-40B4-BE49-F238E27FC236}">
                <a16:creationId xmlns:a16="http://schemas.microsoft.com/office/drawing/2014/main" id="{A626F31B-53D1-44F7-8DC5-03BD5699ACAB}"/>
              </a:ext>
            </a:extLst>
          </p:cNvPr>
          <p:cNvPicPr>
            <a:picLocks noChangeAspect="1"/>
          </p:cNvPicPr>
          <p:nvPr/>
        </p:nvPicPr>
        <p:blipFill>
          <a:blip r:embed="rId3">
            <a:extLst>
              <a:ext uri="{28A0092B-C50C-407E-A947-70E740481C1C}">
                <a14:useLocalDpi xmlns:a14="http://schemas.microsoft.com/office/drawing/2010/main" val="0"/>
              </a:ext>
            </a:extLst>
          </a:blip>
          <a:srcRect l="2779" t="34042" r="6944"/>
          <a:stretch>
            <a:fillRect/>
          </a:stretch>
        </p:blipFill>
        <p:spPr bwMode="auto">
          <a:xfrm>
            <a:off x="0" y="3616325"/>
            <a:ext cx="4092575" cy="2789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 name="表格 3">
            <a:extLst>
              <a:ext uri="{FF2B5EF4-FFF2-40B4-BE49-F238E27FC236}">
                <a16:creationId xmlns:a16="http://schemas.microsoft.com/office/drawing/2014/main" id="{F9EC9678-BC50-42CA-884B-0E7024A6F96A}"/>
              </a:ext>
            </a:extLst>
          </p:cNvPr>
          <p:cNvGraphicFramePr>
            <a:graphicFrameLocks noGrp="1"/>
          </p:cNvGraphicFramePr>
          <p:nvPr/>
        </p:nvGraphicFramePr>
        <p:xfrm>
          <a:off x="4191000" y="3581400"/>
          <a:ext cx="4878391" cy="2284413"/>
        </p:xfrm>
        <a:graphic>
          <a:graphicData uri="http://schemas.openxmlformats.org/drawingml/2006/table">
            <a:tbl>
              <a:tblPr firstRow="1" firstCol="1" lastRow="1" lastCol="1" bandRow="1" bandCol="1">
                <a:tableStyleId>{5C22544A-7EE6-4342-B048-85BDC9FD1C3A}</a:tableStyleId>
              </a:tblPr>
              <a:tblGrid>
                <a:gridCol w="696913">
                  <a:extLst>
                    <a:ext uri="{9D8B030D-6E8A-4147-A177-3AD203B41FA5}">
                      <a16:colId xmlns:a16="http://schemas.microsoft.com/office/drawing/2014/main" val="20000"/>
                    </a:ext>
                  </a:extLst>
                </a:gridCol>
                <a:gridCol w="696913">
                  <a:extLst>
                    <a:ext uri="{9D8B030D-6E8A-4147-A177-3AD203B41FA5}">
                      <a16:colId xmlns:a16="http://schemas.microsoft.com/office/drawing/2014/main" val="20001"/>
                    </a:ext>
                  </a:extLst>
                </a:gridCol>
                <a:gridCol w="696913">
                  <a:extLst>
                    <a:ext uri="{9D8B030D-6E8A-4147-A177-3AD203B41FA5}">
                      <a16:colId xmlns:a16="http://schemas.microsoft.com/office/drawing/2014/main" val="20002"/>
                    </a:ext>
                  </a:extLst>
                </a:gridCol>
                <a:gridCol w="696913">
                  <a:extLst>
                    <a:ext uri="{9D8B030D-6E8A-4147-A177-3AD203B41FA5}">
                      <a16:colId xmlns:a16="http://schemas.microsoft.com/office/drawing/2014/main" val="20003"/>
                    </a:ext>
                  </a:extLst>
                </a:gridCol>
                <a:gridCol w="696913">
                  <a:extLst>
                    <a:ext uri="{9D8B030D-6E8A-4147-A177-3AD203B41FA5}">
                      <a16:colId xmlns:a16="http://schemas.microsoft.com/office/drawing/2014/main" val="20004"/>
                    </a:ext>
                  </a:extLst>
                </a:gridCol>
                <a:gridCol w="696913">
                  <a:extLst>
                    <a:ext uri="{9D8B030D-6E8A-4147-A177-3AD203B41FA5}">
                      <a16:colId xmlns:a16="http://schemas.microsoft.com/office/drawing/2014/main" val="20005"/>
                    </a:ext>
                  </a:extLst>
                </a:gridCol>
                <a:gridCol w="696913">
                  <a:extLst>
                    <a:ext uri="{9D8B030D-6E8A-4147-A177-3AD203B41FA5}">
                      <a16:colId xmlns:a16="http://schemas.microsoft.com/office/drawing/2014/main" val="20006"/>
                    </a:ext>
                  </a:extLst>
                </a:gridCol>
              </a:tblGrid>
              <a:tr h="347393">
                <a:tc gridSpan="7">
                  <a:txBody>
                    <a:bodyPr/>
                    <a:lstStyle/>
                    <a:p>
                      <a:pPr algn="ctr">
                        <a:spcAft>
                          <a:spcPts val="0"/>
                        </a:spcAft>
                      </a:pPr>
                      <a:r>
                        <a:rPr lang="zh-CN" sz="1600" kern="100" dirty="0">
                          <a:effectLst/>
                        </a:rPr>
                        <a:t>表</a:t>
                      </a:r>
                      <a:r>
                        <a:rPr lang="en-US" sz="1600" kern="100" dirty="0">
                          <a:effectLst/>
                        </a:rPr>
                        <a:t>1  P&amp;T</a:t>
                      </a:r>
                      <a:r>
                        <a:rPr lang="zh-CN" sz="1600" kern="100" dirty="0">
                          <a:effectLst/>
                        </a:rPr>
                        <a:t>公司的运输数据</a:t>
                      </a:r>
                      <a:endParaRPr lang="zh-CN" sz="1100" kern="100" dirty="0">
                        <a:effectLst/>
                        <a:latin typeface="Times New Roman" panose="02020603050405020304" pitchFamily="18" charset="0"/>
                        <a:ea typeface="宋体" panose="02010600030101010101" pitchFamily="2" charset="-122"/>
                      </a:endParaRPr>
                    </a:p>
                  </a:txBody>
                  <a:tcPr marL="68576" marR="68576" marT="0" marB="0" anchor="ct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58825">
                <a:tc rowSpan="3" gridSpan="2">
                  <a:txBody>
                    <a:bodyPr/>
                    <a:lstStyle/>
                    <a:p>
                      <a:pPr algn="ctr">
                        <a:spcAft>
                          <a:spcPts val="0"/>
                        </a:spcAft>
                      </a:pPr>
                      <a:r>
                        <a:rPr lang="en-US" sz="1600" kern="100" dirty="0">
                          <a:effectLst/>
                        </a:rPr>
                        <a:t> </a:t>
                      </a:r>
                      <a:endParaRPr lang="zh-CN" sz="1100" kern="100" dirty="0">
                        <a:effectLst/>
                        <a:latin typeface="Times New Roman" panose="02020603050405020304" pitchFamily="18" charset="0"/>
                        <a:ea typeface="宋体" panose="02010600030101010101" pitchFamily="2" charset="-122"/>
                      </a:endParaRPr>
                    </a:p>
                  </a:txBody>
                  <a:tcPr marL="68576" marR="68576" marT="0" marB="0" anchor="ctr"/>
                </a:tc>
                <a:tc rowSpan="3" hMerge="1">
                  <a:txBody>
                    <a:bodyPr/>
                    <a:lstStyle/>
                    <a:p>
                      <a:endParaRPr lang="zh-CN" altLang="en-US"/>
                    </a:p>
                  </a:txBody>
                  <a:tcPr/>
                </a:tc>
                <a:tc gridSpan="4">
                  <a:txBody>
                    <a:bodyPr/>
                    <a:lstStyle/>
                    <a:p>
                      <a:pPr algn="ctr">
                        <a:spcAft>
                          <a:spcPts val="0"/>
                        </a:spcAft>
                      </a:pPr>
                      <a:r>
                        <a:rPr lang="zh-CN" sz="1600" kern="100">
                          <a:effectLst/>
                        </a:rPr>
                        <a:t>每卡车的运输成本</a:t>
                      </a:r>
                      <a:r>
                        <a:rPr lang="en-US" sz="1600" kern="100">
                          <a:effectLst/>
                        </a:rPr>
                        <a:t>/</a:t>
                      </a:r>
                      <a:r>
                        <a:rPr lang="zh-CN" sz="1600" kern="100">
                          <a:effectLst/>
                        </a:rPr>
                        <a:t>美元</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rowSpan="3">
                  <a:txBody>
                    <a:bodyPr/>
                    <a:lstStyle/>
                    <a:p>
                      <a:pPr algn="ctr">
                        <a:spcAft>
                          <a:spcPts val="0"/>
                        </a:spcAft>
                      </a:pPr>
                      <a:r>
                        <a:rPr lang="zh-CN" sz="1600" kern="100">
                          <a:effectLst/>
                        </a:rPr>
                        <a:t>产出</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extLst>
                  <a:ext uri="{0D108BD9-81ED-4DB2-BD59-A6C34878D82A}">
                    <a16:rowId xmlns:a16="http://schemas.microsoft.com/office/drawing/2014/main" val="10001"/>
                  </a:ext>
                </a:extLst>
              </a:tr>
              <a:tr h="243874">
                <a:tc gridSpan="2" vMerge="1">
                  <a:txBody>
                    <a:bodyPr/>
                    <a:lstStyle/>
                    <a:p>
                      <a:endParaRPr lang="zh-CN" altLang="en-US"/>
                    </a:p>
                  </a:txBody>
                  <a:tcPr/>
                </a:tc>
                <a:tc hMerge="1" vMerge="1">
                  <a:txBody>
                    <a:bodyPr/>
                    <a:lstStyle/>
                    <a:p>
                      <a:endParaRPr lang="zh-CN" altLang="en-US"/>
                    </a:p>
                  </a:txBody>
                  <a:tcPr/>
                </a:tc>
                <a:tc gridSpan="4">
                  <a:txBody>
                    <a:bodyPr/>
                    <a:lstStyle/>
                    <a:p>
                      <a:pPr algn="ctr">
                        <a:spcAft>
                          <a:spcPts val="0"/>
                        </a:spcAft>
                      </a:pPr>
                      <a:r>
                        <a:rPr lang="zh-CN" sz="1600" kern="100">
                          <a:effectLst/>
                        </a:rPr>
                        <a:t>仓库</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2"/>
                  </a:ext>
                </a:extLst>
              </a:tr>
              <a:tr h="243874">
                <a:tc gridSpan="2" vMerge="1">
                  <a:txBody>
                    <a:bodyPr/>
                    <a:lstStyle/>
                    <a:p>
                      <a:endParaRPr lang="zh-CN" altLang="en-US"/>
                    </a:p>
                  </a:txBody>
                  <a:tcPr/>
                </a:tc>
                <a:tc hMerge="1" vMerge="1">
                  <a:txBody>
                    <a:bodyPr/>
                    <a:lstStyle/>
                    <a:p>
                      <a:endParaRPr lang="zh-CN" altLang="en-US"/>
                    </a:p>
                  </a:txBody>
                  <a:tcPr/>
                </a:tc>
                <a:tc>
                  <a:txBody>
                    <a:bodyPr/>
                    <a:lstStyle/>
                    <a:p>
                      <a:pPr algn="ctr">
                        <a:spcAft>
                          <a:spcPts val="0"/>
                        </a:spcAft>
                      </a:pPr>
                      <a:r>
                        <a:rPr lang="en-US" sz="1600" kern="100">
                          <a:effectLst/>
                        </a:rPr>
                        <a:t>1</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2</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3</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4</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vMerge="1">
                  <a:txBody>
                    <a:bodyPr/>
                    <a:lstStyle/>
                    <a:p>
                      <a:endParaRPr lang="zh-CN" altLang="en-US"/>
                    </a:p>
                  </a:txBody>
                  <a:tcPr/>
                </a:tc>
                <a:extLst>
                  <a:ext uri="{0D108BD9-81ED-4DB2-BD59-A6C34878D82A}">
                    <a16:rowId xmlns:a16="http://schemas.microsoft.com/office/drawing/2014/main" val="10003"/>
                  </a:ext>
                </a:extLst>
              </a:tr>
              <a:tr h="358825">
                <a:tc rowSpan="3">
                  <a:txBody>
                    <a:bodyPr/>
                    <a:lstStyle/>
                    <a:p>
                      <a:pPr algn="ctr">
                        <a:spcAft>
                          <a:spcPts val="0"/>
                        </a:spcAft>
                      </a:pPr>
                      <a:r>
                        <a:rPr lang="zh-CN" sz="1600" kern="100">
                          <a:effectLst/>
                        </a:rPr>
                        <a:t>罐头厂</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1</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464</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513</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654</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867</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75</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extLst>
                  <a:ext uri="{0D108BD9-81ED-4DB2-BD59-A6C34878D82A}">
                    <a16:rowId xmlns:a16="http://schemas.microsoft.com/office/drawing/2014/main" val="10004"/>
                  </a:ext>
                </a:extLst>
              </a:tr>
              <a:tr h="243874">
                <a:tc vMerge="1">
                  <a:txBody>
                    <a:bodyPr/>
                    <a:lstStyle/>
                    <a:p>
                      <a:endParaRPr lang="zh-CN" altLang="en-US"/>
                    </a:p>
                  </a:txBody>
                  <a:tcPr/>
                </a:tc>
                <a:tc>
                  <a:txBody>
                    <a:bodyPr/>
                    <a:lstStyle/>
                    <a:p>
                      <a:pPr algn="ctr">
                        <a:spcAft>
                          <a:spcPts val="0"/>
                        </a:spcAft>
                      </a:pPr>
                      <a:r>
                        <a:rPr lang="en-US" sz="1600" kern="100">
                          <a:effectLst/>
                        </a:rPr>
                        <a:t>2</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352</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416</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690</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791</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125</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extLst>
                  <a:ext uri="{0D108BD9-81ED-4DB2-BD59-A6C34878D82A}">
                    <a16:rowId xmlns:a16="http://schemas.microsoft.com/office/drawing/2014/main" val="10005"/>
                  </a:ext>
                </a:extLst>
              </a:tr>
              <a:tr h="243874">
                <a:tc vMerge="1">
                  <a:txBody>
                    <a:bodyPr/>
                    <a:lstStyle/>
                    <a:p>
                      <a:endParaRPr lang="zh-CN" altLang="en-US"/>
                    </a:p>
                  </a:txBody>
                  <a:tcPr/>
                </a:tc>
                <a:tc>
                  <a:txBody>
                    <a:bodyPr/>
                    <a:lstStyle/>
                    <a:p>
                      <a:pPr algn="ctr">
                        <a:spcAft>
                          <a:spcPts val="0"/>
                        </a:spcAft>
                      </a:pPr>
                      <a:r>
                        <a:rPr lang="en-US" sz="1600" kern="100">
                          <a:effectLst/>
                        </a:rPr>
                        <a:t>3</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995</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682</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388</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685</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100</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extLst>
                  <a:ext uri="{0D108BD9-81ED-4DB2-BD59-A6C34878D82A}">
                    <a16:rowId xmlns:a16="http://schemas.microsoft.com/office/drawing/2014/main" val="10006"/>
                  </a:ext>
                </a:extLst>
              </a:tr>
              <a:tr h="243874">
                <a:tc gridSpan="2">
                  <a:txBody>
                    <a:bodyPr/>
                    <a:lstStyle/>
                    <a:p>
                      <a:pPr algn="ctr">
                        <a:spcAft>
                          <a:spcPts val="0"/>
                        </a:spcAft>
                      </a:pPr>
                      <a:r>
                        <a:rPr lang="zh-CN" sz="1600" kern="100">
                          <a:effectLst/>
                        </a:rPr>
                        <a:t>分配</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hMerge="1">
                  <a:txBody>
                    <a:bodyPr/>
                    <a:lstStyle/>
                    <a:p>
                      <a:endParaRPr lang="zh-CN" altLang="en-US"/>
                    </a:p>
                  </a:txBody>
                  <a:tcPr/>
                </a:tc>
                <a:tc>
                  <a:txBody>
                    <a:bodyPr/>
                    <a:lstStyle/>
                    <a:p>
                      <a:pPr algn="ctr">
                        <a:spcAft>
                          <a:spcPts val="0"/>
                        </a:spcAft>
                      </a:pPr>
                      <a:r>
                        <a:rPr lang="en-US" sz="1600" kern="100">
                          <a:effectLst/>
                        </a:rPr>
                        <a:t>80</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65</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70</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a:effectLst/>
                        </a:rPr>
                        <a:t>85</a:t>
                      </a:r>
                      <a:endParaRPr lang="zh-CN" sz="1100" kern="100">
                        <a:effectLst/>
                        <a:latin typeface="Times New Roman" panose="02020603050405020304" pitchFamily="18" charset="0"/>
                        <a:ea typeface="宋体" panose="02010600030101010101" pitchFamily="2" charset="-122"/>
                      </a:endParaRPr>
                    </a:p>
                  </a:txBody>
                  <a:tcPr marL="68576" marR="68576" marT="0" marB="0" anchor="ctr"/>
                </a:tc>
                <a:tc>
                  <a:txBody>
                    <a:bodyPr/>
                    <a:lstStyle/>
                    <a:p>
                      <a:pPr algn="ctr">
                        <a:spcAft>
                          <a:spcPts val="0"/>
                        </a:spcAft>
                      </a:pPr>
                      <a:r>
                        <a:rPr lang="en-US" sz="1600" kern="100" dirty="0">
                          <a:effectLst/>
                        </a:rPr>
                        <a:t> </a:t>
                      </a:r>
                      <a:endParaRPr lang="zh-CN" sz="1100" kern="100" dirty="0">
                        <a:effectLst/>
                        <a:latin typeface="Times New Roman" panose="02020603050405020304" pitchFamily="18" charset="0"/>
                        <a:ea typeface="宋体" panose="02010600030101010101" pitchFamily="2" charset="-122"/>
                      </a:endParaRPr>
                    </a:p>
                  </a:txBody>
                  <a:tcPr marL="68576" marR="68576" marT="0" marB="0" anchor="ctr"/>
                </a:tc>
                <a:extLst>
                  <a:ext uri="{0D108BD9-81ED-4DB2-BD59-A6C34878D82A}">
                    <a16:rowId xmlns:a16="http://schemas.microsoft.com/office/drawing/2014/main" val="10007"/>
                  </a:ext>
                </a:extLst>
              </a:tr>
            </a:tbl>
          </a:graphicData>
        </a:graphic>
      </p:graphicFrame>
      <p:sp>
        <p:nvSpPr>
          <p:cNvPr id="9" name="Rectangle 7">
            <a:extLst>
              <a:ext uri="{FF2B5EF4-FFF2-40B4-BE49-F238E27FC236}">
                <a16:creationId xmlns:a16="http://schemas.microsoft.com/office/drawing/2014/main" id="{0B5A1B3A-A25A-4EDC-8DD7-6841ACEE5652}"/>
              </a:ext>
            </a:extLst>
          </p:cNvPr>
          <p:cNvSpPr>
            <a:spLocks noChangeArrowheads="1"/>
          </p:cNvSpPr>
          <p:nvPr/>
        </p:nvSpPr>
        <p:spPr bwMode="gray">
          <a:xfrm>
            <a:off x="5373688" y="1393825"/>
            <a:ext cx="3276600" cy="1101725"/>
          </a:xfrm>
          <a:prstGeom prst="rect">
            <a:avLst/>
          </a:prstGeom>
          <a:solidFill>
            <a:srgbClr val="EAEAEA"/>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360000" tIns="118800" rIns="360000" bIns="11880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a:t>运输问题形式的</a:t>
            </a:r>
            <a:r>
              <a:rPr lang="zh-CN" altLang="en-US" sz="2800">
                <a:solidFill>
                  <a:srgbClr val="FF0000"/>
                </a:solidFill>
              </a:rPr>
              <a:t>线性规划</a:t>
            </a:r>
            <a:r>
              <a:rPr lang="zh-CN" altLang="en-US" sz="2800"/>
              <a:t>问题。</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randombar(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5">
            <a:extLst>
              <a:ext uri="{FF2B5EF4-FFF2-40B4-BE49-F238E27FC236}">
                <a16:creationId xmlns:a16="http://schemas.microsoft.com/office/drawing/2014/main" id="{9EFCC1F3-9A19-4ADE-80BD-7D34D7B561EA}"/>
              </a:ext>
            </a:extLst>
          </p:cNvPr>
          <p:cNvSpPr>
            <a:spLocks noGrp="1" noChangeArrowheads="1"/>
          </p:cNvSpPr>
          <p:nvPr>
            <p:ph type="title"/>
          </p:nvPr>
        </p:nvSpPr>
        <p:spPr/>
        <p:txBody>
          <a:bodyPr/>
          <a:lstStyle/>
          <a:p>
            <a:pPr eaLnBrk="1" hangingPunct="1"/>
            <a:r>
              <a:rPr lang="zh-CN" altLang="en-US"/>
              <a:t>线性规划模型</a:t>
            </a:r>
          </a:p>
        </p:txBody>
      </p:sp>
      <p:graphicFrame>
        <p:nvGraphicFramePr>
          <p:cNvPr id="12291" name="Object 4">
            <a:extLst>
              <a:ext uri="{FF2B5EF4-FFF2-40B4-BE49-F238E27FC236}">
                <a16:creationId xmlns:a16="http://schemas.microsoft.com/office/drawing/2014/main" id="{BE17FDB5-D8C4-4546-9F05-02C7A77E98F5}"/>
              </a:ext>
            </a:extLst>
          </p:cNvPr>
          <p:cNvGraphicFramePr>
            <a:graphicFrameLocks noGrp="1" noChangeAspect="1"/>
          </p:cNvGraphicFramePr>
          <p:nvPr>
            <p:ph idx="1"/>
          </p:nvPr>
        </p:nvGraphicFramePr>
        <p:xfrm>
          <a:off x="685800" y="838200"/>
          <a:ext cx="7504113" cy="5859463"/>
        </p:xfrm>
        <a:graphic>
          <a:graphicData uri="http://schemas.openxmlformats.org/presentationml/2006/ole">
            <mc:AlternateContent xmlns:mc="http://schemas.openxmlformats.org/markup-compatibility/2006">
              <mc:Choice xmlns:v="urn:schemas-microsoft-com:vml" Requires="v">
                <p:oleObj spid="_x0000_s12299" name="Document" r:id="rId4" imgW="6092953" imgH="4757001" progId="Word.Document.8">
                  <p:embed/>
                </p:oleObj>
              </mc:Choice>
              <mc:Fallback>
                <p:oleObj name="Document" r:id="rId4" imgW="6092953" imgH="4757001" progId="Word.Document.8">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800" y="838200"/>
                        <a:ext cx="7504113" cy="5859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292" name="Text Box 7">
            <a:extLst>
              <a:ext uri="{FF2B5EF4-FFF2-40B4-BE49-F238E27FC236}">
                <a16:creationId xmlns:a16="http://schemas.microsoft.com/office/drawing/2014/main" id="{B5123760-1999-4193-9D91-D0D4F468E279}"/>
              </a:ext>
            </a:extLst>
          </p:cNvPr>
          <p:cNvSpPr txBox="1">
            <a:spLocks noChangeArrowheads="1"/>
          </p:cNvSpPr>
          <p:nvPr/>
        </p:nvSpPr>
        <p:spPr bwMode="gray">
          <a:xfrm>
            <a:off x="0" y="3429000"/>
            <a:ext cx="1117600" cy="542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60000" tIns="118800" rIns="360000" bIns="118800" anchorCtr="1">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spcBef>
                <a:spcPct val="50000"/>
              </a:spcBef>
            </a:pPr>
            <a:r>
              <a:rPr lang="en-US" altLang="zh-CN" sz="2000" b="1">
                <a:solidFill>
                  <a:srgbClr val="030409"/>
                </a:solidFill>
                <a:latin typeface="Times New Roman" panose="02020603050405020304" pitchFamily="18" charset="0"/>
                <a:ea typeface="黑体" panose="02010609060101010101" pitchFamily="49" charset="-122"/>
              </a:rPr>
              <a:t>s.t</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338" name="对象 2">
            <a:extLst>
              <a:ext uri="{FF2B5EF4-FFF2-40B4-BE49-F238E27FC236}">
                <a16:creationId xmlns:a16="http://schemas.microsoft.com/office/drawing/2014/main" id="{5F9C680C-0B1E-4A25-AAD0-31076D36A70A}"/>
              </a:ext>
            </a:extLst>
          </p:cNvPr>
          <p:cNvGraphicFramePr>
            <a:graphicFrameLocks noChangeAspect="1"/>
          </p:cNvGraphicFramePr>
          <p:nvPr/>
        </p:nvGraphicFramePr>
        <p:xfrm>
          <a:off x="473075" y="992188"/>
          <a:ext cx="5029200" cy="3306762"/>
        </p:xfrm>
        <a:graphic>
          <a:graphicData uri="http://schemas.openxmlformats.org/presentationml/2006/ole">
            <mc:AlternateContent xmlns:mc="http://schemas.openxmlformats.org/markup-compatibility/2006">
              <mc:Choice xmlns:v="urn:schemas-microsoft-com:vml" Requires="v">
                <p:oleObj spid="_x0000_s14367" name="Equation" r:id="rId3" imgW="2819400" imgH="1854200" progId="Equation.DSMT4">
                  <p:embed/>
                </p:oleObj>
              </mc:Choice>
              <mc:Fallback>
                <p:oleObj name="Equation" r:id="rId3" imgW="2819400" imgH="1854200" progId="Equation.DSMT4">
                  <p:embed/>
                  <p:pic>
                    <p:nvPicPr>
                      <p:cNvPr id="0" name="对象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075" y="992188"/>
                        <a:ext cx="5029200" cy="3306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339" name="Rectangle 5">
            <a:extLst>
              <a:ext uri="{FF2B5EF4-FFF2-40B4-BE49-F238E27FC236}">
                <a16:creationId xmlns:a16="http://schemas.microsoft.com/office/drawing/2014/main" id="{B63A6FAA-8A93-4D02-A63E-552FFC77FC4F}"/>
              </a:ext>
            </a:extLst>
          </p:cNvPr>
          <p:cNvSpPr>
            <a:spLocks noGrp="1" noChangeArrowheads="1"/>
          </p:cNvSpPr>
          <p:nvPr>
            <p:ph type="title"/>
          </p:nvPr>
        </p:nvSpPr>
        <p:spPr/>
        <p:txBody>
          <a:bodyPr/>
          <a:lstStyle/>
          <a:p>
            <a:pPr eaLnBrk="1" hangingPunct="1"/>
            <a:r>
              <a:rPr lang="zh-CN" altLang="en-US"/>
              <a:t>运输问题系数矩阵</a:t>
            </a:r>
          </a:p>
        </p:txBody>
      </p:sp>
      <p:sp>
        <p:nvSpPr>
          <p:cNvPr id="14340" name="Text Box 14">
            <a:extLst>
              <a:ext uri="{FF2B5EF4-FFF2-40B4-BE49-F238E27FC236}">
                <a16:creationId xmlns:a16="http://schemas.microsoft.com/office/drawing/2014/main" id="{C4620860-DDDA-4F31-A840-CE05CB791A07}"/>
              </a:ext>
            </a:extLst>
          </p:cNvPr>
          <p:cNvSpPr txBox="1">
            <a:spLocks noChangeArrowheads="1"/>
          </p:cNvSpPr>
          <p:nvPr/>
        </p:nvSpPr>
        <p:spPr bwMode="gray">
          <a:xfrm>
            <a:off x="-152400" y="4799013"/>
            <a:ext cx="4932363"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60000" tIns="118800" rIns="360000" bIns="118800" anchorCtr="1">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spcBef>
                <a:spcPct val="50000"/>
              </a:spcBef>
            </a:pPr>
            <a:r>
              <a:rPr lang="zh-CN" altLang="en-US" sz="2400" b="1">
                <a:solidFill>
                  <a:srgbClr val="FF0000"/>
                </a:solidFill>
                <a:ea typeface="黑体" panose="02010609060101010101" pitchFamily="49" charset="-122"/>
              </a:rPr>
              <a:t>运输问题系数矩阵特点</a:t>
            </a:r>
            <a:r>
              <a:rPr lang="en-US" altLang="zh-CN" sz="2400" b="1">
                <a:solidFill>
                  <a:srgbClr val="FF0000"/>
                </a:solidFill>
                <a:ea typeface="黑体" panose="02010609060101010101" pitchFamily="49" charset="-122"/>
              </a:rPr>
              <a:t>?</a:t>
            </a:r>
            <a:endParaRPr lang="zh-CN" altLang="en-US" sz="2400" b="1">
              <a:solidFill>
                <a:srgbClr val="FF0000"/>
              </a:solidFill>
              <a:ea typeface="黑体" panose="02010609060101010101" pitchFamily="49" charset="-122"/>
            </a:endParaRPr>
          </a:p>
        </p:txBody>
      </p:sp>
      <p:graphicFrame>
        <p:nvGraphicFramePr>
          <p:cNvPr id="14341" name="对象 12">
            <a:extLst>
              <a:ext uri="{FF2B5EF4-FFF2-40B4-BE49-F238E27FC236}">
                <a16:creationId xmlns:a16="http://schemas.microsoft.com/office/drawing/2014/main" id="{07FE4D59-88CF-4BAC-9BD4-9EB673B13433}"/>
              </a:ext>
            </a:extLst>
          </p:cNvPr>
          <p:cNvGraphicFramePr>
            <a:graphicFrameLocks noChangeAspect="1"/>
          </p:cNvGraphicFramePr>
          <p:nvPr/>
        </p:nvGraphicFramePr>
        <p:xfrm>
          <a:off x="5389563" y="1344613"/>
          <a:ext cx="1925637" cy="1268412"/>
        </p:xfrm>
        <a:graphic>
          <a:graphicData uri="http://schemas.openxmlformats.org/presentationml/2006/ole">
            <mc:AlternateContent xmlns:mc="http://schemas.openxmlformats.org/markup-compatibility/2006">
              <mc:Choice xmlns:v="urn:schemas-microsoft-com:vml" Requires="v">
                <p:oleObj spid="_x0000_s14368" name="Equation" r:id="rId5" imgW="1079032" imgH="710891" progId="Equation.DSMT4">
                  <p:embed/>
                </p:oleObj>
              </mc:Choice>
              <mc:Fallback>
                <p:oleObj name="Equation" r:id="rId5" imgW="1079032" imgH="710891" progId="Equation.DSMT4">
                  <p:embed/>
                  <p:pic>
                    <p:nvPicPr>
                      <p:cNvPr id="0"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89563" y="1344613"/>
                        <a:ext cx="1925637" cy="1268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4342" name="对象 13">
            <a:extLst>
              <a:ext uri="{FF2B5EF4-FFF2-40B4-BE49-F238E27FC236}">
                <a16:creationId xmlns:a16="http://schemas.microsoft.com/office/drawing/2014/main" id="{4659A11B-FE78-44B9-9ED9-D6CBB734A02A}"/>
              </a:ext>
            </a:extLst>
          </p:cNvPr>
          <p:cNvGraphicFramePr>
            <a:graphicFrameLocks noChangeAspect="1"/>
          </p:cNvGraphicFramePr>
          <p:nvPr/>
        </p:nvGraphicFramePr>
        <p:xfrm>
          <a:off x="5410200" y="2635250"/>
          <a:ext cx="1855788" cy="1631950"/>
        </p:xfrm>
        <a:graphic>
          <a:graphicData uri="http://schemas.openxmlformats.org/presentationml/2006/ole">
            <mc:AlternateContent xmlns:mc="http://schemas.openxmlformats.org/markup-compatibility/2006">
              <mc:Choice xmlns:v="urn:schemas-microsoft-com:vml" Requires="v">
                <p:oleObj spid="_x0000_s14369" name="Equation" r:id="rId7" imgW="1041400" imgH="914400" progId="Equation.DSMT4">
                  <p:embed/>
                </p:oleObj>
              </mc:Choice>
              <mc:Fallback>
                <p:oleObj name="Equation" r:id="rId7" imgW="1041400" imgH="914400" progId="Equation.DSMT4">
                  <p:embed/>
                  <p:pic>
                    <p:nvPicPr>
                      <p:cNvPr id="0"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10200" y="2635250"/>
                        <a:ext cx="1855788"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5" name="组合 4">
            <a:extLst>
              <a:ext uri="{FF2B5EF4-FFF2-40B4-BE49-F238E27FC236}">
                <a16:creationId xmlns:a16="http://schemas.microsoft.com/office/drawing/2014/main" id="{7CB71EE4-42BF-4BE7-B293-F850C82A8D4F}"/>
              </a:ext>
            </a:extLst>
          </p:cNvPr>
          <p:cNvGrpSpPr>
            <a:grpSpLocks/>
          </p:cNvGrpSpPr>
          <p:nvPr/>
        </p:nvGrpSpPr>
        <p:grpSpPr bwMode="auto">
          <a:xfrm>
            <a:off x="609600" y="1484313"/>
            <a:ext cx="7646988" cy="5056187"/>
            <a:chOff x="609600" y="1483792"/>
            <a:chExt cx="7646987" cy="5056723"/>
          </a:xfrm>
        </p:grpSpPr>
        <p:sp>
          <p:nvSpPr>
            <p:cNvPr id="14344" name="矩形 3">
              <a:extLst>
                <a:ext uri="{FF2B5EF4-FFF2-40B4-BE49-F238E27FC236}">
                  <a16:creationId xmlns:a16="http://schemas.microsoft.com/office/drawing/2014/main" id="{03A05CAD-9BA9-499A-B80F-6B2506822321}"/>
                </a:ext>
              </a:extLst>
            </p:cNvPr>
            <p:cNvSpPr>
              <a:spLocks noChangeArrowheads="1"/>
            </p:cNvSpPr>
            <p:nvPr/>
          </p:nvSpPr>
          <p:spPr bwMode="auto">
            <a:xfrm>
              <a:off x="609600" y="5410137"/>
              <a:ext cx="7646987" cy="1130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kumimoji="1" lang="zh-CN" altLang="en-US" sz="2400">
                  <a:latin typeface="Times New Roman" panose="02020603050405020304" pitchFamily="18" charset="0"/>
                </a:rPr>
                <a:t>变量</a:t>
              </a:r>
              <a:r>
                <a:rPr kumimoji="1" lang="en-US" altLang="zh-CN" sz="2400" i="1">
                  <a:latin typeface="Times New Roman" panose="02020603050405020304" pitchFamily="18" charset="0"/>
                </a:rPr>
                <a:t>x</a:t>
              </a:r>
              <a:r>
                <a:rPr kumimoji="1" lang="en-US" altLang="zh-CN" sz="2400" i="1" baseline="-25000">
                  <a:latin typeface="Times New Roman" panose="02020603050405020304" pitchFamily="18" charset="0"/>
                </a:rPr>
                <a:t>ij</a:t>
              </a:r>
              <a:r>
                <a:rPr kumimoji="1" lang="zh-CN" altLang="en-US" sz="2400">
                  <a:latin typeface="Times New Roman" panose="02020603050405020304" pitchFamily="18" charset="0"/>
                </a:rPr>
                <a:t>对应的系数列向量</a:t>
              </a:r>
              <a:r>
                <a:rPr kumimoji="1" lang="en-US" altLang="zh-CN" sz="2400" b="1">
                  <a:latin typeface="Times New Roman" panose="02020603050405020304" pitchFamily="18" charset="0"/>
                </a:rPr>
                <a:t>P</a:t>
              </a:r>
              <a:r>
                <a:rPr kumimoji="1" lang="en-US" altLang="zh-CN" sz="2400" i="1" baseline="-25000">
                  <a:latin typeface="Times New Roman" panose="02020603050405020304" pitchFamily="18" charset="0"/>
                </a:rPr>
                <a:t>ij</a:t>
              </a:r>
              <a:r>
                <a:rPr kumimoji="1" lang="zh-CN" altLang="en-US" sz="2400">
                  <a:latin typeface="Times New Roman" panose="02020603050405020304" pitchFamily="18" charset="0"/>
                </a:rPr>
                <a:t>中只有第</a:t>
              </a:r>
              <a:r>
                <a:rPr kumimoji="1" lang="en-US" altLang="zh-CN" sz="2400" i="1">
                  <a:latin typeface="Times New Roman" panose="02020603050405020304" pitchFamily="18" charset="0"/>
                </a:rPr>
                <a:t>i</a:t>
              </a:r>
              <a:r>
                <a:rPr kumimoji="1" lang="zh-CN" altLang="en-US" sz="2400">
                  <a:latin typeface="Times New Roman" panose="02020603050405020304" pitchFamily="18" charset="0"/>
                </a:rPr>
                <a:t>个和第</a:t>
              </a:r>
              <a:r>
                <a:rPr kumimoji="1" lang="en-US" altLang="zh-CN" sz="2400">
                  <a:latin typeface="Times New Roman" panose="02020603050405020304" pitchFamily="18" charset="0"/>
                </a:rPr>
                <a:t>(</a:t>
              </a:r>
              <a:r>
                <a:rPr kumimoji="1" lang="en-US" altLang="zh-CN" sz="2400" i="1">
                  <a:latin typeface="Times New Roman" panose="02020603050405020304" pitchFamily="18" charset="0"/>
                </a:rPr>
                <a:t>m</a:t>
              </a:r>
              <a:r>
                <a:rPr kumimoji="1" lang="en-US" altLang="zh-CN" sz="2400">
                  <a:latin typeface="Times New Roman" panose="02020603050405020304" pitchFamily="18" charset="0"/>
                </a:rPr>
                <a:t>+</a:t>
              </a:r>
              <a:r>
                <a:rPr kumimoji="1" lang="en-US" altLang="zh-CN" sz="2400" i="1">
                  <a:latin typeface="Times New Roman" panose="02020603050405020304" pitchFamily="18" charset="0"/>
                </a:rPr>
                <a:t>j</a:t>
              </a:r>
              <a:r>
                <a:rPr kumimoji="1" lang="en-US" altLang="zh-CN" sz="2400">
                  <a:latin typeface="Times New Roman" panose="02020603050405020304" pitchFamily="18" charset="0"/>
                </a:rPr>
                <a:t>)</a:t>
              </a:r>
              <a:r>
                <a:rPr kumimoji="1" lang="zh-CN" altLang="en-US" sz="2400">
                  <a:latin typeface="Times New Roman" panose="02020603050405020304" pitchFamily="18" charset="0"/>
                </a:rPr>
                <a:t>个分量为</a:t>
              </a:r>
              <a:r>
                <a:rPr kumimoji="1" lang="en-US" altLang="zh-CN" sz="2400">
                  <a:latin typeface="Times New Roman" panose="02020603050405020304" pitchFamily="18" charset="0"/>
                </a:rPr>
                <a:t>1</a:t>
              </a:r>
              <a:r>
                <a:rPr kumimoji="1" lang="zh-CN" altLang="en-US" sz="2400">
                  <a:latin typeface="Times New Roman" panose="02020603050405020304" pitchFamily="18" charset="0"/>
                </a:rPr>
                <a:t>，其余都为</a:t>
              </a:r>
              <a:r>
                <a:rPr kumimoji="1" lang="en-US" altLang="zh-CN" sz="2400">
                  <a:latin typeface="Times New Roman" panose="02020603050405020304" pitchFamily="18" charset="0"/>
                </a:rPr>
                <a:t>0</a:t>
              </a:r>
              <a:r>
                <a:rPr kumimoji="1" lang="zh-CN" altLang="en-US" sz="2400">
                  <a:latin typeface="Times New Roman" panose="02020603050405020304" pitchFamily="18" charset="0"/>
                </a:rPr>
                <a:t>。</a:t>
              </a:r>
              <a:endParaRPr kumimoji="1" lang="en-US" altLang="zh-CN" sz="2400">
                <a:latin typeface="Times New Roman" panose="02020603050405020304" pitchFamily="18" charset="0"/>
              </a:endParaRPr>
            </a:p>
          </p:txBody>
        </p:sp>
        <p:sp>
          <p:nvSpPr>
            <p:cNvPr id="2" name="椭圆 1">
              <a:extLst>
                <a:ext uri="{FF2B5EF4-FFF2-40B4-BE49-F238E27FC236}">
                  <a16:creationId xmlns:a16="http://schemas.microsoft.com/office/drawing/2014/main" id="{0AF1252F-6D09-452A-AF8B-11EBADBF8D4B}"/>
                </a:ext>
              </a:extLst>
            </p:cNvPr>
            <p:cNvSpPr/>
            <p:nvPr/>
          </p:nvSpPr>
          <p:spPr>
            <a:xfrm>
              <a:off x="2514600" y="1828316"/>
              <a:ext cx="304800" cy="381040"/>
            </a:xfrm>
            <a:prstGeom prst="ellipse">
              <a:avLst/>
            </a:prstGeom>
            <a:noFill/>
            <a:ln>
              <a:solidFill>
                <a:srgbClr val="FF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椭圆 8">
              <a:extLst>
                <a:ext uri="{FF2B5EF4-FFF2-40B4-BE49-F238E27FC236}">
                  <a16:creationId xmlns:a16="http://schemas.microsoft.com/office/drawing/2014/main" id="{4C519EC3-DD81-4F61-BDBD-2D79C7A9CB30}"/>
                </a:ext>
              </a:extLst>
            </p:cNvPr>
            <p:cNvSpPr/>
            <p:nvPr/>
          </p:nvSpPr>
          <p:spPr>
            <a:xfrm>
              <a:off x="2484438" y="2626913"/>
              <a:ext cx="304800" cy="381040"/>
            </a:xfrm>
            <a:prstGeom prst="ellipse">
              <a:avLst/>
            </a:prstGeom>
            <a:noFill/>
            <a:ln>
              <a:solidFill>
                <a:srgbClr val="FF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4347" name="矩形 2">
              <a:extLst>
                <a:ext uri="{FF2B5EF4-FFF2-40B4-BE49-F238E27FC236}">
                  <a16:creationId xmlns:a16="http://schemas.microsoft.com/office/drawing/2014/main" id="{B541BAF8-4390-47AD-84E7-A803B1F181FB}"/>
                </a:ext>
              </a:extLst>
            </p:cNvPr>
            <p:cNvSpPr>
              <a:spLocks noChangeArrowheads="1"/>
            </p:cNvSpPr>
            <p:nvPr/>
          </p:nvSpPr>
          <p:spPr bwMode="auto">
            <a:xfrm>
              <a:off x="2562864" y="1483792"/>
              <a:ext cx="2487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i="1">
                  <a:solidFill>
                    <a:srgbClr val="FF00FF"/>
                  </a:solidFill>
                  <a:latin typeface="Times New Roman" panose="02020603050405020304" pitchFamily="18" charset="0"/>
                </a:rPr>
                <a:t>i</a:t>
              </a:r>
              <a:endParaRPr lang="zh-CN" altLang="en-US">
                <a:solidFill>
                  <a:srgbClr val="FF00FF"/>
                </a:solidFill>
              </a:endParaRPr>
            </a:p>
          </p:txBody>
        </p:sp>
        <p:sp>
          <p:nvSpPr>
            <p:cNvPr id="14348" name="矩形 10">
              <a:extLst>
                <a:ext uri="{FF2B5EF4-FFF2-40B4-BE49-F238E27FC236}">
                  <a16:creationId xmlns:a16="http://schemas.microsoft.com/office/drawing/2014/main" id="{F4807CF0-8AD9-4ADC-8EC9-2A732CF85872}"/>
                </a:ext>
              </a:extLst>
            </p:cNvPr>
            <p:cNvSpPr>
              <a:spLocks noChangeArrowheads="1"/>
            </p:cNvSpPr>
            <p:nvPr/>
          </p:nvSpPr>
          <p:spPr bwMode="auto">
            <a:xfrm>
              <a:off x="2362200" y="2320405"/>
              <a:ext cx="570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i="1">
                  <a:solidFill>
                    <a:srgbClr val="FF00FF"/>
                  </a:solidFill>
                  <a:latin typeface="Times New Roman" panose="02020603050405020304" pitchFamily="18" charset="0"/>
                </a:rPr>
                <a:t>m+j</a:t>
              </a:r>
              <a:endParaRPr lang="zh-CN" altLang="en-US">
                <a:solidFill>
                  <a:srgbClr val="FF00FF"/>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randombar(horizont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a:extLst>
              <a:ext uri="{FF2B5EF4-FFF2-40B4-BE49-F238E27FC236}">
                <a16:creationId xmlns:a16="http://schemas.microsoft.com/office/drawing/2014/main" id="{96E99784-1D5E-40C9-A400-081D127A6A6F}"/>
              </a:ext>
            </a:extLst>
          </p:cNvPr>
          <p:cNvSpPr>
            <a:spLocks noGrp="1" noChangeArrowheads="1"/>
          </p:cNvSpPr>
          <p:nvPr>
            <p:ph type="title"/>
          </p:nvPr>
        </p:nvSpPr>
        <p:spPr>
          <a:xfrm>
            <a:off x="457200" y="217488"/>
            <a:ext cx="8229600" cy="911225"/>
          </a:xfrm>
        </p:spPr>
        <p:txBody>
          <a:bodyPr/>
          <a:lstStyle/>
          <a:p>
            <a:pPr eaLnBrk="1" hangingPunct="1"/>
            <a:r>
              <a:rPr lang="zh-CN" altLang="en-US"/>
              <a:t>典型问题描述</a:t>
            </a:r>
          </a:p>
        </p:txBody>
      </p:sp>
      <p:sp>
        <p:nvSpPr>
          <p:cNvPr id="140291" name="Rectangle 3">
            <a:extLst>
              <a:ext uri="{FF2B5EF4-FFF2-40B4-BE49-F238E27FC236}">
                <a16:creationId xmlns:a16="http://schemas.microsoft.com/office/drawing/2014/main" id="{04643195-66D5-4B3E-8D11-EF4C4A33FEAB}"/>
              </a:ext>
            </a:extLst>
          </p:cNvPr>
          <p:cNvSpPr>
            <a:spLocks noGrp="1" noChangeArrowheads="1"/>
          </p:cNvSpPr>
          <p:nvPr>
            <p:ph type="body" sz="half" idx="1"/>
          </p:nvPr>
        </p:nvSpPr>
        <p:spPr>
          <a:xfrm>
            <a:off x="457200" y="1371600"/>
            <a:ext cx="8305800" cy="4530725"/>
          </a:xfrm>
        </p:spPr>
        <p:txBody>
          <a:bodyPr/>
          <a:lstStyle/>
          <a:p>
            <a:pPr marL="0" indent="0" eaLnBrk="1" hangingPunct="1">
              <a:buFont typeface="Wingdings" panose="05000000000000000000" pitchFamily="2" charset="2"/>
              <a:buNone/>
            </a:pPr>
            <a:r>
              <a:rPr lang="en-US" altLang="zh-CN" sz="2800" i="1">
                <a:latin typeface="Times New Roman" panose="02020603050405020304" pitchFamily="18" charset="0"/>
              </a:rPr>
              <a:t>m</a:t>
            </a:r>
            <a:r>
              <a:rPr lang="en-US" altLang="zh-CN" sz="2800">
                <a:latin typeface="Times New Roman" panose="02020603050405020304" pitchFamily="18" charset="0"/>
              </a:rPr>
              <a:t> </a:t>
            </a:r>
            <a:r>
              <a:rPr lang="zh-CN" altLang="en-US" sz="2800">
                <a:latin typeface="Times New Roman" panose="02020603050405020304" pitchFamily="18" charset="0"/>
              </a:rPr>
              <a:t>个产地 </a:t>
            </a:r>
            <a:r>
              <a:rPr lang="en-US" altLang="zh-CN" sz="2800">
                <a:latin typeface="Times New Roman" panose="02020603050405020304" pitchFamily="18" charset="0"/>
              </a:rPr>
              <a:t>A</a:t>
            </a:r>
            <a:r>
              <a:rPr lang="en-US" altLang="zh-CN" sz="2800" i="1" baseline="-25000">
                <a:latin typeface="Times New Roman" panose="02020603050405020304" pitchFamily="18" charset="0"/>
              </a:rPr>
              <a:t>i </a:t>
            </a:r>
            <a:r>
              <a:rPr lang="en-US" altLang="zh-CN" sz="2800">
                <a:latin typeface="Times New Roman" panose="02020603050405020304" pitchFamily="18" charset="0"/>
              </a:rPr>
              <a:t>(</a:t>
            </a:r>
            <a:r>
              <a:rPr lang="en-US" altLang="zh-CN" sz="2800" i="1">
                <a:latin typeface="Times New Roman" panose="02020603050405020304" pitchFamily="18" charset="0"/>
              </a:rPr>
              <a:t>i </a:t>
            </a:r>
            <a:r>
              <a:rPr lang="en-US" altLang="zh-CN" sz="2800">
                <a:latin typeface="Times New Roman" panose="02020603050405020304" pitchFamily="18" charset="0"/>
              </a:rPr>
              <a:t>=1,2,…, </a:t>
            </a:r>
            <a:r>
              <a:rPr lang="en-US" altLang="zh-CN" sz="2800" i="1">
                <a:latin typeface="Times New Roman" panose="02020603050405020304" pitchFamily="18" charset="0"/>
              </a:rPr>
              <a:t>m</a:t>
            </a:r>
            <a:r>
              <a:rPr lang="en-US" altLang="zh-CN" sz="2800">
                <a:latin typeface="Times New Roman" panose="02020603050405020304" pitchFamily="18" charset="0"/>
              </a:rPr>
              <a:t>)</a:t>
            </a:r>
            <a:r>
              <a:rPr lang="zh-CN" altLang="en-US" sz="2800">
                <a:latin typeface="Times New Roman" panose="02020603050405020304" pitchFamily="18" charset="0"/>
              </a:rPr>
              <a:t>，产量为 </a:t>
            </a:r>
            <a:r>
              <a:rPr lang="en-US" altLang="zh-CN" sz="2800" i="1">
                <a:latin typeface="Times New Roman" panose="02020603050405020304" pitchFamily="18" charset="0"/>
              </a:rPr>
              <a:t>a</a:t>
            </a:r>
            <a:r>
              <a:rPr lang="en-US" altLang="zh-CN" sz="2800" i="1" baseline="-25000">
                <a:latin typeface="Times New Roman" panose="02020603050405020304" pitchFamily="18" charset="0"/>
              </a:rPr>
              <a:t>i</a:t>
            </a:r>
            <a:r>
              <a:rPr lang="en-US" altLang="zh-CN" sz="2800" baseline="-25000">
                <a:latin typeface="Times New Roman" panose="02020603050405020304" pitchFamily="18" charset="0"/>
              </a:rPr>
              <a:t> </a:t>
            </a:r>
            <a:r>
              <a:rPr lang="en-US" altLang="zh-CN" sz="2800">
                <a:latin typeface="Times New Roman" panose="02020603050405020304" pitchFamily="18" charset="0"/>
              </a:rPr>
              <a:t>( </a:t>
            </a:r>
            <a:r>
              <a:rPr lang="en-US" altLang="zh-CN" sz="2800" i="1">
                <a:latin typeface="Times New Roman" panose="02020603050405020304" pitchFamily="18" charset="0"/>
              </a:rPr>
              <a:t>i </a:t>
            </a:r>
            <a:r>
              <a:rPr lang="en-US" altLang="zh-CN" sz="2800">
                <a:latin typeface="Times New Roman" panose="02020603050405020304" pitchFamily="18" charset="0"/>
              </a:rPr>
              <a:t>=1,…,</a:t>
            </a:r>
            <a:r>
              <a:rPr lang="en-US" altLang="zh-CN" sz="2800" i="1">
                <a:latin typeface="Times New Roman" panose="02020603050405020304" pitchFamily="18" charset="0"/>
              </a:rPr>
              <a:t>m</a:t>
            </a:r>
            <a:r>
              <a:rPr lang="en-US" altLang="zh-CN" sz="2800">
                <a:latin typeface="Times New Roman" panose="02020603050405020304" pitchFamily="18" charset="0"/>
              </a:rPr>
              <a:t> );</a:t>
            </a:r>
            <a:endParaRPr lang="en-US" altLang="zh-CN" sz="900">
              <a:latin typeface="Times New Roman" panose="02020603050405020304" pitchFamily="18" charset="0"/>
            </a:endParaRPr>
          </a:p>
          <a:p>
            <a:pPr marL="0" indent="0" eaLnBrk="1" hangingPunct="1">
              <a:buFont typeface="Wingdings" panose="05000000000000000000" pitchFamily="2" charset="2"/>
              <a:buNone/>
            </a:pPr>
            <a:r>
              <a:rPr lang="en-US" altLang="zh-CN" sz="2800" i="1">
                <a:latin typeface="Times New Roman" panose="02020603050405020304" pitchFamily="18" charset="0"/>
              </a:rPr>
              <a:t>n</a:t>
            </a:r>
            <a:r>
              <a:rPr lang="en-US" altLang="zh-CN" sz="2800">
                <a:latin typeface="Times New Roman" panose="02020603050405020304" pitchFamily="18" charset="0"/>
              </a:rPr>
              <a:t> </a:t>
            </a:r>
            <a:r>
              <a:rPr lang="zh-CN" altLang="en-US" sz="2800">
                <a:latin typeface="Times New Roman" panose="02020603050405020304" pitchFamily="18" charset="0"/>
              </a:rPr>
              <a:t>个销地 </a:t>
            </a:r>
            <a:r>
              <a:rPr lang="en-US" altLang="zh-CN" sz="2800">
                <a:latin typeface="Times New Roman" panose="02020603050405020304" pitchFamily="18" charset="0"/>
              </a:rPr>
              <a:t>B</a:t>
            </a:r>
            <a:r>
              <a:rPr lang="en-US" altLang="zh-CN" sz="2800" i="1" baseline="-25000">
                <a:latin typeface="Times New Roman" panose="02020603050405020304" pitchFamily="18" charset="0"/>
              </a:rPr>
              <a:t>j</a:t>
            </a:r>
            <a:r>
              <a:rPr lang="en-US" altLang="zh-CN" sz="2800" baseline="-25000">
                <a:latin typeface="Times New Roman" panose="02020603050405020304" pitchFamily="18" charset="0"/>
              </a:rPr>
              <a:t>  </a:t>
            </a:r>
            <a:r>
              <a:rPr lang="en-US" altLang="zh-CN" sz="2800">
                <a:latin typeface="Times New Roman" panose="02020603050405020304" pitchFamily="18" charset="0"/>
              </a:rPr>
              <a:t>(</a:t>
            </a:r>
            <a:r>
              <a:rPr lang="en-US" altLang="zh-CN" sz="2800" i="1">
                <a:latin typeface="Times New Roman" panose="02020603050405020304" pitchFamily="18" charset="0"/>
              </a:rPr>
              <a:t>j</a:t>
            </a:r>
            <a:r>
              <a:rPr lang="en-US" altLang="zh-CN" sz="2800">
                <a:latin typeface="Times New Roman" panose="02020603050405020304" pitchFamily="18" charset="0"/>
              </a:rPr>
              <a:t> =1,…,</a:t>
            </a:r>
            <a:r>
              <a:rPr lang="en-US" altLang="zh-CN" sz="2800" i="1">
                <a:latin typeface="Times New Roman" panose="02020603050405020304" pitchFamily="18" charset="0"/>
              </a:rPr>
              <a:t>n</a:t>
            </a:r>
            <a:r>
              <a:rPr lang="en-US" altLang="zh-CN" sz="2800">
                <a:latin typeface="Times New Roman" panose="02020603050405020304" pitchFamily="18" charset="0"/>
              </a:rPr>
              <a:t>)</a:t>
            </a:r>
            <a:r>
              <a:rPr lang="zh-CN" altLang="en-US" sz="2800">
                <a:latin typeface="Times New Roman" panose="02020603050405020304" pitchFamily="18" charset="0"/>
              </a:rPr>
              <a:t>，销量为 </a:t>
            </a:r>
            <a:r>
              <a:rPr lang="en-US" altLang="zh-CN" sz="2800" i="1">
                <a:latin typeface="Times New Roman" panose="02020603050405020304" pitchFamily="18" charset="0"/>
              </a:rPr>
              <a:t>b</a:t>
            </a:r>
            <a:r>
              <a:rPr lang="en-US" altLang="zh-CN" sz="2800" i="1" baseline="-25000">
                <a:latin typeface="Times New Roman" panose="02020603050405020304" pitchFamily="18" charset="0"/>
              </a:rPr>
              <a:t>j </a:t>
            </a:r>
            <a:r>
              <a:rPr lang="en-US" altLang="zh-CN" sz="2800">
                <a:latin typeface="Times New Roman" panose="02020603050405020304" pitchFamily="18" charset="0"/>
              </a:rPr>
              <a:t>( </a:t>
            </a:r>
            <a:r>
              <a:rPr lang="en-US" altLang="zh-CN" sz="2800" i="1">
                <a:latin typeface="Times New Roman" panose="02020603050405020304" pitchFamily="18" charset="0"/>
              </a:rPr>
              <a:t>j</a:t>
            </a:r>
            <a:r>
              <a:rPr lang="en-US" altLang="zh-CN" sz="2800">
                <a:latin typeface="Times New Roman" panose="02020603050405020304" pitchFamily="18" charset="0"/>
              </a:rPr>
              <a:t> =1,…,</a:t>
            </a:r>
            <a:r>
              <a:rPr lang="en-US" altLang="zh-CN" sz="2800" i="1">
                <a:latin typeface="Times New Roman" panose="02020603050405020304" pitchFamily="18" charset="0"/>
              </a:rPr>
              <a:t>n</a:t>
            </a:r>
            <a:r>
              <a:rPr lang="en-US" altLang="zh-CN" sz="2800">
                <a:latin typeface="Times New Roman" panose="02020603050405020304" pitchFamily="18" charset="0"/>
              </a:rPr>
              <a:t> );</a:t>
            </a:r>
          </a:p>
          <a:p>
            <a:pPr marL="0" indent="0" eaLnBrk="1" hangingPunct="1">
              <a:buFont typeface="Wingdings" panose="05000000000000000000" pitchFamily="2" charset="2"/>
              <a:buNone/>
            </a:pPr>
            <a:r>
              <a:rPr lang="zh-CN" altLang="en-US" sz="2800">
                <a:latin typeface="Times New Roman" panose="02020603050405020304" pitchFamily="18" charset="0"/>
              </a:rPr>
              <a:t>由</a:t>
            </a:r>
            <a:r>
              <a:rPr lang="en-US" altLang="zh-CN" sz="2800">
                <a:latin typeface="Times New Roman" panose="02020603050405020304" pitchFamily="18" charset="0"/>
              </a:rPr>
              <a:t>A</a:t>
            </a:r>
            <a:r>
              <a:rPr lang="en-US" altLang="zh-CN" sz="2800" i="1" baseline="-25000">
                <a:latin typeface="Times New Roman" panose="02020603050405020304" pitchFamily="18" charset="0"/>
              </a:rPr>
              <a:t>i </a:t>
            </a:r>
            <a:r>
              <a:rPr lang="zh-CN" altLang="en-US" sz="2800">
                <a:latin typeface="Times New Roman" panose="02020603050405020304" pitchFamily="18" charset="0"/>
              </a:rPr>
              <a:t>→</a:t>
            </a:r>
            <a:r>
              <a:rPr lang="en-US" altLang="zh-CN" sz="2800">
                <a:latin typeface="Times New Roman" panose="02020603050405020304" pitchFamily="18" charset="0"/>
              </a:rPr>
              <a:t>B</a:t>
            </a:r>
            <a:r>
              <a:rPr lang="en-US" altLang="zh-CN" sz="2800" i="1" baseline="-25000">
                <a:latin typeface="Times New Roman" panose="02020603050405020304" pitchFamily="18" charset="0"/>
              </a:rPr>
              <a:t>j  </a:t>
            </a:r>
            <a:r>
              <a:rPr lang="zh-CN" altLang="en-US" sz="2800">
                <a:latin typeface="Times New Roman" panose="02020603050405020304" pitchFamily="18" charset="0"/>
              </a:rPr>
              <a:t>运价是 </a:t>
            </a:r>
            <a:r>
              <a:rPr lang="en-US" altLang="zh-CN" sz="2800" i="1">
                <a:latin typeface="Times New Roman" panose="02020603050405020304" pitchFamily="18" charset="0"/>
              </a:rPr>
              <a:t>c</a:t>
            </a:r>
            <a:r>
              <a:rPr lang="en-US" altLang="zh-CN" sz="2800" i="1" baseline="-25000">
                <a:latin typeface="Times New Roman" panose="02020603050405020304" pitchFamily="18" charset="0"/>
              </a:rPr>
              <a:t>ij</a:t>
            </a:r>
            <a:r>
              <a:rPr lang="zh-CN" altLang="en-US" sz="2800" i="1" baseline="-25000">
                <a:latin typeface="Times New Roman" panose="02020603050405020304" pitchFamily="18" charset="0"/>
              </a:rPr>
              <a:t>，</a:t>
            </a:r>
            <a:r>
              <a:rPr lang="zh-CN" altLang="en-US" sz="2800">
                <a:latin typeface="Times New Roman" panose="02020603050405020304" pitchFamily="18" charset="0"/>
              </a:rPr>
              <a:t>问如何调运使运费最少？</a:t>
            </a:r>
            <a:endParaRPr lang="en-US" altLang="zh-CN" sz="2800">
              <a:latin typeface="Times New Roman" panose="02020603050405020304" pitchFamily="18" charset="0"/>
            </a:endParaRPr>
          </a:p>
          <a:p>
            <a:pPr marL="0" indent="0" eaLnBrk="1" hangingPunct="1">
              <a:buFont typeface="Wingdings" panose="05000000000000000000" pitchFamily="2" charset="2"/>
              <a:buNone/>
            </a:pPr>
            <a:endParaRPr lang="zh-CN" altLang="en-US" sz="2800">
              <a:latin typeface="Times New Roman" panose="02020603050405020304" pitchFamily="18" charset="0"/>
            </a:endParaRPr>
          </a:p>
        </p:txBody>
      </p:sp>
      <p:sp>
        <p:nvSpPr>
          <p:cNvPr id="140492" name="Text Box 204">
            <a:extLst>
              <a:ext uri="{FF2B5EF4-FFF2-40B4-BE49-F238E27FC236}">
                <a16:creationId xmlns:a16="http://schemas.microsoft.com/office/drawing/2014/main" id="{9D2B459E-A8FD-403A-8F26-203746861BA5}"/>
              </a:ext>
            </a:extLst>
          </p:cNvPr>
          <p:cNvSpPr txBox="1">
            <a:spLocks noChangeArrowheads="1"/>
          </p:cNvSpPr>
          <p:nvPr/>
        </p:nvSpPr>
        <p:spPr bwMode="auto">
          <a:xfrm>
            <a:off x="457200" y="3505200"/>
            <a:ext cx="3657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t>若产量等于销量，即</a:t>
            </a:r>
          </a:p>
        </p:txBody>
      </p:sp>
      <p:graphicFrame>
        <p:nvGraphicFramePr>
          <p:cNvPr id="140493" name="Object 205">
            <a:extLst>
              <a:ext uri="{FF2B5EF4-FFF2-40B4-BE49-F238E27FC236}">
                <a16:creationId xmlns:a16="http://schemas.microsoft.com/office/drawing/2014/main" id="{F4AF3ED4-2562-480B-A67E-D17C23D931B5}"/>
              </a:ext>
            </a:extLst>
          </p:cNvPr>
          <p:cNvGraphicFramePr>
            <a:graphicFrameLocks noGrp="1" noChangeAspect="1"/>
          </p:cNvGraphicFramePr>
          <p:nvPr>
            <p:ph sz="quarter" idx="3"/>
          </p:nvPr>
        </p:nvGraphicFramePr>
        <p:xfrm>
          <a:off x="3886200" y="3200400"/>
          <a:ext cx="1828800" cy="1030288"/>
        </p:xfrm>
        <a:graphic>
          <a:graphicData uri="http://schemas.openxmlformats.org/presentationml/2006/ole">
            <mc:AlternateContent xmlns:mc="http://schemas.openxmlformats.org/markup-compatibility/2006">
              <mc:Choice xmlns:v="urn:schemas-microsoft-com:vml" Requires="v">
                <p:oleObj spid="_x0000_s15374" name="公式" r:id="rId3" imgW="812447" imgH="444307" progId="Equation.3">
                  <p:embed/>
                </p:oleObj>
              </mc:Choice>
              <mc:Fallback>
                <p:oleObj name="公式" r:id="rId3" imgW="812447" imgH="444307" progId="Equation.3">
                  <p:embed/>
                  <p:pic>
                    <p:nvPicPr>
                      <p:cNvPr id="0" name="Object 2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6200" y="3200400"/>
                        <a:ext cx="1828800" cy="1030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0495" name="Text Box 207">
            <a:extLst>
              <a:ext uri="{FF2B5EF4-FFF2-40B4-BE49-F238E27FC236}">
                <a16:creationId xmlns:a16="http://schemas.microsoft.com/office/drawing/2014/main" id="{350E83EB-3F83-41D1-8206-ACD560FE09E9}"/>
              </a:ext>
            </a:extLst>
          </p:cNvPr>
          <p:cNvSpPr txBox="1">
            <a:spLocks noChangeArrowheads="1"/>
          </p:cNvSpPr>
          <p:nvPr/>
        </p:nvSpPr>
        <p:spPr bwMode="auto">
          <a:xfrm>
            <a:off x="533400" y="4267200"/>
            <a:ext cx="8229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t>称为</a:t>
            </a:r>
            <a:r>
              <a:rPr lang="zh-CN" altLang="en-US" sz="2800" b="1">
                <a:solidFill>
                  <a:schemeClr val="accent2"/>
                </a:solidFill>
              </a:rPr>
              <a:t>产销平衡运输问题</a:t>
            </a:r>
            <a:r>
              <a:rPr lang="zh-CN" altLang="en-US" sz="2800" b="1"/>
              <a:t>，否则为</a:t>
            </a:r>
            <a:r>
              <a:rPr lang="zh-CN" altLang="en-US" sz="2800" b="1">
                <a:solidFill>
                  <a:schemeClr val="accent2"/>
                </a:solidFill>
              </a:rPr>
              <a:t>产销不平衡问题</a:t>
            </a:r>
          </a:p>
        </p:txBody>
      </p:sp>
      <p:sp>
        <p:nvSpPr>
          <p:cNvPr id="140500" name="Text Box 212">
            <a:extLst>
              <a:ext uri="{FF2B5EF4-FFF2-40B4-BE49-F238E27FC236}">
                <a16:creationId xmlns:a16="http://schemas.microsoft.com/office/drawing/2014/main" id="{42120384-613F-483F-8FEB-400E5FECF840}"/>
              </a:ext>
            </a:extLst>
          </p:cNvPr>
          <p:cNvSpPr txBox="1">
            <a:spLocks noChangeArrowheads="1"/>
          </p:cNvSpPr>
          <p:nvPr/>
        </p:nvSpPr>
        <p:spPr bwMode="auto">
          <a:xfrm>
            <a:off x="762000" y="5181600"/>
            <a:ext cx="2819400" cy="116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354013">
              <a:tabLst>
                <a:tab pos="269875" algn="l"/>
              </a:tabLst>
              <a:defRPr>
                <a:solidFill>
                  <a:schemeClr val="tx1"/>
                </a:solidFill>
                <a:latin typeface="Arial" panose="020B0604020202020204" pitchFamily="34" charset="0"/>
                <a:ea typeface="宋体" panose="02010600030101010101" pitchFamily="2" charset="-122"/>
              </a:defRPr>
            </a:lvl1pPr>
            <a:lvl2pPr marL="742950" indent="-285750">
              <a:tabLst>
                <a:tab pos="269875" algn="l"/>
              </a:tabLst>
              <a:defRPr>
                <a:solidFill>
                  <a:schemeClr val="tx1"/>
                </a:solidFill>
                <a:latin typeface="Arial" panose="020B0604020202020204" pitchFamily="34" charset="0"/>
                <a:ea typeface="宋体" panose="02010600030101010101" pitchFamily="2" charset="-122"/>
              </a:defRPr>
            </a:lvl2pPr>
            <a:lvl3pPr marL="1143000" indent="-228600">
              <a:tabLst>
                <a:tab pos="269875" algn="l"/>
              </a:tabLst>
              <a:defRPr>
                <a:solidFill>
                  <a:schemeClr val="tx1"/>
                </a:solidFill>
                <a:latin typeface="Arial" panose="020B0604020202020204" pitchFamily="34" charset="0"/>
                <a:ea typeface="宋体" panose="02010600030101010101" pitchFamily="2" charset="-122"/>
              </a:defRPr>
            </a:lvl3pPr>
            <a:lvl4pPr marL="1600200" indent="-228600">
              <a:tabLst>
                <a:tab pos="269875" algn="l"/>
              </a:tabLst>
              <a:defRPr>
                <a:solidFill>
                  <a:schemeClr val="tx1"/>
                </a:solidFill>
                <a:latin typeface="Arial" panose="020B0604020202020204" pitchFamily="34" charset="0"/>
                <a:ea typeface="宋体" panose="02010600030101010101" pitchFamily="2" charset="-122"/>
              </a:defRPr>
            </a:lvl4pPr>
            <a:lvl5pPr marL="2057400" indent="-228600">
              <a:tabLst>
                <a:tab pos="269875" algn="l"/>
              </a:tabLst>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tabLst>
                <a:tab pos="269875" algn="l"/>
              </a:tabLs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tabLst>
                <a:tab pos="269875" algn="l"/>
              </a:tabLs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tabLst>
                <a:tab pos="269875" algn="l"/>
              </a:tabLs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tabLst>
                <a:tab pos="269875" algn="l"/>
              </a:tabLs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buFontTx/>
              <a:buChar char="•"/>
            </a:pPr>
            <a:r>
              <a:rPr lang="zh-CN" altLang="en-US" sz="2800" b="1">
                <a:solidFill>
                  <a:srgbClr val="FF3300"/>
                </a:solidFill>
              </a:rPr>
              <a:t>网络图表示</a:t>
            </a:r>
          </a:p>
          <a:p>
            <a:pPr eaLnBrk="1" hangingPunct="1">
              <a:spcBef>
                <a:spcPct val="50000"/>
              </a:spcBef>
              <a:buFontTx/>
              <a:buChar char="•"/>
            </a:pPr>
            <a:r>
              <a:rPr lang="zh-CN" altLang="en-US" sz="2800" b="1">
                <a:solidFill>
                  <a:srgbClr val="FF3300"/>
                </a:solidFill>
              </a:rPr>
              <a:t>运输表表示</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40291">
                                            <p:txEl>
                                              <p:pRg st="0" end="0"/>
                                            </p:txEl>
                                          </p:spTgt>
                                        </p:tgtEl>
                                        <p:attrNameLst>
                                          <p:attrName>style.visibility</p:attrName>
                                        </p:attrNameLst>
                                      </p:cBhvr>
                                      <p:to>
                                        <p:strVal val="visible"/>
                                      </p:to>
                                    </p:set>
                                    <p:animEffect transition="in" filter="blinds(horizontal)">
                                      <p:cBhvr>
                                        <p:cTn id="7" dur="500"/>
                                        <p:tgtEl>
                                          <p:spTgt spid="14029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40291">
                                            <p:txEl>
                                              <p:pRg st="1" end="1"/>
                                            </p:txEl>
                                          </p:spTgt>
                                        </p:tgtEl>
                                        <p:attrNameLst>
                                          <p:attrName>style.visibility</p:attrName>
                                        </p:attrNameLst>
                                      </p:cBhvr>
                                      <p:to>
                                        <p:strVal val="visible"/>
                                      </p:to>
                                    </p:set>
                                    <p:animEffect transition="in" filter="blinds(horizontal)">
                                      <p:cBhvr>
                                        <p:cTn id="12" dur="500"/>
                                        <p:tgtEl>
                                          <p:spTgt spid="140291">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40291">
                                            <p:txEl>
                                              <p:pRg st="2" end="2"/>
                                            </p:txEl>
                                          </p:spTgt>
                                        </p:tgtEl>
                                        <p:attrNameLst>
                                          <p:attrName>style.visibility</p:attrName>
                                        </p:attrNameLst>
                                      </p:cBhvr>
                                      <p:to>
                                        <p:strVal val="visible"/>
                                      </p:to>
                                    </p:set>
                                    <p:animEffect transition="in" filter="blinds(horizontal)">
                                      <p:cBhvr>
                                        <p:cTn id="17" dur="500"/>
                                        <p:tgtEl>
                                          <p:spTgt spid="140291">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40492"/>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140493"/>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40495"/>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1405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291" grpId="0" build="p"/>
      <p:bldP spid="140492" grpId="0"/>
      <p:bldP spid="140495" grpId="0"/>
      <p:bldP spid="14050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56">
            <a:extLst>
              <a:ext uri="{FF2B5EF4-FFF2-40B4-BE49-F238E27FC236}">
                <a16:creationId xmlns:a16="http://schemas.microsoft.com/office/drawing/2014/main" id="{4A395FA8-AC83-45C5-83AB-AA71309AD407}"/>
              </a:ext>
            </a:extLst>
          </p:cNvPr>
          <p:cNvSpPr>
            <a:spLocks noGrp="1" noChangeArrowheads="1"/>
          </p:cNvSpPr>
          <p:nvPr>
            <p:ph type="title"/>
          </p:nvPr>
        </p:nvSpPr>
        <p:spPr/>
        <p:txBody>
          <a:bodyPr/>
          <a:lstStyle/>
          <a:p>
            <a:r>
              <a:rPr lang="zh-CN" altLang="en-US"/>
              <a:t>网络图</a:t>
            </a:r>
          </a:p>
        </p:txBody>
      </p:sp>
      <p:grpSp>
        <p:nvGrpSpPr>
          <p:cNvPr id="2" name="Group 59">
            <a:extLst>
              <a:ext uri="{FF2B5EF4-FFF2-40B4-BE49-F238E27FC236}">
                <a16:creationId xmlns:a16="http://schemas.microsoft.com/office/drawing/2014/main" id="{85EDCA85-B079-45BA-AD8B-14B66F30440A}"/>
              </a:ext>
            </a:extLst>
          </p:cNvPr>
          <p:cNvGrpSpPr>
            <a:grpSpLocks/>
          </p:cNvGrpSpPr>
          <p:nvPr/>
        </p:nvGrpSpPr>
        <p:grpSpPr bwMode="auto">
          <a:xfrm>
            <a:off x="2514600" y="2092325"/>
            <a:ext cx="457200" cy="2649538"/>
            <a:chOff x="1584" y="1558"/>
            <a:chExt cx="288" cy="1669"/>
          </a:xfrm>
        </p:grpSpPr>
        <p:sp>
          <p:nvSpPr>
            <p:cNvPr id="16444" name="Oval 2">
              <a:extLst>
                <a:ext uri="{FF2B5EF4-FFF2-40B4-BE49-F238E27FC236}">
                  <a16:creationId xmlns:a16="http://schemas.microsoft.com/office/drawing/2014/main" id="{1095005B-F239-4EC0-BEEB-7ED70709A6D4}"/>
                </a:ext>
              </a:extLst>
            </p:cNvPr>
            <p:cNvSpPr>
              <a:spLocks noChangeArrowheads="1"/>
            </p:cNvSpPr>
            <p:nvPr/>
          </p:nvSpPr>
          <p:spPr bwMode="auto">
            <a:xfrm>
              <a:off x="1584" y="2267"/>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2</a:t>
              </a:r>
            </a:p>
          </p:txBody>
        </p:sp>
        <p:sp>
          <p:nvSpPr>
            <p:cNvPr id="16445" name="Oval 3">
              <a:extLst>
                <a:ext uri="{FF2B5EF4-FFF2-40B4-BE49-F238E27FC236}">
                  <a16:creationId xmlns:a16="http://schemas.microsoft.com/office/drawing/2014/main" id="{7B1AE98B-1CE2-4FA8-9E64-F5568347B71D}"/>
                </a:ext>
              </a:extLst>
            </p:cNvPr>
            <p:cNvSpPr>
              <a:spLocks noChangeArrowheads="1"/>
            </p:cNvSpPr>
            <p:nvPr/>
          </p:nvSpPr>
          <p:spPr bwMode="auto">
            <a:xfrm>
              <a:off x="1584" y="2939"/>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3</a:t>
              </a:r>
            </a:p>
          </p:txBody>
        </p:sp>
        <p:sp>
          <p:nvSpPr>
            <p:cNvPr id="16446" name="Oval 5">
              <a:extLst>
                <a:ext uri="{FF2B5EF4-FFF2-40B4-BE49-F238E27FC236}">
                  <a16:creationId xmlns:a16="http://schemas.microsoft.com/office/drawing/2014/main" id="{DC9BBD5C-81B6-4B08-B1F7-EBB7D167A184}"/>
                </a:ext>
              </a:extLst>
            </p:cNvPr>
            <p:cNvSpPr>
              <a:spLocks noChangeArrowheads="1"/>
            </p:cNvSpPr>
            <p:nvPr/>
          </p:nvSpPr>
          <p:spPr bwMode="auto">
            <a:xfrm>
              <a:off x="1584" y="1558"/>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1</a:t>
              </a:r>
            </a:p>
          </p:txBody>
        </p:sp>
      </p:grpSp>
      <p:grpSp>
        <p:nvGrpSpPr>
          <p:cNvPr id="3" name="Group 60">
            <a:extLst>
              <a:ext uri="{FF2B5EF4-FFF2-40B4-BE49-F238E27FC236}">
                <a16:creationId xmlns:a16="http://schemas.microsoft.com/office/drawing/2014/main" id="{A998B166-B811-4D4A-BFDF-084376A47EDD}"/>
              </a:ext>
            </a:extLst>
          </p:cNvPr>
          <p:cNvGrpSpPr>
            <a:grpSpLocks/>
          </p:cNvGrpSpPr>
          <p:nvPr/>
        </p:nvGrpSpPr>
        <p:grpSpPr bwMode="auto">
          <a:xfrm>
            <a:off x="6248400" y="1617663"/>
            <a:ext cx="457200" cy="3810000"/>
            <a:chOff x="3936" y="1259"/>
            <a:chExt cx="288" cy="2400"/>
          </a:xfrm>
        </p:grpSpPr>
        <p:sp>
          <p:nvSpPr>
            <p:cNvPr id="16440" name="Oval 4">
              <a:extLst>
                <a:ext uri="{FF2B5EF4-FFF2-40B4-BE49-F238E27FC236}">
                  <a16:creationId xmlns:a16="http://schemas.microsoft.com/office/drawing/2014/main" id="{C8FE6F2F-149C-459C-813E-01C1213B7E35}"/>
                </a:ext>
              </a:extLst>
            </p:cNvPr>
            <p:cNvSpPr>
              <a:spLocks noChangeArrowheads="1"/>
            </p:cNvSpPr>
            <p:nvPr/>
          </p:nvSpPr>
          <p:spPr bwMode="auto">
            <a:xfrm>
              <a:off x="3936" y="1979"/>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2</a:t>
              </a:r>
            </a:p>
          </p:txBody>
        </p:sp>
        <p:sp>
          <p:nvSpPr>
            <p:cNvPr id="16441" name="Oval 6">
              <a:extLst>
                <a:ext uri="{FF2B5EF4-FFF2-40B4-BE49-F238E27FC236}">
                  <a16:creationId xmlns:a16="http://schemas.microsoft.com/office/drawing/2014/main" id="{C06459FA-50AC-44BF-9C6E-B6E935DC6AA7}"/>
                </a:ext>
              </a:extLst>
            </p:cNvPr>
            <p:cNvSpPr>
              <a:spLocks noChangeArrowheads="1"/>
            </p:cNvSpPr>
            <p:nvPr/>
          </p:nvSpPr>
          <p:spPr bwMode="auto">
            <a:xfrm>
              <a:off x="3936" y="2651"/>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3</a:t>
              </a:r>
            </a:p>
          </p:txBody>
        </p:sp>
        <p:sp>
          <p:nvSpPr>
            <p:cNvPr id="16442" name="Oval 7">
              <a:extLst>
                <a:ext uri="{FF2B5EF4-FFF2-40B4-BE49-F238E27FC236}">
                  <a16:creationId xmlns:a16="http://schemas.microsoft.com/office/drawing/2014/main" id="{FB687B8A-F15B-405A-AC95-183FC7DB04B2}"/>
                </a:ext>
              </a:extLst>
            </p:cNvPr>
            <p:cNvSpPr>
              <a:spLocks noChangeArrowheads="1"/>
            </p:cNvSpPr>
            <p:nvPr/>
          </p:nvSpPr>
          <p:spPr bwMode="auto">
            <a:xfrm>
              <a:off x="3936" y="3371"/>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4</a:t>
              </a:r>
            </a:p>
          </p:txBody>
        </p:sp>
        <p:sp>
          <p:nvSpPr>
            <p:cNvPr id="16443" name="Oval 8">
              <a:extLst>
                <a:ext uri="{FF2B5EF4-FFF2-40B4-BE49-F238E27FC236}">
                  <a16:creationId xmlns:a16="http://schemas.microsoft.com/office/drawing/2014/main" id="{96EA5F3B-25D5-4E4E-8035-E1C0D0878F8C}"/>
                </a:ext>
              </a:extLst>
            </p:cNvPr>
            <p:cNvSpPr>
              <a:spLocks noChangeArrowheads="1"/>
            </p:cNvSpPr>
            <p:nvPr/>
          </p:nvSpPr>
          <p:spPr bwMode="auto">
            <a:xfrm>
              <a:off x="3936" y="1259"/>
              <a:ext cx="288" cy="288"/>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1</a:t>
              </a:r>
            </a:p>
          </p:txBody>
        </p:sp>
      </p:grpSp>
      <p:grpSp>
        <p:nvGrpSpPr>
          <p:cNvPr id="4" name="Group 62">
            <a:extLst>
              <a:ext uri="{FF2B5EF4-FFF2-40B4-BE49-F238E27FC236}">
                <a16:creationId xmlns:a16="http://schemas.microsoft.com/office/drawing/2014/main" id="{5E6C965E-1CD0-4A27-8985-A0D886941217}"/>
              </a:ext>
            </a:extLst>
          </p:cNvPr>
          <p:cNvGrpSpPr>
            <a:grpSpLocks/>
          </p:cNvGrpSpPr>
          <p:nvPr/>
        </p:nvGrpSpPr>
        <p:grpSpPr bwMode="auto">
          <a:xfrm>
            <a:off x="454025" y="2074863"/>
            <a:ext cx="1984375" cy="2671762"/>
            <a:chOff x="286" y="1547"/>
            <a:chExt cx="1250" cy="1683"/>
          </a:xfrm>
        </p:grpSpPr>
        <p:sp>
          <p:nvSpPr>
            <p:cNvPr id="16432" name="Text Box 22">
              <a:extLst>
                <a:ext uri="{FF2B5EF4-FFF2-40B4-BE49-F238E27FC236}">
                  <a16:creationId xmlns:a16="http://schemas.microsoft.com/office/drawing/2014/main" id="{3D596F66-FA56-4EA0-ACFE-DF678BDE5A67}"/>
                </a:ext>
              </a:extLst>
            </p:cNvPr>
            <p:cNvSpPr txBox="1">
              <a:spLocks noChangeArrowheads="1"/>
            </p:cNvSpPr>
            <p:nvPr/>
          </p:nvSpPr>
          <p:spPr bwMode="auto">
            <a:xfrm>
              <a:off x="804" y="2267"/>
              <a:ext cx="73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2</a:t>
              </a:r>
              <a:r>
                <a:rPr lang="en-US" altLang="zh-CN" sz="2400"/>
                <a:t>=125</a:t>
              </a:r>
            </a:p>
          </p:txBody>
        </p:sp>
        <p:sp>
          <p:nvSpPr>
            <p:cNvPr id="16433" name="Text Box 23">
              <a:extLst>
                <a:ext uri="{FF2B5EF4-FFF2-40B4-BE49-F238E27FC236}">
                  <a16:creationId xmlns:a16="http://schemas.microsoft.com/office/drawing/2014/main" id="{F4113672-18E6-41B0-AE1C-ED2951C9719C}"/>
                </a:ext>
              </a:extLst>
            </p:cNvPr>
            <p:cNvSpPr txBox="1">
              <a:spLocks noChangeArrowheads="1"/>
            </p:cNvSpPr>
            <p:nvPr/>
          </p:nvSpPr>
          <p:spPr bwMode="auto">
            <a:xfrm>
              <a:off x="779" y="2939"/>
              <a:ext cx="7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3</a:t>
              </a:r>
              <a:r>
                <a:rPr lang="en-US" altLang="zh-CN" sz="2400"/>
                <a:t>=100</a:t>
              </a:r>
            </a:p>
          </p:txBody>
        </p:sp>
        <p:sp>
          <p:nvSpPr>
            <p:cNvPr id="16434" name="Text Box 28">
              <a:extLst>
                <a:ext uri="{FF2B5EF4-FFF2-40B4-BE49-F238E27FC236}">
                  <a16:creationId xmlns:a16="http://schemas.microsoft.com/office/drawing/2014/main" id="{248C52F2-1122-4FE0-999D-9BAADE3D3DE7}"/>
                </a:ext>
              </a:extLst>
            </p:cNvPr>
            <p:cNvSpPr txBox="1">
              <a:spLocks noChangeArrowheads="1"/>
            </p:cNvSpPr>
            <p:nvPr/>
          </p:nvSpPr>
          <p:spPr bwMode="auto">
            <a:xfrm>
              <a:off x="804" y="1547"/>
              <a:ext cx="73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1</a:t>
              </a:r>
              <a:r>
                <a:rPr lang="en-US" altLang="zh-CN" sz="2400"/>
                <a:t>=75</a:t>
              </a:r>
            </a:p>
          </p:txBody>
        </p:sp>
        <p:grpSp>
          <p:nvGrpSpPr>
            <p:cNvPr id="16435" name="Group 29">
              <a:extLst>
                <a:ext uri="{FF2B5EF4-FFF2-40B4-BE49-F238E27FC236}">
                  <a16:creationId xmlns:a16="http://schemas.microsoft.com/office/drawing/2014/main" id="{C6321F8A-214D-42A4-9CA8-F9DA6E485DED}"/>
                </a:ext>
              </a:extLst>
            </p:cNvPr>
            <p:cNvGrpSpPr>
              <a:grpSpLocks/>
            </p:cNvGrpSpPr>
            <p:nvPr/>
          </p:nvGrpSpPr>
          <p:grpSpPr bwMode="auto">
            <a:xfrm>
              <a:off x="286" y="1693"/>
              <a:ext cx="518" cy="1392"/>
              <a:chOff x="286" y="1682"/>
              <a:chExt cx="518" cy="1392"/>
            </a:xfrm>
          </p:grpSpPr>
          <p:cxnSp>
            <p:nvCxnSpPr>
              <p:cNvPr id="16436" name="AutoShape 30">
                <a:extLst>
                  <a:ext uri="{FF2B5EF4-FFF2-40B4-BE49-F238E27FC236}">
                    <a16:creationId xmlns:a16="http://schemas.microsoft.com/office/drawing/2014/main" id="{0EC87C62-FE1C-4C30-9823-7FB48376015D}"/>
                  </a:ext>
                </a:extLst>
              </p:cNvPr>
              <p:cNvCxnSpPr>
                <a:cxnSpLocks noChangeShapeType="1"/>
                <a:stCxn id="16439" idx="3"/>
                <a:endCxn id="16434" idx="1"/>
              </p:cNvCxnSpPr>
              <p:nvPr/>
            </p:nvCxnSpPr>
            <p:spPr bwMode="auto">
              <a:xfrm flipV="1">
                <a:off x="635" y="1682"/>
                <a:ext cx="169" cy="750"/>
              </a:xfrm>
              <a:prstGeom prst="bentConnector3">
                <a:avLst>
                  <a:gd name="adj1" fmla="val 50000"/>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6437" name="AutoShape 31">
                <a:extLst>
                  <a:ext uri="{FF2B5EF4-FFF2-40B4-BE49-F238E27FC236}">
                    <a16:creationId xmlns:a16="http://schemas.microsoft.com/office/drawing/2014/main" id="{4ED624ED-5CC4-4A96-BD3E-C5FCC3474401}"/>
                  </a:ext>
                </a:extLst>
              </p:cNvPr>
              <p:cNvCxnSpPr>
                <a:cxnSpLocks noChangeShapeType="1"/>
                <a:stCxn id="16439" idx="3"/>
                <a:endCxn id="16432" idx="1"/>
              </p:cNvCxnSpPr>
              <p:nvPr/>
            </p:nvCxnSpPr>
            <p:spPr bwMode="auto">
              <a:xfrm flipV="1">
                <a:off x="635" y="2402"/>
                <a:ext cx="169" cy="30"/>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16438" name="AutoShape 32">
                <a:extLst>
                  <a:ext uri="{FF2B5EF4-FFF2-40B4-BE49-F238E27FC236}">
                    <a16:creationId xmlns:a16="http://schemas.microsoft.com/office/drawing/2014/main" id="{91550B9D-6508-47DD-B5C3-7ADC4FB773F8}"/>
                  </a:ext>
                </a:extLst>
              </p:cNvPr>
              <p:cNvCxnSpPr>
                <a:cxnSpLocks noChangeShapeType="1"/>
                <a:stCxn id="16439" idx="3"/>
                <a:endCxn id="16433" idx="1"/>
              </p:cNvCxnSpPr>
              <p:nvPr/>
            </p:nvCxnSpPr>
            <p:spPr bwMode="auto">
              <a:xfrm>
                <a:off x="635" y="2432"/>
                <a:ext cx="144" cy="642"/>
              </a:xfrm>
              <a:prstGeom prst="bentConnector3">
                <a:avLst>
                  <a:gd name="adj1" fmla="val 50000"/>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sp>
            <p:nvSpPr>
              <p:cNvPr id="16439" name="Text Box 33">
                <a:extLst>
                  <a:ext uri="{FF2B5EF4-FFF2-40B4-BE49-F238E27FC236}">
                    <a16:creationId xmlns:a16="http://schemas.microsoft.com/office/drawing/2014/main" id="{292ACABC-ADF4-4920-9B6C-7D0395F9913F}"/>
                  </a:ext>
                </a:extLst>
              </p:cNvPr>
              <p:cNvSpPr txBox="1">
                <a:spLocks noChangeArrowheads="1"/>
              </p:cNvSpPr>
              <p:nvPr/>
            </p:nvSpPr>
            <p:spPr bwMode="auto">
              <a:xfrm>
                <a:off x="286" y="1813"/>
                <a:ext cx="349" cy="123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vert="eaVert">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t>供应量 </a:t>
                </a:r>
                <a:r>
                  <a:rPr lang="en-US" altLang="zh-CN" sz="2400"/>
                  <a:t>(</a:t>
                </a:r>
                <a:r>
                  <a:rPr lang="zh-CN" altLang="en-US" sz="2400"/>
                  <a:t>产量</a:t>
                </a:r>
                <a:r>
                  <a:rPr lang="en-US" altLang="zh-CN" sz="2400"/>
                  <a:t>)</a:t>
                </a:r>
                <a:endParaRPr lang="zh-CN" altLang="en-US" sz="2400"/>
              </a:p>
            </p:txBody>
          </p:sp>
        </p:grpSp>
      </p:grpSp>
      <p:sp>
        <p:nvSpPr>
          <p:cNvPr id="23" name="Text Box 34">
            <a:extLst>
              <a:ext uri="{FF2B5EF4-FFF2-40B4-BE49-F238E27FC236}">
                <a16:creationId xmlns:a16="http://schemas.microsoft.com/office/drawing/2014/main" id="{BC530488-166C-4EFC-8C29-4DD6FDC167DA}"/>
              </a:ext>
            </a:extLst>
          </p:cNvPr>
          <p:cNvSpPr txBox="1">
            <a:spLocks noChangeArrowheads="1"/>
          </p:cNvSpPr>
          <p:nvPr/>
        </p:nvSpPr>
        <p:spPr bwMode="auto">
          <a:xfrm>
            <a:off x="2057400" y="762000"/>
            <a:ext cx="13716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供应地</a:t>
            </a:r>
            <a:endParaRPr lang="en-US" altLang="zh-CN" sz="2400"/>
          </a:p>
          <a:p>
            <a:pPr algn="ctr" eaLnBrk="1" hangingPunct="1"/>
            <a:r>
              <a:rPr lang="en-US" altLang="zh-CN" sz="2400"/>
              <a:t>(</a:t>
            </a:r>
            <a:r>
              <a:rPr lang="zh-CN" altLang="en-US" sz="2400"/>
              <a:t>产地</a:t>
            </a:r>
            <a:r>
              <a:rPr lang="en-US" altLang="zh-CN" sz="2400"/>
              <a:t>)</a:t>
            </a:r>
            <a:endParaRPr lang="zh-CN" altLang="en-US" sz="2400"/>
          </a:p>
        </p:txBody>
      </p:sp>
      <p:grpSp>
        <p:nvGrpSpPr>
          <p:cNvPr id="6" name="Group 35">
            <a:extLst>
              <a:ext uri="{FF2B5EF4-FFF2-40B4-BE49-F238E27FC236}">
                <a16:creationId xmlns:a16="http://schemas.microsoft.com/office/drawing/2014/main" id="{9DDBB661-2BF1-42E8-8CD7-BA4451A03BA4}"/>
              </a:ext>
            </a:extLst>
          </p:cNvPr>
          <p:cNvGrpSpPr>
            <a:grpSpLocks/>
          </p:cNvGrpSpPr>
          <p:nvPr/>
        </p:nvGrpSpPr>
        <p:grpSpPr bwMode="auto">
          <a:xfrm>
            <a:off x="3886200" y="1084263"/>
            <a:ext cx="990600" cy="814387"/>
            <a:chOff x="2448" y="912"/>
            <a:chExt cx="624" cy="513"/>
          </a:xfrm>
        </p:grpSpPr>
        <p:sp>
          <p:nvSpPr>
            <p:cNvPr id="16430" name="Text Box 36">
              <a:extLst>
                <a:ext uri="{FF2B5EF4-FFF2-40B4-BE49-F238E27FC236}">
                  <a16:creationId xmlns:a16="http://schemas.microsoft.com/office/drawing/2014/main" id="{420085CD-812E-44E2-8D16-441F328EF0B3}"/>
                </a:ext>
              </a:extLst>
            </p:cNvPr>
            <p:cNvSpPr txBox="1">
              <a:spLocks noChangeArrowheads="1"/>
            </p:cNvSpPr>
            <p:nvPr/>
          </p:nvSpPr>
          <p:spPr bwMode="auto">
            <a:xfrm>
              <a:off x="2448" y="912"/>
              <a:ext cx="6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运价</a:t>
              </a:r>
            </a:p>
          </p:txBody>
        </p:sp>
        <p:cxnSp>
          <p:nvCxnSpPr>
            <p:cNvPr id="16431" name="AutoShape 37">
              <a:extLst>
                <a:ext uri="{FF2B5EF4-FFF2-40B4-BE49-F238E27FC236}">
                  <a16:creationId xmlns:a16="http://schemas.microsoft.com/office/drawing/2014/main" id="{590C5369-98BB-45DB-AD33-5DBA4C14ACD6}"/>
                </a:ext>
              </a:extLst>
            </p:cNvPr>
            <p:cNvCxnSpPr>
              <a:cxnSpLocks noChangeShapeType="1"/>
              <a:stCxn id="16430" idx="2"/>
            </p:cNvCxnSpPr>
            <p:nvPr/>
          </p:nvCxnSpPr>
          <p:spPr bwMode="auto">
            <a:xfrm flipH="1">
              <a:off x="2448" y="1200"/>
              <a:ext cx="312" cy="225"/>
            </a:xfrm>
            <a:prstGeom prst="straightConnector1">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cxnSp>
      </p:grpSp>
      <p:grpSp>
        <p:nvGrpSpPr>
          <p:cNvPr id="7" name="Group 61">
            <a:extLst>
              <a:ext uri="{FF2B5EF4-FFF2-40B4-BE49-F238E27FC236}">
                <a16:creationId xmlns:a16="http://schemas.microsoft.com/office/drawing/2014/main" id="{0DCF453D-5D56-4609-93EC-D5970C57351A}"/>
              </a:ext>
            </a:extLst>
          </p:cNvPr>
          <p:cNvGrpSpPr>
            <a:grpSpLocks/>
          </p:cNvGrpSpPr>
          <p:nvPr/>
        </p:nvGrpSpPr>
        <p:grpSpPr bwMode="auto">
          <a:xfrm>
            <a:off x="6781800" y="1617663"/>
            <a:ext cx="2074863" cy="3814762"/>
            <a:chOff x="4272" y="1259"/>
            <a:chExt cx="1307" cy="2403"/>
          </a:xfrm>
        </p:grpSpPr>
        <p:sp>
          <p:nvSpPr>
            <p:cNvPr id="16420" name="Text Box 24">
              <a:extLst>
                <a:ext uri="{FF2B5EF4-FFF2-40B4-BE49-F238E27FC236}">
                  <a16:creationId xmlns:a16="http://schemas.microsoft.com/office/drawing/2014/main" id="{7D70C900-8F46-4CF7-B906-EC4EEE3B67A0}"/>
                </a:ext>
              </a:extLst>
            </p:cNvPr>
            <p:cNvSpPr txBox="1">
              <a:spLocks noChangeArrowheads="1"/>
            </p:cNvSpPr>
            <p:nvPr/>
          </p:nvSpPr>
          <p:spPr bwMode="auto">
            <a:xfrm>
              <a:off x="4272" y="1259"/>
              <a:ext cx="62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1</a:t>
              </a:r>
              <a:r>
                <a:rPr lang="en-US" altLang="zh-CN" sz="2400"/>
                <a:t>=80</a:t>
              </a:r>
            </a:p>
          </p:txBody>
        </p:sp>
        <p:sp>
          <p:nvSpPr>
            <p:cNvPr id="16421" name="Text Box 25">
              <a:extLst>
                <a:ext uri="{FF2B5EF4-FFF2-40B4-BE49-F238E27FC236}">
                  <a16:creationId xmlns:a16="http://schemas.microsoft.com/office/drawing/2014/main" id="{585B47C1-7448-41C6-BC71-CA31B0CB72C0}"/>
                </a:ext>
              </a:extLst>
            </p:cNvPr>
            <p:cNvSpPr txBox="1">
              <a:spLocks noChangeArrowheads="1"/>
            </p:cNvSpPr>
            <p:nvPr/>
          </p:nvSpPr>
          <p:spPr bwMode="auto">
            <a:xfrm>
              <a:off x="4272" y="1979"/>
              <a:ext cx="62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2</a:t>
              </a:r>
              <a:r>
                <a:rPr lang="en-US" altLang="zh-CN" sz="2400"/>
                <a:t>=65</a:t>
              </a:r>
            </a:p>
          </p:txBody>
        </p:sp>
        <p:sp>
          <p:nvSpPr>
            <p:cNvPr id="16422" name="Text Box 26">
              <a:extLst>
                <a:ext uri="{FF2B5EF4-FFF2-40B4-BE49-F238E27FC236}">
                  <a16:creationId xmlns:a16="http://schemas.microsoft.com/office/drawing/2014/main" id="{174C92E5-3005-438F-98DA-DA5CBA480325}"/>
                </a:ext>
              </a:extLst>
            </p:cNvPr>
            <p:cNvSpPr txBox="1">
              <a:spLocks noChangeArrowheads="1"/>
            </p:cNvSpPr>
            <p:nvPr/>
          </p:nvSpPr>
          <p:spPr bwMode="auto">
            <a:xfrm>
              <a:off x="4320" y="2651"/>
              <a:ext cx="67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3</a:t>
              </a:r>
              <a:r>
                <a:rPr lang="en-US" altLang="zh-CN" sz="2400"/>
                <a:t>=70</a:t>
              </a:r>
            </a:p>
          </p:txBody>
        </p:sp>
        <p:sp>
          <p:nvSpPr>
            <p:cNvPr id="16423" name="Text Box 27">
              <a:extLst>
                <a:ext uri="{FF2B5EF4-FFF2-40B4-BE49-F238E27FC236}">
                  <a16:creationId xmlns:a16="http://schemas.microsoft.com/office/drawing/2014/main" id="{BB7152AE-F7D2-4B24-AE79-87C37EDA0C51}"/>
                </a:ext>
              </a:extLst>
            </p:cNvPr>
            <p:cNvSpPr txBox="1">
              <a:spLocks noChangeArrowheads="1"/>
            </p:cNvSpPr>
            <p:nvPr/>
          </p:nvSpPr>
          <p:spPr bwMode="auto">
            <a:xfrm>
              <a:off x="4320" y="3371"/>
              <a:ext cx="62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4</a:t>
              </a:r>
              <a:r>
                <a:rPr lang="en-US" altLang="zh-CN" sz="2400"/>
                <a:t>=85</a:t>
              </a:r>
            </a:p>
          </p:txBody>
        </p:sp>
        <p:grpSp>
          <p:nvGrpSpPr>
            <p:cNvPr id="16424" name="Group 38">
              <a:extLst>
                <a:ext uri="{FF2B5EF4-FFF2-40B4-BE49-F238E27FC236}">
                  <a16:creationId xmlns:a16="http://schemas.microsoft.com/office/drawing/2014/main" id="{8B77655E-2194-4FEF-A7C8-0FF5B3AEEBB9}"/>
                </a:ext>
              </a:extLst>
            </p:cNvPr>
            <p:cNvGrpSpPr>
              <a:grpSpLocks/>
            </p:cNvGrpSpPr>
            <p:nvPr/>
          </p:nvGrpSpPr>
          <p:grpSpPr bwMode="auto">
            <a:xfrm>
              <a:off x="4896" y="1405"/>
              <a:ext cx="683" cy="2111"/>
              <a:chOff x="4896" y="1394"/>
              <a:chExt cx="683" cy="2111"/>
            </a:xfrm>
          </p:grpSpPr>
          <p:sp>
            <p:nvSpPr>
              <p:cNvPr id="16425" name="Text Box 39">
                <a:extLst>
                  <a:ext uri="{FF2B5EF4-FFF2-40B4-BE49-F238E27FC236}">
                    <a16:creationId xmlns:a16="http://schemas.microsoft.com/office/drawing/2014/main" id="{D86CF359-AABF-47AC-9F4D-8A38E1876B23}"/>
                  </a:ext>
                </a:extLst>
              </p:cNvPr>
              <p:cNvSpPr txBox="1">
                <a:spLocks noChangeArrowheads="1"/>
              </p:cNvSpPr>
              <p:nvPr/>
            </p:nvSpPr>
            <p:spPr bwMode="auto">
              <a:xfrm>
                <a:off x="5230" y="1635"/>
                <a:ext cx="349" cy="133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vert="eaVert">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需求量 </a:t>
                </a:r>
                <a:r>
                  <a:rPr lang="en-US" altLang="zh-CN" sz="2400"/>
                  <a:t>(</a:t>
                </a:r>
                <a:r>
                  <a:rPr lang="zh-CN" altLang="en-US" sz="2400"/>
                  <a:t>销量</a:t>
                </a:r>
                <a:r>
                  <a:rPr lang="en-US" altLang="zh-CN" sz="2400"/>
                  <a:t>)</a:t>
                </a:r>
                <a:endParaRPr lang="zh-CN" altLang="en-US" sz="2400"/>
              </a:p>
            </p:txBody>
          </p:sp>
          <p:cxnSp>
            <p:nvCxnSpPr>
              <p:cNvPr id="16426" name="AutoShape 40">
                <a:extLst>
                  <a:ext uri="{FF2B5EF4-FFF2-40B4-BE49-F238E27FC236}">
                    <a16:creationId xmlns:a16="http://schemas.microsoft.com/office/drawing/2014/main" id="{4B740D7B-88A0-487A-A174-EA3FB73DB4E5}"/>
                  </a:ext>
                </a:extLst>
              </p:cNvPr>
              <p:cNvCxnSpPr>
                <a:cxnSpLocks noChangeShapeType="1"/>
                <a:stCxn id="16425" idx="1"/>
                <a:endCxn id="16420" idx="3"/>
              </p:cNvCxnSpPr>
              <p:nvPr/>
            </p:nvCxnSpPr>
            <p:spPr bwMode="auto">
              <a:xfrm rot="10800000">
                <a:off x="4896" y="1394"/>
                <a:ext cx="334" cy="907"/>
              </a:xfrm>
              <a:prstGeom prst="bentConnector3">
                <a:avLst>
                  <a:gd name="adj1" fmla="val 50000"/>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6427" name="AutoShape 41">
                <a:extLst>
                  <a:ext uri="{FF2B5EF4-FFF2-40B4-BE49-F238E27FC236}">
                    <a16:creationId xmlns:a16="http://schemas.microsoft.com/office/drawing/2014/main" id="{DE5514D5-E42D-4989-829C-766452C7F18D}"/>
                  </a:ext>
                </a:extLst>
              </p:cNvPr>
              <p:cNvCxnSpPr>
                <a:cxnSpLocks noChangeShapeType="1"/>
                <a:stCxn id="16425" idx="1"/>
                <a:endCxn id="16421" idx="3"/>
              </p:cNvCxnSpPr>
              <p:nvPr/>
            </p:nvCxnSpPr>
            <p:spPr bwMode="auto">
              <a:xfrm rot="10800000">
                <a:off x="4896" y="2114"/>
                <a:ext cx="334" cy="187"/>
              </a:xfrm>
              <a:prstGeom prst="bentConnector3">
                <a:avLst>
                  <a:gd name="adj1" fmla="val 50000"/>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6428" name="AutoShape 42">
                <a:extLst>
                  <a:ext uri="{FF2B5EF4-FFF2-40B4-BE49-F238E27FC236}">
                    <a16:creationId xmlns:a16="http://schemas.microsoft.com/office/drawing/2014/main" id="{31331EFF-7DFD-4CA3-90F5-B89F4443E4A4}"/>
                  </a:ext>
                </a:extLst>
              </p:cNvPr>
              <p:cNvCxnSpPr>
                <a:cxnSpLocks noChangeShapeType="1"/>
                <a:stCxn id="16425" idx="1"/>
                <a:endCxn id="16422" idx="3"/>
              </p:cNvCxnSpPr>
              <p:nvPr/>
            </p:nvCxnSpPr>
            <p:spPr bwMode="auto">
              <a:xfrm rot="10800000" flipV="1">
                <a:off x="4992" y="2300"/>
                <a:ext cx="238" cy="485"/>
              </a:xfrm>
              <a:prstGeom prst="bentConnector3">
                <a:avLst>
                  <a:gd name="adj1" fmla="val 50000"/>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6429" name="AutoShape 43">
                <a:extLst>
                  <a:ext uri="{FF2B5EF4-FFF2-40B4-BE49-F238E27FC236}">
                    <a16:creationId xmlns:a16="http://schemas.microsoft.com/office/drawing/2014/main" id="{452B9E86-8DD5-475C-9013-65125193B0E8}"/>
                  </a:ext>
                </a:extLst>
              </p:cNvPr>
              <p:cNvCxnSpPr>
                <a:cxnSpLocks noChangeShapeType="1"/>
                <a:stCxn id="16425" idx="1"/>
                <a:endCxn id="16423" idx="3"/>
              </p:cNvCxnSpPr>
              <p:nvPr/>
            </p:nvCxnSpPr>
            <p:spPr bwMode="auto">
              <a:xfrm rot="10800000" flipV="1">
                <a:off x="4944" y="2300"/>
                <a:ext cx="286" cy="1205"/>
              </a:xfrm>
              <a:prstGeom prst="bentConnector3">
                <a:avLst>
                  <a:gd name="adj1" fmla="val 50000"/>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grpSp>
      </p:grpSp>
      <p:sp>
        <p:nvSpPr>
          <p:cNvPr id="38" name="Text Box 44">
            <a:extLst>
              <a:ext uri="{FF2B5EF4-FFF2-40B4-BE49-F238E27FC236}">
                <a16:creationId xmlns:a16="http://schemas.microsoft.com/office/drawing/2014/main" id="{943F730E-2FFA-4C89-8420-B363220DACE5}"/>
              </a:ext>
            </a:extLst>
          </p:cNvPr>
          <p:cNvSpPr txBox="1">
            <a:spLocks noChangeArrowheads="1"/>
          </p:cNvSpPr>
          <p:nvPr/>
        </p:nvSpPr>
        <p:spPr bwMode="auto">
          <a:xfrm>
            <a:off x="5867400" y="685800"/>
            <a:ext cx="1219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需求地</a:t>
            </a:r>
            <a:endParaRPr lang="en-US" altLang="zh-CN" sz="2400"/>
          </a:p>
          <a:p>
            <a:pPr algn="ctr" eaLnBrk="1" hangingPunct="1"/>
            <a:r>
              <a:rPr lang="en-US" altLang="zh-CN" sz="2400"/>
              <a:t>(</a:t>
            </a:r>
            <a:r>
              <a:rPr lang="zh-CN" altLang="en-US" sz="2400"/>
              <a:t>销地</a:t>
            </a:r>
            <a:r>
              <a:rPr lang="en-US" altLang="zh-CN" sz="2400"/>
              <a:t>)</a:t>
            </a:r>
            <a:endParaRPr lang="zh-CN" altLang="en-US" sz="2400"/>
          </a:p>
        </p:txBody>
      </p:sp>
      <p:grpSp>
        <p:nvGrpSpPr>
          <p:cNvPr id="9" name="Group 64">
            <a:extLst>
              <a:ext uri="{FF2B5EF4-FFF2-40B4-BE49-F238E27FC236}">
                <a16:creationId xmlns:a16="http://schemas.microsoft.com/office/drawing/2014/main" id="{3113C365-000F-4B20-853A-F2CCA4BC3DA3}"/>
              </a:ext>
            </a:extLst>
          </p:cNvPr>
          <p:cNvGrpSpPr>
            <a:grpSpLocks/>
          </p:cNvGrpSpPr>
          <p:nvPr/>
        </p:nvGrpSpPr>
        <p:grpSpPr bwMode="auto">
          <a:xfrm>
            <a:off x="2916238" y="1824038"/>
            <a:ext cx="3429000" cy="3352800"/>
            <a:chOff x="1824" y="1403"/>
            <a:chExt cx="2160" cy="2112"/>
          </a:xfrm>
        </p:grpSpPr>
        <p:sp>
          <p:nvSpPr>
            <p:cNvPr id="16395" name="Line 14">
              <a:extLst>
                <a:ext uri="{FF2B5EF4-FFF2-40B4-BE49-F238E27FC236}">
                  <a16:creationId xmlns:a16="http://schemas.microsoft.com/office/drawing/2014/main" id="{04D86323-A881-40B9-9F98-FEE7462CF663}"/>
                </a:ext>
              </a:extLst>
            </p:cNvPr>
            <p:cNvSpPr>
              <a:spLocks noChangeShapeType="1"/>
            </p:cNvSpPr>
            <p:nvPr/>
          </p:nvSpPr>
          <p:spPr bwMode="auto">
            <a:xfrm flipV="1">
              <a:off x="1824" y="1451"/>
              <a:ext cx="2112" cy="8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396" name="Group 63">
              <a:extLst>
                <a:ext uri="{FF2B5EF4-FFF2-40B4-BE49-F238E27FC236}">
                  <a16:creationId xmlns:a16="http://schemas.microsoft.com/office/drawing/2014/main" id="{C3F68A15-FFE9-4316-BA68-D1BEE6A98C77}"/>
                </a:ext>
              </a:extLst>
            </p:cNvPr>
            <p:cNvGrpSpPr>
              <a:grpSpLocks/>
            </p:cNvGrpSpPr>
            <p:nvPr/>
          </p:nvGrpSpPr>
          <p:grpSpPr bwMode="auto">
            <a:xfrm>
              <a:off x="1824" y="1403"/>
              <a:ext cx="2160" cy="2112"/>
              <a:chOff x="1824" y="1403"/>
              <a:chExt cx="2160" cy="2112"/>
            </a:xfrm>
          </p:grpSpPr>
          <p:sp>
            <p:nvSpPr>
              <p:cNvPr id="16397" name="Line 10">
                <a:extLst>
                  <a:ext uri="{FF2B5EF4-FFF2-40B4-BE49-F238E27FC236}">
                    <a16:creationId xmlns:a16="http://schemas.microsoft.com/office/drawing/2014/main" id="{2B05BD77-B766-4AE9-88AE-A65D04F1BA1A}"/>
                  </a:ext>
                </a:extLst>
              </p:cNvPr>
              <p:cNvSpPr>
                <a:spLocks noChangeShapeType="1"/>
              </p:cNvSpPr>
              <p:nvPr/>
            </p:nvSpPr>
            <p:spPr bwMode="auto">
              <a:xfrm flipV="1">
                <a:off x="1872" y="1403"/>
                <a:ext cx="2064" cy="2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398" name="Line 11">
                <a:extLst>
                  <a:ext uri="{FF2B5EF4-FFF2-40B4-BE49-F238E27FC236}">
                    <a16:creationId xmlns:a16="http://schemas.microsoft.com/office/drawing/2014/main" id="{9D9ABA81-975C-45E6-9084-366E94CE7B55}"/>
                  </a:ext>
                </a:extLst>
              </p:cNvPr>
              <p:cNvSpPr>
                <a:spLocks noChangeShapeType="1"/>
              </p:cNvSpPr>
              <p:nvPr/>
            </p:nvSpPr>
            <p:spPr bwMode="auto">
              <a:xfrm>
                <a:off x="1872" y="1691"/>
                <a:ext cx="2064"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399" name="Line 12">
                <a:extLst>
                  <a:ext uri="{FF2B5EF4-FFF2-40B4-BE49-F238E27FC236}">
                    <a16:creationId xmlns:a16="http://schemas.microsoft.com/office/drawing/2014/main" id="{4E3B258A-7F8D-481A-ADF2-E3A6E79AB13F}"/>
                  </a:ext>
                </a:extLst>
              </p:cNvPr>
              <p:cNvSpPr>
                <a:spLocks noChangeShapeType="1"/>
              </p:cNvSpPr>
              <p:nvPr/>
            </p:nvSpPr>
            <p:spPr bwMode="auto">
              <a:xfrm>
                <a:off x="1872" y="1787"/>
                <a:ext cx="2064" cy="9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0" name="Line 13">
                <a:extLst>
                  <a:ext uri="{FF2B5EF4-FFF2-40B4-BE49-F238E27FC236}">
                    <a16:creationId xmlns:a16="http://schemas.microsoft.com/office/drawing/2014/main" id="{C11F6BC3-A777-41A3-A8D7-0042F15D5F6E}"/>
                  </a:ext>
                </a:extLst>
              </p:cNvPr>
              <p:cNvSpPr>
                <a:spLocks noChangeShapeType="1"/>
              </p:cNvSpPr>
              <p:nvPr/>
            </p:nvSpPr>
            <p:spPr bwMode="auto">
              <a:xfrm>
                <a:off x="1824" y="1835"/>
                <a:ext cx="2160" cy="15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1" name="Line 15">
                <a:extLst>
                  <a:ext uri="{FF2B5EF4-FFF2-40B4-BE49-F238E27FC236}">
                    <a16:creationId xmlns:a16="http://schemas.microsoft.com/office/drawing/2014/main" id="{B6236C3E-BBDF-4C1D-AC55-56A97365CCAB}"/>
                  </a:ext>
                </a:extLst>
              </p:cNvPr>
              <p:cNvSpPr>
                <a:spLocks noChangeShapeType="1"/>
              </p:cNvSpPr>
              <p:nvPr/>
            </p:nvSpPr>
            <p:spPr bwMode="auto">
              <a:xfrm flipV="1">
                <a:off x="1872" y="2171"/>
                <a:ext cx="206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2" name="Line 16">
                <a:extLst>
                  <a:ext uri="{FF2B5EF4-FFF2-40B4-BE49-F238E27FC236}">
                    <a16:creationId xmlns:a16="http://schemas.microsoft.com/office/drawing/2014/main" id="{1E6C0D89-F84F-43CB-9764-66E13423ABE3}"/>
                  </a:ext>
                </a:extLst>
              </p:cNvPr>
              <p:cNvSpPr>
                <a:spLocks noChangeShapeType="1"/>
              </p:cNvSpPr>
              <p:nvPr/>
            </p:nvSpPr>
            <p:spPr bwMode="auto">
              <a:xfrm>
                <a:off x="1872" y="2459"/>
                <a:ext cx="2064" cy="3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3" name="Line 17">
                <a:extLst>
                  <a:ext uri="{FF2B5EF4-FFF2-40B4-BE49-F238E27FC236}">
                    <a16:creationId xmlns:a16="http://schemas.microsoft.com/office/drawing/2014/main" id="{F6DC9B16-77AC-46D9-882F-1C140C1B6521}"/>
                  </a:ext>
                </a:extLst>
              </p:cNvPr>
              <p:cNvSpPr>
                <a:spLocks noChangeShapeType="1"/>
              </p:cNvSpPr>
              <p:nvPr/>
            </p:nvSpPr>
            <p:spPr bwMode="auto">
              <a:xfrm>
                <a:off x="1824" y="2507"/>
                <a:ext cx="2112" cy="9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4" name="Line 18">
                <a:extLst>
                  <a:ext uri="{FF2B5EF4-FFF2-40B4-BE49-F238E27FC236}">
                    <a16:creationId xmlns:a16="http://schemas.microsoft.com/office/drawing/2014/main" id="{03F90036-38AF-4EA3-A5C4-18D6196C4321}"/>
                  </a:ext>
                </a:extLst>
              </p:cNvPr>
              <p:cNvSpPr>
                <a:spLocks noChangeShapeType="1"/>
              </p:cNvSpPr>
              <p:nvPr/>
            </p:nvSpPr>
            <p:spPr bwMode="auto">
              <a:xfrm flipV="1">
                <a:off x="1824" y="1499"/>
                <a:ext cx="2160" cy="14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5" name="Line 19">
                <a:extLst>
                  <a:ext uri="{FF2B5EF4-FFF2-40B4-BE49-F238E27FC236}">
                    <a16:creationId xmlns:a16="http://schemas.microsoft.com/office/drawing/2014/main" id="{34E90E7D-478A-4365-ACA6-06A0574ED485}"/>
                  </a:ext>
                </a:extLst>
              </p:cNvPr>
              <p:cNvSpPr>
                <a:spLocks noChangeShapeType="1"/>
              </p:cNvSpPr>
              <p:nvPr/>
            </p:nvSpPr>
            <p:spPr bwMode="auto">
              <a:xfrm flipV="1">
                <a:off x="1872" y="2219"/>
                <a:ext cx="2112" cy="8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6" name="Line 20">
                <a:extLst>
                  <a:ext uri="{FF2B5EF4-FFF2-40B4-BE49-F238E27FC236}">
                    <a16:creationId xmlns:a16="http://schemas.microsoft.com/office/drawing/2014/main" id="{58E2DD1B-B7FD-46C3-A1B6-BBA7A8748323}"/>
                  </a:ext>
                </a:extLst>
              </p:cNvPr>
              <p:cNvSpPr>
                <a:spLocks noChangeShapeType="1"/>
              </p:cNvSpPr>
              <p:nvPr/>
            </p:nvSpPr>
            <p:spPr bwMode="auto">
              <a:xfrm flipV="1">
                <a:off x="1872" y="2843"/>
                <a:ext cx="2064" cy="2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7" name="Line 21">
                <a:extLst>
                  <a:ext uri="{FF2B5EF4-FFF2-40B4-BE49-F238E27FC236}">
                    <a16:creationId xmlns:a16="http://schemas.microsoft.com/office/drawing/2014/main" id="{DFD2A918-2982-42D2-AF45-8D645791396C}"/>
                  </a:ext>
                </a:extLst>
              </p:cNvPr>
              <p:cNvSpPr>
                <a:spLocks noChangeShapeType="1"/>
              </p:cNvSpPr>
              <p:nvPr/>
            </p:nvSpPr>
            <p:spPr bwMode="auto">
              <a:xfrm>
                <a:off x="1872" y="3131"/>
                <a:ext cx="2064"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08" name="Text Box 45">
                <a:extLst>
                  <a:ext uri="{FF2B5EF4-FFF2-40B4-BE49-F238E27FC236}">
                    <a16:creationId xmlns:a16="http://schemas.microsoft.com/office/drawing/2014/main" id="{4968BC32-B08A-47AE-ACE7-CFA461C16C42}"/>
                  </a:ext>
                </a:extLst>
              </p:cNvPr>
              <p:cNvSpPr txBox="1">
                <a:spLocks noChangeArrowheads="1"/>
              </p:cNvSpPr>
              <p:nvPr/>
            </p:nvSpPr>
            <p:spPr bwMode="auto">
              <a:xfrm>
                <a:off x="2087" y="1450"/>
                <a:ext cx="444"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464</a:t>
                </a:r>
              </a:p>
            </p:txBody>
          </p:sp>
          <p:sp>
            <p:nvSpPr>
              <p:cNvPr id="16409" name="Text Box 46">
                <a:extLst>
                  <a:ext uri="{FF2B5EF4-FFF2-40B4-BE49-F238E27FC236}">
                    <a16:creationId xmlns:a16="http://schemas.microsoft.com/office/drawing/2014/main" id="{07E7DE99-2BAD-42B4-AC84-F77D3AA34399}"/>
                  </a:ext>
                </a:extLst>
              </p:cNvPr>
              <p:cNvSpPr txBox="1">
                <a:spLocks noChangeArrowheads="1"/>
              </p:cNvSpPr>
              <p:nvPr/>
            </p:nvSpPr>
            <p:spPr bwMode="auto">
              <a:xfrm>
                <a:off x="2112" y="1595"/>
                <a:ext cx="431"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513</a:t>
                </a:r>
              </a:p>
            </p:txBody>
          </p:sp>
          <p:sp>
            <p:nvSpPr>
              <p:cNvPr id="16410" name="Text Box 47">
                <a:extLst>
                  <a:ext uri="{FF2B5EF4-FFF2-40B4-BE49-F238E27FC236}">
                    <a16:creationId xmlns:a16="http://schemas.microsoft.com/office/drawing/2014/main" id="{A053E898-1D99-42BC-A198-F3B599040561}"/>
                  </a:ext>
                </a:extLst>
              </p:cNvPr>
              <p:cNvSpPr txBox="1">
                <a:spLocks noChangeArrowheads="1"/>
              </p:cNvSpPr>
              <p:nvPr/>
            </p:nvSpPr>
            <p:spPr bwMode="auto">
              <a:xfrm>
                <a:off x="2075" y="1765"/>
                <a:ext cx="431"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654</a:t>
                </a:r>
              </a:p>
            </p:txBody>
          </p:sp>
          <p:sp>
            <p:nvSpPr>
              <p:cNvPr id="16411" name="Text Box 48">
                <a:extLst>
                  <a:ext uri="{FF2B5EF4-FFF2-40B4-BE49-F238E27FC236}">
                    <a16:creationId xmlns:a16="http://schemas.microsoft.com/office/drawing/2014/main" id="{534FBBEA-AD87-4F3C-BFB3-001C88CCA19A}"/>
                  </a:ext>
                </a:extLst>
              </p:cNvPr>
              <p:cNvSpPr txBox="1">
                <a:spLocks noChangeArrowheads="1"/>
              </p:cNvSpPr>
              <p:nvPr/>
            </p:nvSpPr>
            <p:spPr bwMode="auto">
              <a:xfrm>
                <a:off x="1959" y="1883"/>
                <a:ext cx="39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867</a:t>
                </a:r>
              </a:p>
            </p:txBody>
          </p:sp>
          <p:sp>
            <p:nvSpPr>
              <p:cNvPr id="16412" name="Text Box 49">
                <a:extLst>
                  <a:ext uri="{FF2B5EF4-FFF2-40B4-BE49-F238E27FC236}">
                    <a16:creationId xmlns:a16="http://schemas.microsoft.com/office/drawing/2014/main" id="{715D6DF5-78A5-462E-8E29-1C6AB6AD16EB}"/>
                  </a:ext>
                </a:extLst>
              </p:cNvPr>
              <p:cNvSpPr txBox="1">
                <a:spLocks noChangeArrowheads="1"/>
              </p:cNvSpPr>
              <p:nvPr/>
            </p:nvSpPr>
            <p:spPr bwMode="auto">
              <a:xfrm>
                <a:off x="1862" y="2065"/>
                <a:ext cx="39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352</a:t>
                </a:r>
              </a:p>
            </p:txBody>
          </p:sp>
          <p:sp>
            <p:nvSpPr>
              <p:cNvPr id="16413" name="Text Box 50">
                <a:extLst>
                  <a:ext uri="{FF2B5EF4-FFF2-40B4-BE49-F238E27FC236}">
                    <a16:creationId xmlns:a16="http://schemas.microsoft.com/office/drawing/2014/main" id="{C491B250-59D9-4F18-9CC3-24AC80431632}"/>
                  </a:ext>
                </a:extLst>
              </p:cNvPr>
              <p:cNvSpPr txBox="1">
                <a:spLocks noChangeArrowheads="1"/>
              </p:cNvSpPr>
              <p:nvPr/>
            </p:nvSpPr>
            <p:spPr bwMode="auto">
              <a:xfrm>
                <a:off x="1920" y="2209"/>
                <a:ext cx="39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416</a:t>
                </a:r>
              </a:p>
            </p:txBody>
          </p:sp>
          <p:sp>
            <p:nvSpPr>
              <p:cNvPr id="16414" name="Text Box 51">
                <a:extLst>
                  <a:ext uri="{FF2B5EF4-FFF2-40B4-BE49-F238E27FC236}">
                    <a16:creationId xmlns:a16="http://schemas.microsoft.com/office/drawing/2014/main" id="{F07D7492-2489-46CA-A0A9-4A7E6547CC20}"/>
                  </a:ext>
                </a:extLst>
              </p:cNvPr>
              <p:cNvSpPr txBox="1">
                <a:spLocks noChangeArrowheads="1"/>
              </p:cNvSpPr>
              <p:nvPr/>
            </p:nvSpPr>
            <p:spPr bwMode="auto">
              <a:xfrm>
                <a:off x="1934" y="2363"/>
                <a:ext cx="39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690</a:t>
                </a:r>
              </a:p>
            </p:txBody>
          </p:sp>
          <p:sp>
            <p:nvSpPr>
              <p:cNvPr id="16415" name="Text Box 52">
                <a:extLst>
                  <a:ext uri="{FF2B5EF4-FFF2-40B4-BE49-F238E27FC236}">
                    <a16:creationId xmlns:a16="http://schemas.microsoft.com/office/drawing/2014/main" id="{B4ED36C3-ACCD-4B8D-9B95-3F97DE8D1464}"/>
                  </a:ext>
                </a:extLst>
              </p:cNvPr>
              <p:cNvSpPr txBox="1">
                <a:spLocks noChangeArrowheads="1"/>
              </p:cNvSpPr>
              <p:nvPr/>
            </p:nvSpPr>
            <p:spPr bwMode="auto">
              <a:xfrm>
                <a:off x="1857" y="2507"/>
                <a:ext cx="38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791</a:t>
                </a:r>
              </a:p>
            </p:txBody>
          </p:sp>
          <p:sp>
            <p:nvSpPr>
              <p:cNvPr id="16416" name="Text Box 53">
                <a:extLst>
                  <a:ext uri="{FF2B5EF4-FFF2-40B4-BE49-F238E27FC236}">
                    <a16:creationId xmlns:a16="http://schemas.microsoft.com/office/drawing/2014/main" id="{8CF30AFA-17D8-44DC-904A-96579FFC2DB2}"/>
                  </a:ext>
                </a:extLst>
              </p:cNvPr>
              <p:cNvSpPr txBox="1">
                <a:spLocks noChangeArrowheads="1"/>
              </p:cNvSpPr>
              <p:nvPr/>
            </p:nvSpPr>
            <p:spPr bwMode="auto">
              <a:xfrm>
                <a:off x="1905" y="2651"/>
                <a:ext cx="38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995</a:t>
                </a:r>
              </a:p>
            </p:txBody>
          </p:sp>
          <p:sp>
            <p:nvSpPr>
              <p:cNvPr id="16417" name="Text Box 54">
                <a:extLst>
                  <a:ext uri="{FF2B5EF4-FFF2-40B4-BE49-F238E27FC236}">
                    <a16:creationId xmlns:a16="http://schemas.microsoft.com/office/drawing/2014/main" id="{D60D0E0A-DF6C-49E3-A953-44D7BFC0211D}"/>
                  </a:ext>
                </a:extLst>
              </p:cNvPr>
              <p:cNvSpPr txBox="1">
                <a:spLocks noChangeArrowheads="1"/>
              </p:cNvSpPr>
              <p:nvPr/>
            </p:nvSpPr>
            <p:spPr bwMode="auto">
              <a:xfrm>
                <a:off x="1905" y="2785"/>
                <a:ext cx="431"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682</a:t>
                </a:r>
              </a:p>
            </p:txBody>
          </p:sp>
          <p:sp>
            <p:nvSpPr>
              <p:cNvPr id="16418" name="Text Box 55">
                <a:extLst>
                  <a:ext uri="{FF2B5EF4-FFF2-40B4-BE49-F238E27FC236}">
                    <a16:creationId xmlns:a16="http://schemas.microsoft.com/office/drawing/2014/main" id="{43C7684D-F77A-4511-BA2C-D16C9D784503}"/>
                  </a:ext>
                </a:extLst>
              </p:cNvPr>
              <p:cNvSpPr txBox="1">
                <a:spLocks noChangeArrowheads="1"/>
              </p:cNvSpPr>
              <p:nvPr/>
            </p:nvSpPr>
            <p:spPr bwMode="auto">
              <a:xfrm>
                <a:off x="1969" y="2939"/>
                <a:ext cx="38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388</a:t>
                </a:r>
                <a:endParaRPr lang="en-US" altLang="zh-CN" sz="2400"/>
              </a:p>
            </p:txBody>
          </p:sp>
          <p:sp>
            <p:nvSpPr>
              <p:cNvPr id="16419" name="Text Box 56">
                <a:extLst>
                  <a:ext uri="{FF2B5EF4-FFF2-40B4-BE49-F238E27FC236}">
                    <a16:creationId xmlns:a16="http://schemas.microsoft.com/office/drawing/2014/main" id="{8CFBC4FC-9917-48AD-BEFF-52244F38DEA8}"/>
                  </a:ext>
                </a:extLst>
              </p:cNvPr>
              <p:cNvSpPr txBox="1">
                <a:spLocks noChangeArrowheads="1"/>
              </p:cNvSpPr>
              <p:nvPr/>
            </p:nvSpPr>
            <p:spPr bwMode="auto">
              <a:xfrm>
                <a:off x="1953" y="3131"/>
                <a:ext cx="38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a:t>685</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499"/>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utoUpdateAnimBg="0"/>
      <p:bldP spid="38"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56">
            <a:extLst>
              <a:ext uri="{FF2B5EF4-FFF2-40B4-BE49-F238E27FC236}">
                <a16:creationId xmlns:a16="http://schemas.microsoft.com/office/drawing/2014/main" id="{D784E08E-4CDE-4EED-84B8-72A5647EE67D}"/>
              </a:ext>
            </a:extLst>
          </p:cNvPr>
          <p:cNvSpPr>
            <a:spLocks noGrp="1" noChangeArrowheads="1"/>
          </p:cNvSpPr>
          <p:nvPr>
            <p:ph type="title"/>
          </p:nvPr>
        </p:nvSpPr>
        <p:spPr/>
        <p:txBody>
          <a:bodyPr/>
          <a:lstStyle/>
          <a:p>
            <a:r>
              <a:rPr lang="zh-CN" altLang="en-US"/>
              <a:t>运输表</a:t>
            </a:r>
          </a:p>
        </p:txBody>
      </p:sp>
      <p:grpSp>
        <p:nvGrpSpPr>
          <p:cNvPr id="7" name="组合 6">
            <a:extLst>
              <a:ext uri="{FF2B5EF4-FFF2-40B4-BE49-F238E27FC236}">
                <a16:creationId xmlns:a16="http://schemas.microsoft.com/office/drawing/2014/main" id="{D7CBFEC2-E1F4-4755-B108-E4E1E87F4BA6}"/>
              </a:ext>
            </a:extLst>
          </p:cNvPr>
          <p:cNvGrpSpPr>
            <a:grpSpLocks/>
          </p:cNvGrpSpPr>
          <p:nvPr/>
        </p:nvGrpSpPr>
        <p:grpSpPr bwMode="auto">
          <a:xfrm>
            <a:off x="2438400" y="477838"/>
            <a:ext cx="1643063" cy="1179512"/>
            <a:chOff x="2438400" y="478303"/>
            <a:chExt cx="1642139" cy="1178438"/>
          </a:xfrm>
        </p:grpSpPr>
        <p:sp>
          <p:nvSpPr>
            <p:cNvPr id="17413" name="矩形 1">
              <a:extLst>
                <a:ext uri="{FF2B5EF4-FFF2-40B4-BE49-F238E27FC236}">
                  <a16:creationId xmlns:a16="http://schemas.microsoft.com/office/drawing/2014/main" id="{D5410536-D0EF-4C20-B783-B3B451EBC27B}"/>
                </a:ext>
              </a:extLst>
            </p:cNvPr>
            <p:cNvSpPr>
              <a:spLocks noChangeArrowheads="1"/>
            </p:cNvSpPr>
            <p:nvPr/>
          </p:nvSpPr>
          <p:spPr bwMode="auto">
            <a:xfrm>
              <a:off x="2613471" y="478303"/>
              <a:ext cx="146706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a:t>产销平衡表</a:t>
              </a:r>
              <a:endParaRPr lang="en-US" altLang="zh-CN" sz="2000"/>
            </a:p>
          </p:txBody>
        </p:sp>
        <p:sp>
          <p:nvSpPr>
            <p:cNvPr id="17414" name="矩形 3">
              <a:extLst>
                <a:ext uri="{FF2B5EF4-FFF2-40B4-BE49-F238E27FC236}">
                  <a16:creationId xmlns:a16="http://schemas.microsoft.com/office/drawing/2014/main" id="{4B4271E5-69B8-467B-A539-D44A7678EB2F}"/>
                </a:ext>
              </a:extLst>
            </p:cNvPr>
            <p:cNvSpPr>
              <a:spLocks noChangeArrowheads="1"/>
            </p:cNvSpPr>
            <p:nvPr/>
          </p:nvSpPr>
          <p:spPr bwMode="auto">
            <a:xfrm>
              <a:off x="2613471" y="1256631"/>
              <a:ext cx="146706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a:t>单位运价表</a:t>
              </a:r>
            </a:p>
          </p:txBody>
        </p:sp>
        <p:sp>
          <p:nvSpPr>
            <p:cNvPr id="6" name="左大括号 5">
              <a:extLst>
                <a:ext uri="{FF2B5EF4-FFF2-40B4-BE49-F238E27FC236}">
                  <a16:creationId xmlns:a16="http://schemas.microsoft.com/office/drawing/2014/main" id="{696448B0-2702-4984-A57E-A535C40175EE}"/>
                </a:ext>
              </a:extLst>
            </p:cNvPr>
            <p:cNvSpPr/>
            <p:nvPr/>
          </p:nvSpPr>
          <p:spPr>
            <a:xfrm>
              <a:off x="2438400" y="678146"/>
              <a:ext cx="174527" cy="845367"/>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zh-CN" altLang="en-US">
                <a:solidFill>
                  <a:srgbClr val="FF0000"/>
                </a:solidFill>
              </a:endParaRPr>
            </a:p>
          </p:txBody>
        </p:sp>
      </p:grpSp>
      <p:graphicFrame>
        <p:nvGraphicFramePr>
          <p:cNvPr id="17412" name="Object 2">
            <a:extLst>
              <a:ext uri="{FF2B5EF4-FFF2-40B4-BE49-F238E27FC236}">
                <a16:creationId xmlns:a16="http://schemas.microsoft.com/office/drawing/2014/main" id="{F3D2962F-F613-4066-8BE8-F0C81A2F0F7B}"/>
              </a:ext>
            </a:extLst>
          </p:cNvPr>
          <p:cNvGraphicFramePr>
            <a:graphicFrameLocks noChangeAspect="1"/>
          </p:cNvGraphicFramePr>
          <p:nvPr/>
        </p:nvGraphicFramePr>
        <p:xfrm>
          <a:off x="282575" y="1917700"/>
          <a:ext cx="7575550" cy="4799013"/>
        </p:xfrm>
        <a:graphic>
          <a:graphicData uri="http://schemas.openxmlformats.org/presentationml/2006/ole">
            <mc:AlternateContent xmlns:mc="http://schemas.openxmlformats.org/markup-compatibility/2006">
              <mc:Choice xmlns:v="urn:schemas-microsoft-com:vml" Requires="v">
                <p:oleObj spid="_x0000_s17422" name="Document" r:id="rId4" imgW="4889942" imgH="3108941" progId="Word.Document.8">
                  <p:embed/>
                </p:oleObj>
              </mc:Choice>
              <mc:Fallback>
                <p:oleObj name="Document" r:id="rId4" imgW="4889942" imgH="3108941" progId="Word.Document.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2575" y="1917700"/>
                        <a:ext cx="7575550" cy="4799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B3F73A80-9CF4-425D-96ED-48DCA125DFCE}"/>
              </a:ext>
            </a:extLst>
          </p:cNvPr>
          <p:cNvSpPr>
            <a:spLocks noGrp="1" noChangeArrowheads="1"/>
          </p:cNvSpPr>
          <p:nvPr>
            <p:ph type="title"/>
          </p:nvPr>
        </p:nvSpPr>
        <p:spPr/>
        <p:txBody>
          <a:bodyPr/>
          <a:lstStyle/>
          <a:p>
            <a:pPr eaLnBrk="1" hangingPunct="1"/>
            <a:r>
              <a:rPr lang="zh-CN" altLang="en-US"/>
              <a:t>产销平衡下的数学模型</a:t>
            </a:r>
          </a:p>
        </p:txBody>
      </p:sp>
      <p:sp>
        <p:nvSpPr>
          <p:cNvPr id="19459" name="Rectangle 6">
            <a:extLst>
              <a:ext uri="{FF2B5EF4-FFF2-40B4-BE49-F238E27FC236}">
                <a16:creationId xmlns:a16="http://schemas.microsoft.com/office/drawing/2014/main" id="{58D5C041-48A7-46F9-A96E-2553F903D262}"/>
              </a:ext>
            </a:extLst>
          </p:cNvPr>
          <p:cNvSpPr>
            <a:spLocks noGrp="1" noChangeArrowheads="1"/>
          </p:cNvSpPr>
          <p:nvPr>
            <p:ph type="body" sz="half" idx="1"/>
          </p:nvPr>
        </p:nvSpPr>
        <p:spPr>
          <a:xfrm>
            <a:off x="457200" y="1143000"/>
            <a:ext cx="8382000" cy="4987925"/>
          </a:xfrm>
        </p:spPr>
        <p:txBody>
          <a:bodyPr/>
          <a:lstStyle/>
          <a:p>
            <a:pPr eaLnBrk="1" hangingPunct="1"/>
            <a:r>
              <a:rPr lang="zh-CN" altLang="en-US"/>
              <a:t>设 </a:t>
            </a:r>
            <a:r>
              <a:rPr lang="en-US" altLang="zh-CN" i="1">
                <a:latin typeface="Times New Roman" panose="02020603050405020304" pitchFamily="18" charset="0"/>
              </a:rPr>
              <a:t>x</a:t>
            </a:r>
            <a:r>
              <a:rPr lang="en-US" altLang="zh-CN" i="1" baseline="-25000">
                <a:latin typeface="Times New Roman" panose="02020603050405020304" pitchFamily="18" charset="0"/>
              </a:rPr>
              <a:t>ij</a:t>
            </a:r>
            <a:r>
              <a:rPr lang="zh-CN" altLang="en-US">
                <a:latin typeface="Times New Roman" panose="02020603050405020304" pitchFamily="18" charset="0"/>
              </a:rPr>
              <a:t>为从 </a:t>
            </a:r>
            <a:r>
              <a:rPr lang="en-US" altLang="zh-CN">
                <a:latin typeface="Times New Roman" panose="02020603050405020304" pitchFamily="18" charset="0"/>
              </a:rPr>
              <a:t>A</a:t>
            </a:r>
            <a:r>
              <a:rPr lang="en-US" altLang="zh-CN" i="1" baseline="-25000">
                <a:latin typeface="Times New Roman" panose="02020603050405020304" pitchFamily="18" charset="0"/>
              </a:rPr>
              <a:t>i </a:t>
            </a:r>
            <a:r>
              <a:rPr lang="zh-CN" altLang="en-US">
                <a:latin typeface="Times New Roman" panose="02020603050405020304" pitchFamily="18" charset="0"/>
              </a:rPr>
              <a:t>到 </a:t>
            </a:r>
            <a:r>
              <a:rPr lang="en-US" altLang="zh-CN">
                <a:latin typeface="Times New Roman" panose="02020603050405020304" pitchFamily="18" charset="0"/>
              </a:rPr>
              <a:t>B</a:t>
            </a:r>
            <a:r>
              <a:rPr lang="en-US" altLang="zh-CN" i="1" baseline="-25000">
                <a:latin typeface="Times New Roman" panose="02020603050405020304" pitchFamily="18" charset="0"/>
              </a:rPr>
              <a:t>j </a:t>
            </a:r>
            <a:r>
              <a:rPr lang="zh-CN" altLang="en-US"/>
              <a:t>的运量，建立数学模型：</a:t>
            </a:r>
          </a:p>
        </p:txBody>
      </p:sp>
      <p:graphicFrame>
        <p:nvGraphicFramePr>
          <p:cNvPr id="143364" name="Object 4">
            <a:extLst>
              <a:ext uri="{FF2B5EF4-FFF2-40B4-BE49-F238E27FC236}">
                <a16:creationId xmlns:a16="http://schemas.microsoft.com/office/drawing/2014/main" id="{3AD0E24D-7803-4FAB-AAC9-5A8E6BB745E4}"/>
              </a:ext>
            </a:extLst>
          </p:cNvPr>
          <p:cNvGraphicFramePr>
            <a:graphicFrameLocks noGrp="1" noChangeAspect="1"/>
          </p:cNvGraphicFramePr>
          <p:nvPr>
            <p:ph idx="4294967295"/>
          </p:nvPr>
        </p:nvGraphicFramePr>
        <p:xfrm>
          <a:off x="609600" y="2051050"/>
          <a:ext cx="3717925" cy="3968750"/>
        </p:xfrm>
        <a:graphic>
          <a:graphicData uri="http://schemas.openxmlformats.org/presentationml/2006/ole">
            <mc:AlternateContent xmlns:mc="http://schemas.openxmlformats.org/markup-compatibility/2006">
              <mc:Choice xmlns:v="urn:schemas-microsoft-com:vml" Requires="v">
                <p:oleObj spid="_x0000_s19490" name="公式" r:id="rId3" imgW="1498600" imgH="1600200" progId="Equation.3">
                  <p:embed/>
                </p:oleObj>
              </mc:Choice>
              <mc:Fallback>
                <p:oleObj name="公式" r:id="rId3" imgW="1498600" imgH="16002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2051050"/>
                        <a:ext cx="3717925" cy="3968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 name="组合 10">
            <a:extLst>
              <a:ext uri="{FF2B5EF4-FFF2-40B4-BE49-F238E27FC236}">
                <a16:creationId xmlns:a16="http://schemas.microsoft.com/office/drawing/2014/main" id="{4D53A84F-8455-4FFF-AAFA-7DA3723DCDEC}"/>
              </a:ext>
            </a:extLst>
          </p:cNvPr>
          <p:cNvGrpSpPr>
            <a:grpSpLocks/>
          </p:cNvGrpSpPr>
          <p:nvPr/>
        </p:nvGrpSpPr>
        <p:grpSpPr bwMode="auto">
          <a:xfrm>
            <a:off x="2209800" y="2398713"/>
            <a:ext cx="6680200" cy="1085850"/>
            <a:chOff x="2209800" y="2398562"/>
            <a:chExt cx="6680080" cy="1086685"/>
          </a:xfrm>
        </p:grpSpPr>
        <p:sp>
          <p:nvSpPr>
            <p:cNvPr id="19476" name="矩形 1">
              <a:extLst>
                <a:ext uri="{FF2B5EF4-FFF2-40B4-BE49-F238E27FC236}">
                  <a16:creationId xmlns:a16="http://schemas.microsoft.com/office/drawing/2014/main" id="{190E5002-9006-4A01-8D83-7993DAFE556C}"/>
                </a:ext>
              </a:extLst>
            </p:cNvPr>
            <p:cNvSpPr>
              <a:spLocks noChangeArrowheads="1"/>
            </p:cNvSpPr>
            <p:nvPr/>
          </p:nvSpPr>
          <p:spPr bwMode="auto">
            <a:xfrm>
              <a:off x="4587240" y="2398562"/>
              <a:ext cx="4302640" cy="923330"/>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b="1">
                  <a:solidFill>
                    <a:srgbClr val="FF00FF"/>
                  </a:solidFill>
                  <a:latin typeface="Times New Roman" panose="02020603050405020304" pitchFamily="18" charset="0"/>
                </a:rPr>
                <a:t>销量平衡方程：</a:t>
              </a:r>
              <a:r>
                <a:rPr lang="en-US" altLang="zh-CN" b="1">
                  <a:solidFill>
                    <a:srgbClr val="FF00FF"/>
                  </a:solidFill>
                  <a:latin typeface="Times New Roman" panose="02020603050405020304" pitchFamily="18" charset="0"/>
                </a:rPr>
                <a:t>B</a:t>
              </a:r>
              <a:r>
                <a:rPr lang="en-US" altLang="zh-CN" b="1" i="1" baseline="-25000">
                  <a:solidFill>
                    <a:srgbClr val="FF00FF"/>
                  </a:solidFill>
                  <a:latin typeface="Times New Roman" panose="02020603050405020304" pitchFamily="18" charset="0"/>
                </a:rPr>
                <a:t>j</a:t>
              </a:r>
              <a:r>
                <a:rPr lang="zh-CN" altLang="en-US" b="1">
                  <a:solidFill>
                    <a:srgbClr val="FF00FF"/>
                  </a:solidFill>
                  <a:latin typeface="Times New Roman" panose="02020603050405020304" pitchFamily="18" charset="0"/>
                </a:rPr>
                <a:t>的需求全部得到满足；</a:t>
              </a:r>
            </a:p>
            <a:p>
              <a:pPr eaLnBrk="1" hangingPunct="1"/>
              <a:r>
                <a:rPr lang="zh-CN" altLang="zh-CN">
                  <a:solidFill>
                    <a:srgbClr val="FF00FF"/>
                  </a:solidFill>
                  <a:latin typeface="Times New Roman" panose="02020603050405020304" pitchFamily="18" charset="0"/>
                </a:rPr>
                <a:t>由各产地</a:t>
              </a:r>
              <a:r>
                <a:rPr lang="en-US" altLang="zh-CN">
                  <a:solidFill>
                    <a:srgbClr val="FF00FF"/>
                  </a:solidFill>
                  <a:latin typeface="Times New Roman" panose="02020603050405020304" pitchFamily="18" charset="0"/>
                </a:rPr>
                <a:t>(A</a:t>
              </a:r>
              <a:r>
                <a:rPr lang="en-US" altLang="zh-CN" baseline="-25000">
                  <a:solidFill>
                    <a:srgbClr val="FF00FF"/>
                  </a:solidFill>
                  <a:latin typeface="Times New Roman" panose="02020603050405020304" pitchFamily="18" charset="0"/>
                </a:rPr>
                <a:t>1</a:t>
              </a:r>
              <a:r>
                <a:rPr lang="en-US" altLang="zh-CN">
                  <a:solidFill>
                    <a:srgbClr val="FF00FF"/>
                  </a:solidFill>
                  <a:latin typeface="Times New Roman" panose="02020603050405020304" pitchFamily="18" charset="0"/>
                </a:rPr>
                <a:t>,…,A</a:t>
              </a:r>
              <a:r>
                <a:rPr lang="en-US" altLang="zh-CN" i="1" baseline="-25000">
                  <a:solidFill>
                    <a:srgbClr val="FF00FF"/>
                  </a:solidFill>
                  <a:latin typeface="Times New Roman" panose="02020603050405020304" pitchFamily="18" charset="0"/>
                </a:rPr>
                <a:t>m</a:t>
              </a:r>
              <a:r>
                <a:rPr lang="en-US" altLang="zh-CN">
                  <a:solidFill>
                    <a:srgbClr val="FF00FF"/>
                  </a:solidFill>
                  <a:latin typeface="Times New Roman" panose="02020603050405020304" pitchFamily="18" charset="0"/>
                </a:rPr>
                <a:t>)</a:t>
              </a:r>
              <a:r>
                <a:rPr lang="zh-CN" altLang="zh-CN">
                  <a:solidFill>
                    <a:srgbClr val="FF00FF"/>
                  </a:solidFill>
                  <a:latin typeface="Times New Roman" panose="02020603050405020304" pitchFamily="18" charset="0"/>
                </a:rPr>
                <a:t>运往某一销地</a:t>
              </a:r>
              <a:r>
                <a:rPr lang="en-US" altLang="zh-CN">
                  <a:solidFill>
                    <a:srgbClr val="FF00FF"/>
                  </a:solidFill>
                  <a:latin typeface="Times New Roman" panose="02020603050405020304" pitchFamily="18" charset="0"/>
                </a:rPr>
                <a:t>B</a:t>
              </a:r>
              <a:r>
                <a:rPr lang="en-US" altLang="zh-CN" i="1" baseline="-25000">
                  <a:solidFill>
                    <a:srgbClr val="FF00FF"/>
                  </a:solidFill>
                  <a:latin typeface="Times New Roman" panose="02020603050405020304" pitchFamily="18" charset="0"/>
                </a:rPr>
                <a:t>j</a:t>
              </a:r>
              <a:r>
                <a:rPr lang="zh-CN" altLang="zh-CN">
                  <a:solidFill>
                    <a:srgbClr val="FF00FF"/>
                  </a:solidFill>
                  <a:latin typeface="Times New Roman" panose="02020603050405020304" pitchFamily="18" charset="0"/>
                </a:rPr>
                <a:t>的物品数量之和等于该销地</a:t>
              </a:r>
              <a:r>
                <a:rPr lang="en-US" altLang="zh-CN">
                  <a:solidFill>
                    <a:srgbClr val="FF00FF"/>
                  </a:solidFill>
                  <a:latin typeface="Times New Roman" panose="02020603050405020304" pitchFamily="18" charset="0"/>
                </a:rPr>
                <a:t>B</a:t>
              </a:r>
              <a:r>
                <a:rPr lang="en-US" altLang="zh-CN" i="1" baseline="-25000">
                  <a:solidFill>
                    <a:srgbClr val="FF00FF"/>
                  </a:solidFill>
                  <a:latin typeface="Times New Roman" panose="02020603050405020304" pitchFamily="18" charset="0"/>
                </a:rPr>
                <a:t>j</a:t>
              </a:r>
              <a:r>
                <a:rPr lang="zh-CN" altLang="zh-CN">
                  <a:solidFill>
                    <a:srgbClr val="FF00FF"/>
                  </a:solidFill>
                  <a:latin typeface="Times New Roman" panose="02020603050405020304" pitchFamily="18" charset="0"/>
                </a:rPr>
                <a:t>的销量</a:t>
              </a:r>
              <a:r>
                <a:rPr lang="zh-CN" altLang="en-US">
                  <a:solidFill>
                    <a:srgbClr val="FF00FF"/>
                  </a:solidFill>
                  <a:latin typeface="Times New Roman" panose="02020603050405020304" pitchFamily="18" charset="0"/>
                </a:rPr>
                <a:t>。</a:t>
              </a:r>
              <a:endParaRPr lang="en-US" altLang="zh-CN">
                <a:solidFill>
                  <a:srgbClr val="FF00FF"/>
                </a:solidFill>
                <a:latin typeface="Times New Roman" panose="02020603050405020304" pitchFamily="18" charset="0"/>
              </a:endParaRPr>
            </a:p>
          </p:txBody>
        </p:sp>
        <p:cxnSp>
          <p:nvCxnSpPr>
            <p:cNvPr id="8" name="直接箭头连接符 7">
              <a:extLst>
                <a:ext uri="{FF2B5EF4-FFF2-40B4-BE49-F238E27FC236}">
                  <a16:creationId xmlns:a16="http://schemas.microsoft.com/office/drawing/2014/main" id="{A31FD524-9A34-4918-BC75-7AB736EBBB89}"/>
                </a:ext>
              </a:extLst>
            </p:cNvPr>
            <p:cNvCxnSpPr/>
            <p:nvPr/>
          </p:nvCxnSpPr>
          <p:spPr>
            <a:xfrm flipV="1">
              <a:off x="2209800" y="2895831"/>
              <a:ext cx="2354221" cy="589416"/>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37F43D82-742D-4CE4-9BD2-526172CFA028}"/>
              </a:ext>
            </a:extLst>
          </p:cNvPr>
          <p:cNvGrpSpPr>
            <a:grpSpLocks/>
          </p:cNvGrpSpPr>
          <p:nvPr/>
        </p:nvGrpSpPr>
        <p:grpSpPr bwMode="auto">
          <a:xfrm>
            <a:off x="2209800" y="5075238"/>
            <a:ext cx="6705600" cy="1096962"/>
            <a:chOff x="2209800" y="4893707"/>
            <a:chExt cx="6705917" cy="1097647"/>
          </a:xfrm>
        </p:grpSpPr>
        <p:sp>
          <p:nvSpPr>
            <p:cNvPr id="19474" name="矩形 5">
              <a:extLst>
                <a:ext uri="{FF2B5EF4-FFF2-40B4-BE49-F238E27FC236}">
                  <a16:creationId xmlns:a16="http://schemas.microsoft.com/office/drawing/2014/main" id="{4DCE68B8-3328-4288-BB8E-7E831C945143}"/>
                </a:ext>
              </a:extLst>
            </p:cNvPr>
            <p:cNvSpPr>
              <a:spLocks noChangeArrowheads="1"/>
            </p:cNvSpPr>
            <p:nvPr/>
          </p:nvSpPr>
          <p:spPr bwMode="auto">
            <a:xfrm>
              <a:off x="4556442" y="5068024"/>
              <a:ext cx="4359275" cy="923330"/>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b="1">
                  <a:solidFill>
                    <a:srgbClr val="FF00FF"/>
                  </a:solidFill>
                  <a:latin typeface="Times New Roman" panose="02020603050405020304" pitchFamily="18" charset="0"/>
                </a:rPr>
                <a:t>产量平衡方程：</a:t>
              </a:r>
              <a:r>
                <a:rPr lang="en-US" altLang="zh-CN" b="1">
                  <a:solidFill>
                    <a:srgbClr val="FF00FF"/>
                  </a:solidFill>
                  <a:latin typeface="Times New Roman" panose="02020603050405020304" pitchFamily="18" charset="0"/>
                </a:rPr>
                <a:t>A</a:t>
              </a:r>
              <a:r>
                <a:rPr lang="en-US" altLang="zh-CN" b="1" i="1" baseline="-25000">
                  <a:solidFill>
                    <a:srgbClr val="FF00FF"/>
                  </a:solidFill>
                  <a:latin typeface="Times New Roman" panose="02020603050405020304" pitchFamily="18" charset="0"/>
                </a:rPr>
                <a:t>i</a:t>
              </a:r>
              <a:r>
                <a:rPr lang="zh-CN" altLang="en-US" b="1">
                  <a:solidFill>
                    <a:srgbClr val="FF00FF"/>
                  </a:solidFill>
                  <a:latin typeface="Times New Roman" panose="02020603050405020304" pitchFamily="18" charset="0"/>
                </a:rPr>
                <a:t>的产品全部供应出去；</a:t>
              </a:r>
              <a:endParaRPr lang="en-US" altLang="zh-CN" b="1">
                <a:solidFill>
                  <a:srgbClr val="FF00FF"/>
                </a:solidFill>
                <a:latin typeface="Times New Roman" panose="02020603050405020304" pitchFamily="18" charset="0"/>
              </a:endParaRPr>
            </a:p>
            <a:p>
              <a:pPr eaLnBrk="1" hangingPunct="1"/>
              <a:r>
                <a:rPr lang="zh-CN" altLang="zh-CN">
                  <a:solidFill>
                    <a:srgbClr val="FF00FF"/>
                  </a:solidFill>
                  <a:latin typeface="Times New Roman" panose="02020603050405020304" pitchFamily="18" charset="0"/>
                </a:rPr>
                <a:t>由某一产地</a:t>
              </a:r>
              <a:r>
                <a:rPr lang="en-US" altLang="zh-CN">
                  <a:solidFill>
                    <a:srgbClr val="FF00FF"/>
                  </a:solidFill>
                  <a:latin typeface="Times New Roman" panose="02020603050405020304" pitchFamily="18" charset="0"/>
                </a:rPr>
                <a:t>A</a:t>
              </a:r>
              <a:r>
                <a:rPr lang="en-US" altLang="zh-CN" i="1" baseline="-25000">
                  <a:solidFill>
                    <a:srgbClr val="FF00FF"/>
                  </a:solidFill>
                  <a:latin typeface="Times New Roman" panose="02020603050405020304" pitchFamily="18" charset="0"/>
                </a:rPr>
                <a:t>i</a:t>
              </a:r>
              <a:r>
                <a:rPr lang="zh-CN" altLang="zh-CN">
                  <a:solidFill>
                    <a:srgbClr val="FF00FF"/>
                  </a:solidFill>
                  <a:latin typeface="Times New Roman" panose="02020603050405020304" pitchFamily="18" charset="0"/>
                </a:rPr>
                <a:t>运往各销地</a:t>
              </a:r>
              <a:r>
                <a:rPr lang="en-US" altLang="zh-CN">
                  <a:solidFill>
                    <a:srgbClr val="FF00FF"/>
                  </a:solidFill>
                  <a:latin typeface="Times New Roman" panose="02020603050405020304" pitchFamily="18" charset="0"/>
                </a:rPr>
                <a:t>(B</a:t>
              </a:r>
              <a:r>
                <a:rPr lang="en-US" altLang="zh-CN" baseline="-25000">
                  <a:solidFill>
                    <a:srgbClr val="FF00FF"/>
                  </a:solidFill>
                  <a:latin typeface="Times New Roman" panose="02020603050405020304" pitchFamily="18" charset="0"/>
                </a:rPr>
                <a:t>1</a:t>
              </a:r>
              <a:r>
                <a:rPr lang="en-US" altLang="zh-CN">
                  <a:solidFill>
                    <a:srgbClr val="FF00FF"/>
                  </a:solidFill>
                  <a:latin typeface="Times New Roman" panose="02020603050405020304" pitchFamily="18" charset="0"/>
                </a:rPr>
                <a:t>,…,B</a:t>
              </a:r>
              <a:r>
                <a:rPr lang="en-US" altLang="zh-CN" i="1" baseline="-25000">
                  <a:solidFill>
                    <a:srgbClr val="FF00FF"/>
                  </a:solidFill>
                  <a:latin typeface="Times New Roman" panose="02020603050405020304" pitchFamily="18" charset="0"/>
                </a:rPr>
                <a:t>n</a:t>
              </a:r>
              <a:r>
                <a:rPr lang="en-US" altLang="zh-CN">
                  <a:solidFill>
                    <a:srgbClr val="FF00FF"/>
                  </a:solidFill>
                  <a:latin typeface="Times New Roman" panose="02020603050405020304" pitchFamily="18" charset="0"/>
                </a:rPr>
                <a:t>)</a:t>
              </a:r>
              <a:r>
                <a:rPr lang="zh-CN" altLang="zh-CN">
                  <a:solidFill>
                    <a:srgbClr val="FF00FF"/>
                  </a:solidFill>
                  <a:latin typeface="Times New Roman" panose="02020603050405020304" pitchFamily="18" charset="0"/>
                </a:rPr>
                <a:t>的物品数量之和等于该产地</a:t>
              </a:r>
              <a:r>
                <a:rPr lang="en-US" altLang="zh-CN">
                  <a:solidFill>
                    <a:srgbClr val="FF00FF"/>
                  </a:solidFill>
                  <a:latin typeface="Times New Roman" panose="02020603050405020304" pitchFamily="18" charset="0"/>
                </a:rPr>
                <a:t>A</a:t>
              </a:r>
              <a:r>
                <a:rPr lang="en-US" altLang="zh-CN" i="1" baseline="-25000">
                  <a:solidFill>
                    <a:srgbClr val="FF00FF"/>
                  </a:solidFill>
                  <a:latin typeface="Times New Roman" panose="02020603050405020304" pitchFamily="18" charset="0"/>
                </a:rPr>
                <a:t>i</a:t>
              </a:r>
              <a:r>
                <a:rPr lang="zh-CN" altLang="zh-CN">
                  <a:solidFill>
                    <a:srgbClr val="FF00FF"/>
                  </a:solidFill>
                  <a:latin typeface="Times New Roman" panose="02020603050405020304" pitchFamily="18" charset="0"/>
                </a:rPr>
                <a:t>的产量</a:t>
              </a:r>
              <a:r>
                <a:rPr lang="zh-CN" altLang="en-US">
                  <a:solidFill>
                    <a:srgbClr val="FF00FF"/>
                  </a:solidFill>
                  <a:latin typeface="Times New Roman" panose="02020603050405020304" pitchFamily="18" charset="0"/>
                </a:rPr>
                <a:t>。</a:t>
              </a:r>
              <a:endParaRPr lang="zh-CN" altLang="en-US">
                <a:solidFill>
                  <a:srgbClr val="FF00FF"/>
                </a:solidFill>
              </a:endParaRPr>
            </a:p>
          </p:txBody>
        </p:sp>
        <p:cxnSp>
          <p:nvCxnSpPr>
            <p:cNvPr id="12" name="直接箭头连接符 11">
              <a:extLst>
                <a:ext uri="{FF2B5EF4-FFF2-40B4-BE49-F238E27FC236}">
                  <a16:creationId xmlns:a16="http://schemas.microsoft.com/office/drawing/2014/main" id="{F7C9C6D6-52E9-4A90-8BA6-2E3887B160E3}"/>
                </a:ext>
              </a:extLst>
            </p:cNvPr>
            <p:cNvCxnSpPr>
              <a:endCxn id="19474" idx="1"/>
            </p:cNvCxnSpPr>
            <p:nvPr/>
          </p:nvCxnSpPr>
          <p:spPr>
            <a:xfrm>
              <a:off x="2209800" y="4893707"/>
              <a:ext cx="2346436" cy="635397"/>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8E0A9DB0-5A58-4DD4-B841-ABD449A5B2EE}"/>
              </a:ext>
            </a:extLst>
          </p:cNvPr>
          <p:cNvGrpSpPr>
            <a:grpSpLocks/>
          </p:cNvGrpSpPr>
          <p:nvPr/>
        </p:nvGrpSpPr>
        <p:grpSpPr bwMode="auto">
          <a:xfrm>
            <a:off x="4327525" y="3733800"/>
            <a:ext cx="4286250" cy="1341438"/>
            <a:chOff x="4327525" y="3733800"/>
            <a:chExt cx="4285642" cy="1340753"/>
          </a:xfrm>
        </p:grpSpPr>
        <p:grpSp>
          <p:nvGrpSpPr>
            <p:cNvPr id="19470" name="组合 13">
              <a:extLst>
                <a:ext uri="{FF2B5EF4-FFF2-40B4-BE49-F238E27FC236}">
                  <a16:creationId xmlns:a16="http://schemas.microsoft.com/office/drawing/2014/main" id="{D31EA663-4E56-4129-BA12-C411518C8E2E}"/>
                </a:ext>
              </a:extLst>
            </p:cNvPr>
            <p:cNvGrpSpPr>
              <a:grpSpLocks/>
            </p:cNvGrpSpPr>
            <p:nvPr/>
          </p:nvGrpSpPr>
          <p:grpSpPr bwMode="auto">
            <a:xfrm>
              <a:off x="4327525" y="3733800"/>
              <a:ext cx="4285642" cy="1066800"/>
              <a:chOff x="4327525" y="3733800"/>
              <a:chExt cx="4285642" cy="1066800"/>
            </a:xfrm>
          </p:grpSpPr>
          <p:graphicFrame>
            <p:nvGraphicFramePr>
              <p:cNvPr id="19472" name="对象 3">
                <a:extLst>
                  <a:ext uri="{FF2B5EF4-FFF2-40B4-BE49-F238E27FC236}">
                    <a16:creationId xmlns:a16="http://schemas.microsoft.com/office/drawing/2014/main" id="{87DEAAFF-D46A-4CBB-916F-13F80CA9F5FE}"/>
                  </a:ext>
                </a:extLst>
              </p:cNvPr>
              <p:cNvGraphicFramePr>
                <a:graphicFrameLocks noChangeAspect="1"/>
              </p:cNvGraphicFramePr>
              <p:nvPr/>
            </p:nvGraphicFramePr>
            <p:xfrm>
              <a:off x="4857029" y="3846512"/>
              <a:ext cx="3756138" cy="841375"/>
            </p:xfrm>
            <a:graphic>
              <a:graphicData uri="http://schemas.openxmlformats.org/presentationml/2006/ole">
                <mc:AlternateContent xmlns:mc="http://schemas.openxmlformats.org/markup-compatibility/2006">
                  <mc:Choice xmlns:v="urn:schemas-microsoft-com:vml" Requires="v">
                    <p:oleObj spid="_x0000_s19491" name="Equation" r:id="rId5" imgW="1586811" imgH="355446" progId="Equation.DSMT4">
                      <p:embed/>
                    </p:oleObj>
                  </mc:Choice>
                  <mc:Fallback>
                    <p:oleObj name="Equation" r:id="rId5" imgW="1586811" imgH="355446" progId="Equation.DSMT4">
                      <p:embed/>
                      <p:pic>
                        <p:nvPicPr>
                          <p:cNvPr id="0" name="对象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57029" y="3846512"/>
                            <a:ext cx="3756138" cy="8413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右大括号 4">
                <a:extLst>
                  <a:ext uri="{FF2B5EF4-FFF2-40B4-BE49-F238E27FC236}">
                    <a16:creationId xmlns:a16="http://schemas.microsoft.com/office/drawing/2014/main" id="{6CF830B1-6C91-4EBD-B57F-BFC1483747C6}"/>
                  </a:ext>
                </a:extLst>
              </p:cNvPr>
              <p:cNvSpPr/>
              <p:nvPr/>
            </p:nvSpPr>
            <p:spPr>
              <a:xfrm>
                <a:off x="4327525" y="3733800"/>
                <a:ext cx="473008" cy="1066255"/>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zh-CN" altLang="en-US">
                  <a:solidFill>
                    <a:srgbClr val="FF0000"/>
                  </a:solidFill>
                </a:endParaRPr>
              </a:p>
            </p:txBody>
          </p:sp>
        </p:grpSp>
        <p:sp>
          <p:nvSpPr>
            <p:cNvPr id="19471" name="矩形 14">
              <a:extLst>
                <a:ext uri="{FF2B5EF4-FFF2-40B4-BE49-F238E27FC236}">
                  <a16:creationId xmlns:a16="http://schemas.microsoft.com/office/drawing/2014/main" id="{8818EFE5-1411-44E6-86A0-7E4E3144C3F3}"/>
                </a:ext>
              </a:extLst>
            </p:cNvPr>
            <p:cNvSpPr>
              <a:spLocks noChangeArrowheads="1"/>
            </p:cNvSpPr>
            <p:nvPr/>
          </p:nvSpPr>
          <p:spPr bwMode="auto">
            <a:xfrm>
              <a:off x="6029364" y="4705221"/>
              <a:ext cx="12666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FF0000"/>
                  </a:solidFill>
                </a:rPr>
                <a:t>“</a:t>
              </a:r>
              <a:r>
                <a:rPr lang="zh-CN" altLang="en-US">
                  <a:solidFill>
                    <a:srgbClr val="FF0000"/>
                  </a:solidFill>
                </a:rPr>
                <a:t>产销平衡</a:t>
              </a:r>
              <a:r>
                <a:rPr lang="en-US" altLang="zh-CN">
                  <a:solidFill>
                    <a:srgbClr val="FF0000"/>
                  </a:solidFill>
                </a:rPr>
                <a:t>”</a:t>
              </a:r>
              <a:endParaRPr lang="zh-CN" altLang="en-US">
                <a:solidFill>
                  <a:srgbClr val="FF0000"/>
                </a:solidFill>
              </a:endParaRPr>
            </a:p>
          </p:txBody>
        </p:sp>
      </p:grpSp>
      <p:grpSp>
        <p:nvGrpSpPr>
          <p:cNvPr id="31" name="组合 30">
            <a:extLst>
              <a:ext uri="{FF2B5EF4-FFF2-40B4-BE49-F238E27FC236}">
                <a16:creationId xmlns:a16="http://schemas.microsoft.com/office/drawing/2014/main" id="{A6A022E2-DD82-434D-8090-2A389891E4CD}"/>
              </a:ext>
            </a:extLst>
          </p:cNvPr>
          <p:cNvGrpSpPr>
            <a:grpSpLocks/>
          </p:cNvGrpSpPr>
          <p:nvPr/>
        </p:nvGrpSpPr>
        <p:grpSpPr bwMode="auto">
          <a:xfrm>
            <a:off x="3395663" y="1684338"/>
            <a:ext cx="5594350" cy="633412"/>
            <a:chOff x="3395726" y="1683753"/>
            <a:chExt cx="5594092" cy="634267"/>
          </a:xfrm>
        </p:grpSpPr>
        <p:sp>
          <p:nvSpPr>
            <p:cNvPr id="19468" name="矩形 19">
              <a:extLst>
                <a:ext uri="{FF2B5EF4-FFF2-40B4-BE49-F238E27FC236}">
                  <a16:creationId xmlns:a16="http://schemas.microsoft.com/office/drawing/2014/main" id="{6C80FD6E-8B98-436B-A1EF-5A54EAAFDDA0}"/>
                </a:ext>
              </a:extLst>
            </p:cNvPr>
            <p:cNvSpPr>
              <a:spLocks noChangeArrowheads="1"/>
            </p:cNvSpPr>
            <p:nvPr/>
          </p:nvSpPr>
          <p:spPr bwMode="auto">
            <a:xfrm>
              <a:off x="4419603" y="1683753"/>
              <a:ext cx="4570215" cy="369831"/>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zh-CN">
                  <a:solidFill>
                    <a:srgbClr val="FF00FF"/>
                  </a:solidFill>
                  <a:latin typeface="Times New Roman" panose="02020603050405020304" pitchFamily="18" charset="0"/>
                </a:rPr>
                <a:t>目标函数表示运输总费用，要求其极小化</a:t>
              </a:r>
              <a:r>
                <a:rPr lang="zh-CN" altLang="en-US">
                  <a:solidFill>
                    <a:srgbClr val="FF00FF"/>
                  </a:solidFill>
                  <a:latin typeface="Times New Roman" panose="02020603050405020304" pitchFamily="18" charset="0"/>
                </a:rPr>
                <a:t>。</a:t>
              </a:r>
              <a:endParaRPr lang="zh-CN" altLang="en-US">
                <a:solidFill>
                  <a:srgbClr val="FF00FF"/>
                </a:solidFill>
              </a:endParaRPr>
            </a:p>
          </p:txBody>
        </p:sp>
        <p:cxnSp>
          <p:nvCxnSpPr>
            <p:cNvPr id="21" name="直接箭头连接符 20">
              <a:extLst>
                <a:ext uri="{FF2B5EF4-FFF2-40B4-BE49-F238E27FC236}">
                  <a16:creationId xmlns:a16="http://schemas.microsoft.com/office/drawing/2014/main" id="{11284070-77A9-4172-A2E2-E3533B6886BE}"/>
                </a:ext>
              </a:extLst>
            </p:cNvPr>
            <p:cNvCxnSpPr/>
            <p:nvPr/>
          </p:nvCxnSpPr>
          <p:spPr>
            <a:xfrm flipV="1">
              <a:off x="3395726" y="1828410"/>
              <a:ext cx="1023890" cy="489610"/>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F210818E-DF2F-41F0-9886-64AE09CCA255}"/>
              </a:ext>
            </a:extLst>
          </p:cNvPr>
          <p:cNvGrpSpPr>
            <a:grpSpLocks/>
          </p:cNvGrpSpPr>
          <p:nvPr/>
        </p:nvGrpSpPr>
        <p:grpSpPr bwMode="auto">
          <a:xfrm>
            <a:off x="228600" y="5892800"/>
            <a:ext cx="2954338" cy="684213"/>
            <a:chOff x="228543" y="5892503"/>
            <a:chExt cx="2955385" cy="683814"/>
          </a:xfrm>
        </p:grpSpPr>
        <p:sp>
          <p:nvSpPr>
            <p:cNvPr id="19466" name="矩形 24">
              <a:extLst>
                <a:ext uri="{FF2B5EF4-FFF2-40B4-BE49-F238E27FC236}">
                  <a16:creationId xmlns:a16="http://schemas.microsoft.com/office/drawing/2014/main" id="{ECAB0693-AB59-4612-B6C2-9F733446CB33}"/>
                </a:ext>
              </a:extLst>
            </p:cNvPr>
            <p:cNvSpPr>
              <a:spLocks noChangeArrowheads="1"/>
            </p:cNvSpPr>
            <p:nvPr/>
          </p:nvSpPr>
          <p:spPr bwMode="auto">
            <a:xfrm>
              <a:off x="228543" y="6207125"/>
              <a:ext cx="2955385" cy="36919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zh-CN">
                  <a:solidFill>
                    <a:srgbClr val="FF00FF"/>
                  </a:solidFill>
                  <a:latin typeface="Times New Roman" panose="02020603050405020304" pitchFamily="18" charset="0"/>
                </a:rPr>
                <a:t>决策变量的非负</a:t>
              </a:r>
              <a:r>
                <a:rPr lang="zh-CN" altLang="en-US">
                  <a:solidFill>
                    <a:srgbClr val="FF00FF"/>
                  </a:solidFill>
                  <a:latin typeface="Times New Roman" panose="02020603050405020304" pitchFamily="18" charset="0"/>
                </a:rPr>
                <a:t>约束</a:t>
              </a:r>
              <a:r>
                <a:rPr lang="zh-CN" altLang="zh-CN">
                  <a:solidFill>
                    <a:srgbClr val="FF00FF"/>
                  </a:solidFill>
                  <a:latin typeface="Times New Roman" panose="02020603050405020304" pitchFamily="18" charset="0"/>
                </a:rPr>
                <a:t>条件。</a:t>
              </a:r>
              <a:endParaRPr lang="zh-CN" altLang="en-US">
                <a:solidFill>
                  <a:srgbClr val="FF00FF"/>
                </a:solidFill>
                <a:latin typeface="Times New Roman" panose="02020603050405020304" pitchFamily="18" charset="0"/>
              </a:endParaRPr>
            </a:p>
          </p:txBody>
        </p:sp>
        <p:cxnSp>
          <p:nvCxnSpPr>
            <p:cNvPr id="29" name="直接箭头连接符 28">
              <a:extLst>
                <a:ext uri="{FF2B5EF4-FFF2-40B4-BE49-F238E27FC236}">
                  <a16:creationId xmlns:a16="http://schemas.microsoft.com/office/drawing/2014/main" id="{C96CAE30-E947-4178-A9B7-81D060EC1454}"/>
                </a:ext>
              </a:extLst>
            </p:cNvPr>
            <p:cNvCxnSpPr/>
            <p:nvPr/>
          </p:nvCxnSpPr>
          <p:spPr>
            <a:xfrm>
              <a:off x="1524402" y="5892503"/>
              <a:ext cx="0" cy="314142"/>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4336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6" presetClass="entr" presetSubtype="21" fill="hold"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barn(inVertical)">
                                      <p:cBhvr>
                                        <p:cTn id="23" dur="500"/>
                                        <p:tgtEl>
                                          <p:spTgt spid="1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3">
            <a:extLst>
              <a:ext uri="{FF2B5EF4-FFF2-40B4-BE49-F238E27FC236}">
                <a16:creationId xmlns:a16="http://schemas.microsoft.com/office/drawing/2014/main" id="{0C378C9D-DD32-44B5-9A40-359AA367F16D}"/>
              </a:ext>
            </a:extLst>
          </p:cNvPr>
          <p:cNvSpPr txBox="1">
            <a:spLocks noChangeArrowheads="1"/>
          </p:cNvSpPr>
          <p:nvPr/>
        </p:nvSpPr>
        <p:spPr bwMode="auto">
          <a:xfrm>
            <a:off x="228600" y="1295400"/>
            <a:ext cx="7023100" cy="461963"/>
          </a:xfrm>
          <a:prstGeom prst="rect">
            <a:avLst/>
          </a:prstGeom>
          <a:solidFill>
            <a:schemeClr val="tx2">
              <a:lumMod val="20000"/>
              <a:lumOff val="80000"/>
            </a:schemeClr>
          </a:solidFill>
          <a:ln>
            <a:noFill/>
          </a:ln>
          <a:effec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r>
              <a:rPr lang="en-US" altLang="zh-CN" sz="2400" b="1" dirty="0"/>
              <a:t>1. </a:t>
            </a:r>
            <a:r>
              <a:rPr lang="zh-CN" altLang="en-US" sz="2400" b="1" dirty="0"/>
              <a:t>产销平衡运输问题必有可行解，也必有最优解</a:t>
            </a:r>
            <a:r>
              <a:rPr lang="zh-CN" altLang="en-US" sz="2400" b="1" dirty="0">
                <a:solidFill>
                  <a:srgbClr val="FF0000"/>
                </a:solidFill>
              </a:rPr>
              <a:t>？</a:t>
            </a:r>
            <a:r>
              <a:rPr lang="zh-CN" altLang="en-US" sz="2400" b="1" dirty="0"/>
              <a:t>。</a:t>
            </a:r>
          </a:p>
        </p:txBody>
      </p:sp>
      <p:sp>
        <p:nvSpPr>
          <p:cNvPr id="20483" name="Rectangle 2">
            <a:extLst>
              <a:ext uri="{FF2B5EF4-FFF2-40B4-BE49-F238E27FC236}">
                <a16:creationId xmlns:a16="http://schemas.microsoft.com/office/drawing/2014/main" id="{C3CADE5F-E7F1-4760-B70B-BBED8D1CB633}"/>
              </a:ext>
            </a:extLst>
          </p:cNvPr>
          <p:cNvSpPr txBox="1">
            <a:spLocks noChangeArrowheads="1"/>
          </p:cNvSpPr>
          <p:nvPr/>
        </p:nvSpPr>
        <p:spPr bwMode="auto">
          <a:xfrm>
            <a:off x="457200" y="214313"/>
            <a:ext cx="8229600"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4000" b="1">
                <a:solidFill>
                  <a:schemeClr val="tx2"/>
                </a:solidFill>
                <a:latin typeface="Garamond" panose="02020404030301010803" pitchFamily="18" charset="0"/>
              </a:rPr>
              <a:t>运输问题解的特征</a:t>
            </a:r>
          </a:p>
        </p:txBody>
      </p:sp>
      <p:grpSp>
        <p:nvGrpSpPr>
          <p:cNvPr id="15" name="组合 14">
            <a:extLst>
              <a:ext uri="{FF2B5EF4-FFF2-40B4-BE49-F238E27FC236}">
                <a16:creationId xmlns:a16="http://schemas.microsoft.com/office/drawing/2014/main" id="{37E55885-8A85-4081-AD04-5A85DCBDA46A}"/>
              </a:ext>
            </a:extLst>
          </p:cNvPr>
          <p:cNvGrpSpPr>
            <a:grpSpLocks/>
          </p:cNvGrpSpPr>
          <p:nvPr/>
        </p:nvGrpSpPr>
        <p:grpSpPr bwMode="auto">
          <a:xfrm>
            <a:off x="228600" y="2286000"/>
            <a:ext cx="8458200" cy="3433763"/>
            <a:chOff x="228600" y="2819340"/>
            <a:chExt cx="8458200" cy="3433592"/>
          </a:xfrm>
        </p:grpSpPr>
        <p:sp>
          <p:nvSpPr>
            <p:cNvPr id="20487" name="Text Box 5">
              <a:extLst>
                <a:ext uri="{FF2B5EF4-FFF2-40B4-BE49-F238E27FC236}">
                  <a16:creationId xmlns:a16="http://schemas.microsoft.com/office/drawing/2014/main" id="{50DE53C1-B673-4296-8681-5E234F86980B}"/>
                </a:ext>
              </a:extLst>
            </p:cNvPr>
            <p:cNvSpPr txBox="1">
              <a:spLocks noChangeArrowheads="1"/>
            </p:cNvSpPr>
            <p:nvPr/>
          </p:nvSpPr>
          <p:spPr bwMode="auto">
            <a:xfrm>
              <a:off x="228600" y="2928878"/>
              <a:ext cx="8458200" cy="3324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000"/>
                <a:t>证明： 设                        ，取                                          ，则有          ，又</a:t>
              </a:r>
              <a:endParaRPr lang="en-US" altLang="zh-CN" sz="2000"/>
            </a:p>
            <a:p>
              <a:pPr eaLnBrk="1" hangingPunct="1">
                <a:spcBef>
                  <a:spcPct val="50000"/>
                </a:spcBef>
              </a:pPr>
              <a:endParaRPr lang="en-US" altLang="zh-CN" sz="2000"/>
            </a:p>
            <a:p>
              <a:pPr eaLnBrk="1" hangingPunct="1">
                <a:spcBef>
                  <a:spcPct val="50000"/>
                </a:spcBef>
              </a:pPr>
              <a:endParaRPr lang="en-US" altLang="zh-CN" sz="2000"/>
            </a:p>
            <a:p>
              <a:pPr eaLnBrk="1" hangingPunct="1">
                <a:spcBef>
                  <a:spcPct val="50000"/>
                </a:spcBef>
              </a:pPr>
              <a:endParaRPr lang="en-US" altLang="zh-CN" sz="2000"/>
            </a:p>
            <a:p>
              <a:pPr algn="just" eaLnBrk="1" hangingPunct="1">
                <a:lnSpc>
                  <a:spcPct val="150000"/>
                </a:lnSpc>
                <a:spcBef>
                  <a:spcPct val="50000"/>
                </a:spcBef>
              </a:pPr>
              <a:r>
                <a:rPr lang="zh-CN" altLang="en-US" sz="2000"/>
                <a:t>又因为</a:t>
              </a:r>
              <a:r>
                <a:rPr lang="en-US" altLang="zh-CN" sz="2000" i="1">
                  <a:latin typeface="Times New Roman" panose="02020603050405020304" pitchFamily="18" charset="0"/>
                  <a:cs typeface="Times New Roman" panose="02020603050405020304" pitchFamily="18" charset="0"/>
                </a:rPr>
                <a:t>c</a:t>
              </a:r>
              <a:r>
                <a:rPr lang="en-US" altLang="zh-CN" sz="2000" i="1" baseline="-25000">
                  <a:latin typeface="Times New Roman" panose="02020603050405020304" pitchFamily="18" charset="0"/>
                  <a:cs typeface="Times New Roman" panose="02020603050405020304" pitchFamily="18" charset="0"/>
                </a:rPr>
                <a:t>ij </a:t>
              </a:r>
              <a:r>
                <a:rPr lang="zh-CN" altLang="en-US" sz="2000">
                  <a:latin typeface="Times New Roman" panose="02020603050405020304" pitchFamily="18" charset="0"/>
                  <a:cs typeface="Times New Roman" panose="02020603050405020304" pitchFamily="18" charset="0"/>
                </a:rPr>
                <a:t>≥</a:t>
              </a:r>
              <a:r>
                <a:rPr lang="en-US" altLang="zh-CN" sz="2000">
                  <a:latin typeface="Times New Roman" panose="02020603050405020304" pitchFamily="18" charset="0"/>
                  <a:cs typeface="Times New Roman" panose="02020603050405020304" pitchFamily="18" charset="0"/>
                </a:rPr>
                <a:t>0</a:t>
              </a:r>
              <a:r>
                <a:rPr lang="en-US" altLang="zh-CN" sz="2000" i="1">
                  <a:latin typeface="Times New Roman" panose="02020603050405020304" pitchFamily="18" charset="0"/>
                  <a:cs typeface="Times New Roman" panose="02020603050405020304" pitchFamily="18" charset="0"/>
                </a:rPr>
                <a:t>, </a:t>
              </a:r>
              <a:r>
                <a:rPr lang="zh-CN" altLang="en-US" sz="2000">
                  <a:latin typeface="Times New Roman" panose="02020603050405020304" pitchFamily="18" charset="0"/>
                  <a:cs typeface="Times New Roman" panose="02020603050405020304" pitchFamily="18" charset="0"/>
                </a:rPr>
                <a:t>故对于任意一个可行解</a:t>
              </a:r>
              <a:r>
                <a:rPr lang="en-US" altLang="zh-CN" sz="2000" baseline="-25000">
                  <a:latin typeface="Times New Roman" panose="02020603050405020304" pitchFamily="18" charset="0"/>
                  <a:cs typeface="Times New Roman" panose="02020603050405020304" pitchFamily="18" charset="0"/>
                </a:rPr>
                <a:t> </a:t>
              </a:r>
              <a:r>
                <a:rPr lang="en-US" altLang="zh-CN" sz="2000" i="1">
                  <a:latin typeface="Times New Roman" panose="02020603050405020304" pitchFamily="18" charset="0"/>
                  <a:cs typeface="Times New Roman" panose="02020603050405020304" pitchFamily="18" charset="0"/>
                </a:rPr>
                <a:t>x</a:t>
              </a:r>
              <a:r>
                <a:rPr lang="en-US" altLang="zh-CN" sz="2000" i="1" baseline="-25000">
                  <a:latin typeface="Times New Roman" panose="02020603050405020304" pitchFamily="18" charset="0"/>
                  <a:cs typeface="Times New Roman" panose="02020603050405020304" pitchFamily="18" charset="0"/>
                </a:rPr>
                <a:t>ij</a:t>
              </a:r>
              <a:r>
                <a:rPr lang="zh-CN" altLang="en-US" sz="2000">
                  <a:latin typeface="Times New Roman" panose="02020603050405020304" pitchFamily="18" charset="0"/>
                  <a:cs typeface="Times New Roman" panose="02020603050405020304" pitchFamily="18" charset="0"/>
                </a:rPr>
                <a:t>有界，运输问题的目标函数值都不会为负数，即目标函数值总大于</a:t>
              </a:r>
              <a:r>
                <a:rPr lang="en-US" altLang="zh-CN" sz="2000">
                  <a:latin typeface="Times New Roman" panose="02020603050405020304" pitchFamily="18" charset="0"/>
                  <a:cs typeface="Times New Roman" panose="02020603050405020304" pitchFamily="18" charset="0"/>
                </a:rPr>
                <a:t>0</a:t>
              </a:r>
              <a:r>
                <a:rPr lang="zh-CN" altLang="en-US" sz="2000">
                  <a:latin typeface="Times New Roman" panose="02020603050405020304" pitchFamily="18" charset="0"/>
                  <a:cs typeface="Times New Roman" panose="02020603050405020304" pitchFamily="18" charset="0"/>
                </a:rPr>
                <a:t>。故对于求极小值问题，目标函数值有下界，则必有最优解。</a:t>
              </a:r>
              <a:endParaRPr lang="zh-CN" altLang="en-US" sz="2000"/>
            </a:p>
          </p:txBody>
        </p:sp>
        <p:graphicFrame>
          <p:nvGraphicFramePr>
            <p:cNvPr id="20488" name="对象 3">
              <a:extLst>
                <a:ext uri="{FF2B5EF4-FFF2-40B4-BE49-F238E27FC236}">
                  <a16:creationId xmlns:a16="http://schemas.microsoft.com/office/drawing/2014/main" id="{F3C756B4-BDD3-4645-9AFF-8372134A70C0}"/>
                </a:ext>
              </a:extLst>
            </p:cNvPr>
            <p:cNvGraphicFramePr>
              <a:graphicFrameLocks noChangeAspect="1"/>
            </p:cNvGraphicFramePr>
            <p:nvPr/>
          </p:nvGraphicFramePr>
          <p:xfrm>
            <a:off x="1583531" y="2854578"/>
            <a:ext cx="1244600" cy="566706"/>
          </p:xfrm>
          <a:graphic>
            <a:graphicData uri="http://schemas.openxmlformats.org/presentationml/2006/ole">
              <mc:AlternateContent xmlns:mc="http://schemas.openxmlformats.org/markup-compatibility/2006">
                <mc:Choice xmlns:v="urn:schemas-microsoft-com:vml" Requires="v">
                  <p:oleObj spid="_x0000_s20530" name="Equation" r:id="rId3" imgW="698197" imgH="317362" progId="Equation.DSMT4">
                    <p:embed/>
                  </p:oleObj>
                </mc:Choice>
                <mc:Fallback>
                  <p:oleObj name="Equation" r:id="rId3" imgW="698197" imgH="317362" progId="Equation.DSMT4">
                    <p:embed/>
                    <p:pic>
                      <p:nvPicPr>
                        <p:cNvPr id="0"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3531" y="2854578"/>
                          <a:ext cx="1244600" cy="566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0489" name="对象 3">
              <a:extLst>
                <a:ext uri="{FF2B5EF4-FFF2-40B4-BE49-F238E27FC236}">
                  <a16:creationId xmlns:a16="http://schemas.microsoft.com/office/drawing/2014/main" id="{9A87EB8F-5D9D-4089-A377-BA73016462DD}"/>
                </a:ext>
              </a:extLst>
            </p:cNvPr>
            <p:cNvGraphicFramePr>
              <a:graphicFrameLocks noChangeAspect="1"/>
            </p:cNvGraphicFramePr>
            <p:nvPr/>
          </p:nvGraphicFramePr>
          <p:xfrm>
            <a:off x="3742531" y="2819340"/>
            <a:ext cx="2716212" cy="566738"/>
          </p:xfrm>
          <a:graphic>
            <a:graphicData uri="http://schemas.openxmlformats.org/presentationml/2006/ole">
              <mc:AlternateContent xmlns:mc="http://schemas.openxmlformats.org/markup-compatibility/2006">
                <mc:Choice xmlns:v="urn:schemas-microsoft-com:vml" Requires="v">
                  <p:oleObj spid="_x0000_s20531" name="Equation" r:id="rId5" imgW="1523339" imgH="317362" progId="Equation.DSMT4">
                    <p:embed/>
                  </p:oleObj>
                </mc:Choice>
                <mc:Fallback>
                  <p:oleObj name="Equation" r:id="rId5" imgW="1523339" imgH="317362" progId="Equation.DSMT4">
                    <p:embed/>
                    <p:pic>
                      <p:nvPicPr>
                        <p:cNvPr id="0" name="对象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42531" y="2819340"/>
                          <a:ext cx="2716212"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0490" name="对象 3">
              <a:extLst>
                <a:ext uri="{FF2B5EF4-FFF2-40B4-BE49-F238E27FC236}">
                  <a16:creationId xmlns:a16="http://schemas.microsoft.com/office/drawing/2014/main" id="{F18F96C4-AEA0-456F-A85B-45BA59829297}"/>
                </a:ext>
              </a:extLst>
            </p:cNvPr>
            <p:cNvGraphicFramePr>
              <a:graphicFrameLocks noChangeAspect="1"/>
            </p:cNvGraphicFramePr>
            <p:nvPr/>
          </p:nvGraphicFramePr>
          <p:xfrm>
            <a:off x="7412831" y="2962175"/>
            <a:ext cx="520700" cy="339725"/>
          </p:xfrm>
          <a:graphic>
            <a:graphicData uri="http://schemas.openxmlformats.org/presentationml/2006/ole">
              <mc:AlternateContent xmlns:mc="http://schemas.openxmlformats.org/markup-compatibility/2006">
                <mc:Choice xmlns:v="urn:schemas-microsoft-com:vml" Requires="v">
                  <p:oleObj spid="_x0000_s20532" name="Equation" r:id="rId7" imgW="291973" imgH="190417" progId="Equation.DSMT4">
                    <p:embed/>
                  </p:oleObj>
                </mc:Choice>
                <mc:Fallback>
                  <p:oleObj name="Equation" r:id="rId7" imgW="291973" imgH="190417" progId="Equation.DSMT4">
                    <p:embed/>
                    <p:pic>
                      <p:nvPicPr>
                        <p:cNvPr id="0" name="对象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12831" y="2962175"/>
                          <a:ext cx="5207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0491" name="对象 3">
              <a:extLst>
                <a:ext uri="{FF2B5EF4-FFF2-40B4-BE49-F238E27FC236}">
                  <a16:creationId xmlns:a16="http://schemas.microsoft.com/office/drawing/2014/main" id="{47F4CB4A-75CD-4661-8748-C71918FEFC9F}"/>
                </a:ext>
              </a:extLst>
            </p:cNvPr>
            <p:cNvGraphicFramePr>
              <a:graphicFrameLocks noChangeAspect="1"/>
            </p:cNvGraphicFramePr>
            <p:nvPr/>
          </p:nvGraphicFramePr>
          <p:xfrm>
            <a:off x="709611" y="3460378"/>
            <a:ext cx="3508375" cy="1219633"/>
          </p:xfrm>
          <a:graphic>
            <a:graphicData uri="http://schemas.openxmlformats.org/presentationml/2006/ole">
              <mc:AlternateContent xmlns:mc="http://schemas.openxmlformats.org/markup-compatibility/2006">
                <mc:Choice xmlns:v="urn:schemas-microsoft-com:vml" Requires="v">
                  <p:oleObj spid="_x0000_s20533" name="Equation" r:id="rId9" imgW="1828800" imgH="635000" progId="Equation.DSMT4">
                    <p:embed/>
                  </p:oleObj>
                </mc:Choice>
                <mc:Fallback>
                  <p:oleObj name="Equation" r:id="rId9" imgW="1828800" imgH="635000" progId="Equation.DSMT4">
                    <p:embed/>
                    <p:pic>
                      <p:nvPicPr>
                        <p:cNvPr id="0" name="对象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9611" y="3460378"/>
                          <a:ext cx="3508375" cy="121963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492" name="矩形 1">
              <a:extLst>
                <a:ext uri="{FF2B5EF4-FFF2-40B4-BE49-F238E27FC236}">
                  <a16:creationId xmlns:a16="http://schemas.microsoft.com/office/drawing/2014/main" id="{11B14457-C923-49E9-B447-51500B935F54}"/>
                </a:ext>
              </a:extLst>
            </p:cNvPr>
            <p:cNvSpPr>
              <a:spLocks noChangeArrowheads="1"/>
            </p:cNvSpPr>
            <p:nvPr/>
          </p:nvSpPr>
          <p:spPr bwMode="auto">
            <a:xfrm>
              <a:off x="4662030" y="3885528"/>
              <a:ext cx="3772359" cy="36933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i="1">
                  <a:solidFill>
                    <a:srgbClr val="FF00FF"/>
                  </a:solidFill>
                  <a:latin typeface="Times New Roman" panose="02020603050405020304" pitchFamily="18" charset="0"/>
                </a:rPr>
                <a:t>x</a:t>
              </a:r>
              <a:r>
                <a:rPr lang="en-US" altLang="zh-CN" b="1" i="1" baseline="-25000">
                  <a:solidFill>
                    <a:srgbClr val="FF00FF"/>
                  </a:solidFill>
                  <a:latin typeface="Times New Roman" panose="02020603050405020304" pitchFamily="18" charset="0"/>
                </a:rPr>
                <a:t>ij</a:t>
              </a:r>
              <a:r>
                <a:rPr lang="en-US" altLang="zh-CN" b="1">
                  <a:solidFill>
                    <a:srgbClr val="FF00FF"/>
                  </a:solidFill>
                  <a:latin typeface="Times New Roman" panose="02020603050405020304" pitchFamily="18" charset="0"/>
                </a:rPr>
                <a:t>=</a:t>
              </a:r>
              <a:r>
                <a:rPr lang="en-US" altLang="zh-CN" b="1" i="1">
                  <a:solidFill>
                    <a:srgbClr val="FF00FF"/>
                  </a:solidFill>
                  <a:latin typeface="Times New Roman" panose="02020603050405020304" pitchFamily="18" charset="0"/>
                </a:rPr>
                <a:t>a</a:t>
              </a:r>
              <a:r>
                <a:rPr lang="en-US" altLang="zh-CN" b="1" i="1" baseline="-25000">
                  <a:solidFill>
                    <a:srgbClr val="FF00FF"/>
                  </a:solidFill>
                  <a:latin typeface="Times New Roman" panose="02020603050405020304" pitchFamily="18" charset="0"/>
                </a:rPr>
                <a:t>i</a:t>
              </a:r>
              <a:r>
                <a:rPr lang="en-US" altLang="zh-CN" b="1" i="1">
                  <a:solidFill>
                    <a:srgbClr val="FF00FF"/>
                  </a:solidFill>
                  <a:latin typeface="Times New Roman" panose="02020603050405020304" pitchFamily="18" charset="0"/>
                </a:rPr>
                <a:t>b</a:t>
              </a:r>
              <a:r>
                <a:rPr lang="en-US" altLang="zh-CN" b="1" i="1" baseline="-25000">
                  <a:solidFill>
                    <a:srgbClr val="FF00FF"/>
                  </a:solidFill>
                  <a:latin typeface="Times New Roman" panose="02020603050405020304" pitchFamily="18" charset="0"/>
                </a:rPr>
                <a:t>j</a:t>
              </a:r>
              <a:r>
                <a:rPr lang="en-US" altLang="zh-CN" b="1">
                  <a:solidFill>
                    <a:srgbClr val="FF00FF"/>
                  </a:solidFill>
                  <a:latin typeface="Times New Roman" panose="02020603050405020304" pitchFamily="18" charset="0"/>
                </a:rPr>
                <a:t>/</a:t>
              </a:r>
              <a:r>
                <a:rPr lang="en-US" altLang="zh-CN" b="1" i="1">
                  <a:solidFill>
                    <a:srgbClr val="FF00FF"/>
                  </a:solidFill>
                  <a:latin typeface="Times New Roman" panose="02020603050405020304" pitchFamily="18" charset="0"/>
                </a:rPr>
                <a:t>Q </a:t>
              </a:r>
              <a:r>
                <a:rPr lang="zh-CN" altLang="en-US" b="1">
                  <a:solidFill>
                    <a:srgbClr val="FF00FF"/>
                  </a:solidFill>
                  <a:latin typeface="Times New Roman" panose="02020603050405020304" pitchFamily="18" charset="0"/>
                </a:rPr>
                <a:t>是运输问题的一个可行解</a:t>
              </a:r>
              <a:endParaRPr lang="en-US" altLang="zh-CN">
                <a:solidFill>
                  <a:srgbClr val="FF00FF"/>
                </a:solidFill>
                <a:latin typeface="Times New Roman" panose="02020603050405020304" pitchFamily="18" charset="0"/>
              </a:endParaRPr>
            </a:p>
          </p:txBody>
        </p:sp>
        <p:cxnSp>
          <p:nvCxnSpPr>
            <p:cNvPr id="14" name="直接箭头连接符 13">
              <a:extLst>
                <a:ext uri="{FF2B5EF4-FFF2-40B4-BE49-F238E27FC236}">
                  <a16:creationId xmlns:a16="http://schemas.microsoft.com/office/drawing/2014/main" id="{1B92189B-2EB9-488B-A8C6-D06C3DD85A7D}"/>
                </a:ext>
              </a:extLst>
            </p:cNvPr>
            <p:cNvCxnSpPr>
              <a:cxnSpLocks/>
            </p:cNvCxnSpPr>
            <p:nvPr/>
          </p:nvCxnSpPr>
          <p:spPr bwMode="auto">
            <a:xfrm>
              <a:off x="4217988" y="4070228"/>
              <a:ext cx="444500" cy="0"/>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20485" name="Object 4">
            <a:extLst>
              <a:ext uri="{FF2B5EF4-FFF2-40B4-BE49-F238E27FC236}">
                <a16:creationId xmlns:a16="http://schemas.microsoft.com/office/drawing/2014/main" id="{463C0522-7796-4B5F-BC81-D60AAEA393AE}"/>
              </a:ext>
            </a:extLst>
          </p:cNvPr>
          <p:cNvGraphicFramePr>
            <a:graphicFrameLocks noChangeAspect="1"/>
          </p:cNvGraphicFramePr>
          <p:nvPr/>
        </p:nvGraphicFramePr>
        <p:xfrm>
          <a:off x="7416800" y="26988"/>
          <a:ext cx="1636713" cy="1747837"/>
        </p:xfrm>
        <a:graphic>
          <a:graphicData uri="http://schemas.openxmlformats.org/presentationml/2006/ole">
            <mc:AlternateContent xmlns:mc="http://schemas.openxmlformats.org/markup-compatibility/2006">
              <mc:Choice xmlns:v="urn:schemas-microsoft-com:vml" Requires="v">
                <p:oleObj spid="_x0000_s20534" name="公式" r:id="rId11" imgW="1498600" imgH="1600200" progId="Equation.3">
                  <p:embed/>
                </p:oleObj>
              </mc:Choice>
              <mc:Fallback>
                <p:oleObj name="公式" r:id="rId11" imgW="1498600" imgH="1600200" progId="Equation.3">
                  <p:embed/>
                  <p:pic>
                    <p:nvPicPr>
                      <p:cNvPr id="0" name="Object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16800" y="26988"/>
                        <a:ext cx="1636713" cy="1747837"/>
                      </a:xfrm>
                      <a:prstGeom prst="rect">
                        <a:avLst/>
                      </a:prstGeom>
                      <a:solidFill>
                        <a:srgbClr val="FFC000"/>
                      </a:solidFill>
                      <a:ln w="9525">
                        <a:solidFill>
                          <a:srgbClr val="FF00FF"/>
                        </a:solidFill>
                        <a:miter lim="800000"/>
                        <a:headEnd/>
                        <a:tailEnd/>
                      </a:ln>
                    </p:spPr>
                  </p:pic>
                </p:oleObj>
              </mc:Fallback>
            </mc:AlternateContent>
          </a:graphicData>
        </a:graphic>
      </p:graphicFrame>
      <p:graphicFrame>
        <p:nvGraphicFramePr>
          <p:cNvPr id="13" name="对象 3">
            <a:extLst>
              <a:ext uri="{FF2B5EF4-FFF2-40B4-BE49-F238E27FC236}">
                <a16:creationId xmlns:a16="http://schemas.microsoft.com/office/drawing/2014/main" id="{680C40F3-21E7-409C-ACF2-69A7094DDF90}"/>
              </a:ext>
            </a:extLst>
          </p:cNvPr>
          <p:cNvGraphicFramePr>
            <a:graphicFrameLocks noChangeAspect="1"/>
          </p:cNvGraphicFramePr>
          <p:nvPr/>
        </p:nvGraphicFramePr>
        <p:xfrm>
          <a:off x="5989638" y="214313"/>
          <a:ext cx="1262062" cy="750887"/>
        </p:xfrm>
        <a:graphic>
          <a:graphicData uri="http://schemas.openxmlformats.org/presentationml/2006/ole">
            <mc:AlternateContent xmlns:mc="http://schemas.openxmlformats.org/markup-compatibility/2006">
              <mc:Choice xmlns:v="urn:schemas-microsoft-com:vml" Requires="v">
                <p:oleObj spid="_x0000_s20535" name="Equation" r:id="rId13" imgW="532937" imgH="317225" progId="Equation.DSMT4">
                  <p:embed/>
                </p:oleObj>
              </mc:Choice>
              <mc:Fallback>
                <p:oleObj name="Equation" r:id="rId13" imgW="532937" imgH="317225" progId="Equation.DSMT4">
                  <p:embed/>
                  <p:pic>
                    <p:nvPicPr>
                      <p:cNvPr id="0" name="对象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989638" y="214313"/>
                        <a:ext cx="1262062" cy="75088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randombar(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3">
            <a:extLst>
              <a:ext uri="{FF2B5EF4-FFF2-40B4-BE49-F238E27FC236}">
                <a16:creationId xmlns:a16="http://schemas.microsoft.com/office/drawing/2014/main" id="{D98F3438-9D4D-4BE9-83FF-87E355763DE7}"/>
              </a:ext>
            </a:extLst>
          </p:cNvPr>
          <p:cNvSpPr txBox="1">
            <a:spLocks noChangeArrowheads="1"/>
          </p:cNvSpPr>
          <p:nvPr/>
        </p:nvSpPr>
        <p:spPr bwMode="auto">
          <a:xfrm>
            <a:off x="266700" y="838200"/>
            <a:ext cx="6896100" cy="830263"/>
          </a:xfrm>
          <a:prstGeom prst="rect">
            <a:avLst/>
          </a:prstGeom>
          <a:solidFill>
            <a:schemeClr val="tx2">
              <a:lumMod val="20000"/>
              <a:lumOff val="80000"/>
            </a:schemeClr>
          </a:solidFill>
          <a:ln>
            <a:noFill/>
          </a:ln>
          <a:effec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r>
              <a:rPr lang="en-US" altLang="zh-CN" sz="2400" b="1" dirty="0"/>
              <a:t>2.</a:t>
            </a:r>
            <a:r>
              <a:rPr lang="zh-CN" altLang="en-US" sz="2400" b="1" dirty="0"/>
              <a:t>产销平衡运输问题的基可行解中应包括 </a:t>
            </a:r>
            <a:r>
              <a:rPr lang="en-US" altLang="zh-CN" sz="2400" b="1" i="1" dirty="0"/>
              <a:t>m</a:t>
            </a:r>
            <a:r>
              <a:rPr lang="en-US" altLang="zh-CN" sz="2400" b="1" dirty="0"/>
              <a:t>+</a:t>
            </a:r>
            <a:r>
              <a:rPr lang="en-US" altLang="zh-CN" sz="2400" b="1" i="1" dirty="0"/>
              <a:t>n</a:t>
            </a:r>
            <a:r>
              <a:rPr lang="en-US" altLang="zh-CN" sz="2400" b="1" dirty="0"/>
              <a:t>-1 </a:t>
            </a:r>
            <a:r>
              <a:rPr lang="zh-CN" altLang="en-US" sz="2400" b="1" dirty="0"/>
              <a:t>个基变量。</a:t>
            </a:r>
          </a:p>
        </p:txBody>
      </p:sp>
      <p:sp>
        <p:nvSpPr>
          <p:cNvPr id="21507" name="Rectangle 2">
            <a:extLst>
              <a:ext uri="{FF2B5EF4-FFF2-40B4-BE49-F238E27FC236}">
                <a16:creationId xmlns:a16="http://schemas.microsoft.com/office/drawing/2014/main" id="{7D7FF991-1766-48C0-90EF-D89D6CF24038}"/>
              </a:ext>
            </a:extLst>
          </p:cNvPr>
          <p:cNvSpPr txBox="1">
            <a:spLocks noChangeArrowheads="1"/>
          </p:cNvSpPr>
          <p:nvPr/>
        </p:nvSpPr>
        <p:spPr bwMode="auto">
          <a:xfrm>
            <a:off x="457200" y="107950"/>
            <a:ext cx="8229600"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4000" b="1">
                <a:solidFill>
                  <a:schemeClr val="tx2"/>
                </a:solidFill>
                <a:latin typeface="Garamond" panose="02020404030301010803" pitchFamily="18" charset="0"/>
              </a:rPr>
              <a:t>运输问题解的特征</a:t>
            </a:r>
          </a:p>
        </p:txBody>
      </p:sp>
      <p:sp>
        <p:nvSpPr>
          <p:cNvPr id="21508" name="Text Box 3">
            <a:extLst>
              <a:ext uri="{FF2B5EF4-FFF2-40B4-BE49-F238E27FC236}">
                <a16:creationId xmlns:a16="http://schemas.microsoft.com/office/drawing/2014/main" id="{31E94359-264D-4D6B-9C7F-592CCC87A31E}"/>
              </a:ext>
            </a:extLst>
          </p:cNvPr>
          <p:cNvSpPr txBox="1">
            <a:spLocks noChangeArrowheads="1"/>
          </p:cNvSpPr>
          <p:nvPr/>
        </p:nvSpPr>
        <p:spPr bwMode="auto">
          <a:xfrm>
            <a:off x="304800" y="1781175"/>
            <a:ext cx="6324600" cy="1349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0000"/>
              </a:lnSpc>
              <a:spcBef>
                <a:spcPct val="50000"/>
              </a:spcBef>
            </a:pPr>
            <a:r>
              <a:rPr lang="zh-CN" altLang="zh-CN" sz="2400">
                <a:latin typeface="Times New Roman" panose="02020603050405020304" pitchFamily="18" charset="0"/>
              </a:rPr>
              <a:t>min</a:t>
            </a:r>
            <a:r>
              <a:rPr lang="en-US" altLang="zh-CN" sz="2400">
                <a:latin typeface="Times New Roman" panose="02020603050405020304" pitchFamily="18" charset="0"/>
              </a:rPr>
              <a:t> </a:t>
            </a:r>
            <a:r>
              <a:rPr lang="zh-CN" altLang="zh-CN" sz="2400">
                <a:latin typeface="Times New Roman" panose="02020603050405020304" pitchFamily="18" charset="0"/>
              </a:rPr>
              <a:t> </a:t>
            </a:r>
            <a:r>
              <a:rPr lang="en-US" altLang="zh-CN" sz="2400">
                <a:latin typeface="Times New Roman" panose="02020603050405020304" pitchFamily="18" charset="0"/>
              </a:rPr>
              <a:t>z</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baseline="-25000">
                <a:latin typeface="Times New Roman" panose="02020603050405020304" pitchFamily="18" charset="0"/>
              </a:rPr>
              <a:t>11</a:t>
            </a:r>
            <a:r>
              <a:rPr lang="zh-CN" altLang="zh-CN" sz="2400" i="1">
                <a:latin typeface="Times New Roman" panose="02020603050405020304" pitchFamily="18" charset="0"/>
              </a:rPr>
              <a:t>x</a:t>
            </a:r>
            <a:r>
              <a:rPr lang="zh-CN" altLang="zh-CN" sz="2400" baseline="-25000">
                <a:latin typeface="Times New Roman" panose="02020603050405020304" pitchFamily="18" charset="0"/>
              </a:rPr>
              <a:t>11</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baseline="-25000">
                <a:latin typeface="Times New Roman" panose="02020603050405020304" pitchFamily="18" charset="0"/>
              </a:rPr>
              <a:t>12</a:t>
            </a:r>
            <a:r>
              <a:rPr lang="zh-CN" altLang="zh-CN" sz="2400" i="1">
                <a:latin typeface="Times New Roman" panose="02020603050405020304" pitchFamily="18" charset="0"/>
              </a:rPr>
              <a:t>x</a:t>
            </a:r>
            <a:r>
              <a:rPr lang="zh-CN" altLang="zh-CN" sz="2400" baseline="-25000">
                <a:latin typeface="Times New Roman" panose="02020603050405020304" pitchFamily="18" charset="0"/>
              </a:rPr>
              <a:t>12</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baseline="-25000">
                <a:latin typeface="Times New Roman" panose="02020603050405020304" pitchFamily="18" charset="0"/>
              </a:rPr>
              <a:t>1</a:t>
            </a:r>
            <a:r>
              <a:rPr lang="zh-CN" altLang="zh-CN" sz="2400" i="1" baseline="-25000">
                <a:latin typeface="Times New Roman" panose="02020603050405020304" pitchFamily="18" charset="0"/>
              </a:rPr>
              <a:t>n</a:t>
            </a:r>
            <a:r>
              <a:rPr lang="zh-CN" altLang="zh-CN" sz="2400" i="1">
                <a:latin typeface="Times New Roman" panose="02020603050405020304" pitchFamily="18" charset="0"/>
              </a:rPr>
              <a:t>x</a:t>
            </a:r>
            <a:r>
              <a:rPr lang="zh-CN" altLang="zh-CN" sz="2400" baseline="-25000">
                <a:latin typeface="Times New Roman" panose="02020603050405020304" pitchFamily="18" charset="0"/>
              </a:rPr>
              <a:t>1</a:t>
            </a:r>
            <a:r>
              <a:rPr lang="zh-CN" altLang="zh-CN" sz="2400" i="1" baseline="-25000">
                <a:latin typeface="Times New Roman" panose="02020603050405020304" pitchFamily="18" charset="0"/>
              </a:rPr>
              <a:t>n</a:t>
            </a:r>
            <a:r>
              <a:rPr lang="zh-CN" altLang="zh-CN" sz="2400">
                <a:latin typeface="Times New Roman" panose="02020603050405020304" pitchFamily="18" charset="0"/>
              </a:rPr>
              <a:t>) </a:t>
            </a:r>
          </a:p>
          <a:p>
            <a:pPr eaLnBrk="1" hangingPunct="1">
              <a:lnSpc>
                <a:spcPct val="80000"/>
              </a:lnSpc>
              <a:spcBef>
                <a:spcPct val="50000"/>
              </a:spcBef>
            </a:pPr>
            <a:r>
              <a:rPr lang="zh-CN" altLang="zh-CN" sz="2400">
                <a:latin typeface="Times New Roman" panose="02020603050405020304" pitchFamily="18" charset="0"/>
              </a:rPr>
              <a:t>                 +(</a:t>
            </a:r>
            <a:r>
              <a:rPr lang="zh-CN" altLang="zh-CN" sz="2400" i="1">
                <a:latin typeface="Times New Roman" panose="02020603050405020304" pitchFamily="18" charset="0"/>
              </a:rPr>
              <a:t>c</a:t>
            </a:r>
            <a:r>
              <a:rPr lang="zh-CN" altLang="zh-CN" sz="2400" baseline="-25000">
                <a:latin typeface="Times New Roman" panose="02020603050405020304" pitchFamily="18" charset="0"/>
              </a:rPr>
              <a:t>21</a:t>
            </a:r>
            <a:r>
              <a:rPr lang="zh-CN" altLang="zh-CN" sz="2400" i="1">
                <a:latin typeface="Times New Roman" panose="02020603050405020304" pitchFamily="18" charset="0"/>
              </a:rPr>
              <a:t>x</a:t>
            </a:r>
            <a:r>
              <a:rPr lang="zh-CN" altLang="zh-CN" sz="2400" baseline="-25000">
                <a:latin typeface="Times New Roman" panose="02020603050405020304" pitchFamily="18" charset="0"/>
              </a:rPr>
              <a:t>21</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baseline="-25000">
                <a:latin typeface="Times New Roman" panose="02020603050405020304" pitchFamily="18" charset="0"/>
              </a:rPr>
              <a:t>22</a:t>
            </a:r>
            <a:r>
              <a:rPr lang="zh-CN" altLang="zh-CN" sz="2400" i="1">
                <a:latin typeface="Times New Roman" panose="02020603050405020304" pitchFamily="18" charset="0"/>
              </a:rPr>
              <a:t>x</a:t>
            </a:r>
            <a:r>
              <a:rPr lang="zh-CN" altLang="zh-CN" sz="2400" baseline="-25000">
                <a:latin typeface="Times New Roman" panose="02020603050405020304" pitchFamily="18" charset="0"/>
              </a:rPr>
              <a:t>22</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baseline="-25000">
                <a:latin typeface="Times New Roman" panose="02020603050405020304" pitchFamily="18" charset="0"/>
              </a:rPr>
              <a:t>2</a:t>
            </a:r>
            <a:r>
              <a:rPr lang="zh-CN" altLang="zh-CN" sz="2400" i="1" baseline="-25000">
                <a:latin typeface="Times New Roman" panose="02020603050405020304" pitchFamily="18" charset="0"/>
              </a:rPr>
              <a:t>n</a:t>
            </a:r>
            <a:r>
              <a:rPr lang="zh-CN" altLang="zh-CN" sz="2400" i="1">
                <a:latin typeface="Times New Roman" panose="02020603050405020304" pitchFamily="18" charset="0"/>
              </a:rPr>
              <a:t>x</a:t>
            </a:r>
            <a:r>
              <a:rPr lang="zh-CN" altLang="zh-CN" sz="2400" baseline="-25000">
                <a:latin typeface="Times New Roman" panose="02020603050405020304" pitchFamily="18" charset="0"/>
              </a:rPr>
              <a:t>2</a:t>
            </a:r>
            <a:r>
              <a:rPr lang="zh-CN" altLang="zh-CN" sz="2400" i="1" baseline="-25000">
                <a:latin typeface="Times New Roman" panose="02020603050405020304" pitchFamily="18" charset="0"/>
              </a:rPr>
              <a:t>n</a:t>
            </a:r>
            <a:r>
              <a:rPr lang="zh-CN" altLang="zh-CN" sz="2400">
                <a:latin typeface="Times New Roman" panose="02020603050405020304" pitchFamily="18" charset="0"/>
              </a:rPr>
              <a:t>) </a:t>
            </a:r>
          </a:p>
          <a:p>
            <a:pPr eaLnBrk="1" hangingPunct="1">
              <a:lnSpc>
                <a:spcPct val="80000"/>
              </a:lnSpc>
              <a:spcBef>
                <a:spcPct val="50000"/>
              </a:spcBef>
            </a:pPr>
            <a:r>
              <a:rPr lang="zh-CN" altLang="zh-CN" sz="2400">
                <a:latin typeface="Times New Roman" panose="02020603050405020304" pitchFamily="18" charset="0"/>
              </a:rPr>
              <a:t>                 +</a:t>
            </a:r>
            <a:r>
              <a:rPr lang="zh-CN" altLang="zh-CN"/>
              <a:t>…</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1</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1</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2</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2</a:t>
            </a:r>
            <a:r>
              <a:rPr lang="zh-CN" altLang="zh-CN" sz="2400">
                <a:latin typeface="Times New Roman" panose="02020603050405020304" pitchFamily="18" charset="0"/>
              </a:rPr>
              <a:t>+…+</a:t>
            </a:r>
            <a:r>
              <a:rPr lang="zh-CN" altLang="zh-CN" sz="2400" i="1">
                <a:latin typeface="Times New Roman" panose="02020603050405020304" pitchFamily="18" charset="0"/>
              </a:rPr>
              <a:t>c</a:t>
            </a:r>
            <a:r>
              <a:rPr lang="zh-CN" altLang="zh-CN" sz="2400" i="1" baseline="-25000">
                <a:latin typeface="Times New Roman" panose="02020603050405020304" pitchFamily="18" charset="0"/>
              </a:rPr>
              <a:t>mn</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mn</a:t>
            </a:r>
            <a:r>
              <a:rPr lang="zh-CN" altLang="zh-CN" sz="2400">
                <a:latin typeface="Times New Roman" panose="02020603050405020304" pitchFamily="18" charset="0"/>
              </a:rPr>
              <a:t>)</a:t>
            </a:r>
          </a:p>
        </p:txBody>
      </p:sp>
      <p:sp>
        <p:nvSpPr>
          <p:cNvPr id="21509" name="Text Box 5">
            <a:extLst>
              <a:ext uri="{FF2B5EF4-FFF2-40B4-BE49-F238E27FC236}">
                <a16:creationId xmlns:a16="http://schemas.microsoft.com/office/drawing/2014/main" id="{DE3059B4-6F0E-4233-AD6D-0051A704455B}"/>
              </a:ext>
            </a:extLst>
          </p:cNvPr>
          <p:cNvSpPr txBox="1">
            <a:spLocks noChangeArrowheads="1"/>
          </p:cNvSpPr>
          <p:nvPr/>
        </p:nvSpPr>
        <p:spPr bwMode="auto">
          <a:xfrm>
            <a:off x="698500" y="3108325"/>
            <a:ext cx="5676900" cy="3597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0000"/>
              </a:lnSpc>
              <a:spcBef>
                <a:spcPct val="50000"/>
              </a:spcBef>
            </a:pPr>
            <a:r>
              <a:rPr lang="zh-CN" altLang="zh-CN" sz="2400" i="1">
                <a:latin typeface="Times New Roman" panose="02020603050405020304" pitchFamily="18" charset="0"/>
              </a:rPr>
              <a:t>x</a:t>
            </a:r>
            <a:r>
              <a:rPr lang="zh-CN" altLang="zh-CN" sz="2400" baseline="-25000">
                <a:latin typeface="Times New Roman" panose="02020603050405020304" pitchFamily="18" charset="0"/>
              </a:rPr>
              <a:t>11</a:t>
            </a:r>
            <a:r>
              <a:rPr lang="zh-CN" altLang="zh-CN" sz="2400">
                <a:latin typeface="Times New Roman" panose="02020603050405020304" pitchFamily="18" charset="0"/>
              </a:rPr>
              <a:t>+…+</a:t>
            </a:r>
            <a:r>
              <a:rPr lang="zh-CN" altLang="zh-CN">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1</a:t>
            </a:r>
            <a:r>
              <a:rPr lang="zh-CN" altLang="zh-CN" sz="2400" i="1" baseline="-25000">
                <a:latin typeface="Times New Roman" panose="02020603050405020304" pitchFamily="18" charset="0"/>
              </a:rPr>
              <a:t>n</a:t>
            </a:r>
            <a:r>
              <a:rPr lang="zh-CN" altLang="zh-CN" sz="2400">
                <a:latin typeface="Times New Roman" panose="02020603050405020304" pitchFamily="18" charset="0"/>
              </a:rPr>
              <a:t> </a:t>
            </a:r>
            <a:r>
              <a:rPr lang="en-US" altLang="zh-CN" sz="2400">
                <a:latin typeface="Times New Roman" panose="02020603050405020304" pitchFamily="18" charset="0"/>
              </a:rPr>
              <a:t> </a:t>
            </a:r>
            <a:r>
              <a:rPr lang="zh-CN" altLang="zh-CN" sz="2400">
                <a:latin typeface="Times New Roman" panose="02020603050405020304" pitchFamily="18" charset="0"/>
              </a:rPr>
              <a:t>                                   </a:t>
            </a:r>
            <a:r>
              <a:rPr lang="en-US" altLang="zh-CN" sz="2400">
                <a:latin typeface="Times New Roman" panose="02020603050405020304" pitchFamily="18" charset="0"/>
              </a:rPr>
              <a:t> </a:t>
            </a:r>
            <a:r>
              <a:rPr lang="zh-CN" altLang="zh-CN" sz="2400">
                <a:latin typeface="Times New Roman" panose="02020603050405020304" pitchFamily="18" charset="0"/>
              </a:rPr>
              <a:t>     =</a:t>
            </a:r>
            <a:r>
              <a:rPr lang="zh-CN" altLang="zh-CN" sz="2400" i="1">
                <a:latin typeface="Times New Roman" panose="02020603050405020304" pitchFamily="18" charset="0"/>
              </a:rPr>
              <a:t>a</a:t>
            </a:r>
            <a:r>
              <a:rPr lang="zh-CN" altLang="zh-CN" sz="2400" baseline="-25000">
                <a:latin typeface="Times New Roman" panose="02020603050405020304" pitchFamily="18" charset="0"/>
              </a:rPr>
              <a:t>1</a:t>
            </a:r>
          </a:p>
          <a:p>
            <a:pPr eaLnBrk="1" hangingPunct="1">
              <a:lnSpc>
                <a:spcPct val="80000"/>
              </a:lnSpc>
              <a:spcBef>
                <a:spcPct val="50000"/>
              </a:spcBef>
            </a:pP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21</a:t>
            </a:r>
            <a:r>
              <a:rPr lang="zh-CN" altLang="zh-CN" sz="2400">
                <a:latin typeface="Times New Roman" panose="02020603050405020304" pitchFamily="18" charset="0"/>
              </a:rPr>
              <a:t>+…+</a:t>
            </a:r>
            <a:r>
              <a:rPr lang="zh-CN" altLang="zh-CN" sz="2400" i="1">
                <a:latin typeface="Times New Roman" panose="02020603050405020304" pitchFamily="18" charset="0"/>
              </a:rPr>
              <a:t>x</a:t>
            </a:r>
            <a:r>
              <a:rPr lang="zh-CN" altLang="zh-CN" sz="2400" baseline="-25000">
                <a:latin typeface="Times New Roman" panose="02020603050405020304" pitchFamily="18" charset="0"/>
              </a:rPr>
              <a:t>2</a:t>
            </a:r>
            <a:r>
              <a:rPr lang="zh-CN" altLang="zh-CN" sz="2400" i="1" baseline="-25000">
                <a:latin typeface="Times New Roman" panose="02020603050405020304" pitchFamily="18" charset="0"/>
              </a:rPr>
              <a:t>n</a:t>
            </a:r>
            <a:r>
              <a:rPr lang="zh-CN" altLang="zh-CN" sz="2400">
                <a:latin typeface="Times New Roman" panose="02020603050405020304" pitchFamily="18" charset="0"/>
              </a:rPr>
              <a:t>                          =</a:t>
            </a:r>
            <a:r>
              <a:rPr lang="zh-CN" altLang="zh-CN" sz="2400" i="1">
                <a:latin typeface="Times New Roman" panose="02020603050405020304" pitchFamily="18" charset="0"/>
              </a:rPr>
              <a:t>a</a:t>
            </a:r>
            <a:r>
              <a:rPr lang="zh-CN" altLang="zh-CN" sz="2400" baseline="-25000">
                <a:latin typeface="Times New Roman" panose="02020603050405020304" pitchFamily="18" charset="0"/>
              </a:rPr>
              <a:t>2</a:t>
            </a:r>
          </a:p>
          <a:p>
            <a:pPr eaLnBrk="1" hangingPunct="1">
              <a:lnSpc>
                <a:spcPct val="80000"/>
              </a:lnSpc>
              <a:spcBef>
                <a:spcPct val="50000"/>
              </a:spcBef>
            </a:pPr>
            <a:r>
              <a:rPr lang="zh-CN" altLang="zh-CN" sz="2400">
                <a:latin typeface="Times New Roman" panose="02020603050405020304" pitchFamily="18" charset="0"/>
              </a:rPr>
              <a:t>                   …</a:t>
            </a:r>
          </a:p>
          <a:p>
            <a:pPr eaLnBrk="1" hangingPunct="1">
              <a:lnSpc>
                <a:spcPct val="80000"/>
              </a:lnSpc>
              <a:spcBef>
                <a:spcPct val="50000"/>
              </a:spcBef>
            </a:pP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1</a:t>
            </a:r>
            <a:r>
              <a:rPr lang="zh-CN" altLang="zh-CN" sz="2400">
                <a:latin typeface="Times New Roman" panose="02020603050405020304" pitchFamily="18" charset="0"/>
              </a:rPr>
              <a:t>+…+</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mn</a:t>
            </a:r>
            <a:r>
              <a:rPr lang="zh-CN" altLang="zh-CN" sz="2400">
                <a:latin typeface="Times New Roman" panose="02020603050405020304" pitchFamily="18" charset="0"/>
              </a:rPr>
              <a:t>       =</a:t>
            </a:r>
            <a:r>
              <a:rPr lang="zh-CN" altLang="zh-CN" sz="2400" i="1">
                <a:latin typeface="Times New Roman" panose="02020603050405020304" pitchFamily="18" charset="0"/>
              </a:rPr>
              <a:t>a</a:t>
            </a:r>
            <a:r>
              <a:rPr lang="zh-CN" altLang="zh-CN" sz="2400" i="1" baseline="-25000">
                <a:latin typeface="Times New Roman" panose="02020603050405020304" pitchFamily="18" charset="0"/>
              </a:rPr>
              <a:t>m</a:t>
            </a:r>
          </a:p>
          <a:p>
            <a:pPr eaLnBrk="1" hangingPunct="1">
              <a:lnSpc>
                <a:spcPct val="80000"/>
              </a:lnSpc>
              <a:spcBef>
                <a:spcPct val="50000"/>
              </a:spcBef>
            </a:pPr>
            <a:r>
              <a:rPr lang="zh-CN" altLang="zh-CN" sz="2400" i="1">
                <a:latin typeface="Times New Roman" panose="02020603050405020304" pitchFamily="18" charset="0"/>
              </a:rPr>
              <a:t>x</a:t>
            </a:r>
            <a:r>
              <a:rPr lang="zh-CN" altLang="zh-CN" sz="2400" baseline="-25000">
                <a:latin typeface="Times New Roman" panose="02020603050405020304" pitchFamily="18" charset="0"/>
              </a:rPr>
              <a:t>11</a:t>
            </a: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21</a:t>
            </a:r>
            <a:r>
              <a:rPr lang="zh-CN" altLang="zh-CN" sz="2400">
                <a:latin typeface="Times New Roman" panose="02020603050405020304" pitchFamily="18" charset="0"/>
              </a:rPr>
              <a:t>+</a:t>
            </a:r>
            <a:r>
              <a:rPr lang="zh-CN" altLang="zh-CN"/>
              <a:t>…</a:t>
            </a:r>
            <a:r>
              <a:rPr lang="zh-CN" altLang="zh-CN" sz="2400" baseline="-25000">
                <a:latin typeface="Times New Roman" panose="02020603050405020304" pitchFamily="18" charset="0"/>
              </a:rPr>
              <a:t> </a:t>
            </a: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1</a:t>
            </a:r>
            <a:r>
              <a:rPr lang="zh-CN" altLang="zh-CN" sz="2400">
                <a:latin typeface="Times New Roman" panose="02020603050405020304" pitchFamily="18" charset="0"/>
              </a:rPr>
              <a:t>                      =</a:t>
            </a:r>
            <a:r>
              <a:rPr lang="zh-CN" altLang="zh-CN" sz="2400" i="1">
                <a:latin typeface="Times New Roman" panose="02020603050405020304" pitchFamily="18" charset="0"/>
              </a:rPr>
              <a:t>b</a:t>
            </a:r>
            <a:r>
              <a:rPr lang="zh-CN" altLang="zh-CN" sz="2400" baseline="-25000">
                <a:latin typeface="Times New Roman" panose="02020603050405020304" pitchFamily="18" charset="0"/>
              </a:rPr>
              <a:t>1</a:t>
            </a:r>
          </a:p>
          <a:p>
            <a:pPr eaLnBrk="1" hangingPunct="1">
              <a:lnSpc>
                <a:spcPct val="80000"/>
              </a:lnSpc>
              <a:spcBef>
                <a:spcPct val="50000"/>
              </a:spcBef>
            </a:pP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12</a:t>
            </a: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22</a:t>
            </a:r>
            <a:r>
              <a:rPr lang="zh-CN" altLang="zh-CN" sz="2400">
                <a:latin typeface="Times New Roman" panose="02020603050405020304" pitchFamily="18" charset="0"/>
              </a:rPr>
              <a:t>+</a:t>
            </a:r>
            <a:r>
              <a:rPr lang="zh-CN" altLang="zh-CN"/>
              <a:t>…</a:t>
            </a: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a:t>
            </a:r>
            <a:r>
              <a:rPr lang="zh-CN" altLang="zh-CN" sz="2400" baseline="-25000">
                <a:latin typeface="Times New Roman" panose="02020603050405020304" pitchFamily="18" charset="0"/>
              </a:rPr>
              <a:t>2</a:t>
            </a:r>
            <a:r>
              <a:rPr lang="zh-CN" altLang="zh-CN" sz="2400">
                <a:latin typeface="Times New Roman" panose="02020603050405020304" pitchFamily="18" charset="0"/>
              </a:rPr>
              <a:t>                  =</a:t>
            </a:r>
            <a:r>
              <a:rPr lang="zh-CN" altLang="zh-CN" sz="2400" i="1">
                <a:latin typeface="Times New Roman" panose="02020603050405020304" pitchFamily="18" charset="0"/>
              </a:rPr>
              <a:t>b</a:t>
            </a:r>
            <a:r>
              <a:rPr lang="zh-CN" altLang="zh-CN" sz="2400" baseline="-25000">
                <a:latin typeface="Times New Roman" panose="02020603050405020304" pitchFamily="18" charset="0"/>
              </a:rPr>
              <a:t>2</a:t>
            </a:r>
          </a:p>
          <a:p>
            <a:pPr eaLnBrk="1" hangingPunct="1">
              <a:lnSpc>
                <a:spcPct val="80000"/>
              </a:lnSpc>
              <a:spcBef>
                <a:spcPct val="50000"/>
              </a:spcBef>
            </a:pPr>
            <a:r>
              <a:rPr lang="zh-CN" altLang="zh-CN"/>
              <a:t>       …                 …                 …</a:t>
            </a:r>
          </a:p>
          <a:p>
            <a:pPr eaLnBrk="1" hangingPunct="1">
              <a:lnSpc>
                <a:spcPct val="80000"/>
              </a:lnSpc>
              <a:spcBef>
                <a:spcPct val="50000"/>
              </a:spcBef>
            </a:pP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1</a:t>
            </a:r>
            <a:r>
              <a:rPr lang="zh-CN" altLang="zh-CN" sz="2400" i="1" baseline="-25000">
                <a:latin typeface="Times New Roman" panose="02020603050405020304" pitchFamily="18" charset="0"/>
              </a:rPr>
              <a:t>n</a:t>
            </a: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baseline="-25000">
                <a:latin typeface="Times New Roman" panose="02020603050405020304" pitchFamily="18" charset="0"/>
              </a:rPr>
              <a:t>2</a:t>
            </a:r>
            <a:r>
              <a:rPr lang="zh-CN" altLang="zh-CN" sz="2400" i="1" baseline="-25000">
                <a:latin typeface="Times New Roman" panose="02020603050405020304" pitchFamily="18" charset="0"/>
              </a:rPr>
              <a:t>n</a:t>
            </a:r>
            <a:r>
              <a:rPr lang="zh-CN" altLang="zh-CN" sz="2400">
                <a:latin typeface="Times New Roman" panose="02020603050405020304" pitchFamily="18" charset="0"/>
              </a:rPr>
              <a:t>+</a:t>
            </a:r>
            <a:r>
              <a:rPr lang="zh-CN" altLang="zh-CN"/>
              <a:t>…</a:t>
            </a:r>
            <a:r>
              <a:rPr lang="zh-CN" altLang="zh-CN" sz="2400">
                <a:latin typeface="Times New Roman" panose="02020603050405020304" pitchFamily="18" charset="0"/>
              </a:rPr>
              <a:t>        </a:t>
            </a:r>
            <a:r>
              <a:rPr lang="zh-CN" altLang="zh-CN" sz="2400" i="1">
                <a:latin typeface="Times New Roman" panose="02020603050405020304" pitchFamily="18" charset="0"/>
              </a:rPr>
              <a:t>x</a:t>
            </a:r>
            <a:r>
              <a:rPr lang="zh-CN" altLang="zh-CN" sz="2400" i="1" baseline="-25000">
                <a:latin typeface="Times New Roman" panose="02020603050405020304" pitchFamily="18" charset="0"/>
              </a:rPr>
              <a:t>mn</a:t>
            </a:r>
            <a:r>
              <a:rPr lang="zh-CN" altLang="zh-CN" sz="2400">
                <a:latin typeface="Times New Roman" panose="02020603050405020304" pitchFamily="18" charset="0"/>
              </a:rPr>
              <a:t>              =</a:t>
            </a:r>
            <a:r>
              <a:rPr lang="zh-CN" altLang="zh-CN" sz="2400" i="1">
                <a:latin typeface="Times New Roman" panose="02020603050405020304" pitchFamily="18" charset="0"/>
              </a:rPr>
              <a:t>b</a:t>
            </a:r>
            <a:r>
              <a:rPr lang="zh-CN" altLang="zh-CN" sz="2400" i="1" baseline="-25000">
                <a:latin typeface="Times New Roman" panose="02020603050405020304" pitchFamily="18" charset="0"/>
              </a:rPr>
              <a:t>n</a:t>
            </a:r>
          </a:p>
        </p:txBody>
      </p:sp>
      <p:sp>
        <p:nvSpPr>
          <p:cNvPr id="21510" name="AutoShape 6">
            <a:extLst>
              <a:ext uri="{FF2B5EF4-FFF2-40B4-BE49-F238E27FC236}">
                <a16:creationId xmlns:a16="http://schemas.microsoft.com/office/drawing/2014/main" id="{B471F064-885A-4742-A0C5-9C039E126E5C}"/>
              </a:ext>
            </a:extLst>
          </p:cNvPr>
          <p:cNvSpPr>
            <a:spLocks/>
          </p:cNvSpPr>
          <p:nvPr/>
        </p:nvSpPr>
        <p:spPr bwMode="auto">
          <a:xfrm>
            <a:off x="533400" y="3230563"/>
            <a:ext cx="88900" cy="3289300"/>
          </a:xfrm>
          <a:prstGeom prst="leftBrace">
            <a:avLst>
              <a:gd name="adj1" fmla="val 3083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a:p>
        </p:txBody>
      </p:sp>
      <p:sp>
        <p:nvSpPr>
          <p:cNvPr id="20" name="Text Box 7">
            <a:extLst>
              <a:ext uri="{FF2B5EF4-FFF2-40B4-BE49-F238E27FC236}">
                <a16:creationId xmlns:a16="http://schemas.microsoft.com/office/drawing/2014/main" id="{6559B9ED-52CF-40AA-B930-FBDBB2F627A1}"/>
              </a:ext>
            </a:extLst>
          </p:cNvPr>
          <p:cNvSpPr txBox="1">
            <a:spLocks noChangeArrowheads="1"/>
          </p:cNvSpPr>
          <p:nvPr/>
        </p:nvSpPr>
        <p:spPr bwMode="auto">
          <a:xfrm>
            <a:off x="6299200" y="3733800"/>
            <a:ext cx="2832100" cy="2967038"/>
          </a:xfrm>
          <a:prstGeom prst="rect">
            <a:avLst/>
          </a:prstGeom>
          <a:solidFill>
            <a:srgbClr val="CCFFFF"/>
          </a:solidFill>
          <a:ln>
            <a:noFill/>
          </a:ln>
          <a:effectLst/>
        </p:spPr>
        <p:txBody>
          <a:bodyPr lIns="90000" tIns="46800" rIns="90000" bIns="46800">
            <a:spAutoFit/>
          </a:bodyPr>
          <a:lstStyle/>
          <a:p>
            <a:pPr eaLnBrk="1" hangingPunct="1">
              <a:lnSpc>
                <a:spcPct val="150000"/>
              </a:lnSpc>
              <a:defRPr/>
            </a:pPr>
            <a:r>
              <a:rPr lang="zh-CN" altLang="zh-CN" sz="2000" b="1" dirty="0">
                <a:latin typeface="Times New Roman" panose="02020603050405020304" pitchFamily="18" charset="0"/>
                <a:ea typeface="+mn-ea"/>
                <a:cs typeface="Times New Roman" panose="02020603050405020304" pitchFamily="18" charset="0"/>
              </a:rPr>
              <a:t>约束方程式共</a:t>
            </a:r>
            <a:r>
              <a:rPr lang="zh-CN" altLang="zh-CN" sz="2000" b="1" i="1" dirty="0">
                <a:latin typeface="Times New Roman" panose="02020603050405020304" pitchFamily="18" charset="0"/>
                <a:ea typeface="+mn-ea"/>
                <a:cs typeface="Times New Roman" panose="02020603050405020304" pitchFamily="18" charset="0"/>
              </a:rPr>
              <a:t>m</a:t>
            </a:r>
            <a:r>
              <a:rPr lang="zh-CN" altLang="zh-CN" sz="2000" b="1" dirty="0">
                <a:latin typeface="Times New Roman" panose="02020603050405020304" pitchFamily="18" charset="0"/>
                <a:ea typeface="+mn-ea"/>
                <a:cs typeface="Times New Roman" panose="02020603050405020304" pitchFamily="18" charset="0"/>
              </a:rPr>
              <a:t>×</a:t>
            </a:r>
            <a:r>
              <a:rPr lang="zh-CN" altLang="zh-CN" sz="2000" b="1" i="1" dirty="0">
                <a:latin typeface="Times New Roman" panose="02020603050405020304" pitchFamily="18" charset="0"/>
                <a:ea typeface="+mn-ea"/>
                <a:cs typeface="Times New Roman" panose="02020603050405020304" pitchFamily="18" charset="0"/>
              </a:rPr>
              <a:t>n</a:t>
            </a:r>
            <a:r>
              <a:rPr lang="zh-CN" altLang="zh-CN" sz="2000" b="1" dirty="0">
                <a:latin typeface="Times New Roman" panose="02020603050405020304" pitchFamily="18" charset="0"/>
                <a:ea typeface="+mn-ea"/>
                <a:cs typeface="Times New Roman" panose="02020603050405020304" pitchFamily="18" charset="0"/>
              </a:rPr>
              <a:t>个</a:t>
            </a:r>
            <a:r>
              <a:rPr kumimoji="1" lang="zh-CN" altLang="en-US" sz="2000" b="1" dirty="0">
                <a:latin typeface="Times New Roman" panose="02020603050405020304" pitchFamily="18" charset="0"/>
              </a:rPr>
              <a:t>决策</a:t>
            </a:r>
            <a:r>
              <a:rPr lang="zh-CN" altLang="zh-CN" sz="2000" b="1" dirty="0">
                <a:latin typeface="Times New Roman" panose="02020603050405020304" pitchFamily="18" charset="0"/>
                <a:ea typeface="+mn-ea"/>
                <a:cs typeface="Times New Roman" panose="02020603050405020304" pitchFamily="18" charset="0"/>
              </a:rPr>
              <a:t>变量，</a:t>
            </a:r>
            <a:r>
              <a:rPr lang="zh-CN" altLang="zh-CN" sz="2000" b="1" i="1" dirty="0">
                <a:latin typeface="Times New Roman" panose="02020603050405020304" pitchFamily="18" charset="0"/>
                <a:ea typeface="+mn-ea"/>
                <a:cs typeface="Times New Roman" panose="02020603050405020304" pitchFamily="18" charset="0"/>
              </a:rPr>
              <a:t>m</a:t>
            </a:r>
            <a:r>
              <a:rPr lang="zh-CN" altLang="zh-CN" sz="2000" b="1" dirty="0">
                <a:latin typeface="Times New Roman" panose="02020603050405020304" pitchFamily="18" charset="0"/>
                <a:ea typeface="+mn-ea"/>
                <a:cs typeface="Times New Roman" panose="02020603050405020304" pitchFamily="18" charset="0"/>
              </a:rPr>
              <a:t>+</a:t>
            </a:r>
            <a:r>
              <a:rPr lang="zh-CN" altLang="zh-CN" sz="2000" b="1" i="1" dirty="0">
                <a:latin typeface="Times New Roman" panose="02020603050405020304" pitchFamily="18" charset="0"/>
                <a:ea typeface="+mn-ea"/>
                <a:cs typeface="Times New Roman" panose="02020603050405020304" pitchFamily="18" charset="0"/>
              </a:rPr>
              <a:t>n</a:t>
            </a:r>
            <a:r>
              <a:rPr lang="zh-CN" altLang="zh-CN" sz="2000" b="1" dirty="0">
                <a:latin typeface="Times New Roman" panose="02020603050405020304" pitchFamily="18" charset="0"/>
                <a:ea typeface="+mn-ea"/>
                <a:cs typeface="Times New Roman" panose="02020603050405020304" pitchFamily="18" charset="0"/>
              </a:rPr>
              <a:t>个约束条件</a:t>
            </a:r>
            <a:r>
              <a:rPr lang="zh-CN" altLang="en-US" sz="2000" b="1" dirty="0">
                <a:latin typeface="Times New Roman" panose="02020603050405020304" pitchFamily="18" charset="0"/>
                <a:ea typeface="+mn-ea"/>
                <a:cs typeface="Times New Roman" panose="02020603050405020304" pitchFamily="18" charset="0"/>
              </a:rPr>
              <a:t>。</a:t>
            </a:r>
            <a:r>
              <a:rPr kumimoji="1" lang="en-US" altLang="zh-CN" sz="2000" b="1" i="1" dirty="0" err="1">
                <a:latin typeface="Times New Roman" panose="02020603050405020304" pitchFamily="18" charset="0"/>
                <a:ea typeface="+mn-ea"/>
                <a:cs typeface="Times New Roman" panose="02020603050405020304" pitchFamily="18" charset="0"/>
              </a:rPr>
              <a:t>m</a:t>
            </a:r>
            <a:r>
              <a:rPr kumimoji="1" lang="en-US" altLang="zh-CN" sz="2000" b="1" dirty="0" err="1">
                <a:latin typeface="Times New Roman" panose="02020603050405020304" pitchFamily="18" charset="0"/>
                <a:ea typeface="+mn-ea"/>
                <a:cs typeface="Times New Roman" panose="02020603050405020304" pitchFamily="18" charset="0"/>
              </a:rPr>
              <a:t>+</a:t>
            </a:r>
            <a:r>
              <a:rPr kumimoji="1" lang="en-US" altLang="zh-CN" sz="2000" b="1" i="1" dirty="0" err="1">
                <a:latin typeface="Times New Roman" panose="02020603050405020304" pitchFamily="18" charset="0"/>
                <a:ea typeface="+mn-ea"/>
                <a:cs typeface="Times New Roman" panose="02020603050405020304" pitchFamily="18" charset="0"/>
              </a:rPr>
              <a:t>n</a:t>
            </a:r>
            <a:r>
              <a:rPr kumimoji="1" lang="en-US" altLang="zh-CN" sz="2000" b="1" dirty="0">
                <a:latin typeface="Times New Roman" panose="02020603050405020304" pitchFamily="18" charset="0"/>
                <a:ea typeface="+mn-ea"/>
                <a:cs typeface="Times New Roman" panose="02020603050405020304" pitchFamily="18" charset="0"/>
              </a:rPr>
              <a:t>–1</a:t>
            </a:r>
            <a:r>
              <a:rPr kumimoji="1" lang="zh-CN" altLang="en-US" sz="2000" b="1" dirty="0">
                <a:latin typeface="Times New Roman" panose="02020603050405020304" pitchFamily="18" charset="0"/>
                <a:ea typeface="+mn-ea"/>
                <a:cs typeface="Times New Roman" panose="02020603050405020304" pitchFamily="18" charset="0"/>
              </a:rPr>
              <a:t>个相互独立</a:t>
            </a:r>
            <a:r>
              <a:rPr kumimoji="1" lang="en-US" altLang="zh-CN" sz="2000" dirty="0">
                <a:latin typeface="Times New Roman" panose="02020603050405020304" pitchFamily="18" charset="0"/>
              </a:rPr>
              <a:t> </a:t>
            </a:r>
            <a:r>
              <a:rPr kumimoji="1" lang="en-US" altLang="zh-CN" sz="2000" b="1" dirty="0">
                <a:latin typeface="Times New Roman" panose="02020603050405020304" pitchFamily="18" charset="0"/>
                <a:ea typeface="+mn-ea"/>
                <a:cs typeface="Times New Roman" panose="02020603050405020304" pitchFamily="18" charset="0"/>
              </a:rPr>
              <a:t>(</a:t>
            </a:r>
            <a:r>
              <a:rPr kumimoji="1" lang="zh-CN" altLang="en-US" sz="2000" b="1" dirty="0">
                <a:latin typeface="Times New Roman" panose="02020603050405020304" pitchFamily="18" charset="0"/>
                <a:ea typeface="+mn-ea"/>
                <a:cs typeface="Times New Roman" panose="02020603050405020304" pitchFamily="18" charset="0"/>
              </a:rPr>
              <a:t>产销平衡情况下</a:t>
            </a:r>
            <a:r>
              <a:rPr kumimoji="1" lang="en-US" altLang="zh-CN" sz="2000" b="1" dirty="0">
                <a:latin typeface="Times New Roman" panose="02020603050405020304" pitchFamily="18" charset="0"/>
                <a:ea typeface="+mn-ea"/>
                <a:cs typeface="Times New Roman" panose="02020603050405020304" pitchFamily="18" charset="0"/>
              </a:rPr>
              <a:t>)</a:t>
            </a:r>
            <a:r>
              <a:rPr kumimoji="1" lang="zh-CN" altLang="en-US" sz="2000" b="1" dirty="0">
                <a:latin typeface="Times New Roman" panose="02020603050405020304" pitchFamily="18" charset="0"/>
                <a:ea typeface="+mn-ea"/>
                <a:cs typeface="Times New Roman" panose="02020603050405020304" pitchFamily="18" charset="0"/>
              </a:rPr>
              <a:t>的变量。因此，基变量有 </a:t>
            </a:r>
            <a:r>
              <a:rPr kumimoji="1" lang="en-US" altLang="zh-CN" sz="2000" b="1" i="1" dirty="0" err="1">
                <a:latin typeface="Times New Roman" panose="02020603050405020304" pitchFamily="18" charset="0"/>
              </a:rPr>
              <a:t>m</a:t>
            </a:r>
            <a:r>
              <a:rPr kumimoji="1" lang="en-US" altLang="zh-CN" sz="2000" b="1" dirty="0" err="1">
                <a:latin typeface="Times New Roman" panose="02020603050405020304" pitchFamily="18" charset="0"/>
              </a:rPr>
              <a:t>+</a:t>
            </a:r>
            <a:r>
              <a:rPr kumimoji="1" lang="en-US" altLang="zh-CN" sz="2000" b="1" i="1" dirty="0" err="1">
                <a:latin typeface="Times New Roman" panose="02020603050405020304" pitchFamily="18" charset="0"/>
              </a:rPr>
              <a:t>n</a:t>
            </a:r>
            <a:r>
              <a:rPr kumimoji="1" lang="en-US" altLang="zh-CN" sz="2000" b="1" dirty="0">
                <a:latin typeface="Times New Roman" panose="02020603050405020304" pitchFamily="18" charset="0"/>
              </a:rPr>
              <a:t>–1 </a:t>
            </a:r>
            <a:r>
              <a:rPr kumimoji="1" lang="zh-CN" altLang="en-US" sz="2000" b="1" dirty="0">
                <a:latin typeface="Times New Roman" panose="02020603050405020304" pitchFamily="18" charset="0"/>
              </a:rPr>
              <a:t>个。</a:t>
            </a:r>
            <a:r>
              <a:rPr kumimoji="1" lang="zh-CN" altLang="en-US" sz="2800" b="1" dirty="0">
                <a:solidFill>
                  <a:srgbClr val="FF0000"/>
                </a:solidFill>
                <a:latin typeface="Times New Roman" panose="02020603050405020304" pitchFamily="18" charset="0"/>
              </a:rPr>
              <a:t>？</a:t>
            </a:r>
            <a:endParaRPr lang="zh-CN" altLang="zh-CN" sz="2000" b="1" dirty="0">
              <a:solidFill>
                <a:srgbClr val="FF0000"/>
              </a:solidFill>
              <a:latin typeface="Times New Roman" panose="02020603050405020304" pitchFamily="18" charset="0"/>
              <a:ea typeface="+mn-ea"/>
              <a:cs typeface="Times New Roman" panose="02020603050405020304" pitchFamily="18" charset="0"/>
            </a:endParaRPr>
          </a:p>
        </p:txBody>
      </p:sp>
      <p:sp>
        <p:nvSpPr>
          <p:cNvPr id="21512" name="Rectangle 8">
            <a:extLst>
              <a:ext uri="{FF2B5EF4-FFF2-40B4-BE49-F238E27FC236}">
                <a16:creationId xmlns:a16="http://schemas.microsoft.com/office/drawing/2014/main" id="{C5BC67BE-E1B5-48DE-817B-FA610AFE5D17}"/>
              </a:ext>
            </a:extLst>
          </p:cNvPr>
          <p:cNvSpPr>
            <a:spLocks noChangeArrowheads="1"/>
          </p:cNvSpPr>
          <p:nvPr/>
        </p:nvSpPr>
        <p:spPr bwMode="auto">
          <a:xfrm>
            <a:off x="9123363" y="6697663"/>
            <a:ext cx="7937" cy="793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rgbClr val="000000"/>
              </a:buClr>
              <a:buSzPct val="100000"/>
            </a:pPr>
            <a:r>
              <a:rPr lang="zh-CN" altLang="zh-CN" sz="200">
                <a:solidFill>
                  <a:srgbClr val="FFFFFF"/>
                </a:solidFill>
                <a:sym typeface="Arial" panose="020B0604020202020204" pitchFamily="34" charset="0"/>
              </a:rPr>
              <a:t>蓓证杨湃糊拈蜘砝骁螺员婆铜袒苌适貌蜜壅玺莛庳认愠殪钫骰庾晒疹</a:t>
            </a:r>
          </a:p>
        </p:txBody>
      </p:sp>
      <p:graphicFrame>
        <p:nvGraphicFramePr>
          <p:cNvPr id="21513" name="对象 3">
            <a:extLst>
              <a:ext uri="{FF2B5EF4-FFF2-40B4-BE49-F238E27FC236}">
                <a16:creationId xmlns:a16="http://schemas.microsoft.com/office/drawing/2014/main" id="{6969E988-09E5-4FFE-A06E-EED92C9AA8EA}"/>
              </a:ext>
            </a:extLst>
          </p:cNvPr>
          <p:cNvGraphicFramePr>
            <a:graphicFrameLocks noChangeAspect="1"/>
          </p:cNvGraphicFramePr>
          <p:nvPr/>
        </p:nvGraphicFramePr>
        <p:xfrm>
          <a:off x="7467600" y="2209800"/>
          <a:ext cx="1322388" cy="750888"/>
        </p:xfrm>
        <a:graphic>
          <a:graphicData uri="http://schemas.openxmlformats.org/presentationml/2006/ole">
            <mc:AlternateContent xmlns:mc="http://schemas.openxmlformats.org/markup-compatibility/2006">
              <mc:Choice xmlns:v="urn:schemas-microsoft-com:vml" Requires="v">
                <p:oleObj spid="_x0000_s21527" name="Equation" r:id="rId3" imgW="558558" imgH="317362" progId="Equation.DSMT4">
                  <p:embed/>
                </p:oleObj>
              </mc:Choice>
              <mc:Fallback>
                <p:oleObj name="Equation" r:id="rId3" imgW="558558" imgH="317362" progId="Equation.DSMT4">
                  <p:embed/>
                  <p:pic>
                    <p:nvPicPr>
                      <p:cNvPr id="0"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67600" y="2209800"/>
                        <a:ext cx="1322388" cy="7508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514" name="对象 2">
            <a:extLst>
              <a:ext uri="{FF2B5EF4-FFF2-40B4-BE49-F238E27FC236}">
                <a16:creationId xmlns:a16="http://schemas.microsoft.com/office/drawing/2014/main" id="{CD26F0BD-91E8-4501-8E10-C46C7AE0A781}"/>
              </a:ext>
            </a:extLst>
          </p:cNvPr>
          <p:cNvGraphicFramePr>
            <a:graphicFrameLocks noChangeAspect="1"/>
          </p:cNvGraphicFramePr>
          <p:nvPr/>
        </p:nvGraphicFramePr>
        <p:xfrm>
          <a:off x="7242175" y="52388"/>
          <a:ext cx="1831975" cy="1955800"/>
        </p:xfrm>
        <a:graphic>
          <a:graphicData uri="http://schemas.openxmlformats.org/presentationml/2006/ole">
            <mc:AlternateContent xmlns:mc="http://schemas.openxmlformats.org/markup-compatibility/2006">
              <mc:Choice xmlns:v="urn:schemas-microsoft-com:vml" Requires="v">
                <p:oleObj spid="_x0000_s21528" name="Equation" r:id="rId5" imgW="1498600" imgH="1600200" progId="Equation.DSMT4">
                  <p:embed/>
                </p:oleObj>
              </mc:Choice>
              <mc:Fallback>
                <p:oleObj name="Equation" r:id="rId5" imgW="1498600" imgH="1600200" progId="Equation.DSMT4">
                  <p:embed/>
                  <p:pic>
                    <p:nvPicPr>
                      <p:cNvPr id="0" name="对象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42175" y="52388"/>
                        <a:ext cx="1831975" cy="19558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a:extLst>
              <a:ext uri="{FF2B5EF4-FFF2-40B4-BE49-F238E27FC236}">
                <a16:creationId xmlns:a16="http://schemas.microsoft.com/office/drawing/2014/main" id="{A0FBC611-4832-456A-A774-AF18B024E28B}"/>
              </a:ext>
            </a:extLst>
          </p:cNvPr>
          <p:cNvSpPr>
            <a:spLocks noGrp="1" noChangeArrowheads="1"/>
          </p:cNvSpPr>
          <p:nvPr>
            <p:ph type="title"/>
          </p:nvPr>
        </p:nvSpPr>
        <p:spPr/>
        <p:txBody>
          <a:bodyPr/>
          <a:lstStyle/>
          <a:p>
            <a:pPr eaLnBrk="1" hangingPunct="1"/>
            <a:r>
              <a:rPr lang="zh-CN" altLang="en-US"/>
              <a:t>系数矩阵</a:t>
            </a:r>
            <a:r>
              <a:rPr lang="en-US" altLang="zh-CN"/>
              <a:t>P (P</a:t>
            </a:r>
            <a:r>
              <a:rPr lang="en-US" altLang="zh-CN" baseline="-25000"/>
              <a:t>ij</a:t>
            </a:r>
            <a:r>
              <a:rPr lang="en-US" altLang="zh-CN"/>
              <a:t>)</a:t>
            </a:r>
            <a:endParaRPr lang="zh-CN" altLang="en-US"/>
          </a:p>
        </p:txBody>
      </p:sp>
      <p:sp>
        <p:nvSpPr>
          <p:cNvPr id="185349" name="Rectangle 5">
            <a:extLst>
              <a:ext uri="{FF2B5EF4-FFF2-40B4-BE49-F238E27FC236}">
                <a16:creationId xmlns:a16="http://schemas.microsoft.com/office/drawing/2014/main" id="{B1AED783-238E-4013-8D00-8BB5D1EDD430}"/>
              </a:ext>
            </a:extLst>
          </p:cNvPr>
          <p:cNvSpPr>
            <a:spLocks noChangeArrowheads="1"/>
          </p:cNvSpPr>
          <p:nvPr/>
        </p:nvSpPr>
        <p:spPr bwMode="auto">
          <a:xfrm>
            <a:off x="1049338" y="5472113"/>
            <a:ext cx="87630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715963" indent="-715963">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2400" b="1">
                <a:latin typeface="Times New Roman" panose="02020603050405020304" pitchFamily="18" charset="0"/>
              </a:rPr>
              <a:t>注：技术</a:t>
            </a:r>
            <a:r>
              <a:rPr kumimoji="1" lang="zh-CN" altLang="zh-CN" sz="2400" b="1">
                <a:latin typeface="Times New Roman" panose="02020603050405020304" pitchFamily="18" charset="0"/>
              </a:rPr>
              <a:t>系数矩阵的秩</a:t>
            </a:r>
            <a:r>
              <a:rPr kumimoji="1" lang="zh-CN" altLang="en-US" sz="2400" b="1">
                <a:latin typeface="Times New Roman" panose="02020603050405020304" pitchFamily="18" charset="0"/>
              </a:rPr>
              <a:t>为</a:t>
            </a:r>
            <a:r>
              <a:rPr kumimoji="1" lang="zh-CN" altLang="zh-CN" sz="2400" b="1" i="1">
                <a:latin typeface="Times New Roman" panose="02020603050405020304" pitchFamily="18" charset="0"/>
              </a:rPr>
              <a:t>m</a:t>
            </a:r>
            <a:r>
              <a:rPr kumimoji="1" lang="zh-CN" altLang="zh-CN" sz="2400" b="1">
                <a:latin typeface="Times New Roman" panose="02020603050405020304" pitchFamily="18" charset="0"/>
              </a:rPr>
              <a:t>+</a:t>
            </a:r>
            <a:r>
              <a:rPr kumimoji="1" lang="zh-CN" altLang="zh-CN" sz="2400" b="1" i="1">
                <a:latin typeface="Times New Roman" panose="02020603050405020304" pitchFamily="18" charset="0"/>
              </a:rPr>
              <a:t>n</a:t>
            </a:r>
            <a:r>
              <a:rPr kumimoji="1" lang="zh-CN" altLang="zh-CN" sz="2400" b="1">
                <a:latin typeface="Times New Roman" panose="02020603050405020304" pitchFamily="18" charset="0"/>
              </a:rPr>
              <a:t>-1,基变量的个数</a:t>
            </a:r>
            <a:r>
              <a:rPr kumimoji="1" lang="zh-CN" altLang="en-US" sz="2400" b="1">
                <a:latin typeface="Times New Roman" panose="02020603050405020304" pitchFamily="18" charset="0"/>
              </a:rPr>
              <a:t>为</a:t>
            </a:r>
            <a:r>
              <a:rPr kumimoji="1" lang="zh-CN" altLang="zh-CN" sz="2400" b="1" i="1">
                <a:latin typeface="Times New Roman" panose="02020603050405020304" pitchFamily="18" charset="0"/>
              </a:rPr>
              <a:t>m</a:t>
            </a:r>
            <a:r>
              <a:rPr kumimoji="1" lang="zh-CN" altLang="zh-CN" sz="2400" b="1">
                <a:latin typeface="Times New Roman" panose="02020603050405020304" pitchFamily="18" charset="0"/>
              </a:rPr>
              <a:t>+</a:t>
            </a:r>
            <a:r>
              <a:rPr kumimoji="1" lang="zh-CN" altLang="zh-CN" sz="2400" b="1" i="1">
                <a:latin typeface="Times New Roman" panose="02020603050405020304" pitchFamily="18" charset="0"/>
              </a:rPr>
              <a:t>n</a:t>
            </a:r>
            <a:r>
              <a:rPr kumimoji="1" lang="zh-CN" altLang="zh-CN" sz="2400" b="1">
                <a:latin typeface="Times New Roman" panose="02020603050405020304" pitchFamily="18" charset="0"/>
              </a:rPr>
              <a:t>-1</a:t>
            </a:r>
            <a:endParaRPr kumimoji="1" lang="en-US" altLang="zh-CN" sz="2400" b="1">
              <a:latin typeface="Times New Roman" panose="02020603050405020304" pitchFamily="18" charset="0"/>
            </a:endParaRPr>
          </a:p>
          <a:p>
            <a:pPr eaLnBrk="1" hangingPunct="1"/>
            <a:r>
              <a:rPr kumimoji="1" lang="en-US" altLang="zh-CN" sz="2400" b="1">
                <a:latin typeface="Times New Roman" panose="02020603050405020304" pitchFamily="18" charset="0"/>
              </a:rPr>
              <a:t>     </a:t>
            </a:r>
            <a:r>
              <a:rPr kumimoji="1" lang="zh-CN" altLang="zh-CN" sz="2400" b="1">
                <a:latin typeface="Times New Roman" panose="02020603050405020304" pitchFamily="18" charset="0"/>
              </a:rPr>
              <a:t>（即基变量的个数＝产地个数＋销售地个数-1）</a:t>
            </a:r>
            <a:endParaRPr kumimoji="1" lang="en-US" altLang="zh-CN" sz="2400" b="1">
              <a:latin typeface="Times New Roman" panose="02020603050405020304" pitchFamily="18" charset="0"/>
            </a:endParaRPr>
          </a:p>
          <a:p>
            <a:pPr eaLnBrk="1" hangingPunct="1"/>
            <a:r>
              <a:rPr kumimoji="1" lang="zh-CN" altLang="zh-CN" sz="2400" b="1">
                <a:latin typeface="Times New Roman" panose="02020603050405020304" pitchFamily="18" charset="0"/>
              </a:rPr>
              <a:t>（</a:t>
            </a:r>
            <a:r>
              <a:rPr kumimoji="1" lang="zh-CN" altLang="en-US" sz="2400" b="1">
                <a:latin typeface="Times New Roman" panose="02020603050405020304" pitchFamily="18" charset="0"/>
              </a:rPr>
              <a:t>或</a:t>
            </a:r>
            <a:r>
              <a:rPr kumimoji="1" lang="zh-CN" altLang="zh-CN" sz="2400" b="1">
                <a:latin typeface="Times New Roman" panose="02020603050405020304" pitchFamily="18" charset="0"/>
              </a:rPr>
              <a:t>基变量的个数＝</a:t>
            </a:r>
            <a:r>
              <a:rPr lang="zh-CN" altLang="en-US" sz="2400" b="1"/>
              <a:t>约束条件个数</a:t>
            </a:r>
            <a:r>
              <a:rPr lang="en-US" altLang="zh-CN" sz="2400" b="1"/>
              <a:t>-</a:t>
            </a:r>
            <a:r>
              <a:rPr lang="zh-CN" altLang="en-US" sz="2400" b="1"/>
              <a:t>线性相关的条件个数</a:t>
            </a:r>
            <a:r>
              <a:rPr kumimoji="1" lang="zh-CN" altLang="zh-CN" sz="2400" b="1">
                <a:latin typeface="Times New Roman" panose="02020603050405020304" pitchFamily="18" charset="0"/>
              </a:rPr>
              <a:t>）</a:t>
            </a:r>
            <a:endParaRPr kumimoji="1" lang="zh-CN" altLang="en-US" sz="2400" b="1">
              <a:latin typeface="Times New Roman" panose="02020603050405020304" pitchFamily="18" charset="0"/>
            </a:endParaRPr>
          </a:p>
        </p:txBody>
      </p:sp>
      <p:sp>
        <p:nvSpPr>
          <p:cNvPr id="22532" name="Rectangle 7">
            <a:extLst>
              <a:ext uri="{FF2B5EF4-FFF2-40B4-BE49-F238E27FC236}">
                <a16:creationId xmlns:a16="http://schemas.microsoft.com/office/drawing/2014/main" id="{7390EA9B-D0A3-42D2-AF3C-7EB34299C0F9}"/>
              </a:ext>
            </a:extLst>
          </p:cNvPr>
          <p:cNvSpPr>
            <a:spLocks noChangeArrowheads="1"/>
          </p:cNvSpPr>
          <p:nvPr/>
        </p:nvSpPr>
        <p:spPr bwMode="auto">
          <a:xfrm>
            <a:off x="381000" y="27686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22533" name="Object 6">
            <a:extLst>
              <a:ext uri="{FF2B5EF4-FFF2-40B4-BE49-F238E27FC236}">
                <a16:creationId xmlns:a16="http://schemas.microsoft.com/office/drawing/2014/main" id="{7ECA9BF6-C280-48E9-871B-385228BD8B44}"/>
              </a:ext>
            </a:extLst>
          </p:cNvPr>
          <p:cNvGraphicFramePr>
            <a:graphicFrameLocks noChangeAspect="1"/>
          </p:cNvGraphicFramePr>
          <p:nvPr/>
        </p:nvGraphicFramePr>
        <p:xfrm>
          <a:off x="1143000" y="1811338"/>
          <a:ext cx="7924800" cy="3370262"/>
        </p:xfrm>
        <a:graphic>
          <a:graphicData uri="http://schemas.openxmlformats.org/presentationml/2006/ole">
            <mc:AlternateContent xmlns:mc="http://schemas.openxmlformats.org/markup-compatibility/2006">
              <mc:Choice xmlns:v="urn:schemas-microsoft-com:vml" Requires="v">
                <p:oleObj spid="_x0000_s22551" name="公式" r:id="rId3" imgW="4787900" imgH="2032000" progId="Equation.3">
                  <p:embed/>
                </p:oleObj>
              </mc:Choice>
              <mc:Fallback>
                <p:oleObj name="公式" r:id="rId3" imgW="4787900" imgH="203200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811338"/>
                        <a:ext cx="7924800" cy="337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534" name="Text Box 8">
            <a:extLst>
              <a:ext uri="{FF2B5EF4-FFF2-40B4-BE49-F238E27FC236}">
                <a16:creationId xmlns:a16="http://schemas.microsoft.com/office/drawing/2014/main" id="{C24E5C89-D49E-459E-ACF0-FF1377BC9849}"/>
              </a:ext>
            </a:extLst>
          </p:cNvPr>
          <p:cNvSpPr txBox="1">
            <a:spLocks noChangeArrowheads="1"/>
          </p:cNvSpPr>
          <p:nvPr/>
        </p:nvSpPr>
        <p:spPr bwMode="auto">
          <a:xfrm>
            <a:off x="1143000" y="1277938"/>
            <a:ext cx="7391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x</a:t>
            </a:r>
            <a:r>
              <a:rPr lang="en-US" altLang="zh-CN" sz="2400" baseline="-25000">
                <a:latin typeface="Times New Roman" panose="02020603050405020304" pitchFamily="18" charset="0"/>
              </a:rPr>
              <a:t>11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12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1</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2</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             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1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2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mn</a:t>
            </a:r>
          </a:p>
        </p:txBody>
      </p:sp>
      <p:sp>
        <p:nvSpPr>
          <p:cNvPr id="22535" name="Text Box 8">
            <a:extLst>
              <a:ext uri="{FF2B5EF4-FFF2-40B4-BE49-F238E27FC236}">
                <a16:creationId xmlns:a16="http://schemas.microsoft.com/office/drawing/2014/main" id="{4126604B-ACED-45FF-B38D-CE800AEEF39D}"/>
              </a:ext>
            </a:extLst>
          </p:cNvPr>
          <p:cNvSpPr txBox="1">
            <a:spLocks noChangeArrowheads="1"/>
          </p:cNvSpPr>
          <p:nvPr/>
        </p:nvSpPr>
        <p:spPr bwMode="auto">
          <a:xfrm>
            <a:off x="617538" y="1717675"/>
            <a:ext cx="5715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u</a:t>
            </a:r>
            <a:r>
              <a:rPr lang="en-US" altLang="zh-CN" sz="2400" baseline="-25000">
                <a:latin typeface="Times New Roman" panose="02020603050405020304" pitchFamily="18" charset="0"/>
              </a:rPr>
              <a:t>1  </a:t>
            </a:r>
            <a:r>
              <a:rPr lang="en-US" altLang="zh-CN" sz="2400" i="1">
                <a:latin typeface="Times New Roman" panose="02020603050405020304" pitchFamily="18" charset="0"/>
              </a:rPr>
              <a:t>u</a:t>
            </a:r>
            <a:r>
              <a:rPr lang="en-US" altLang="zh-CN" sz="2400" baseline="-25000">
                <a:latin typeface="Times New Roman" panose="02020603050405020304" pitchFamily="18" charset="0"/>
              </a:rPr>
              <a:t>2  </a:t>
            </a:r>
            <a:r>
              <a:rPr lang="en-US" altLang="zh-CN" sz="2400" i="1">
                <a:latin typeface="Times New Roman" panose="02020603050405020304" pitchFamily="18" charset="0"/>
              </a:rPr>
              <a:t>…  u</a:t>
            </a:r>
            <a:r>
              <a:rPr lang="en-US" altLang="zh-CN" sz="2400" i="1" baseline="-25000">
                <a:latin typeface="Times New Roman" panose="02020603050405020304" pitchFamily="18" charset="0"/>
              </a:rPr>
              <a:t>m    </a:t>
            </a:r>
            <a:r>
              <a:rPr lang="en-US" altLang="zh-CN" sz="2400" i="1">
                <a:latin typeface="Times New Roman" panose="02020603050405020304" pitchFamily="18" charset="0"/>
              </a:rPr>
              <a:t>v</a:t>
            </a:r>
            <a:r>
              <a:rPr lang="en-US" altLang="zh-CN" sz="2400" baseline="-25000">
                <a:latin typeface="Times New Roman" panose="02020603050405020304" pitchFamily="18" charset="0"/>
              </a:rPr>
              <a:t>1  </a:t>
            </a:r>
            <a:r>
              <a:rPr lang="en-US" altLang="zh-CN" sz="2400" i="1">
                <a:latin typeface="Times New Roman" panose="02020603050405020304" pitchFamily="18" charset="0"/>
              </a:rPr>
              <a:t>v</a:t>
            </a:r>
            <a:r>
              <a:rPr lang="en-US" altLang="zh-CN" sz="2400" baseline="-25000">
                <a:latin typeface="Times New Roman" panose="02020603050405020304" pitchFamily="18" charset="0"/>
              </a:rPr>
              <a:t>2  </a:t>
            </a:r>
            <a:r>
              <a:rPr lang="en-US" altLang="zh-CN" sz="2400" i="1">
                <a:latin typeface="Times New Roman" panose="02020603050405020304" pitchFamily="18" charset="0"/>
              </a:rPr>
              <a:t>… v</a:t>
            </a:r>
            <a:r>
              <a:rPr lang="en-US" altLang="zh-CN" sz="2400" i="1" baseline="-25000">
                <a:latin typeface="Times New Roman" panose="02020603050405020304" pitchFamily="18" charset="0"/>
              </a:rPr>
              <a:t>n</a:t>
            </a:r>
          </a:p>
        </p:txBody>
      </p:sp>
      <p:grpSp>
        <p:nvGrpSpPr>
          <p:cNvPr id="3" name="组合 2">
            <a:extLst>
              <a:ext uri="{FF2B5EF4-FFF2-40B4-BE49-F238E27FC236}">
                <a16:creationId xmlns:a16="http://schemas.microsoft.com/office/drawing/2014/main" id="{75C01C70-D096-45ED-BCAE-E093FE5411AE}"/>
              </a:ext>
            </a:extLst>
          </p:cNvPr>
          <p:cNvGrpSpPr>
            <a:grpSpLocks/>
          </p:cNvGrpSpPr>
          <p:nvPr/>
        </p:nvGrpSpPr>
        <p:grpSpPr bwMode="auto">
          <a:xfrm>
            <a:off x="450850" y="720725"/>
            <a:ext cx="5264150" cy="573088"/>
            <a:chOff x="450215" y="721003"/>
            <a:chExt cx="5264785" cy="573602"/>
          </a:xfrm>
        </p:grpSpPr>
        <p:sp>
          <p:nvSpPr>
            <p:cNvPr id="22542" name="矩形 7">
              <a:extLst>
                <a:ext uri="{FF2B5EF4-FFF2-40B4-BE49-F238E27FC236}">
                  <a16:creationId xmlns:a16="http://schemas.microsoft.com/office/drawing/2014/main" id="{FA1051AF-CD00-4001-ACFD-CFFBE3851EDB}"/>
                </a:ext>
              </a:extLst>
            </p:cNvPr>
            <p:cNvSpPr>
              <a:spLocks noChangeArrowheads="1"/>
            </p:cNvSpPr>
            <p:nvPr/>
          </p:nvSpPr>
          <p:spPr bwMode="auto">
            <a:xfrm>
              <a:off x="2362200" y="832940"/>
              <a:ext cx="3352800" cy="46166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i="1">
                  <a:solidFill>
                    <a:srgbClr val="FF00FF"/>
                  </a:solidFill>
                  <a:latin typeface="Times New Roman" panose="02020603050405020304" pitchFamily="18" charset="0"/>
                </a:rPr>
                <a:t>x</a:t>
              </a:r>
              <a:r>
                <a:rPr lang="en-US" altLang="zh-CN" sz="2400" i="1" baseline="-25000">
                  <a:solidFill>
                    <a:srgbClr val="FF00FF"/>
                  </a:solidFill>
                  <a:latin typeface="Times New Roman" panose="02020603050405020304" pitchFamily="18" charset="0"/>
                </a:rPr>
                <a:t>ij</a:t>
              </a:r>
              <a:r>
                <a:rPr lang="en-US" altLang="zh-CN" sz="2400">
                  <a:solidFill>
                    <a:srgbClr val="FF00FF"/>
                  </a:solidFill>
                  <a:latin typeface="Times New Roman" panose="02020603050405020304" pitchFamily="18" charset="0"/>
                </a:rPr>
                <a:t>, </a:t>
              </a:r>
              <a:r>
                <a:rPr lang="en-US" altLang="zh-CN" sz="2400" i="1">
                  <a:solidFill>
                    <a:srgbClr val="FF00FF"/>
                  </a:solidFill>
                  <a:latin typeface="Times New Roman" panose="02020603050405020304" pitchFamily="18" charset="0"/>
                </a:rPr>
                <a:t>i</a:t>
              </a:r>
              <a:r>
                <a:rPr lang="en-US" altLang="zh-CN" sz="2400">
                  <a:solidFill>
                    <a:srgbClr val="FF00FF"/>
                  </a:solidFill>
                  <a:latin typeface="Times New Roman" panose="02020603050405020304" pitchFamily="18" charset="0"/>
                </a:rPr>
                <a:t>=1,2,…,</a:t>
              </a:r>
              <a:r>
                <a:rPr lang="en-US" altLang="zh-CN" sz="2400" i="1">
                  <a:solidFill>
                    <a:srgbClr val="FF00FF"/>
                  </a:solidFill>
                  <a:latin typeface="Times New Roman" panose="02020603050405020304" pitchFamily="18" charset="0"/>
                </a:rPr>
                <a:t>m</a:t>
              </a:r>
              <a:r>
                <a:rPr lang="en-US" altLang="zh-CN" sz="2400">
                  <a:solidFill>
                    <a:srgbClr val="FF00FF"/>
                  </a:solidFill>
                  <a:latin typeface="Times New Roman" panose="02020603050405020304" pitchFamily="18" charset="0"/>
                </a:rPr>
                <a:t>; </a:t>
              </a:r>
              <a:r>
                <a:rPr lang="en-US" altLang="zh-CN" sz="2400" i="1">
                  <a:solidFill>
                    <a:srgbClr val="FF00FF"/>
                  </a:solidFill>
                  <a:latin typeface="Times New Roman" panose="02020603050405020304" pitchFamily="18" charset="0"/>
                </a:rPr>
                <a:t>j</a:t>
              </a:r>
              <a:r>
                <a:rPr lang="en-US" altLang="zh-CN" sz="2400">
                  <a:solidFill>
                    <a:srgbClr val="FF00FF"/>
                  </a:solidFill>
                  <a:latin typeface="Times New Roman" panose="02020603050405020304" pitchFamily="18" charset="0"/>
                </a:rPr>
                <a:t>=1,2,…,</a:t>
              </a:r>
              <a:r>
                <a:rPr lang="en-US" altLang="zh-CN" sz="2400" i="1">
                  <a:solidFill>
                    <a:srgbClr val="FF00FF"/>
                  </a:solidFill>
                  <a:latin typeface="Times New Roman" panose="02020603050405020304" pitchFamily="18" charset="0"/>
                </a:rPr>
                <a:t>n</a:t>
              </a:r>
              <a:endParaRPr lang="zh-CN" altLang="en-US" sz="2400" i="1">
                <a:solidFill>
                  <a:srgbClr val="FF00FF"/>
                </a:solidFill>
              </a:endParaRPr>
            </a:p>
          </p:txBody>
        </p:sp>
        <p:sp>
          <p:nvSpPr>
            <p:cNvPr id="22543" name="Line 3">
              <a:extLst>
                <a:ext uri="{FF2B5EF4-FFF2-40B4-BE49-F238E27FC236}">
                  <a16:creationId xmlns:a16="http://schemas.microsoft.com/office/drawing/2014/main" id="{A37F0ED8-14CD-4862-9BAF-E13FC16571F6}"/>
                </a:ext>
              </a:extLst>
            </p:cNvPr>
            <p:cNvSpPr>
              <a:spLocks noChangeShapeType="1"/>
            </p:cNvSpPr>
            <p:nvPr/>
          </p:nvSpPr>
          <p:spPr bwMode="auto">
            <a:xfrm>
              <a:off x="450215" y="1059180"/>
              <a:ext cx="1219199" cy="7620"/>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2544" name="矩形 1">
              <a:extLst>
                <a:ext uri="{FF2B5EF4-FFF2-40B4-BE49-F238E27FC236}">
                  <a16:creationId xmlns:a16="http://schemas.microsoft.com/office/drawing/2014/main" id="{7E792C7D-DAE2-4D6A-9847-DCF9A7DA5A58}"/>
                </a:ext>
              </a:extLst>
            </p:cNvPr>
            <p:cNvSpPr>
              <a:spLocks noChangeArrowheads="1"/>
            </p:cNvSpPr>
            <p:nvPr/>
          </p:nvSpPr>
          <p:spPr bwMode="auto">
            <a:xfrm>
              <a:off x="617220" y="721003"/>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a:solidFill>
                    <a:srgbClr val="0000FF"/>
                  </a:solidFill>
                  <a:latin typeface="Times New Roman" panose="02020603050405020304" pitchFamily="18" charset="0"/>
                </a:rPr>
                <a:t>原变量</a:t>
              </a:r>
              <a:endParaRPr lang="zh-CN" altLang="en-US">
                <a:solidFill>
                  <a:srgbClr val="0000FF"/>
                </a:solidFill>
              </a:endParaRPr>
            </a:p>
          </p:txBody>
        </p:sp>
      </p:grpSp>
      <p:grpSp>
        <p:nvGrpSpPr>
          <p:cNvPr id="4" name="组合 3">
            <a:extLst>
              <a:ext uri="{FF2B5EF4-FFF2-40B4-BE49-F238E27FC236}">
                <a16:creationId xmlns:a16="http://schemas.microsoft.com/office/drawing/2014/main" id="{13A1DF14-2F98-4F27-8DF5-FCD3CDD1F3D0}"/>
              </a:ext>
            </a:extLst>
          </p:cNvPr>
          <p:cNvGrpSpPr>
            <a:grpSpLocks/>
          </p:cNvGrpSpPr>
          <p:nvPr/>
        </p:nvGrpSpPr>
        <p:grpSpPr bwMode="auto">
          <a:xfrm>
            <a:off x="69850" y="906463"/>
            <a:ext cx="547688" cy="3267075"/>
            <a:chOff x="69214" y="907197"/>
            <a:chExt cx="548006" cy="3266995"/>
          </a:xfrm>
        </p:grpSpPr>
        <p:sp>
          <p:nvSpPr>
            <p:cNvPr id="22539" name="矩形 9">
              <a:extLst>
                <a:ext uri="{FF2B5EF4-FFF2-40B4-BE49-F238E27FC236}">
                  <a16:creationId xmlns:a16="http://schemas.microsoft.com/office/drawing/2014/main" id="{7C3DA642-417B-47EB-9559-AFCF85D2A1EA}"/>
                </a:ext>
              </a:extLst>
            </p:cNvPr>
            <p:cNvSpPr>
              <a:spLocks noChangeArrowheads="1"/>
            </p:cNvSpPr>
            <p:nvPr/>
          </p:nvSpPr>
          <p:spPr bwMode="auto">
            <a:xfrm>
              <a:off x="198120" y="2235200"/>
              <a:ext cx="419100" cy="193899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i="1">
                  <a:solidFill>
                    <a:srgbClr val="FF00FF"/>
                  </a:solidFill>
                  <a:latin typeface="Times New Roman" panose="02020603050405020304" pitchFamily="18" charset="0"/>
                </a:rPr>
                <a:t>u</a:t>
              </a:r>
              <a:r>
                <a:rPr lang="en-US" altLang="zh-CN" sz="2400" i="1" baseline="-25000">
                  <a:solidFill>
                    <a:srgbClr val="FF00FF"/>
                  </a:solidFill>
                  <a:latin typeface="Times New Roman" panose="02020603050405020304" pitchFamily="18" charset="0"/>
                </a:rPr>
                <a:t>i</a:t>
              </a:r>
            </a:p>
            <a:p>
              <a:pPr eaLnBrk="1" hangingPunct="1"/>
              <a:endParaRPr lang="en-US" altLang="zh-CN" sz="2400" i="1">
                <a:solidFill>
                  <a:srgbClr val="FF00FF"/>
                </a:solidFill>
                <a:latin typeface="Times New Roman" panose="02020603050405020304" pitchFamily="18" charset="0"/>
              </a:endParaRPr>
            </a:p>
            <a:p>
              <a:pPr eaLnBrk="1" hangingPunct="1"/>
              <a:endParaRPr lang="en-US" altLang="zh-CN" sz="2400" i="1">
                <a:solidFill>
                  <a:srgbClr val="FF00FF"/>
                </a:solidFill>
                <a:latin typeface="Times New Roman" panose="02020603050405020304" pitchFamily="18" charset="0"/>
              </a:endParaRPr>
            </a:p>
            <a:p>
              <a:pPr eaLnBrk="1" hangingPunct="1"/>
              <a:endParaRPr lang="en-US" altLang="zh-CN" sz="2400" i="1">
                <a:solidFill>
                  <a:srgbClr val="FF00FF"/>
                </a:solidFill>
                <a:latin typeface="Times New Roman" panose="02020603050405020304" pitchFamily="18" charset="0"/>
              </a:endParaRPr>
            </a:p>
            <a:p>
              <a:pPr eaLnBrk="1" hangingPunct="1"/>
              <a:r>
                <a:rPr lang="en-US" altLang="zh-CN" sz="2400" i="1">
                  <a:solidFill>
                    <a:srgbClr val="FF00FF"/>
                  </a:solidFill>
                  <a:latin typeface="Times New Roman" panose="02020603050405020304" pitchFamily="18" charset="0"/>
                </a:rPr>
                <a:t>v</a:t>
              </a:r>
              <a:r>
                <a:rPr lang="en-US" altLang="zh-CN" sz="2400" i="1" baseline="-25000">
                  <a:solidFill>
                    <a:srgbClr val="FF00FF"/>
                  </a:solidFill>
                  <a:latin typeface="Times New Roman" panose="02020603050405020304" pitchFamily="18" charset="0"/>
                </a:rPr>
                <a:t>j</a:t>
              </a:r>
              <a:endParaRPr lang="zh-CN" altLang="en-US" sz="2400" i="1" baseline="-25000">
                <a:solidFill>
                  <a:srgbClr val="FF00FF"/>
                </a:solidFill>
              </a:endParaRPr>
            </a:p>
          </p:txBody>
        </p:sp>
        <p:sp>
          <p:nvSpPr>
            <p:cNvPr id="22540" name="Line 3">
              <a:extLst>
                <a:ext uri="{FF2B5EF4-FFF2-40B4-BE49-F238E27FC236}">
                  <a16:creationId xmlns:a16="http://schemas.microsoft.com/office/drawing/2014/main" id="{CEB3E998-684B-47F9-993C-96CAD4557541}"/>
                </a:ext>
              </a:extLst>
            </p:cNvPr>
            <p:cNvSpPr>
              <a:spLocks noChangeShapeType="1"/>
            </p:cNvSpPr>
            <p:nvPr/>
          </p:nvSpPr>
          <p:spPr bwMode="auto">
            <a:xfrm flipH="1" flipV="1">
              <a:off x="457198" y="1059179"/>
              <a:ext cx="1" cy="1104285"/>
            </a:xfrm>
            <a:prstGeom prst="line">
              <a:avLst/>
            </a:prstGeom>
            <a:noFill/>
            <a:ln w="38100">
              <a:solidFill>
                <a:srgbClr val="0000FF"/>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2541" name="矩形 14">
              <a:extLst>
                <a:ext uri="{FF2B5EF4-FFF2-40B4-BE49-F238E27FC236}">
                  <a16:creationId xmlns:a16="http://schemas.microsoft.com/office/drawing/2014/main" id="{A7A50FB0-292A-49C9-A124-3FC4DFC5863B}"/>
                </a:ext>
              </a:extLst>
            </p:cNvPr>
            <p:cNvSpPr>
              <a:spLocks noChangeArrowheads="1"/>
            </p:cNvSpPr>
            <p:nvPr/>
          </p:nvSpPr>
          <p:spPr bwMode="auto">
            <a:xfrm>
              <a:off x="69214" y="907197"/>
              <a:ext cx="381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a:solidFill>
                    <a:srgbClr val="0000FF"/>
                  </a:solidFill>
                  <a:latin typeface="Times New Roman" panose="02020603050405020304" pitchFamily="18" charset="0"/>
                </a:rPr>
                <a:t>对偶变量</a:t>
              </a:r>
              <a:endParaRPr lang="zh-CN" altLang="en-US">
                <a:solidFill>
                  <a:srgbClr val="0000FF"/>
                </a:solidFill>
              </a:endParaRPr>
            </a:p>
          </p:txBody>
        </p:sp>
      </p:grpSp>
      <p:sp>
        <p:nvSpPr>
          <p:cNvPr id="19" name="Rectangle 5">
            <a:extLst>
              <a:ext uri="{FF2B5EF4-FFF2-40B4-BE49-F238E27FC236}">
                <a16:creationId xmlns:a16="http://schemas.microsoft.com/office/drawing/2014/main" id="{14211ACE-2192-4ABF-942D-725F3F189EB6}"/>
              </a:ext>
            </a:extLst>
          </p:cNvPr>
          <p:cNvSpPr>
            <a:spLocks noChangeArrowheads="1"/>
          </p:cNvSpPr>
          <p:nvPr/>
        </p:nvSpPr>
        <p:spPr bwMode="auto">
          <a:xfrm>
            <a:off x="1495425" y="2700338"/>
            <a:ext cx="6581775" cy="957262"/>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kumimoji="1" lang="zh-CN" altLang="en-US" sz="2000" b="1">
                <a:latin typeface="Times New Roman" panose="02020603050405020304" pitchFamily="18" charset="0"/>
              </a:rPr>
              <a:t>系数矩阵中对应 </a:t>
            </a:r>
            <a:r>
              <a:rPr lang="en-US" altLang="zh-CN" sz="2000" i="1">
                <a:latin typeface="Times New Roman" panose="02020603050405020304" pitchFamily="18" charset="0"/>
              </a:rPr>
              <a:t>x</a:t>
            </a:r>
            <a:r>
              <a:rPr lang="en-US" altLang="zh-CN" sz="2000" i="1" baseline="-25000">
                <a:latin typeface="Times New Roman" panose="02020603050405020304" pitchFamily="18" charset="0"/>
              </a:rPr>
              <a:t>ij</a:t>
            </a:r>
            <a:r>
              <a:rPr lang="en-US" altLang="zh-CN" sz="2000" baseline="-25000">
                <a:latin typeface="Times New Roman" panose="02020603050405020304" pitchFamily="18" charset="0"/>
              </a:rPr>
              <a:t> </a:t>
            </a:r>
            <a:r>
              <a:rPr lang="en-US" altLang="zh-CN" sz="2000">
                <a:latin typeface="Times New Roman" panose="02020603050405020304" pitchFamily="18" charset="0"/>
              </a:rPr>
              <a:t> </a:t>
            </a:r>
            <a:r>
              <a:rPr lang="zh-CN" altLang="en-US" sz="2000">
                <a:latin typeface="Times New Roman" panose="02020603050405020304" pitchFamily="18" charset="0"/>
              </a:rPr>
              <a:t>的系数向量</a:t>
            </a:r>
            <a:r>
              <a:rPr lang="en-US" altLang="zh-CN" sz="2000">
                <a:latin typeface="Times New Roman" panose="02020603050405020304" pitchFamily="18" charset="0"/>
              </a:rPr>
              <a:t>P</a:t>
            </a:r>
            <a:r>
              <a:rPr lang="en-US" altLang="zh-CN" sz="2000" i="1" baseline="-25000">
                <a:latin typeface="Times New Roman" panose="02020603050405020304" pitchFamily="18" charset="0"/>
              </a:rPr>
              <a:t>ij</a:t>
            </a:r>
            <a:r>
              <a:rPr lang="en-US" altLang="zh-CN" sz="2000" i="1">
                <a:latin typeface="Times New Roman" panose="02020603050405020304" pitchFamily="18" charset="0"/>
              </a:rPr>
              <a:t> </a:t>
            </a:r>
            <a:r>
              <a:rPr lang="en-US" altLang="zh-CN" sz="2000">
                <a:latin typeface="Times New Roman" panose="02020603050405020304" pitchFamily="18" charset="0"/>
              </a:rPr>
              <a:t>= (0</a:t>
            </a:r>
            <a:r>
              <a:rPr lang="en-US" altLang="zh-CN" sz="2000" i="1">
                <a:latin typeface="Times New Roman" panose="02020603050405020304" pitchFamily="18" charset="0"/>
              </a:rPr>
              <a:t> </a:t>
            </a:r>
            <a:r>
              <a:rPr lang="en-US" altLang="zh-CN" sz="2000">
                <a:latin typeface="Times New Roman" panose="02020603050405020304" pitchFamily="18" charset="0"/>
              </a:rPr>
              <a:t>…1…...0….1……)</a:t>
            </a:r>
            <a:r>
              <a:rPr lang="en-US" altLang="zh-CN" sz="2000" baseline="30000">
                <a:latin typeface="Times New Roman" panose="02020603050405020304" pitchFamily="18" charset="0"/>
              </a:rPr>
              <a:t>T</a:t>
            </a:r>
            <a:r>
              <a:rPr lang="en-US" altLang="zh-CN" sz="2000">
                <a:latin typeface="Times New Roman" panose="02020603050405020304" pitchFamily="18" charset="0"/>
              </a:rPr>
              <a:t> =e</a:t>
            </a:r>
            <a:r>
              <a:rPr lang="en-US" altLang="zh-CN" sz="2000" i="1" baseline="-25000">
                <a:latin typeface="Times New Roman" panose="02020603050405020304" pitchFamily="18" charset="0"/>
              </a:rPr>
              <a:t>i</a:t>
            </a:r>
            <a:r>
              <a:rPr lang="en-US" altLang="zh-CN" sz="2000">
                <a:latin typeface="Times New Roman" panose="02020603050405020304" pitchFamily="18" charset="0"/>
              </a:rPr>
              <a:t>+e</a:t>
            </a:r>
            <a:r>
              <a:rPr lang="en-US" altLang="zh-CN" sz="2000" i="1" baseline="-25000">
                <a:latin typeface="Times New Roman" panose="02020603050405020304" pitchFamily="18" charset="0"/>
              </a:rPr>
              <a:t>m+j</a:t>
            </a:r>
            <a:r>
              <a:rPr kumimoji="1" lang="zh-CN" altLang="en-US" sz="2000" b="1">
                <a:latin typeface="Times New Roman" panose="02020603050405020304" pitchFamily="18" charset="0"/>
              </a:rPr>
              <a:t>。</a:t>
            </a:r>
            <a:r>
              <a:rPr kumimoji="1" lang="en-US" altLang="zh-CN" sz="2000" b="1">
                <a:latin typeface="Times New Roman" panose="02020603050405020304" pitchFamily="18" charset="0"/>
              </a:rPr>
              <a:t>(</a:t>
            </a:r>
            <a:r>
              <a:rPr kumimoji="1" lang="zh-CN" altLang="en-US" sz="2000" b="1">
                <a:latin typeface="Times New Roman" panose="02020603050405020304" pitchFamily="18" charset="0"/>
              </a:rPr>
              <a:t>除了第</a:t>
            </a:r>
            <a:r>
              <a:rPr kumimoji="1" lang="en-US" altLang="zh-CN" sz="2000" b="1" i="1">
                <a:latin typeface="Times New Roman" panose="02020603050405020304" pitchFamily="18" charset="0"/>
              </a:rPr>
              <a:t>i</a:t>
            </a:r>
            <a:r>
              <a:rPr kumimoji="1" lang="zh-CN" altLang="en-US" sz="2000" b="1">
                <a:latin typeface="Times New Roman" panose="02020603050405020304" pitchFamily="18" charset="0"/>
              </a:rPr>
              <a:t>和第</a:t>
            </a:r>
            <a:r>
              <a:rPr kumimoji="1" lang="en-US" altLang="zh-CN" sz="2000" b="1" i="1">
                <a:latin typeface="Times New Roman" panose="02020603050405020304" pitchFamily="18" charset="0"/>
              </a:rPr>
              <a:t>m</a:t>
            </a:r>
            <a:r>
              <a:rPr kumimoji="1" lang="en-US" altLang="zh-CN" sz="2000" b="1">
                <a:latin typeface="Times New Roman" panose="02020603050405020304" pitchFamily="18" charset="0"/>
              </a:rPr>
              <a:t>+</a:t>
            </a:r>
            <a:r>
              <a:rPr kumimoji="1" lang="en-US" altLang="zh-CN" sz="2000" b="1" i="1">
                <a:latin typeface="Times New Roman" panose="02020603050405020304" pitchFamily="18" charset="0"/>
              </a:rPr>
              <a:t>j</a:t>
            </a:r>
            <a:r>
              <a:rPr kumimoji="1" lang="en-US" altLang="zh-CN" sz="2000" b="1">
                <a:latin typeface="Times New Roman" panose="02020603050405020304" pitchFamily="18" charset="0"/>
              </a:rPr>
              <a:t> </a:t>
            </a:r>
            <a:r>
              <a:rPr kumimoji="1" lang="zh-CN" altLang="en-US" sz="2000" b="1">
                <a:latin typeface="Times New Roman" panose="02020603050405020304" pitchFamily="18" charset="0"/>
              </a:rPr>
              <a:t>个为</a:t>
            </a:r>
            <a:r>
              <a:rPr kumimoji="1" lang="en-US" altLang="zh-CN" sz="2000" b="1">
                <a:latin typeface="Times New Roman" panose="02020603050405020304" pitchFamily="18" charset="0"/>
              </a:rPr>
              <a:t>1, </a:t>
            </a:r>
            <a:r>
              <a:rPr kumimoji="1" lang="zh-CN" altLang="en-US" sz="2000" b="1">
                <a:latin typeface="Times New Roman" panose="02020603050405020304" pitchFamily="18" charset="0"/>
              </a:rPr>
              <a:t>其余的都为</a:t>
            </a:r>
            <a:r>
              <a:rPr kumimoji="1" lang="en-US" altLang="zh-CN" sz="2000" b="1">
                <a:latin typeface="Times New Roman" panose="02020603050405020304" pitchFamily="18" charset="0"/>
              </a:rPr>
              <a:t>0)</a:t>
            </a:r>
            <a:endParaRPr kumimoji="1" lang="zh-CN" altLang="en-US" sz="20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19"/>
                                        </p:tgtEl>
                                        <p:attrNameLst>
                                          <p:attrName>style.visibility</p:attrName>
                                        </p:attrNameLst>
                                      </p:cBhvr>
                                      <p:to>
                                        <p:strVal val="hidden"/>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53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49" grpId="0"/>
      <p:bldP spid="19" grpId="0" animBg="1"/>
      <p:bldP spid="19" grpId="1"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0F794924-3D69-47DF-85AB-C74C1C106964}"/>
              </a:ext>
            </a:extLst>
          </p:cNvPr>
          <p:cNvSpPr>
            <a:spLocks noGrp="1" noChangeArrowheads="1"/>
          </p:cNvSpPr>
          <p:nvPr>
            <p:ph type="title"/>
          </p:nvPr>
        </p:nvSpPr>
        <p:spPr/>
        <p:txBody>
          <a:bodyPr/>
          <a:lstStyle/>
          <a:p>
            <a:pPr eaLnBrk="1" hangingPunct="1"/>
            <a:r>
              <a:rPr lang="zh-CN" altLang="en-US"/>
              <a:t>基在运输表中的表示</a:t>
            </a:r>
          </a:p>
        </p:txBody>
      </p:sp>
      <p:sp>
        <p:nvSpPr>
          <p:cNvPr id="186371" name="Rectangle 3">
            <a:extLst>
              <a:ext uri="{FF2B5EF4-FFF2-40B4-BE49-F238E27FC236}">
                <a16:creationId xmlns:a16="http://schemas.microsoft.com/office/drawing/2014/main" id="{3C7A7843-E671-4814-ACE8-7A941D39C728}"/>
              </a:ext>
            </a:extLst>
          </p:cNvPr>
          <p:cNvSpPr>
            <a:spLocks noGrp="1" noChangeArrowheads="1"/>
          </p:cNvSpPr>
          <p:nvPr>
            <p:ph type="body" sz="half" idx="1"/>
          </p:nvPr>
        </p:nvSpPr>
        <p:spPr>
          <a:xfrm>
            <a:off x="457200" y="1143000"/>
            <a:ext cx="8305800" cy="5410200"/>
          </a:xfrm>
        </p:spPr>
        <p:txBody>
          <a:bodyPr/>
          <a:lstStyle/>
          <a:p>
            <a:pPr marL="609600" indent="-609600" eaLnBrk="1" hangingPunct="1">
              <a:lnSpc>
                <a:spcPct val="150000"/>
              </a:lnSpc>
            </a:pPr>
            <a:r>
              <a:rPr lang="zh-CN" altLang="en-US"/>
              <a:t>一个基应占表中的</a:t>
            </a:r>
            <a:r>
              <a:rPr lang="en-US" altLang="zh-CN" i="1"/>
              <a:t>m</a:t>
            </a:r>
            <a:r>
              <a:rPr lang="en-US" altLang="zh-CN"/>
              <a:t>+</a:t>
            </a:r>
            <a:r>
              <a:rPr lang="en-US" altLang="zh-CN" i="1"/>
              <a:t>n</a:t>
            </a:r>
            <a:r>
              <a:rPr lang="en-US" altLang="zh-CN"/>
              <a:t>-1</a:t>
            </a:r>
            <a:r>
              <a:rPr lang="zh-CN" altLang="en-US"/>
              <a:t>格</a:t>
            </a:r>
          </a:p>
          <a:p>
            <a:pPr marL="609600" indent="-609600" eaLnBrk="1" hangingPunct="1"/>
            <a:r>
              <a:rPr lang="zh-CN" altLang="en-US"/>
              <a:t>一个基在表中所占的</a:t>
            </a:r>
            <a:r>
              <a:rPr lang="en-US" altLang="zh-CN" i="1"/>
              <a:t>m</a:t>
            </a:r>
            <a:r>
              <a:rPr lang="en-US" altLang="zh-CN"/>
              <a:t>+</a:t>
            </a:r>
            <a:r>
              <a:rPr lang="en-US" altLang="zh-CN" i="1"/>
              <a:t>n</a:t>
            </a:r>
            <a:r>
              <a:rPr lang="en-US" altLang="zh-CN"/>
              <a:t>-1</a:t>
            </a:r>
            <a:r>
              <a:rPr lang="zh-CN" altLang="en-US"/>
              <a:t>个格子应包括表的每一行和每一列</a:t>
            </a:r>
            <a:r>
              <a:rPr lang="zh-CN" altLang="en-US" sz="2800"/>
              <a:t> </a:t>
            </a:r>
          </a:p>
        </p:txBody>
      </p:sp>
      <p:sp>
        <p:nvSpPr>
          <p:cNvPr id="23556" name="Rectangle 16">
            <a:extLst>
              <a:ext uri="{FF2B5EF4-FFF2-40B4-BE49-F238E27FC236}">
                <a16:creationId xmlns:a16="http://schemas.microsoft.com/office/drawing/2014/main" id="{020A68DC-AD5B-4E90-940F-AA8DFD0588D9}"/>
              </a:ext>
            </a:extLst>
          </p:cNvPr>
          <p:cNvSpPr>
            <a:spLocks noChangeArrowheads="1"/>
          </p:cNvSpPr>
          <p:nvPr/>
        </p:nvSpPr>
        <p:spPr bwMode="auto">
          <a:xfrm>
            <a:off x="3059113" y="1831975"/>
            <a:ext cx="504825"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23557" name="Rectangle 29">
            <a:extLst>
              <a:ext uri="{FF2B5EF4-FFF2-40B4-BE49-F238E27FC236}">
                <a16:creationId xmlns:a16="http://schemas.microsoft.com/office/drawing/2014/main" id="{8AAB9FE5-F5FB-4DE5-8474-144826B6E6A2}"/>
              </a:ext>
            </a:extLst>
          </p:cNvPr>
          <p:cNvSpPr>
            <a:spLocks noChangeArrowheads="1"/>
          </p:cNvSpPr>
          <p:nvPr/>
        </p:nvSpPr>
        <p:spPr bwMode="auto">
          <a:xfrm>
            <a:off x="3059113" y="1831975"/>
            <a:ext cx="504825"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23558" name="Rectangle 42">
            <a:extLst>
              <a:ext uri="{FF2B5EF4-FFF2-40B4-BE49-F238E27FC236}">
                <a16:creationId xmlns:a16="http://schemas.microsoft.com/office/drawing/2014/main" id="{6393C123-FC81-498B-83CD-8332BDD9C083}"/>
              </a:ext>
            </a:extLst>
          </p:cNvPr>
          <p:cNvSpPr>
            <a:spLocks noChangeArrowheads="1"/>
          </p:cNvSpPr>
          <p:nvPr/>
        </p:nvSpPr>
        <p:spPr bwMode="auto">
          <a:xfrm>
            <a:off x="3059113" y="1831975"/>
            <a:ext cx="504825"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86896" name="Group 528">
            <a:extLst>
              <a:ext uri="{FF2B5EF4-FFF2-40B4-BE49-F238E27FC236}">
                <a16:creationId xmlns:a16="http://schemas.microsoft.com/office/drawing/2014/main" id="{6EE33114-64FF-497C-A67F-E5B2072C3ED0}"/>
              </a:ext>
            </a:extLst>
          </p:cNvPr>
          <p:cNvGraphicFramePr>
            <a:graphicFrameLocks noGrp="1"/>
          </p:cNvGraphicFramePr>
          <p:nvPr>
            <p:ph sz="half" idx="2"/>
          </p:nvPr>
        </p:nvGraphicFramePr>
        <p:xfrm>
          <a:off x="1104900" y="3590925"/>
          <a:ext cx="3200400" cy="2743200"/>
        </p:xfrm>
        <a:graphic>
          <a:graphicData uri="http://schemas.openxmlformats.org/drawingml/2006/table">
            <a:tbl>
              <a:tblPr/>
              <a:tblGrid>
                <a:gridCol w="533400">
                  <a:extLst>
                    <a:ext uri="{9D8B030D-6E8A-4147-A177-3AD203B41FA5}">
                      <a16:colId xmlns:a16="http://schemas.microsoft.com/office/drawing/2014/main" val="20000"/>
                    </a:ext>
                  </a:extLst>
                </a:gridCol>
                <a:gridCol w="533400">
                  <a:extLst>
                    <a:ext uri="{9D8B030D-6E8A-4147-A177-3AD203B41FA5}">
                      <a16:colId xmlns:a16="http://schemas.microsoft.com/office/drawing/2014/main" val="20001"/>
                    </a:ext>
                  </a:extLst>
                </a:gridCol>
                <a:gridCol w="533400">
                  <a:extLst>
                    <a:ext uri="{9D8B030D-6E8A-4147-A177-3AD203B41FA5}">
                      <a16:colId xmlns:a16="http://schemas.microsoft.com/office/drawing/2014/main" val="20002"/>
                    </a:ext>
                  </a:extLst>
                </a:gridCol>
                <a:gridCol w="533400">
                  <a:extLst>
                    <a:ext uri="{9D8B030D-6E8A-4147-A177-3AD203B41FA5}">
                      <a16:colId xmlns:a16="http://schemas.microsoft.com/office/drawing/2014/main" val="20003"/>
                    </a:ext>
                  </a:extLst>
                </a:gridCol>
                <a:gridCol w="533400">
                  <a:extLst>
                    <a:ext uri="{9D8B030D-6E8A-4147-A177-3AD203B41FA5}">
                      <a16:colId xmlns:a16="http://schemas.microsoft.com/office/drawing/2014/main" val="20004"/>
                    </a:ext>
                  </a:extLst>
                </a:gridCol>
                <a:gridCol w="533400">
                  <a:extLst>
                    <a:ext uri="{9D8B030D-6E8A-4147-A177-3AD203B41FA5}">
                      <a16:colId xmlns:a16="http://schemas.microsoft.com/office/drawing/2014/main" val="20005"/>
                    </a:ext>
                  </a:extLst>
                </a:gridCol>
              </a:tblGrid>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a:noFill/>
                    </a:lnL>
                    <a:lnR>
                      <a:noFill/>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extLst>
                  <a:ext uri="{0D108BD9-81ED-4DB2-BD59-A6C34878D82A}">
                    <a16:rowId xmlns:a16="http://schemas.microsoft.com/office/drawing/2014/main" val="10003"/>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99"/>
                    </a:solidFill>
                  </a:tcPr>
                </a:tc>
                <a:extLst>
                  <a:ext uri="{0D108BD9-81ED-4DB2-BD59-A6C34878D82A}">
                    <a16:rowId xmlns:a16="http://schemas.microsoft.com/office/drawing/2014/main" val="10005"/>
                  </a:ext>
                </a:extLst>
              </a:tr>
            </a:tbl>
          </a:graphicData>
        </a:graphic>
      </p:graphicFrame>
      <p:graphicFrame>
        <p:nvGraphicFramePr>
          <p:cNvPr id="186920" name="Group 552">
            <a:extLst>
              <a:ext uri="{FF2B5EF4-FFF2-40B4-BE49-F238E27FC236}">
                <a16:creationId xmlns:a16="http://schemas.microsoft.com/office/drawing/2014/main" id="{94BF4547-1607-4E20-AD07-4C8A6D89253F}"/>
              </a:ext>
            </a:extLst>
          </p:cNvPr>
          <p:cNvGraphicFramePr>
            <a:graphicFrameLocks noGrp="1"/>
          </p:cNvGraphicFramePr>
          <p:nvPr/>
        </p:nvGraphicFramePr>
        <p:xfrm>
          <a:off x="4953000" y="3590925"/>
          <a:ext cx="3200400" cy="2743200"/>
        </p:xfrm>
        <a:graphic>
          <a:graphicData uri="http://schemas.openxmlformats.org/drawingml/2006/table">
            <a:tbl>
              <a:tblPr/>
              <a:tblGrid>
                <a:gridCol w="533400">
                  <a:extLst>
                    <a:ext uri="{9D8B030D-6E8A-4147-A177-3AD203B41FA5}">
                      <a16:colId xmlns:a16="http://schemas.microsoft.com/office/drawing/2014/main" val="20000"/>
                    </a:ext>
                  </a:extLst>
                </a:gridCol>
                <a:gridCol w="533400">
                  <a:extLst>
                    <a:ext uri="{9D8B030D-6E8A-4147-A177-3AD203B41FA5}">
                      <a16:colId xmlns:a16="http://schemas.microsoft.com/office/drawing/2014/main" val="20001"/>
                    </a:ext>
                  </a:extLst>
                </a:gridCol>
                <a:gridCol w="533400">
                  <a:extLst>
                    <a:ext uri="{9D8B030D-6E8A-4147-A177-3AD203B41FA5}">
                      <a16:colId xmlns:a16="http://schemas.microsoft.com/office/drawing/2014/main" val="20002"/>
                    </a:ext>
                  </a:extLst>
                </a:gridCol>
                <a:gridCol w="533400">
                  <a:extLst>
                    <a:ext uri="{9D8B030D-6E8A-4147-A177-3AD203B41FA5}">
                      <a16:colId xmlns:a16="http://schemas.microsoft.com/office/drawing/2014/main" val="20003"/>
                    </a:ext>
                  </a:extLst>
                </a:gridCol>
                <a:gridCol w="533400">
                  <a:extLst>
                    <a:ext uri="{9D8B030D-6E8A-4147-A177-3AD203B41FA5}">
                      <a16:colId xmlns:a16="http://schemas.microsoft.com/office/drawing/2014/main" val="20004"/>
                    </a:ext>
                  </a:extLst>
                </a:gridCol>
                <a:gridCol w="533400">
                  <a:extLst>
                    <a:ext uri="{9D8B030D-6E8A-4147-A177-3AD203B41FA5}">
                      <a16:colId xmlns:a16="http://schemas.microsoft.com/office/drawing/2014/main" val="20005"/>
                    </a:ext>
                  </a:extLst>
                </a:gridCol>
              </a:tblGrid>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a:noFill/>
                    </a:lnL>
                    <a:lnR>
                      <a:noFill/>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rgbClr val="FF9900"/>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rgbClr val="FF9900"/>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extLst>
                  <a:ext uri="{0D108BD9-81ED-4DB2-BD59-A6C34878D82A}">
                    <a16:rowId xmlns:a16="http://schemas.microsoft.com/office/drawing/2014/main" val="10001"/>
                  </a:ext>
                </a:extLst>
              </a:tr>
              <a:tr h="45085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rgbClr val="FF9900"/>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6371">
                                            <p:txEl>
                                              <p:pRg st="0" end="0"/>
                                            </p:txEl>
                                          </p:spTgt>
                                        </p:tgtEl>
                                        <p:attrNameLst>
                                          <p:attrName>style.visibility</p:attrName>
                                        </p:attrNameLst>
                                      </p:cBhvr>
                                      <p:to>
                                        <p:strVal val="visible"/>
                                      </p:to>
                                    </p:set>
                                    <p:animEffect transition="in" filter="blinds(horizontal)">
                                      <p:cBhvr>
                                        <p:cTn id="7" dur="500"/>
                                        <p:tgtEl>
                                          <p:spTgt spid="18637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186896"/>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3" presetClass="entr" presetSubtype="10" fill="hold" grpId="0" nodeType="clickEffect">
                                  <p:stCondLst>
                                    <p:cond delay="0"/>
                                  </p:stCondLst>
                                  <p:childTnLst>
                                    <p:set>
                                      <p:cBhvr>
                                        <p:cTn id="15" dur="1" fill="hold">
                                          <p:stCondLst>
                                            <p:cond delay="0"/>
                                          </p:stCondLst>
                                        </p:cTn>
                                        <p:tgtEl>
                                          <p:spTgt spid="186371">
                                            <p:txEl>
                                              <p:pRg st="1" end="1"/>
                                            </p:txEl>
                                          </p:spTgt>
                                        </p:tgtEl>
                                        <p:attrNameLst>
                                          <p:attrName>style.visibility</p:attrName>
                                        </p:attrNameLst>
                                      </p:cBhvr>
                                      <p:to>
                                        <p:strVal val="visible"/>
                                      </p:to>
                                    </p:set>
                                    <p:animEffect transition="in" filter="blinds(horizontal)">
                                      <p:cBhvr>
                                        <p:cTn id="16" dur="500"/>
                                        <p:tgtEl>
                                          <p:spTgt spid="186371">
                                            <p:txEl>
                                              <p:pRg st="1" end="1"/>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1869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371" grpId="0"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a:extLst>
              <a:ext uri="{FF2B5EF4-FFF2-40B4-BE49-F238E27FC236}">
                <a16:creationId xmlns:a16="http://schemas.microsoft.com/office/drawing/2014/main" id="{7D4A65F4-ECB8-4FBE-9ECE-B0FB549113EB}"/>
              </a:ext>
            </a:extLst>
          </p:cNvPr>
          <p:cNvSpPr>
            <a:spLocks noGrp="1" noChangeArrowheads="1"/>
          </p:cNvSpPr>
          <p:nvPr>
            <p:ph type="title"/>
          </p:nvPr>
        </p:nvSpPr>
        <p:spPr/>
        <p:txBody>
          <a:bodyPr/>
          <a:lstStyle/>
          <a:p>
            <a:pPr eaLnBrk="1" hangingPunct="1"/>
            <a:r>
              <a:rPr lang="zh-CN" altLang="en-US"/>
              <a:t>非基变量的表示</a:t>
            </a:r>
          </a:p>
        </p:txBody>
      </p:sp>
      <p:sp>
        <p:nvSpPr>
          <p:cNvPr id="25603" name="Rectangle 3">
            <a:extLst>
              <a:ext uri="{FF2B5EF4-FFF2-40B4-BE49-F238E27FC236}">
                <a16:creationId xmlns:a16="http://schemas.microsoft.com/office/drawing/2014/main" id="{84D86FDC-A38D-4A47-B1E1-9E01E3C17455}"/>
              </a:ext>
            </a:extLst>
          </p:cNvPr>
          <p:cNvSpPr>
            <a:spLocks noGrp="1" noChangeArrowheads="1"/>
          </p:cNvSpPr>
          <p:nvPr>
            <p:ph type="body" sz="half" idx="1"/>
          </p:nvPr>
        </p:nvSpPr>
        <p:spPr>
          <a:xfrm>
            <a:off x="215900" y="849313"/>
            <a:ext cx="8686800" cy="2971800"/>
          </a:xfrm>
        </p:spPr>
        <p:txBody>
          <a:bodyPr/>
          <a:lstStyle/>
          <a:p>
            <a:pPr marL="609600" indent="-609600" eaLnBrk="1" hangingPunct="1"/>
            <a:r>
              <a:rPr lang="zh-CN" altLang="en-US" sz="2800"/>
              <a:t>从表中任一空格（非基变量）出发，与基变量格子构成一个</a:t>
            </a:r>
            <a:r>
              <a:rPr lang="zh-CN" altLang="en-US" sz="2800">
                <a:solidFill>
                  <a:srgbClr val="FF00FF"/>
                </a:solidFill>
              </a:rPr>
              <a:t>闭回路 </a:t>
            </a:r>
            <a:endParaRPr lang="en-US" altLang="zh-CN" sz="2800">
              <a:solidFill>
                <a:srgbClr val="FF00FF"/>
              </a:solidFill>
            </a:endParaRPr>
          </a:p>
          <a:p>
            <a:pPr marL="609600" indent="-609600" eaLnBrk="1" hangingPunct="1"/>
            <a:r>
              <a:rPr lang="zh-CN" altLang="en-US" sz="2800"/>
              <a:t>沿闭回路前进，在拐角处依次交替标记</a:t>
            </a:r>
            <a:r>
              <a:rPr lang="en-US" altLang="zh-CN" sz="2800"/>
              <a:t>±1</a:t>
            </a:r>
            <a:endParaRPr lang="zh-CN" altLang="en-US" sz="2800"/>
          </a:p>
          <a:p>
            <a:pPr marL="877888" lvl="1" indent="-533400" eaLnBrk="1" hangingPunct="1"/>
            <a:r>
              <a:rPr lang="zh-CN" altLang="en-US" sz="2400"/>
              <a:t>这样的闭回路存在唯一，</a:t>
            </a:r>
            <a:r>
              <a:rPr lang="zh-CN" altLang="en-US" sz="2400">
                <a:solidFill>
                  <a:srgbClr val="FF0000"/>
                </a:solidFill>
              </a:rPr>
              <a:t>每个从非基变量出发的闭回路对应着一个可能的运输调整方案</a:t>
            </a:r>
            <a:r>
              <a:rPr lang="zh-CN" altLang="en-US" sz="2400"/>
              <a:t>。通过闭回路进行运输方案调整依然能保证产销平衡。</a:t>
            </a:r>
          </a:p>
        </p:txBody>
      </p:sp>
      <p:sp>
        <p:nvSpPr>
          <p:cNvPr id="25604" name="Rectangle 4">
            <a:extLst>
              <a:ext uri="{FF2B5EF4-FFF2-40B4-BE49-F238E27FC236}">
                <a16:creationId xmlns:a16="http://schemas.microsoft.com/office/drawing/2014/main" id="{694347AE-6AF8-494C-A47E-342D3D90F258}"/>
              </a:ext>
            </a:extLst>
          </p:cNvPr>
          <p:cNvSpPr>
            <a:spLocks noChangeArrowheads="1"/>
          </p:cNvSpPr>
          <p:nvPr/>
        </p:nvSpPr>
        <p:spPr bwMode="auto">
          <a:xfrm>
            <a:off x="3059113" y="1831975"/>
            <a:ext cx="504825"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25605" name="Rectangle 5">
            <a:extLst>
              <a:ext uri="{FF2B5EF4-FFF2-40B4-BE49-F238E27FC236}">
                <a16:creationId xmlns:a16="http://schemas.microsoft.com/office/drawing/2014/main" id="{79C78DAF-46D7-43F3-962B-5A39D48BE5D4}"/>
              </a:ext>
            </a:extLst>
          </p:cNvPr>
          <p:cNvSpPr>
            <a:spLocks noChangeArrowheads="1"/>
          </p:cNvSpPr>
          <p:nvPr/>
        </p:nvSpPr>
        <p:spPr bwMode="auto">
          <a:xfrm>
            <a:off x="3059113" y="1831975"/>
            <a:ext cx="504825"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25606" name="Rectangle 6">
            <a:extLst>
              <a:ext uri="{FF2B5EF4-FFF2-40B4-BE49-F238E27FC236}">
                <a16:creationId xmlns:a16="http://schemas.microsoft.com/office/drawing/2014/main" id="{9BC5844D-0796-42AB-8527-37A359074EDB}"/>
              </a:ext>
            </a:extLst>
          </p:cNvPr>
          <p:cNvSpPr>
            <a:spLocks noChangeArrowheads="1"/>
          </p:cNvSpPr>
          <p:nvPr/>
        </p:nvSpPr>
        <p:spPr bwMode="auto">
          <a:xfrm>
            <a:off x="3059113" y="1831975"/>
            <a:ext cx="504825"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88493" name="Group 77">
            <a:extLst>
              <a:ext uri="{FF2B5EF4-FFF2-40B4-BE49-F238E27FC236}">
                <a16:creationId xmlns:a16="http://schemas.microsoft.com/office/drawing/2014/main" id="{06E3AC18-6805-459F-A4AA-080B5FED528E}"/>
              </a:ext>
            </a:extLst>
          </p:cNvPr>
          <p:cNvGraphicFramePr>
            <a:graphicFrameLocks noGrp="1"/>
          </p:cNvGraphicFramePr>
          <p:nvPr/>
        </p:nvGraphicFramePr>
        <p:xfrm>
          <a:off x="247650" y="3582988"/>
          <a:ext cx="2895600" cy="2743200"/>
        </p:xfrm>
        <a:graphic>
          <a:graphicData uri="http://schemas.openxmlformats.org/drawingml/2006/table">
            <a:tbl>
              <a:tblPr/>
              <a:tblGrid>
                <a:gridCol w="482600">
                  <a:extLst>
                    <a:ext uri="{9D8B030D-6E8A-4147-A177-3AD203B41FA5}">
                      <a16:colId xmlns:a16="http://schemas.microsoft.com/office/drawing/2014/main" val="20000"/>
                    </a:ext>
                  </a:extLst>
                </a:gridCol>
                <a:gridCol w="482600">
                  <a:extLst>
                    <a:ext uri="{9D8B030D-6E8A-4147-A177-3AD203B41FA5}">
                      <a16:colId xmlns:a16="http://schemas.microsoft.com/office/drawing/2014/main" val="20001"/>
                    </a:ext>
                  </a:extLst>
                </a:gridCol>
                <a:gridCol w="482600">
                  <a:extLst>
                    <a:ext uri="{9D8B030D-6E8A-4147-A177-3AD203B41FA5}">
                      <a16:colId xmlns:a16="http://schemas.microsoft.com/office/drawing/2014/main" val="20002"/>
                    </a:ext>
                  </a:extLst>
                </a:gridCol>
                <a:gridCol w="482600">
                  <a:extLst>
                    <a:ext uri="{9D8B030D-6E8A-4147-A177-3AD203B41FA5}">
                      <a16:colId xmlns:a16="http://schemas.microsoft.com/office/drawing/2014/main" val="20003"/>
                    </a:ext>
                  </a:extLst>
                </a:gridCol>
                <a:gridCol w="482600">
                  <a:extLst>
                    <a:ext uri="{9D8B030D-6E8A-4147-A177-3AD203B41FA5}">
                      <a16:colId xmlns:a16="http://schemas.microsoft.com/office/drawing/2014/main" val="20004"/>
                    </a:ext>
                  </a:extLst>
                </a:gridCol>
                <a:gridCol w="482600">
                  <a:extLst>
                    <a:ext uri="{9D8B030D-6E8A-4147-A177-3AD203B41FA5}">
                      <a16:colId xmlns:a16="http://schemas.microsoft.com/office/drawing/2014/main" val="20005"/>
                    </a:ext>
                  </a:extLst>
                </a:gridCol>
              </a:tblGrid>
              <a:tr h="4191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a:noFill/>
                    </a:lnL>
                    <a:lnR>
                      <a:noFill/>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191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rgbClr val="FF9900"/>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rgbClr val="FF9900"/>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extLst>
                  <a:ext uri="{0D108BD9-81ED-4DB2-BD59-A6C34878D82A}">
                    <a16:rowId xmlns:a16="http://schemas.microsoft.com/office/drawing/2014/main" val="10001"/>
                  </a:ext>
                </a:extLst>
              </a:tr>
              <a:tr h="4191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191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rgbClr val="FF9900"/>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191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191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25656" name="组合 1">
            <a:extLst>
              <a:ext uri="{FF2B5EF4-FFF2-40B4-BE49-F238E27FC236}">
                <a16:creationId xmlns:a16="http://schemas.microsoft.com/office/drawing/2014/main" id="{E159117D-BB30-46BD-BD32-F3B469E5CB53}"/>
              </a:ext>
            </a:extLst>
          </p:cNvPr>
          <p:cNvGrpSpPr>
            <a:grpSpLocks/>
          </p:cNvGrpSpPr>
          <p:nvPr/>
        </p:nvGrpSpPr>
        <p:grpSpPr bwMode="auto">
          <a:xfrm>
            <a:off x="1200150" y="4114800"/>
            <a:ext cx="1547813" cy="1401763"/>
            <a:chOff x="2262187" y="3876675"/>
            <a:chExt cx="1547813" cy="1402556"/>
          </a:xfrm>
        </p:grpSpPr>
        <p:sp>
          <p:nvSpPr>
            <p:cNvPr id="25662" name="Line 140">
              <a:extLst>
                <a:ext uri="{FF2B5EF4-FFF2-40B4-BE49-F238E27FC236}">
                  <a16:creationId xmlns:a16="http://schemas.microsoft.com/office/drawing/2014/main" id="{3FD5D7E9-7667-4B03-B610-9B11041A10B3}"/>
                </a:ext>
              </a:extLst>
            </p:cNvPr>
            <p:cNvSpPr>
              <a:spLocks noChangeShapeType="1"/>
            </p:cNvSpPr>
            <p:nvPr/>
          </p:nvSpPr>
          <p:spPr bwMode="auto">
            <a:xfrm flipH="1">
              <a:off x="2590800" y="4181475"/>
              <a:ext cx="838200" cy="0"/>
            </a:xfrm>
            <a:prstGeom prst="line">
              <a:avLst/>
            </a:prstGeom>
            <a:noFill/>
            <a:ln w="1905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63" name="Line 141">
              <a:extLst>
                <a:ext uri="{FF2B5EF4-FFF2-40B4-BE49-F238E27FC236}">
                  <a16:creationId xmlns:a16="http://schemas.microsoft.com/office/drawing/2014/main" id="{7FE7818B-E3FB-4877-A2AF-6184146ABE7B}"/>
                </a:ext>
              </a:extLst>
            </p:cNvPr>
            <p:cNvSpPr>
              <a:spLocks noChangeShapeType="1"/>
            </p:cNvSpPr>
            <p:nvPr/>
          </p:nvSpPr>
          <p:spPr bwMode="auto">
            <a:xfrm>
              <a:off x="2438400" y="4333875"/>
              <a:ext cx="0" cy="609600"/>
            </a:xfrm>
            <a:prstGeom prst="line">
              <a:avLst/>
            </a:prstGeom>
            <a:noFill/>
            <a:ln w="1905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64" name="Text Box 142">
              <a:extLst>
                <a:ext uri="{FF2B5EF4-FFF2-40B4-BE49-F238E27FC236}">
                  <a16:creationId xmlns:a16="http://schemas.microsoft.com/office/drawing/2014/main" id="{20243899-2DCD-479E-94E5-7016D5DA67F6}"/>
                </a:ext>
              </a:extLst>
            </p:cNvPr>
            <p:cNvSpPr txBox="1">
              <a:spLocks noChangeArrowheads="1"/>
            </p:cNvSpPr>
            <p:nvPr/>
          </p:nvSpPr>
          <p:spPr bwMode="auto">
            <a:xfrm>
              <a:off x="3107532" y="4867275"/>
              <a:ext cx="473867" cy="36671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a:t>N</a:t>
              </a:r>
            </a:p>
          </p:txBody>
        </p:sp>
        <p:sp>
          <p:nvSpPr>
            <p:cNvPr id="25665" name="Text Box 143">
              <a:extLst>
                <a:ext uri="{FF2B5EF4-FFF2-40B4-BE49-F238E27FC236}">
                  <a16:creationId xmlns:a16="http://schemas.microsoft.com/office/drawing/2014/main" id="{2400B29D-98CC-433C-896E-212AD1DB6125}"/>
                </a:ext>
              </a:extLst>
            </p:cNvPr>
            <p:cNvSpPr txBox="1">
              <a:spLocks noChangeArrowheads="1"/>
            </p:cNvSpPr>
            <p:nvPr/>
          </p:nvSpPr>
          <p:spPr bwMode="auto">
            <a:xfrm>
              <a:off x="3352800" y="3876675"/>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FF9900"/>
                  </a:solidFill>
                </a:rPr>
                <a:t>-</a:t>
              </a:r>
            </a:p>
          </p:txBody>
        </p:sp>
        <p:sp>
          <p:nvSpPr>
            <p:cNvPr id="25666" name="Text Box 144">
              <a:extLst>
                <a:ext uri="{FF2B5EF4-FFF2-40B4-BE49-F238E27FC236}">
                  <a16:creationId xmlns:a16="http://schemas.microsoft.com/office/drawing/2014/main" id="{42B32F81-B3BF-40DF-86C7-B042EDF31A22}"/>
                </a:ext>
              </a:extLst>
            </p:cNvPr>
            <p:cNvSpPr txBox="1">
              <a:spLocks noChangeArrowheads="1"/>
            </p:cNvSpPr>
            <p:nvPr/>
          </p:nvSpPr>
          <p:spPr bwMode="auto">
            <a:xfrm>
              <a:off x="2315767" y="4822031"/>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FF9900"/>
                  </a:solidFill>
                </a:rPr>
                <a:t>-</a:t>
              </a:r>
            </a:p>
          </p:txBody>
        </p:sp>
        <p:sp>
          <p:nvSpPr>
            <p:cNvPr id="25667" name="Text Box 145">
              <a:extLst>
                <a:ext uri="{FF2B5EF4-FFF2-40B4-BE49-F238E27FC236}">
                  <a16:creationId xmlns:a16="http://schemas.microsoft.com/office/drawing/2014/main" id="{97EBA7D7-1E47-4F17-8D55-F6D874E0AC06}"/>
                </a:ext>
              </a:extLst>
            </p:cNvPr>
            <p:cNvSpPr txBox="1">
              <a:spLocks noChangeArrowheads="1"/>
            </p:cNvSpPr>
            <p:nvPr/>
          </p:nvSpPr>
          <p:spPr bwMode="auto">
            <a:xfrm>
              <a:off x="2262187" y="3956052"/>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FF9900"/>
                  </a:solidFill>
                </a:rPr>
                <a:t>+</a:t>
              </a:r>
            </a:p>
          </p:txBody>
        </p:sp>
        <p:sp>
          <p:nvSpPr>
            <p:cNvPr id="25668" name="Line 146">
              <a:extLst>
                <a:ext uri="{FF2B5EF4-FFF2-40B4-BE49-F238E27FC236}">
                  <a16:creationId xmlns:a16="http://schemas.microsoft.com/office/drawing/2014/main" id="{F48C91AC-7BEA-4567-95AC-5B47A4CED775}"/>
                </a:ext>
              </a:extLst>
            </p:cNvPr>
            <p:cNvSpPr>
              <a:spLocks noChangeShapeType="1"/>
            </p:cNvSpPr>
            <p:nvPr/>
          </p:nvSpPr>
          <p:spPr bwMode="auto">
            <a:xfrm flipV="1">
              <a:off x="3505200" y="4212431"/>
              <a:ext cx="0" cy="838200"/>
            </a:xfrm>
            <a:prstGeom prst="line">
              <a:avLst/>
            </a:prstGeom>
            <a:noFill/>
            <a:ln w="1905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69" name="Line 147">
              <a:extLst>
                <a:ext uri="{FF2B5EF4-FFF2-40B4-BE49-F238E27FC236}">
                  <a16:creationId xmlns:a16="http://schemas.microsoft.com/office/drawing/2014/main" id="{50052558-9CE5-4400-AC81-BA76A5B41954}"/>
                </a:ext>
              </a:extLst>
            </p:cNvPr>
            <p:cNvSpPr>
              <a:spLocks noChangeShapeType="1"/>
            </p:cNvSpPr>
            <p:nvPr/>
          </p:nvSpPr>
          <p:spPr bwMode="auto">
            <a:xfrm>
              <a:off x="2590800" y="5095875"/>
              <a:ext cx="990600" cy="0"/>
            </a:xfrm>
            <a:prstGeom prst="line">
              <a:avLst/>
            </a:prstGeom>
            <a:noFill/>
            <a:ln w="19050">
              <a:solidFill>
                <a:srgbClr val="FF33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9513" name="Text Box 149">
            <a:extLst>
              <a:ext uri="{FF2B5EF4-FFF2-40B4-BE49-F238E27FC236}">
                <a16:creationId xmlns:a16="http://schemas.microsoft.com/office/drawing/2014/main" id="{51F3602D-7D07-4C07-B612-345B458701C9}"/>
              </a:ext>
            </a:extLst>
          </p:cNvPr>
          <p:cNvSpPr txBox="1">
            <a:spLocks noChangeArrowheads="1"/>
          </p:cNvSpPr>
          <p:nvPr/>
        </p:nvSpPr>
        <p:spPr bwMode="auto">
          <a:xfrm>
            <a:off x="5486400" y="3478213"/>
            <a:ext cx="3048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a:latin typeface="Times New Roman" panose="02020603050405020304" pitchFamily="18" charset="0"/>
              </a:rPr>
              <a:t>p</a:t>
            </a:r>
            <a:r>
              <a:rPr lang="en-US" altLang="zh-CN" sz="2800" baseline="-25000">
                <a:latin typeface="Times New Roman" panose="02020603050405020304" pitchFamily="18" charset="0"/>
              </a:rPr>
              <a:t>33</a:t>
            </a:r>
            <a:r>
              <a:rPr lang="en-US" altLang="zh-CN" sz="2800">
                <a:latin typeface="Times New Roman" panose="02020603050405020304" pitchFamily="18" charset="0"/>
              </a:rPr>
              <a:t>= p</a:t>
            </a:r>
            <a:r>
              <a:rPr lang="en-US" altLang="zh-CN" sz="2800" baseline="-25000">
                <a:latin typeface="Times New Roman" panose="02020603050405020304" pitchFamily="18" charset="0"/>
              </a:rPr>
              <a:t>13</a:t>
            </a:r>
            <a:r>
              <a:rPr lang="en-US" altLang="zh-CN" sz="2800">
                <a:latin typeface="Times New Roman" panose="02020603050405020304" pitchFamily="18" charset="0"/>
              </a:rPr>
              <a:t>-p</a:t>
            </a:r>
            <a:r>
              <a:rPr lang="en-US" altLang="zh-CN" sz="2800" baseline="-25000">
                <a:latin typeface="Times New Roman" panose="02020603050405020304" pitchFamily="18" charset="0"/>
              </a:rPr>
              <a:t>11</a:t>
            </a:r>
            <a:r>
              <a:rPr lang="en-US" altLang="zh-CN" sz="2800">
                <a:latin typeface="Times New Roman" panose="02020603050405020304" pitchFamily="18" charset="0"/>
              </a:rPr>
              <a:t>+p</a:t>
            </a:r>
            <a:r>
              <a:rPr lang="en-US" altLang="zh-CN" sz="2800" baseline="-25000">
                <a:latin typeface="Times New Roman" panose="02020603050405020304" pitchFamily="18" charset="0"/>
              </a:rPr>
              <a:t>31</a:t>
            </a:r>
          </a:p>
        </p:txBody>
      </p:sp>
      <p:sp>
        <p:nvSpPr>
          <p:cNvPr id="25658" name="文本框 2">
            <a:extLst>
              <a:ext uri="{FF2B5EF4-FFF2-40B4-BE49-F238E27FC236}">
                <a16:creationId xmlns:a16="http://schemas.microsoft.com/office/drawing/2014/main" id="{B5EA29CF-3C53-4DAD-9AD8-C118C33ACC47}"/>
              </a:ext>
            </a:extLst>
          </p:cNvPr>
          <p:cNvSpPr txBox="1">
            <a:spLocks noChangeArrowheads="1"/>
          </p:cNvSpPr>
          <p:nvPr/>
        </p:nvSpPr>
        <p:spPr bwMode="auto">
          <a:xfrm>
            <a:off x="3251200" y="4194175"/>
            <a:ext cx="5954713"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5000"/>
              </a:lnSpc>
            </a:pPr>
            <a:r>
              <a:rPr lang="zh-CN" altLang="en-US" sz="2000"/>
              <a:t>从每一空格</a:t>
            </a:r>
            <a:r>
              <a:rPr lang="en-US" altLang="zh-CN" sz="2000"/>
              <a:t>(</a:t>
            </a:r>
            <a:r>
              <a:rPr lang="zh-CN" altLang="en-US" sz="2000"/>
              <a:t>非基变量</a:t>
            </a:r>
            <a:r>
              <a:rPr lang="en-US" altLang="zh-CN" sz="2000"/>
              <a:t>)</a:t>
            </a:r>
            <a:r>
              <a:rPr lang="zh-CN" altLang="en-US" sz="2000"/>
              <a:t>出发</a:t>
            </a:r>
            <a:r>
              <a:rPr lang="zh-CN" altLang="en-US" sz="2000" b="1">
                <a:solidFill>
                  <a:srgbClr val="FF0000"/>
                </a:solidFill>
              </a:rPr>
              <a:t>一定可以</a:t>
            </a:r>
            <a:r>
              <a:rPr lang="zh-CN" altLang="en-US" sz="2000"/>
              <a:t>找到唯一的闭回路，考虑到</a:t>
            </a:r>
            <a:r>
              <a:rPr lang="en-US" altLang="zh-CN" sz="2000"/>
              <a:t>(</a:t>
            </a:r>
            <a:r>
              <a:rPr lang="en-US" altLang="zh-CN" sz="2000" i="1"/>
              <a:t>m</a:t>
            </a:r>
            <a:r>
              <a:rPr lang="en-US" altLang="zh-CN" sz="2000"/>
              <a:t>+</a:t>
            </a:r>
            <a:r>
              <a:rPr lang="en-US" altLang="zh-CN" sz="2000" i="1"/>
              <a:t>n</a:t>
            </a:r>
            <a:r>
              <a:rPr lang="en-US" altLang="zh-CN" sz="2000"/>
              <a:t>-1)</a:t>
            </a:r>
            <a:r>
              <a:rPr lang="zh-CN" altLang="en-US" sz="2000"/>
              <a:t>个数字格</a:t>
            </a:r>
            <a:r>
              <a:rPr lang="en-US" altLang="zh-CN" sz="2000"/>
              <a:t>(</a:t>
            </a:r>
            <a:r>
              <a:rPr lang="zh-CN" altLang="en-US" sz="2000"/>
              <a:t>基变量</a:t>
            </a:r>
            <a:r>
              <a:rPr lang="en-US" altLang="zh-CN" sz="2000"/>
              <a:t>)</a:t>
            </a:r>
            <a:r>
              <a:rPr lang="zh-CN" altLang="en-US" sz="2000"/>
              <a:t>对应的系数向量是一个基，</a:t>
            </a:r>
            <a:r>
              <a:rPr lang="zh-CN" altLang="en-US" sz="2000" b="1"/>
              <a:t>故任一非基变量对应的系数向量可以看做是该基变量对应的系数向量的线性组合</a:t>
            </a:r>
            <a:r>
              <a:rPr lang="en-US" altLang="zh-CN" sz="2000"/>
              <a:t>(p98)</a:t>
            </a:r>
            <a:r>
              <a:rPr lang="zh-CN" altLang="en-US" sz="2000"/>
              <a:t>。</a:t>
            </a:r>
          </a:p>
        </p:txBody>
      </p:sp>
      <p:sp>
        <p:nvSpPr>
          <p:cNvPr id="25659" name="Text Box 143">
            <a:extLst>
              <a:ext uri="{FF2B5EF4-FFF2-40B4-BE49-F238E27FC236}">
                <a16:creationId xmlns:a16="http://schemas.microsoft.com/office/drawing/2014/main" id="{77E1B851-1BB2-4B37-8CFC-C975DDA0DD84}"/>
              </a:ext>
            </a:extLst>
          </p:cNvPr>
          <p:cNvSpPr txBox="1">
            <a:spLocks noChangeArrowheads="1"/>
          </p:cNvSpPr>
          <p:nvPr/>
        </p:nvSpPr>
        <p:spPr bwMode="auto">
          <a:xfrm>
            <a:off x="2519363" y="5114925"/>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FF9900"/>
                </a:solidFill>
              </a:rPr>
              <a:t>+</a:t>
            </a:r>
          </a:p>
        </p:txBody>
      </p:sp>
      <p:sp>
        <p:nvSpPr>
          <p:cNvPr id="20" name="矩形 19">
            <a:extLst>
              <a:ext uri="{FF2B5EF4-FFF2-40B4-BE49-F238E27FC236}">
                <a16:creationId xmlns:a16="http://schemas.microsoft.com/office/drawing/2014/main" id="{CEFD12DE-BF60-40D9-A158-739CCF304F8D}"/>
              </a:ext>
            </a:extLst>
          </p:cNvPr>
          <p:cNvSpPr>
            <a:spLocks noChangeArrowheads="1"/>
          </p:cNvSpPr>
          <p:nvPr/>
        </p:nvSpPr>
        <p:spPr bwMode="auto">
          <a:xfrm>
            <a:off x="3836988" y="5984875"/>
            <a:ext cx="50292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solidFill>
                  <a:srgbClr val="FF00FF"/>
                </a:solidFill>
              </a:rPr>
              <a:t>求某个空格（非基变量）的检验数，先要找出它在运输表上的</a:t>
            </a:r>
            <a:r>
              <a:rPr lang="zh-CN" altLang="zh-CN" sz="2000" b="1">
                <a:solidFill>
                  <a:srgbClr val="FF00FF"/>
                </a:solidFill>
              </a:rPr>
              <a:t>闭回路</a:t>
            </a:r>
            <a:r>
              <a:rPr lang="zh-CN" altLang="en-US" sz="2000" b="1">
                <a:solidFill>
                  <a:srgbClr val="FF00FF"/>
                </a:solidFill>
              </a:rPr>
              <a:t>！</a:t>
            </a:r>
            <a:endParaRPr lang="en-US" altLang="zh-CN" sz="2000" b="1">
              <a:solidFill>
                <a:srgbClr val="FF00FF"/>
              </a:solidFill>
            </a:endParaRPr>
          </a:p>
        </p:txBody>
      </p:sp>
      <p:sp>
        <p:nvSpPr>
          <p:cNvPr id="21" name="Text Box 149">
            <a:extLst>
              <a:ext uri="{FF2B5EF4-FFF2-40B4-BE49-F238E27FC236}">
                <a16:creationId xmlns:a16="http://schemas.microsoft.com/office/drawing/2014/main" id="{631237EB-4D91-41CC-AB9E-67C947AAE847}"/>
              </a:ext>
            </a:extLst>
          </p:cNvPr>
          <p:cNvSpPr txBox="1">
            <a:spLocks noChangeArrowheads="1"/>
          </p:cNvSpPr>
          <p:nvPr/>
        </p:nvSpPr>
        <p:spPr bwMode="auto">
          <a:xfrm>
            <a:off x="5486400" y="3043238"/>
            <a:ext cx="32400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a:latin typeface="Times New Roman" panose="02020603050405020304" pitchFamily="18" charset="0"/>
              </a:rPr>
              <a:t>p</a:t>
            </a:r>
            <a:r>
              <a:rPr lang="en-US" altLang="zh-CN" sz="2800" baseline="-25000">
                <a:latin typeface="Times New Roman" panose="02020603050405020304" pitchFamily="18" charset="0"/>
              </a:rPr>
              <a:t>33</a:t>
            </a:r>
            <a:r>
              <a:rPr lang="en-US" altLang="zh-CN" sz="2800">
                <a:latin typeface="Times New Roman" panose="02020603050405020304" pitchFamily="18" charset="0"/>
              </a:rPr>
              <a:t>-p</a:t>
            </a:r>
            <a:r>
              <a:rPr lang="en-US" altLang="zh-CN" sz="2800" baseline="-25000">
                <a:latin typeface="Times New Roman" panose="02020603050405020304" pitchFamily="18" charset="0"/>
              </a:rPr>
              <a:t>13</a:t>
            </a:r>
            <a:r>
              <a:rPr lang="en-US" altLang="zh-CN" sz="2800">
                <a:latin typeface="Times New Roman" panose="02020603050405020304" pitchFamily="18" charset="0"/>
              </a:rPr>
              <a:t>+p</a:t>
            </a:r>
            <a:r>
              <a:rPr lang="en-US" altLang="zh-CN" sz="2800" baseline="-25000">
                <a:latin typeface="Times New Roman" panose="02020603050405020304" pitchFamily="18" charset="0"/>
              </a:rPr>
              <a:t>11</a:t>
            </a:r>
            <a:r>
              <a:rPr lang="en-US" altLang="zh-CN" sz="2800">
                <a:latin typeface="Times New Roman" panose="02020603050405020304" pitchFamily="18" charset="0"/>
              </a:rPr>
              <a:t>-p</a:t>
            </a:r>
            <a:r>
              <a:rPr lang="en-US" altLang="zh-CN" sz="2800" baseline="-25000">
                <a:latin typeface="Times New Roman" panose="02020603050405020304" pitchFamily="18" charset="0"/>
              </a:rPr>
              <a:t>31</a:t>
            </a:r>
            <a:r>
              <a:rPr lang="en-US" altLang="zh-CN" sz="2800">
                <a:latin typeface="Times New Roman" panose="02020603050405020304" pitchFamily="18" charset="0"/>
              </a:rPr>
              <a:t> =0</a:t>
            </a:r>
            <a:endParaRPr lang="en-US" altLang="zh-CN" sz="2800" baseline="-250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0" presetClass="exit" presetSubtype="0" fill="hold" grpId="0" nodeType="clickEffect">
                                  <p:stCondLst>
                                    <p:cond delay="0"/>
                                  </p:stCondLst>
                                  <p:childTnLst>
                                    <p:animEffect transition="out" filter="fade">
                                      <p:cBhvr>
                                        <p:cTn id="10" dur="500"/>
                                        <p:tgtEl>
                                          <p:spTgt spid="21"/>
                                        </p:tgtEl>
                                      </p:cBhvr>
                                    </p:animEffect>
                                    <p:set>
                                      <p:cBhvr>
                                        <p:cTn id="11" dur="1" fill="hold">
                                          <p:stCondLst>
                                            <p:cond delay="499"/>
                                          </p:stCondLst>
                                        </p:cTn>
                                        <p:tgtEl>
                                          <p:spTgt spid="21"/>
                                        </p:tgtEl>
                                        <p:attrNameLst>
                                          <p:attrName>style.visibility</p:attrName>
                                        </p:attrNameLst>
                                      </p:cBhvr>
                                      <p:to>
                                        <p:strVal val="hidden"/>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9513"/>
                                        </p:tgtEl>
                                        <p:attrNameLst>
                                          <p:attrName>style.visibility</p:attrName>
                                        </p:attrNameLst>
                                      </p:cBhvr>
                                      <p:to>
                                        <p:strVal val="visible"/>
                                      </p:to>
                                    </p:set>
                                    <p:animEffect transition="in" filter="fade">
                                      <p:cBhvr>
                                        <p:cTn id="16" dur="500"/>
                                        <p:tgtEl>
                                          <p:spTgt spid="1951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1"/>
                                        </p:tgtEl>
                                      </p:cBhvr>
                                    </p:animEffect>
                                    <p:set>
                                      <p:cBhvr>
                                        <p:cTn id="21"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13" grpId="0"/>
      <p:bldP spid="20" grpId="0"/>
      <p:bldP spid="21" grpId="0"/>
      <p:bldP spid="21" grpId="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descr="Large confetti">
            <a:extLst>
              <a:ext uri="{FF2B5EF4-FFF2-40B4-BE49-F238E27FC236}">
                <a16:creationId xmlns:a16="http://schemas.microsoft.com/office/drawing/2014/main" id="{AFC5E014-43C9-422B-BF34-A94A5D6A0DCA}"/>
              </a:ext>
            </a:extLst>
          </p:cNvPr>
          <p:cNvSpPr>
            <a:spLocks noGrp="1" noChangeArrowheads="1"/>
          </p:cNvSpPr>
          <p:nvPr>
            <p:ph type="title"/>
          </p:nvPr>
        </p:nvSpPr>
        <p:spPr/>
        <p:txBody>
          <a:bodyPr/>
          <a:lstStyle/>
          <a:p>
            <a:pPr eaLnBrk="1" hangingPunct="1"/>
            <a:r>
              <a:rPr lang="zh-CN" altLang="en-US"/>
              <a:t>闭回路的概念</a:t>
            </a:r>
          </a:p>
        </p:txBody>
      </p:sp>
      <p:sp>
        <p:nvSpPr>
          <p:cNvPr id="68614" name="Rectangle 7">
            <a:extLst>
              <a:ext uri="{FF2B5EF4-FFF2-40B4-BE49-F238E27FC236}">
                <a16:creationId xmlns:a16="http://schemas.microsoft.com/office/drawing/2014/main" id="{1545CD48-1D19-4E7F-9023-676A0502F185}"/>
              </a:ext>
            </a:extLst>
          </p:cNvPr>
          <p:cNvSpPr>
            <a:spLocks noChangeArrowheads="1"/>
          </p:cNvSpPr>
          <p:nvPr/>
        </p:nvSpPr>
        <p:spPr bwMode="auto">
          <a:xfrm>
            <a:off x="285750" y="911225"/>
            <a:ext cx="8572500" cy="235426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just" eaLnBrk="1" hangingPunct="1">
              <a:lnSpc>
                <a:spcPct val="125000"/>
              </a:lnSpc>
              <a:spcBef>
                <a:spcPct val="20000"/>
              </a:spcBef>
              <a:defRPr/>
            </a:pPr>
            <a:r>
              <a:rPr lang="zh-CN" altLang="en-US" dirty="0">
                <a:solidFill>
                  <a:schemeClr val="tx1"/>
                </a:solidFill>
                <a:ea typeface="+mn-ea"/>
                <a:cs typeface="Times New Roman" panose="02020603050405020304" pitchFamily="18" charset="0"/>
              </a:rPr>
              <a:t>称集合</a:t>
            </a:r>
            <a:r>
              <a:rPr lang="en-US" altLang="zh-CN" dirty="0">
                <a:solidFill>
                  <a:schemeClr val="tx1"/>
                </a:solidFill>
                <a:ea typeface="+mn-ea"/>
                <a:cs typeface="Times New Roman" panose="02020603050405020304" pitchFamily="18" charset="0"/>
              </a:rPr>
              <a:t>{</a:t>
            </a:r>
            <a:r>
              <a:rPr lang="en-US" altLang="zh-CN" i="1" dirty="0">
                <a:solidFill>
                  <a:schemeClr val="tx1"/>
                </a:solidFill>
                <a:ea typeface="+mn-ea"/>
                <a:cs typeface="Times New Roman" panose="02020603050405020304" pitchFamily="18" charset="0"/>
              </a:rPr>
              <a:t>x</a:t>
            </a:r>
            <a:r>
              <a:rPr lang="en-US" altLang="zh-CN" baseline="-25000" dirty="0">
                <a:solidFill>
                  <a:schemeClr val="tx1"/>
                </a:solidFill>
                <a:ea typeface="+mn-ea"/>
                <a:cs typeface="Times New Roman" panose="02020603050405020304" pitchFamily="18" charset="0"/>
              </a:rPr>
              <a:t>i1j1</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25000" dirty="0">
                <a:solidFill>
                  <a:schemeClr val="tx1"/>
                </a:solidFill>
                <a:ea typeface="+mn-ea"/>
                <a:cs typeface="Times New Roman" panose="02020603050405020304" pitchFamily="18" charset="0"/>
              </a:rPr>
              <a:t>i1j2</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25000" dirty="0">
                <a:solidFill>
                  <a:schemeClr val="tx1"/>
                </a:solidFill>
                <a:ea typeface="+mn-ea"/>
                <a:cs typeface="Times New Roman" panose="02020603050405020304" pitchFamily="18" charset="0"/>
              </a:rPr>
              <a:t>i2j2</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25000" dirty="0">
                <a:solidFill>
                  <a:schemeClr val="tx1"/>
                </a:solidFill>
                <a:ea typeface="+mn-ea"/>
                <a:cs typeface="Times New Roman" panose="02020603050405020304" pitchFamily="18" charset="0"/>
              </a:rPr>
              <a:t>i2j3</a:t>
            </a:r>
            <a:r>
              <a:rPr lang="en-US" altLang="zh-CN" dirty="0">
                <a:solidFill>
                  <a:schemeClr val="tx1"/>
                </a:solidFill>
                <a:ea typeface="+mn-ea"/>
                <a:cs typeface="Times New Roman" panose="02020603050405020304" pitchFamily="18" charset="0"/>
              </a:rPr>
              <a:t>,…, </a:t>
            </a:r>
            <a:r>
              <a:rPr lang="en-US" altLang="zh-CN" i="1" dirty="0" err="1">
                <a:solidFill>
                  <a:schemeClr val="tx1"/>
                </a:solidFill>
                <a:ea typeface="+mn-ea"/>
                <a:cs typeface="Times New Roman" panose="02020603050405020304" pitchFamily="18" charset="0"/>
              </a:rPr>
              <a:t>x</a:t>
            </a:r>
            <a:r>
              <a:rPr lang="en-US" altLang="zh-CN" baseline="-25000" dirty="0" err="1">
                <a:solidFill>
                  <a:schemeClr val="tx1"/>
                </a:solidFill>
                <a:ea typeface="+mn-ea"/>
                <a:cs typeface="Times New Roman" panose="02020603050405020304" pitchFamily="18" charset="0"/>
              </a:rPr>
              <a:t>isjs</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25000" dirty="0">
                <a:solidFill>
                  <a:schemeClr val="tx1"/>
                </a:solidFill>
                <a:ea typeface="+mn-ea"/>
                <a:cs typeface="Times New Roman" panose="02020603050405020304" pitchFamily="18" charset="0"/>
              </a:rPr>
              <a:t>isj1</a:t>
            </a:r>
            <a:r>
              <a:rPr lang="en-US" altLang="zh-CN" dirty="0">
                <a:solidFill>
                  <a:schemeClr val="tx1"/>
                </a:solidFill>
                <a:ea typeface="+mn-ea"/>
                <a:cs typeface="Times New Roman" panose="02020603050405020304" pitchFamily="18" charset="0"/>
              </a:rPr>
              <a:t>} (</a:t>
            </a:r>
            <a:r>
              <a:rPr lang="zh-CN" altLang="en-US" dirty="0">
                <a:solidFill>
                  <a:schemeClr val="tx1"/>
                </a:solidFill>
                <a:ea typeface="+mn-ea"/>
                <a:cs typeface="Times New Roman" panose="02020603050405020304" pitchFamily="18" charset="0"/>
              </a:rPr>
              <a:t>其中</a:t>
            </a:r>
            <a:r>
              <a:rPr lang="en-US" altLang="zh-CN" dirty="0">
                <a:solidFill>
                  <a:schemeClr val="tx1"/>
                </a:solidFill>
                <a:ea typeface="+mn-ea"/>
                <a:cs typeface="Times New Roman" panose="02020603050405020304" pitchFamily="18" charset="0"/>
              </a:rPr>
              <a:t>i</a:t>
            </a:r>
            <a:r>
              <a:rPr lang="en-US" altLang="zh-CN" baseline="-25000" dirty="0">
                <a:solidFill>
                  <a:schemeClr val="tx1"/>
                </a:solidFill>
                <a:ea typeface="+mn-ea"/>
                <a:cs typeface="Times New Roman" panose="02020603050405020304" pitchFamily="18" charset="0"/>
              </a:rPr>
              <a:t>1</a:t>
            </a:r>
            <a:r>
              <a:rPr lang="en-US" altLang="zh-CN" dirty="0">
                <a:solidFill>
                  <a:schemeClr val="tx1"/>
                </a:solidFill>
                <a:ea typeface="+mn-ea"/>
                <a:cs typeface="Times New Roman" panose="02020603050405020304" pitchFamily="18" charset="0"/>
              </a:rPr>
              <a:t>,i</a:t>
            </a:r>
            <a:r>
              <a:rPr lang="en-US" altLang="zh-CN" baseline="-25000" dirty="0">
                <a:solidFill>
                  <a:schemeClr val="tx1"/>
                </a:solidFill>
                <a:ea typeface="+mn-ea"/>
                <a:cs typeface="Times New Roman" panose="02020603050405020304" pitchFamily="18" charset="0"/>
              </a:rPr>
              <a:t>2</a:t>
            </a:r>
            <a:r>
              <a:rPr lang="en-US" altLang="zh-CN" dirty="0">
                <a:solidFill>
                  <a:schemeClr val="tx1"/>
                </a:solidFill>
                <a:ea typeface="+mn-ea"/>
                <a:cs typeface="Times New Roman" panose="02020603050405020304" pitchFamily="18" charset="0"/>
              </a:rPr>
              <a:t>,…,i</a:t>
            </a:r>
            <a:r>
              <a:rPr lang="en-US" altLang="zh-CN" baseline="-25000" dirty="0">
                <a:solidFill>
                  <a:schemeClr val="tx1"/>
                </a:solidFill>
                <a:ea typeface="+mn-ea"/>
                <a:cs typeface="Times New Roman" panose="02020603050405020304" pitchFamily="18" charset="0"/>
              </a:rPr>
              <a:t>s</a:t>
            </a:r>
            <a:r>
              <a:rPr lang="en-US" altLang="zh-CN" dirty="0">
                <a:solidFill>
                  <a:schemeClr val="tx1"/>
                </a:solidFill>
                <a:ea typeface="+mn-ea"/>
                <a:cs typeface="Times New Roman" panose="02020603050405020304" pitchFamily="18" charset="0"/>
              </a:rPr>
              <a:t>; j</a:t>
            </a:r>
            <a:r>
              <a:rPr lang="en-US" altLang="zh-CN" baseline="-25000" dirty="0">
                <a:solidFill>
                  <a:schemeClr val="tx1"/>
                </a:solidFill>
                <a:ea typeface="+mn-ea"/>
                <a:cs typeface="Times New Roman" panose="02020603050405020304" pitchFamily="18" charset="0"/>
              </a:rPr>
              <a:t>1</a:t>
            </a:r>
            <a:r>
              <a:rPr lang="en-US" altLang="zh-CN" dirty="0">
                <a:solidFill>
                  <a:schemeClr val="tx1"/>
                </a:solidFill>
                <a:ea typeface="+mn-ea"/>
                <a:cs typeface="Times New Roman" panose="02020603050405020304" pitchFamily="18" charset="0"/>
              </a:rPr>
              <a:t>, j</a:t>
            </a:r>
            <a:r>
              <a:rPr lang="en-US" altLang="zh-CN" baseline="-25000" dirty="0">
                <a:solidFill>
                  <a:schemeClr val="tx1"/>
                </a:solidFill>
                <a:ea typeface="+mn-ea"/>
                <a:cs typeface="Times New Roman" panose="02020603050405020304" pitchFamily="18" charset="0"/>
              </a:rPr>
              <a:t>2</a:t>
            </a:r>
            <a:r>
              <a:rPr lang="en-US" altLang="zh-CN" dirty="0">
                <a:solidFill>
                  <a:schemeClr val="tx1"/>
                </a:solidFill>
                <a:ea typeface="+mn-ea"/>
                <a:cs typeface="Times New Roman" panose="02020603050405020304" pitchFamily="18" charset="0"/>
              </a:rPr>
              <a:t>,…,</a:t>
            </a:r>
            <a:r>
              <a:rPr lang="en-US" altLang="zh-CN" dirty="0" err="1">
                <a:solidFill>
                  <a:schemeClr val="tx1"/>
                </a:solidFill>
                <a:ea typeface="+mn-ea"/>
                <a:cs typeface="Times New Roman" panose="02020603050405020304" pitchFamily="18" charset="0"/>
              </a:rPr>
              <a:t>j</a:t>
            </a:r>
            <a:r>
              <a:rPr lang="en-US" altLang="zh-CN" baseline="-25000" dirty="0" err="1">
                <a:solidFill>
                  <a:schemeClr val="tx1"/>
                </a:solidFill>
                <a:ea typeface="+mn-ea"/>
                <a:cs typeface="Times New Roman" panose="02020603050405020304" pitchFamily="18" charset="0"/>
              </a:rPr>
              <a:t>s</a:t>
            </a:r>
            <a:r>
              <a:rPr lang="zh-CN" altLang="en-US" dirty="0">
                <a:solidFill>
                  <a:schemeClr val="tx1"/>
                </a:solidFill>
                <a:ea typeface="+mn-ea"/>
                <a:cs typeface="Times New Roman" panose="02020603050405020304" pitchFamily="18" charset="0"/>
              </a:rPr>
              <a:t>互不相同</a:t>
            </a:r>
            <a:r>
              <a:rPr lang="en-US" altLang="zh-CN" dirty="0">
                <a:solidFill>
                  <a:schemeClr val="tx1"/>
                </a:solidFill>
                <a:ea typeface="+mn-ea"/>
                <a:cs typeface="Times New Roman" panose="02020603050405020304" pitchFamily="18" charset="0"/>
              </a:rPr>
              <a:t>)</a:t>
            </a:r>
            <a:r>
              <a:rPr lang="zh-CN" altLang="en-US" dirty="0">
                <a:solidFill>
                  <a:schemeClr val="tx1"/>
                </a:solidFill>
                <a:ea typeface="+mn-ea"/>
                <a:cs typeface="Times New Roman" panose="02020603050405020304" pitchFamily="18" charset="0"/>
              </a:rPr>
              <a:t>为一个闭回路，集合中的变量称为闭回路的</a:t>
            </a:r>
            <a:r>
              <a:rPr lang="zh-CN" altLang="en-US" dirty="0">
                <a:solidFill>
                  <a:srgbClr val="FF0000"/>
                </a:solidFill>
                <a:ea typeface="+mn-ea"/>
                <a:cs typeface="Times New Roman" panose="02020603050405020304" pitchFamily="18" charset="0"/>
              </a:rPr>
              <a:t>顶点</a:t>
            </a:r>
            <a:r>
              <a:rPr lang="zh-CN" altLang="en-US" dirty="0">
                <a:solidFill>
                  <a:schemeClr val="tx1"/>
                </a:solidFill>
                <a:ea typeface="+mn-ea"/>
                <a:cs typeface="Times New Roman" panose="02020603050405020304" pitchFamily="18" charset="0"/>
              </a:rPr>
              <a:t>，相邻两个变量的连线为闭回路的</a:t>
            </a:r>
            <a:r>
              <a:rPr lang="zh-CN" altLang="en-US" dirty="0">
                <a:solidFill>
                  <a:srgbClr val="FF0000"/>
                </a:solidFill>
                <a:ea typeface="+mn-ea"/>
                <a:cs typeface="Times New Roman" panose="02020603050405020304" pitchFamily="18" charset="0"/>
              </a:rPr>
              <a:t>边</a:t>
            </a:r>
            <a:r>
              <a:rPr lang="zh-CN" altLang="en-US" dirty="0">
                <a:solidFill>
                  <a:schemeClr val="tx1"/>
                </a:solidFill>
                <a:ea typeface="+mn-ea"/>
                <a:cs typeface="Times New Roman" panose="02020603050405020304" pitchFamily="18" charset="0"/>
              </a:rPr>
              <a:t>。如下表中闭回路的变量集合是</a:t>
            </a:r>
            <a:r>
              <a:rPr lang="en-US" altLang="zh-CN" dirty="0">
                <a:solidFill>
                  <a:schemeClr val="tx1"/>
                </a:solidFill>
                <a:ea typeface="+mn-ea"/>
                <a:cs typeface="Times New Roman" panose="02020603050405020304" pitchFamily="18" charset="0"/>
              </a:rPr>
              <a:t>{</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11</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12</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42</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43</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23</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25</a:t>
            </a:r>
            <a:r>
              <a:rPr lang="en-US" altLang="zh-CN" dirty="0">
                <a:solidFill>
                  <a:schemeClr val="tx1"/>
                </a:solidFill>
                <a:ea typeface="+mn-ea"/>
                <a:cs typeface="Times New Roman" panose="02020603050405020304" pitchFamily="18" charset="0"/>
              </a:rPr>
              <a:t>, </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35</a:t>
            </a:r>
            <a:r>
              <a:rPr lang="en-US" altLang="zh-CN" dirty="0">
                <a:solidFill>
                  <a:schemeClr val="tx1"/>
                </a:solidFill>
                <a:ea typeface="+mn-ea"/>
                <a:cs typeface="Times New Roman" panose="02020603050405020304" pitchFamily="18" charset="0"/>
              </a:rPr>
              <a:t>,</a:t>
            </a:r>
            <a:r>
              <a:rPr lang="en-US" altLang="zh-CN" i="1" dirty="0">
                <a:solidFill>
                  <a:schemeClr val="tx1"/>
                </a:solidFill>
                <a:ea typeface="+mn-ea"/>
                <a:cs typeface="Times New Roman" panose="02020603050405020304" pitchFamily="18" charset="0"/>
              </a:rPr>
              <a:t> x</a:t>
            </a:r>
            <a:r>
              <a:rPr lang="en-US" altLang="zh-CN" baseline="-30000" dirty="0">
                <a:solidFill>
                  <a:schemeClr val="tx1"/>
                </a:solidFill>
                <a:ea typeface="+mn-ea"/>
                <a:cs typeface="Times New Roman" panose="02020603050405020304" pitchFamily="18" charset="0"/>
              </a:rPr>
              <a:t>31</a:t>
            </a:r>
            <a:r>
              <a:rPr lang="en-US" altLang="zh-CN" dirty="0">
                <a:solidFill>
                  <a:schemeClr val="tx1"/>
                </a:solidFill>
                <a:ea typeface="+mn-ea"/>
                <a:cs typeface="Times New Roman" panose="02020603050405020304" pitchFamily="18" charset="0"/>
              </a:rPr>
              <a:t>}</a:t>
            </a:r>
            <a:r>
              <a:rPr lang="zh-CN" altLang="en-US" dirty="0">
                <a:solidFill>
                  <a:schemeClr val="tx1"/>
                </a:solidFill>
                <a:ea typeface="+mn-ea"/>
                <a:cs typeface="Times New Roman" panose="02020603050405020304" pitchFamily="18" charset="0"/>
              </a:rPr>
              <a:t>共有</a:t>
            </a:r>
            <a:r>
              <a:rPr lang="en-US" altLang="zh-CN" dirty="0">
                <a:solidFill>
                  <a:schemeClr val="tx1"/>
                </a:solidFill>
                <a:ea typeface="+mn-ea"/>
                <a:cs typeface="Times New Roman" panose="02020603050405020304" pitchFamily="18" charset="0"/>
              </a:rPr>
              <a:t>8</a:t>
            </a:r>
            <a:r>
              <a:rPr lang="zh-CN" altLang="en-US" dirty="0">
                <a:solidFill>
                  <a:schemeClr val="tx1"/>
                </a:solidFill>
                <a:ea typeface="+mn-ea"/>
                <a:cs typeface="Times New Roman" panose="02020603050405020304" pitchFamily="18" charset="0"/>
              </a:rPr>
              <a:t>个顶点，这</a:t>
            </a:r>
            <a:r>
              <a:rPr lang="en-US" altLang="zh-CN" dirty="0">
                <a:solidFill>
                  <a:schemeClr val="tx1"/>
                </a:solidFill>
                <a:ea typeface="+mn-ea"/>
                <a:cs typeface="Times New Roman" panose="02020603050405020304" pitchFamily="18" charset="0"/>
              </a:rPr>
              <a:t>8</a:t>
            </a:r>
            <a:r>
              <a:rPr lang="zh-CN" altLang="en-US" dirty="0">
                <a:solidFill>
                  <a:schemeClr val="tx1"/>
                </a:solidFill>
                <a:ea typeface="+mn-ea"/>
                <a:cs typeface="Times New Roman" panose="02020603050405020304" pitchFamily="18" charset="0"/>
              </a:rPr>
              <a:t>个顶点间用水平或垂直线段连接起来，组成一条封闭的回路。 </a:t>
            </a:r>
          </a:p>
        </p:txBody>
      </p:sp>
      <p:graphicFrame>
        <p:nvGraphicFramePr>
          <p:cNvPr id="8" name="Group 215">
            <a:extLst>
              <a:ext uri="{FF2B5EF4-FFF2-40B4-BE49-F238E27FC236}">
                <a16:creationId xmlns:a16="http://schemas.microsoft.com/office/drawing/2014/main" id="{91796369-C129-424D-B563-F952ABE935FC}"/>
              </a:ext>
            </a:extLst>
          </p:cNvPr>
          <p:cNvGraphicFramePr>
            <a:graphicFrameLocks noGrp="1"/>
          </p:cNvGraphicFramePr>
          <p:nvPr/>
        </p:nvGraphicFramePr>
        <p:xfrm>
          <a:off x="571500" y="3470275"/>
          <a:ext cx="3733800" cy="2344739"/>
        </p:xfrm>
        <a:graphic>
          <a:graphicData uri="http://schemas.openxmlformats.org/drawingml/2006/table">
            <a:tbl>
              <a:tblPr/>
              <a:tblGrid>
                <a:gridCol w="622300">
                  <a:extLst>
                    <a:ext uri="{9D8B030D-6E8A-4147-A177-3AD203B41FA5}">
                      <a16:colId xmlns:a16="http://schemas.microsoft.com/office/drawing/2014/main" val="20000"/>
                    </a:ext>
                  </a:extLst>
                </a:gridCol>
                <a:gridCol w="622300">
                  <a:extLst>
                    <a:ext uri="{9D8B030D-6E8A-4147-A177-3AD203B41FA5}">
                      <a16:colId xmlns:a16="http://schemas.microsoft.com/office/drawing/2014/main" val="20001"/>
                    </a:ext>
                  </a:extLst>
                </a:gridCol>
                <a:gridCol w="622300">
                  <a:extLst>
                    <a:ext uri="{9D8B030D-6E8A-4147-A177-3AD203B41FA5}">
                      <a16:colId xmlns:a16="http://schemas.microsoft.com/office/drawing/2014/main" val="20002"/>
                    </a:ext>
                  </a:extLst>
                </a:gridCol>
                <a:gridCol w="647700">
                  <a:extLst>
                    <a:ext uri="{9D8B030D-6E8A-4147-A177-3AD203B41FA5}">
                      <a16:colId xmlns:a16="http://schemas.microsoft.com/office/drawing/2014/main" val="20003"/>
                    </a:ext>
                  </a:extLst>
                </a:gridCol>
                <a:gridCol w="596900">
                  <a:extLst>
                    <a:ext uri="{9D8B030D-6E8A-4147-A177-3AD203B41FA5}">
                      <a16:colId xmlns:a16="http://schemas.microsoft.com/office/drawing/2014/main" val="20004"/>
                    </a:ext>
                  </a:extLst>
                </a:gridCol>
                <a:gridCol w="622300">
                  <a:extLst>
                    <a:ext uri="{9D8B030D-6E8A-4147-A177-3AD203B41FA5}">
                      <a16:colId xmlns:a16="http://schemas.microsoft.com/office/drawing/2014/main" val="20005"/>
                    </a:ext>
                  </a:extLst>
                </a:gridCol>
              </a:tblGrid>
              <a:tr h="45243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B</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B</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B</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B</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B</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085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A</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11</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12</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5402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A</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23</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25</a:t>
                      </a:r>
                    </a:p>
                  </a:txBody>
                  <a:tcPr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7148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A</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31</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35</a:t>
                      </a:r>
                    </a:p>
                  </a:txBody>
                  <a:tcPr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593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00"/>
                          </a:solidFill>
                          <a:effectLst/>
                          <a:latin typeface="Times New Roman" pitchFamily="18" charset="0"/>
                          <a:ea typeface="黑体" pitchFamily="49" charset="-122"/>
                        </a:rPr>
                        <a:t>A</a:t>
                      </a:r>
                      <a:r>
                        <a:rPr kumimoji="1" lang="en-US" altLang="zh-CN" sz="1800" b="1" i="0" u="none" strike="noStrike" cap="none" normalizeH="0" baseline="-25000">
                          <a:ln>
                            <a:noFill/>
                          </a:ln>
                          <a:solidFill>
                            <a:srgbClr val="000000"/>
                          </a:solidFill>
                          <a:effectLst/>
                          <a:latin typeface="Times New Roman" pitchFamily="18" charset="0"/>
                          <a:ea typeface="黑体" pitchFamily="49" charset="-122"/>
                        </a:rPr>
                        <a:t>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42</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1" u="none" strike="noStrike" cap="none" normalizeH="0" baseline="0" dirty="0">
                          <a:ln>
                            <a:noFill/>
                          </a:ln>
                          <a:solidFill>
                            <a:srgbClr val="000000"/>
                          </a:solidFill>
                          <a:effectLst/>
                          <a:latin typeface="Times New Roman" pitchFamily="18" charset="0"/>
                          <a:ea typeface="黑体" pitchFamily="49" charset="-122"/>
                        </a:rPr>
                        <a:t>x</a:t>
                      </a:r>
                      <a:r>
                        <a:rPr kumimoji="1" lang="en-US" altLang="zh-CN" sz="1800" b="1" i="0" u="none" strike="noStrike" cap="none" normalizeH="0" baseline="-25000" dirty="0">
                          <a:ln>
                            <a:noFill/>
                          </a:ln>
                          <a:solidFill>
                            <a:srgbClr val="000000"/>
                          </a:solidFill>
                          <a:effectLst/>
                          <a:latin typeface="Times New Roman" pitchFamily="18" charset="0"/>
                          <a:ea typeface="黑体" pitchFamily="49" charset="-122"/>
                        </a:rPr>
                        <a:t>43</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dirty="0">
                        <a:ln>
                          <a:noFill/>
                        </a:ln>
                        <a:solidFill>
                          <a:schemeClr val="tx1"/>
                        </a:solidFill>
                        <a:effectLst/>
                        <a:latin typeface="Times New Roman" pitchFamily="18" charset="0"/>
                        <a:ea typeface="黑体" pitchFamily="49" charset="-122"/>
                      </a:endParaRPr>
                    </a:p>
                  </a:txBody>
                  <a:tcPr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7" name="Rectangle 216">
            <a:extLst>
              <a:ext uri="{FF2B5EF4-FFF2-40B4-BE49-F238E27FC236}">
                <a16:creationId xmlns:a16="http://schemas.microsoft.com/office/drawing/2014/main" id="{B87F17EA-97E1-43FA-A937-38D28BA4A1C5}"/>
              </a:ext>
            </a:extLst>
          </p:cNvPr>
          <p:cNvSpPr>
            <a:spLocks noChangeArrowheads="1"/>
          </p:cNvSpPr>
          <p:nvPr/>
        </p:nvSpPr>
        <p:spPr bwMode="auto">
          <a:xfrm>
            <a:off x="350838" y="6105525"/>
            <a:ext cx="8404225" cy="46196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spcBef>
                <a:spcPct val="15000"/>
              </a:spcBef>
              <a:defRPr/>
            </a:pPr>
            <a:r>
              <a:rPr lang="zh-CN" altLang="en-US" dirty="0">
                <a:solidFill>
                  <a:schemeClr val="tx1"/>
                </a:solidFill>
                <a:ea typeface="+mn-ea"/>
                <a:cs typeface="Times New Roman" panose="02020603050405020304" pitchFamily="18" charset="0"/>
              </a:rPr>
              <a:t>表中的变量</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 32</a:t>
            </a:r>
            <a:r>
              <a:rPr lang="zh-CN" altLang="en-US" dirty="0">
                <a:solidFill>
                  <a:schemeClr val="tx1"/>
                </a:solidFill>
                <a:ea typeface="+mn-ea"/>
                <a:cs typeface="Times New Roman" panose="02020603050405020304" pitchFamily="18" charset="0"/>
              </a:rPr>
              <a:t>及</a:t>
            </a:r>
            <a:r>
              <a:rPr lang="en-US" altLang="zh-CN" i="1" dirty="0">
                <a:solidFill>
                  <a:schemeClr val="tx1"/>
                </a:solidFill>
                <a:ea typeface="+mn-ea"/>
                <a:cs typeface="Times New Roman" panose="02020603050405020304" pitchFamily="18" charset="0"/>
              </a:rPr>
              <a:t>x</a:t>
            </a:r>
            <a:r>
              <a:rPr lang="en-US" altLang="zh-CN" baseline="-30000" dirty="0">
                <a:solidFill>
                  <a:schemeClr val="tx1"/>
                </a:solidFill>
                <a:ea typeface="+mn-ea"/>
                <a:cs typeface="Times New Roman" panose="02020603050405020304" pitchFamily="18" charset="0"/>
              </a:rPr>
              <a:t>33</a:t>
            </a:r>
            <a:r>
              <a:rPr lang="zh-CN" altLang="en-US" dirty="0">
                <a:solidFill>
                  <a:schemeClr val="tx1"/>
                </a:solidFill>
                <a:ea typeface="+mn-ea"/>
                <a:cs typeface="Times New Roman" panose="02020603050405020304" pitchFamily="18" charset="0"/>
              </a:rPr>
              <a:t>不是闭回路的顶点，只是连线的交点。 </a:t>
            </a:r>
          </a:p>
        </p:txBody>
      </p:sp>
      <p:sp>
        <p:nvSpPr>
          <p:cNvPr id="18" name="矩形 17">
            <a:extLst>
              <a:ext uri="{FF2B5EF4-FFF2-40B4-BE49-F238E27FC236}">
                <a16:creationId xmlns:a16="http://schemas.microsoft.com/office/drawing/2014/main" id="{2FB32BE6-F8F6-4DAF-B45A-6C1B453DE9EC}"/>
              </a:ext>
            </a:extLst>
          </p:cNvPr>
          <p:cNvSpPr>
            <a:spLocks noChangeArrowheads="1"/>
          </p:cNvSpPr>
          <p:nvPr/>
        </p:nvSpPr>
        <p:spPr bwMode="auto">
          <a:xfrm>
            <a:off x="4659313" y="3297238"/>
            <a:ext cx="4457700" cy="2744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5000"/>
              </a:lnSpc>
            </a:pPr>
            <a:r>
              <a:rPr lang="zh-CN" altLang="zh-CN" sz="2000">
                <a:solidFill>
                  <a:srgbClr val="0000FF"/>
                </a:solidFill>
              </a:rPr>
              <a:t>闭回路</a:t>
            </a:r>
            <a:r>
              <a:rPr lang="zh-CN" altLang="zh-CN" sz="2000"/>
              <a:t>，就是从某一</a:t>
            </a:r>
            <a:r>
              <a:rPr lang="zh-CN" altLang="zh-CN" sz="2000">
                <a:solidFill>
                  <a:srgbClr val="0000FF"/>
                </a:solidFill>
              </a:rPr>
              <a:t>空格出发</a:t>
            </a:r>
            <a:r>
              <a:rPr lang="zh-CN" altLang="zh-CN" sz="2000"/>
              <a:t>，沿水平或垂直方向前进，如</a:t>
            </a:r>
            <a:r>
              <a:rPr lang="zh-CN" altLang="zh-CN" sz="2000">
                <a:solidFill>
                  <a:srgbClr val="003300"/>
                </a:solidFill>
              </a:rPr>
              <a:t>遇基格</a:t>
            </a:r>
            <a:r>
              <a:rPr lang="zh-CN" altLang="en-US" sz="2000">
                <a:solidFill>
                  <a:srgbClr val="003300"/>
                </a:solidFill>
              </a:rPr>
              <a:t>可</a:t>
            </a:r>
            <a:r>
              <a:rPr lang="zh-CN" altLang="zh-CN" sz="2000">
                <a:solidFill>
                  <a:srgbClr val="003300"/>
                </a:solidFill>
              </a:rPr>
              <a:t>作</a:t>
            </a:r>
            <a:r>
              <a:rPr lang="en-US" altLang="zh-CN" sz="2000">
                <a:solidFill>
                  <a:srgbClr val="003300"/>
                </a:solidFill>
              </a:rPr>
              <a:t>90°</a:t>
            </a:r>
            <a:r>
              <a:rPr lang="zh-CN" altLang="zh-CN" sz="2000">
                <a:solidFill>
                  <a:srgbClr val="003300"/>
                </a:solidFill>
              </a:rPr>
              <a:t>转向（转向处称顶点）前进</a:t>
            </a:r>
            <a:r>
              <a:rPr lang="zh-CN" altLang="en-US" sz="2000">
                <a:solidFill>
                  <a:srgbClr val="003300"/>
                </a:solidFill>
              </a:rPr>
              <a:t>或者</a:t>
            </a:r>
            <a:r>
              <a:rPr lang="zh-CN" altLang="zh-CN" sz="2000">
                <a:solidFill>
                  <a:srgbClr val="003300"/>
                </a:solidFill>
              </a:rPr>
              <a:t>穿越</a:t>
            </a:r>
            <a:r>
              <a:rPr lang="zh-CN" altLang="en-US" sz="2000">
                <a:solidFill>
                  <a:srgbClr val="003300"/>
                </a:solidFill>
              </a:rPr>
              <a:t>继续前进</a:t>
            </a:r>
            <a:r>
              <a:rPr lang="zh-CN" altLang="zh-CN" sz="2000">
                <a:solidFill>
                  <a:srgbClr val="003300"/>
                </a:solidFill>
              </a:rPr>
              <a:t>，</a:t>
            </a:r>
            <a:r>
              <a:rPr lang="zh-CN" altLang="zh-CN" sz="2000"/>
              <a:t>如</a:t>
            </a:r>
            <a:r>
              <a:rPr lang="zh-CN" altLang="zh-CN" sz="2000">
                <a:solidFill>
                  <a:srgbClr val="0000FF"/>
                </a:solidFill>
              </a:rPr>
              <a:t>遇空格不能转向，必须穿越继续前进</a:t>
            </a:r>
            <a:r>
              <a:rPr lang="zh-CN" altLang="en-US" sz="2000">
                <a:solidFill>
                  <a:srgbClr val="0000FF"/>
                </a:solidFill>
              </a:rPr>
              <a:t>。</a:t>
            </a:r>
            <a:r>
              <a:rPr lang="zh-CN" altLang="en-US" sz="2000"/>
              <a:t>经过若干次，</a:t>
            </a:r>
            <a:r>
              <a:rPr lang="zh-CN" altLang="zh-CN" sz="2000">
                <a:solidFill>
                  <a:srgbClr val="CC0000"/>
                </a:solidFill>
              </a:rPr>
              <a:t>最后回到原来的空格</a:t>
            </a:r>
            <a:r>
              <a:rPr lang="zh-CN" altLang="en-US" sz="2000">
                <a:solidFill>
                  <a:srgbClr val="CC0000"/>
                </a:solidFill>
              </a:rPr>
              <a:t>。</a:t>
            </a:r>
            <a:r>
              <a:rPr lang="zh-CN" altLang="en-US" sz="2000"/>
              <a:t>这样形成的一条由水平和垂直线段组成的封闭折线。</a:t>
            </a:r>
          </a:p>
        </p:txBody>
      </p:sp>
      <p:grpSp>
        <p:nvGrpSpPr>
          <p:cNvPr id="26674" name="组合 2">
            <a:extLst>
              <a:ext uri="{FF2B5EF4-FFF2-40B4-BE49-F238E27FC236}">
                <a16:creationId xmlns:a16="http://schemas.microsoft.com/office/drawing/2014/main" id="{973F6854-E29A-43CB-9429-695D6DF7C8E8}"/>
              </a:ext>
            </a:extLst>
          </p:cNvPr>
          <p:cNvGrpSpPr>
            <a:grpSpLocks/>
          </p:cNvGrpSpPr>
          <p:nvPr/>
        </p:nvGrpSpPr>
        <p:grpSpPr bwMode="auto">
          <a:xfrm>
            <a:off x="1447800" y="3949700"/>
            <a:ext cx="2590800" cy="1524000"/>
            <a:chOff x="1447800" y="3886200"/>
            <a:chExt cx="2590800" cy="1524000"/>
          </a:xfrm>
        </p:grpSpPr>
        <p:sp>
          <p:nvSpPr>
            <p:cNvPr id="26675" name="Line 51">
              <a:extLst>
                <a:ext uri="{FF2B5EF4-FFF2-40B4-BE49-F238E27FC236}">
                  <a16:creationId xmlns:a16="http://schemas.microsoft.com/office/drawing/2014/main" id="{1E43BA7F-B388-4E44-A1DB-FCA47BCA3E76}"/>
                </a:ext>
              </a:extLst>
            </p:cNvPr>
            <p:cNvSpPr>
              <a:spLocks noChangeShapeType="1"/>
            </p:cNvSpPr>
            <p:nvPr/>
          </p:nvSpPr>
          <p:spPr bwMode="auto">
            <a:xfrm flipH="1">
              <a:off x="1520825" y="3886200"/>
              <a:ext cx="3175" cy="53340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6" name="Line 52">
              <a:extLst>
                <a:ext uri="{FF2B5EF4-FFF2-40B4-BE49-F238E27FC236}">
                  <a16:creationId xmlns:a16="http://schemas.microsoft.com/office/drawing/2014/main" id="{17AC9941-0EED-4B46-A5C1-FDAF4709620F}"/>
                </a:ext>
              </a:extLst>
            </p:cNvPr>
            <p:cNvSpPr>
              <a:spLocks noChangeShapeType="1"/>
            </p:cNvSpPr>
            <p:nvPr/>
          </p:nvSpPr>
          <p:spPr bwMode="auto">
            <a:xfrm>
              <a:off x="1524000" y="3886200"/>
              <a:ext cx="6096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7" name="Line 53">
              <a:extLst>
                <a:ext uri="{FF2B5EF4-FFF2-40B4-BE49-F238E27FC236}">
                  <a16:creationId xmlns:a16="http://schemas.microsoft.com/office/drawing/2014/main" id="{C16CCDA8-C763-43F5-A786-54FAD35B21C7}"/>
                </a:ext>
              </a:extLst>
            </p:cNvPr>
            <p:cNvSpPr>
              <a:spLocks noChangeShapeType="1"/>
            </p:cNvSpPr>
            <p:nvPr/>
          </p:nvSpPr>
          <p:spPr bwMode="auto">
            <a:xfrm>
              <a:off x="2133600" y="3886200"/>
              <a:ext cx="0" cy="152400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8" name="Line 54">
              <a:extLst>
                <a:ext uri="{FF2B5EF4-FFF2-40B4-BE49-F238E27FC236}">
                  <a16:creationId xmlns:a16="http://schemas.microsoft.com/office/drawing/2014/main" id="{0D8973D0-80C0-4C52-BD22-21DA9A934E56}"/>
                </a:ext>
              </a:extLst>
            </p:cNvPr>
            <p:cNvSpPr>
              <a:spLocks noChangeShapeType="1"/>
            </p:cNvSpPr>
            <p:nvPr/>
          </p:nvSpPr>
          <p:spPr bwMode="auto">
            <a:xfrm>
              <a:off x="2133600" y="5410200"/>
              <a:ext cx="6096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9" name="Line 55">
              <a:extLst>
                <a:ext uri="{FF2B5EF4-FFF2-40B4-BE49-F238E27FC236}">
                  <a16:creationId xmlns:a16="http://schemas.microsoft.com/office/drawing/2014/main" id="{E30D519E-4B09-4A1D-B663-CE881A8F9DA9}"/>
                </a:ext>
              </a:extLst>
            </p:cNvPr>
            <p:cNvSpPr>
              <a:spLocks noChangeShapeType="1"/>
            </p:cNvSpPr>
            <p:nvPr/>
          </p:nvSpPr>
          <p:spPr bwMode="auto">
            <a:xfrm flipV="1">
              <a:off x="2743200" y="4419600"/>
              <a:ext cx="0" cy="99060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0" name="Line 56">
              <a:extLst>
                <a:ext uri="{FF2B5EF4-FFF2-40B4-BE49-F238E27FC236}">
                  <a16:creationId xmlns:a16="http://schemas.microsoft.com/office/drawing/2014/main" id="{63B9AEEC-22B8-4283-9DE8-7420F03D708D}"/>
                </a:ext>
              </a:extLst>
            </p:cNvPr>
            <p:cNvSpPr>
              <a:spLocks noChangeShapeType="1"/>
            </p:cNvSpPr>
            <p:nvPr/>
          </p:nvSpPr>
          <p:spPr bwMode="auto">
            <a:xfrm>
              <a:off x="2743200" y="4419600"/>
              <a:ext cx="12954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1" name="Line 57">
              <a:extLst>
                <a:ext uri="{FF2B5EF4-FFF2-40B4-BE49-F238E27FC236}">
                  <a16:creationId xmlns:a16="http://schemas.microsoft.com/office/drawing/2014/main" id="{A49A95A3-D2F9-447F-8D30-B4EA9FFB0246}"/>
                </a:ext>
              </a:extLst>
            </p:cNvPr>
            <p:cNvSpPr>
              <a:spLocks noChangeShapeType="1"/>
            </p:cNvSpPr>
            <p:nvPr/>
          </p:nvSpPr>
          <p:spPr bwMode="auto">
            <a:xfrm>
              <a:off x="4038600" y="4419600"/>
              <a:ext cx="0" cy="45720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2" name="Line 58">
              <a:extLst>
                <a:ext uri="{FF2B5EF4-FFF2-40B4-BE49-F238E27FC236}">
                  <a16:creationId xmlns:a16="http://schemas.microsoft.com/office/drawing/2014/main" id="{81E2F750-B244-4818-B633-215B383BFF32}"/>
                </a:ext>
              </a:extLst>
            </p:cNvPr>
            <p:cNvSpPr>
              <a:spLocks noChangeShapeType="1"/>
            </p:cNvSpPr>
            <p:nvPr/>
          </p:nvSpPr>
          <p:spPr bwMode="auto">
            <a:xfrm>
              <a:off x="1524000" y="4876800"/>
              <a:ext cx="25146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3" name="Line 51">
              <a:extLst>
                <a:ext uri="{FF2B5EF4-FFF2-40B4-BE49-F238E27FC236}">
                  <a16:creationId xmlns:a16="http://schemas.microsoft.com/office/drawing/2014/main" id="{84502B18-1D20-4B2D-A30E-9881DBD0A8AB}"/>
                </a:ext>
              </a:extLst>
            </p:cNvPr>
            <p:cNvSpPr>
              <a:spLocks noChangeShapeType="1"/>
            </p:cNvSpPr>
            <p:nvPr/>
          </p:nvSpPr>
          <p:spPr bwMode="auto">
            <a:xfrm>
              <a:off x="1519238" y="4419600"/>
              <a:ext cx="0" cy="45720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 name="椭圆 1">
              <a:extLst>
                <a:ext uri="{FF2B5EF4-FFF2-40B4-BE49-F238E27FC236}">
                  <a16:creationId xmlns:a16="http://schemas.microsoft.com/office/drawing/2014/main" id="{C523DCD7-F4EC-409A-B739-4FA444F797E1}"/>
                </a:ext>
              </a:extLst>
            </p:cNvPr>
            <p:cNvSpPr/>
            <p:nvPr/>
          </p:nvSpPr>
          <p:spPr>
            <a:xfrm>
              <a:off x="1447800" y="4440238"/>
              <a:ext cx="152400" cy="131762"/>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linds(horizontal)">
                                      <p:cBhvr>
                                        <p:cTn id="7" dur="500"/>
                                        <p:tgtEl>
                                          <p:spTgt spid="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utoUpdateAnimBg="0"/>
      <p:bldP spid="1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descr="Large confetti">
            <a:extLst>
              <a:ext uri="{FF2B5EF4-FFF2-40B4-BE49-F238E27FC236}">
                <a16:creationId xmlns:a16="http://schemas.microsoft.com/office/drawing/2014/main" id="{A8FCF551-27AF-40F7-BD67-0435F6C181E6}"/>
              </a:ext>
            </a:extLst>
          </p:cNvPr>
          <p:cNvSpPr>
            <a:spLocks noGrp="1" noChangeArrowheads="1"/>
          </p:cNvSpPr>
          <p:nvPr>
            <p:ph type="title"/>
          </p:nvPr>
        </p:nvSpPr>
        <p:spPr>
          <a:xfrm>
            <a:off x="460375" y="93663"/>
            <a:ext cx="8229600" cy="911225"/>
          </a:xfrm>
        </p:spPr>
        <p:txBody>
          <a:bodyPr/>
          <a:lstStyle/>
          <a:p>
            <a:pPr eaLnBrk="1" hangingPunct="1"/>
            <a:r>
              <a:rPr lang="zh-CN" altLang="en-US"/>
              <a:t>闭回路的特征</a:t>
            </a:r>
          </a:p>
        </p:txBody>
      </p:sp>
      <p:sp>
        <p:nvSpPr>
          <p:cNvPr id="21507" name="矩形 21">
            <a:extLst>
              <a:ext uri="{FF2B5EF4-FFF2-40B4-BE49-F238E27FC236}">
                <a16:creationId xmlns:a16="http://schemas.microsoft.com/office/drawing/2014/main" id="{BD07BB4E-C77F-4A79-9C39-933969558FC2}"/>
              </a:ext>
            </a:extLst>
          </p:cNvPr>
          <p:cNvSpPr>
            <a:spLocks noChangeArrowheads="1"/>
          </p:cNvSpPr>
          <p:nvPr/>
        </p:nvSpPr>
        <p:spPr bwMode="auto">
          <a:xfrm>
            <a:off x="227013" y="684213"/>
            <a:ext cx="9429750" cy="4198937"/>
          </a:xfrm>
          <a:prstGeom prst="rect">
            <a:avLst/>
          </a:prstGeom>
          <a:noFill/>
          <a:ln>
            <a:noFill/>
          </a:ln>
        </p:spPr>
        <p:txBody>
          <a:bodyPr>
            <a:spAutoFit/>
          </a:bodyPr>
          <a:lstStyle>
            <a:lvl1pPr marL="342900" indent="-342900">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5000"/>
              </a:lnSpc>
              <a:buFontTx/>
              <a:buAutoNum type="arabicPeriod"/>
              <a:defRPr/>
            </a:pPr>
            <a:r>
              <a:rPr lang="zh-CN" altLang="en-US" sz="2400" b="1" dirty="0"/>
              <a:t>每个顶点都是转角点。</a:t>
            </a:r>
            <a:endParaRPr lang="en-US" altLang="zh-CN" sz="2400" b="1" dirty="0"/>
          </a:p>
          <a:p>
            <a:pPr>
              <a:lnSpc>
                <a:spcPct val="125000"/>
              </a:lnSpc>
              <a:buFontTx/>
              <a:buAutoNum type="arabicPeriod"/>
              <a:defRPr/>
            </a:pPr>
            <a:r>
              <a:rPr lang="zh-CN" altLang="en-US" sz="2400" b="1" dirty="0"/>
              <a:t>每一边都是水平或垂直的。</a:t>
            </a:r>
            <a:endParaRPr lang="en-US" altLang="zh-CN" sz="2400" b="1" dirty="0"/>
          </a:p>
          <a:p>
            <a:pPr>
              <a:lnSpc>
                <a:spcPct val="125000"/>
              </a:lnSpc>
              <a:buFontTx/>
              <a:buAutoNum type="arabicPeriod"/>
              <a:defRPr/>
            </a:pPr>
            <a:r>
              <a:rPr lang="zh-CN" altLang="en-US" sz="2400" b="1" dirty="0"/>
              <a:t>每一行（或列）若有闭回路的顶点，则必有两个。</a:t>
            </a:r>
            <a:endParaRPr lang="en-US" altLang="zh-CN" sz="2400" b="1" dirty="0"/>
          </a:p>
          <a:p>
            <a:pPr>
              <a:lnSpc>
                <a:spcPct val="125000"/>
              </a:lnSpc>
              <a:buFontTx/>
              <a:buAutoNum type="arabicPeriod"/>
              <a:defRPr/>
            </a:pPr>
            <a:r>
              <a:rPr lang="zh-CN" altLang="en-US" sz="2400" b="1" dirty="0"/>
              <a:t>闭回路的顶点，除这个表示非基变量的空格外，其它均为填有</a:t>
            </a:r>
            <a:endParaRPr lang="en-US" altLang="zh-CN" sz="2400" b="1" dirty="0"/>
          </a:p>
          <a:p>
            <a:pPr marL="0" indent="0">
              <a:lnSpc>
                <a:spcPct val="125000"/>
              </a:lnSpc>
              <a:defRPr/>
            </a:pPr>
            <a:r>
              <a:rPr lang="en-US" altLang="zh-CN" sz="2400" b="1" dirty="0"/>
              <a:t>   </a:t>
            </a:r>
            <a:r>
              <a:rPr lang="zh-CN" altLang="en-US" sz="2400" b="1" dirty="0"/>
              <a:t>数字的格（基解）。</a:t>
            </a:r>
            <a:endParaRPr lang="en-US" altLang="zh-CN" sz="2400" b="1" dirty="0"/>
          </a:p>
          <a:p>
            <a:pPr marL="0" indent="0">
              <a:lnSpc>
                <a:spcPct val="125000"/>
              </a:lnSpc>
              <a:defRPr/>
            </a:pPr>
            <a:r>
              <a:rPr lang="en-US" altLang="zh-CN" sz="2400" b="1" dirty="0"/>
              <a:t>5.</a:t>
            </a:r>
            <a:r>
              <a:rPr lang="zh-CN" altLang="en-US" sz="2400" b="1" dirty="0"/>
              <a:t>每个空格都唯一存在这样的一条闭回路。</a:t>
            </a:r>
            <a:endParaRPr lang="en-US" altLang="zh-CN" sz="2400" b="1" dirty="0"/>
          </a:p>
          <a:p>
            <a:pPr marL="0" indent="0">
              <a:lnSpc>
                <a:spcPct val="125000"/>
              </a:lnSpc>
              <a:defRPr/>
            </a:pPr>
            <a:r>
              <a:rPr lang="en-US" altLang="zh-CN" sz="2400" b="1" dirty="0"/>
              <a:t>6.</a:t>
            </a:r>
            <a:r>
              <a:rPr lang="zh-CN" altLang="en-US" sz="2400" b="1" dirty="0"/>
              <a:t>某空格的</a:t>
            </a:r>
            <a:r>
              <a:rPr lang="zh-CN" altLang="en-US" sz="2400" b="1" dirty="0">
                <a:solidFill>
                  <a:srgbClr val="FF0000"/>
                </a:solidFill>
              </a:rPr>
              <a:t>检验数</a:t>
            </a:r>
            <a:r>
              <a:rPr lang="zh-CN" altLang="en-US" sz="2400" b="1" dirty="0"/>
              <a:t>是以该空格为第一个顶点，回路的奇数顶点运价</a:t>
            </a:r>
            <a:endParaRPr lang="en-US" altLang="zh-CN" sz="2400" b="1" dirty="0"/>
          </a:p>
          <a:p>
            <a:pPr marL="0" indent="0">
              <a:lnSpc>
                <a:spcPct val="125000"/>
              </a:lnSpc>
              <a:defRPr/>
            </a:pPr>
            <a:r>
              <a:rPr lang="en-US" altLang="zh-CN" sz="2400" b="1" dirty="0"/>
              <a:t>   </a:t>
            </a:r>
            <a:r>
              <a:rPr lang="zh-CN" altLang="en-US" sz="2400" b="1" dirty="0"/>
              <a:t>和减去其偶数顶点运价和。</a:t>
            </a:r>
            <a:endParaRPr lang="en-US" altLang="zh-CN" sz="2400" b="1" dirty="0"/>
          </a:p>
          <a:p>
            <a:pPr marL="0" indent="0">
              <a:lnSpc>
                <a:spcPct val="125000"/>
              </a:lnSpc>
              <a:defRPr/>
            </a:pPr>
            <a:r>
              <a:rPr lang="en-US" altLang="zh-CN" sz="2400" b="1" dirty="0"/>
              <a:t>7. </a:t>
            </a:r>
            <a:r>
              <a:rPr lang="zh-CN" altLang="en-US" sz="2400" b="1" dirty="0"/>
              <a:t>闭回路可以是简单的矩形，也可以是复杂的多边形。</a:t>
            </a:r>
          </a:p>
        </p:txBody>
      </p:sp>
      <p:grpSp>
        <p:nvGrpSpPr>
          <p:cNvPr id="4" name="组合 3">
            <a:extLst>
              <a:ext uri="{FF2B5EF4-FFF2-40B4-BE49-F238E27FC236}">
                <a16:creationId xmlns:a16="http://schemas.microsoft.com/office/drawing/2014/main" id="{D19B6D12-EFEE-4BE3-85E2-746C1E1B536C}"/>
              </a:ext>
            </a:extLst>
          </p:cNvPr>
          <p:cNvGrpSpPr>
            <a:grpSpLocks/>
          </p:cNvGrpSpPr>
          <p:nvPr/>
        </p:nvGrpSpPr>
        <p:grpSpPr bwMode="auto">
          <a:xfrm>
            <a:off x="304800" y="4957763"/>
            <a:ext cx="8626475" cy="1538287"/>
            <a:chOff x="449297" y="4600028"/>
            <a:chExt cx="7924800" cy="1538834"/>
          </a:xfrm>
        </p:grpSpPr>
        <p:sp>
          <p:nvSpPr>
            <p:cNvPr id="27658" name="矩形 4">
              <a:extLst>
                <a:ext uri="{FF2B5EF4-FFF2-40B4-BE49-F238E27FC236}">
                  <a16:creationId xmlns:a16="http://schemas.microsoft.com/office/drawing/2014/main" id="{93AA9CA8-3FB7-46EB-8B0F-3F42B7FCBE88}"/>
                </a:ext>
              </a:extLst>
            </p:cNvPr>
            <p:cNvSpPr>
              <a:spLocks noChangeArrowheads="1"/>
            </p:cNvSpPr>
            <p:nvPr/>
          </p:nvSpPr>
          <p:spPr bwMode="auto">
            <a:xfrm>
              <a:off x="449297" y="4600028"/>
              <a:ext cx="79248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下面的折线构成的封闭曲线连接的顶点变量哪些不可能是闭回路？为什么？</a:t>
              </a:r>
              <a:endParaRPr lang="en-US" altLang="zh-CN" sz="2000"/>
            </a:p>
          </p:txBody>
        </p:sp>
        <p:sp>
          <p:nvSpPr>
            <p:cNvPr id="27659" name="矩形 11">
              <a:extLst>
                <a:ext uri="{FF2B5EF4-FFF2-40B4-BE49-F238E27FC236}">
                  <a16:creationId xmlns:a16="http://schemas.microsoft.com/office/drawing/2014/main" id="{E2972D19-7809-4A7B-9E17-95437B8AC09D}"/>
                </a:ext>
              </a:extLst>
            </p:cNvPr>
            <p:cNvSpPr>
              <a:spLocks noChangeArrowheads="1"/>
            </p:cNvSpPr>
            <p:nvPr/>
          </p:nvSpPr>
          <p:spPr bwMode="auto">
            <a:xfrm>
              <a:off x="1203325" y="5722937"/>
              <a:ext cx="4667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a:t>
              </a:r>
              <a:r>
                <a:rPr lang="en-US" altLang="zh-CN" i="1"/>
                <a:t>a</a:t>
              </a:r>
              <a:r>
                <a:rPr lang="en-US" altLang="zh-CN"/>
                <a:t>)</a:t>
              </a:r>
              <a:endParaRPr lang="zh-CN" altLang="en-US"/>
            </a:p>
          </p:txBody>
        </p:sp>
        <p:cxnSp>
          <p:nvCxnSpPr>
            <p:cNvPr id="7" name="直接箭头连接符 6">
              <a:extLst>
                <a:ext uri="{FF2B5EF4-FFF2-40B4-BE49-F238E27FC236}">
                  <a16:creationId xmlns:a16="http://schemas.microsoft.com/office/drawing/2014/main" id="{066A1885-F014-4222-A347-D47A43B02CFA}"/>
                </a:ext>
              </a:extLst>
            </p:cNvPr>
            <p:cNvCxnSpPr>
              <a:cxnSpLocks/>
            </p:cNvCxnSpPr>
            <p:nvPr/>
          </p:nvCxnSpPr>
          <p:spPr>
            <a:xfrm flipH="1">
              <a:off x="2404976" y="5638622"/>
              <a:ext cx="490013"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C203FEF5-678A-405E-A63C-F185C188812D}"/>
                </a:ext>
              </a:extLst>
            </p:cNvPr>
            <p:cNvCxnSpPr>
              <a:cxnSpLocks/>
            </p:cNvCxnSpPr>
            <p:nvPr/>
          </p:nvCxnSpPr>
          <p:spPr>
            <a:xfrm>
              <a:off x="2388933" y="4962107"/>
              <a:ext cx="506056" cy="668575"/>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7662" name="矩形 20">
              <a:extLst>
                <a:ext uri="{FF2B5EF4-FFF2-40B4-BE49-F238E27FC236}">
                  <a16:creationId xmlns:a16="http://schemas.microsoft.com/office/drawing/2014/main" id="{6CBCCD3A-E1A2-4CF2-B7CB-15288A5B54E6}"/>
                </a:ext>
              </a:extLst>
            </p:cNvPr>
            <p:cNvSpPr>
              <a:spLocks noChangeArrowheads="1"/>
            </p:cNvSpPr>
            <p:nvPr/>
          </p:nvSpPr>
          <p:spPr bwMode="auto">
            <a:xfrm>
              <a:off x="2328863" y="5722937"/>
              <a:ext cx="4667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(b)</a:t>
              </a:r>
              <a:endParaRPr lang="zh-CN" altLang="en-US"/>
            </a:p>
          </p:txBody>
        </p:sp>
        <p:cxnSp>
          <p:nvCxnSpPr>
            <p:cNvPr id="10" name="直接箭头连接符 9">
              <a:extLst>
                <a:ext uri="{FF2B5EF4-FFF2-40B4-BE49-F238E27FC236}">
                  <a16:creationId xmlns:a16="http://schemas.microsoft.com/office/drawing/2014/main" id="{BF656F78-BF5E-4C62-A42B-2C6B197881C5}"/>
                </a:ext>
              </a:extLst>
            </p:cNvPr>
            <p:cNvCxnSpPr>
              <a:cxnSpLocks/>
            </p:cNvCxnSpPr>
            <p:nvPr/>
          </p:nvCxnSpPr>
          <p:spPr>
            <a:xfrm>
              <a:off x="3395211" y="5025629"/>
              <a:ext cx="0" cy="30649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2B1F494C-5DF0-43A9-B97E-0460FFC92D19}"/>
                </a:ext>
              </a:extLst>
            </p:cNvPr>
            <p:cNvCxnSpPr>
              <a:cxnSpLocks/>
            </p:cNvCxnSpPr>
            <p:nvPr/>
          </p:nvCxnSpPr>
          <p:spPr>
            <a:xfrm flipH="1">
              <a:off x="3395211" y="5025629"/>
              <a:ext cx="45792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D45D99BB-CBEC-46DE-80D0-94C07E1E0BBA}"/>
                </a:ext>
              </a:extLst>
            </p:cNvPr>
            <p:cNvCxnSpPr>
              <a:cxnSpLocks/>
            </p:cNvCxnSpPr>
            <p:nvPr/>
          </p:nvCxnSpPr>
          <p:spPr>
            <a:xfrm flipH="1">
              <a:off x="3395211" y="5332125"/>
              <a:ext cx="761271"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66004517-CD3A-4A78-944B-0E2C8527A714}"/>
                </a:ext>
              </a:extLst>
            </p:cNvPr>
            <p:cNvCxnSpPr>
              <a:cxnSpLocks/>
            </p:cNvCxnSpPr>
            <p:nvPr/>
          </p:nvCxnSpPr>
          <p:spPr>
            <a:xfrm>
              <a:off x="4156482" y="5330538"/>
              <a:ext cx="0" cy="30649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C898F477-B4F6-4987-B9B1-891E1D87F4FD}"/>
                </a:ext>
              </a:extLst>
            </p:cNvPr>
            <p:cNvCxnSpPr>
              <a:cxnSpLocks/>
            </p:cNvCxnSpPr>
            <p:nvPr/>
          </p:nvCxnSpPr>
          <p:spPr>
            <a:xfrm flipH="1">
              <a:off x="3853140" y="5622742"/>
              <a:ext cx="30334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24884779-C81F-4573-8D5C-7E16C0C75415}"/>
                </a:ext>
              </a:extLst>
            </p:cNvPr>
            <p:cNvCxnSpPr>
              <a:cxnSpLocks/>
            </p:cNvCxnSpPr>
            <p:nvPr/>
          </p:nvCxnSpPr>
          <p:spPr>
            <a:xfrm>
              <a:off x="3853140" y="5025629"/>
              <a:ext cx="0" cy="597112"/>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7669" name="矩形 33">
              <a:extLst>
                <a:ext uri="{FF2B5EF4-FFF2-40B4-BE49-F238E27FC236}">
                  <a16:creationId xmlns:a16="http://schemas.microsoft.com/office/drawing/2014/main" id="{C2B4353B-F601-45A4-939B-13292D625ECD}"/>
                </a:ext>
              </a:extLst>
            </p:cNvPr>
            <p:cNvSpPr>
              <a:spLocks noChangeArrowheads="1"/>
            </p:cNvSpPr>
            <p:nvPr/>
          </p:nvSpPr>
          <p:spPr bwMode="auto">
            <a:xfrm>
              <a:off x="3543300" y="5703887"/>
              <a:ext cx="4540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(c)</a:t>
              </a:r>
              <a:endParaRPr lang="zh-CN" altLang="en-US"/>
            </a:p>
          </p:txBody>
        </p:sp>
        <p:cxnSp>
          <p:nvCxnSpPr>
            <p:cNvPr id="17" name="直接箭头连接符 16">
              <a:extLst>
                <a:ext uri="{FF2B5EF4-FFF2-40B4-BE49-F238E27FC236}">
                  <a16:creationId xmlns:a16="http://schemas.microsoft.com/office/drawing/2014/main" id="{BA7D7C97-8950-4B0D-9384-061DAE0A6776}"/>
                </a:ext>
              </a:extLst>
            </p:cNvPr>
            <p:cNvCxnSpPr>
              <a:cxnSpLocks/>
            </p:cNvCxnSpPr>
            <p:nvPr/>
          </p:nvCxnSpPr>
          <p:spPr>
            <a:xfrm>
              <a:off x="4920669" y="4962107"/>
              <a:ext cx="0" cy="68445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43F99082-ABC2-4572-AA28-5CA7B45FE9C8}"/>
                </a:ext>
              </a:extLst>
            </p:cNvPr>
            <p:cNvCxnSpPr>
              <a:cxnSpLocks/>
            </p:cNvCxnSpPr>
            <p:nvPr/>
          </p:nvCxnSpPr>
          <p:spPr>
            <a:xfrm flipH="1">
              <a:off x="4920669" y="5646562"/>
              <a:ext cx="761271"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DCC96942-F06F-41D9-AC75-85DA1BFEC0BE}"/>
                </a:ext>
              </a:extLst>
            </p:cNvPr>
            <p:cNvCxnSpPr>
              <a:cxnSpLocks/>
            </p:cNvCxnSpPr>
            <p:nvPr/>
          </p:nvCxnSpPr>
          <p:spPr>
            <a:xfrm>
              <a:off x="5681940" y="5305129"/>
              <a:ext cx="0" cy="357314"/>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C2767F44-9C9A-47BA-8266-C8923B484158}"/>
                </a:ext>
              </a:extLst>
            </p:cNvPr>
            <p:cNvCxnSpPr>
              <a:cxnSpLocks/>
            </p:cNvCxnSpPr>
            <p:nvPr/>
          </p:nvCxnSpPr>
          <p:spPr>
            <a:xfrm>
              <a:off x="5191927" y="4952578"/>
              <a:ext cx="0" cy="35255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7738AEC4-195D-46B1-827E-99A44CE98D2D}"/>
                </a:ext>
              </a:extLst>
            </p:cNvPr>
            <p:cNvCxnSpPr>
              <a:cxnSpLocks/>
            </p:cNvCxnSpPr>
            <p:nvPr/>
          </p:nvCxnSpPr>
          <p:spPr>
            <a:xfrm flipH="1">
              <a:off x="5191927" y="5321009"/>
              <a:ext cx="49001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C3DA82E1-8AC9-4B8E-92CB-52A3D38D46C4}"/>
                </a:ext>
              </a:extLst>
            </p:cNvPr>
            <p:cNvCxnSpPr>
              <a:cxnSpLocks/>
            </p:cNvCxnSpPr>
            <p:nvPr/>
          </p:nvCxnSpPr>
          <p:spPr>
            <a:xfrm flipH="1">
              <a:off x="4920669" y="4963694"/>
              <a:ext cx="27125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676" name="矩形 46">
              <a:extLst>
                <a:ext uri="{FF2B5EF4-FFF2-40B4-BE49-F238E27FC236}">
                  <a16:creationId xmlns:a16="http://schemas.microsoft.com/office/drawing/2014/main" id="{EFF4AE8E-ECD1-4345-9122-0C0131672934}"/>
                </a:ext>
              </a:extLst>
            </p:cNvPr>
            <p:cNvSpPr>
              <a:spLocks noChangeArrowheads="1"/>
            </p:cNvSpPr>
            <p:nvPr/>
          </p:nvSpPr>
          <p:spPr bwMode="auto">
            <a:xfrm>
              <a:off x="4972050" y="5734050"/>
              <a:ext cx="466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(d)</a:t>
              </a:r>
              <a:endParaRPr lang="zh-CN" altLang="en-US"/>
            </a:p>
          </p:txBody>
        </p:sp>
        <p:cxnSp>
          <p:nvCxnSpPr>
            <p:cNvPr id="26" name="直接箭头连接符 25">
              <a:extLst>
                <a:ext uri="{FF2B5EF4-FFF2-40B4-BE49-F238E27FC236}">
                  <a16:creationId xmlns:a16="http://schemas.microsoft.com/office/drawing/2014/main" id="{D9F3F99D-C10E-47D2-B926-D7B3E5ED8B2F}"/>
                </a:ext>
              </a:extLst>
            </p:cNvPr>
            <p:cNvCxnSpPr>
              <a:cxnSpLocks/>
            </p:cNvCxnSpPr>
            <p:nvPr/>
          </p:nvCxnSpPr>
          <p:spPr>
            <a:xfrm>
              <a:off x="6215705" y="4962107"/>
              <a:ext cx="0" cy="684455"/>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A4C77A3F-9123-4E5D-9274-26F8AC2DB1C9}"/>
                </a:ext>
              </a:extLst>
            </p:cNvPr>
            <p:cNvCxnSpPr>
              <a:cxnSpLocks/>
            </p:cNvCxnSpPr>
            <p:nvPr/>
          </p:nvCxnSpPr>
          <p:spPr>
            <a:xfrm flipH="1" flipV="1">
              <a:off x="6215705" y="5646562"/>
              <a:ext cx="1032528" cy="11117"/>
            </a:xfrm>
            <a:prstGeom prst="straightConnector1">
              <a:avLst/>
            </a:prstGeom>
            <a:ln>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73E40B94-BEFA-4AA7-8F71-26DAA1912EC1}"/>
                </a:ext>
              </a:extLst>
            </p:cNvPr>
            <p:cNvCxnSpPr>
              <a:cxnSpLocks/>
            </p:cNvCxnSpPr>
            <p:nvPr/>
          </p:nvCxnSpPr>
          <p:spPr>
            <a:xfrm>
              <a:off x="6486962" y="4952578"/>
              <a:ext cx="0" cy="352550"/>
            </a:xfrm>
            <a:prstGeom prst="straightConnector1">
              <a:avLst/>
            </a:prstGeom>
            <a:ln>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493E8289-7ADC-4991-8494-BD95E25C45F6}"/>
                </a:ext>
              </a:extLst>
            </p:cNvPr>
            <p:cNvCxnSpPr>
              <a:cxnSpLocks/>
            </p:cNvCxnSpPr>
            <p:nvPr/>
          </p:nvCxnSpPr>
          <p:spPr>
            <a:xfrm flipH="1">
              <a:off x="6486962" y="5321009"/>
              <a:ext cx="490013"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E43D69C2-96D9-44A4-B545-A02F03C475CE}"/>
                </a:ext>
              </a:extLst>
            </p:cNvPr>
            <p:cNvCxnSpPr>
              <a:cxnSpLocks/>
            </p:cNvCxnSpPr>
            <p:nvPr/>
          </p:nvCxnSpPr>
          <p:spPr>
            <a:xfrm flipH="1">
              <a:off x="6215705" y="4963694"/>
              <a:ext cx="271257"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7682" name="矩形 53">
              <a:extLst>
                <a:ext uri="{FF2B5EF4-FFF2-40B4-BE49-F238E27FC236}">
                  <a16:creationId xmlns:a16="http://schemas.microsoft.com/office/drawing/2014/main" id="{5D5C7FF8-BEED-4BEC-B059-1EC931596E7F}"/>
                </a:ext>
              </a:extLst>
            </p:cNvPr>
            <p:cNvSpPr>
              <a:spLocks noChangeArrowheads="1"/>
            </p:cNvSpPr>
            <p:nvPr/>
          </p:nvSpPr>
          <p:spPr bwMode="auto">
            <a:xfrm>
              <a:off x="6351588" y="5768975"/>
              <a:ext cx="466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(e)</a:t>
              </a:r>
              <a:endParaRPr lang="zh-CN" altLang="en-US"/>
            </a:p>
          </p:txBody>
        </p:sp>
        <p:cxnSp>
          <p:nvCxnSpPr>
            <p:cNvPr id="32" name="直接箭头连接符 31">
              <a:extLst>
                <a:ext uri="{FF2B5EF4-FFF2-40B4-BE49-F238E27FC236}">
                  <a16:creationId xmlns:a16="http://schemas.microsoft.com/office/drawing/2014/main" id="{99B57B78-E7FB-4369-9E6B-EB647A49B074}"/>
                </a:ext>
              </a:extLst>
            </p:cNvPr>
            <p:cNvCxnSpPr>
              <a:cxnSpLocks/>
            </p:cNvCxnSpPr>
            <p:nvPr/>
          </p:nvCxnSpPr>
          <p:spPr>
            <a:xfrm>
              <a:off x="6976975" y="4977987"/>
              <a:ext cx="0" cy="35255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3" name="直接箭头连接符 32">
              <a:extLst>
                <a:ext uri="{FF2B5EF4-FFF2-40B4-BE49-F238E27FC236}">
                  <a16:creationId xmlns:a16="http://schemas.microsoft.com/office/drawing/2014/main" id="{D981E990-E080-4B68-9330-4B1D68DDCB2B}"/>
                </a:ext>
              </a:extLst>
            </p:cNvPr>
            <p:cNvCxnSpPr>
              <a:cxnSpLocks/>
            </p:cNvCxnSpPr>
            <p:nvPr/>
          </p:nvCxnSpPr>
          <p:spPr>
            <a:xfrm flipH="1">
              <a:off x="6976975" y="4952578"/>
              <a:ext cx="271257"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4" name="直接箭头连接符 33">
              <a:extLst>
                <a:ext uri="{FF2B5EF4-FFF2-40B4-BE49-F238E27FC236}">
                  <a16:creationId xmlns:a16="http://schemas.microsoft.com/office/drawing/2014/main" id="{75D9588D-D18D-4D8F-840A-6C03F9C98152}"/>
                </a:ext>
              </a:extLst>
            </p:cNvPr>
            <p:cNvCxnSpPr>
              <a:cxnSpLocks/>
            </p:cNvCxnSpPr>
            <p:nvPr/>
          </p:nvCxnSpPr>
          <p:spPr>
            <a:xfrm>
              <a:off x="7248233" y="4962107"/>
              <a:ext cx="0" cy="684455"/>
            </a:xfrm>
            <a:prstGeom prst="straightConnector1">
              <a:avLst/>
            </a:prstGeom>
            <a:ln>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6B823C49-0C69-4CD7-A8D7-353849E48BDF}"/>
                </a:ext>
              </a:extLst>
            </p:cNvPr>
            <p:cNvCxnSpPr>
              <a:cxnSpLocks/>
            </p:cNvCxnSpPr>
            <p:nvPr/>
          </p:nvCxnSpPr>
          <p:spPr>
            <a:xfrm>
              <a:off x="2404976" y="4962107"/>
              <a:ext cx="0" cy="68445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916EEED0-EB29-43E9-A213-5A1473EE29AC}"/>
                </a:ext>
              </a:extLst>
            </p:cNvPr>
            <p:cNvCxnSpPr>
              <a:cxnSpLocks/>
            </p:cNvCxnSpPr>
            <p:nvPr/>
          </p:nvCxnSpPr>
          <p:spPr>
            <a:xfrm flipH="1">
              <a:off x="1143483" y="5671971"/>
              <a:ext cx="490013"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A4B67AE6-DCA4-4D45-AA8B-7A1EA54DEF6A}"/>
                </a:ext>
              </a:extLst>
            </p:cNvPr>
            <p:cNvCxnSpPr>
              <a:cxnSpLocks/>
            </p:cNvCxnSpPr>
            <p:nvPr/>
          </p:nvCxnSpPr>
          <p:spPr>
            <a:xfrm>
              <a:off x="1143483" y="4995456"/>
              <a:ext cx="0" cy="68445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21903C27-95FE-4875-AFDB-EC9BDA2DA5C5}"/>
                </a:ext>
              </a:extLst>
            </p:cNvPr>
            <p:cNvCxnSpPr>
              <a:cxnSpLocks/>
            </p:cNvCxnSpPr>
            <p:nvPr/>
          </p:nvCxnSpPr>
          <p:spPr>
            <a:xfrm>
              <a:off x="1633496" y="4987516"/>
              <a:ext cx="0" cy="684455"/>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6F4A20D0-3A49-41D5-87D0-A945F10F1CE2}"/>
                </a:ext>
              </a:extLst>
            </p:cNvPr>
            <p:cNvCxnSpPr>
              <a:cxnSpLocks/>
            </p:cNvCxnSpPr>
            <p:nvPr/>
          </p:nvCxnSpPr>
          <p:spPr>
            <a:xfrm flipH="1">
              <a:off x="1143483" y="4995456"/>
              <a:ext cx="490013" cy="0"/>
            </a:xfrm>
            <a:prstGeom prst="straightConnector1">
              <a:avLst/>
            </a:prstGeom>
            <a:ln>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grpSp>
      <p:sp>
        <p:nvSpPr>
          <p:cNvPr id="3" name="乘号 2">
            <a:extLst>
              <a:ext uri="{FF2B5EF4-FFF2-40B4-BE49-F238E27FC236}">
                <a16:creationId xmlns:a16="http://schemas.microsoft.com/office/drawing/2014/main" id="{D0CB7D38-6DEE-4413-9CB8-FE91E0F15B98}"/>
              </a:ext>
            </a:extLst>
          </p:cNvPr>
          <p:cNvSpPr/>
          <p:nvPr/>
        </p:nvSpPr>
        <p:spPr>
          <a:xfrm>
            <a:off x="2392363" y="6272213"/>
            <a:ext cx="466725" cy="434975"/>
          </a:xfrm>
          <a:prstGeom prst="mathMultiply">
            <a:avLst/>
          </a:prstGeom>
          <a:solidFill>
            <a:srgbClr val="FF00FF"/>
          </a:solidFill>
          <a:ln>
            <a:solidFill>
              <a:srgbClr val="FF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00FF"/>
              </a:solidFill>
            </a:endParaRPr>
          </a:p>
        </p:txBody>
      </p:sp>
      <p:sp>
        <p:nvSpPr>
          <p:cNvPr id="42" name="L 形 41">
            <a:extLst>
              <a:ext uri="{FF2B5EF4-FFF2-40B4-BE49-F238E27FC236}">
                <a16:creationId xmlns:a16="http://schemas.microsoft.com/office/drawing/2014/main" id="{8C9F9EA7-93B7-4B4C-96B7-730BAAD756B8}"/>
              </a:ext>
            </a:extLst>
          </p:cNvPr>
          <p:cNvSpPr/>
          <p:nvPr/>
        </p:nvSpPr>
        <p:spPr>
          <a:xfrm rot="19331054">
            <a:off x="1160463" y="6372225"/>
            <a:ext cx="490537" cy="287338"/>
          </a:xfrm>
          <a:prstGeom prst="corner">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4" name="L 形 43">
            <a:extLst>
              <a:ext uri="{FF2B5EF4-FFF2-40B4-BE49-F238E27FC236}">
                <a16:creationId xmlns:a16="http://schemas.microsoft.com/office/drawing/2014/main" id="{E65E179C-7E05-4226-953D-2E03E027835B}"/>
              </a:ext>
            </a:extLst>
          </p:cNvPr>
          <p:cNvSpPr/>
          <p:nvPr/>
        </p:nvSpPr>
        <p:spPr>
          <a:xfrm rot="19331054">
            <a:off x="3638550" y="6300788"/>
            <a:ext cx="490538" cy="287337"/>
          </a:xfrm>
          <a:prstGeom prst="corner">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5" name="L 形 44">
            <a:extLst>
              <a:ext uri="{FF2B5EF4-FFF2-40B4-BE49-F238E27FC236}">
                <a16:creationId xmlns:a16="http://schemas.microsoft.com/office/drawing/2014/main" id="{9F0B4725-5277-4CE1-988B-F65BD3F53B91}"/>
              </a:ext>
            </a:extLst>
          </p:cNvPr>
          <p:cNvSpPr/>
          <p:nvPr/>
        </p:nvSpPr>
        <p:spPr>
          <a:xfrm rot="19331054">
            <a:off x="5221288" y="6351588"/>
            <a:ext cx="490537" cy="287337"/>
          </a:xfrm>
          <a:prstGeom prst="corner">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 name="矩形 1">
            <a:extLst>
              <a:ext uri="{FF2B5EF4-FFF2-40B4-BE49-F238E27FC236}">
                <a16:creationId xmlns:a16="http://schemas.microsoft.com/office/drawing/2014/main" id="{C413D421-CDA2-4196-A830-3515856E533C}"/>
              </a:ext>
            </a:extLst>
          </p:cNvPr>
          <p:cNvSpPr/>
          <p:nvPr/>
        </p:nvSpPr>
        <p:spPr>
          <a:xfrm>
            <a:off x="6781800" y="6411913"/>
            <a:ext cx="990600" cy="3460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b="1" dirty="0">
                <a:solidFill>
                  <a:srgbClr val="FF0000"/>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42"/>
                                        </p:tgtEl>
                                        <p:attrNameLst>
                                          <p:attrName>style.visibility</p:attrName>
                                        </p:attrNameLst>
                                      </p:cBhvr>
                                      <p:to>
                                        <p:strVal val="visible"/>
                                      </p:to>
                                    </p:set>
                                    <p:animEffect transition="in" filter="randombar(horizontal)">
                                      <p:cBhvr>
                                        <p:cTn id="12" dur="500"/>
                                        <p:tgtEl>
                                          <p:spTgt spid="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randombar(horizontal)">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randombar(horizontal)">
                                      <p:cBhvr>
                                        <p:cTn id="22" dur="500"/>
                                        <p:tgtEl>
                                          <p:spTgt spid="4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45"/>
                                        </p:tgtEl>
                                        <p:attrNameLst>
                                          <p:attrName>style.visibility</p:attrName>
                                        </p:attrNameLst>
                                      </p:cBhvr>
                                      <p:to>
                                        <p:strVal val="visible"/>
                                      </p:to>
                                    </p:set>
                                    <p:animEffect transition="in" filter="randombar(horizontal)">
                                      <p:cBhvr>
                                        <p:cTn id="2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4">
            <a:extLst>
              <a:ext uri="{FF2B5EF4-FFF2-40B4-BE49-F238E27FC236}">
                <a16:creationId xmlns:a16="http://schemas.microsoft.com/office/drawing/2014/main" id="{02D43827-851C-416F-9F4B-D03DD1D55AB0}"/>
              </a:ext>
            </a:extLst>
          </p:cNvPr>
          <p:cNvSpPr>
            <a:spLocks noGrp="1" noChangeArrowheads="1"/>
          </p:cNvSpPr>
          <p:nvPr>
            <p:ph type="ctrTitle"/>
          </p:nvPr>
        </p:nvSpPr>
        <p:spPr/>
        <p:txBody>
          <a:bodyPr/>
          <a:lstStyle/>
          <a:p>
            <a:pPr eaLnBrk="1" hangingPunct="1"/>
            <a:r>
              <a:rPr lang="zh-CN" altLang="en-US"/>
              <a:t>第三章之第二节</a:t>
            </a:r>
          </a:p>
        </p:txBody>
      </p:sp>
      <p:sp>
        <p:nvSpPr>
          <p:cNvPr id="29699" name="Rectangle 5">
            <a:extLst>
              <a:ext uri="{FF2B5EF4-FFF2-40B4-BE49-F238E27FC236}">
                <a16:creationId xmlns:a16="http://schemas.microsoft.com/office/drawing/2014/main" id="{8AEBA396-3286-419A-9FBF-B6513C169B68}"/>
              </a:ext>
            </a:extLst>
          </p:cNvPr>
          <p:cNvSpPr>
            <a:spLocks noGrp="1" noChangeArrowheads="1"/>
          </p:cNvSpPr>
          <p:nvPr>
            <p:ph type="subTitle" idx="1"/>
          </p:nvPr>
        </p:nvSpPr>
        <p:spPr/>
        <p:txBody>
          <a:bodyPr/>
          <a:lstStyle/>
          <a:p>
            <a:pPr eaLnBrk="1" hangingPunct="1"/>
            <a:r>
              <a:rPr lang="zh-CN" altLang="en-US"/>
              <a:t>表上作业法</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722" name="Rectangle 2">
            <a:extLst>
              <a:ext uri="{FF2B5EF4-FFF2-40B4-BE49-F238E27FC236}">
                <a16:creationId xmlns:a16="http://schemas.microsoft.com/office/drawing/2014/main" id="{637D1DE0-2CAE-417C-B1A7-CC05E49C61A6}"/>
              </a:ext>
            </a:extLst>
          </p:cNvPr>
          <p:cNvSpPr>
            <a:spLocks noGrp="1" noChangeArrowheads="1"/>
          </p:cNvSpPr>
          <p:nvPr>
            <p:ph type="title"/>
          </p:nvPr>
        </p:nvSpPr>
        <p:spPr/>
        <p:txBody>
          <a:bodyPr/>
          <a:lstStyle/>
          <a:p>
            <a:pPr eaLnBrk="1" hangingPunct="1"/>
            <a:r>
              <a:rPr lang="zh-CN" altLang="en-US"/>
              <a:t>表上作业法过程</a:t>
            </a:r>
          </a:p>
        </p:txBody>
      </p:sp>
      <p:sp>
        <p:nvSpPr>
          <p:cNvPr id="149507" name="Rectangle 3">
            <a:extLst>
              <a:ext uri="{FF2B5EF4-FFF2-40B4-BE49-F238E27FC236}">
                <a16:creationId xmlns:a16="http://schemas.microsoft.com/office/drawing/2014/main" id="{93B81F9B-1955-4AF6-8A17-F7D0B3A75FFB}"/>
              </a:ext>
            </a:extLst>
          </p:cNvPr>
          <p:cNvSpPr>
            <a:spLocks noGrp="1" noChangeArrowheads="1"/>
          </p:cNvSpPr>
          <p:nvPr>
            <p:ph type="body" idx="1"/>
          </p:nvPr>
        </p:nvSpPr>
        <p:spPr>
          <a:xfrm>
            <a:off x="457200" y="1295400"/>
            <a:ext cx="8229600" cy="1066800"/>
          </a:xfrm>
        </p:spPr>
        <p:txBody>
          <a:bodyPr/>
          <a:lstStyle/>
          <a:p>
            <a:pPr marL="0" indent="0" eaLnBrk="1" hangingPunct="1">
              <a:lnSpc>
                <a:spcPct val="90000"/>
              </a:lnSpc>
              <a:buFont typeface="Wingdings" panose="05000000000000000000" pitchFamily="2" charset="2"/>
              <a:buNone/>
            </a:pPr>
            <a:r>
              <a:rPr lang="en-US" altLang="zh-CN"/>
              <a:t>1. </a:t>
            </a:r>
            <a:r>
              <a:rPr lang="zh-CN" altLang="en-US"/>
              <a:t>确定初始可行方案</a:t>
            </a:r>
          </a:p>
          <a:p>
            <a:pPr marL="898525" lvl="1" indent="-354013" eaLnBrk="1" hangingPunct="1">
              <a:lnSpc>
                <a:spcPct val="90000"/>
              </a:lnSpc>
              <a:buClr>
                <a:schemeClr val="tx1"/>
              </a:buClr>
              <a:buFontTx/>
              <a:buChar char="•"/>
            </a:pPr>
            <a:r>
              <a:rPr lang="zh-CN" altLang="en-US"/>
              <a:t>在</a:t>
            </a:r>
            <a:r>
              <a:rPr lang="en-US" altLang="zh-CN">
                <a:latin typeface="Times New Roman" panose="02020603050405020304" pitchFamily="18" charset="0"/>
              </a:rPr>
              <a:t>(</a:t>
            </a:r>
            <a:r>
              <a:rPr lang="en-US" altLang="zh-CN" i="1">
                <a:latin typeface="Times New Roman" panose="02020603050405020304" pitchFamily="18" charset="0"/>
              </a:rPr>
              <a:t>m</a:t>
            </a:r>
            <a:r>
              <a:rPr lang="en-US" altLang="zh-CN">
                <a:latin typeface="Times New Roman" panose="02020603050405020304" pitchFamily="18" charset="0"/>
              </a:rPr>
              <a:t>×</a:t>
            </a:r>
            <a:r>
              <a:rPr lang="en-US" altLang="zh-CN" i="1">
                <a:latin typeface="Times New Roman" panose="02020603050405020304" pitchFamily="18" charset="0"/>
              </a:rPr>
              <a:t>n</a:t>
            </a:r>
            <a:r>
              <a:rPr lang="en-US" altLang="zh-CN">
                <a:latin typeface="Times New Roman" panose="02020603050405020304" pitchFamily="18" charset="0"/>
              </a:rPr>
              <a:t>)</a:t>
            </a:r>
            <a:r>
              <a:rPr lang="zh-CN" altLang="en-US">
                <a:latin typeface="Times New Roman" panose="02020603050405020304" pitchFamily="18" charset="0"/>
              </a:rPr>
              <a:t>产销平衡表上给出 </a:t>
            </a:r>
            <a:r>
              <a:rPr lang="en-US" altLang="zh-CN" i="1">
                <a:latin typeface="Times New Roman" panose="02020603050405020304" pitchFamily="18" charset="0"/>
              </a:rPr>
              <a:t>m</a:t>
            </a:r>
            <a:r>
              <a:rPr lang="en-US" altLang="zh-CN">
                <a:latin typeface="Times New Roman" panose="02020603050405020304" pitchFamily="18" charset="0"/>
              </a:rPr>
              <a:t>+</a:t>
            </a:r>
            <a:r>
              <a:rPr lang="en-US" altLang="zh-CN" i="1">
                <a:latin typeface="Times New Roman" panose="02020603050405020304" pitchFamily="18" charset="0"/>
              </a:rPr>
              <a:t>n-</a:t>
            </a:r>
            <a:r>
              <a:rPr lang="en-US" altLang="zh-CN">
                <a:latin typeface="Times New Roman" panose="02020603050405020304" pitchFamily="18" charset="0"/>
              </a:rPr>
              <a:t>1</a:t>
            </a:r>
            <a:r>
              <a:rPr lang="zh-CN" altLang="en-US">
                <a:latin typeface="Times New Roman" panose="02020603050405020304" pitchFamily="18" charset="0"/>
              </a:rPr>
              <a:t>个数字格</a:t>
            </a:r>
            <a:endParaRPr lang="en-US" altLang="zh-CN">
              <a:latin typeface="Times New Roman" panose="02020603050405020304" pitchFamily="18" charset="0"/>
            </a:endParaRPr>
          </a:p>
          <a:p>
            <a:pPr marL="898525" lvl="1" indent="-354013" eaLnBrk="1" hangingPunct="1">
              <a:lnSpc>
                <a:spcPct val="90000"/>
              </a:lnSpc>
              <a:buClr>
                <a:schemeClr val="tx1"/>
              </a:buClr>
              <a:buFontTx/>
              <a:buChar char="•"/>
            </a:pPr>
            <a:endParaRPr lang="zh-CN" altLang="en-US" sz="900">
              <a:latin typeface="Times New Roman" panose="02020603050405020304" pitchFamily="18" charset="0"/>
            </a:endParaRPr>
          </a:p>
        </p:txBody>
      </p:sp>
      <p:sp>
        <p:nvSpPr>
          <p:cNvPr id="23556" name="矩形 3">
            <a:extLst>
              <a:ext uri="{FF2B5EF4-FFF2-40B4-BE49-F238E27FC236}">
                <a16:creationId xmlns:a16="http://schemas.microsoft.com/office/drawing/2014/main" id="{8CBF95DA-7AD6-4724-A980-B3E912B33B08}"/>
              </a:ext>
            </a:extLst>
          </p:cNvPr>
          <p:cNvSpPr>
            <a:spLocks noChangeArrowheads="1"/>
          </p:cNvSpPr>
          <p:nvPr/>
        </p:nvSpPr>
        <p:spPr bwMode="auto">
          <a:xfrm>
            <a:off x="4489450" y="231775"/>
            <a:ext cx="3165475" cy="830263"/>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solidFill>
                  <a:srgbClr val="FF00FF"/>
                </a:solidFill>
                <a:latin typeface="Times New Roman" panose="02020603050405020304" pitchFamily="18" charset="0"/>
              </a:rPr>
              <a:t>万</a:t>
            </a:r>
            <a:r>
              <a:rPr lang="zh-CN" altLang="en-US" sz="2400" b="1">
                <a:solidFill>
                  <a:srgbClr val="FF00FF"/>
                </a:solidFill>
                <a:latin typeface="Times New Roman" panose="02020603050405020304" pitchFamily="18" charset="0"/>
              </a:rPr>
              <a:t>变</a:t>
            </a:r>
            <a:r>
              <a:rPr lang="zh-CN" altLang="en-US" sz="2400">
                <a:solidFill>
                  <a:srgbClr val="FF00FF"/>
                </a:solidFill>
                <a:latin typeface="Times New Roman" panose="02020603050405020304" pitchFamily="18" charset="0"/>
              </a:rPr>
              <a:t>不离其“</a:t>
            </a:r>
            <a:r>
              <a:rPr lang="zh-CN" altLang="en-US" sz="2400" b="1">
                <a:solidFill>
                  <a:srgbClr val="FF00FF"/>
                </a:solidFill>
                <a:latin typeface="Times New Roman" panose="02020603050405020304" pitchFamily="18" charset="0"/>
              </a:rPr>
              <a:t>宗</a:t>
            </a:r>
            <a:r>
              <a:rPr lang="zh-CN" altLang="en-US" sz="2400">
                <a:solidFill>
                  <a:srgbClr val="FF00FF"/>
                </a:solidFill>
                <a:latin typeface="Times New Roman" panose="02020603050405020304" pitchFamily="18" charset="0"/>
              </a:rPr>
              <a:t>”：</a:t>
            </a:r>
            <a:endParaRPr lang="zh-CN" altLang="en-US" sz="2400">
              <a:solidFill>
                <a:srgbClr val="FF00FF"/>
              </a:solidFill>
            </a:endParaRPr>
          </a:p>
          <a:p>
            <a:pPr algn="ctr" eaLnBrk="1" hangingPunct="1"/>
            <a:r>
              <a:rPr lang="zh-CN" altLang="en-US" sz="2400">
                <a:solidFill>
                  <a:srgbClr val="FF00FF"/>
                </a:solidFill>
                <a:latin typeface="Times New Roman" panose="02020603050405020304" pitchFamily="18" charset="0"/>
              </a:rPr>
              <a:t>单纯形法</a:t>
            </a:r>
            <a:endParaRPr lang="zh-CN" altLang="en-US" sz="2400">
              <a:solidFill>
                <a:srgbClr val="FF00FF"/>
              </a:solidFill>
            </a:endParaRPr>
          </a:p>
        </p:txBody>
      </p:sp>
      <p:grpSp>
        <p:nvGrpSpPr>
          <p:cNvPr id="2" name="组合 1">
            <a:extLst>
              <a:ext uri="{FF2B5EF4-FFF2-40B4-BE49-F238E27FC236}">
                <a16:creationId xmlns:a16="http://schemas.microsoft.com/office/drawing/2014/main" id="{0485C15E-E2A8-42CB-B3B3-7A5B000BB4A2}"/>
              </a:ext>
            </a:extLst>
          </p:cNvPr>
          <p:cNvGrpSpPr>
            <a:grpSpLocks/>
          </p:cNvGrpSpPr>
          <p:nvPr/>
        </p:nvGrpSpPr>
        <p:grpSpPr bwMode="auto">
          <a:xfrm>
            <a:off x="4343400" y="1368425"/>
            <a:ext cx="3505200" cy="461963"/>
            <a:chOff x="4343400" y="1216025"/>
            <a:chExt cx="3505200" cy="461665"/>
          </a:xfrm>
        </p:grpSpPr>
        <p:sp>
          <p:nvSpPr>
            <p:cNvPr id="30734" name="Line 3">
              <a:extLst>
                <a:ext uri="{FF2B5EF4-FFF2-40B4-BE49-F238E27FC236}">
                  <a16:creationId xmlns:a16="http://schemas.microsoft.com/office/drawing/2014/main" id="{AEAD6F6D-A029-481C-8F34-FB22DA0E3637}"/>
                </a:ext>
              </a:extLst>
            </p:cNvPr>
            <p:cNvSpPr>
              <a:spLocks noChangeShapeType="1"/>
            </p:cNvSpPr>
            <p:nvPr/>
          </p:nvSpPr>
          <p:spPr bwMode="auto">
            <a:xfrm>
              <a:off x="4343400" y="1447800"/>
              <a:ext cx="720725" cy="0"/>
            </a:xfrm>
            <a:prstGeom prst="line">
              <a:avLst/>
            </a:prstGeom>
            <a:noFill/>
            <a:ln w="38100">
              <a:solidFill>
                <a:srgbClr val="FF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0735" name="矩形 7">
              <a:extLst>
                <a:ext uri="{FF2B5EF4-FFF2-40B4-BE49-F238E27FC236}">
                  <a16:creationId xmlns:a16="http://schemas.microsoft.com/office/drawing/2014/main" id="{1B71FD36-DEA6-4845-9A38-ABC86DC3AFCA}"/>
                </a:ext>
              </a:extLst>
            </p:cNvPr>
            <p:cNvSpPr>
              <a:spLocks noChangeArrowheads="1"/>
            </p:cNvSpPr>
            <p:nvPr/>
          </p:nvSpPr>
          <p:spPr bwMode="auto">
            <a:xfrm>
              <a:off x="5105400" y="1216025"/>
              <a:ext cx="2743200" cy="46166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找出初始基可行解</a:t>
              </a:r>
              <a:endParaRPr lang="zh-CN" altLang="en-US" sz="2400">
                <a:solidFill>
                  <a:srgbClr val="FF00FF"/>
                </a:solidFill>
              </a:endParaRPr>
            </a:p>
          </p:txBody>
        </p:sp>
      </p:grpSp>
      <p:sp>
        <p:nvSpPr>
          <p:cNvPr id="14" name="Rectangle 3">
            <a:extLst>
              <a:ext uri="{FF2B5EF4-FFF2-40B4-BE49-F238E27FC236}">
                <a16:creationId xmlns:a16="http://schemas.microsoft.com/office/drawing/2014/main" id="{21FEDD2B-F45C-406F-BD31-7F041B2C41BD}"/>
              </a:ext>
            </a:extLst>
          </p:cNvPr>
          <p:cNvSpPr txBox="1">
            <a:spLocks noChangeArrowheads="1"/>
          </p:cNvSpPr>
          <p:nvPr/>
        </p:nvSpPr>
        <p:spPr bwMode="auto">
          <a:xfrm>
            <a:off x="471488" y="2749550"/>
            <a:ext cx="8229600" cy="1371600"/>
          </a:xfrm>
          <a:prstGeom prst="rect">
            <a:avLst/>
          </a:prstGeom>
          <a:noFill/>
          <a:ln>
            <a:noFill/>
          </a:ln>
        </p:spPr>
        <p:txBody>
          <a:bodyPr/>
          <a:lst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3200" b="1">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800" b="1">
                <a:solidFill>
                  <a:schemeClr val="tx1"/>
                </a:solidFill>
                <a:latin typeface="+mn-lt"/>
                <a:ea typeface="+mn-ea"/>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400" b="1">
                <a:solidFill>
                  <a:schemeClr val="tx1"/>
                </a:solidFill>
                <a:latin typeface="+mn-lt"/>
                <a:ea typeface="+mn-ea"/>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mn-ea"/>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9pPr>
          </a:lstStyle>
          <a:p>
            <a:pPr marL="898525" lvl="1" indent="-354013" eaLnBrk="1" hangingPunct="1">
              <a:lnSpc>
                <a:spcPct val="90000"/>
              </a:lnSpc>
              <a:buClr>
                <a:schemeClr val="tx1"/>
              </a:buClr>
              <a:buFontTx/>
              <a:buChar char="•"/>
              <a:defRPr/>
            </a:pPr>
            <a:endParaRPr lang="zh-CN" altLang="en-US" sz="900" kern="0" dirty="0">
              <a:latin typeface="Times New Roman" panose="02020603050405020304" pitchFamily="18" charset="0"/>
            </a:endParaRPr>
          </a:p>
          <a:p>
            <a:pPr marL="0" indent="0" eaLnBrk="1" hangingPunct="1">
              <a:lnSpc>
                <a:spcPct val="90000"/>
              </a:lnSpc>
              <a:buFont typeface="Wingdings" panose="05000000000000000000" pitchFamily="2" charset="2"/>
              <a:buNone/>
              <a:defRPr/>
            </a:pPr>
            <a:r>
              <a:rPr lang="en-US" altLang="zh-CN" kern="0" dirty="0"/>
              <a:t>2. </a:t>
            </a:r>
            <a:r>
              <a:rPr lang="zh-CN" altLang="en-US" kern="0" dirty="0"/>
              <a:t>判断当前方案是否最优</a:t>
            </a:r>
          </a:p>
          <a:p>
            <a:pPr marL="898525" lvl="1" indent="-354013" eaLnBrk="1" hangingPunct="1">
              <a:lnSpc>
                <a:spcPct val="90000"/>
              </a:lnSpc>
              <a:buClr>
                <a:schemeClr val="tx1"/>
              </a:buClr>
              <a:buFontTx/>
              <a:buChar char="•"/>
              <a:defRPr/>
            </a:pPr>
            <a:r>
              <a:rPr lang="zh-CN" altLang="en-US" kern="0" dirty="0">
                <a:latin typeface="Times New Roman" panose="02020603050405020304" pitchFamily="18" charset="0"/>
              </a:rPr>
              <a:t>计算空格的检验数，判别是否达到最优解</a:t>
            </a:r>
            <a:endParaRPr lang="en-US" altLang="zh-CN" kern="0" dirty="0">
              <a:latin typeface="Times New Roman" panose="02020603050405020304" pitchFamily="18" charset="0"/>
            </a:endParaRPr>
          </a:p>
          <a:p>
            <a:pPr marL="898525" lvl="1" indent="-354013" eaLnBrk="1" hangingPunct="1">
              <a:lnSpc>
                <a:spcPct val="90000"/>
              </a:lnSpc>
              <a:buClr>
                <a:schemeClr val="tx1"/>
              </a:buClr>
              <a:buFontTx/>
              <a:buChar char="•"/>
              <a:defRPr/>
            </a:pPr>
            <a:endParaRPr lang="zh-CN" altLang="en-US" sz="900" kern="0" dirty="0">
              <a:latin typeface="Times New Roman" panose="02020603050405020304" pitchFamily="18" charset="0"/>
            </a:endParaRPr>
          </a:p>
        </p:txBody>
      </p:sp>
      <p:grpSp>
        <p:nvGrpSpPr>
          <p:cNvPr id="15" name="组合 14">
            <a:extLst>
              <a:ext uri="{FF2B5EF4-FFF2-40B4-BE49-F238E27FC236}">
                <a16:creationId xmlns:a16="http://schemas.microsoft.com/office/drawing/2014/main" id="{7D2237B5-C303-4A88-931E-A94E767A1391}"/>
              </a:ext>
            </a:extLst>
          </p:cNvPr>
          <p:cNvGrpSpPr>
            <a:grpSpLocks/>
          </p:cNvGrpSpPr>
          <p:nvPr/>
        </p:nvGrpSpPr>
        <p:grpSpPr bwMode="auto">
          <a:xfrm>
            <a:off x="5056188" y="2968625"/>
            <a:ext cx="3733800" cy="461963"/>
            <a:chOff x="5090395" y="2805806"/>
            <a:chExt cx="3735746" cy="461665"/>
          </a:xfrm>
        </p:grpSpPr>
        <p:sp>
          <p:nvSpPr>
            <p:cNvPr id="30732" name="Line 3">
              <a:extLst>
                <a:ext uri="{FF2B5EF4-FFF2-40B4-BE49-F238E27FC236}">
                  <a16:creationId xmlns:a16="http://schemas.microsoft.com/office/drawing/2014/main" id="{008BA7E2-3581-4729-B47A-70323F878383}"/>
                </a:ext>
              </a:extLst>
            </p:cNvPr>
            <p:cNvSpPr>
              <a:spLocks noChangeShapeType="1"/>
            </p:cNvSpPr>
            <p:nvPr/>
          </p:nvSpPr>
          <p:spPr bwMode="auto">
            <a:xfrm>
              <a:off x="5090395" y="3036638"/>
              <a:ext cx="720725" cy="0"/>
            </a:xfrm>
            <a:prstGeom prst="line">
              <a:avLst/>
            </a:prstGeom>
            <a:noFill/>
            <a:ln w="38100">
              <a:solidFill>
                <a:srgbClr val="FF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0733" name="矩形 16">
              <a:extLst>
                <a:ext uri="{FF2B5EF4-FFF2-40B4-BE49-F238E27FC236}">
                  <a16:creationId xmlns:a16="http://schemas.microsoft.com/office/drawing/2014/main" id="{8B29E314-5C07-4851-8169-76710CEA7339}"/>
                </a:ext>
              </a:extLst>
            </p:cNvPr>
            <p:cNvSpPr>
              <a:spLocks noChangeArrowheads="1"/>
            </p:cNvSpPr>
            <p:nvPr/>
          </p:nvSpPr>
          <p:spPr bwMode="auto">
            <a:xfrm>
              <a:off x="5811120" y="2805806"/>
              <a:ext cx="3015021" cy="46166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求各非基变量检验数</a:t>
              </a:r>
              <a:endParaRPr lang="zh-CN" altLang="en-US" sz="2400">
                <a:solidFill>
                  <a:srgbClr val="FF00FF"/>
                </a:solidFill>
              </a:endParaRPr>
            </a:p>
          </p:txBody>
        </p:sp>
      </p:grpSp>
      <p:sp>
        <p:nvSpPr>
          <p:cNvPr id="18" name="Rectangle 3">
            <a:extLst>
              <a:ext uri="{FF2B5EF4-FFF2-40B4-BE49-F238E27FC236}">
                <a16:creationId xmlns:a16="http://schemas.microsoft.com/office/drawing/2014/main" id="{6E798216-0C05-4D18-A3A1-D1CD0E756471}"/>
              </a:ext>
            </a:extLst>
          </p:cNvPr>
          <p:cNvSpPr txBox="1">
            <a:spLocks noChangeArrowheads="1"/>
          </p:cNvSpPr>
          <p:nvPr/>
        </p:nvSpPr>
        <p:spPr bwMode="auto">
          <a:xfrm>
            <a:off x="560388" y="4724400"/>
            <a:ext cx="8229600" cy="1371600"/>
          </a:xfrm>
          <a:prstGeom prst="rect">
            <a:avLst/>
          </a:prstGeom>
          <a:noFill/>
          <a:ln>
            <a:noFill/>
          </a:ln>
        </p:spPr>
        <p:txBody>
          <a:bodyPr/>
          <a:lst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3200" b="1">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800" b="1">
                <a:solidFill>
                  <a:schemeClr val="tx1"/>
                </a:solidFill>
                <a:latin typeface="+mn-lt"/>
                <a:ea typeface="+mn-ea"/>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400" b="1">
                <a:solidFill>
                  <a:schemeClr val="tx1"/>
                </a:solidFill>
                <a:latin typeface="+mn-lt"/>
                <a:ea typeface="+mn-ea"/>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mn-ea"/>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9pPr>
          </a:lstStyle>
          <a:p>
            <a:pPr marL="0" indent="0" eaLnBrk="1" hangingPunct="1">
              <a:lnSpc>
                <a:spcPct val="90000"/>
              </a:lnSpc>
              <a:buFont typeface="Wingdings" panose="05000000000000000000" pitchFamily="2" charset="2"/>
              <a:buNone/>
              <a:defRPr/>
            </a:pPr>
            <a:r>
              <a:rPr lang="en-US" altLang="zh-CN" kern="0" dirty="0"/>
              <a:t>3. </a:t>
            </a:r>
            <a:r>
              <a:rPr lang="zh-CN" altLang="en-US" kern="0" dirty="0"/>
              <a:t>方案调整</a:t>
            </a:r>
          </a:p>
          <a:p>
            <a:pPr marL="898525" lvl="1" indent="-354013" eaLnBrk="1" hangingPunct="1">
              <a:lnSpc>
                <a:spcPct val="90000"/>
              </a:lnSpc>
              <a:buClr>
                <a:schemeClr val="tx1"/>
              </a:buClr>
              <a:buFontTx/>
              <a:buChar char="•"/>
              <a:defRPr/>
            </a:pPr>
            <a:r>
              <a:rPr lang="zh-CN" altLang="en-US" kern="0" dirty="0">
                <a:latin typeface="Times New Roman" panose="02020603050405020304" pitchFamily="18" charset="0"/>
              </a:rPr>
              <a:t>在表上用闭回路法调整</a:t>
            </a:r>
          </a:p>
          <a:p>
            <a:pPr marL="898525" lvl="1" indent="-354013" eaLnBrk="1" hangingPunct="1">
              <a:lnSpc>
                <a:spcPct val="90000"/>
              </a:lnSpc>
              <a:buClr>
                <a:schemeClr val="tx1"/>
              </a:buClr>
              <a:buFontTx/>
              <a:buChar char="•"/>
              <a:defRPr/>
            </a:pPr>
            <a:endParaRPr lang="zh-CN" altLang="en-US" sz="900" kern="0" dirty="0">
              <a:latin typeface="Times New Roman" panose="02020603050405020304" pitchFamily="18" charset="0"/>
            </a:endParaRPr>
          </a:p>
        </p:txBody>
      </p:sp>
      <p:grpSp>
        <p:nvGrpSpPr>
          <p:cNvPr id="19" name="组合 18">
            <a:extLst>
              <a:ext uri="{FF2B5EF4-FFF2-40B4-BE49-F238E27FC236}">
                <a16:creationId xmlns:a16="http://schemas.microsoft.com/office/drawing/2014/main" id="{D8EFCECC-8084-4792-8D05-813B53D51E1A}"/>
              </a:ext>
            </a:extLst>
          </p:cNvPr>
          <p:cNvGrpSpPr>
            <a:grpSpLocks/>
          </p:cNvGrpSpPr>
          <p:nvPr/>
        </p:nvGrpSpPr>
        <p:grpSpPr bwMode="auto">
          <a:xfrm>
            <a:off x="2895600" y="4460875"/>
            <a:ext cx="4762500" cy="830263"/>
            <a:chOff x="2667000" y="4325061"/>
            <a:chExt cx="4762242" cy="830997"/>
          </a:xfrm>
        </p:grpSpPr>
        <p:sp>
          <p:nvSpPr>
            <p:cNvPr id="30730" name="Line 3">
              <a:extLst>
                <a:ext uri="{FF2B5EF4-FFF2-40B4-BE49-F238E27FC236}">
                  <a16:creationId xmlns:a16="http://schemas.microsoft.com/office/drawing/2014/main" id="{A34A31B9-202A-4750-BF05-07177653DA3E}"/>
                </a:ext>
              </a:extLst>
            </p:cNvPr>
            <p:cNvSpPr>
              <a:spLocks noChangeShapeType="1"/>
            </p:cNvSpPr>
            <p:nvPr/>
          </p:nvSpPr>
          <p:spPr bwMode="auto">
            <a:xfrm>
              <a:off x="2667000" y="4817504"/>
              <a:ext cx="720725" cy="0"/>
            </a:xfrm>
            <a:prstGeom prst="line">
              <a:avLst/>
            </a:prstGeom>
            <a:noFill/>
            <a:ln w="38100">
              <a:solidFill>
                <a:srgbClr val="FF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0731" name="矩形 20">
              <a:extLst>
                <a:ext uri="{FF2B5EF4-FFF2-40B4-BE49-F238E27FC236}">
                  <a16:creationId xmlns:a16="http://schemas.microsoft.com/office/drawing/2014/main" id="{CDE6B9F0-D6BC-4F9C-AF8F-63CBEEB4FD64}"/>
                </a:ext>
              </a:extLst>
            </p:cNvPr>
            <p:cNvSpPr>
              <a:spLocks noChangeArrowheads="1"/>
            </p:cNvSpPr>
            <p:nvPr/>
          </p:nvSpPr>
          <p:spPr bwMode="auto">
            <a:xfrm>
              <a:off x="3425567" y="4325061"/>
              <a:ext cx="4003675" cy="830997"/>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确定换入变量和换出变量，找出新的基可行解</a:t>
              </a:r>
              <a:endParaRPr lang="zh-CN" altLang="en-US" sz="2400">
                <a:solidFill>
                  <a:srgbClr val="FF00FF"/>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556">
                                            <p:txEl>
                                              <p:pRg st="0" end="0"/>
                                            </p:txEl>
                                          </p:spTgt>
                                        </p:tgtEl>
                                        <p:attrNameLst>
                                          <p:attrName>style.visibility</p:attrName>
                                        </p:attrNameLst>
                                      </p:cBhvr>
                                      <p:to>
                                        <p:strVal val="visible"/>
                                      </p:to>
                                    </p:set>
                                    <p:animEffect transition="in" filter="randombar(horizontal)">
                                      <p:cBhvr>
                                        <p:cTn id="7" dur="500"/>
                                        <p:tgtEl>
                                          <p:spTgt spid="23556">
                                            <p:txEl>
                                              <p:pRg st="0" end="0"/>
                                            </p:txEl>
                                          </p:spTgt>
                                        </p:tgtEl>
                                      </p:cBhvr>
                                    </p:animEffect>
                                  </p:childTnLst>
                                </p:cTn>
                              </p:par>
                              <p:par>
                                <p:cTn id="8" presetID="14" presetClass="entr" presetSubtype="10" fill="hold" nodeType="withEffect">
                                  <p:stCondLst>
                                    <p:cond delay="0"/>
                                  </p:stCondLst>
                                  <p:childTnLst>
                                    <p:set>
                                      <p:cBhvr>
                                        <p:cTn id="9" dur="1" fill="hold">
                                          <p:stCondLst>
                                            <p:cond delay="0"/>
                                          </p:stCondLst>
                                        </p:cTn>
                                        <p:tgtEl>
                                          <p:spTgt spid="23556">
                                            <p:txEl>
                                              <p:pRg st="1" end="1"/>
                                            </p:txEl>
                                          </p:spTgt>
                                        </p:tgtEl>
                                        <p:attrNameLst>
                                          <p:attrName>style.visibility</p:attrName>
                                        </p:attrNameLst>
                                      </p:cBhvr>
                                      <p:to>
                                        <p:strVal val="visible"/>
                                      </p:to>
                                    </p:set>
                                    <p:animEffect transition="in" filter="randombar(horizontal)">
                                      <p:cBhvr>
                                        <p:cTn id="10" dur="500"/>
                                        <p:tgtEl>
                                          <p:spTgt spid="23556">
                                            <p:txEl>
                                              <p:pRg st="1" end="1"/>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149507">
                                            <p:txEl>
                                              <p:pRg st="0" end="0"/>
                                            </p:txEl>
                                          </p:spTgt>
                                        </p:tgtEl>
                                        <p:attrNameLst>
                                          <p:attrName>style.visibility</p:attrName>
                                        </p:attrNameLst>
                                      </p:cBhvr>
                                      <p:to>
                                        <p:strVal val="visible"/>
                                      </p:to>
                                    </p:set>
                                    <p:animEffect transition="in" filter="blinds(horizontal)">
                                      <p:cBhvr>
                                        <p:cTn id="19" dur="500"/>
                                        <p:tgtEl>
                                          <p:spTgt spid="149507">
                                            <p:txEl>
                                              <p:pRg st="0" end="0"/>
                                            </p:txEl>
                                          </p:spTgt>
                                        </p:tgtEl>
                                      </p:cBhvr>
                                    </p:animEffect>
                                  </p:childTnLst>
                                </p:cTn>
                              </p:par>
                              <p:par>
                                <p:cTn id="20" presetID="3" presetClass="entr" presetSubtype="10" fill="hold" grpId="0" nodeType="withEffect">
                                  <p:stCondLst>
                                    <p:cond delay="0"/>
                                  </p:stCondLst>
                                  <p:childTnLst>
                                    <p:set>
                                      <p:cBhvr>
                                        <p:cTn id="21" dur="1" fill="hold">
                                          <p:stCondLst>
                                            <p:cond delay="0"/>
                                          </p:stCondLst>
                                        </p:cTn>
                                        <p:tgtEl>
                                          <p:spTgt spid="149507">
                                            <p:txEl>
                                              <p:pRg st="1" end="1"/>
                                            </p:txEl>
                                          </p:spTgt>
                                        </p:tgtEl>
                                        <p:attrNameLst>
                                          <p:attrName>style.visibility</p:attrName>
                                        </p:attrNameLst>
                                      </p:cBhvr>
                                      <p:to>
                                        <p:strVal val="visible"/>
                                      </p:to>
                                    </p:set>
                                    <p:animEffect transition="in" filter="blinds(horizontal)">
                                      <p:cBhvr>
                                        <p:cTn id="22" dur="500"/>
                                        <p:tgtEl>
                                          <p:spTgt spid="149507">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3" presetClass="entr" presetSubtype="10" fill="hold" grpId="0" nodeType="clickEffect">
                                  <p:stCondLst>
                                    <p:cond delay="0"/>
                                  </p:stCondLst>
                                  <p:childTnLst>
                                    <p:set>
                                      <p:cBhvr>
                                        <p:cTn id="30" dur="1" fill="hold">
                                          <p:stCondLst>
                                            <p:cond delay="0"/>
                                          </p:stCondLst>
                                        </p:cTn>
                                        <p:tgtEl>
                                          <p:spTgt spid="14">
                                            <p:txEl>
                                              <p:pRg st="1" end="1"/>
                                            </p:txEl>
                                          </p:spTgt>
                                        </p:tgtEl>
                                        <p:attrNameLst>
                                          <p:attrName>style.visibility</p:attrName>
                                        </p:attrNameLst>
                                      </p:cBhvr>
                                      <p:to>
                                        <p:strVal val="visible"/>
                                      </p:to>
                                    </p:set>
                                    <p:animEffect transition="in" filter="blinds(horizontal)">
                                      <p:cBhvr>
                                        <p:cTn id="31" dur="500"/>
                                        <p:tgtEl>
                                          <p:spTgt spid="14">
                                            <p:txEl>
                                              <p:pRg st="1" end="1"/>
                                            </p:txEl>
                                          </p:spTgt>
                                        </p:tgtEl>
                                      </p:cBhvr>
                                    </p:animEffect>
                                  </p:childTnLst>
                                </p:cTn>
                              </p:par>
                              <p:par>
                                <p:cTn id="32" presetID="3" presetClass="entr" presetSubtype="10" fill="hold" grpId="0" nodeType="withEffect">
                                  <p:stCondLst>
                                    <p:cond delay="0"/>
                                  </p:stCondLst>
                                  <p:childTnLst>
                                    <p:set>
                                      <p:cBhvr>
                                        <p:cTn id="33" dur="1" fill="hold">
                                          <p:stCondLst>
                                            <p:cond delay="0"/>
                                          </p:stCondLst>
                                        </p:cTn>
                                        <p:tgtEl>
                                          <p:spTgt spid="14">
                                            <p:txEl>
                                              <p:pRg st="2" end="2"/>
                                            </p:txEl>
                                          </p:spTgt>
                                        </p:tgtEl>
                                        <p:attrNameLst>
                                          <p:attrName>style.visibility</p:attrName>
                                        </p:attrNameLst>
                                      </p:cBhvr>
                                      <p:to>
                                        <p:strVal val="visible"/>
                                      </p:to>
                                    </p:set>
                                    <p:animEffect transition="in" filter="blinds(horizontal)">
                                      <p:cBhvr>
                                        <p:cTn id="34" dur="500"/>
                                        <p:tgtEl>
                                          <p:spTgt spid="14">
                                            <p:txEl>
                                              <p:pRg st="2" end="2"/>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1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18">
                                            <p:txEl>
                                              <p:pRg st="0" end="0"/>
                                            </p:txEl>
                                          </p:spTgt>
                                        </p:tgtEl>
                                        <p:attrNameLst>
                                          <p:attrName>style.visibility</p:attrName>
                                        </p:attrNameLst>
                                      </p:cBhvr>
                                      <p:to>
                                        <p:strVal val="visible"/>
                                      </p:to>
                                    </p:set>
                                    <p:animEffect transition="in" filter="blinds(horizontal)">
                                      <p:cBhvr>
                                        <p:cTn id="43" dur="500"/>
                                        <p:tgtEl>
                                          <p:spTgt spid="18">
                                            <p:txEl>
                                              <p:pRg st="0" end="0"/>
                                            </p:txEl>
                                          </p:spTgt>
                                        </p:tgtEl>
                                      </p:cBhvr>
                                    </p:animEffect>
                                  </p:childTnLst>
                                </p:cTn>
                              </p:par>
                              <p:par>
                                <p:cTn id="44" presetID="3" presetClass="entr" presetSubtype="10" fill="hold" grpId="0" nodeType="withEffect">
                                  <p:stCondLst>
                                    <p:cond delay="0"/>
                                  </p:stCondLst>
                                  <p:childTnLst>
                                    <p:set>
                                      <p:cBhvr>
                                        <p:cTn id="45" dur="1" fill="hold">
                                          <p:stCondLst>
                                            <p:cond delay="0"/>
                                          </p:stCondLst>
                                        </p:cTn>
                                        <p:tgtEl>
                                          <p:spTgt spid="18">
                                            <p:txEl>
                                              <p:pRg st="1" end="1"/>
                                            </p:txEl>
                                          </p:spTgt>
                                        </p:tgtEl>
                                        <p:attrNameLst>
                                          <p:attrName>style.visibility</p:attrName>
                                        </p:attrNameLst>
                                      </p:cBhvr>
                                      <p:to>
                                        <p:strVal val="visible"/>
                                      </p:to>
                                    </p:set>
                                    <p:animEffect transition="in" filter="blinds(horizontal)">
                                      <p:cBhvr>
                                        <p:cTn id="46" dur="500"/>
                                        <p:tgtEl>
                                          <p:spTgt spid="1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7" grpId="0" build="p"/>
      <p:bldP spid="14" grpId="0" build="p"/>
      <p:bldP spid="18" grpId="0" build="p"/>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descr="Large confetti">
            <a:extLst>
              <a:ext uri="{FF2B5EF4-FFF2-40B4-BE49-F238E27FC236}">
                <a16:creationId xmlns:a16="http://schemas.microsoft.com/office/drawing/2014/main" id="{9F3E262A-C3EF-4876-B863-5C87213E6815}"/>
              </a:ext>
            </a:extLst>
          </p:cNvPr>
          <p:cNvSpPr>
            <a:spLocks noGrp="1" noChangeArrowheads="1"/>
          </p:cNvSpPr>
          <p:nvPr>
            <p:ph type="title"/>
          </p:nvPr>
        </p:nvSpPr>
        <p:spPr/>
        <p:txBody>
          <a:bodyPr/>
          <a:lstStyle/>
          <a:p>
            <a:pPr eaLnBrk="1" hangingPunct="1"/>
            <a:r>
              <a:rPr lang="zh-CN" altLang="en-US"/>
              <a:t>单纯形法计算步骤</a:t>
            </a:r>
          </a:p>
        </p:txBody>
      </p:sp>
      <p:sp>
        <p:nvSpPr>
          <p:cNvPr id="35" name="Rectangle 4">
            <a:extLst>
              <a:ext uri="{FF2B5EF4-FFF2-40B4-BE49-F238E27FC236}">
                <a16:creationId xmlns:a16="http://schemas.microsoft.com/office/drawing/2014/main" id="{313E71CA-18BE-4EF6-BFD1-4A5E1CC06F0B}"/>
              </a:ext>
            </a:extLst>
          </p:cNvPr>
          <p:cNvSpPr>
            <a:spLocks noChangeArrowheads="1"/>
          </p:cNvSpPr>
          <p:nvPr/>
        </p:nvSpPr>
        <p:spPr bwMode="auto">
          <a:xfrm>
            <a:off x="2043113" y="1160463"/>
            <a:ext cx="3505200" cy="533400"/>
          </a:xfrm>
          <a:prstGeom prst="rect">
            <a:avLst/>
          </a:prstGeom>
          <a:solidFill>
            <a:srgbClr val="FFFF66"/>
          </a:solidFill>
          <a:ln w="9525">
            <a:solidFill>
              <a:srgbClr val="008000"/>
            </a:solidFill>
            <a:miter lim="800000"/>
            <a:headEnd/>
            <a:tailEnd/>
          </a:ln>
          <a:effectLst/>
        </p:spPr>
        <p:txBody>
          <a:bodyPr wrap="none" anchor="ctr"/>
          <a:lstStyle/>
          <a:p>
            <a:pPr>
              <a:defRPr/>
            </a:pPr>
            <a:r>
              <a:rPr kumimoji="1" lang="zh-CN" altLang="en-US" sz="2400" dirty="0">
                <a:solidFill>
                  <a:schemeClr val="tx2"/>
                </a:solidFill>
                <a:effectLst>
                  <a:outerShdw blurRad="38100" dist="38100" dir="2700000" algn="tl">
                    <a:srgbClr val="000000"/>
                  </a:outerShdw>
                </a:effectLst>
                <a:ea typeface="楷体_GB2312" pitchFamily="49" charset="-122"/>
              </a:rPr>
              <a:t>找出一个</a:t>
            </a:r>
            <a:r>
              <a:rPr kumimoji="1" lang="zh-CN" altLang="en-US" sz="2400" dirty="0">
                <a:solidFill>
                  <a:srgbClr val="FF00FF"/>
                </a:solidFill>
                <a:effectLst>
                  <a:outerShdw blurRad="38100" dist="38100" dir="2700000" algn="tl">
                    <a:srgbClr val="000000"/>
                  </a:outerShdw>
                </a:effectLst>
                <a:ea typeface="楷体_GB2312" pitchFamily="49" charset="-122"/>
              </a:rPr>
              <a:t>初始基本可行解</a:t>
            </a:r>
          </a:p>
        </p:txBody>
      </p:sp>
      <p:sp>
        <p:nvSpPr>
          <p:cNvPr id="36" name="AutoShape 5">
            <a:extLst>
              <a:ext uri="{FF2B5EF4-FFF2-40B4-BE49-F238E27FC236}">
                <a16:creationId xmlns:a16="http://schemas.microsoft.com/office/drawing/2014/main" id="{01722985-CFB8-493F-AB50-2E467404B267}"/>
              </a:ext>
            </a:extLst>
          </p:cNvPr>
          <p:cNvSpPr>
            <a:spLocks noChangeArrowheads="1"/>
          </p:cNvSpPr>
          <p:nvPr/>
        </p:nvSpPr>
        <p:spPr bwMode="auto">
          <a:xfrm>
            <a:off x="2424113" y="2532063"/>
            <a:ext cx="2667000" cy="914400"/>
          </a:xfrm>
          <a:prstGeom prst="diamond">
            <a:avLst/>
          </a:prstGeom>
          <a:solidFill>
            <a:srgbClr val="FFFF66"/>
          </a:solidFill>
          <a:ln w="9525" algn="ctr">
            <a:solidFill>
              <a:srgbClr val="008000"/>
            </a:solidFill>
            <a:miter lim="800000"/>
            <a:headEnd/>
            <a:tailEnd/>
          </a:ln>
          <a:effectLst/>
        </p:spPr>
        <p:txBody>
          <a:bodyPr wrap="none" anchor="ctr"/>
          <a:lstStyle/>
          <a:p>
            <a:pPr>
              <a:defRPr/>
            </a:pPr>
            <a:r>
              <a:rPr kumimoji="1" lang="zh-CN" altLang="en-US" sz="2400" dirty="0">
                <a:solidFill>
                  <a:srgbClr val="FF00FF"/>
                </a:solidFill>
                <a:effectLst>
                  <a:outerShdw blurRad="38100" dist="38100" dir="2700000" algn="tl">
                    <a:srgbClr val="000000"/>
                  </a:outerShdw>
                </a:effectLst>
                <a:ea typeface="楷体_GB2312" pitchFamily="49" charset="-122"/>
              </a:rPr>
              <a:t>是否最优</a:t>
            </a:r>
          </a:p>
        </p:txBody>
      </p:sp>
      <p:sp>
        <p:nvSpPr>
          <p:cNvPr id="37" name="Rectangle 6">
            <a:extLst>
              <a:ext uri="{FF2B5EF4-FFF2-40B4-BE49-F238E27FC236}">
                <a16:creationId xmlns:a16="http://schemas.microsoft.com/office/drawing/2014/main" id="{7A066446-A221-4384-B479-5990569098D4}"/>
              </a:ext>
            </a:extLst>
          </p:cNvPr>
          <p:cNvSpPr>
            <a:spLocks noChangeArrowheads="1"/>
          </p:cNvSpPr>
          <p:nvPr/>
        </p:nvSpPr>
        <p:spPr bwMode="auto">
          <a:xfrm>
            <a:off x="1890713" y="4284663"/>
            <a:ext cx="4038600" cy="914400"/>
          </a:xfrm>
          <a:prstGeom prst="rect">
            <a:avLst/>
          </a:prstGeom>
          <a:solidFill>
            <a:srgbClr val="FFFF66"/>
          </a:solidFill>
          <a:ln w="9525" algn="ctr">
            <a:solidFill>
              <a:srgbClr val="008000"/>
            </a:solidFill>
            <a:miter lim="800000"/>
            <a:headEnd/>
            <a:tailEnd/>
          </a:ln>
          <a:effectLst/>
        </p:spPr>
        <p:txBody>
          <a:bodyPr wrap="none" anchor="ctr"/>
          <a:lstStyle/>
          <a:p>
            <a:pPr>
              <a:defRPr/>
            </a:pPr>
            <a:r>
              <a:rPr kumimoji="1" lang="zh-CN" altLang="en-US" sz="2400" dirty="0">
                <a:solidFill>
                  <a:srgbClr val="FF00FF"/>
                </a:solidFill>
                <a:effectLst>
                  <a:outerShdw blurRad="38100" dist="38100" dir="2700000" algn="tl">
                    <a:srgbClr val="000000"/>
                  </a:outerShdw>
                </a:effectLst>
                <a:ea typeface="楷体_GB2312" pitchFamily="49" charset="-122"/>
              </a:rPr>
              <a:t>转移</a:t>
            </a:r>
            <a:r>
              <a:rPr kumimoji="1" lang="zh-CN" altLang="en-US" sz="2400" dirty="0">
                <a:solidFill>
                  <a:schemeClr val="tx2"/>
                </a:solidFill>
                <a:effectLst>
                  <a:outerShdw blurRad="38100" dist="38100" dir="2700000" algn="tl">
                    <a:srgbClr val="000000"/>
                  </a:outerShdw>
                </a:effectLst>
                <a:ea typeface="楷体_GB2312" pitchFamily="49" charset="-122"/>
              </a:rPr>
              <a:t>到另一个基本可行解</a:t>
            </a:r>
          </a:p>
          <a:p>
            <a:pPr>
              <a:defRPr/>
            </a:pPr>
            <a:r>
              <a:rPr kumimoji="1" lang="zh-CN" altLang="en-US" sz="2400" dirty="0">
                <a:solidFill>
                  <a:schemeClr val="tx2"/>
                </a:solidFill>
                <a:effectLst>
                  <a:outerShdw blurRad="38100" dist="38100" dir="2700000" algn="tl">
                    <a:srgbClr val="000000"/>
                  </a:outerShdw>
                </a:effectLst>
                <a:ea typeface="楷体_GB2312" pitchFamily="49" charset="-122"/>
              </a:rPr>
              <a:t>（找出更大的目标函数值）</a:t>
            </a:r>
          </a:p>
        </p:txBody>
      </p:sp>
      <p:sp>
        <p:nvSpPr>
          <p:cNvPr id="38" name="Rectangle 7">
            <a:extLst>
              <a:ext uri="{FF2B5EF4-FFF2-40B4-BE49-F238E27FC236}">
                <a16:creationId xmlns:a16="http://schemas.microsoft.com/office/drawing/2014/main" id="{84A4F9F9-6020-404C-8EC0-54F6123E2F1D}"/>
              </a:ext>
            </a:extLst>
          </p:cNvPr>
          <p:cNvSpPr>
            <a:spLocks noChangeArrowheads="1"/>
          </p:cNvSpPr>
          <p:nvPr/>
        </p:nvSpPr>
        <p:spPr bwMode="auto">
          <a:xfrm>
            <a:off x="6234113" y="2760663"/>
            <a:ext cx="1196975" cy="533400"/>
          </a:xfrm>
          <a:prstGeom prst="rect">
            <a:avLst/>
          </a:prstGeom>
          <a:solidFill>
            <a:srgbClr val="FFFF66"/>
          </a:solidFill>
          <a:ln w="9525" algn="ctr">
            <a:solidFill>
              <a:srgbClr val="008000"/>
            </a:solidFill>
            <a:miter lim="800000"/>
            <a:headEnd/>
            <a:tailEnd/>
          </a:ln>
          <a:effectLst/>
        </p:spPr>
        <p:txBody>
          <a:bodyPr wrap="none" anchor="ctr"/>
          <a:lstStyle/>
          <a:p>
            <a:pPr>
              <a:defRPr/>
            </a:pPr>
            <a:r>
              <a:rPr kumimoji="1" lang="zh-CN" altLang="en-US" sz="2400">
                <a:solidFill>
                  <a:schemeClr val="tx2"/>
                </a:solidFill>
                <a:effectLst>
                  <a:outerShdw blurRad="38100" dist="38100" dir="2700000" algn="tl">
                    <a:srgbClr val="000000"/>
                  </a:outerShdw>
                </a:effectLst>
                <a:ea typeface="楷体_GB2312" pitchFamily="49" charset="-122"/>
              </a:rPr>
              <a:t>最优解</a:t>
            </a:r>
          </a:p>
        </p:txBody>
      </p:sp>
      <p:sp>
        <p:nvSpPr>
          <p:cNvPr id="31751" name="Line 8">
            <a:extLst>
              <a:ext uri="{FF2B5EF4-FFF2-40B4-BE49-F238E27FC236}">
                <a16:creationId xmlns:a16="http://schemas.microsoft.com/office/drawing/2014/main" id="{A1A53A69-5940-467D-957E-E3D090BD1DB9}"/>
              </a:ext>
            </a:extLst>
          </p:cNvPr>
          <p:cNvSpPr>
            <a:spLocks noChangeShapeType="1"/>
          </p:cNvSpPr>
          <p:nvPr/>
        </p:nvSpPr>
        <p:spPr bwMode="auto">
          <a:xfrm>
            <a:off x="3795713" y="1693863"/>
            <a:ext cx="0" cy="8382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2" name="Line 9">
            <a:extLst>
              <a:ext uri="{FF2B5EF4-FFF2-40B4-BE49-F238E27FC236}">
                <a16:creationId xmlns:a16="http://schemas.microsoft.com/office/drawing/2014/main" id="{8AF95088-842C-4F0B-AE8B-9819E32C27B1}"/>
              </a:ext>
            </a:extLst>
          </p:cNvPr>
          <p:cNvSpPr>
            <a:spLocks noChangeShapeType="1"/>
          </p:cNvSpPr>
          <p:nvPr/>
        </p:nvSpPr>
        <p:spPr bwMode="auto">
          <a:xfrm>
            <a:off x="3795713" y="3446463"/>
            <a:ext cx="0" cy="8382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3" name="Line 10">
            <a:extLst>
              <a:ext uri="{FF2B5EF4-FFF2-40B4-BE49-F238E27FC236}">
                <a16:creationId xmlns:a16="http://schemas.microsoft.com/office/drawing/2014/main" id="{3F3B151B-1DC9-4AAC-A289-11828CBA6B62}"/>
              </a:ext>
            </a:extLst>
          </p:cNvPr>
          <p:cNvSpPr>
            <a:spLocks noChangeShapeType="1"/>
          </p:cNvSpPr>
          <p:nvPr/>
        </p:nvSpPr>
        <p:spPr bwMode="auto">
          <a:xfrm>
            <a:off x="5091113" y="2989263"/>
            <a:ext cx="1143000" cy="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4" name="Line 11">
            <a:extLst>
              <a:ext uri="{FF2B5EF4-FFF2-40B4-BE49-F238E27FC236}">
                <a16:creationId xmlns:a16="http://schemas.microsoft.com/office/drawing/2014/main" id="{F5266F6D-8F5C-4DA0-B312-53890A81C8AB}"/>
              </a:ext>
            </a:extLst>
          </p:cNvPr>
          <p:cNvSpPr>
            <a:spLocks noChangeShapeType="1"/>
          </p:cNvSpPr>
          <p:nvPr/>
        </p:nvSpPr>
        <p:spPr bwMode="auto">
          <a:xfrm>
            <a:off x="1052513" y="2989263"/>
            <a:ext cx="1371600" cy="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5" name="Line 12">
            <a:extLst>
              <a:ext uri="{FF2B5EF4-FFF2-40B4-BE49-F238E27FC236}">
                <a16:creationId xmlns:a16="http://schemas.microsoft.com/office/drawing/2014/main" id="{410885F0-55FC-480C-9BD0-7A5D6CEDFD01}"/>
              </a:ext>
            </a:extLst>
          </p:cNvPr>
          <p:cNvSpPr>
            <a:spLocks noChangeShapeType="1"/>
          </p:cNvSpPr>
          <p:nvPr/>
        </p:nvSpPr>
        <p:spPr bwMode="auto">
          <a:xfrm>
            <a:off x="1052513" y="2989263"/>
            <a:ext cx="0" cy="1752600"/>
          </a:xfrm>
          <a:prstGeom prst="line">
            <a:avLst/>
          </a:prstGeom>
          <a:noFill/>
          <a:ln w="2857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6" name="Line 13">
            <a:extLst>
              <a:ext uri="{FF2B5EF4-FFF2-40B4-BE49-F238E27FC236}">
                <a16:creationId xmlns:a16="http://schemas.microsoft.com/office/drawing/2014/main" id="{A90B8D65-B922-4938-83E5-C32532467FA0}"/>
              </a:ext>
            </a:extLst>
          </p:cNvPr>
          <p:cNvSpPr>
            <a:spLocks noChangeShapeType="1"/>
          </p:cNvSpPr>
          <p:nvPr/>
        </p:nvSpPr>
        <p:spPr bwMode="auto">
          <a:xfrm>
            <a:off x="1052513" y="4741863"/>
            <a:ext cx="838200" cy="0"/>
          </a:xfrm>
          <a:prstGeom prst="line">
            <a:avLst/>
          </a:prstGeom>
          <a:noFill/>
          <a:ln w="2857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 name="Text Box 14">
            <a:extLst>
              <a:ext uri="{FF2B5EF4-FFF2-40B4-BE49-F238E27FC236}">
                <a16:creationId xmlns:a16="http://schemas.microsoft.com/office/drawing/2014/main" id="{D4D0C67C-498C-4B44-9F50-A10706729C1F}"/>
              </a:ext>
            </a:extLst>
          </p:cNvPr>
          <p:cNvSpPr txBox="1">
            <a:spLocks noChangeArrowheads="1"/>
          </p:cNvSpPr>
          <p:nvPr/>
        </p:nvSpPr>
        <p:spPr bwMode="auto">
          <a:xfrm>
            <a:off x="5395913" y="2636838"/>
            <a:ext cx="388937" cy="336550"/>
          </a:xfrm>
          <a:prstGeom prst="rect">
            <a:avLst/>
          </a:prstGeom>
          <a:noFill/>
          <a:ln>
            <a:noFill/>
          </a:ln>
          <a:effectLst/>
        </p:spPr>
        <p:txBody>
          <a:bodyPr wrap="none">
            <a:spAutoFit/>
          </a:bodyPr>
          <a:lstStyle/>
          <a:p>
            <a:pPr>
              <a:defRPr/>
            </a:pPr>
            <a:r>
              <a:rPr kumimoji="1" lang="zh-CN" altLang="en-US" sz="1600">
                <a:solidFill>
                  <a:srgbClr val="CC0000"/>
                </a:solidFill>
                <a:effectLst>
                  <a:outerShdw blurRad="38100" dist="38100" dir="2700000" algn="tl">
                    <a:srgbClr val="000000"/>
                  </a:outerShdw>
                </a:effectLst>
                <a:ea typeface="楷体_GB2312" pitchFamily="49" charset="-122"/>
              </a:rPr>
              <a:t>是</a:t>
            </a:r>
          </a:p>
        </p:txBody>
      </p:sp>
      <p:sp>
        <p:nvSpPr>
          <p:cNvPr id="46" name="Text Box 15">
            <a:extLst>
              <a:ext uri="{FF2B5EF4-FFF2-40B4-BE49-F238E27FC236}">
                <a16:creationId xmlns:a16="http://schemas.microsoft.com/office/drawing/2014/main" id="{CD295213-2837-4EE6-AE3D-52C88EFD3C49}"/>
              </a:ext>
            </a:extLst>
          </p:cNvPr>
          <p:cNvSpPr txBox="1">
            <a:spLocks noChangeArrowheads="1"/>
          </p:cNvSpPr>
          <p:nvPr/>
        </p:nvSpPr>
        <p:spPr bwMode="auto">
          <a:xfrm>
            <a:off x="3262313" y="3617913"/>
            <a:ext cx="388937" cy="336550"/>
          </a:xfrm>
          <a:prstGeom prst="rect">
            <a:avLst/>
          </a:prstGeom>
          <a:noFill/>
          <a:ln>
            <a:noFill/>
          </a:ln>
          <a:effectLst/>
        </p:spPr>
        <p:txBody>
          <a:bodyPr wrap="none">
            <a:spAutoFit/>
          </a:bodyPr>
          <a:lstStyle/>
          <a:p>
            <a:pPr>
              <a:defRPr/>
            </a:pPr>
            <a:r>
              <a:rPr kumimoji="1" lang="zh-CN" altLang="en-US" sz="1600">
                <a:solidFill>
                  <a:srgbClr val="CC0000"/>
                </a:solidFill>
                <a:effectLst>
                  <a:outerShdw blurRad="38100" dist="38100" dir="2700000" algn="tl">
                    <a:srgbClr val="000000"/>
                  </a:outerShdw>
                </a:effectLst>
                <a:ea typeface="楷体_GB2312" pitchFamily="49" charset="-122"/>
              </a:rPr>
              <a:t>否</a:t>
            </a:r>
          </a:p>
        </p:txBody>
      </p:sp>
      <p:sp>
        <p:nvSpPr>
          <p:cNvPr id="47" name="Text Box 16">
            <a:extLst>
              <a:ext uri="{FF2B5EF4-FFF2-40B4-BE49-F238E27FC236}">
                <a16:creationId xmlns:a16="http://schemas.microsoft.com/office/drawing/2014/main" id="{00A6EDD9-0FA8-4B54-BC78-E4F06B3DCF21}"/>
              </a:ext>
            </a:extLst>
          </p:cNvPr>
          <p:cNvSpPr txBox="1">
            <a:spLocks noChangeArrowheads="1"/>
          </p:cNvSpPr>
          <p:nvPr/>
        </p:nvSpPr>
        <p:spPr bwMode="auto">
          <a:xfrm>
            <a:off x="519113" y="3389313"/>
            <a:ext cx="388937" cy="581025"/>
          </a:xfrm>
          <a:prstGeom prst="rect">
            <a:avLst/>
          </a:prstGeom>
          <a:noFill/>
          <a:ln>
            <a:noFill/>
          </a:ln>
          <a:effectLst/>
        </p:spPr>
        <p:txBody>
          <a:bodyPr wrap="none">
            <a:spAutoFit/>
          </a:bodyPr>
          <a:lstStyle/>
          <a:p>
            <a:pPr>
              <a:defRPr/>
            </a:pPr>
            <a:r>
              <a:rPr kumimoji="1" lang="zh-CN" altLang="en-US" sz="1600">
                <a:solidFill>
                  <a:srgbClr val="CC0000"/>
                </a:solidFill>
                <a:effectLst>
                  <a:outerShdw blurRad="38100" dist="38100" dir="2700000" algn="tl">
                    <a:srgbClr val="000000"/>
                  </a:outerShdw>
                </a:effectLst>
                <a:ea typeface="楷体_GB2312" pitchFamily="49" charset="-122"/>
              </a:rPr>
              <a:t>循</a:t>
            </a:r>
          </a:p>
          <a:p>
            <a:pPr>
              <a:defRPr/>
            </a:pPr>
            <a:r>
              <a:rPr kumimoji="1" lang="zh-CN" altLang="en-US" sz="1600">
                <a:solidFill>
                  <a:srgbClr val="CC0000"/>
                </a:solidFill>
                <a:effectLst>
                  <a:outerShdw blurRad="38100" dist="38100" dir="2700000" algn="tl">
                    <a:srgbClr val="000000"/>
                  </a:outerShdw>
                </a:effectLst>
                <a:ea typeface="楷体_GB2312" pitchFamily="49" charset="-122"/>
              </a:rPr>
              <a:t>环</a:t>
            </a:r>
          </a:p>
        </p:txBody>
      </p:sp>
      <p:sp>
        <p:nvSpPr>
          <p:cNvPr id="48" name="Text Box 17">
            <a:extLst>
              <a:ext uri="{FF2B5EF4-FFF2-40B4-BE49-F238E27FC236}">
                <a16:creationId xmlns:a16="http://schemas.microsoft.com/office/drawing/2014/main" id="{1EFCC13B-BEDC-46DE-BA7B-8ECBF32170EB}"/>
              </a:ext>
            </a:extLst>
          </p:cNvPr>
          <p:cNvSpPr txBox="1">
            <a:spLocks noChangeArrowheads="1"/>
          </p:cNvSpPr>
          <p:nvPr/>
        </p:nvSpPr>
        <p:spPr bwMode="auto">
          <a:xfrm>
            <a:off x="4195763" y="5526088"/>
            <a:ext cx="4186237" cy="461962"/>
          </a:xfrm>
          <a:prstGeom prst="rect">
            <a:avLst/>
          </a:prstGeom>
          <a:noFill/>
          <a:ln w="9525">
            <a:solidFill>
              <a:schemeClr val="tx1"/>
            </a:solidFill>
            <a:miter lim="800000"/>
            <a:headEnd/>
            <a:tailEnd/>
          </a:ln>
          <a:effectLst/>
        </p:spPr>
        <p:txBody>
          <a:bodyPr wrap="none">
            <a:spAutoFit/>
          </a:bodyPr>
          <a:lstStyle/>
          <a:p>
            <a:pPr>
              <a:defRPr/>
            </a:pPr>
            <a:r>
              <a:rPr kumimoji="1" lang="zh-CN" altLang="en-US" sz="2400" dirty="0">
                <a:solidFill>
                  <a:schemeClr val="tx2"/>
                </a:solidFill>
                <a:effectLst>
                  <a:outerShdw blurRad="38100" dist="38100" dir="2700000" algn="tl">
                    <a:srgbClr val="000000"/>
                  </a:outerShdw>
                </a:effectLst>
              </a:rPr>
              <a:t>核心是：顶点转移（基变换）</a:t>
            </a:r>
          </a:p>
        </p:txBody>
      </p:sp>
      <p:sp>
        <p:nvSpPr>
          <p:cNvPr id="31761" name="Line 18">
            <a:extLst>
              <a:ext uri="{FF2B5EF4-FFF2-40B4-BE49-F238E27FC236}">
                <a16:creationId xmlns:a16="http://schemas.microsoft.com/office/drawing/2014/main" id="{9A962D52-B097-4215-942D-36E1B08DFD0D}"/>
              </a:ext>
            </a:extLst>
          </p:cNvPr>
          <p:cNvSpPr>
            <a:spLocks noChangeShapeType="1"/>
          </p:cNvSpPr>
          <p:nvPr/>
        </p:nvSpPr>
        <p:spPr bwMode="auto">
          <a:xfrm>
            <a:off x="6767513" y="3294063"/>
            <a:ext cx="0" cy="4572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 name="AutoShape 20">
            <a:extLst>
              <a:ext uri="{FF2B5EF4-FFF2-40B4-BE49-F238E27FC236}">
                <a16:creationId xmlns:a16="http://schemas.microsoft.com/office/drawing/2014/main" id="{66185912-07C7-4AEA-9857-44C3D4421AD6}"/>
              </a:ext>
            </a:extLst>
          </p:cNvPr>
          <p:cNvSpPr>
            <a:spLocks noChangeArrowheads="1"/>
          </p:cNvSpPr>
          <p:nvPr/>
        </p:nvSpPr>
        <p:spPr bwMode="auto">
          <a:xfrm>
            <a:off x="6278563" y="3719513"/>
            <a:ext cx="1011237" cy="617537"/>
          </a:xfrm>
          <a:prstGeom prst="flowChartTerminator">
            <a:avLst/>
          </a:prstGeom>
          <a:solidFill>
            <a:srgbClr val="FFFF66"/>
          </a:solidFill>
          <a:ln w="9525" algn="ctr">
            <a:solidFill>
              <a:srgbClr val="008000"/>
            </a:solidFill>
            <a:miter lim="800000"/>
            <a:headEnd/>
            <a:tailEnd/>
          </a:ln>
          <a:effectLst/>
        </p:spPr>
        <p:txBody>
          <a:bodyPr wrap="none" anchor="ctr"/>
          <a:lstStyle/>
          <a:p>
            <a:pPr>
              <a:defRPr/>
            </a:pPr>
            <a:r>
              <a:rPr kumimoji="1" lang="zh-CN" altLang="en-US" sz="2400">
                <a:solidFill>
                  <a:schemeClr val="tx2"/>
                </a:solidFill>
                <a:effectLst>
                  <a:outerShdw blurRad="38100" dist="38100" dir="2700000" algn="tl">
                    <a:srgbClr val="000000"/>
                  </a:outerShdw>
                </a:effectLst>
                <a:ea typeface="楷体_GB2312" pitchFamily="49" charset="-122"/>
              </a:rPr>
              <a:t>结束</a:t>
            </a:r>
          </a:p>
        </p:txBody>
      </p:sp>
      <p:sp>
        <p:nvSpPr>
          <p:cNvPr id="51" name="Text Box 33">
            <a:extLst>
              <a:ext uri="{FF2B5EF4-FFF2-40B4-BE49-F238E27FC236}">
                <a16:creationId xmlns:a16="http://schemas.microsoft.com/office/drawing/2014/main" id="{1DA4E277-A60D-4EA3-87F9-93ECB9FC54E6}"/>
              </a:ext>
            </a:extLst>
          </p:cNvPr>
          <p:cNvSpPr txBox="1">
            <a:spLocks noChangeArrowheads="1"/>
          </p:cNvSpPr>
          <p:nvPr/>
        </p:nvSpPr>
        <p:spPr bwMode="auto">
          <a:xfrm>
            <a:off x="249238" y="5557838"/>
            <a:ext cx="3178175" cy="461962"/>
          </a:xfrm>
          <a:prstGeom prst="rect">
            <a:avLst/>
          </a:prstGeom>
          <a:noFill/>
          <a:ln w="9525">
            <a:solidFill>
              <a:schemeClr val="hlink"/>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28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buClrTx/>
              <a:buSzTx/>
              <a:buFontTx/>
              <a:buNone/>
              <a:defRPr/>
            </a:pPr>
            <a:r>
              <a:rPr kumimoji="1" lang="zh-CN" altLang="en-US" sz="2400" dirty="0">
                <a:solidFill>
                  <a:schemeClr val="tx2"/>
                </a:solidFill>
                <a:effectLst>
                  <a:outerShdw blurRad="38100" dist="38100" dir="2700000" algn="tl">
                    <a:srgbClr val="000000"/>
                  </a:outerShdw>
                </a:effectLst>
              </a:rPr>
              <a:t>前提：需化为标准型</a:t>
            </a:r>
          </a:p>
        </p:txBody>
      </p:sp>
      <p:graphicFrame>
        <p:nvGraphicFramePr>
          <p:cNvPr id="31764" name="Object 30">
            <a:extLst>
              <a:ext uri="{FF2B5EF4-FFF2-40B4-BE49-F238E27FC236}">
                <a16:creationId xmlns:a16="http://schemas.microsoft.com/office/drawing/2014/main" id="{686D7CBA-3493-42C9-BC31-D5D0409AEF22}"/>
              </a:ext>
            </a:extLst>
          </p:cNvPr>
          <p:cNvGraphicFramePr>
            <a:graphicFrameLocks noChangeAspect="1"/>
          </p:cNvGraphicFramePr>
          <p:nvPr/>
        </p:nvGraphicFramePr>
        <p:xfrm>
          <a:off x="5905500" y="382588"/>
          <a:ext cx="2365375" cy="2301875"/>
        </p:xfrm>
        <a:graphic>
          <a:graphicData uri="http://schemas.openxmlformats.org/presentationml/2006/ole">
            <mc:AlternateContent xmlns:mc="http://schemas.openxmlformats.org/markup-compatibility/2006">
              <mc:Choice xmlns:v="urn:schemas-microsoft-com:vml" Requires="v">
                <p:oleObj spid="_x0000_s31771" name="图片" r:id="rId3" imgW="2058541" imgH="1941388" progId="Word.Picture.8">
                  <p:embed/>
                </p:oleObj>
              </mc:Choice>
              <mc:Fallback>
                <p:oleObj name="图片" r:id="rId3" imgW="2058541" imgH="1941388" progId="Word.Picture.8">
                  <p:embed/>
                  <p:pic>
                    <p:nvPicPr>
                      <p:cNvPr id="0" name="Object 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05500" y="382588"/>
                        <a:ext cx="2365375" cy="2301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4">
            <a:extLst>
              <a:ext uri="{FF2B5EF4-FFF2-40B4-BE49-F238E27FC236}">
                <a16:creationId xmlns:a16="http://schemas.microsoft.com/office/drawing/2014/main" id="{E1EC0E5B-D94A-4366-8079-5D0CBBD49F76}"/>
              </a:ext>
            </a:extLst>
          </p:cNvPr>
          <p:cNvSpPr txBox="1">
            <a:spLocks noChangeArrowheads="1"/>
          </p:cNvSpPr>
          <p:nvPr/>
        </p:nvSpPr>
        <p:spPr bwMode="auto">
          <a:xfrm>
            <a:off x="304800" y="914400"/>
            <a:ext cx="868680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a:latin typeface="宋体" panose="02010600030101010101" pitchFamily="2" charset="-122"/>
              </a:rPr>
              <a:t>例：某部门有</a:t>
            </a:r>
            <a:r>
              <a:rPr kumimoji="1" lang="en-US" altLang="zh-CN" sz="2800" b="1">
                <a:latin typeface="宋体" panose="02010600030101010101" pitchFamily="2" charset="-122"/>
              </a:rPr>
              <a:t>3</a:t>
            </a:r>
            <a:r>
              <a:rPr kumimoji="1" lang="zh-CN" altLang="en-US" sz="2800" b="1">
                <a:latin typeface="宋体" panose="02010600030101010101" pitchFamily="2" charset="-122"/>
              </a:rPr>
              <a:t>个生产同类产品的三个工厂（产地）， 生产的产品由四个销售点（销地）出售，各厂的生产量，各地销量及工厂到销地的运费（单位运价）如下表所示，求最优的运输方案。</a:t>
            </a:r>
          </a:p>
        </p:txBody>
      </p:sp>
      <p:graphicFrame>
        <p:nvGraphicFramePr>
          <p:cNvPr id="152692" name="Group 116">
            <a:extLst>
              <a:ext uri="{FF2B5EF4-FFF2-40B4-BE49-F238E27FC236}">
                <a16:creationId xmlns:a16="http://schemas.microsoft.com/office/drawing/2014/main" id="{763A27B6-D907-49B6-B3D0-FCAAFE099C7B}"/>
              </a:ext>
            </a:extLst>
          </p:cNvPr>
          <p:cNvGraphicFramePr>
            <a:graphicFrameLocks noGrp="1"/>
          </p:cNvGraphicFramePr>
          <p:nvPr/>
        </p:nvGraphicFramePr>
        <p:xfrm>
          <a:off x="762000" y="2908300"/>
          <a:ext cx="7772400" cy="3657600"/>
        </p:xfrm>
        <a:graphic>
          <a:graphicData uri="http://schemas.openxmlformats.org/drawingml/2006/table">
            <a:tbl>
              <a:tblPr/>
              <a:tblGrid>
                <a:gridCol w="963613">
                  <a:extLst>
                    <a:ext uri="{9D8B030D-6E8A-4147-A177-3AD203B41FA5}">
                      <a16:colId xmlns:a16="http://schemas.microsoft.com/office/drawing/2014/main" val="20000"/>
                    </a:ext>
                  </a:extLst>
                </a:gridCol>
                <a:gridCol w="717550">
                  <a:extLst>
                    <a:ext uri="{9D8B030D-6E8A-4147-A177-3AD203B41FA5}">
                      <a16:colId xmlns:a16="http://schemas.microsoft.com/office/drawing/2014/main" val="20001"/>
                    </a:ext>
                  </a:extLst>
                </a:gridCol>
                <a:gridCol w="720725">
                  <a:extLst>
                    <a:ext uri="{9D8B030D-6E8A-4147-A177-3AD203B41FA5}">
                      <a16:colId xmlns:a16="http://schemas.microsoft.com/office/drawing/2014/main" val="20002"/>
                    </a:ext>
                  </a:extLst>
                </a:gridCol>
                <a:gridCol w="760412">
                  <a:extLst>
                    <a:ext uri="{9D8B030D-6E8A-4147-A177-3AD203B41FA5}">
                      <a16:colId xmlns:a16="http://schemas.microsoft.com/office/drawing/2014/main" val="20003"/>
                    </a:ext>
                  </a:extLst>
                </a:gridCol>
                <a:gridCol w="679450">
                  <a:extLst>
                    <a:ext uri="{9D8B030D-6E8A-4147-A177-3AD203B41FA5}">
                      <a16:colId xmlns:a16="http://schemas.microsoft.com/office/drawing/2014/main" val="20004"/>
                    </a:ext>
                  </a:extLst>
                </a:gridCol>
                <a:gridCol w="730250">
                  <a:extLst>
                    <a:ext uri="{9D8B030D-6E8A-4147-A177-3AD203B41FA5}">
                      <a16:colId xmlns:a16="http://schemas.microsoft.com/office/drawing/2014/main" val="20005"/>
                    </a:ext>
                  </a:extLst>
                </a:gridCol>
                <a:gridCol w="709613">
                  <a:extLst>
                    <a:ext uri="{9D8B030D-6E8A-4147-A177-3AD203B41FA5}">
                      <a16:colId xmlns:a16="http://schemas.microsoft.com/office/drawing/2014/main" val="20006"/>
                    </a:ext>
                  </a:extLst>
                </a:gridCol>
                <a:gridCol w="719137">
                  <a:extLst>
                    <a:ext uri="{9D8B030D-6E8A-4147-A177-3AD203B41FA5}">
                      <a16:colId xmlns:a16="http://schemas.microsoft.com/office/drawing/2014/main" val="20007"/>
                    </a:ext>
                  </a:extLst>
                </a:gridCol>
                <a:gridCol w="720725">
                  <a:extLst>
                    <a:ext uri="{9D8B030D-6E8A-4147-A177-3AD203B41FA5}">
                      <a16:colId xmlns:a16="http://schemas.microsoft.com/office/drawing/2014/main" val="20008"/>
                    </a:ext>
                  </a:extLst>
                </a:gridCol>
                <a:gridCol w="1050925">
                  <a:extLst>
                    <a:ext uri="{9D8B030D-6E8A-4147-A177-3AD203B41FA5}">
                      <a16:colId xmlns:a16="http://schemas.microsoft.com/office/drawing/2014/main" val="20009"/>
                    </a:ext>
                  </a:extLst>
                </a:gridCol>
              </a:tblGrid>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a:extLst>
              <a:ext uri="{FF2B5EF4-FFF2-40B4-BE49-F238E27FC236}">
                <a16:creationId xmlns:a16="http://schemas.microsoft.com/office/drawing/2014/main" id="{CA341C72-F54C-4FB7-AC4B-C1295B32DAE3}"/>
              </a:ext>
            </a:extLst>
          </p:cNvPr>
          <p:cNvSpPr txBox="1">
            <a:spLocks noChangeArrowheads="1"/>
          </p:cNvSpPr>
          <p:nvPr/>
        </p:nvSpPr>
        <p:spPr>
          <a:xfrm>
            <a:off x="457200" y="155575"/>
            <a:ext cx="8229600" cy="911225"/>
          </a:xfrm>
          <a:prstGeom prst="rect">
            <a:avLst/>
          </a:prstGeom>
        </p:spPr>
        <p:txBody>
          <a:bodyPr/>
          <a:lstStyle>
            <a:lvl1pPr algn="l" rtl="0" eaLnBrk="0" fontAlgn="base" hangingPunct="0">
              <a:spcBef>
                <a:spcPct val="0"/>
              </a:spcBef>
              <a:spcAft>
                <a:spcPct val="0"/>
              </a:spcAft>
              <a:defRPr sz="4200" b="1">
                <a:solidFill>
                  <a:schemeClr val="tx2"/>
                </a:solidFill>
                <a:latin typeface="+mj-lt"/>
                <a:ea typeface="+mj-ea"/>
                <a:cs typeface="+mj-cs"/>
              </a:defRPr>
            </a:lvl1pPr>
            <a:lvl2pPr algn="l" rtl="0" eaLnBrk="0" fontAlgn="base" hangingPunct="0">
              <a:spcBef>
                <a:spcPct val="0"/>
              </a:spcBef>
              <a:spcAft>
                <a:spcPct val="0"/>
              </a:spcAft>
              <a:defRPr sz="4200" b="1">
                <a:solidFill>
                  <a:schemeClr val="tx2"/>
                </a:solidFill>
                <a:latin typeface="Garamond" pitchFamily="18" charset="0"/>
                <a:ea typeface="宋体" pitchFamily="2" charset="-122"/>
              </a:defRPr>
            </a:lvl2pPr>
            <a:lvl3pPr algn="l" rtl="0" eaLnBrk="0" fontAlgn="base" hangingPunct="0">
              <a:spcBef>
                <a:spcPct val="0"/>
              </a:spcBef>
              <a:spcAft>
                <a:spcPct val="0"/>
              </a:spcAft>
              <a:defRPr sz="4200" b="1">
                <a:solidFill>
                  <a:schemeClr val="tx2"/>
                </a:solidFill>
                <a:latin typeface="Garamond" pitchFamily="18" charset="0"/>
                <a:ea typeface="宋体" pitchFamily="2" charset="-122"/>
              </a:defRPr>
            </a:lvl3pPr>
            <a:lvl4pPr algn="l" rtl="0" eaLnBrk="0" fontAlgn="base" hangingPunct="0">
              <a:spcBef>
                <a:spcPct val="0"/>
              </a:spcBef>
              <a:spcAft>
                <a:spcPct val="0"/>
              </a:spcAft>
              <a:defRPr sz="4200" b="1">
                <a:solidFill>
                  <a:schemeClr val="tx2"/>
                </a:solidFill>
                <a:latin typeface="Garamond" pitchFamily="18" charset="0"/>
                <a:ea typeface="宋体" pitchFamily="2" charset="-122"/>
              </a:defRPr>
            </a:lvl4pPr>
            <a:lvl5pPr algn="l" rtl="0" eaLnBrk="0" fontAlgn="base" hangingPunct="0">
              <a:spcBef>
                <a:spcPct val="0"/>
              </a:spcBef>
              <a:spcAft>
                <a:spcPct val="0"/>
              </a:spcAft>
              <a:defRPr sz="4200" b="1">
                <a:solidFill>
                  <a:schemeClr val="tx2"/>
                </a:solidFill>
                <a:latin typeface="Garamond" pitchFamily="18" charset="0"/>
                <a:ea typeface="宋体" pitchFamily="2" charset="-122"/>
              </a:defRPr>
            </a:lvl5pPr>
            <a:lvl6pPr marL="457200" algn="l" rtl="0" fontAlgn="base">
              <a:spcBef>
                <a:spcPct val="0"/>
              </a:spcBef>
              <a:spcAft>
                <a:spcPct val="0"/>
              </a:spcAft>
              <a:defRPr sz="4200" b="1">
                <a:solidFill>
                  <a:schemeClr val="tx2"/>
                </a:solidFill>
                <a:latin typeface="Garamond" pitchFamily="18" charset="0"/>
                <a:ea typeface="宋体" pitchFamily="2" charset="-122"/>
              </a:defRPr>
            </a:lvl6pPr>
            <a:lvl7pPr marL="914400" algn="l" rtl="0" fontAlgn="base">
              <a:spcBef>
                <a:spcPct val="0"/>
              </a:spcBef>
              <a:spcAft>
                <a:spcPct val="0"/>
              </a:spcAft>
              <a:defRPr sz="4200" b="1">
                <a:solidFill>
                  <a:schemeClr val="tx2"/>
                </a:solidFill>
                <a:latin typeface="Garamond" pitchFamily="18" charset="0"/>
                <a:ea typeface="宋体" pitchFamily="2" charset="-122"/>
              </a:defRPr>
            </a:lvl7pPr>
            <a:lvl8pPr marL="1371600" algn="l" rtl="0" fontAlgn="base">
              <a:spcBef>
                <a:spcPct val="0"/>
              </a:spcBef>
              <a:spcAft>
                <a:spcPct val="0"/>
              </a:spcAft>
              <a:defRPr sz="4200" b="1">
                <a:solidFill>
                  <a:schemeClr val="tx2"/>
                </a:solidFill>
                <a:latin typeface="Garamond" pitchFamily="18" charset="0"/>
                <a:ea typeface="宋体" pitchFamily="2" charset="-122"/>
              </a:defRPr>
            </a:lvl8pPr>
            <a:lvl9pPr marL="1828800" algn="l" rtl="0" fontAlgn="base">
              <a:spcBef>
                <a:spcPct val="0"/>
              </a:spcBef>
              <a:spcAft>
                <a:spcPct val="0"/>
              </a:spcAft>
              <a:defRPr sz="4200" b="1">
                <a:solidFill>
                  <a:schemeClr val="tx2"/>
                </a:solidFill>
                <a:latin typeface="Garamond" pitchFamily="18" charset="0"/>
                <a:ea typeface="宋体" pitchFamily="2" charset="-122"/>
              </a:defRPr>
            </a:lvl9pPr>
          </a:lstStyle>
          <a:p>
            <a:pPr eaLnBrk="1" hangingPunct="1">
              <a:defRPr/>
            </a:pPr>
            <a:r>
              <a:rPr lang="en-US" altLang="zh-CN" kern="0" dirty="0"/>
              <a:t>Lingo</a:t>
            </a:r>
            <a:r>
              <a:rPr lang="zh-CN" altLang="en-US" kern="0" dirty="0"/>
              <a:t>软件解决运输问题</a:t>
            </a:r>
          </a:p>
        </p:txBody>
      </p:sp>
      <p:sp>
        <p:nvSpPr>
          <p:cNvPr id="2" name="矩形 1">
            <a:extLst>
              <a:ext uri="{FF2B5EF4-FFF2-40B4-BE49-F238E27FC236}">
                <a16:creationId xmlns:a16="http://schemas.microsoft.com/office/drawing/2014/main" id="{064CFFB7-C9DC-4EFF-8D11-973DADDFF3F9}"/>
              </a:ext>
            </a:extLst>
          </p:cNvPr>
          <p:cNvSpPr/>
          <p:nvPr/>
        </p:nvSpPr>
        <p:spPr>
          <a:xfrm>
            <a:off x="4114800" y="1143000"/>
            <a:ext cx="4419600" cy="5354638"/>
          </a:xfrm>
          <a:prstGeom prst="rect">
            <a:avLst/>
          </a:prstGeom>
          <a:ln>
            <a:solidFill>
              <a:srgbClr val="FF0000"/>
            </a:solidFill>
          </a:ln>
        </p:spPr>
        <p:txBody>
          <a:bodyPr>
            <a:spAutoFit/>
          </a:bodyPr>
          <a:lstStyle/>
          <a:p>
            <a:pPr>
              <a:defRPr/>
            </a:pPr>
            <a:r>
              <a:rPr lang="en-US" altLang="zh-CN" b="1" kern="100" dirty="0">
                <a:latin typeface="Calibri" panose="020F0502020204030204" pitchFamily="34" charset="0"/>
                <a:cs typeface="Times New Roman" panose="02020603050405020304" pitchFamily="18" charset="0"/>
              </a:rPr>
              <a:t>Lingo</a:t>
            </a:r>
            <a:r>
              <a:rPr lang="zh-CN" altLang="zh-CN" b="1" kern="100" dirty="0">
                <a:latin typeface="Calibri" panose="020F0502020204030204" pitchFamily="34" charset="0"/>
                <a:cs typeface="Times New Roman" panose="02020603050405020304" pitchFamily="18" charset="0"/>
              </a:rPr>
              <a:t>源代码</a:t>
            </a:r>
            <a:endParaRPr lang="en-US" altLang="zh-CN" dirty="0">
              <a:solidFill>
                <a:srgbClr val="0000FF"/>
              </a:solidFill>
              <a:latin typeface="Courier New" panose="02070309020205020404" pitchFamily="49" charset="0"/>
            </a:endParaRPr>
          </a:p>
          <a:p>
            <a:pPr>
              <a:defRPr/>
            </a:pPr>
            <a:r>
              <a:rPr lang="en-US" altLang="zh-CN" dirty="0">
                <a:solidFill>
                  <a:srgbClr val="0000FF"/>
                </a:solidFill>
                <a:latin typeface="Courier New" panose="02070309020205020404" pitchFamily="49" charset="0"/>
              </a:rPr>
              <a:t>model</a:t>
            </a:r>
            <a:r>
              <a:rPr lang="en-US" altLang="zh-CN" dirty="0">
                <a:solidFill>
                  <a:srgbClr val="000000"/>
                </a:solidFill>
                <a:latin typeface="Courier New" panose="02070309020205020404" pitchFamily="49" charset="0"/>
              </a:rPr>
              <a:t>:</a:t>
            </a:r>
            <a:endParaRPr lang="zh-CN" altLang="en-US" dirty="0">
              <a:solidFill>
                <a:srgbClr val="000000"/>
              </a:solidFill>
              <a:latin typeface="Courier New" panose="02070309020205020404" pitchFamily="49" charset="0"/>
            </a:endParaRPr>
          </a:p>
          <a:p>
            <a:pPr>
              <a:defRPr/>
            </a:pPr>
            <a:r>
              <a:rPr lang="en-US" altLang="zh-CN" dirty="0">
                <a:solidFill>
                  <a:srgbClr val="0000FF"/>
                </a:solidFill>
                <a:latin typeface="Courier New" panose="02070309020205020404" pitchFamily="49" charset="0"/>
              </a:rPr>
              <a:t>min</a:t>
            </a:r>
            <a:r>
              <a:rPr lang="en-US" altLang="zh-CN" dirty="0">
                <a:solidFill>
                  <a:srgbClr val="000000"/>
                </a:solidFill>
                <a:latin typeface="Courier New" panose="02070309020205020404" pitchFamily="49" charset="0"/>
              </a:rPr>
              <a:t>= 3*x11+11*x12+3*x13+10*x14</a:t>
            </a:r>
            <a:endParaRPr lang="zh-CN" altLang="en-US" dirty="0">
              <a:solidFill>
                <a:srgbClr val="000000"/>
              </a:solidFill>
              <a:latin typeface="Courier New" panose="02070309020205020404" pitchFamily="49" charset="0"/>
            </a:endParaRPr>
          </a:p>
          <a:p>
            <a:pPr>
              <a:defRPr/>
            </a:pPr>
            <a:r>
              <a:rPr lang="zh-CN" altLang="en-US" dirty="0">
                <a:solidFill>
                  <a:srgbClr val="000000"/>
                </a:solidFill>
                <a:latin typeface="Courier New" panose="02070309020205020404" pitchFamily="49" charset="0"/>
              </a:rPr>
              <a:t>    </a:t>
            </a:r>
            <a:r>
              <a:rPr lang="en-US" altLang="zh-CN" dirty="0">
                <a:solidFill>
                  <a:srgbClr val="000000"/>
                </a:solidFill>
                <a:latin typeface="Courier New" panose="02070309020205020404" pitchFamily="49" charset="0"/>
              </a:rPr>
              <a:t>+1*x21+9*x22+2*x23+8*x24</a:t>
            </a:r>
            <a:endParaRPr lang="zh-CN" altLang="en-US" dirty="0">
              <a:solidFill>
                <a:srgbClr val="000000"/>
              </a:solidFill>
              <a:latin typeface="Courier New" panose="02070309020205020404" pitchFamily="49" charset="0"/>
            </a:endParaRPr>
          </a:p>
          <a:p>
            <a:pPr>
              <a:defRPr/>
            </a:pPr>
            <a:r>
              <a:rPr lang="zh-CN" altLang="en-US" dirty="0">
                <a:solidFill>
                  <a:srgbClr val="000000"/>
                </a:solidFill>
                <a:latin typeface="Courier New" panose="02070309020205020404" pitchFamily="49" charset="0"/>
              </a:rPr>
              <a:t>    </a:t>
            </a:r>
            <a:r>
              <a:rPr lang="en-US" altLang="zh-CN" dirty="0">
                <a:solidFill>
                  <a:srgbClr val="000000"/>
                </a:solidFill>
                <a:latin typeface="Courier New" panose="02070309020205020404" pitchFamily="49" charset="0"/>
              </a:rPr>
              <a:t>+7*x31+4*x32+10</a:t>
            </a:r>
            <a:r>
              <a:rPr lang="zh-CN" altLang="en-US" dirty="0">
                <a:solidFill>
                  <a:srgbClr val="000000"/>
                </a:solidFill>
                <a:latin typeface="Courier New" panose="02070309020205020404" pitchFamily="49" charset="0"/>
              </a:rPr>
              <a:t>*</a:t>
            </a:r>
            <a:r>
              <a:rPr lang="en-US" altLang="zh-CN" dirty="0">
                <a:solidFill>
                  <a:srgbClr val="000000"/>
                </a:solidFill>
                <a:latin typeface="Courier New" panose="02070309020205020404" pitchFamily="49" charset="0"/>
              </a:rPr>
              <a:t>x33+5*x34;</a:t>
            </a:r>
            <a:endParaRPr lang="zh-CN" altLang="en-US" dirty="0">
              <a:solidFill>
                <a:srgbClr val="000000"/>
              </a:solidFill>
              <a:latin typeface="Courier New" panose="02070309020205020404" pitchFamily="49" charset="0"/>
            </a:endParaRPr>
          </a:p>
          <a:p>
            <a:pPr>
              <a:defRPr/>
            </a:pPr>
            <a:r>
              <a:rPr lang="en-US" altLang="zh-CN" dirty="0">
                <a:solidFill>
                  <a:srgbClr val="00AF00"/>
                </a:solidFill>
                <a:latin typeface="Courier New" panose="02070309020205020404" pitchFamily="49" charset="0"/>
              </a:rPr>
              <a:t>!</a:t>
            </a:r>
            <a:r>
              <a:rPr lang="zh-CN" altLang="en-US" dirty="0">
                <a:solidFill>
                  <a:srgbClr val="00AF00"/>
                </a:solidFill>
                <a:latin typeface="Courier New" panose="02070309020205020404" pitchFamily="49" charset="0"/>
              </a:rPr>
              <a:t>产量条件</a:t>
            </a:r>
            <a:r>
              <a:rPr lang="en-US" altLang="zh-CN" dirty="0">
                <a:solidFill>
                  <a:srgbClr val="00AF00"/>
                </a:solidFill>
                <a:latin typeface="Courier New" panose="02070309020205020404" pitchFamily="49" charset="0"/>
              </a:rPr>
              <a:t>;</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[c1] x11+x12+x13+x14=7;</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[c2] x21+x22+x23+x24=4;</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[c3] x31+x32+x33+x34=9;</a:t>
            </a:r>
            <a:endParaRPr lang="zh-CN" altLang="en-US" dirty="0">
              <a:solidFill>
                <a:srgbClr val="000000"/>
              </a:solidFill>
              <a:latin typeface="Courier New" panose="02070309020205020404" pitchFamily="49" charset="0"/>
            </a:endParaRPr>
          </a:p>
          <a:p>
            <a:pPr>
              <a:defRPr/>
            </a:pPr>
            <a:r>
              <a:rPr lang="en-US" altLang="zh-CN" dirty="0">
                <a:solidFill>
                  <a:srgbClr val="00AF00"/>
                </a:solidFill>
                <a:latin typeface="Courier New" panose="02070309020205020404" pitchFamily="49" charset="0"/>
              </a:rPr>
              <a:t>!</a:t>
            </a:r>
            <a:r>
              <a:rPr lang="zh-CN" altLang="en-US" dirty="0">
                <a:solidFill>
                  <a:srgbClr val="00AF00"/>
                </a:solidFill>
                <a:latin typeface="Courier New" panose="02070309020205020404" pitchFamily="49" charset="0"/>
              </a:rPr>
              <a:t>销量条件</a:t>
            </a:r>
            <a:r>
              <a:rPr lang="en-US" altLang="zh-CN" dirty="0">
                <a:solidFill>
                  <a:srgbClr val="00AF00"/>
                </a:solidFill>
                <a:latin typeface="Courier New" panose="02070309020205020404" pitchFamily="49" charset="0"/>
              </a:rPr>
              <a:t>;</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[c4] x11+x21+x31=3;</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[c5] x12+x22+x32=6;</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[c6] x13+x23+x33=5;</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[c7] x14+x24+x34=6;</a:t>
            </a:r>
          </a:p>
          <a:p>
            <a:pPr>
              <a:defRPr/>
            </a:pPr>
            <a:r>
              <a:rPr lang="en-US" altLang="zh-CN" dirty="0">
                <a:solidFill>
                  <a:srgbClr val="00AF00"/>
                </a:solidFill>
                <a:latin typeface="Courier New" panose="02070309020205020404" pitchFamily="49" charset="0"/>
              </a:rPr>
              <a:t>!</a:t>
            </a:r>
            <a:r>
              <a:rPr lang="zh-CN" altLang="en-US" dirty="0">
                <a:solidFill>
                  <a:srgbClr val="00AF00"/>
                </a:solidFill>
                <a:latin typeface="Courier New" panose="02070309020205020404" pitchFamily="49" charset="0"/>
              </a:rPr>
              <a:t>非负约束条件</a:t>
            </a:r>
            <a:r>
              <a:rPr lang="en-US" altLang="zh-CN" dirty="0">
                <a:solidFill>
                  <a:srgbClr val="00AF00"/>
                </a:solidFill>
                <a:latin typeface="Courier New" panose="02070309020205020404" pitchFamily="49" charset="0"/>
              </a:rPr>
              <a:t>;</a:t>
            </a:r>
            <a:endParaRPr lang="zh-CN" altLang="en-US" dirty="0">
              <a:solidFill>
                <a:srgbClr val="000000"/>
              </a:solidFill>
              <a:latin typeface="Courier New" panose="02070309020205020404" pitchFamily="49" charset="0"/>
            </a:endParaRPr>
          </a:p>
          <a:p>
            <a:pPr>
              <a:defRPr/>
            </a:pPr>
            <a:r>
              <a:rPr lang="en-US" altLang="zh-CN" dirty="0">
                <a:solidFill>
                  <a:srgbClr val="000000"/>
                </a:solidFill>
                <a:latin typeface="Courier New" panose="02070309020205020404" pitchFamily="49" charset="0"/>
              </a:rPr>
              <a:t>x11&gt;=0;x12&gt;=0;x13&gt;=0;x14&gt;=0;</a:t>
            </a:r>
          </a:p>
          <a:p>
            <a:pPr>
              <a:defRPr/>
            </a:pPr>
            <a:r>
              <a:rPr lang="en-US" altLang="zh-CN" dirty="0">
                <a:solidFill>
                  <a:srgbClr val="000000"/>
                </a:solidFill>
                <a:latin typeface="Courier New" panose="02070309020205020404" pitchFamily="49" charset="0"/>
              </a:rPr>
              <a:t>x21&gt;=0;x22&gt;=0;x23&gt;=0;x24&gt;=0;</a:t>
            </a:r>
          </a:p>
          <a:p>
            <a:pPr>
              <a:defRPr/>
            </a:pPr>
            <a:r>
              <a:rPr lang="en-US" altLang="zh-CN" dirty="0">
                <a:solidFill>
                  <a:srgbClr val="000000"/>
                </a:solidFill>
                <a:latin typeface="Courier New" panose="02070309020205020404" pitchFamily="49" charset="0"/>
              </a:rPr>
              <a:t>x31&gt;=0;x32&gt;=0;x33&gt;=0;x34&gt;=0;</a:t>
            </a:r>
          </a:p>
          <a:p>
            <a:pPr>
              <a:defRPr/>
            </a:pPr>
            <a:r>
              <a:rPr lang="en-US" altLang="zh-CN" dirty="0">
                <a:solidFill>
                  <a:srgbClr val="0000FF"/>
                </a:solidFill>
                <a:latin typeface="Courier New" panose="02070309020205020404" pitchFamily="49" charset="0"/>
              </a:rPr>
              <a:t>end</a:t>
            </a:r>
            <a:endParaRPr lang="zh-CN" altLang="en-US" dirty="0">
              <a:solidFill>
                <a:srgbClr val="000000"/>
              </a:solidFill>
              <a:latin typeface="Courier New" panose="02070309020205020404" pitchFamily="49" charset="0"/>
            </a:endParaRPr>
          </a:p>
        </p:txBody>
      </p:sp>
      <p:graphicFrame>
        <p:nvGraphicFramePr>
          <p:cNvPr id="33796" name="对象 8">
            <a:extLst>
              <a:ext uri="{FF2B5EF4-FFF2-40B4-BE49-F238E27FC236}">
                <a16:creationId xmlns:a16="http://schemas.microsoft.com/office/drawing/2014/main" id="{822A1EAA-FFB0-4FF4-BD45-87504BDF3B1C}"/>
              </a:ext>
            </a:extLst>
          </p:cNvPr>
          <p:cNvGraphicFramePr>
            <a:graphicFrameLocks noChangeAspect="1"/>
          </p:cNvGraphicFramePr>
          <p:nvPr/>
        </p:nvGraphicFramePr>
        <p:xfrm>
          <a:off x="609600" y="1143000"/>
          <a:ext cx="3117850" cy="4216400"/>
        </p:xfrm>
        <a:graphic>
          <a:graphicData uri="http://schemas.openxmlformats.org/presentationml/2006/ole">
            <mc:AlternateContent xmlns:mc="http://schemas.openxmlformats.org/markup-compatibility/2006">
              <mc:Choice xmlns:v="urn:schemas-microsoft-com:vml" Requires="v">
                <p:oleObj spid="_x0000_s33804" name="Equation" r:id="rId3" imgW="1409700" imgH="1905000" progId="Equation.DSMT4">
                  <p:embed/>
                </p:oleObj>
              </mc:Choice>
              <mc:Fallback>
                <p:oleObj name="Equation" r:id="rId3" imgW="1409700" imgH="1905000" progId="Equation.DSMT4">
                  <p:embed/>
                  <p:pic>
                    <p:nvPicPr>
                      <p:cNvPr id="0"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1143000"/>
                        <a:ext cx="3117850" cy="421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3797" name="矩形 2">
            <a:extLst>
              <a:ext uri="{FF2B5EF4-FFF2-40B4-BE49-F238E27FC236}">
                <a16:creationId xmlns:a16="http://schemas.microsoft.com/office/drawing/2014/main" id="{7E10E459-8D70-4EE8-9113-ADE5917C9B90}"/>
              </a:ext>
            </a:extLst>
          </p:cNvPr>
          <p:cNvSpPr>
            <a:spLocks noChangeArrowheads="1"/>
          </p:cNvSpPr>
          <p:nvPr/>
        </p:nvSpPr>
        <p:spPr bwMode="auto">
          <a:xfrm>
            <a:off x="228600" y="5867400"/>
            <a:ext cx="3621088" cy="3698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[4-1]</a:t>
            </a:r>
            <a:r>
              <a:rPr lang="zh-CN" altLang="en-US"/>
              <a:t>产销平衡运输问题</a:t>
            </a:r>
            <a:r>
              <a:rPr lang="en-US" altLang="zh-CN"/>
              <a:t>-</a:t>
            </a:r>
            <a:r>
              <a:rPr lang="zh-CN" altLang="en-US"/>
              <a:t>傻瓜式</a:t>
            </a:r>
            <a:r>
              <a:rPr lang="en-US" altLang="zh-CN"/>
              <a:t>.avi</a:t>
            </a:r>
            <a:endParaRPr lang="zh-CN" altLang="en-US"/>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图片 60">
            <a:extLst>
              <a:ext uri="{FF2B5EF4-FFF2-40B4-BE49-F238E27FC236}">
                <a16:creationId xmlns:a16="http://schemas.microsoft.com/office/drawing/2014/main" id="{5E6BD978-2C1A-4FD7-A85E-197A01528C7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850" y="2339975"/>
            <a:ext cx="3125788" cy="43259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87A7CAC3-813D-4190-90D3-3A953238BC8D}"/>
              </a:ext>
            </a:extLst>
          </p:cNvPr>
          <p:cNvSpPr txBox="1">
            <a:spLocks noChangeArrowheads="1"/>
          </p:cNvSpPr>
          <p:nvPr/>
        </p:nvSpPr>
        <p:spPr>
          <a:xfrm>
            <a:off x="457200" y="155575"/>
            <a:ext cx="8229600" cy="911225"/>
          </a:xfrm>
          <a:prstGeom prst="rect">
            <a:avLst/>
          </a:prstGeom>
        </p:spPr>
        <p:txBody>
          <a:bodyPr/>
          <a:lstStyle>
            <a:lvl1pPr algn="l" rtl="0" eaLnBrk="0" fontAlgn="base" hangingPunct="0">
              <a:spcBef>
                <a:spcPct val="0"/>
              </a:spcBef>
              <a:spcAft>
                <a:spcPct val="0"/>
              </a:spcAft>
              <a:defRPr sz="4200" b="1">
                <a:solidFill>
                  <a:schemeClr val="tx2"/>
                </a:solidFill>
                <a:latin typeface="+mj-lt"/>
                <a:ea typeface="+mj-ea"/>
                <a:cs typeface="+mj-cs"/>
              </a:defRPr>
            </a:lvl1pPr>
            <a:lvl2pPr algn="l" rtl="0" eaLnBrk="0" fontAlgn="base" hangingPunct="0">
              <a:spcBef>
                <a:spcPct val="0"/>
              </a:spcBef>
              <a:spcAft>
                <a:spcPct val="0"/>
              </a:spcAft>
              <a:defRPr sz="4200" b="1">
                <a:solidFill>
                  <a:schemeClr val="tx2"/>
                </a:solidFill>
                <a:latin typeface="Garamond" pitchFamily="18" charset="0"/>
                <a:ea typeface="宋体" pitchFamily="2" charset="-122"/>
              </a:defRPr>
            </a:lvl2pPr>
            <a:lvl3pPr algn="l" rtl="0" eaLnBrk="0" fontAlgn="base" hangingPunct="0">
              <a:spcBef>
                <a:spcPct val="0"/>
              </a:spcBef>
              <a:spcAft>
                <a:spcPct val="0"/>
              </a:spcAft>
              <a:defRPr sz="4200" b="1">
                <a:solidFill>
                  <a:schemeClr val="tx2"/>
                </a:solidFill>
                <a:latin typeface="Garamond" pitchFamily="18" charset="0"/>
                <a:ea typeface="宋体" pitchFamily="2" charset="-122"/>
              </a:defRPr>
            </a:lvl3pPr>
            <a:lvl4pPr algn="l" rtl="0" eaLnBrk="0" fontAlgn="base" hangingPunct="0">
              <a:spcBef>
                <a:spcPct val="0"/>
              </a:spcBef>
              <a:spcAft>
                <a:spcPct val="0"/>
              </a:spcAft>
              <a:defRPr sz="4200" b="1">
                <a:solidFill>
                  <a:schemeClr val="tx2"/>
                </a:solidFill>
                <a:latin typeface="Garamond" pitchFamily="18" charset="0"/>
                <a:ea typeface="宋体" pitchFamily="2" charset="-122"/>
              </a:defRPr>
            </a:lvl4pPr>
            <a:lvl5pPr algn="l" rtl="0" eaLnBrk="0" fontAlgn="base" hangingPunct="0">
              <a:spcBef>
                <a:spcPct val="0"/>
              </a:spcBef>
              <a:spcAft>
                <a:spcPct val="0"/>
              </a:spcAft>
              <a:defRPr sz="4200" b="1">
                <a:solidFill>
                  <a:schemeClr val="tx2"/>
                </a:solidFill>
                <a:latin typeface="Garamond" pitchFamily="18" charset="0"/>
                <a:ea typeface="宋体" pitchFamily="2" charset="-122"/>
              </a:defRPr>
            </a:lvl5pPr>
            <a:lvl6pPr marL="457200" algn="l" rtl="0" fontAlgn="base">
              <a:spcBef>
                <a:spcPct val="0"/>
              </a:spcBef>
              <a:spcAft>
                <a:spcPct val="0"/>
              </a:spcAft>
              <a:defRPr sz="4200" b="1">
                <a:solidFill>
                  <a:schemeClr val="tx2"/>
                </a:solidFill>
                <a:latin typeface="Garamond" pitchFamily="18" charset="0"/>
                <a:ea typeface="宋体" pitchFamily="2" charset="-122"/>
              </a:defRPr>
            </a:lvl6pPr>
            <a:lvl7pPr marL="914400" algn="l" rtl="0" fontAlgn="base">
              <a:spcBef>
                <a:spcPct val="0"/>
              </a:spcBef>
              <a:spcAft>
                <a:spcPct val="0"/>
              </a:spcAft>
              <a:defRPr sz="4200" b="1">
                <a:solidFill>
                  <a:schemeClr val="tx2"/>
                </a:solidFill>
                <a:latin typeface="Garamond" pitchFamily="18" charset="0"/>
                <a:ea typeface="宋体" pitchFamily="2" charset="-122"/>
              </a:defRPr>
            </a:lvl7pPr>
            <a:lvl8pPr marL="1371600" algn="l" rtl="0" fontAlgn="base">
              <a:spcBef>
                <a:spcPct val="0"/>
              </a:spcBef>
              <a:spcAft>
                <a:spcPct val="0"/>
              </a:spcAft>
              <a:defRPr sz="4200" b="1">
                <a:solidFill>
                  <a:schemeClr val="tx2"/>
                </a:solidFill>
                <a:latin typeface="Garamond" pitchFamily="18" charset="0"/>
                <a:ea typeface="宋体" pitchFamily="2" charset="-122"/>
              </a:defRPr>
            </a:lvl8pPr>
            <a:lvl9pPr marL="1828800" algn="l" rtl="0" fontAlgn="base">
              <a:spcBef>
                <a:spcPct val="0"/>
              </a:spcBef>
              <a:spcAft>
                <a:spcPct val="0"/>
              </a:spcAft>
              <a:defRPr sz="4200" b="1">
                <a:solidFill>
                  <a:schemeClr val="tx2"/>
                </a:solidFill>
                <a:latin typeface="Garamond" pitchFamily="18" charset="0"/>
                <a:ea typeface="宋体" pitchFamily="2" charset="-122"/>
              </a:defRPr>
            </a:lvl9pPr>
          </a:lstStyle>
          <a:p>
            <a:pPr eaLnBrk="1" hangingPunct="1">
              <a:defRPr/>
            </a:pPr>
            <a:r>
              <a:rPr lang="en-US" altLang="zh-CN" kern="0" dirty="0"/>
              <a:t>Lingo</a:t>
            </a:r>
            <a:r>
              <a:rPr lang="zh-CN" altLang="en-US" kern="0" dirty="0"/>
              <a:t>软件解决运输问题</a:t>
            </a:r>
          </a:p>
        </p:txBody>
      </p:sp>
      <p:graphicFrame>
        <p:nvGraphicFramePr>
          <p:cNvPr id="13" name="Group 107">
            <a:extLst>
              <a:ext uri="{FF2B5EF4-FFF2-40B4-BE49-F238E27FC236}">
                <a16:creationId xmlns:a16="http://schemas.microsoft.com/office/drawing/2014/main" id="{BD792E38-347F-4BF3-A980-F581F52711E8}"/>
              </a:ext>
            </a:extLst>
          </p:cNvPr>
          <p:cNvGraphicFramePr>
            <a:graphicFrameLocks/>
          </p:cNvGraphicFramePr>
          <p:nvPr/>
        </p:nvGraphicFramePr>
        <p:xfrm>
          <a:off x="4044950" y="2743200"/>
          <a:ext cx="5022851" cy="3962401"/>
        </p:xfrm>
        <a:graphic>
          <a:graphicData uri="http://schemas.openxmlformats.org/drawingml/2006/table">
            <a:tbl>
              <a:tblPr/>
              <a:tblGrid>
                <a:gridCol w="708187">
                  <a:extLst>
                    <a:ext uri="{9D8B030D-6E8A-4147-A177-3AD203B41FA5}">
                      <a16:colId xmlns:a16="http://schemas.microsoft.com/office/drawing/2014/main" val="20000"/>
                    </a:ext>
                  </a:extLst>
                </a:gridCol>
                <a:gridCol w="431467">
                  <a:extLst>
                    <a:ext uri="{9D8B030D-6E8A-4147-A177-3AD203B41FA5}">
                      <a16:colId xmlns:a16="http://schemas.microsoft.com/office/drawing/2014/main" val="20001"/>
                    </a:ext>
                  </a:extLst>
                </a:gridCol>
                <a:gridCol w="503377">
                  <a:extLst>
                    <a:ext uri="{9D8B030D-6E8A-4147-A177-3AD203B41FA5}">
                      <a16:colId xmlns:a16="http://schemas.microsoft.com/office/drawing/2014/main" val="20002"/>
                    </a:ext>
                  </a:extLst>
                </a:gridCol>
                <a:gridCol w="503377">
                  <a:extLst>
                    <a:ext uri="{9D8B030D-6E8A-4147-A177-3AD203B41FA5}">
                      <a16:colId xmlns:a16="http://schemas.microsoft.com/office/drawing/2014/main" val="20003"/>
                    </a:ext>
                  </a:extLst>
                </a:gridCol>
                <a:gridCol w="431467">
                  <a:extLst>
                    <a:ext uri="{9D8B030D-6E8A-4147-A177-3AD203B41FA5}">
                      <a16:colId xmlns:a16="http://schemas.microsoft.com/office/drawing/2014/main" val="20004"/>
                    </a:ext>
                  </a:extLst>
                </a:gridCol>
                <a:gridCol w="503377">
                  <a:extLst>
                    <a:ext uri="{9D8B030D-6E8A-4147-A177-3AD203B41FA5}">
                      <a16:colId xmlns:a16="http://schemas.microsoft.com/office/drawing/2014/main" val="20005"/>
                    </a:ext>
                  </a:extLst>
                </a:gridCol>
                <a:gridCol w="431467">
                  <a:extLst>
                    <a:ext uri="{9D8B030D-6E8A-4147-A177-3AD203B41FA5}">
                      <a16:colId xmlns:a16="http://schemas.microsoft.com/office/drawing/2014/main" val="20006"/>
                    </a:ext>
                  </a:extLst>
                </a:gridCol>
                <a:gridCol w="431467">
                  <a:extLst>
                    <a:ext uri="{9D8B030D-6E8A-4147-A177-3AD203B41FA5}">
                      <a16:colId xmlns:a16="http://schemas.microsoft.com/office/drawing/2014/main" val="20007"/>
                    </a:ext>
                  </a:extLst>
                </a:gridCol>
                <a:gridCol w="392942">
                  <a:extLst>
                    <a:ext uri="{9D8B030D-6E8A-4147-A177-3AD203B41FA5}">
                      <a16:colId xmlns:a16="http://schemas.microsoft.com/office/drawing/2014/main" val="20008"/>
                    </a:ext>
                  </a:extLst>
                </a:gridCol>
                <a:gridCol w="685723">
                  <a:extLst>
                    <a:ext uri="{9D8B030D-6E8A-4147-A177-3AD203B41FA5}">
                      <a16:colId xmlns:a16="http://schemas.microsoft.com/office/drawing/2014/main" val="20009"/>
                    </a:ext>
                  </a:extLst>
                </a:gridCol>
              </a:tblGrid>
              <a:tr h="611188">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16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16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16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marL="91430" marR="9143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3</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marL="91430" marR="9143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1</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2</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marL="91430" marR="9143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2500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4</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5</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marL="91430" marR="9143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zh-CN" altLang="en-US" sz="1600" b="1" i="0" u="none" strike="noStrike" cap="none" normalizeH="0" baseline="0" dirty="0">
                          <a:ln>
                            <a:noFill/>
                          </a:ln>
                          <a:solidFill>
                            <a:schemeClr val="tx1"/>
                          </a:solidFill>
                          <a:effectLst/>
                          <a:latin typeface="Times New Roman" panose="02020603050405020304" pitchFamily="18" charset="0"/>
                          <a:ea typeface="楷体_GB2312" pitchFamily="49" charset="-122"/>
                        </a:rPr>
                        <a:t>销量</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rPr>
                        <a:t>6</a:t>
                      </a:r>
                    </a:p>
                  </a:txBody>
                  <a:tcPr marL="91430" marR="9143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16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marL="91430" marR="9143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grpSp>
        <p:nvGrpSpPr>
          <p:cNvPr id="41" name="组合 40">
            <a:extLst>
              <a:ext uri="{FF2B5EF4-FFF2-40B4-BE49-F238E27FC236}">
                <a16:creationId xmlns:a16="http://schemas.microsoft.com/office/drawing/2014/main" id="{D6CF2369-9D15-4D12-B59E-064ABB777086}"/>
              </a:ext>
            </a:extLst>
          </p:cNvPr>
          <p:cNvGrpSpPr>
            <a:grpSpLocks/>
          </p:cNvGrpSpPr>
          <p:nvPr/>
        </p:nvGrpSpPr>
        <p:grpSpPr bwMode="auto">
          <a:xfrm>
            <a:off x="1219200" y="2482850"/>
            <a:ext cx="6861175" cy="3251200"/>
            <a:chOff x="1219200" y="2482407"/>
            <a:chExt cx="6861704" cy="3251703"/>
          </a:xfrm>
        </p:grpSpPr>
        <p:sp>
          <p:nvSpPr>
            <p:cNvPr id="9" name="椭圆 8">
              <a:extLst>
                <a:ext uri="{FF2B5EF4-FFF2-40B4-BE49-F238E27FC236}">
                  <a16:creationId xmlns:a16="http://schemas.microsoft.com/office/drawing/2014/main" id="{F63369DC-D0B6-4C68-A004-054BB0E15427}"/>
                </a:ext>
              </a:extLst>
            </p:cNvPr>
            <p:cNvSpPr/>
            <p:nvPr/>
          </p:nvSpPr>
          <p:spPr>
            <a:xfrm>
              <a:off x="1219200" y="2482407"/>
              <a:ext cx="997027" cy="155599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0000"/>
                </a:solidFill>
              </a:endParaRPr>
            </a:p>
          </p:txBody>
        </p:sp>
        <p:grpSp>
          <p:nvGrpSpPr>
            <p:cNvPr id="34921" name="组合 39">
              <a:extLst>
                <a:ext uri="{FF2B5EF4-FFF2-40B4-BE49-F238E27FC236}">
                  <a16:creationId xmlns:a16="http://schemas.microsoft.com/office/drawing/2014/main" id="{8AE8C6CA-7AC3-4C2A-B8AC-09C5E88E3B71}"/>
                </a:ext>
              </a:extLst>
            </p:cNvPr>
            <p:cNvGrpSpPr>
              <a:grpSpLocks/>
            </p:cNvGrpSpPr>
            <p:nvPr/>
          </p:nvGrpSpPr>
          <p:grpSpPr bwMode="auto">
            <a:xfrm>
              <a:off x="4876800" y="3581400"/>
              <a:ext cx="3204104" cy="2152710"/>
              <a:chOff x="4876800" y="3581400"/>
              <a:chExt cx="3204104" cy="2152710"/>
            </a:xfrm>
          </p:grpSpPr>
          <p:sp>
            <p:nvSpPr>
              <p:cNvPr id="34923" name="Text Box 98">
                <a:extLst>
                  <a:ext uri="{FF2B5EF4-FFF2-40B4-BE49-F238E27FC236}">
                    <a16:creationId xmlns:a16="http://schemas.microsoft.com/office/drawing/2014/main" id="{3921BA99-12BB-46D9-BF9E-AEF7C699924F}"/>
                  </a:ext>
                </a:extLst>
              </p:cNvPr>
              <p:cNvSpPr txBox="1">
                <a:spLocks noChangeArrowheads="1"/>
              </p:cNvSpPr>
              <p:nvPr/>
            </p:nvSpPr>
            <p:spPr bwMode="auto">
              <a:xfrm>
                <a:off x="7686733" y="44958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34924" name="Text Box 100">
                <a:extLst>
                  <a:ext uri="{FF2B5EF4-FFF2-40B4-BE49-F238E27FC236}">
                    <a16:creationId xmlns:a16="http://schemas.microsoft.com/office/drawing/2014/main" id="{50A8BFA0-06B6-456D-A781-7EC81D0A7E52}"/>
                  </a:ext>
                </a:extLst>
              </p:cNvPr>
              <p:cNvSpPr txBox="1">
                <a:spLocks noChangeArrowheads="1"/>
              </p:cNvSpPr>
              <p:nvPr/>
            </p:nvSpPr>
            <p:spPr bwMode="auto">
              <a:xfrm>
                <a:off x="5867400" y="5334000"/>
                <a:ext cx="381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34925" name="Text Box 102">
                <a:extLst>
                  <a:ext uri="{FF2B5EF4-FFF2-40B4-BE49-F238E27FC236}">
                    <a16:creationId xmlns:a16="http://schemas.microsoft.com/office/drawing/2014/main" id="{8A60169F-A540-4BDD-8B05-7547F83E745A}"/>
                  </a:ext>
                </a:extLst>
              </p:cNvPr>
              <p:cNvSpPr txBox="1">
                <a:spLocks noChangeArrowheads="1"/>
              </p:cNvSpPr>
              <p:nvPr/>
            </p:nvSpPr>
            <p:spPr bwMode="auto">
              <a:xfrm>
                <a:off x="6858000" y="3581400"/>
                <a:ext cx="381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5</a:t>
                </a:r>
              </a:p>
            </p:txBody>
          </p:sp>
          <p:sp>
            <p:nvSpPr>
              <p:cNvPr id="34926" name="Text Box 103">
                <a:extLst>
                  <a:ext uri="{FF2B5EF4-FFF2-40B4-BE49-F238E27FC236}">
                    <a16:creationId xmlns:a16="http://schemas.microsoft.com/office/drawing/2014/main" id="{6D320D81-F2DA-4BFE-9BA0-993E5BD3532C}"/>
                  </a:ext>
                </a:extLst>
              </p:cNvPr>
              <p:cNvSpPr txBox="1">
                <a:spLocks noChangeArrowheads="1"/>
              </p:cNvSpPr>
              <p:nvPr/>
            </p:nvSpPr>
            <p:spPr bwMode="auto">
              <a:xfrm>
                <a:off x="7699904" y="533723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34927" name="Text Box 104">
                <a:extLst>
                  <a:ext uri="{FF2B5EF4-FFF2-40B4-BE49-F238E27FC236}">
                    <a16:creationId xmlns:a16="http://schemas.microsoft.com/office/drawing/2014/main" id="{8065C7F8-20C7-4526-B2A8-50FE1DDC193C}"/>
                  </a:ext>
                </a:extLst>
              </p:cNvPr>
              <p:cNvSpPr txBox="1">
                <a:spLocks noChangeArrowheads="1"/>
              </p:cNvSpPr>
              <p:nvPr/>
            </p:nvSpPr>
            <p:spPr bwMode="auto">
              <a:xfrm>
                <a:off x="4876800" y="44958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34928" name="Text Box 103">
                <a:extLst>
                  <a:ext uri="{FF2B5EF4-FFF2-40B4-BE49-F238E27FC236}">
                    <a16:creationId xmlns:a16="http://schemas.microsoft.com/office/drawing/2014/main" id="{F23634BB-C1B4-4ACE-B877-89CE69C755DE}"/>
                  </a:ext>
                </a:extLst>
              </p:cNvPr>
              <p:cNvSpPr txBox="1">
                <a:spLocks noChangeArrowheads="1"/>
              </p:cNvSpPr>
              <p:nvPr/>
            </p:nvSpPr>
            <p:spPr bwMode="auto">
              <a:xfrm>
                <a:off x="7658558" y="3584635"/>
                <a:ext cx="381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2</a:t>
                </a:r>
              </a:p>
            </p:txBody>
          </p:sp>
        </p:grpSp>
        <p:sp>
          <p:nvSpPr>
            <p:cNvPr id="39" name="箭头: 右 38">
              <a:extLst>
                <a:ext uri="{FF2B5EF4-FFF2-40B4-BE49-F238E27FC236}">
                  <a16:creationId xmlns:a16="http://schemas.microsoft.com/office/drawing/2014/main" id="{CB7E7D99-1C20-47B6-A701-ECDD68D4D953}"/>
                </a:ext>
              </a:extLst>
            </p:cNvPr>
            <p:cNvSpPr/>
            <p:nvPr/>
          </p:nvSpPr>
          <p:spPr>
            <a:xfrm rot="1731047">
              <a:off x="2122558" y="3836755"/>
              <a:ext cx="2848195" cy="276268"/>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pic>
        <p:nvPicPr>
          <p:cNvPr id="34913" name="图片 41">
            <a:extLst>
              <a:ext uri="{FF2B5EF4-FFF2-40B4-BE49-F238E27FC236}">
                <a16:creationId xmlns:a16="http://schemas.microsoft.com/office/drawing/2014/main" id="{C395E66A-C274-4506-A961-D49C73E0266D}"/>
              </a:ext>
            </a:extLst>
          </p:cNvPr>
          <p:cNvPicPr>
            <a:picLocks noChangeAspect="1"/>
          </p:cNvPicPr>
          <p:nvPr/>
        </p:nvPicPr>
        <p:blipFill>
          <a:blip r:embed="rId3">
            <a:extLst>
              <a:ext uri="{28A0092B-C50C-407E-A947-70E740481C1C}">
                <a14:useLocalDpi xmlns:a14="http://schemas.microsoft.com/office/drawing/2010/main" val="0"/>
              </a:ext>
            </a:extLst>
          </a:blip>
          <a:srcRect t="2" r="17809" b="90627"/>
          <a:stretch>
            <a:fillRect/>
          </a:stretch>
        </p:blipFill>
        <p:spPr bwMode="auto">
          <a:xfrm>
            <a:off x="122238" y="1598613"/>
            <a:ext cx="4221162" cy="687387"/>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grpSp>
        <p:nvGrpSpPr>
          <p:cNvPr id="57" name="组合 56">
            <a:extLst>
              <a:ext uri="{FF2B5EF4-FFF2-40B4-BE49-F238E27FC236}">
                <a16:creationId xmlns:a16="http://schemas.microsoft.com/office/drawing/2014/main" id="{679B1459-0256-48B9-AF83-5C06F554490C}"/>
              </a:ext>
            </a:extLst>
          </p:cNvPr>
          <p:cNvGrpSpPr>
            <a:grpSpLocks/>
          </p:cNvGrpSpPr>
          <p:nvPr/>
        </p:nvGrpSpPr>
        <p:grpSpPr bwMode="auto">
          <a:xfrm>
            <a:off x="6350000" y="152400"/>
            <a:ext cx="2051050" cy="2387600"/>
            <a:chOff x="6349565" y="152400"/>
            <a:chExt cx="2051325" cy="2387822"/>
          </a:xfrm>
        </p:grpSpPr>
        <p:pic>
          <p:nvPicPr>
            <p:cNvPr id="34918" name="图片 49">
              <a:extLst>
                <a:ext uri="{FF2B5EF4-FFF2-40B4-BE49-F238E27FC236}">
                  <a16:creationId xmlns:a16="http://schemas.microsoft.com/office/drawing/2014/main" id="{648DD350-0F9F-4BCE-B211-B1E45D10C6B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49565" y="152400"/>
              <a:ext cx="2032435" cy="979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919" name="图片 51">
              <a:extLst>
                <a:ext uri="{FF2B5EF4-FFF2-40B4-BE49-F238E27FC236}">
                  <a16:creationId xmlns:a16="http://schemas.microsoft.com/office/drawing/2014/main" id="{AB180916-1AE8-4F4D-80C6-C78089AA442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68455" y="1174374"/>
              <a:ext cx="2032435" cy="136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6" name="组合 55">
            <a:extLst>
              <a:ext uri="{FF2B5EF4-FFF2-40B4-BE49-F238E27FC236}">
                <a16:creationId xmlns:a16="http://schemas.microsoft.com/office/drawing/2014/main" id="{55311368-920A-467E-BAFA-1C3046E539E6}"/>
              </a:ext>
            </a:extLst>
          </p:cNvPr>
          <p:cNvGrpSpPr>
            <a:grpSpLocks/>
          </p:cNvGrpSpPr>
          <p:nvPr/>
        </p:nvGrpSpPr>
        <p:grpSpPr bwMode="auto">
          <a:xfrm>
            <a:off x="3581400" y="954088"/>
            <a:ext cx="2403475" cy="1528762"/>
            <a:chOff x="3581399" y="953553"/>
            <a:chExt cx="2403178" cy="1528854"/>
          </a:xfrm>
        </p:grpSpPr>
        <p:pic>
          <p:nvPicPr>
            <p:cNvPr id="34916" name="图片 53">
              <a:extLst>
                <a:ext uri="{FF2B5EF4-FFF2-40B4-BE49-F238E27FC236}">
                  <a16:creationId xmlns:a16="http://schemas.microsoft.com/office/drawing/2014/main" id="{09456BAF-EC00-4336-95D2-CA4F823C9E9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84377" y="953553"/>
              <a:ext cx="1600200" cy="1528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椭圆 54">
              <a:extLst>
                <a:ext uri="{FF2B5EF4-FFF2-40B4-BE49-F238E27FC236}">
                  <a16:creationId xmlns:a16="http://schemas.microsoft.com/office/drawing/2014/main" id="{1DDF9735-802B-4C1C-9306-85E325139B51}"/>
                </a:ext>
              </a:extLst>
            </p:cNvPr>
            <p:cNvSpPr/>
            <p:nvPr/>
          </p:nvSpPr>
          <p:spPr>
            <a:xfrm>
              <a:off x="3581399" y="1636219"/>
              <a:ext cx="838096" cy="301643"/>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randombar(horizontal)">
                                      <p:cBhvr>
                                        <p:cTn id="7" dur="500"/>
                                        <p:tgtEl>
                                          <p:spTgt spid="5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21" fill="hold"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barn(inVertical)">
                                      <p:cBhvr>
                                        <p:cTn id="12" dur="500"/>
                                        <p:tgtEl>
                                          <p:spTgt spid="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randombar(horizontal)">
                                      <p:cBhvr>
                                        <p:cTn id="1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a:extLst>
              <a:ext uri="{FF2B5EF4-FFF2-40B4-BE49-F238E27FC236}">
                <a16:creationId xmlns:a16="http://schemas.microsoft.com/office/drawing/2014/main" id="{98DB55DD-39C4-4159-AAFF-43567CC91017}"/>
              </a:ext>
            </a:extLst>
          </p:cNvPr>
          <p:cNvSpPr txBox="1">
            <a:spLocks noChangeArrowheads="1"/>
          </p:cNvSpPr>
          <p:nvPr/>
        </p:nvSpPr>
        <p:spPr>
          <a:xfrm>
            <a:off x="457200" y="79375"/>
            <a:ext cx="8229600" cy="911225"/>
          </a:xfrm>
          <a:prstGeom prst="rect">
            <a:avLst/>
          </a:prstGeom>
        </p:spPr>
        <p:txBody>
          <a:bodyPr/>
          <a:lstStyle>
            <a:lvl1pPr algn="l" rtl="0" eaLnBrk="0" fontAlgn="base" hangingPunct="0">
              <a:spcBef>
                <a:spcPct val="0"/>
              </a:spcBef>
              <a:spcAft>
                <a:spcPct val="0"/>
              </a:spcAft>
              <a:defRPr sz="4200" b="1">
                <a:solidFill>
                  <a:schemeClr val="tx2"/>
                </a:solidFill>
                <a:latin typeface="+mj-lt"/>
                <a:ea typeface="+mj-ea"/>
                <a:cs typeface="+mj-cs"/>
              </a:defRPr>
            </a:lvl1pPr>
            <a:lvl2pPr algn="l" rtl="0" eaLnBrk="0" fontAlgn="base" hangingPunct="0">
              <a:spcBef>
                <a:spcPct val="0"/>
              </a:spcBef>
              <a:spcAft>
                <a:spcPct val="0"/>
              </a:spcAft>
              <a:defRPr sz="4200" b="1">
                <a:solidFill>
                  <a:schemeClr val="tx2"/>
                </a:solidFill>
                <a:latin typeface="Garamond" pitchFamily="18" charset="0"/>
                <a:ea typeface="宋体" pitchFamily="2" charset="-122"/>
              </a:defRPr>
            </a:lvl2pPr>
            <a:lvl3pPr algn="l" rtl="0" eaLnBrk="0" fontAlgn="base" hangingPunct="0">
              <a:spcBef>
                <a:spcPct val="0"/>
              </a:spcBef>
              <a:spcAft>
                <a:spcPct val="0"/>
              </a:spcAft>
              <a:defRPr sz="4200" b="1">
                <a:solidFill>
                  <a:schemeClr val="tx2"/>
                </a:solidFill>
                <a:latin typeface="Garamond" pitchFamily="18" charset="0"/>
                <a:ea typeface="宋体" pitchFamily="2" charset="-122"/>
              </a:defRPr>
            </a:lvl3pPr>
            <a:lvl4pPr algn="l" rtl="0" eaLnBrk="0" fontAlgn="base" hangingPunct="0">
              <a:spcBef>
                <a:spcPct val="0"/>
              </a:spcBef>
              <a:spcAft>
                <a:spcPct val="0"/>
              </a:spcAft>
              <a:defRPr sz="4200" b="1">
                <a:solidFill>
                  <a:schemeClr val="tx2"/>
                </a:solidFill>
                <a:latin typeface="Garamond" pitchFamily="18" charset="0"/>
                <a:ea typeface="宋体" pitchFamily="2" charset="-122"/>
              </a:defRPr>
            </a:lvl4pPr>
            <a:lvl5pPr algn="l" rtl="0" eaLnBrk="0" fontAlgn="base" hangingPunct="0">
              <a:spcBef>
                <a:spcPct val="0"/>
              </a:spcBef>
              <a:spcAft>
                <a:spcPct val="0"/>
              </a:spcAft>
              <a:defRPr sz="4200" b="1">
                <a:solidFill>
                  <a:schemeClr val="tx2"/>
                </a:solidFill>
                <a:latin typeface="Garamond" pitchFamily="18" charset="0"/>
                <a:ea typeface="宋体" pitchFamily="2" charset="-122"/>
              </a:defRPr>
            </a:lvl5pPr>
            <a:lvl6pPr marL="457200" algn="l" rtl="0" fontAlgn="base">
              <a:spcBef>
                <a:spcPct val="0"/>
              </a:spcBef>
              <a:spcAft>
                <a:spcPct val="0"/>
              </a:spcAft>
              <a:defRPr sz="4200" b="1">
                <a:solidFill>
                  <a:schemeClr val="tx2"/>
                </a:solidFill>
                <a:latin typeface="Garamond" pitchFamily="18" charset="0"/>
                <a:ea typeface="宋体" pitchFamily="2" charset="-122"/>
              </a:defRPr>
            </a:lvl6pPr>
            <a:lvl7pPr marL="914400" algn="l" rtl="0" fontAlgn="base">
              <a:spcBef>
                <a:spcPct val="0"/>
              </a:spcBef>
              <a:spcAft>
                <a:spcPct val="0"/>
              </a:spcAft>
              <a:defRPr sz="4200" b="1">
                <a:solidFill>
                  <a:schemeClr val="tx2"/>
                </a:solidFill>
                <a:latin typeface="Garamond" pitchFamily="18" charset="0"/>
                <a:ea typeface="宋体" pitchFamily="2" charset="-122"/>
              </a:defRPr>
            </a:lvl7pPr>
            <a:lvl8pPr marL="1371600" algn="l" rtl="0" fontAlgn="base">
              <a:spcBef>
                <a:spcPct val="0"/>
              </a:spcBef>
              <a:spcAft>
                <a:spcPct val="0"/>
              </a:spcAft>
              <a:defRPr sz="4200" b="1">
                <a:solidFill>
                  <a:schemeClr val="tx2"/>
                </a:solidFill>
                <a:latin typeface="Garamond" pitchFamily="18" charset="0"/>
                <a:ea typeface="宋体" pitchFamily="2" charset="-122"/>
              </a:defRPr>
            </a:lvl8pPr>
            <a:lvl9pPr marL="1828800" algn="l" rtl="0" fontAlgn="base">
              <a:spcBef>
                <a:spcPct val="0"/>
              </a:spcBef>
              <a:spcAft>
                <a:spcPct val="0"/>
              </a:spcAft>
              <a:defRPr sz="4200" b="1">
                <a:solidFill>
                  <a:schemeClr val="tx2"/>
                </a:solidFill>
                <a:latin typeface="Garamond" pitchFamily="18" charset="0"/>
                <a:ea typeface="宋体" pitchFamily="2" charset="-122"/>
              </a:defRPr>
            </a:lvl9pPr>
          </a:lstStyle>
          <a:p>
            <a:pPr eaLnBrk="1" hangingPunct="1">
              <a:defRPr/>
            </a:pPr>
            <a:r>
              <a:rPr lang="en-US" altLang="zh-CN" kern="0" dirty="0"/>
              <a:t>Lingo</a:t>
            </a:r>
            <a:r>
              <a:rPr lang="zh-CN" altLang="en-US" kern="0" dirty="0"/>
              <a:t>软件解决运输问题</a:t>
            </a:r>
          </a:p>
        </p:txBody>
      </p:sp>
      <p:grpSp>
        <p:nvGrpSpPr>
          <p:cNvPr id="9" name="组合 8">
            <a:extLst>
              <a:ext uri="{FF2B5EF4-FFF2-40B4-BE49-F238E27FC236}">
                <a16:creationId xmlns:a16="http://schemas.microsoft.com/office/drawing/2014/main" id="{F1965F01-43BC-46ED-ADE1-A94FC1CCB752}"/>
              </a:ext>
            </a:extLst>
          </p:cNvPr>
          <p:cNvGrpSpPr>
            <a:grpSpLocks/>
          </p:cNvGrpSpPr>
          <p:nvPr/>
        </p:nvGrpSpPr>
        <p:grpSpPr bwMode="auto">
          <a:xfrm>
            <a:off x="152400" y="685800"/>
            <a:ext cx="8915400" cy="6324600"/>
            <a:chOff x="152400" y="762000"/>
            <a:chExt cx="8915400" cy="6324808"/>
          </a:xfrm>
        </p:grpSpPr>
        <p:sp>
          <p:nvSpPr>
            <p:cNvPr id="35845" name="矩形 6">
              <a:extLst>
                <a:ext uri="{FF2B5EF4-FFF2-40B4-BE49-F238E27FC236}">
                  <a16:creationId xmlns:a16="http://schemas.microsoft.com/office/drawing/2014/main" id="{119274F6-6EA9-4F15-AD51-8D673B568F51}"/>
                </a:ext>
              </a:extLst>
            </p:cNvPr>
            <p:cNvSpPr>
              <a:spLocks noChangeArrowheads="1"/>
            </p:cNvSpPr>
            <p:nvPr/>
          </p:nvSpPr>
          <p:spPr bwMode="auto">
            <a:xfrm>
              <a:off x="152400" y="4964946"/>
              <a:ext cx="2039352" cy="92333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en-US" altLang="zh-CN"/>
                <a:t>[4-2]</a:t>
              </a:r>
              <a:r>
                <a:rPr lang="zh-CN" altLang="en-US"/>
                <a:t>产销平衡运输问题</a:t>
              </a:r>
              <a:r>
                <a:rPr lang="en-US" altLang="zh-CN"/>
                <a:t>-</a:t>
              </a:r>
              <a:r>
                <a:rPr lang="zh-CN" altLang="en-US"/>
                <a:t>精明式</a:t>
              </a:r>
              <a:r>
                <a:rPr lang="en-US" altLang="zh-CN"/>
                <a:t>.avi</a:t>
              </a:r>
              <a:endParaRPr lang="zh-CN" altLang="en-US"/>
            </a:p>
          </p:txBody>
        </p:sp>
        <p:sp>
          <p:nvSpPr>
            <p:cNvPr id="4" name="矩形 3">
              <a:extLst>
                <a:ext uri="{FF2B5EF4-FFF2-40B4-BE49-F238E27FC236}">
                  <a16:creationId xmlns:a16="http://schemas.microsoft.com/office/drawing/2014/main" id="{FBB948E5-8DF0-4C3A-ABF9-573BB9552A96}"/>
                </a:ext>
              </a:extLst>
            </p:cNvPr>
            <p:cNvSpPr/>
            <p:nvPr/>
          </p:nvSpPr>
          <p:spPr>
            <a:xfrm>
              <a:off x="2286000" y="762000"/>
              <a:ext cx="6781800" cy="6324808"/>
            </a:xfrm>
            <a:prstGeom prst="rect">
              <a:avLst/>
            </a:prstGeom>
            <a:ln>
              <a:solidFill>
                <a:srgbClr val="FF0000"/>
              </a:solidFill>
            </a:ln>
          </p:spPr>
          <p:txBody>
            <a:bodyPr>
              <a:spAutoFit/>
            </a:bodyPr>
            <a:lstStyle/>
            <a:p>
              <a:pPr>
                <a:defRPr/>
              </a:pPr>
              <a:r>
                <a:rPr lang="en-US" altLang="zh-CN" sz="1500" b="1" kern="100" dirty="0">
                  <a:latin typeface="Calibri" panose="020F0502020204030204" pitchFamily="34" charset="0"/>
                  <a:cs typeface="Times New Roman" panose="02020603050405020304" pitchFamily="18" charset="0"/>
                </a:rPr>
                <a:t>Lingo</a:t>
              </a:r>
              <a:r>
                <a:rPr lang="zh-CN" altLang="zh-CN" sz="1500" b="1" kern="100" dirty="0">
                  <a:latin typeface="Calibri" panose="020F0502020204030204" pitchFamily="34" charset="0"/>
                  <a:cs typeface="Times New Roman" panose="02020603050405020304" pitchFamily="18" charset="0"/>
                </a:rPr>
                <a:t>源代码</a:t>
              </a:r>
              <a:endParaRPr lang="en-US" altLang="zh-CN" sz="1500" dirty="0">
                <a:solidFill>
                  <a:srgbClr val="0000FF"/>
                </a:solidFill>
                <a:latin typeface="Courier New" panose="02070309020205020404" pitchFamily="49" charset="0"/>
              </a:endParaRPr>
            </a:p>
            <a:p>
              <a:pPr>
                <a:defRPr/>
              </a:pPr>
              <a:r>
                <a:rPr lang="en-US" altLang="zh-CN" sz="1500" kern="100" dirty="0">
                  <a:solidFill>
                    <a:srgbClr val="0000FF"/>
                  </a:solidFill>
                  <a:latin typeface="Courier New" panose="02070309020205020404" pitchFamily="49" charset="0"/>
                </a:rPr>
                <a:t>model</a:t>
              </a:r>
              <a:r>
                <a:rPr lang="en-US" altLang="zh-CN" sz="1500" kern="100" dirty="0">
                  <a:solidFill>
                    <a:srgbClr val="000000"/>
                  </a:solidFill>
                  <a:latin typeface="Courier New" panose="02070309020205020404" pitchFamily="49" charset="0"/>
                </a:rPr>
                <a:t>:</a:t>
              </a:r>
              <a:endParaRPr lang="zh-CN" altLang="en-US" sz="1500" kern="100" dirty="0">
                <a:solidFill>
                  <a:srgbClr val="000000"/>
                </a:solidFill>
                <a:latin typeface="Courier New" panose="02070309020205020404" pitchFamily="49" charset="0"/>
              </a:endParaRPr>
            </a:p>
            <a:p>
              <a:pPr>
                <a:defRPr/>
              </a:pPr>
              <a:r>
                <a:rPr lang="en-US" altLang="zh-CN" sz="1500" dirty="0">
                  <a:solidFill>
                    <a:srgbClr val="00AF00"/>
                  </a:solidFill>
                  <a:latin typeface="Courier New" panose="02070309020205020404" pitchFamily="49" charset="0"/>
                </a:rPr>
                <a:t>!3</a:t>
              </a:r>
              <a:r>
                <a:rPr lang="zh-CN" altLang="en-US" sz="1500" dirty="0">
                  <a:solidFill>
                    <a:srgbClr val="00AF00"/>
                  </a:solidFill>
                  <a:latin typeface="System"/>
                </a:rPr>
                <a:t>产地</a:t>
              </a:r>
              <a:r>
                <a:rPr lang="en-US" altLang="zh-CN" sz="1500" dirty="0">
                  <a:solidFill>
                    <a:srgbClr val="00AF00"/>
                  </a:solidFill>
                  <a:latin typeface="Courier New" panose="02070309020205020404" pitchFamily="49" charset="0"/>
                </a:rPr>
                <a:t>4</a:t>
              </a:r>
              <a:r>
                <a:rPr lang="zh-CN" altLang="en-US" sz="1500" dirty="0">
                  <a:solidFill>
                    <a:srgbClr val="00AF00"/>
                  </a:solidFill>
                  <a:latin typeface="System"/>
                </a:rPr>
                <a:t>销地运输问题</a:t>
              </a:r>
              <a:r>
                <a:rPr lang="en-US" altLang="zh-CN" sz="1500" dirty="0">
                  <a:solidFill>
                    <a:srgbClr val="00AF00"/>
                  </a:solidFill>
                  <a:latin typeface="Courier New" panose="02070309020205020404" pitchFamily="49" charset="0"/>
                </a:rPr>
                <a:t>;</a:t>
              </a:r>
              <a:endParaRPr lang="zh-CN" altLang="en-US" sz="1500" dirty="0">
                <a:solidFill>
                  <a:srgbClr val="000000"/>
                </a:solidFill>
                <a:latin typeface="Courier New" panose="02070309020205020404" pitchFamily="49" charset="0"/>
              </a:endParaRPr>
            </a:p>
            <a:p>
              <a:pPr>
                <a:defRPr/>
              </a:pPr>
              <a:r>
                <a:rPr lang="en-US" altLang="zh-CN" sz="1500" kern="100" dirty="0">
                  <a:solidFill>
                    <a:srgbClr val="0000FF"/>
                  </a:solidFill>
                  <a:latin typeface="Courier New" panose="02070309020205020404" pitchFamily="49" charset="0"/>
                </a:rPr>
                <a:t>sets</a:t>
              </a:r>
              <a:r>
                <a:rPr lang="en-US" altLang="zh-CN" sz="1500" kern="100" dirty="0">
                  <a:solidFill>
                    <a:srgbClr val="000000"/>
                  </a:solidFill>
                  <a:latin typeface="Courier New" panose="02070309020205020404" pitchFamily="49" charset="0"/>
                </a:rPr>
                <a:t>:</a:t>
              </a:r>
            </a:p>
            <a:p>
              <a:pPr>
                <a:defRPr/>
              </a:pPr>
              <a:r>
                <a:rPr lang="en-US" altLang="zh-CN" sz="1500" kern="100" dirty="0">
                  <a:solidFill>
                    <a:srgbClr val="000000"/>
                  </a:solidFill>
                  <a:latin typeface="Courier New" panose="02070309020205020404" pitchFamily="49" charset="0"/>
                </a:rPr>
                <a:t> warehouses/wh1..wh3/: capacity;</a:t>
              </a:r>
              <a:r>
                <a:rPr lang="en-US" altLang="zh-CN" sz="1500" dirty="0">
                  <a:solidFill>
                    <a:srgbClr val="00AF00"/>
                  </a:solidFill>
                  <a:latin typeface="Courier New" panose="02070309020205020404" pitchFamily="49" charset="0"/>
                </a:rPr>
                <a:t> !</a:t>
              </a:r>
              <a:r>
                <a:rPr lang="zh-CN" altLang="en-US" sz="1500" dirty="0">
                  <a:solidFill>
                    <a:srgbClr val="00AF00"/>
                  </a:solidFill>
                  <a:latin typeface="Courier New" panose="02070309020205020404" pitchFamily="49" charset="0"/>
                </a:rPr>
                <a:t>仓库库存量</a:t>
              </a:r>
              <a:r>
                <a:rPr lang="en-US" altLang="zh-CN" sz="1500" dirty="0">
                  <a:solidFill>
                    <a:srgbClr val="00AF00"/>
                  </a:solidFill>
                  <a:latin typeface="Courier New" panose="02070309020205020404" pitchFamily="49" charset="0"/>
                </a:rPr>
                <a:t>;</a:t>
              </a:r>
              <a:endParaRPr lang="en-US" altLang="zh-CN" sz="1500" kern="100" dirty="0">
                <a:solidFill>
                  <a:srgbClr val="000000"/>
                </a:solidFill>
                <a:latin typeface="Courier New" panose="02070309020205020404" pitchFamily="49" charset="0"/>
              </a:endParaRPr>
            </a:p>
            <a:p>
              <a:pPr>
                <a:defRPr/>
              </a:pPr>
              <a:r>
                <a:rPr lang="en-US" altLang="zh-CN" sz="1500" kern="100" dirty="0">
                  <a:solidFill>
                    <a:srgbClr val="000000"/>
                  </a:solidFill>
                  <a:latin typeface="Courier New" panose="02070309020205020404" pitchFamily="49" charset="0"/>
                </a:rPr>
                <a:t> vendors/v1..v4/ : demand;</a:t>
              </a:r>
              <a:r>
                <a:rPr lang="en-US" altLang="zh-CN" sz="1500" dirty="0">
                  <a:solidFill>
                    <a:srgbClr val="00AF00"/>
                  </a:solidFill>
                  <a:latin typeface="Courier New" panose="02070309020205020404" pitchFamily="49" charset="0"/>
                </a:rPr>
                <a:t> !</a:t>
              </a:r>
              <a:r>
                <a:rPr lang="zh-CN" altLang="en-US" sz="1500" dirty="0">
                  <a:solidFill>
                    <a:srgbClr val="00AF00"/>
                  </a:solidFill>
                  <a:latin typeface="Courier New" panose="02070309020205020404" pitchFamily="49" charset="0"/>
                </a:rPr>
                <a:t>客户需求量</a:t>
              </a:r>
              <a:r>
                <a:rPr lang="en-US" altLang="zh-CN" sz="1500" dirty="0">
                  <a:solidFill>
                    <a:srgbClr val="00AF00"/>
                  </a:solidFill>
                  <a:latin typeface="Courier New" panose="02070309020205020404" pitchFamily="49" charset="0"/>
                </a:rPr>
                <a:t>;</a:t>
              </a:r>
              <a:endParaRPr lang="en-US" altLang="zh-CN" sz="1500" kern="100" dirty="0">
                <a:solidFill>
                  <a:srgbClr val="000000"/>
                </a:solidFill>
                <a:latin typeface="Courier New" panose="02070309020205020404" pitchFamily="49" charset="0"/>
              </a:endParaRPr>
            </a:p>
            <a:p>
              <a:pPr>
                <a:defRPr/>
              </a:pPr>
              <a:r>
                <a:rPr lang="en-US" altLang="zh-CN" sz="1500" kern="100" dirty="0">
                  <a:solidFill>
                    <a:srgbClr val="000000"/>
                  </a:solidFill>
                  <a:latin typeface="Courier New" panose="02070309020205020404" pitchFamily="49" charset="0"/>
                </a:rPr>
                <a:t> links(</a:t>
              </a:r>
              <a:r>
                <a:rPr lang="en-US" altLang="zh-CN" sz="1500" kern="100" dirty="0" err="1">
                  <a:solidFill>
                    <a:srgbClr val="000000"/>
                  </a:solidFill>
                  <a:latin typeface="Courier New" panose="02070309020205020404" pitchFamily="49" charset="0"/>
                </a:rPr>
                <a:t>warehouses,vendors</a:t>
              </a:r>
              <a:r>
                <a:rPr lang="en-US" altLang="zh-CN" sz="1500" kern="100" dirty="0">
                  <a:solidFill>
                    <a:srgbClr val="000000"/>
                  </a:solidFill>
                  <a:latin typeface="Courier New" panose="02070309020205020404" pitchFamily="49" charset="0"/>
                </a:rPr>
                <a:t>):</a:t>
              </a:r>
              <a:r>
                <a:rPr lang="en-US" altLang="zh-CN" sz="1500" kern="100" dirty="0" err="1">
                  <a:solidFill>
                    <a:srgbClr val="000000"/>
                  </a:solidFill>
                  <a:latin typeface="Courier New" panose="02070309020205020404" pitchFamily="49" charset="0"/>
                </a:rPr>
                <a:t>cost,volumn</a:t>
              </a:r>
              <a:r>
                <a:rPr lang="en-US" altLang="zh-CN" sz="1500" kern="100" dirty="0">
                  <a:solidFill>
                    <a:srgbClr val="000000"/>
                  </a:solidFill>
                  <a:latin typeface="Courier New" panose="02070309020205020404" pitchFamily="49" charset="0"/>
                </a:rPr>
                <a:t>;</a:t>
              </a:r>
              <a:r>
                <a:rPr lang="en-US" altLang="zh-CN" sz="1500" dirty="0">
                  <a:solidFill>
                    <a:srgbClr val="00AF00"/>
                  </a:solidFill>
                  <a:latin typeface="Courier New" panose="02070309020205020404" pitchFamily="49" charset="0"/>
                </a:rPr>
                <a:t> !</a:t>
              </a:r>
              <a:r>
                <a:rPr lang="zh-CN" altLang="zh-CN" sz="1500" dirty="0">
                  <a:solidFill>
                    <a:srgbClr val="00AF00"/>
                  </a:solidFill>
                  <a:latin typeface="Courier New" panose="02070309020205020404" pitchFamily="49" charset="0"/>
                </a:rPr>
                <a:t>各货栈到各客户的货物调运数量，货物运输价表</a:t>
              </a:r>
              <a:r>
                <a:rPr lang="en-US" altLang="zh-CN" sz="1500" dirty="0">
                  <a:solidFill>
                    <a:srgbClr val="00AF00"/>
                  </a:solidFill>
                  <a:latin typeface="Courier New" panose="02070309020205020404" pitchFamily="49" charset="0"/>
                </a:rPr>
                <a:t>;</a:t>
              </a:r>
            </a:p>
            <a:p>
              <a:pPr>
                <a:defRPr/>
              </a:pPr>
              <a:r>
                <a:rPr lang="en-US" altLang="zh-CN" sz="1500" kern="100" dirty="0" err="1">
                  <a:solidFill>
                    <a:srgbClr val="0000FF"/>
                  </a:solidFill>
                  <a:latin typeface="Courier New" panose="02070309020205020404" pitchFamily="49" charset="0"/>
                </a:rPr>
                <a:t>endsets</a:t>
              </a:r>
              <a:endParaRPr lang="en-US" altLang="zh-CN" sz="1500" kern="100" dirty="0">
                <a:solidFill>
                  <a:srgbClr val="000000"/>
                </a:solidFill>
                <a:latin typeface="Courier New" panose="02070309020205020404" pitchFamily="49" charset="0"/>
              </a:endParaRPr>
            </a:p>
            <a:p>
              <a:pPr>
                <a:defRPr/>
              </a:pPr>
              <a:r>
                <a:rPr lang="en-US" altLang="zh-CN" sz="1500" kern="100" dirty="0">
                  <a:solidFill>
                    <a:srgbClr val="00AF00"/>
                  </a:solidFill>
                  <a:latin typeface="Courier New" panose="02070309020205020404" pitchFamily="49" charset="0"/>
                </a:rPr>
                <a:t>!</a:t>
              </a:r>
              <a:r>
                <a:rPr lang="zh-CN" altLang="en-US" sz="1500" kern="100" dirty="0">
                  <a:solidFill>
                    <a:srgbClr val="00AF00"/>
                  </a:solidFill>
                  <a:latin typeface="System"/>
                </a:rPr>
                <a:t>目标函数</a:t>
              </a:r>
              <a:r>
                <a:rPr lang="en-US" altLang="zh-CN" sz="1500" kern="100" dirty="0">
                  <a:solidFill>
                    <a:srgbClr val="00AF00"/>
                  </a:solidFill>
                  <a:latin typeface="Courier New" panose="02070309020205020404" pitchFamily="49" charset="0"/>
                </a:rPr>
                <a:t>;</a:t>
              </a:r>
              <a:endParaRPr lang="en-US" altLang="zh-CN" sz="1500" kern="100" dirty="0">
                <a:solidFill>
                  <a:srgbClr val="000000"/>
                </a:solidFill>
                <a:latin typeface="Courier New" panose="02070309020205020404" pitchFamily="49" charset="0"/>
              </a:endParaRPr>
            </a:p>
            <a:p>
              <a:pPr>
                <a:defRPr/>
              </a:pPr>
              <a:r>
                <a:rPr lang="en-US" altLang="zh-CN" sz="1500" kern="100" dirty="0">
                  <a:solidFill>
                    <a:srgbClr val="0000FF"/>
                  </a:solidFill>
                  <a:latin typeface="Courier New" panose="02070309020205020404" pitchFamily="49" charset="0"/>
                </a:rPr>
                <a:t>min</a:t>
              </a:r>
              <a:r>
                <a:rPr lang="en-US" altLang="zh-CN" sz="1500" kern="100" dirty="0">
                  <a:solidFill>
                    <a:srgbClr val="000000"/>
                  </a:solidFill>
                  <a:latin typeface="Courier New" panose="02070309020205020404" pitchFamily="49" charset="0"/>
                </a:rPr>
                <a:t> = </a:t>
              </a:r>
              <a:r>
                <a:rPr lang="en-US" altLang="zh-CN" sz="1500" kern="100" dirty="0">
                  <a:solidFill>
                    <a:srgbClr val="0000FF"/>
                  </a:solidFill>
                  <a:latin typeface="Courier New" panose="02070309020205020404" pitchFamily="49" charset="0"/>
                </a:rPr>
                <a:t>@sum</a:t>
              </a:r>
              <a:r>
                <a:rPr lang="en-US" altLang="zh-CN" sz="1500" kern="100" dirty="0">
                  <a:solidFill>
                    <a:srgbClr val="000000"/>
                  </a:solidFill>
                  <a:latin typeface="Courier New" panose="02070309020205020404" pitchFamily="49" charset="0"/>
                </a:rPr>
                <a:t>(links(</a:t>
              </a:r>
              <a:r>
                <a:rPr lang="en-US" altLang="zh-CN" sz="1500" kern="100" dirty="0" err="1">
                  <a:solidFill>
                    <a:srgbClr val="000000"/>
                  </a:solidFill>
                  <a:latin typeface="Courier New" panose="02070309020205020404" pitchFamily="49" charset="0"/>
                </a:rPr>
                <a:t>i,j</a:t>
              </a:r>
              <a:r>
                <a:rPr lang="en-US" altLang="zh-CN" sz="1500" kern="100" dirty="0">
                  <a:solidFill>
                    <a:srgbClr val="000000"/>
                  </a:solidFill>
                  <a:latin typeface="Courier New" panose="02070309020205020404" pitchFamily="49" charset="0"/>
                </a:rPr>
                <a:t>):cost(</a:t>
              </a:r>
              <a:r>
                <a:rPr lang="en-US" altLang="zh-CN" sz="1500" kern="100" dirty="0" err="1">
                  <a:solidFill>
                    <a:srgbClr val="000000"/>
                  </a:solidFill>
                  <a:latin typeface="Courier New" panose="02070309020205020404" pitchFamily="49" charset="0"/>
                </a:rPr>
                <a:t>i,j</a:t>
              </a:r>
              <a:r>
                <a:rPr lang="en-US" altLang="zh-CN" sz="1500" kern="100" dirty="0">
                  <a:solidFill>
                    <a:srgbClr val="000000"/>
                  </a:solidFill>
                  <a:latin typeface="Courier New" panose="02070309020205020404" pitchFamily="49" charset="0"/>
                </a:rPr>
                <a:t>)*</a:t>
              </a:r>
              <a:r>
                <a:rPr lang="en-US" altLang="zh-CN" sz="1500" kern="100" dirty="0" err="1">
                  <a:solidFill>
                    <a:srgbClr val="000000"/>
                  </a:solidFill>
                  <a:latin typeface="Courier New" panose="02070309020205020404" pitchFamily="49" charset="0"/>
                </a:rPr>
                <a:t>volumn</a:t>
              </a:r>
              <a:r>
                <a:rPr lang="en-US" altLang="zh-CN" sz="1500" kern="100" dirty="0">
                  <a:solidFill>
                    <a:srgbClr val="000000"/>
                  </a:solidFill>
                  <a:latin typeface="Courier New" panose="02070309020205020404" pitchFamily="49" charset="0"/>
                </a:rPr>
                <a:t>(</a:t>
              </a:r>
              <a:r>
                <a:rPr lang="en-US" altLang="zh-CN" sz="1500" kern="100" dirty="0" err="1">
                  <a:solidFill>
                    <a:srgbClr val="000000"/>
                  </a:solidFill>
                  <a:latin typeface="Courier New" panose="02070309020205020404" pitchFamily="49" charset="0"/>
                </a:rPr>
                <a:t>i,j</a:t>
              </a:r>
              <a:r>
                <a:rPr lang="en-US" altLang="zh-CN" sz="1500" kern="100" dirty="0">
                  <a:solidFill>
                    <a:srgbClr val="000000"/>
                  </a:solidFill>
                  <a:latin typeface="Courier New" panose="02070309020205020404" pitchFamily="49" charset="0"/>
                </a:rPr>
                <a:t>));</a:t>
              </a:r>
            </a:p>
            <a:p>
              <a:pPr>
                <a:defRPr/>
              </a:pPr>
              <a:r>
                <a:rPr lang="en-US" altLang="zh-CN" sz="1500" kern="100" dirty="0">
                  <a:solidFill>
                    <a:srgbClr val="00AF00"/>
                  </a:solidFill>
                  <a:latin typeface="Courier New" panose="02070309020205020404" pitchFamily="49" charset="0"/>
                </a:rPr>
                <a:t>!</a:t>
              </a:r>
              <a:r>
                <a:rPr lang="zh-CN" altLang="en-US" sz="1500" kern="100" dirty="0">
                  <a:solidFill>
                    <a:srgbClr val="00AF00"/>
                  </a:solidFill>
                  <a:latin typeface="System"/>
                </a:rPr>
                <a:t>需求约束：</a:t>
              </a:r>
              <a:r>
                <a:rPr lang="en-US" altLang="zh-CN" sz="1500" kern="100" dirty="0">
                  <a:solidFill>
                    <a:srgbClr val="00AF00"/>
                  </a:solidFill>
                  <a:latin typeface="Courier New" panose="02070309020205020404" pitchFamily="49" charset="0"/>
                </a:rPr>
                <a:t>4</a:t>
              </a:r>
              <a:r>
                <a:rPr lang="zh-CN" altLang="en-US" sz="1500" kern="100" dirty="0">
                  <a:solidFill>
                    <a:srgbClr val="00AF00"/>
                  </a:solidFill>
                  <a:latin typeface="Courier New" panose="02070309020205020404" pitchFamily="49" charset="0"/>
                </a:rPr>
                <a:t>个客户各要一批货，数量分别为</a:t>
              </a:r>
              <a:r>
                <a:rPr lang="en-US" altLang="zh-CN" sz="1500" kern="100" dirty="0">
                  <a:solidFill>
                    <a:srgbClr val="00AF00"/>
                  </a:solidFill>
                  <a:latin typeface="Courier New" panose="02070309020205020404" pitchFamily="49" charset="0"/>
                </a:rPr>
                <a:t>3,6,5,6;</a:t>
              </a:r>
              <a:endParaRPr lang="en-US" altLang="zh-CN" sz="1500" kern="100" dirty="0">
                <a:solidFill>
                  <a:srgbClr val="000000"/>
                </a:solidFill>
                <a:latin typeface="Courier New" panose="02070309020205020404" pitchFamily="49" charset="0"/>
              </a:endParaRPr>
            </a:p>
            <a:p>
              <a:pPr>
                <a:defRPr/>
              </a:pPr>
              <a:r>
                <a:rPr lang="en-US" altLang="zh-CN" sz="1500" kern="100" dirty="0">
                  <a:solidFill>
                    <a:srgbClr val="0000FF"/>
                  </a:solidFill>
                  <a:latin typeface="Courier New" panose="02070309020205020404" pitchFamily="49" charset="0"/>
                </a:rPr>
                <a:t>@for</a:t>
              </a:r>
              <a:r>
                <a:rPr lang="en-US" altLang="zh-CN" sz="1500" kern="100" dirty="0">
                  <a:solidFill>
                    <a:srgbClr val="000000"/>
                  </a:solidFill>
                  <a:latin typeface="Courier New" panose="02070309020205020404" pitchFamily="49" charset="0"/>
                </a:rPr>
                <a:t> (vendors(j):</a:t>
              </a:r>
            </a:p>
            <a:p>
              <a:pPr>
                <a:defRPr/>
              </a:pPr>
              <a:r>
                <a:rPr lang="en-US" altLang="zh-CN" sz="1500" kern="100" dirty="0">
                  <a:solidFill>
                    <a:srgbClr val="000000"/>
                  </a:solidFill>
                  <a:latin typeface="Courier New" panose="02070309020205020404" pitchFamily="49" charset="0"/>
                </a:rPr>
                <a:t>      </a:t>
              </a:r>
              <a:r>
                <a:rPr lang="en-US" altLang="zh-CN" sz="1500" kern="100" dirty="0">
                  <a:solidFill>
                    <a:srgbClr val="0000FF"/>
                  </a:solidFill>
                  <a:latin typeface="Courier New" panose="02070309020205020404" pitchFamily="49" charset="0"/>
                </a:rPr>
                <a:t>@sum</a:t>
              </a:r>
              <a:r>
                <a:rPr lang="en-US" altLang="zh-CN" sz="1500" kern="100" dirty="0">
                  <a:solidFill>
                    <a:srgbClr val="000000"/>
                  </a:solidFill>
                  <a:latin typeface="Courier New" panose="02070309020205020404" pitchFamily="49" charset="0"/>
                </a:rPr>
                <a:t>(warehouses(</a:t>
              </a:r>
              <a:r>
                <a:rPr lang="en-US" altLang="zh-CN" sz="1500" kern="100" dirty="0" err="1">
                  <a:solidFill>
                    <a:srgbClr val="000000"/>
                  </a:solidFill>
                  <a:latin typeface="Courier New" panose="02070309020205020404" pitchFamily="49" charset="0"/>
                </a:rPr>
                <a:t>i</a:t>
              </a:r>
              <a:r>
                <a:rPr lang="en-US" altLang="zh-CN" sz="1500" kern="100" dirty="0">
                  <a:solidFill>
                    <a:srgbClr val="000000"/>
                  </a:solidFill>
                  <a:latin typeface="Courier New" panose="02070309020205020404" pitchFamily="49" charset="0"/>
                </a:rPr>
                <a:t>):</a:t>
              </a:r>
              <a:r>
                <a:rPr lang="en-US" altLang="zh-CN" sz="1500" kern="100" dirty="0" err="1">
                  <a:solidFill>
                    <a:srgbClr val="000000"/>
                  </a:solidFill>
                  <a:latin typeface="Courier New" panose="02070309020205020404" pitchFamily="49" charset="0"/>
                </a:rPr>
                <a:t>volumn</a:t>
              </a:r>
              <a:r>
                <a:rPr lang="en-US" altLang="zh-CN" sz="1500" kern="100" dirty="0">
                  <a:solidFill>
                    <a:srgbClr val="000000"/>
                  </a:solidFill>
                  <a:latin typeface="Courier New" panose="02070309020205020404" pitchFamily="49" charset="0"/>
                </a:rPr>
                <a:t>(</a:t>
              </a:r>
              <a:r>
                <a:rPr lang="en-US" altLang="zh-CN" sz="1500" kern="100" dirty="0" err="1">
                  <a:solidFill>
                    <a:srgbClr val="000000"/>
                  </a:solidFill>
                  <a:latin typeface="Courier New" panose="02070309020205020404" pitchFamily="49" charset="0"/>
                </a:rPr>
                <a:t>i,j</a:t>
              </a:r>
              <a:r>
                <a:rPr lang="en-US" altLang="zh-CN" sz="1500" kern="100" dirty="0">
                  <a:solidFill>
                    <a:srgbClr val="000000"/>
                  </a:solidFill>
                  <a:latin typeface="Courier New" panose="02070309020205020404" pitchFamily="49" charset="0"/>
                </a:rPr>
                <a:t>))=demand(j));</a:t>
              </a:r>
            </a:p>
            <a:p>
              <a:pPr>
                <a:defRPr/>
              </a:pPr>
              <a:r>
                <a:rPr lang="en-US" altLang="zh-CN" sz="1500" kern="100" dirty="0">
                  <a:solidFill>
                    <a:srgbClr val="00AF00"/>
                  </a:solidFill>
                  <a:latin typeface="Courier New" panose="02070309020205020404" pitchFamily="49" charset="0"/>
                </a:rPr>
                <a:t>!</a:t>
              </a:r>
              <a:r>
                <a:rPr lang="zh-CN" altLang="en-US" sz="1500" kern="100" dirty="0">
                  <a:solidFill>
                    <a:srgbClr val="00AF00"/>
                  </a:solidFill>
                  <a:latin typeface="System"/>
                </a:rPr>
                <a:t>产量约束：</a:t>
              </a:r>
              <a:r>
                <a:rPr lang="zh-CN" altLang="zh-CN" sz="1500" kern="100" dirty="0">
                  <a:solidFill>
                    <a:srgbClr val="00AF00"/>
                  </a:solidFill>
                  <a:latin typeface="System"/>
                </a:rPr>
                <a:t>在各仓库调运的货量</a:t>
              </a:r>
              <a:r>
                <a:rPr lang="zh-CN" altLang="en-US" sz="1500" kern="100" dirty="0">
                  <a:solidFill>
                    <a:srgbClr val="00AF00"/>
                  </a:solidFill>
                  <a:latin typeface="System"/>
                </a:rPr>
                <a:t>等于</a:t>
              </a:r>
              <a:r>
                <a:rPr lang="zh-CN" altLang="zh-CN" sz="1500" kern="100" dirty="0">
                  <a:solidFill>
                    <a:srgbClr val="00AF00"/>
                  </a:solidFill>
                  <a:latin typeface="System"/>
                </a:rPr>
                <a:t>原有库存货物总数分别为</a:t>
              </a:r>
              <a:r>
                <a:rPr lang="en-US" altLang="zh-CN" sz="1500" kern="100" dirty="0">
                  <a:solidFill>
                    <a:srgbClr val="00AF00"/>
                  </a:solidFill>
                  <a:latin typeface="System"/>
                </a:rPr>
                <a:t>7</a:t>
              </a:r>
              <a:r>
                <a:rPr lang="zh-CN" altLang="zh-CN" sz="1500" kern="100" dirty="0">
                  <a:solidFill>
                    <a:srgbClr val="00AF00"/>
                  </a:solidFill>
                  <a:latin typeface="System"/>
                </a:rPr>
                <a:t>，</a:t>
              </a:r>
              <a:r>
                <a:rPr lang="en-US" altLang="zh-CN" sz="1500" kern="100" dirty="0">
                  <a:solidFill>
                    <a:srgbClr val="00AF00"/>
                  </a:solidFill>
                  <a:latin typeface="System"/>
                </a:rPr>
                <a:t>4</a:t>
              </a:r>
              <a:r>
                <a:rPr lang="zh-CN" altLang="zh-CN" sz="1500" kern="100" dirty="0">
                  <a:solidFill>
                    <a:srgbClr val="00AF00"/>
                  </a:solidFill>
                  <a:latin typeface="System"/>
                </a:rPr>
                <a:t>，</a:t>
              </a:r>
              <a:r>
                <a:rPr lang="en-US" altLang="zh-CN" sz="1500" kern="100" dirty="0">
                  <a:solidFill>
                    <a:srgbClr val="00AF00"/>
                  </a:solidFill>
                  <a:latin typeface="System"/>
                </a:rPr>
                <a:t>9;</a:t>
              </a:r>
            </a:p>
            <a:p>
              <a:pPr>
                <a:defRPr/>
              </a:pPr>
              <a:r>
                <a:rPr lang="en-US" altLang="zh-CN" sz="1500" kern="100" dirty="0">
                  <a:solidFill>
                    <a:srgbClr val="0000FF"/>
                  </a:solidFill>
                  <a:latin typeface="Courier New" panose="02070309020205020404" pitchFamily="49" charset="0"/>
                </a:rPr>
                <a:t>@for</a:t>
              </a:r>
              <a:r>
                <a:rPr lang="en-US" altLang="zh-CN" sz="1500" kern="100" dirty="0">
                  <a:solidFill>
                    <a:srgbClr val="000000"/>
                  </a:solidFill>
                  <a:latin typeface="Courier New" panose="02070309020205020404" pitchFamily="49" charset="0"/>
                </a:rPr>
                <a:t>(warehouses(</a:t>
              </a:r>
              <a:r>
                <a:rPr lang="en-US" altLang="zh-CN" sz="1500" kern="100" dirty="0" err="1">
                  <a:solidFill>
                    <a:srgbClr val="000000"/>
                  </a:solidFill>
                  <a:latin typeface="Courier New" panose="02070309020205020404" pitchFamily="49" charset="0"/>
                </a:rPr>
                <a:t>i</a:t>
              </a:r>
              <a:r>
                <a:rPr lang="en-US" altLang="zh-CN" sz="1500" kern="100" dirty="0">
                  <a:solidFill>
                    <a:srgbClr val="000000"/>
                  </a:solidFill>
                  <a:latin typeface="Courier New" panose="02070309020205020404" pitchFamily="49" charset="0"/>
                </a:rPr>
                <a:t>):</a:t>
              </a:r>
            </a:p>
            <a:p>
              <a:pPr>
                <a:defRPr/>
              </a:pPr>
              <a:r>
                <a:rPr lang="en-US" altLang="zh-CN" sz="1500" kern="100" dirty="0">
                  <a:solidFill>
                    <a:srgbClr val="000000"/>
                  </a:solidFill>
                  <a:latin typeface="Courier New" panose="02070309020205020404" pitchFamily="49" charset="0"/>
                </a:rPr>
                <a:t>      </a:t>
              </a:r>
              <a:r>
                <a:rPr lang="en-US" altLang="zh-CN" sz="1500" kern="100" dirty="0">
                  <a:solidFill>
                    <a:srgbClr val="0000FF"/>
                  </a:solidFill>
                  <a:latin typeface="Courier New" panose="02070309020205020404" pitchFamily="49" charset="0"/>
                </a:rPr>
                <a:t>@sum</a:t>
              </a:r>
              <a:r>
                <a:rPr lang="en-US" altLang="zh-CN" sz="1500" kern="100" dirty="0">
                  <a:solidFill>
                    <a:srgbClr val="000000"/>
                  </a:solidFill>
                  <a:latin typeface="Courier New" panose="02070309020205020404" pitchFamily="49" charset="0"/>
                </a:rPr>
                <a:t>(vendors(j):</a:t>
              </a:r>
              <a:r>
                <a:rPr lang="en-US" altLang="zh-CN" sz="1500" kern="100" dirty="0" err="1">
                  <a:solidFill>
                    <a:srgbClr val="000000"/>
                  </a:solidFill>
                  <a:latin typeface="Courier New" panose="02070309020205020404" pitchFamily="49" charset="0"/>
                </a:rPr>
                <a:t>volumn</a:t>
              </a:r>
              <a:r>
                <a:rPr lang="en-US" altLang="zh-CN" sz="1500" kern="100" dirty="0">
                  <a:solidFill>
                    <a:srgbClr val="000000"/>
                  </a:solidFill>
                  <a:latin typeface="Courier New" panose="02070309020205020404" pitchFamily="49" charset="0"/>
                </a:rPr>
                <a:t>(</a:t>
              </a:r>
              <a:r>
                <a:rPr lang="en-US" altLang="zh-CN" sz="1500" kern="100" dirty="0" err="1">
                  <a:solidFill>
                    <a:srgbClr val="000000"/>
                  </a:solidFill>
                  <a:latin typeface="Courier New" panose="02070309020205020404" pitchFamily="49" charset="0"/>
                </a:rPr>
                <a:t>i,j</a:t>
              </a:r>
              <a:r>
                <a:rPr lang="en-US" altLang="zh-CN" sz="1500" kern="100" dirty="0">
                  <a:solidFill>
                    <a:srgbClr val="000000"/>
                  </a:solidFill>
                  <a:latin typeface="Courier New" panose="02070309020205020404" pitchFamily="49" charset="0"/>
                </a:rPr>
                <a:t>))=capacity(</a:t>
              </a:r>
              <a:r>
                <a:rPr lang="en-US" altLang="zh-CN" sz="1500" kern="100" dirty="0" err="1">
                  <a:solidFill>
                    <a:srgbClr val="000000"/>
                  </a:solidFill>
                  <a:latin typeface="Courier New" panose="02070309020205020404" pitchFamily="49" charset="0"/>
                </a:rPr>
                <a:t>i</a:t>
              </a:r>
              <a:r>
                <a:rPr lang="en-US" altLang="zh-CN" sz="1500" kern="100" dirty="0">
                  <a:solidFill>
                    <a:srgbClr val="000000"/>
                  </a:solidFill>
                  <a:latin typeface="Courier New" panose="02070309020205020404" pitchFamily="49" charset="0"/>
                </a:rPr>
                <a:t>));</a:t>
              </a:r>
            </a:p>
            <a:p>
              <a:pPr>
                <a:defRPr/>
              </a:pPr>
              <a:r>
                <a:rPr lang="en-US" altLang="zh-CN" sz="1500" kern="100" dirty="0">
                  <a:solidFill>
                    <a:srgbClr val="00AF00"/>
                  </a:solidFill>
                  <a:latin typeface="Courier New" panose="02070309020205020404" pitchFamily="49" charset="0"/>
                </a:rPr>
                <a:t>!</a:t>
              </a:r>
              <a:r>
                <a:rPr lang="zh-CN" altLang="en-US" sz="1500" kern="100" dirty="0">
                  <a:solidFill>
                    <a:srgbClr val="00AF00"/>
                  </a:solidFill>
                  <a:latin typeface="System"/>
                </a:rPr>
                <a:t>数据</a:t>
              </a:r>
              <a:r>
                <a:rPr lang="en-US" altLang="zh-CN" sz="1500" kern="100" dirty="0">
                  <a:solidFill>
                    <a:srgbClr val="00AF00"/>
                  </a:solidFill>
                  <a:latin typeface="Courier New" panose="02070309020205020404" pitchFamily="49" charset="0"/>
                </a:rPr>
                <a:t>;</a:t>
              </a:r>
              <a:endParaRPr lang="en-US" altLang="zh-CN" sz="1500" kern="100" dirty="0">
                <a:solidFill>
                  <a:srgbClr val="000000"/>
                </a:solidFill>
                <a:latin typeface="Courier New" panose="02070309020205020404" pitchFamily="49" charset="0"/>
              </a:endParaRPr>
            </a:p>
            <a:p>
              <a:pPr>
                <a:defRPr/>
              </a:pPr>
              <a:r>
                <a:rPr lang="en-US" altLang="zh-CN" sz="1500" kern="100" dirty="0">
                  <a:solidFill>
                    <a:srgbClr val="0000FF"/>
                  </a:solidFill>
                  <a:latin typeface="Courier New" panose="02070309020205020404" pitchFamily="49" charset="0"/>
                </a:rPr>
                <a:t>data</a:t>
              </a:r>
              <a:r>
                <a:rPr lang="en-US" altLang="zh-CN" sz="1500" kern="100" dirty="0">
                  <a:solidFill>
                    <a:srgbClr val="000000"/>
                  </a:solidFill>
                  <a:latin typeface="Courier New" panose="02070309020205020404" pitchFamily="49" charset="0"/>
                </a:rPr>
                <a:t>:</a:t>
              </a:r>
            </a:p>
            <a:p>
              <a:pPr>
                <a:defRPr/>
              </a:pPr>
              <a:r>
                <a:rPr lang="en-US" altLang="zh-CN" sz="1500" kern="100" dirty="0">
                  <a:solidFill>
                    <a:srgbClr val="000000"/>
                  </a:solidFill>
                  <a:latin typeface="Courier New" panose="02070309020205020404" pitchFamily="49" charset="0"/>
                </a:rPr>
                <a:t>capacity = 7 4 9;</a:t>
              </a:r>
            </a:p>
            <a:p>
              <a:pPr>
                <a:defRPr/>
              </a:pPr>
              <a:r>
                <a:rPr lang="fr-FR" altLang="zh-CN" sz="1500" kern="100" dirty="0">
                  <a:solidFill>
                    <a:srgbClr val="000000"/>
                  </a:solidFill>
                  <a:latin typeface="Courier New" panose="02070309020205020404" pitchFamily="49" charset="0"/>
                </a:rPr>
                <a:t>demand = 3 6 5 6;</a:t>
              </a:r>
            </a:p>
            <a:p>
              <a:pPr>
                <a:defRPr/>
              </a:pPr>
              <a:r>
                <a:rPr lang="en-US" altLang="zh-CN" sz="1500" kern="100" dirty="0">
                  <a:solidFill>
                    <a:srgbClr val="000000"/>
                  </a:solidFill>
                  <a:latin typeface="Courier New" panose="02070309020205020404" pitchFamily="49" charset="0"/>
                </a:rPr>
                <a:t>cost = 3 11  3  10</a:t>
              </a:r>
              <a:endParaRPr lang="zh-CN" altLang="en-US" sz="1500" kern="100" dirty="0">
                <a:solidFill>
                  <a:srgbClr val="000000"/>
                </a:solidFill>
                <a:latin typeface="Courier New" panose="02070309020205020404" pitchFamily="49" charset="0"/>
              </a:endParaRPr>
            </a:p>
            <a:p>
              <a:pPr>
                <a:defRPr/>
              </a:pPr>
              <a:r>
                <a:rPr lang="zh-CN" altLang="en-US" sz="1500" dirty="0">
                  <a:solidFill>
                    <a:srgbClr val="000000"/>
                  </a:solidFill>
                  <a:latin typeface="Courier New" panose="02070309020205020404" pitchFamily="49" charset="0"/>
                </a:rPr>
                <a:t>	 </a:t>
              </a:r>
              <a:r>
                <a:rPr lang="en-US" altLang="zh-CN" sz="1500" dirty="0">
                  <a:solidFill>
                    <a:srgbClr val="000000"/>
                  </a:solidFill>
                  <a:latin typeface="Courier New" panose="02070309020205020404" pitchFamily="49" charset="0"/>
                </a:rPr>
                <a:t>1  9  2  8</a:t>
              </a:r>
              <a:endParaRPr lang="zh-CN" altLang="en-US" sz="1500" dirty="0">
                <a:solidFill>
                  <a:srgbClr val="000000"/>
                </a:solidFill>
                <a:latin typeface="Courier New" panose="02070309020205020404" pitchFamily="49" charset="0"/>
              </a:endParaRPr>
            </a:p>
            <a:p>
              <a:pPr>
                <a:defRPr/>
              </a:pPr>
              <a:r>
                <a:rPr lang="zh-CN" altLang="en-US" sz="1500" dirty="0">
                  <a:solidFill>
                    <a:srgbClr val="000000"/>
                  </a:solidFill>
                  <a:latin typeface="Courier New" panose="02070309020205020404" pitchFamily="49" charset="0"/>
                </a:rPr>
                <a:t>	 </a:t>
              </a:r>
              <a:r>
                <a:rPr lang="en-US" altLang="zh-CN" sz="1500" dirty="0">
                  <a:solidFill>
                    <a:srgbClr val="000000"/>
                  </a:solidFill>
                  <a:latin typeface="Courier New" panose="02070309020205020404" pitchFamily="49" charset="0"/>
                </a:rPr>
                <a:t>7  4 10  5;</a:t>
              </a:r>
              <a:endParaRPr lang="zh-CN" altLang="en-US" sz="1500" dirty="0">
                <a:solidFill>
                  <a:srgbClr val="000000"/>
                </a:solidFill>
                <a:latin typeface="Courier New" panose="02070309020205020404" pitchFamily="49" charset="0"/>
              </a:endParaRPr>
            </a:p>
            <a:p>
              <a:pPr>
                <a:defRPr/>
              </a:pPr>
              <a:r>
                <a:rPr lang="en-US" altLang="zh-CN" sz="1500" kern="100" dirty="0" err="1">
                  <a:solidFill>
                    <a:srgbClr val="0000FF"/>
                  </a:solidFill>
                  <a:latin typeface="Courier New" panose="02070309020205020404" pitchFamily="49" charset="0"/>
                </a:rPr>
                <a:t>enddata</a:t>
              </a:r>
              <a:endParaRPr lang="en-US" altLang="zh-CN" sz="1500" kern="100" dirty="0">
                <a:solidFill>
                  <a:srgbClr val="000000"/>
                </a:solidFill>
                <a:latin typeface="Courier New" panose="02070309020205020404" pitchFamily="49" charset="0"/>
              </a:endParaRPr>
            </a:p>
            <a:p>
              <a:pPr algn="just">
                <a:defRPr/>
              </a:pPr>
              <a:r>
                <a:rPr lang="en-US" altLang="zh-CN" sz="1500" kern="100" dirty="0">
                  <a:solidFill>
                    <a:srgbClr val="0000FF"/>
                  </a:solidFill>
                  <a:latin typeface="Courier New" panose="02070309020205020404" pitchFamily="49" charset="0"/>
                </a:rPr>
                <a:t>end</a:t>
              </a:r>
              <a:endParaRPr lang="zh-CN" altLang="en-US" sz="1500" dirty="0">
                <a:solidFill>
                  <a:srgbClr val="000000"/>
                </a:solidFill>
                <a:latin typeface="Courier New" panose="02070309020205020404" pitchFamily="49" charset="0"/>
              </a:endParaRPr>
            </a:p>
          </p:txBody>
        </p:sp>
      </p:grpSp>
      <p:sp>
        <p:nvSpPr>
          <p:cNvPr id="8" name="矩形 7">
            <a:extLst>
              <a:ext uri="{FF2B5EF4-FFF2-40B4-BE49-F238E27FC236}">
                <a16:creationId xmlns:a16="http://schemas.microsoft.com/office/drawing/2014/main" id="{42A8E094-E033-4E8E-A096-676D454D6251}"/>
              </a:ext>
            </a:extLst>
          </p:cNvPr>
          <p:cNvSpPr>
            <a:spLocks noChangeArrowheads="1"/>
          </p:cNvSpPr>
          <p:nvPr/>
        </p:nvSpPr>
        <p:spPr bwMode="auto">
          <a:xfrm>
            <a:off x="228600" y="990600"/>
            <a:ext cx="1905000" cy="37861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400">
                <a:solidFill>
                  <a:srgbClr val="FF0000"/>
                </a:solidFill>
                <a:latin typeface="Courier New" panose="02070309020205020404" pitchFamily="49" charset="0"/>
              </a:rPr>
              <a:t>上述方法缺点：</a:t>
            </a:r>
            <a:endParaRPr lang="en-US" altLang="zh-CN" sz="2400">
              <a:solidFill>
                <a:srgbClr val="FF0000"/>
              </a:solidFill>
              <a:latin typeface="Courier New" panose="02070309020205020404" pitchFamily="49" charset="0"/>
            </a:endParaRPr>
          </a:p>
          <a:p>
            <a:r>
              <a:rPr lang="zh-CN" altLang="en-US" sz="2400">
                <a:solidFill>
                  <a:srgbClr val="FF0000"/>
                </a:solidFill>
                <a:latin typeface="Courier New" panose="02070309020205020404" pitchFamily="49" charset="0"/>
              </a:rPr>
              <a:t>不便于推广到一般情况，特别是当产地和销地的个数较多时。（程序可扩展性差！）</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randombar(horizontal)">
                                      <p:cBhvr>
                                        <p:cTn id="7" dur="500"/>
                                        <p:tgtEl>
                                          <p:spTgt spid="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randombar(horizontal)">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3E663D03-0927-4AEC-B677-94F8D8CA6DF7}"/>
              </a:ext>
            </a:extLst>
          </p:cNvPr>
          <p:cNvSpPr>
            <a:spLocks noGrp="1" noChangeArrowheads="1"/>
          </p:cNvSpPr>
          <p:nvPr>
            <p:ph type="title"/>
          </p:nvPr>
        </p:nvSpPr>
        <p:spPr/>
        <p:txBody>
          <a:bodyPr/>
          <a:lstStyle/>
          <a:p>
            <a:pPr eaLnBrk="1" hangingPunct="1"/>
            <a:r>
              <a:rPr lang="zh-CN" altLang="en-US"/>
              <a:t>确定初始基可行解</a:t>
            </a:r>
          </a:p>
        </p:txBody>
      </p:sp>
      <p:sp>
        <p:nvSpPr>
          <p:cNvPr id="151555" name="Rectangle 3">
            <a:extLst>
              <a:ext uri="{FF2B5EF4-FFF2-40B4-BE49-F238E27FC236}">
                <a16:creationId xmlns:a16="http://schemas.microsoft.com/office/drawing/2014/main" id="{F6C0D620-F1DA-4961-B583-5648063B5668}"/>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1676" name="Group 124">
            <a:extLst>
              <a:ext uri="{FF2B5EF4-FFF2-40B4-BE49-F238E27FC236}">
                <a16:creationId xmlns:a16="http://schemas.microsoft.com/office/drawing/2014/main" id="{25D356B0-C6B4-44A1-9664-88E32C96D7AC}"/>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28650">
                  <a:extLst>
                    <a:ext uri="{9D8B030D-6E8A-4147-A177-3AD203B41FA5}">
                      <a16:colId xmlns:a16="http://schemas.microsoft.com/office/drawing/2014/main" val="20005"/>
                    </a:ext>
                  </a:extLst>
                </a:gridCol>
                <a:gridCol w="630237">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5" name="矩形 4">
            <a:extLst>
              <a:ext uri="{FF2B5EF4-FFF2-40B4-BE49-F238E27FC236}">
                <a16:creationId xmlns:a16="http://schemas.microsoft.com/office/drawing/2014/main" id="{914FB719-BBAE-44D4-A51E-B8FE409B5BA0}"/>
              </a:ext>
            </a:extLst>
          </p:cNvPr>
          <p:cNvSpPr>
            <a:spLocks noChangeArrowheads="1"/>
          </p:cNvSpPr>
          <p:nvPr/>
        </p:nvSpPr>
        <p:spPr bwMode="auto">
          <a:xfrm>
            <a:off x="3124200" y="1212850"/>
            <a:ext cx="2133600" cy="461963"/>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“就近供应”</a:t>
            </a:r>
            <a:endParaRPr lang="zh-CN" altLang="en-US" sz="2400">
              <a:solidFill>
                <a:srgbClr val="FF00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1555">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1555">
                                            <p:txEl>
                                              <p:pRg st="1" end="1"/>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555" grpId="0" build="p"/>
      <p:bldP spid="5"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718" name="Text Box 94">
            <a:extLst>
              <a:ext uri="{FF2B5EF4-FFF2-40B4-BE49-F238E27FC236}">
                <a16:creationId xmlns:a16="http://schemas.microsoft.com/office/drawing/2014/main" id="{AFD2A0B4-5651-4D29-ABE9-E78300250D8B}"/>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37891" name="Rectangle 2">
            <a:extLst>
              <a:ext uri="{FF2B5EF4-FFF2-40B4-BE49-F238E27FC236}">
                <a16:creationId xmlns:a16="http://schemas.microsoft.com/office/drawing/2014/main" id="{09884545-868F-4F08-AF92-7861D76597EA}"/>
              </a:ext>
            </a:extLst>
          </p:cNvPr>
          <p:cNvSpPr>
            <a:spLocks noGrp="1" noChangeArrowheads="1"/>
          </p:cNvSpPr>
          <p:nvPr>
            <p:ph type="title"/>
          </p:nvPr>
        </p:nvSpPr>
        <p:spPr/>
        <p:txBody>
          <a:bodyPr/>
          <a:lstStyle/>
          <a:p>
            <a:pPr eaLnBrk="1" hangingPunct="1"/>
            <a:r>
              <a:rPr lang="zh-CN" altLang="en-US"/>
              <a:t>确定初始基可行解</a:t>
            </a:r>
          </a:p>
        </p:txBody>
      </p:sp>
      <p:sp>
        <p:nvSpPr>
          <p:cNvPr id="37892" name="Rectangle 3">
            <a:extLst>
              <a:ext uri="{FF2B5EF4-FFF2-40B4-BE49-F238E27FC236}">
                <a16:creationId xmlns:a16="http://schemas.microsoft.com/office/drawing/2014/main" id="{6B116710-BB83-4281-8B73-624AE3EC518B}"/>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4742" name="Group 118">
            <a:extLst>
              <a:ext uri="{FF2B5EF4-FFF2-40B4-BE49-F238E27FC236}">
                <a16:creationId xmlns:a16="http://schemas.microsoft.com/office/drawing/2014/main" id="{2CF050C9-AF8F-42BF-BAE0-3A41424E76BB}"/>
              </a:ext>
            </a:extLst>
          </p:cNvPr>
          <p:cNvGraphicFramePr>
            <a:graphicFrameLocks noGrp="1"/>
          </p:cNvGraphicFramePr>
          <p:nvPr>
            <p:ph sz="half" idx="2"/>
          </p:nvPr>
        </p:nvGraphicFramePr>
        <p:xfrm>
          <a:off x="1219200" y="2667000"/>
          <a:ext cx="6781800" cy="3952876"/>
        </p:xfrm>
        <a:graphic>
          <a:graphicData uri="http://schemas.openxmlformats.org/drawingml/2006/table">
            <a:tbl>
              <a:tblPr/>
              <a:tblGrid>
                <a:gridCol w="839788">
                  <a:extLst>
                    <a:ext uri="{9D8B030D-6E8A-4147-A177-3AD203B41FA5}">
                      <a16:colId xmlns:a16="http://schemas.microsoft.com/office/drawing/2014/main" val="20000"/>
                    </a:ext>
                  </a:extLst>
                </a:gridCol>
                <a:gridCol w="684212">
                  <a:extLst>
                    <a:ext uri="{9D8B030D-6E8A-4147-A177-3AD203B41FA5}">
                      <a16:colId xmlns:a16="http://schemas.microsoft.com/office/drawing/2014/main" val="20001"/>
                    </a:ext>
                  </a:extLst>
                </a:gridCol>
                <a:gridCol w="650875">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5984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154719" name="Rectangle 95">
            <a:extLst>
              <a:ext uri="{FF2B5EF4-FFF2-40B4-BE49-F238E27FC236}">
                <a16:creationId xmlns:a16="http://schemas.microsoft.com/office/drawing/2014/main" id="{1F0BF430-AC6F-46AF-BBF9-8FE3E5E6DE37}"/>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37986" name="矩形 6">
            <a:extLst>
              <a:ext uri="{FF2B5EF4-FFF2-40B4-BE49-F238E27FC236}">
                <a16:creationId xmlns:a16="http://schemas.microsoft.com/office/drawing/2014/main" id="{345C9AC1-8547-4D53-8E93-4C3EFB5CF570}"/>
              </a:ext>
            </a:extLst>
          </p:cNvPr>
          <p:cNvSpPr>
            <a:spLocks noChangeArrowheads="1"/>
          </p:cNvSpPr>
          <p:nvPr/>
        </p:nvSpPr>
        <p:spPr bwMode="auto">
          <a:xfrm>
            <a:off x="1295400" y="2149475"/>
            <a:ext cx="4343400" cy="46037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产大于销，划去该元素所在列。</a:t>
            </a:r>
            <a:endParaRPr lang="zh-CN" altLang="en-US" sz="2400">
              <a:solidFill>
                <a:srgbClr val="FF00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471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47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718" grpId="0"/>
      <p:bldP spid="154719"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87CCDA54-CF9E-459A-957B-2F88F121CEDC}"/>
              </a:ext>
            </a:extLst>
          </p:cNvPr>
          <p:cNvSpPr>
            <a:spLocks noGrp="1" noChangeArrowheads="1"/>
          </p:cNvSpPr>
          <p:nvPr>
            <p:ph type="title"/>
          </p:nvPr>
        </p:nvSpPr>
        <p:spPr/>
        <p:txBody>
          <a:bodyPr/>
          <a:lstStyle/>
          <a:p>
            <a:pPr eaLnBrk="1" hangingPunct="1"/>
            <a:r>
              <a:rPr lang="zh-CN" altLang="en-US"/>
              <a:t>确定初始基可行解</a:t>
            </a:r>
          </a:p>
        </p:txBody>
      </p:sp>
      <p:sp>
        <p:nvSpPr>
          <p:cNvPr id="38915" name="Rectangle 3">
            <a:extLst>
              <a:ext uri="{FF2B5EF4-FFF2-40B4-BE49-F238E27FC236}">
                <a16:creationId xmlns:a16="http://schemas.microsoft.com/office/drawing/2014/main" id="{0E25795C-8FE3-44A7-B7F7-C89ED7DE9C12}"/>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6787" name="Group 115">
            <a:extLst>
              <a:ext uri="{FF2B5EF4-FFF2-40B4-BE49-F238E27FC236}">
                <a16:creationId xmlns:a16="http://schemas.microsoft.com/office/drawing/2014/main" id="{26DD2544-1FC9-42AA-AA59-5D93DDA7A9F0}"/>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28650">
                  <a:extLst>
                    <a:ext uri="{9D8B030D-6E8A-4147-A177-3AD203B41FA5}">
                      <a16:colId xmlns:a16="http://schemas.microsoft.com/office/drawing/2014/main" val="20005"/>
                    </a:ext>
                  </a:extLst>
                </a:gridCol>
                <a:gridCol w="630237">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39008" name="Text Box 94">
            <a:extLst>
              <a:ext uri="{FF2B5EF4-FFF2-40B4-BE49-F238E27FC236}">
                <a16:creationId xmlns:a16="http://schemas.microsoft.com/office/drawing/2014/main" id="{E6D1DD10-3246-401C-BD79-3757C44F3C42}"/>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39009" name="Rectangle 95">
            <a:extLst>
              <a:ext uri="{FF2B5EF4-FFF2-40B4-BE49-F238E27FC236}">
                <a16:creationId xmlns:a16="http://schemas.microsoft.com/office/drawing/2014/main" id="{797D653E-1662-4DEC-BE74-1003F295FABF}"/>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39010" name="矩形 6">
            <a:extLst>
              <a:ext uri="{FF2B5EF4-FFF2-40B4-BE49-F238E27FC236}">
                <a16:creationId xmlns:a16="http://schemas.microsoft.com/office/drawing/2014/main" id="{C3C3A13B-3D93-4898-A5DB-D370B7803BC9}"/>
              </a:ext>
            </a:extLst>
          </p:cNvPr>
          <p:cNvSpPr>
            <a:spLocks noChangeArrowheads="1"/>
          </p:cNvSpPr>
          <p:nvPr/>
        </p:nvSpPr>
        <p:spPr bwMode="auto">
          <a:xfrm>
            <a:off x="1295400" y="2149475"/>
            <a:ext cx="2438400" cy="46037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更新产量或销量</a:t>
            </a:r>
            <a:endParaRPr lang="zh-CN" altLang="en-US" sz="2400">
              <a:solidFill>
                <a:srgbClr val="FF00FF"/>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a:extLst>
              <a:ext uri="{FF2B5EF4-FFF2-40B4-BE49-F238E27FC236}">
                <a16:creationId xmlns:a16="http://schemas.microsoft.com/office/drawing/2014/main" id="{C2A74748-EF28-402E-A3EC-A7904B783435}"/>
              </a:ext>
            </a:extLst>
          </p:cNvPr>
          <p:cNvSpPr>
            <a:spLocks noGrp="1" noChangeArrowheads="1"/>
          </p:cNvSpPr>
          <p:nvPr>
            <p:ph type="title"/>
          </p:nvPr>
        </p:nvSpPr>
        <p:spPr/>
        <p:txBody>
          <a:bodyPr/>
          <a:lstStyle/>
          <a:p>
            <a:pPr eaLnBrk="1" hangingPunct="1"/>
            <a:r>
              <a:rPr lang="zh-CN" altLang="en-US"/>
              <a:t>确定初始基可行解</a:t>
            </a:r>
          </a:p>
        </p:txBody>
      </p:sp>
      <p:sp>
        <p:nvSpPr>
          <p:cNvPr id="39939" name="Rectangle 3">
            <a:extLst>
              <a:ext uri="{FF2B5EF4-FFF2-40B4-BE49-F238E27FC236}">
                <a16:creationId xmlns:a16="http://schemas.microsoft.com/office/drawing/2014/main" id="{A639F4B5-E20B-455C-84B8-DFE8706A37B1}"/>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5765" name="Group 117">
            <a:extLst>
              <a:ext uri="{FF2B5EF4-FFF2-40B4-BE49-F238E27FC236}">
                <a16:creationId xmlns:a16="http://schemas.microsoft.com/office/drawing/2014/main" id="{E342BDC9-75F9-4DCB-80A8-1A07BF8C9D0A}"/>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0032" name="Text Box 94">
            <a:extLst>
              <a:ext uri="{FF2B5EF4-FFF2-40B4-BE49-F238E27FC236}">
                <a16:creationId xmlns:a16="http://schemas.microsoft.com/office/drawing/2014/main" id="{C5C1AA9C-6593-4ADF-82F3-2ABCFF010C45}"/>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0033" name="Rectangle 95">
            <a:extLst>
              <a:ext uri="{FF2B5EF4-FFF2-40B4-BE49-F238E27FC236}">
                <a16:creationId xmlns:a16="http://schemas.microsoft.com/office/drawing/2014/main" id="{7AB0738F-2AFF-47A2-ADFE-0C309C7A0449}"/>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55766" name="Text Box 118">
            <a:extLst>
              <a:ext uri="{FF2B5EF4-FFF2-40B4-BE49-F238E27FC236}">
                <a16:creationId xmlns:a16="http://schemas.microsoft.com/office/drawing/2014/main" id="{3E77F1B7-A34B-4158-945D-2E927B139A54}"/>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57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766"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A500240E-8F49-49BD-B7BD-7FEF4A906608}"/>
              </a:ext>
            </a:extLst>
          </p:cNvPr>
          <p:cNvSpPr>
            <a:spLocks noGrp="1" noChangeArrowheads="1"/>
          </p:cNvSpPr>
          <p:nvPr>
            <p:ph type="title"/>
          </p:nvPr>
        </p:nvSpPr>
        <p:spPr/>
        <p:txBody>
          <a:bodyPr/>
          <a:lstStyle/>
          <a:p>
            <a:pPr eaLnBrk="1" hangingPunct="1"/>
            <a:r>
              <a:rPr lang="zh-CN" altLang="en-US"/>
              <a:t>确定初始基可行解</a:t>
            </a:r>
          </a:p>
        </p:txBody>
      </p:sp>
      <p:sp>
        <p:nvSpPr>
          <p:cNvPr id="40963" name="Rectangle 3">
            <a:extLst>
              <a:ext uri="{FF2B5EF4-FFF2-40B4-BE49-F238E27FC236}">
                <a16:creationId xmlns:a16="http://schemas.microsoft.com/office/drawing/2014/main" id="{50964CBF-9FC9-482E-868B-C207534EC124}"/>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7700" name="Group 4">
            <a:extLst>
              <a:ext uri="{FF2B5EF4-FFF2-40B4-BE49-F238E27FC236}">
                <a16:creationId xmlns:a16="http://schemas.microsoft.com/office/drawing/2014/main" id="{E969192F-E99C-4966-B74C-E5C079549A70}"/>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1056" name="Text Box 96">
            <a:extLst>
              <a:ext uri="{FF2B5EF4-FFF2-40B4-BE49-F238E27FC236}">
                <a16:creationId xmlns:a16="http://schemas.microsoft.com/office/drawing/2014/main" id="{227035C1-E5BB-4924-9B42-F014ECF75EA0}"/>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1057" name="Rectangle 97">
            <a:extLst>
              <a:ext uri="{FF2B5EF4-FFF2-40B4-BE49-F238E27FC236}">
                <a16:creationId xmlns:a16="http://schemas.microsoft.com/office/drawing/2014/main" id="{00760FC0-0785-4921-8B3C-FBD3CEA4521A}"/>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1058" name="Text Box 98">
            <a:extLst>
              <a:ext uri="{FF2B5EF4-FFF2-40B4-BE49-F238E27FC236}">
                <a16:creationId xmlns:a16="http://schemas.microsoft.com/office/drawing/2014/main" id="{CDD169B1-1036-4A4E-97B0-DBD132173408}"/>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1059" name="Rectangle 99">
            <a:extLst>
              <a:ext uri="{FF2B5EF4-FFF2-40B4-BE49-F238E27FC236}">
                <a16:creationId xmlns:a16="http://schemas.microsoft.com/office/drawing/2014/main" id="{7472B90B-A050-4FF5-9E9D-8354B25B2E9C}"/>
              </a:ext>
            </a:extLst>
          </p:cNvPr>
          <p:cNvSpPr>
            <a:spLocks noChangeArrowheads="1"/>
          </p:cNvSpPr>
          <p:nvPr/>
        </p:nvSpPr>
        <p:spPr bwMode="auto">
          <a:xfrm>
            <a:off x="3429000" y="4038600"/>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1060" name="矩形 8">
            <a:extLst>
              <a:ext uri="{FF2B5EF4-FFF2-40B4-BE49-F238E27FC236}">
                <a16:creationId xmlns:a16="http://schemas.microsoft.com/office/drawing/2014/main" id="{83EEAF4D-BA32-462D-8607-C3A6BB3AD69B}"/>
              </a:ext>
            </a:extLst>
          </p:cNvPr>
          <p:cNvSpPr>
            <a:spLocks noChangeArrowheads="1"/>
          </p:cNvSpPr>
          <p:nvPr/>
        </p:nvSpPr>
        <p:spPr bwMode="auto">
          <a:xfrm>
            <a:off x="1295400" y="2149475"/>
            <a:ext cx="4419600" cy="46037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FF00FF"/>
                </a:solidFill>
                <a:latin typeface="Times New Roman" panose="02020603050405020304" pitchFamily="18" charset="0"/>
              </a:rPr>
              <a:t>产小于销，划去该元素所在行。</a:t>
            </a:r>
            <a:endParaRPr lang="zh-CN" altLang="en-US" sz="2400">
              <a:solidFill>
                <a:srgbClr val="FF00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a:extLst>
              <a:ext uri="{FF2B5EF4-FFF2-40B4-BE49-F238E27FC236}">
                <a16:creationId xmlns:a16="http://schemas.microsoft.com/office/drawing/2014/main" id="{C6B20A1B-4B40-467F-818B-9DC0C8EE4DB0}"/>
              </a:ext>
            </a:extLst>
          </p:cNvPr>
          <p:cNvSpPr>
            <a:spLocks noGrp="1" noChangeArrowheads="1"/>
          </p:cNvSpPr>
          <p:nvPr>
            <p:ph type="title"/>
          </p:nvPr>
        </p:nvSpPr>
        <p:spPr/>
        <p:txBody>
          <a:bodyPr/>
          <a:lstStyle/>
          <a:p>
            <a:pPr eaLnBrk="1" hangingPunct="1"/>
            <a:r>
              <a:rPr lang="zh-CN" altLang="en-US"/>
              <a:t>确定初始基可行解</a:t>
            </a:r>
          </a:p>
        </p:txBody>
      </p:sp>
      <p:sp>
        <p:nvSpPr>
          <p:cNvPr id="41987" name="Rectangle 3">
            <a:extLst>
              <a:ext uri="{FF2B5EF4-FFF2-40B4-BE49-F238E27FC236}">
                <a16:creationId xmlns:a16="http://schemas.microsoft.com/office/drawing/2014/main" id="{5AA7A87F-3A27-47F6-819D-4D800092140C}"/>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8820" name="Group 100">
            <a:extLst>
              <a:ext uri="{FF2B5EF4-FFF2-40B4-BE49-F238E27FC236}">
                <a16:creationId xmlns:a16="http://schemas.microsoft.com/office/drawing/2014/main" id="{80FD4500-B0C5-473C-BD8B-08688B698E74}"/>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2080" name="Text Box 96">
            <a:extLst>
              <a:ext uri="{FF2B5EF4-FFF2-40B4-BE49-F238E27FC236}">
                <a16:creationId xmlns:a16="http://schemas.microsoft.com/office/drawing/2014/main" id="{6909302B-1893-4F51-9379-B71B4D1F9E94}"/>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2081" name="Rectangle 97">
            <a:extLst>
              <a:ext uri="{FF2B5EF4-FFF2-40B4-BE49-F238E27FC236}">
                <a16:creationId xmlns:a16="http://schemas.microsoft.com/office/drawing/2014/main" id="{56E8A607-8CB6-4CF1-BC8E-10BAA8B44770}"/>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2082" name="Text Box 98">
            <a:extLst>
              <a:ext uri="{FF2B5EF4-FFF2-40B4-BE49-F238E27FC236}">
                <a16:creationId xmlns:a16="http://schemas.microsoft.com/office/drawing/2014/main" id="{EBF0F6BB-E258-4F0B-A16E-C7FFF25E294A}"/>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2083" name="Rectangle 99">
            <a:extLst>
              <a:ext uri="{FF2B5EF4-FFF2-40B4-BE49-F238E27FC236}">
                <a16:creationId xmlns:a16="http://schemas.microsoft.com/office/drawing/2014/main" id="{A7E4911E-4012-468E-BEE8-3D9AADCEA130}"/>
              </a:ext>
            </a:extLst>
          </p:cNvPr>
          <p:cNvSpPr>
            <a:spLocks noChangeArrowheads="1"/>
          </p:cNvSpPr>
          <p:nvPr/>
        </p:nvSpPr>
        <p:spPr bwMode="auto">
          <a:xfrm>
            <a:off x="3429000" y="4038600"/>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58821" name="Text Box 101">
            <a:extLst>
              <a:ext uri="{FF2B5EF4-FFF2-40B4-BE49-F238E27FC236}">
                <a16:creationId xmlns:a16="http://schemas.microsoft.com/office/drawing/2014/main" id="{D91BDE67-5DE2-48F3-B69C-56BA58AEDFF4}"/>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4</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88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82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3818C4A0-4ED1-4E98-8ECC-961D9E42D940}"/>
              </a:ext>
            </a:extLst>
          </p:cNvPr>
          <p:cNvSpPr>
            <a:spLocks noGrp="1" noChangeArrowheads="1"/>
          </p:cNvSpPr>
          <p:nvPr>
            <p:ph type="title"/>
          </p:nvPr>
        </p:nvSpPr>
        <p:spPr/>
        <p:txBody>
          <a:bodyPr/>
          <a:lstStyle/>
          <a:p>
            <a:pPr eaLnBrk="1" hangingPunct="1"/>
            <a:r>
              <a:rPr lang="zh-CN" altLang="en-US"/>
              <a:t>确定初始基可行解</a:t>
            </a:r>
          </a:p>
        </p:txBody>
      </p:sp>
      <p:sp>
        <p:nvSpPr>
          <p:cNvPr id="43011" name="Rectangle 3">
            <a:extLst>
              <a:ext uri="{FF2B5EF4-FFF2-40B4-BE49-F238E27FC236}">
                <a16:creationId xmlns:a16="http://schemas.microsoft.com/office/drawing/2014/main" id="{C7EAF752-11B0-4F80-B91A-315B4CDC226E}"/>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9748" name="Group 4">
            <a:extLst>
              <a:ext uri="{FF2B5EF4-FFF2-40B4-BE49-F238E27FC236}">
                <a16:creationId xmlns:a16="http://schemas.microsoft.com/office/drawing/2014/main" id="{BE2269C1-3D78-4626-A74D-F7305011315F}"/>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3</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3104" name="Text Box 96">
            <a:extLst>
              <a:ext uri="{FF2B5EF4-FFF2-40B4-BE49-F238E27FC236}">
                <a16:creationId xmlns:a16="http://schemas.microsoft.com/office/drawing/2014/main" id="{8A11B775-8147-4BED-BA4B-D47BDDEFE8D6}"/>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3105" name="Rectangle 97">
            <a:extLst>
              <a:ext uri="{FF2B5EF4-FFF2-40B4-BE49-F238E27FC236}">
                <a16:creationId xmlns:a16="http://schemas.microsoft.com/office/drawing/2014/main" id="{53779605-B352-45BA-AE2B-46B9FFB8F416}"/>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3106" name="Text Box 98">
            <a:extLst>
              <a:ext uri="{FF2B5EF4-FFF2-40B4-BE49-F238E27FC236}">
                <a16:creationId xmlns:a16="http://schemas.microsoft.com/office/drawing/2014/main" id="{4C4ADEFD-4790-435F-A118-202151F58002}"/>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3107" name="Rectangle 99">
            <a:extLst>
              <a:ext uri="{FF2B5EF4-FFF2-40B4-BE49-F238E27FC236}">
                <a16:creationId xmlns:a16="http://schemas.microsoft.com/office/drawing/2014/main" id="{58093625-6D1C-4ECB-914F-9D10DCB62030}"/>
              </a:ext>
            </a:extLst>
          </p:cNvPr>
          <p:cNvSpPr>
            <a:spLocks noChangeArrowheads="1"/>
          </p:cNvSpPr>
          <p:nvPr/>
        </p:nvSpPr>
        <p:spPr bwMode="auto">
          <a:xfrm>
            <a:off x="3429000" y="4038600"/>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3108" name="Text Box 100">
            <a:extLst>
              <a:ext uri="{FF2B5EF4-FFF2-40B4-BE49-F238E27FC236}">
                <a16:creationId xmlns:a16="http://schemas.microsoft.com/office/drawing/2014/main" id="{4A1D89CC-D54C-42AC-97DB-860A41F3FF62}"/>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4</a:t>
            </a:r>
          </a:p>
        </p:txBody>
      </p:sp>
      <p:sp>
        <p:nvSpPr>
          <p:cNvPr id="43109" name="Rectangle 105">
            <a:extLst>
              <a:ext uri="{FF2B5EF4-FFF2-40B4-BE49-F238E27FC236}">
                <a16:creationId xmlns:a16="http://schemas.microsoft.com/office/drawing/2014/main" id="{6D97221B-7641-430E-AB1A-2C4665F1940E}"/>
              </a:ext>
            </a:extLst>
          </p:cNvPr>
          <p:cNvSpPr>
            <a:spLocks noChangeArrowheads="1"/>
          </p:cNvSpPr>
          <p:nvPr/>
        </p:nvSpPr>
        <p:spPr bwMode="auto">
          <a:xfrm>
            <a:off x="45720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59850" name="Text Box 106">
            <a:extLst>
              <a:ext uri="{FF2B5EF4-FFF2-40B4-BE49-F238E27FC236}">
                <a16:creationId xmlns:a16="http://schemas.microsoft.com/office/drawing/2014/main" id="{A50DCB35-1E1D-4836-81B1-AC2E42DF8F3D}"/>
              </a:ext>
            </a:extLst>
          </p:cNvPr>
          <p:cNvSpPr txBox="1">
            <a:spLocks noChangeArrowheads="1"/>
          </p:cNvSpPr>
          <p:nvPr/>
        </p:nvSpPr>
        <p:spPr bwMode="auto">
          <a:xfrm>
            <a:off x="3581400" y="51054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6</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98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850"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a:extLst>
              <a:ext uri="{FF2B5EF4-FFF2-40B4-BE49-F238E27FC236}">
                <a16:creationId xmlns:a16="http://schemas.microsoft.com/office/drawing/2014/main" id="{FDAADBA7-AF42-4202-8779-54FB013545F3}"/>
              </a:ext>
            </a:extLst>
          </p:cNvPr>
          <p:cNvSpPr>
            <a:spLocks noGrp="1" noChangeArrowheads="1"/>
          </p:cNvSpPr>
          <p:nvPr>
            <p:ph type="title"/>
          </p:nvPr>
        </p:nvSpPr>
        <p:spPr/>
        <p:txBody>
          <a:bodyPr/>
          <a:lstStyle/>
          <a:p>
            <a:pPr eaLnBrk="1" hangingPunct="1"/>
            <a:r>
              <a:rPr lang="zh-CN" altLang="en-US"/>
              <a:t>确定初始基可行解</a:t>
            </a:r>
          </a:p>
        </p:txBody>
      </p:sp>
      <p:sp>
        <p:nvSpPr>
          <p:cNvPr id="44035" name="Rectangle 3">
            <a:extLst>
              <a:ext uri="{FF2B5EF4-FFF2-40B4-BE49-F238E27FC236}">
                <a16:creationId xmlns:a16="http://schemas.microsoft.com/office/drawing/2014/main" id="{42EB98F7-7B4A-4AD3-9146-DBB61F5D8322}"/>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9748" name="Group 4">
            <a:extLst>
              <a:ext uri="{FF2B5EF4-FFF2-40B4-BE49-F238E27FC236}">
                <a16:creationId xmlns:a16="http://schemas.microsoft.com/office/drawing/2014/main" id="{CF7D0B4A-E844-48C2-9B66-1B8B3CAE91F5}"/>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3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rgbClr val="FF3300"/>
                          </a:solidFill>
                          <a:effectLst/>
                          <a:latin typeface="Times New Roman" panose="02020603050405020304" pitchFamily="18" charset="0"/>
                          <a:ea typeface="楷体_GB2312" pitchFamily="49" charset="-122"/>
                        </a:rPr>
                        <a:t>3</a:t>
                      </a: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4128" name="Text Box 96">
            <a:extLst>
              <a:ext uri="{FF2B5EF4-FFF2-40B4-BE49-F238E27FC236}">
                <a16:creationId xmlns:a16="http://schemas.microsoft.com/office/drawing/2014/main" id="{0F4606DA-622D-4894-AD0E-15F58B3F436D}"/>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4129" name="Rectangle 97">
            <a:extLst>
              <a:ext uri="{FF2B5EF4-FFF2-40B4-BE49-F238E27FC236}">
                <a16:creationId xmlns:a16="http://schemas.microsoft.com/office/drawing/2014/main" id="{ACFE8CA7-F9A6-43C4-9007-96F41B91E0FA}"/>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4130" name="Text Box 98">
            <a:extLst>
              <a:ext uri="{FF2B5EF4-FFF2-40B4-BE49-F238E27FC236}">
                <a16:creationId xmlns:a16="http://schemas.microsoft.com/office/drawing/2014/main" id="{30D6E628-037F-4258-A83A-D6F6FF55CCAE}"/>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4131" name="Rectangle 99">
            <a:extLst>
              <a:ext uri="{FF2B5EF4-FFF2-40B4-BE49-F238E27FC236}">
                <a16:creationId xmlns:a16="http://schemas.microsoft.com/office/drawing/2014/main" id="{509B727E-2F0C-4788-9373-6182D3BA2D2F}"/>
              </a:ext>
            </a:extLst>
          </p:cNvPr>
          <p:cNvSpPr>
            <a:spLocks noChangeArrowheads="1"/>
          </p:cNvSpPr>
          <p:nvPr/>
        </p:nvSpPr>
        <p:spPr bwMode="auto">
          <a:xfrm>
            <a:off x="3429000" y="4038600"/>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4132" name="Text Box 100">
            <a:extLst>
              <a:ext uri="{FF2B5EF4-FFF2-40B4-BE49-F238E27FC236}">
                <a16:creationId xmlns:a16="http://schemas.microsoft.com/office/drawing/2014/main" id="{7FC1BF32-B525-42D2-8C3E-918EB89AB24E}"/>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4</a:t>
            </a:r>
          </a:p>
        </p:txBody>
      </p:sp>
      <p:sp>
        <p:nvSpPr>
          <p:cNvPr id="44133" name="Rectangle 105">
            <a:extLst>
              <a:ext uri="{FF2B5EF4-FFF2-40B4-BE49-F238E27FC236}">
                <a16:creationId xmlns:a16="http://schemas.microsoft.com/office/drawing/2014/main" id="{982DD3A8-3070-46DB-925C-572C05CABEB9}"/>
              </a:ext>
            </a:extLst>
          </p:cNvPr>
          <p:cNvSpPr>
            <a:spLocks noChangeArrowheads="1"/>
          </p:cNvSpPr>
          <p:nvPr/>
        </p:nvSpPr>
        <p:spPr bwMode="auto">
          <a:xfrm>
            <a:off x="45720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4134" name="Text Box 106">
            <a:extLst>
              <a:ext uri="{FF2B5EF4-FFF2-40B4-BE49-F238E27FC236}">
                <a16:creationId xmlns:a16="http://schemas.microsoft.com/office/drawing/2014/main" id="{0A752115-7DB2-4255-B8E2-B9BC1A4E90C2}"/>
              </a:ext>
            </a:extLst>
          </p:cNvPr>
          <p:cNvSpPr txBox="1">
            <a:spLocks noChangeArrowheads="1"/>
          </p:cNvSpPr>
          <p:nvPr/>
        </p:nvSpPr>
        <p:spPr bwMode="auto">
          <a:xfrm>
            <a:off x="3581400" y="51054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6</a:t>
            </a:r>
          </a:p>
        </p:txBody>
      </p:sp>
      <p:sp>
        <p:nvSpPr>
          <p:cNvPr id="159851" name="Text Box 107">
            <a:extLst>
              <a:ext uri="{FF2B5EF4-FFF2-40B4-BE49-F238E27FC236}">
                <a16:creationId xmlns:a16="http://schemas.microsoft.com/office/drawing/2014/main" id="{6E58B365-7F77-4C90-B46A-8695106200D1}"/>
              </a:ext>
            </a:extLst>
          </p:cNvPr>
          <p:cNvSpPr txBox="1">
            <a:spLocks noChangeArrowheads="1"/>
          </p:cNvSpPr>
          <p:nvPr/>
        </p:nvSpPr>
        <p:spPr bwMode="auto">
          <a:xfrm>
            <a:off x="6019800" y="5181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4136" name="Rectangle 105">
            <a:extLst>
              <a:ext uri="{FF2B5EF4-FFF2-40B4-BE49-F238E27FC236}">
                <a16:creationId xmlns:a16="http://schemas.microsoft.com/office/drawing/2014/main" id="{2E67D8AC-3652-4F84-B02E-6C351BC973D9}"/>
              </a:ext>
            </a:extLst>
          </p:cNvPr>
          <p:cNvSpPr>
            <a:spLocks noChangeArrowheads="1"/>
          </p:cNvSpPr>
          <p:nvPr/>
        </p:nvSpPr>
        <p:spPr bwMode="auto">
          <a:xfrm>
            <a:off x="33528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98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85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a:extLst>
              <a:ext uri="{FF2B5EF4-FFF2-40B4-BE49-F238E27FC236}">
                <a16:creationId xmlns:a16="http://schemas.microsoft.com/office/drawing/2014/main" id="{3E0E2412-5009-4472-A9C9-81F5E9E408B1}"/>
              </a:ext>
            </a:extLst>
          </p:cNvPr>
          <p:cNvSpPr>
            <a:spLocks noGrp="1" noChangeArrowheads="1"/>
          </p:cNvSpPr>
          <p:nvPr>
            <p:ph type="title"/>
          </p:nvPr>
        </p:nvSpPr>
        <p:spPr/>
        <p:txBody>
          <a:bodyPr/>
          <a:lstStyle/>
          <a:p>
            <a:pPr eaLnBrk="1" hangingPunct="1"/>
            <a:r>
              <a:rPr lang="zh-CN" altLang="en-US"/>
              <a:t>确定初始基可行解</a:t>
            </a:r>
          </a:p>
        </p:txBody>
      </p:sp>
      <p:sp>
        <p:nvSpPr>
          <p:cNvPr id="45059" name="Rectangle 3">
            <a:extLst>
              <a:ext uri="{FF2B5EF4-FFF2-40B4-BE49-F238E27FC236}">
                <a16:creationId xmlns:a16="http://schemas.microsoft.com/office/drawing/2014/main" id="{08055ABA-860F-4751-B576-33A644415E8D}"/>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9748" name="Group 4">
            <a:extLst>
              <a:ext uri="{FF2B5EF4-FFF2-40B4-BE49-F238E27FC236}">
                <a16:creationId xmlns:a16="http://schemas.microsoft.com/office/drawing/2014/main" id="{104F77E1-D4B8-40AF-94FF-E688B36803E1}"/>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3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rgbClr val="FF0000"/>
                          </a:solidFill>
                          <a:effectLst/>
                          <a:latin typeface="Times New Roman" panose="02020603050405020304" pitchFamily="18" charset="0"/>
                          <a:ea typeface="楷体_GB2312" pitchFamily="49" charset="-122"/>
                        </a:rPr>
                        <a:t>0</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0000"/>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5152" name="Text Box 96">
            <a:extLst>
              <a:ext uri="{FF2B5EF4-FFF2-40B4-BE49-F238E27FC236}">
                <a16:creationId xmlns:a16="http://schemas.microsoft.com/office/drawing/2014/main" id="{6DE37D3F-815E-454F-B3C3-D6B2512C554D}"/>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5153" name="Rectangle 97">
            <a:extLst>
              <a:ext uri="{FF2B5EF4-FFF2-40B4-BE49-F238E27FC236}">
                <a16:creationId xmlns:a16="http://schemas.microsoft.com/office/drawing/2014/main" id="{60BF2430-4C14-4F17-B6DC-DBF80A92FBD4}"/>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5154" name="Text Box 98">
            <a:extLst>
              <a:ext uri="{FF2B5EF4-FFF2-40B4-BE49-F238E27FC236}">
                <a16:creationId xmlns:a16="http://schemas.microsoft.com/office/drawing/2014/main" id="{75D01093-5DEA-4DC9-8AD3-E29AFE286AFC}"/>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5155" name="Rectangle 99">
            <a:extLst>
              <a:ext uri="{FF2B5EF4-FFF2-40B4-BE49-F238E27FC236}">
                <a16:creationId xmlns:a16="http://schemas.microsoft.com/office/drawing/2014/main" id="{A1CFB5E7-A5DD-47A3-BAC8-705F15E7640D}"/>
              </a:ext>
            </a:extLst>
          </p:cNvPr>
          <p:cNvSpPr>
            <a:spLocks noChangeArrowheads="1"/>
          </p:cNvSpPr>
          <p:nvPr/>
        </p:nvSpPr>
        <p:spPr bwMode="auto">
          <a:xfrm>
            <a:off x="3429000" y="4038600"/>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5156" name="Text Box 100">
            <a:extLst>
              <a:ext uri="{FF2B5EF4-FFF2-40B4-BE49-F238E27FC236}">
                <a16:creationId xmlns:a16="http://schemas.microsoft.com/office/drawing/2014/main" id="{6640C471-491E-48A2-98AF-6EFF2349FE15}"/>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4</a:t>
            </a:r>
          </a:p>
        </p:txBody>
      </p:sp>
      <p:sp>
        <p:nvSpPr>
          <p:cNvPr id="45157" name="Rectangle 105">
            <a:extLst>
              <a:ext uri="{FF2B5EF4-FFF2-40B4-BE49-F238E27FC236}">
                <a16:creationId xmlns:a16="http://schemas.microsoft.com/office/drawing/2014/main" id="{4025F051-06A3-427B-8FDD-5F855824FF14}"/>
              </a:ext>
            </a:extLst>
          </p:cNvPr>
          <p:cNvSpPr>
            <a:spLocks noChangeArrowheads="1"/>
          </p:cNvSpPr>
          <p:nvPr/>
        </p:nvSpPr>
        <p:spPr bwMode="auto">
          <a:xfrm>
            <a:off x="45720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5158" name="Text Box 106">
            <a:extLst>
              <a:ext uri="{FF2B5EF4-FFF2-40B4-BE49-F238E27FC236}">
                <a16:creationId xmlns:a16="http://schemas.microsoft.com/office/drawing/2014/main" id="{459927A0-72F6-4347-85BC-83F25E7B8FDB}"/>
              </a:ext>
            </a:extLst>
          </p:cNvPr>
          <p:cNvSpPr txBox="1">
            <a:spLocks noChangeArrowheads="1"/>
          </p:cNvSpPr>
          <p:nvPr/>
        </p:nvSpPr>
        <p:spPr bwMode="auto">
          <a:xfrm>
            <a:off x="3581400" y="51054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6</a:t>
            </a:r>
          </a:p>
        </p:txBody>
      </p:sp>
      <p:sp>
        <p:nvSpPr>
          <p:cNvPr id="45159" name="Text Box 107">
            <a:extLst>
              <a:ext uri="{FF2B5EF4-FFF2-40B4-BE49-F238E27FC236}">
                <a16:creationId xmlns:a16="http://schemas.microsoft.com/office/drawing/2014/main" id="{7DED7B20-FC45-4720-86CC-E54A288D6773}"/>
              </a:ext>
            </a:extLst>
          </p:cNvPr>
          <p:cNvSpPr txBox="1">
            <a:spLocks noChangeArrowheads="1"/>
          </p:cNvSpPr>
          <p:nvPr/>
        </p:nvSpPr>
        <p:spPr bwMode="auto">
          <a:xfrm>
            <a:off x="6019800" y="5181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5160" name="Rectangle 105">
            <a:extLst>
              <a:ext uri="{FF2B5EF4-FFF2-40B4-BE49-F238E27FC236}">
                <a16:creationId xmlns:a16="http://schemas.microsoft.com/office/drawing/2014/main" id="{DD5CBC9E-F24E-45F6-9E8E-AEE718407919}"/>
              </a:ext>
            </a:extLst>
          </p:cNvPr>
          <p:cNvSpPr>
            <a:spLocks noChangeArrowheads="1"/>
          </p:cNvSpPr>
          <p:nvPr/>
        </p:nvSpPr>
        <p:spPr bwMode="auto">
          <a:xfrm>
            <a:off x="33528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5161" name="Rectangle 99">
            <a:extLst>
              <a:ext uri="{FF2B5EF4-FFF2-40B4-BE49-F238E27FC236}">
                <a16:creationId xmlns:a16="http://schemas.microsoft.com/office/drawing/2014/main" id="{46B6A899-CE9B-42AF-885B-86F97934DE22}"/>
              </a:ext>
            </a:extLst>
          </p:cNvPr>
          <p:cNvSpPr>
            <a:spLocks noChangeArrowheads="1"/>
          </p:cNvSpPr>
          <p:nvPr/>
        </p:nvSpPr>
        <p:spPr bwMode="auto">
          <a:xfrm>
            <a:off x="5872163" y="5105400"/>
            <a:ext cx="2128837" cy="914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a:extLst>
              <a:ext uri="{FF2B5EF4-FFF2-40B4-BE49-F238E27FC236}">
                <a16:creationId xmlns:a16="http://schemas.microsoft.com/office/drawing/2014/main" id="{94109EB1-4FCD-4916-B7EF-F982CFA538E0}"/>
              </a:ext>
            </a:extLst>
          </p:cNvPr>
          <p:cNvSpPr>
            <a:spLocks noGrp="1" noChangeArrowheads="1"/>
          </p:cNvSpPr>
          <p:nvPr>
            <p:ph type="title"/>
          </p:nvPr>
        </p:nvSpPr>
        <p:spPr/>
        <p:txBody>
          <a:bodyPr/>
          <a:lstStyle/>
          <a:p>
            <a:pPr eaLnBrk="1" hangingPunct="1"/>
            <a:r>
              <a:rPr lang="zh-CN" altLang="en-US"/>
              <a:t>确定初始基可行解</a:t>
            </a:r>
          </a:p>
        </p:txBody>
      </p:sp>
      <p:sp>
        <p:nvSpPr>
          <p:cNvPr id="46083" name="Rectangle 3">
            <a:extLst>
              <a:ext uri="{FF2B5EF4-FFF2-40B4-BE49-F238E27FC236}">
                <a16:creationId xmlns:a16="http://schemas.microsoft.com/office/drawing/2014/main" id="{35E0D551-ABDE-49C7-92BD-325D4DE365A6}"/>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9748" name="Group 4">
            <a:extLst>
              <a:ext uri="{FF2B5EF4-FFF2-40B4-BE49-F238E27FC236}">
                <a16:creationId xmlns:a16="http://schemas.microsoft.com/office/drawing/2014/main" id="{1AD63C37-4842-45FA-B592-A1D10E344253}"/>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3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rgbClr val="FF0000"/>
                          </a:solidFill>
                          <a:effectLst/>
                          <a:latin typeface="Times New Roman" panose="02020603050405020304" pitchFamily="18" charset="0"/>
                          <a:ea typeface="楷体_GB2312" pitchFamily="49" charset="-122"/>
                        </a:rPr>
                        <a:t>0</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0000"/>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6176" name="Text Box 96">
            <a:extLst>
              <a:ext uri="{FF2B5EF4-FFF2-40B4-BE49-F238E27FC236}">
                <a16:creationId xmlns:a16="http://schemas.microsoft.com/office/drawing/2014/main" id="{A4D95836-A7B0-48D4-B256-38BD69D12A52}"/>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6177" name="Rectangle 97">
            <a:extLst>
              <a:ext uri="{FF2B5EF4-FFF2-40B4-BE49-F238E27FC236}">
                <a16:creationId xmlns:a16="http://schemas.microsoft.com/office/drawing/2014/main" id="{1EC25F09-CB1A-4974-A3BE-E9DCCCEF0C59}"/>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6178" name="Text Box 98">
            <a:extLst>
              <a:ext uri="{FF2B5EF4-FFF2-40B4-BE49-F238E27FC236}">
                <a16:creationId xmlns:a16="http://schemas.microsoft.com/office/drawing/2014/main" id="{5EE761C7-25C8-469A-A9E8-A230A5AA8788}"/>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6179" name="Rectangle 99">
            <a:extLst>
              <a:ext uri="{FF2B5EF4-FFF2-40B4-BE49-F238E27FC236}">
                <a16:creationId xmlns:a16="http://schemas.microsoft.com/office/drawing/2014/main" id="{D2900CA3-1AC5-4873-9219-E8FE799000A1}"/>
              </a:ext>
            </a:extLst>
          </p:cNvPr>
          <p:cNvSpPr>
            <a:spLocks noChangeArrowheads="1"/>
          </p:cNvSpPr>
          <p:nvPr/>
        </p:nvSpPr>
        <p:spPr bwMode="auto">
          <a:xfrm>
            <a:off x="3429000" y="4038600"/>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6180" name="Text Box 100">
            <a:extLst>
              <a:ext uri="{FF2B5EF4-FFF2-40B4-BE49-F238E27FC236}">
                <a16:creationId xmlns:a16="http://schemas.microsoft.com/office/drawing/2014/main" id="{56C79AC5-99B6-4624-90AB-72DDFA6498DA}"/>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4</a:t>
            </a:r>
          </a:p>
        </p:txBody>
      </p:sp>
      <p:sp>
        <p:nvSpPr>
          <p:cNvPr id="46181" name="Rectangle 105">
            <a:extLst>
              <a:ext uri="{FF2B5EF4-FFF2-40B4-BE49-F238E27FC236}">
                <a16:creationId xmlns:a16="http://schemas.microsoft.com/office/drawing/2014/main" id="{19760CC8-2FCC-4CB0-9E68-9CADE3DAB92F}"/>
              </a:ext>
            </a:extLst>
          </p:cNvPr>
          <p:cNvSpPr>
            <a:spLocks noChangeArrowheads="1"/>
          </p:cNvSpPr>
          <p:nvPr/>
        </p:nvSpPr>
        <p:spPr bwMode="auto">
          <a:xfrm>
            <a:off x="45720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6182" name="Text Box 106">
            <a:extLst>
              <a:ext uri="{FF2B5EF4-FFF2-40B4-BE49-F238E27FC236}">
                <a16:creationId xmlns:a16="http://schemas.microsoft.com/office/drawing/2014/main" id="{6ECCA74A-458A-4A0F-B64D-64CF3FA3E3B5}"/>
              </a:ext>
            </a:extLst>
          </p:cNvPr>
          <p:cNvSpPr txBox="1">
            <a:spLocks noChangeArrowheads="1"/>
          </p:cNvSpPr>
          <p:nvPr/>
        </p:nvSpPr>
        <p:spPr bwMode="auto">
          <a:xfrm>
            <a:off x="3581400" y="51054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6</a:t>
            </a:r>
          </a:p>
        </p:txBody>
      </p:sp>
      <p:sp>
        <p:nvSpPr>
          <p:cNvPr id="46183" name="Text Box 107">
            <a:extLst>
              <a:ext uri="{FF2B5EF4-FFF2-40B4-BE49-F238E27FC236}">
                <a16:creationId xmlns:a16="http://schemas.microsoft.com/office/drawing/2014/main" id="{CBA2CECF-3518-44E0-A20D-5FEF735E8B45}"/>
              </a:ext>
            </a:extLst>
          </p:cNvPr>
          <p:cNvSpPr txBox="1">
            <a:spLocks noChangeArrowheads="1"/>
          </p:cNvSpPr>
          <p:nvPr/>
        </p:nvSpPr>
        <p:spPr bwMode="auto">
          <a:xfrm>
            <a:off x="6019800" y="5181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6184" name="Rectangle 105">
            <a:extLst>
              <a:ext uri="{FF2B5EF4-FFF2-40B4-BE49-F238E27FC236}">
                <a16:creationId xmlns:a16="http://schemas.microsoft.com/office/drawing/2014/main" id="{0FF14244-85A1-4564-8898-67D09FD427A6}"/>
              </a:ext>
            </a:extLst>
          </p:cNvPr>
          <p:cNvSpPr>
            <a:spLocks noChangeArrowheads="1"/>
          </p:cNvSpPr>
          <p:nvPr/>
        </p:nvSpPr>
        <p:spPr bwMode="auto">
          <a:xfrm>
            <a:off x="33528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6185" name="Rectangle 99">
            <a:extLst>
              <a:ext uri="{FF2B5EF4-FFF2-40B4-BE49-F238E27FC236}">
                <a16:creationId xmlns:a16="http://schemas.microsoft.com/office/drawing/2014/main" id="{D218CD80-54A4-4C21-90C3-325E73D264F5}"/>
              </a:ext>
            </a:extLst>
          </p:cNvPr>
          <p:cNvSpPr>
            <a:spLocks noChangeArrowheads="1"/>
          </p:cNvSpPr>
          <p:nvPr/>
        </p:nvSpPr>
        <p:spPr bwMode="auto">
          <a:xfrm>
            <a:off x="5872163" y="5105400"/>
            <a:ext cx="2128837" cy="914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6186" name="Text Box 107">
            <a:extLst>
              <a:ext uri="{FF2B5EF4-FFF2-40B4-BE49-F238E27FC236}">
                <a16:creationId xmlns:a16="http://schemas.microsoft.com/office/drawing/2014/main" id="{9491751C-98EE-41E8-AA10-EC603AEF43D2}"/>
              </a:ext>
            </a:extLst>
          </p:cNvPr>
          <p:cNvSpPr txBox="1">
            <a:spLocks noChangeArrowheads="1"/>
          </p:cNvSpPr>
          <p:nvPr/>
        </p:nvSpPr>
        <p:spPr bwMode="auto">
          <a:xfrm>
            <a:off x="6096000" y="34290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a:extLst>
              <a:ext uri="{FF2B5EF4-FFF2-40B4-BE49-F238E27FC236}">
                <a16:creationId xmlns:a16="http://schemas.microsoft.com/office/drawing/2014/main" id="{C1DA30D3-DC8A-4E9E-BD52-43D2BDD1B024}"/>
              </a:ext>
            </a:extLst>
          </p:cNvPr>
          <p:cNvSpPr>
            <a:spLocks noGrp="1" noChangeArrowheads="1"/>
          </p:cNvSpPr>
          <p:nvPr>
            <p:ph type="title"/>
          </p:nvPr>
        </p:nvSpPr>
        <p:spPr/>
        <p:txBody>
          <a:bodyPr/>
          <a:lstStyle/>
          <a:p>
            <a:pPr eaLnBrk="1" hangingPunct="1"/>
            <a:r>
              <a:rPr lang="zh-CN" altLang="en-US"/>
              <a:t>确定初始基可行解</a:t>
            </a:r>
          </a:p>
        </p:txBody>
      </p:sp>
      <p:sp>
        <p:nvSpPr>
          <p:cNvPr id="47107" name="Rectangle 3">
            <a:extLst>
              <a:ext uri="{FF2B5EF4-FFF2-40B4-BE49-F238E27FC236}">
                <a16:creationId xmlns:a16="http://schemas.microsoft.com/office/drawing/2014/main" id="{F8327752-2E02-434C-BF25-C1408F3DAF82}"/>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59748" name="Group 4">
            <a:extLst>
              <a:ext uri="{FF2B5EF4-FFF2-40B4-BE49-F238E27FC236}">
                <a16:creationId xmlns:a16="http://schemas.microsoft.com/office/drawing/2014/main" id="{3260F612-7939-48EF-BDB8-C9221F0AC7FB}"/>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3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9900"/>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1</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rgbClr val="FF0000"/>
                          </a:solidFill>
                          <a:effectLst/>
                          <a:latin typeface="Times New Roman" panose="02020603050405020304" pitchFamily="18" charset="0"/>
                          <a:ea typeface="楷体_GB2312" pitchFamily="49" charset="-122"/>
                        </a:rPr>
                        <a:t>0</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0000"/>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7200" name="Text Box 96">
            <a:extLst>
              <a:ext uri="{FF2B5EF4-FFF2-40B4-BE49-F238E27FC236}">
                <a16:creationId xmlns:a16="http://schemas.microsoft.com/office/drawing/2014/main" id="{1699F508-7CB7-40A0-B559-6DF50B383B4F}"/>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7201" name="Rectangle 97">
            <a:extLst>
              <a:ext uri="{FF2B5EF4-FFF2-40B4-BE49-F238E27FC236}">
                <a16:creationId xmlns:a16="http://schemas.microsoft.com/office/drawing/2014/main" id="{EB761CBC-0C08-4AE9-A5EE-06ABC62DC9FD}"/>
              </a:ext>
            </a:extLst>
          </p:cNvPr>
          <p:cNvSpPr>
            <a:spLocks noChangeArrowheads="1"/>
          </p:cNvSpPr>
          <p:nvPr/>
        </p:nvSpPr>
        <p:spPr bwMode="auto">
          <a:xfrm>
            <a:off x="2057400" y="3276600"/>
            <a:ext cx="13716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7202" name="Text Box 98">
            <a:extLst>
              <a:ext uri="{FF2B5EF4-FFF2-40B4-BE49-F238E27FC236}">
                <a16:creationId xmlns:a16="http://schemas.microsoft.com/office/drawing/2014/main" id="{9D9E9A24-343D-4092-AF83-2836B1E9749B}"/>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1</a:t>
            </a:r>
          </a:p>
        </p:txBody>
      </p:sp>
      <p:sp>
        <p:nvSpPr>
          <p:cNvPr id="47203" name="Rectangle 99">
            <a:extLst>
              <a:ext uri="{FF2B5EF4-FFF2-40B4-BE49-F238E27FC236}">
                <a16:creationId xmlns:a16="http://schemas.microsoft.com/office/drawing/2014/main" id="{F171DC9B-D417-424A-A97A-99A4A07025DD}"/>
              </a:ext>
            </a:extLst>
          </p:cNvPr>
          <p:cNvSpPr>
            <a:spLocks noChangeArrowheads="1"/>
          </p:cNvSpPr>
          <p:nvPr/>
        </p:nvSpPr>
        <p:spPr bwMode="auto">
          <a:xfrm>
            <a:off x="3424238" y="4206875"/>
            <a:ext cx="4572000" cy="8382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7204" name="Text Box 100">
            <a:extLst>
              <a:ext uri="{FF2B5EF4-FFF2-40B4-BE49-F238E27FC236}">
                <a16:creationId xmlns:a16="http://schemas.microsoft.com/office/drawing/2014/main" id="{0C321007-5FE2-4FBA-ABBB-3310E483ADEE}"/>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4</a:t>
            </a:r>
          </a:p>
        </p:txBody>
      </p:sp>
      <p:sp>
        <p:nvSpPr>
          <p:cNvPr id="47205" name="Rectangle 105">
            <a:extLst>
              <a:ext uri="{FF2B5EF4-FFF2-40B4-BE49-F238E27FC236}">
                <a16:creationId xmlns:a16="http://schemas.microsoft.com/office/drawing/2014/main" id="{76AD4121-CACC-4859-8A09-ED51AF9ACB88}"/>
              </a:ext>
            </a:extLst>
          </p:cNvPr>
          <p:cNvSpPr>
            <a:spLocks noChangeArrowheads="1"/>
          </p:cNvSpPr>
          <p:nvPr/>
        </p:nvSpPr>
        <p:spPr bwMode="auto">
          <a:xfrm>
            <a:off x="45720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7206" name="Text Box 106">
            <a:extLst>
              <a:ext uri="{FF2B5EF4-FFF2-40B4-BE49-F238E27FC236}">
                <a16:creationId xmlns:a16="http://schemas.microsoft.com/office/drawing/2014/main" id="{46F59608-4C7B-4487-9C62-5F0EE21A4540}"/>
              </a:ext>
            </a:extLst>
          </p:cNvPr>
          <p:cNvSpPr txBox="1">
            <a:spLocks noChangeArrowheads="1"/>
          </p:cNvSpPr>
          <p:nvPr/>
        </p:nvSpPr>
        <p:spPr bwMode="auto">
          <a:xfrm>
            <a:off x="3581400" y="51054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6</a:t>
            </a:r>
          </a:p>
        </p:txBody>
      </p:sp>
      <p:sp>
        <p:nvSpPr>
          <p:cNvPr id="47207" name="Text Box 107">
            <a:extLst>
              <a:ext uri="{FF2B5EF4-FFF2-40B4-BE49-F238E27FC236}">
                <a16:creationId xmlns:a16="http://schemas.microsoft.com/office/drawing/2014/main" id="{A36E81CD-C698-4D65-B5DA-30FA7CD6049D}"/>
              </a:ext>
            </a:extLst>
          </p:cNvPr>
          <p:cNvSpPr txBox="1">
            <a:spLocks noChangeArrowheads="1"/>
          </p:cNvSpPr>
          <p:nvPr/>
        </p:nvSpPr>
        <p:spPr bwMode="auto">
          <a:xfrm>
            <a:off x="6019800" y="5181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7208" name="Rectangle 105">
            <a:extLst>
              <a:ext uri="{FF2B5EF4-FFF2-40B4-BE49-F238E27FC236}">
                <a16:creationId xmlns:a16="http://schemas.microsoft.com/office/drawing/2014/main" id="{ABC2503B-EEB3-4354-8983-D9182F8D1791}"/>
              </a:ext>
            </a:extLst>
          </p:cNvPr>
          <p:cNvSpPr>
            <a:spLocks noChangeArrowheads="1"/>
          </p:cNvSpPr>
          <p:nvPr/>
        </p:nvSpPr>
        <p:spPr bwMode="auto">
          <a:xfrm>
            <a:off x="3352800" y="3276600"/>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7209" name="Rectangle 99">
            <a:extLst>
              <a:ext uri="{FF2B5EF4-FFF2-40B4-BE49-F238E27FC236}">
                <a16:creationId xmlns:a16="http://schemas.microsoft.com/office/drawing/2014/main" id="{D6BFE069-F74F-4313-8451-99DCB509625B}"/>
              </a:ext>
            </a:extLst>
          </p:cNvPr>
          <p:cNvSpPr>
            <a:spLocks noChangeArrowheads="1"/>
          </p:cNvSpPr>
          <p:nvPr/>
        </p:nvSpPr>
        <p:spPr bwMode="auto">
          <a:xfrm>
            <a:off x="5867400" y="5114925"/>
            <a:ext cx="2128838" cy="914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7210" name="Text Box 107">
            <a:extLst>
              <a:ext uri="{FF2B5EF4-FFF2-40B4-BE49-F238E27FC236}">
                <a16:creationId xmlns:a16="http://schemas.microsoft.com/office/drawing/2014/main" id="{833FB1BD-171F-4409-8FE8-13E078E65EEB}"/>
              </a:ext>
            </a:extLst>
          </p:cNvPr>
          <p:cNvSpPr txBox="1">
            <a:spLocks noChangeArrowheads="1"/>
          </p:cNvSpPr>
          <p:nvPr/>
        </p:nvSpPr>
        <p:spPr bwMode="auto">
          <a:xfrm>
            <a:off x="6096000" y="34290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000099"/>
                </a:solidFill>
              </a:rPr>
              <a:t>3</a:t>
            </a:r>
          </a:p>
        </p:txBody>
      </p:sp>
      <p:sp>
        <p:nvSpPr>
          <p:cNvPr id="47211" name="Rectangle 99">
            <a:extLst>
              <a:ext uri="{FF2B5EF4-FFF2-40B4-BE49-F238E27FC236}">
                <a16:creationId xmlns:a16="http://schemas.microsoft.com/office/drawing/2014/main" id="{621D2F9C-3A19-4208-8922-1A87DD5D55A4}"/>
              </a:ext>
            </a:extLst>
          </p:cNvPr>
          <p:cNvSpPr>
            <a:spLocks noChangeArrowheads="1"/>
          </p:cNvSpPr>
          <p:nvPr/>
        </p:nvSpPr>
        <p:spPr bwMode="auto">
          <a:xfrm>
            <a:off x="5872163" y="3276600"/>
            <a:ext cx="2128837" cy="914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47212" name="Rectangle 105">
            <a:extLst>
              <a:ext uri="{FF2B5EF4-FFF2-40B4-BE49-F238E27FC236}">
                <a16:creationId xmlns:a16="http://schemas.microsoft.com/office/drawing/2014/main" id="{A1DA1A56-5E33-4723-9EFE-83D9B77E7A8C}"/>
              </a:ext>
            </a:extLst>
          </p:cNvPr>
          <p:cNvSpPr>
            <a:spLocks noChangeArrowheads="1"/>
          </p:cNvSpPr>
          <p:nvPr/>
        </p:nvSpPr>
        <p:spPr bwMode="auto">
          <a:xfrm>
            <a:off x="5872163" y="3243263"/>
            <a:ext cx="1295400" cy="33528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a:extLst>
              <a:ext uri="{FF2B5EF4-FFF2-40B4-BE49-F238E27FC236}">
                <a16:creationId xmlns:a16="http://schemas.microsoft.com/office/drawing/2014/main" id="{7B26316D-EF8C-44B9-A1CA-CEE8DBD93604}"/>
              </a:ext>
            </a:extLst>
          </p:cNvPr>
          <p:cNvSpPr>
            <a:spLocks noGrp="1" noChangeArrowheads="1"/>
          </p:cNvSpPr>
          <p:nvPr>
            <p:ph type="title"/>
          </p:nvPr>
        </p:nvSpPr>
        <p:spPr/>
        <p:txBody>
          <a:bodyPr/>
          <a:lstStyle/>
          <a:p>
            <a:pPr eaLnBrk="1" hangingPunct="1"/>
            <a:r>
              <a:rPr lang="zh-CN" altLang="en-US"/>
              <a:t>确定初始基可行解</a:t>
            </a:r>
          </a:p>
        </p:txBody>
      </p:sp>
      <p:sp>
        <p:nvSpPr>
          <p:cNvPr id="48131" name="Rectangle 3">
            <a:extLst>
              <a:ext uri="{FF2B5EF4-FFF2-40B4-BE49-F238E27FC236}">
                <a16:creationId xmlns:a16="http://schemas.microsoft.com/office/drawing/2014/main" id="{C02AFDD5-E7B3-4AAC-ACD9-DBF3CB218B31}"/>
              </a:ext>
            </a:extLst>
          </p:cNvPr>
          <p:cNvSpPr>
            <a:spLocks noGrp="1" noChangeArrowheads="1"/>
          </p:cNvSpPr>
          <p:nvPr>
            <p:ph type="body" sz="half" idx="1"/>
          </p:nvPr>
        </p:nvSpPr>
        <p:spPr>
          <a:xfrm>
            <a:off x="457200" y="1143000"/>
            <a:ext cx="8077200" cy="2597150"/>
          </a:xfrm>
        </p:spPr>
        <p:txBody>
          <a:bodyPr/>
          <a:lstStyle/>
          <a:p>
            <a:pPr eaLnBrk="1" hangingPunct="1"/>
            <a:r>
              <a:rPr lang="zh-CN" altLang="en-US"/>
              <a:t>最小元素法</a:t>
            </a:r>
          </a:p>
          <a:p>
            <a:pPr lvl="1" eaLnBrk="1" hangingPunct="1"/>
            <a:r>
              <a:rPr lang="zh-CN" altLang="en-US"/>
              <a:t>优先满足单位运量费用最少的供销关系</a:t>
            </a:r>
          </a:p>
        </p:txBody>
      </p:sp>
      <p:graphicFrame>
        <p:nvGraphicFramePr>
          <p:cNvPr id="161899" name="Group 107">
            <a:extLst>
              <a:ext uri="{FF2B5EF4-FFF2-40B4-BE49-F238E27FC236}">
                <a16:creationId xmlns:a16="http://schemas.microsoft.com/office/drawing/2014/main" id="{79EE9974-9146-4793-BC70-817DB19BF17D}"/>
              </a:ext>
            </a:extLst>
          </p:cNvPr>
          <p:cNvGraphicFramePr>
            <a:graphicFrameLocks noGrp="1"/>
          </p:cNvGraphicFramePr>
          <p:nvPr>
            <p:ph sz="half" idx="2"/>
          </p:nvPr>
        </p:nvGraphicFramePr>
        <p:xfrm>
          <a:off x="1219200" y="26670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48224" name="Text Box 96">
            <a:extLst>
              <a:ext uri="{FF2B5EF4-FFF2-40B4-BE49-F238E27FC236}">
                <a16:creationId xmlns:a16="http://schemas.microsoft.com/office/drawing/2014/main" id="{F705F781-7A0A-4A9D-8DE4-8C967024B8BB}"/>
              </a:ext>
            </a:extLst>
          </p:cNvPr>
          <p:cNvSpPr txBox="1">
            <a:spLocks noChangeArrowheads="1"/>
          </p:cNvSpPr>
          <p:nvPr/>
        </p:nvSpPr>
        <p:spPr bwMode="auto">
          <a:xfrm>
            <a:off x="2209800" y="43434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48225" name="Text Box 98">
            <a:extLst>
              <a:ext uri="{FF2B5EF4-FFF2-40B4-BE49-F238E27FC236}">
                <a16:creationId xmlns:a16="http://schemas.microsoft.com/office/drawing/2014/main" id="{B9D8C2C6-DC27-4B5D-8C9E-3A7991017C20}"/>
              </a:ext>
            </a:extLst>
          </p:cNvPr>
          <p:cNvSpPr txBox="1">
            <a:spLocks noChangeArrowheads="1"/>
          </p:cNvSpPr>
          <p:nvPr/>
        </p:nvSpPr>
        <p:spPr bwMode="auto">
          <a:xfrm>
            <a:off x="4800600" y="4343400"/>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48226" name="Text Box 100">
            <a:extLst>
              <a:ext uri="{FF2B5EF4-FFF2-40B4-BE49-F238E27FC236}">
                <a16:creationId xmlns:a16="http://schemas.microsoft.com/office/drawing/2014/main" id="{BDDEC688-E89B-4DBF-A177-CA4389CAEC60}"/>
              </a:ext>
            </a:extLst>
          </p:cNvPr>
          <p:cNvSpPr txBox="1">
            <a:spLocks noChangeArrowheads="1"/>
          </p:cNvSpPr>
          <p:nvPr/>
        </p:nvSpPr>
        <p:spPr bwMode="auto">
          <a:xfrm>
            <a:off x="4800600" y="35052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4</a:t>
            </a:r>
          </a:p>
        </p:txBody>
      </p:sp>
      <p:sp>
        <p:nvSpPr>
          <p:cNvPr id="48227" name="Text Box 102">
            <a:extLst>
              <a:ext uri="{FF2B5EF4-FFF2-40B4-BE49-F238E27FC236}">
                <a16:creationId xmlns:a16="http://schemas.microsoft.com/office/drawing/2014/main" id="{B77D7E17-FF5D-41BF-B3B5-4B636AECB383}"/>
              </a:ext>
            </a:extLst>
          </p:cNvPr>
          <p:cNvSpPr txBox="1">
            <a:spLocks noChangeArrowheads="1"/>
          </p:cNvSpPr>
          <p:nvPr/>
        </p:nvSpPr>
        <p:spPr bwMode="auto">
          <a:xfrm>
            <a:off x="3581400" y="51054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48228" name="Text Box 103">
            <a:extLst>
              <a:ext uri="{FF2B5EF4-FFF2-40B4-BE49-F238E27FC236}">
                <a16:creationId xmlns:a16="http://schemas.microsoft.com/office/drawing/2014/main" id="{F003466C-36D3-4A16-93C5-36354C88E7A3}"/>
              </a:ext>
            </a:extLst>
          </p:cNvPr>
          <p:cNvSpPr txBox="1">
            <a:spLocks noChangeArrowheads="1"/>
          </p:cNvSpPr>
          <p:nvPr/>
        </p:nvSpPr>
        <p:spPr bwMode="auto">
          <a:xfrm>
            <a:off x="6019800" y="5181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48229" name="Text Box 104">
            <a:extLst>
              <a:ext uri="{FF2B5EF4-FFF2-40B4-BE49-F238E27FC236}">
                <a16:creationId xmlns:a16="http://schemas.microsoft.com/office/drawing/2014/main" id="{F56CE503-9FB6-4941-853F-6B85548EBBAF}"/>
              </a:ext>
            </a:extLst>
          </p:cNvPr>
          <p:cNvSpPr txBox="1">
            <a:spLocks noChangeArrowheads="1"/>
          </p:cNvSpPr>
          <p:nvPr/>
        </p:nvSpPr>
        <p:spPr bwMode="auto">
          <a:xfrm>
            <a:off x="6019800" y="35052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a:extLst>
              <a:ext uri="{FF2B5EF4-FFF2-40B4-BE49-F238E27FC236}">
                <a16:creationId xmlns:a16="http://schemas.microsoft.com/office/drawing/2014/main" id="{1E8C81EE-0CF8-4BC8-B44E-58A9E1887F84}"/>
              </a:ext>
            </a:extLst>
          </p:cNvPr>
          <p:cNvSpPr>
            <a:spLocks noGrp="1" noChangeArrowheads="1"/>
          </p:cNvSpPr>
          <p:nvPr>
            <p:ph type="title"/>
          </p:nvPr>
        </p:nvSpPr>
        <p:spPr/>
        <p:txBody>
          <a:bodyPr/>
          <a:lstStyle/>
          <a:p>
            <a:pPr eaLnBrk="1" hangingPunct="1"/>
            <a:r>
              <a:rPr lang="zh-CN" altLang="en-US"/>
              <a:t>确定初始基可行解</a:t>
            </a:r>
          </a:p>
        </p:txBody>
      </p:sp>
      <p:sp>
        <p:nvSpPr>
          <p:cNvPr id="162819" name="Rectangle 3">
            <a:extLst>
              <a:ext uri="{FF2B5EF4-FFF2-40B4-BE49-F238E27FC236}">
                <a16:creationId xmlns:a16="http://schemas.microsoft.com/office/drawing/2014/main" id="{F2E865AC-73FB-4E7B-AB8B-C38385F82F32}"/>
              </a:ext>
            </a:extLst>
          </p:cNvPr>
          <p:cNvSpPr>
            <a:spLocks noGrp="1" noChangeArrowheads="1"/>
          </p:cNvSpPr>
          <p:nvPr>
            <p:ph type="body" sz="half" idx="1"/>
          </p:nvPr>
        </p:nvSpPr>
        <p:spPr>
          <a:xfrm>
            <a:off x="457200" y="1143000"/>
            <a:ext cx="8077200" cy="4799013"/>
          </a:xfrm>
        </p:spPr>
        <p:txBody>
          <a:bodyPr/>
          <a:lstStyle/>
          <a:p>
            <a:pPr eaLnBrk="1" hangingPunct="1">
              <a:lnSpc>
                <a:spcPct val="90000"/>
              </a:lnSpc>
            </a:pPr>
            <a:r>
              <a:rPr lang="zh-CN" altLang="en-US"/>
              <a:t>最小元素法</a:t>
            </a:r>
          </a:p>
          <a:p>
            <a:pPr lvl="1" eaLnBrk="1" hangingPunct="1">
              <a:lnSpc>
                <a:spcPct val="90000"/>
              </a:lnSpc>
            </a:pPr>
            <a:r>
              <a:rPr lang="zh-CN" altLang="en-US" sz="3200"/>
              <a:t>优先满足单位运量费用最少的供销关系</a:t>
            </a:r>
          </a:p>
          <a:p>
            <a:pPr lvl="1" eaLnBrk="1" hangingPunct="1">
              <a:lnSpc>
                <a:spcPct val="90000"/>
              </a:lnSpc>
              <a:buFont typeface="Wingdings" panose="05000000000000000000" pitchFamily="2" charset="2"/>
              <a:buNone/>
            </a:pPr>
            <a:r>
              <a:rPr lang="zh-CN" altLang="en-US"/>
              <a:t> </a:t>
            </a:r>
          </a:p>
          <a:p>
            <a:pPr lvl="1" eaLnBrk="1" hangingPunct="1">
              <a:lnSpc>
                <a:spcPct val="90000"/>
              </a:lnSpc>
            </a:pPr>
            <a:r>
              <a:rPr lang="zh-CN" altLang="en-US" sz="3200"/>
              <a:t>产生的结果是基可行解</a:t>
            </a:r>
          </a:p>
          <a:p>
            <a:pPr lvl="2" eaLnBrk="1" hangingPunct="1">
              <a:lnSpc>
                <a:spcPct val="90000"/>
              </a:lnSpc>
            </a:pPr>
            <a:r>
              <a:rPr lang="zh-CN" altLang="en-US" sz="2800"/>
              <a:t>每一次划去一行（列）</a:t>
            </a:r>
            <a:r>
              <a:rPr lang="en-US" altLang="zh-CN" sz="2800"/>
              <a:t>,</a:t>
            </a:r>
            <a:r>
              <a:rPr lang="zh-CN" altLang="en-US" sz="2800"/>
              <a:t>只有最后一个元素时，同时划去一行和一列。所以共填入 </a:t>
            </a:r>
            <a:r>
              <a:rPr lang="en-US" altLang="zh-CN" sz="2800" i="1">
                <a:latin typeface="Times New Roman" panose="02020603050405020304" pitchFamily="18" charset="0"/>
              </a:rPr>
              <a:t>m</a:t>
            </a:r>
            <a:r>
              <a:rPr lang="en-US" altLang="zh-CN" sz="2800"/>
              <a:t>+</a:t>
            </a:r>
            <a:r>
              <a:rPr lang="en-US" altLang="zh-CN" sz="2800" i="1">
                <a:latin typeface="Times New Roman" panose="02020603050405020304" pitchFamily="18" charset="0"/>
              </a:rPr>
              <a:t>n</a:t>
            </a:r>
            <a:r>
              <a:rPr lang="en-US" altLang="zh-CN" sz="2800"/>
              <a:t>-1 </a:t>
            </a:r>
            <a:r>
              <a:rPr lang="zh-CN" altLang="en-US" sz="2800"/>
              <a:t>个数字</a:t>
            </a:r>
          </a:p>
          <a:p>
            <a:pPr lvl="2" eaLnBrk="1" hangingPunct="1">
              <a:lnSpc>
                <a:spcPct val="90000"/>
              </a:lnSpc>
            </a:pPr>
            <a:r>
              <a:rPr lang="en-US" altLang="zh-CN" sz="2800" i="1">
                <a:latin typeface="Times New Roman" panose="02020603050405020304" pitchFamily="18" charset="0"/>
              </a:rPr>
              <a:t>m</a:t>
            </a:r>
            <a:r>
              <a:rPr lang="en-US" altLang="zh-CN" sz="2800">
                <a:latin typeface="Times New Roman" panose="02020603050405020304" pitchFamily="18" charset="0"/>
              </a:rPr>
              <a:t>+</a:t>
            </a:r>
            <a:r>
              <a:rPr lang="en-US" altLang="zh-CN" sz="2800" i="1">
                <a:latin typeface="Times New Roman" panose="02020603050405020304" pitchFamily="18" charset="0"/>
              </a:rPr>
              <a:t>n</a:t>
            </a:r>
            <a:r>
              <a:rPr lang="en-US" altLang="zh-CN" sz="2800">
                <a:latin typeface="Times New Roman" panose="02020603050405020304" pitchFamily="18" charset="0"/>
              </a:rPr>
              <a:t>-1</a:t>
            </a:r>
            <a:r>
              <a:rPr lang="zh-CN" altLang="en-US" sz="2800"/>
              <a:t>个基变量对应的系数列向量线性独立</a:t>
            </a:r>
            <a:r>
              <a:rPr lang="zh-CN" altLang="en-US"/>
              <a:t>   </a:t>
            </a:r>
          </a:p>
          <a:p>
            <a:pPr lvl="1" eaLnBrk="1" hangingPunct="1">
              <a:lnSpc>
                <a:spcPct val="90000"/>
              </a:lnSpc>
            </a:pPr>
            <a:endParaRPr lang="zh-CN" altLang="en-US"/>
          </a:p>
          <a:p>
            <a:pPr lvl="1" eaLnBrk="1" hangingPunct="1">
              <a:lnSpc>
                <a:spcPct val="90000"/>
              </a:lnSpc>
            </a:pPr>
            <a:r>
              <a:rPr lang="zh-CN" altLang="en-US" sz="3200"/>
              <a:t>有时会出现退化</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2819">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819"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descr="Large confetti">
            <a:extLst>
              <a:ext uri="{FF2B5EF4-FFF2-40B4-BE49-F238E27FC236}">
                <a16:creationId xmlns:a16="http://schemas.microsoft.com/office/drawing/2014/main" id="{83F8A9FF-8B2E-4B68-BBF0-21C255E234A5}"/>
              </a:ext>
            </a:extLst>
          </p:cNvPr>
          <p:cNvSpPr>
            <a:spLocks noGrp="1" noChangeArrowheads="1"/>
          </p:cNvSpPr>
          <p:nvPr>
            <p:ph type="title"/>
          </p:nvPr>
        </p:nvSpPr>
        <p:spPr/>
        <p:txBody>
          <a:bodyPr/>
          <a:lstStyle/>
          <a:p>
            <a:pPr eaLnBrk="1" hangingPunct="1"/>
            <a:r>
              <a:rPr lang="zh-CN" altLang="en-US"/>
              <a:t>最小元素法</a:t>
            </a:r>
            <a:r>
              <a:rPr lang="en-US" altLang="zh-CN"/>
              <a:t>VS</a:t>
            </a:r>
            <a:r>
              <a:rPr lang="zh-CN" altLang="en-US"/>
              <a:t>参考目标</a:t>
            </a:r>
          </a:p>
        </p:txBody>
      </p:sp>
      <p:graphicFrame>
        <p:nvGraphicFramePr>
          <p:cNvPr id="44" name="Group 107">
            <a:extLst>
              <a:ext uri="{FF2B5EF4-FFF2-40B4-BE49-F238E27FC236}">
                <a16:creationId xmlns:a16="http://schemas.microsoft.com/office/drawing/2014/main" id="{2F5BA8A5-FE8C-462D-B8A3-3C68BDFBB36A}"/>
              </a:ext>
            </a:extLst>
          </p:cNvPr>
          <p:cNvGraphicFramePr>
            <a:graphicFrameLocks/>
          </p:cNvGraphicFramePr>
          <p:nvPr/>
        </p:nvGraphicFramePr>
        <p:xfrm>
          <a:off x="685800" y="9144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64" name="矩形 1">
            <a:extLst>
              <a:ext uri="{FF2B5EF4-FFF2-40B4-BE49-F238E27FC236}">
                <a16:creationId xmlns:a16="http://schemas.microsoft.com/office/drawing/2014/main" id="{BE058613-AD92-407B-9EAA-2006019F88B1}"/>
              </a:ext>
            </a:extLst>
          </p:cNvPr>
          <p:cNvSpPr>
            <a:spLocks noChangeArrowheads="1"/>
          </p:cNvSpPr>
          <p:nvPr/>
        </p:nvSpPr>
        <p:spPr bwMode="auto">
          <a:xfrm>
            <a:off x="685800" y="4953000"/>
            <a:ext cx="6781800" cy="842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400" b="1">
                <a:solidFill>
                  <a:srgbClr val="FF0000"/>
                </a:solidFill>
              </a:rPr>
              <a:t>参考目标</a:t>
            </a:r>
            <a:r>
              <a:rPr lang="zh-CN" altLang="en-US" sz="2400" b="1"/>
              <a:t>：</a:t>
            </a:r>
            <a:r>
              <a:rPr lang="en-US" altLang="zh-CN" sz="2400" b="1"/>
              <a:t>3</a:t>
            </a:r>
            <a:r>
              <a:rPr lang="zh-CN" altLang="en-US" sz="2400" b="1"/>
              <a:t>*</a:t>
            </a:r>
            <a:r>
              <a:rPr lang="en-US" altLang="zh-CN" sz="2400" b="1"/>
              <a:t>5+10</a:t>
            </a:r>
            <a:r>
              <a:rPr lang="zh-CN" altLang="en-US" sz="2400" b="1"/>
              <a:t>*</a:t>
            </a:r>
            <a:r>
              <a:rPr lang="en-US" altLang="zh-CN" sz="2400" b="1"/>
              <a:t>2+1</a:t>
            </a:r>
            <a:r>
              <a:rPr lang="zh-CN" altLang="en-US" sz="2400" b="1"/>
              <a:t>*</a:t>
            </a:r>
            <a:r>
              <a:rPr lang="en-US" altLang="zh-CN" sz="2400" b="1"/>
              <a:t>3+8</a:t>
            </a:r>
            <a:r>
              <a:rPr lang="zh-CN" altLang="en-US" sz="2400" b="1"/>
              <a:t>*</a:t>
            </a:r>
            <a:r>
              <a:rPr lang="en-US" altLang="zh-CN" sz="2400" b="1"/>
              <a:t>1+4</a:t>
            </a:r>
            <a:r>
              <a:rPr lang="zh-CN" altLang="en-US" sz="2400" b="1"/>
              <a:t>*</a:t>
            </a:r>
            <a:r>
              <a:rPr lang="en-US" altLang="zh-CN" sz="2400" b="1"/>
              <a:t>6+5</a:t>
            </a:r>
            <a:r>
              <a:rPr lang="zh-CN" altLang="en-US" sz="2400" b="1"/>
              <a:t>*</a:t>
            </a:r>
            <a:r>
              <a:rPr lang="en-US" altLang="zh-CN" sz="2400" b="1"/>
              <a:t>3=</a:t>
            </a:r>
            <a:r>
              <a:rPr lang="en-US" altLang="zh-CN" sz="2400" b="1">
                <a:solidFill>
                  <a:srgbClr val="FF0000"/>
                </a:solidFill>
              </a:rPr>
              <a:t>85</a:t>
            </a:r>
          </a:p>
          <a:p>
            <a:r>
              <a:rPr lang="zh-CN" altLang="en-US" sz="2400" b="1">
                <a:solidFill>
                  <a:srgbClr val="FF0000"/>
                </a:solidFill>
              </a:rPr>
              <a:t>最小元素法</a:t>
            </a:r>
            <a:r>
              <a:rPr lang="zh-CN" altLang="en-US" sz="2400" b="1"/>
              <a:t>：</a:t>
            </a:r>
            <a:r>
              <a:rPr lang="en-US" altLang="zh-CN" sz="2400" b="1"/>
              <a:t>3</a:t>
            </a:r>
            <a:r>
              <a:rPr lang="zh-CN" altLang="en-US" sz="2400" b="1"/>
              <a:t>*</a:t>
            </a:r>
            <a:r>
              <a:rPr lang="en-US" altLang="zh-CN" sz="2400" b="1"/>
              <a:t>4+10</a:t>
            </a:r>
            <a:r>
              <a:rPr lang="zh-CN" altLang="en-US" sz="2400" b="1"/>
              <a:t>*</a:t>
            </a:r>
            <a:r>
              <a:rPr lang="en-US" altLang="zh-CN" sz="2400" b="1"/>
              <a:t>3+1</a:t>
            </a:r>
            <a:r>
              <a:rPr lang="zh-CN" altLang="en-US" sz="2400" b="1"/>
              <a:t>*</a:t>
            </a:r>
            <a:r>
              <a:rPr lang="en-US" altLang="zh-CN" sz="2400" b="1"/>
              <a:t>3+2</a:t>
            </a:r>
            <a:r>
              <a:rPr lang="zh-CN" altLang="en-US" sz="2400" b="1"/>
              <a:t>*</a:t>
            </a:r>
            <a:r>
              <a:rPr lang="en-US" altLang="zh-CN" sz="2400" b="1"/>
              <a:t>1+4</a:t>
            </a:r>
            <a:r>
              <a:rPr lang="zh-CN" altLang="en-US" sz="2400" b="1"/>
              <a:t>*</a:t>
            </a:r>
            <a:r>
              <a:rPr lang="en-US" altLang="zh-CN" sz="2400" b="1"/>
              <a:t>6+5</a:t>
            </a:r>
            <a:r>
              <a:rPr lang="zh-CN" altLang="en-US" sz="2400" b="1"/>
              <a:t>*</a:t>
            </a:r>
            <a:r>
              <a:rPr lang="en-US" altLang="zh-CN" sz="2400" b="1"/>
              <a:t>3=</a:t>
            </a:r>
            <a:r>
              <a:rPr lang="en-US" altLang="zh-CN" sz="2400" b="1">
                <a:solidFill>
                  <a:srgbClr val="FF0000"/>
                </a:solidFill>
              </a:rPr>
              <a:t>86</a:t>
            </a:r>
            <a:endParaRPr lang="zh-CN" altLang="en-US" sz="2400" b="1">
              <a:solidFill>
                <a:srgbClr val="FF0000"/>
              </a:solidFill>
            </a:endParaRPr>
          </a:p>
        </p:txBody>
      </p:sp>
      <p:sp>
        <p:nvSpPr>
          <p:cNvPr id="50272" name="Text Box 96">
            <a:extLst>
              <a:ext uri="{FF2B5EF4-FFF2-40B4-BE49-F238E27FC236}">
                <a16:creationId xmlns:a16="http://schemas.microsoft.com/office/drawing/2014/main" id="{A6C88969-1A16-4906-8C30-6DED1386BB03}"/>
              </a:ext>
            </a:extLst>
          </p:cNvPr>
          <p:cNvSpPr txBox="1">
            <a:spLocks noChangeArrowheads="1"/>
          </p:cNvSpPr>
          <p:nvPr/>
        </p:nvSpPr>
        <p:spPr bwMode="auto">
          <a:xfrm>
            <a:off x="1600200" y="284162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50273" name="Text Box 98">
            <a:extLst>
              <a:ext uri="{FF2B5EF4-FFF2-40B4-BE49-F238E27FC236}">
                <a16:creationId xmlns:a16="http://schemas.microsoft.com/office/drawing/2014/main" id="{4B08C023-E45F-4C74-98D4-3D52370245DD}"/>
              </a:ext>
            </a:extLst>
          </p:cNvPr>
          <p:cNvSpPr txBox="1">
            <a:spLocks noChangeArrowheads="1"/>
          </p:cNvSpPr>
          <p:nvPr/>
        </p:nvSpPr>
        <p:spPr bwMode="auto">
          <a:xfrm>
            <a:off x="4191000" y="284162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50274" name="Text Box 100">
            <a:extLst>
              <a:ext uri="{FF2B5EF4-FFF2-40B4-BE49-F238E27FC236}">
                <a16:creationId xmlns:a16="http://schemas.microsoft.com/office/drawing/2014/main" id="{E6B3CF4E-C035-4325-9504-833628BB2F3F}"/>
              </a:ext>
            </a:extLst>
          </p:cNvPr>
          <p:cNvSpPr txBox="1">
            <a:spLocks noChangeArrowheads="1"/>
          </p:cNvSpPr>
          <p:nvPr/>
        </p:nvSpPr>
        <p:spPr bwMode="auto">
          <a:xfrm>
            <a:off x="4191000" y="2003425"/>
            <a:ext cx="3429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4</a:t>
            </a:r>
            <a:endParaRPr lang="en-US" altLang="zh-CN" sz="2000" b="1">
              <a:solidFill>
                <a:srgbClr val="0000FF"/>
              </a:solidFill>
            </a:endParaRPr>
          </a:p>
        </p:txBody>
      </p:sp>
      <p:sp>
        <p:nvSpPr>
          <p:cNvPr id="50275" name="Text Box 102">
            <a:extLst>
              <a:ext uri="{FF2B5EF4-FFF2-40B4-BE49-F238E27FC236}">
                <a16:creationId xmlns:a16="http://schemas.microsoft.com/office/drawing/2014/main" id="{063277E0-945C-4860-92F1-91B3A18CE936}"/>
              </a:ext>
            </a:extLst>
          </p:cNvPr>
          <p:cNvSpPr txBox="1">
            <a:spLocks noChangeArrowheads="1"/>
          </p:cNvSpPr>
          <p:nvPr/>
        </p:nvSpPr>
        <p:spPr bwMode="auto">
          <a:xfrm>
            <a:off x="2955925" y="37877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50276" name="Text Box 103">
            <a:extLst>
              <a:ext uri="{FF2B5EF4-FFF2-40B4-BE49-F238E27FC236}">
                <a16:creationId xmlns:a16="http://schemas.microsoft.com/office/drawing/2014/main" id="{016483BC-0585-4E67-B43A-EB32666E1765}"/>
              </a:ext>
            </a:extLst>
          </p:cNvPr>
          <p:cNvSpPr txBox="1">
            <a:spLocks noChangeArrowheads="1"/>
          </p:cNvSpPr>
          <p:nvPr/>
        </p:nvSpPr>
        <p:spPr bwMode="auto">
          <a:xfrm>
            <a:off x="5381625" y="37877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50277" name="Text Box 104">
            <a:extLst>
              <a:ext uri="{FF2B5EF4-FFF2-40B4-BE49-F238E27FC236}">
                <a16:creationId xmlns:a16="http://schemas.microsoft.com/office/drawing/2014/main" id="{552F444F-7559-4ABF-AFF7-FF5873044C84}"/>
              </a:ext>
            </a:extLst>
          </p:cNvPr>
          <p:cNvSpPr txBox="1">
            <a:spLocks noChangeArrowheads="1"/>
          </p:cNvSpPr>
          <p:nvPr/>
        </p:nvSpPr>
        <p:spPr bwMode="auto">
          <a:xfrm>
            <a:off x="5410200" y="2003425"/>
            <a:ext cx="381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endParaRPr lang="en-US" altLang="zh-CN" sz="2000" b="1">
              <a:solidFill>
                <a:srgbClr val="0000FF"/>
              </a:solidFill>
            </a:endParaRPr>
          </a:p>
        </p:txBody>
      </p:sp>
      <p:grpSp>
        <p:nvGrpSpPr>
          <p:cNvPr id="5" name="组合 4">
            <a:extLst>
              <a:ext uri="{FF2B5EF4-FFF2-40B4-BE49-F238E27FC236}">
                <a16:creationId xmlns:a16="http://schemas.microsoft.com/office/drawing/2014/main" id="{8459A764-4B7D-4510-B82A-FF35E02C06D8}"/>
              </a:ext>
            </a:extLst>
          </p:cNvPr>
          <p:cNvGrpSpPr>
            <a:grpSpLocks/>
          </p:cNvGrpSpPr>
          <p:nvPr/>
        </p:nvGrpSpPr>
        <p:grpSpPr bwMode="auto">
          <a:xfrm>
            <a:off x="2011363" y="1993900"/>
            <a:ext cx="4148137" cy="2190750"/>
            <a:chOff x="1935949" y="2070020"/>
            <a:chExt cx="4147351" cy="2190826"/>
          </a:xfrm>
        </p:grpSpPr>
        <p:sp>
          <p:nvSpPr>
            <p:cNvPr id="50280" name="Text Box 100">
              <a:extLst>
                <a:ext uri="{FF2B5EF4-FFF2-40B4-BE49-F238E27FC236}">
                  <a16:creationId xmlns:a16="http://schemas.microsoft.com/office/drawing/2014/main" id="{10BD41A8-07E8-4A87-A91A-6042A9739F91}"/>
                </a:ext>
              </a:extLst>
            </p:cNvPr>
            <p:cNvSpPr txBox="1">
              <a:spLocks noChangeArrowheads="1"/>
            </p:cNvSpPr>
            <p:nvPr/>
          </p:nvSpPr>
          <p:spPr bwMode="auto">
            <a:xfrm>
              <a:off x="4457700" y="2070020"/>
              <a:ext cx="395301"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5</a:t>
              </a:r>
            </a:p>
          </p:txBody>
        </p:sp>
        <p:sp>
          <p:nvSpPr>
            <p:cNvPr id="50281" name="Text Box 104">
              <a:extLst>
                <a:ext uri="{FF2B5EF4-FFF2-40B4-BE49-F238E27FC236}">
                  <a16:creationId xmlns:a16="http://schemas.microsoft.com/office/drawing/2014/main" id="{1D5EB36E-1D7B-4C9D-824D-F61E8EB8B92C}"/>
                </a:ext>
              </a:extLst>
            </p:cNvPr>
            <p:cNvSpPr txBox="1">
              <a:spLocks noChangeArrowheads="1"/>
            </p:cNvSpPr>
            <p:nvPr/>
          </p:nvSpPr>
          <p:spPr bwMode="auto">
            <a:xfrm>
              <a:off x="5701499" y="2079812"/>
              <a:ext cx="3683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2</a:t>
              </a:r>
            </a:p>
          </p:txBody>
        </p:sp>
        <p:sp>
          <p:nvSpPr>
            <p:cNvPr id="50282" name="Text Box 100">
              <a:extLst>
                <a:ext uri="{FF2B5EF4-FFF2-40B4-BE49-F238E27FC236}">
                  <a16:creationId xmlns:a16="http://schemas.microsoft.com/office/drawing/2014/main" id="{7D77DE27-059A-4B30-A75A-BA8464D06BCD}"/>
                </a:ext>
              </a:extLst>
            </p:cNvPr>
            <p:cNvSpPr txBox="1">
              <a:spLocks noChangeArrowheads="1"/>
            </p:cNvSpPr>
            <p:nvPr/>
          </p:nvSpPr>
          <p:spPr bwMode="auto">
            <a:xfrm>
              <a:off x="1935949" y="2918011"/>
              <a:ext cx="3953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3</a:t>
              </a:r>
            </a:p>
          </p:txBody>
        </p:sp>
        <p:sp>
          <p:nvSpPr>
            <p:cNvPr id="50283" name="Text Box 104">
              <a:extLst>
                <a:ext uri="{FF2B5EF4-FFF2-40B4-BE49-F238E27FC236}">
                  <a16:creationId xmlns:a16="http://schemas.microsoft.com/office/drawing/2014/main" id="{EA420EE3-7436-49E7-9240-E6583F0A3FEF}"/>
                </a:ext>
              </a:extLst>
            </p:cNvPr>
            <p:cNvSpPr txBox="1">
              <a:spLocks noChangeArrowheads="1"/>
            </p:cNvSpPr>
            <p:nvPr/>
          </p:nvSpPr>
          <p:spPr bwMode="auto">
            <a:xfrm>
              <a:off x="5715000" y="2901733"/>
              <a:ext cx="3683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1</a:t>
              </a:r>
            </a:p>
          </p:txBody>
        </p:sp>
        <p:sp>
          <p:nvSpPr>
            <p:cNvPr id="50284" name="Text Box 100">
              <a:extLst>
                <a:ext uri="{FF2B5EF4-FFF2-40B4-BE49-F238E27FC236}">
                  <a16:creationId xmlns:a16="http://schemas.microsoft.com/office/drawing/2014/main" id="{42718BAA-D1C9-465B-AD17-4F2F7F3CBCB6}"/>
                </a:ext>
              </a:extLst>
            </p:cNvPr>
            <p:cNvSpPr txBox="1">
              <a:spLocks noChangeArrowheads="1"/>
            </p:cNvSpPr>
            <p:nvPr/>
          </p:nvSpPr>
          <p:spPr bwMode="auto">
            <a:xfrm>
              <a:off x="3289966" y="3860736"/>
              <a:ext cx="3953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6</a:t>
              </a:r>
            </a:p>
          </p:txBody>
        </p:sp>
        <p:sp>
          <p:nvSpPr>
            <p:cNvPr id="50285" name="Text Box 100">
              <a:extLst>
                <a:ext uri="{FF2B5EF4-FFF2-40B4-BE49-F238E27FC236}">
                  <a16:creationId xmlns:a16="http://schemas.microsoft.com/office/drawing/2014/main" id="{F3DFA615-E02C-4A3B-BC32-40F6D362A722}"/>
                </a:ext>
              </a:extLst>
            </p:cNvPr>
            <p:cNvSpPr txBox="1">
              <a:spLocks noChangeArrowheads="1"/>
            </p:cNvSpPr>
            <p:nvPr/>
          </p:nvSpPr>
          <p:spPr bwMode="auto">
            <a:xfrm>
              <a:off x="5641520" y="3860736"/>
              <a:ext cx="3953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3</a:t>
              </a:r>
            </a:p>
          </p:txBody>
        </p:sp>
      </p:grpSp>
      <p:sp>
        <p:nvSpPr>
          <p:cNvPr id="79" name="矩形 78">
            <a:extLst>
              <a:ext uri="{FF2B5EF4-FFF2-40B4-BE49-F238E27FC236}">
                <a16:creationId xmlns:a16="http://schemas.microsoft.com/office/drawing/2014/main" id="{D1C89619-2276-4C27-958E-238F7A9DB082}"/>
              </a:ext>
            </a:extLst>
          </p:cNvPr>
          <p:cNvSpPr/>
          <p:nvPr/>
        </p:nvSpPr>
        <p:spPr>
          <a:xfrm>
            <a:off x="4570413" y="1946275"/>
            <a:ext cx="1147762" cy="1212850"/>
          </a:xfrm>
          <a:prstGeom prst="rect">
            <a:avLst/>
          </a:prstGeom>
          <a:noFill/>
          <a:ln w="38100">
            <a:solidFill>
              <a:srgbClr val="FF00F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randombar(horizontal)">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9"/>
                                        </p:tgtEl>
                                        <p:attrNameLst>
                                          <p:attrName>style.visibility</p:attrName>
                                        </p:attrNameLst>
                                      </p:cBhvr>
                                      <p:to>
                                        <p:strVal val="visible"/>
                                      </p:to>
                                    </p:set>
                                    <p:animEffect transition="in" filter="fade">
                                      <p:cBhvr>
                                        <p:cTn id="12" dur="500"/>
                                        <p:tgtEl>
                                          <p:spTgt spid="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randombar(horizontal)">
                                      <p:cBhvr>
                                        <p:cTn id="1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P spid="7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descr="Large confetti">
            <a:extLst>
              <a:ext uri="{FF2B5EF4-FFF2-40B4-BE49-F238E27FC236}">
                <a16:creationId xmlns:a16="http://schemas.microsoft.com/office/drawing/2014/main" id="{1C2810D8-7B1A-426D-93FD-92627B1CA72F}"/>
              </a:ext>
            </a:extLst>
          </p:cNvPr>
          <p:cNvSpPr>
            <a:spLocks noGrp="1" noChangeArrowheads="1"/>
          </p:cNvSpPr>
          <p:nvPr>
            <p:ph type="title"/>
          </p:nvPr>
        </p:nvSpPr>
        <p:spPr/>
        <p:txBody>
          <a:bodyPr/>
          <a:lstStyle/>
          <a:p>
            <a:pPr eaLnBrk="1" hangingPunct="1"/>
            <a:r>
              <a:rPr lang="zh-CN" altLang="en-US" sz="4000"/>
              <a:t>遗憾的是：还没有得到最优结果</a:t>
            </a:r>
          </a:p>
        </p:txBody>
      </p:sp>
      <p:sp>
        <p:nvSpPr>
          <p:cNvPr id="51203" name="矩形 1">
            <a:extLst>
              <a:ext uri="{FF2B5EF4-FFF2-40B4-BE49-F238E27FC236}">
                <a16:creationId xmlns:a16="http://schemas.microsoft.com/office/drawing/2014/main" id="{3FB756F1-499F-4D89-B235-85BE3A6A6351}"/>
              </a:ext>
            </a:extLst>
          </p:cNvPr>
          <p:cNvSpPr>
            <a:spLocks noChangeArrowheads="1"/>
          </p:cNvSpPr>
          <p:nvPr/>
        </p:nvSpPr>
        <p:spPr bwMode="auto">
          <a:xfrm>
            <a:off x="76200" y="2857500"/>
            <a:ext cx="1524000" cy="708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solidFill>
                  <a:srgbClr val="FF0000"/>
                </a:solidFill>
              </a:rPr>
              <a:t>可能的问题有哪些呢？</a:t>
            </a:r>
          </a:p>
        </p:txBody>
      </p:sp>
      <p:grpSp>
        <p:nvGrpSpPr>
          <p:cNvPr id="11" name="组合 10">
            <a:extLst>
              <a:ext uri="{FF2B5EF4-FFF2-40B4-BE49-F238E27FC236}">
                <a16:creationId xmlns:a16="http://schemas.microsoft.com/office/drawing/2014/main" id="{5CC1488C-E86B-4047-A621-FFAE8F04F004}"/>
              </a:ext>
            </a:extLst>
          </p:cNvPr>
          <p:cNvGrpSpPr>
            <a:grpSpLocks/>
          </p:cNvGrpSpPr>
          <p:nvPr/>
        </p:nvGrpSpPr>
        <p:grpSpPr bwMode="auto">
          <a:xfrm>
            <a:off x="1981200" y="1736725"/>
            <a:ext cx="3886200" cy="1447800"/>
            <a:chOff x="2209800" y="1676400"/>
            <a:chExt cx="3886200" cy="1447800"/>
          </a:xfrm>
        </p:grpSpPr>
        <p:sp>
          <p:nvSpPr>
            <p:cNvPr id="51213" name="矩形 18">
              <a:extLst>
                <a:ext uri="{FF2B5EF4-FFF2-40B4-BE49-F238E27FC236}">
                  <a16:creationId xmlns:a16="http://schemas.microsoft.com/office/drawing/2014/main" id="{1B0C7264-2316-430D-984B-BD8A9F123DB0}"/>
                </a:ext>
              </a:extLst>
            </p:cNvPr>
            <p:cNvSpPr>
              <a:spLocks noChangeArrowheads="1"/>
            </p:cNvSpPr>
            <p:nvPr/>
          </p:nvSpPr>
          <p:spPr bwMode="auto">
            <a:xfrm>
              <a:off x="2590800" y="1676400"/>
              <a:ext cx="35052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a:t>
              </a:r>
              <a:r>
                <a:rPr lang="zh-CN" altLang="en-US" sz="2000">
                  <a:solidFill>
                    <a:srgbClr val="FF0000"/>
                  </a:solidFill>
                </a:rPr>
                <a:t>不是最优的算法</a:t>
              </a:r>
              <a:r>
                <a:rPr lang="zh-CN" altLang="en-US" sz="2000"/>
                <a:t>？可能还有更优的算法？</a:t>
              </a:r>
            </a:p>
          </p:txBody>
        </p:sp>
        <p:cxnSp>
          <p:nvCxnSpPr>
            <p:cNvPr id="5" name="直接箭头连接符 4">
              <a:extLst>
                <a:ext uri="{FF2B5EF4-FFF2-40B4-BE49-F238E27FC236}">
                  <a16:creationId xmlns:a16="http://schemas.microsoft.com/office/drawing/2014/main" id="{00CC84EC-E67E-40FB-A950-D8C1D8B3F39E}"/>
                </a:ext>
              </a:extLst>
            </p:cNvPr>
            <p:cNvCxnSpPr/>
            <p:nvPr/>
          </p:nvCxnSpPr>
          <p:spPr>
            <a:xfrm>
              <a:off x="2209800" y="2030413"/>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D01E351-DD9C-43E3-BE8C-E8DDA72D315B}"/>
                </a:ext>
              </a:extLst>
            </p:cNvPr>
            <p:cNvCxnSpPr>
              <a:cxnSpLocks/>
            </p:cNvCxnSpPr>
            <p:nvPr/>
          </p:nvCxnSpPr>
          <p:spPr>
            <a:xfrm>
              <a:off x="2209800" y="2030413"/>
              <a:ext cx="0" cy="1093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直接箭头连接符 26">
            <a:extLst>
              <a:ext uri="{FF2B5EF4-FFF2-40B4-BE49-F238E27FC236}">
                <a16:creationId xmlns:a16="http://schemas.microsoft.com/office/drawing/2014/main" id="{E3C30A57-3598-4BE7-9881-B3AD79A8B0F7}"/>
              </a:ext>
            </a:extLst>
          </p:cNvPr>
          <p:cNvCxnSpPr/>
          <p:nvPr/>
        </p:nvCxnSpPr>
        <p:spPr>
          <a:xfrm>
            <a:off x="1600200" y="3184525"/>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2" name="组合 11">
            <a:extLst>
              <a:ext uri="{FF2B5EF4-FFF2-40B4-BE49-F238E27FC236}">
                <a16:creationId xmlns:a16="http://schemas.microsoft.com/office/drawing/2014/main" id="{D073A154-DD67-4FE5-A806-4BF877543B94}"/>
              </a:ext>
            </a:extLst>
          </p:cNvPr>
          <p:cNvGrpSpPr>
            <a:grpSpLocks/>
          </p:cNvGrpSpPr>
          <p:nvPr/>
        </p:nvGrpSpPr>
        <p:grpSpPr bwMode="auto">
          <a:xfrm>
            <a:off x="1981200" y="3184525"/>
            <a:ext cx="3886200" cy="1692275"/>
            <a:chOff x="2209800" y="3124200"/>
            <a:chExt cx="3886200" cy="1692859"/>
          </a:xfrm>
        </p:grpSpPr>
        <p:sp>
          <p:nvSpPr>
            <p:cNvPr id="51210" name="矩形 19">
              <a:extLst>
                <a:ext uri="{FF2B5EF4-FFF2-40B4-BE49-F238E27FC236}">
                  <a16:creationId xmlns:a16="http://schemas.microsoft.com/office/drawing/2014/main" id="{D4598B7B-652D-4B2E-BE46-3BA6F708C22C}"/>
                </a:ext>
              </a:extLst>
            </p:cNvPr>
            <p:cNvSpPr>
              <a:spLocks noChangeArrowheads="1"/>
            </p:cNvSpPr>
            <p:nvPr/>
          </p:nvSpPr>
          <p:spPr bwMode="auto">
            <a:xfrm>
              <a:off x="2590800" y="4109173"/>
              <a:ext cx="35052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最小元素法只是第一步？</a:t>
              </a:r>
              <a:endParaRPr lang="en-US" altLang="zh-CN" sz="2000"/>
            </a:p>
            <a:p>
              <a:r>
                <a:rPr lang="zh-CN" altLang="en-US" sz="2000"/>
                <a:t>可能</a:t>
              </a:r>
              <a:r>
                <a:rPr lang="zh-CN" altLang="en-US" sz="2000">
                  <a:solidFill>
                    <a:srgbClr val="FF0000"/>
                  </a:solidFill>
                </a:rPr>
                <a:t>还有后续优化算法</a:t>
              </a:r>
              <a:r>
                <a:rPr lang="zh-CN" altLang="en-US" sz="2000"/>
                <a:t>？</a:t>
              </a:r>
            </a:p>
          </p:txBody>
        </p:sp>
        <p:cxnSp>
          <p:nvCxnSpPr>
            <p:cNvPr id="23" name="直接箭头连接符 22">
              <a:extLst>
                <a:ext uri="{FF2B5EF4-FFF2-40B4-BE49-F238E27FC236}">
                  <a16:creationId xmlns:a16="http://schemas.microsoft.com/office/drawing/2014/main" id="{5A587351-50D1-496B-BDA9-B306DFB25643}"/>
                </a:ext>
              </a:extLst>
            </p:cNvPr>
            <p:cNvCxnSpPr/>
            <p:nvPr/>
          </p:nvCxnSpPr>
          <p:spPr>
            <a:xfrm>
              <a:off x="2209800" y="4462925"/>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1AD3D109-A4A1-4D85-BB40-2AAD3806A52D}"/>
                </a:ext>
              </a:extLst>
            </p:cNvPr>
            <p:cNvCxnSpPr>
              <a:cxnSpLocks/>
            </p:cNvCxnSpPr>
            <p:nvPr/>
          </p:nvCxnSpPr>
          <p:spPr>
            <a:xfrm>
              <a:off x="2209800" y="3124200"/>
              <a:ext cx="0" cy="1338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 name="矩形 32">
            <a:extLst>
              <a:ext uri="{FF2B5EF4-FFF2-40B4-BE49-F238E27FC236}">
                <a16:creationId xmlns:a16="http://schemas.microsoft.com/office/drawing/2014/main" id="{0FE5823D-7D2C-498A-BC31-3E271FCFF9E3}"/>
              </a:ext>
            </a:extLst>
          </p:cNvPr>
          <p:cNvSpPr>
            <a:spLocks noChangeArrowheads="1"/>
          </p:cNvSpPr>
          <p:nvPr/>
        </p:nvSpPr>
        <p:spPr bwMode="auto">
          <a:xfrm>
            <a:off x="6019800" y="1885950"/>
            <a:ext cx="2819400"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rPr>
              <a:t>还没有得到最优结果</a:t>
            </a:r>
          </a:p>
        </p:txBody>
      </p:sp>
      <p:sp>
        <p:nvSpPr>
          <p:cNvPr id="34" name="矩形 33">
            <a:extLst>
              <a:ext uri="{FF2B5EF4-FFF2-40B4-BE49-F238E27FC236}">
                <a16:creationId xmlns:a16="http://schemas.microsoft.com/office/drawing/2014/main" id="{8159B5D8-816B-44F1-A9E3-6B865D86CD16}"/>
              </a:ext>
            </a:extLst>
          </p:cNvPr>
          <p:cNvSpPr>
            <a:spLocks noChangeArrowheads="1"/>
          </p:cNvSpPr>
          <p:nvPr/>
        </p:nvSpPr>
        <p:spPr bwMode="auto">
          <a:xfrm>
            <a:off x="5994400" y="4322763"/>
            <a:ext cx="2819400"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rPr>
              <a:t>靠近最优结果</a:t>
            </a:r>
          </a:p>
        </p:txBody>
      </p:sp>
      <p:sp>
        <p:nvSpPr>
          <p:cNvPr id="35" name="Text Box 89">
            <a:extLst>
              <a:ext uri="{FF2B5EF4-FFF2-40B4-BE49-F238E27FC236}">
                <a16:creationId xmlns:a16="http://schemas.microsoft.com/office/drawing/2014/main" id="{25909DDD-D3FC-468B-A149-B6CB7EE3A25D}"/>
              </a:ext>
            </a:extLst>
          </p:cNvPr>
          <p:cNvSpPr txBox="1">
            <a:spLocks noChangeArrowheads="1"/>
          </p:cNvSpPr>
          <p:nvPr/>
        </p:nvSpPr>
        <p:spPr bwMode="auto">
          <a:xfrm>
            <a:off x="3592513" y="2882900"/>
            <a:ext cx="528637"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4400" b="1">
                <a:solidFill>
                  <a:srgbClr val="FF0000"/>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randombar(horizontal)">
                                      <p:cBhvr>
                                        <p:cTn id="7" dur="5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randombar(horizontal)">
                                      <p:cBhvr>
                                        <p:cTn id="12" dur="500"/>
                                        <p:tgtEl>
                                          <p:spTgt spid="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randombar(horizontal)">
                                      <p:cBhvr>
                                        <p:cTn id="17" dur="500"/>
                                        <p:tgtEl>
                                          <p:spTgt spid="3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grpId="0"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randombar(horizontal)">
                                      <p:cBhvr>
                                        <p:cTn id="22" dur="500"/>
                                        <p:tgtEl>
                                          <p:spTgt spid="3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wheel(4)">
                                      <p:cBhvr>
                                        <p:cTn id="27" dur="500"/>
                                        <p:tgtEl>
                                          <p:spTgt spid="3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1" presetClass="exit" presetSubtype="0" fill="hold" grpId="1" nodeType="clickEffect">
                                  <p:stCondLst>
                                    <p:cond delay="0"/>
                                  </p:stCondLst>
                                  <p:childTnLst>
                                    <p:anim calcmode="discrete" valueType="str">
                                      <p:cBhvr>
                                        <p:cTn id="31" dur="500"/>
                                        <p:tgtEl>
                                          <p:spTgt spid="35"/>
                                        </p:tgtEl>
                                        <p:attrNameLst>
                                          <p:attrName>style.visibility</p:attrName>
                                        </p:attrNameLst>
                                      </p:cBhvr>
                                      <p:tavLst>
                                        <p:tav tm="0">
                                          <p:val>
                                            <p:strVal val="hidden"/>
                                          </p:val>
                                        </p:tav>
                                        <p:tav tm="50000">
                                          <p:val>
                                            <p:strVal val="visible"/>
                                          </p:val>
                                        </p:tav>
                                      </p:tavLst>
                                    </p:anim>
                                    <p:set>
                                      <p:cBhvr>
                                        <p:cTn id="32" dur="1" fill="hold">
                                          <p:stCondLst>
                                            <p:cond delay="4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p:bldP spid="35" grpId="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descr="Large confetti">
            <a:extLst>
              <a:ext uri="{FF2B5EF4-FFF2-40B4-BE49-F238E27FC236}">
                <a16:creationId xmlns:a16="http://schemas.microsoft.com/office/drawing/2014/main" id="{0990768E-B5D6-47EC-8D8D-2E36AE83C195}"/>
              </a:ext>
            </a:extLst>
          </p:cNvPr>
          <p:cNvSpPr>
            <a:spLocks noGrp="1" noChangeArrowheads="1"/>
          </p:cNvSpPr>
          <p:nvPr>
            <p:ph type="title"/>
          </p:nvPr>
        </p:nvSpPr>
        <p:spPr/>
        <p:txBody>
          <a:bodyPr/>
          <a:lstStyle/>
          <a:p>
            <a:r>
              <a:rPr lang="zh-CN" altLang="en-US" sz="4400"/>
              <a:t>最小元素法的</a:t>
            </a:r>
            <a:r>
              <a:rPr lang="zh-CN" altLang="en-US" sz="4400">
                <a:solidFill>
                  <a:srgbClr val="D2668D"/>
                </a:solidFill>
              </a:rPr>
              <a:t>缺点</a:t>
            </a:r>
            <a:endParaRPr lang="zh-CN" altLang="en-US"/>
          </a:p>
        </p:txBody>
      </p:sp>
      <p:sp>
        <p:nvSpPr>
          <p:cNvPr id="52227" name="Rectangle 34" descr="Ricebk">
            <a:extLst>
              <a:ext uri="{FF2B5EF4-FFF2-40B4-BE49-F238E27FC236}">
                <a16:creationId xmlns:a16="http://schemas.microsoft.com/office/drawing/2014/main" id="{7943C24E-CF2A-41FC-8376-6075138E0EB0}"/>
              </a:ext>
            </a:extLst>
          </p:cNvPr>
          <p:cNvSpPr>
            <a:spLocks noGrp="1" noChangeArrowheads="1"/>
          </p:cNvSpPr>
          <p:nvPr>
            <p:ph type="body" idx="1"/>
          </p:nvPr>
        </p:nvSpPr>
        <p:spPr>
          <a:xfrm>
            <a:off x="266700" y="1033463"/>
            <a:ext cx="8420100" cy="2012950"/>
          </a:xfrm>
          <a:extLst>
            <a:ext uri="{909E8E84-426E-40DD-AFC4-6F175D3DCCD1}">
              <a14:hiddenFill xmlns:a14="http://schemas.microsoft.com/office/drawing/2010/main">
                <a:blipFill dpi="0" rotWithShape="1">
                  <a:blip r:embed="rId2"/>
                  <a:srcRect/>
                  <a:tile tx="0" ty="0" sx="100000" sy="100000" flip="none" algn="tl"/>
                </a:blipFill>
              </a14:hiddenFill>
            </a:ext>
          </a:extLst>
        </p:spPr>
        <p:txBody>
          <a:bodyPr/>
          <a:lstStyle/>
          <a:p>
            <a:pPr>
              <a:lnSpc>
                <a:spcPct val="150000"/>
              </a:lnSpc>
            </a:pPr>
            <a:r>
              <a:rPr lang="en-US" altLang="zh-CN"/>
              <a:t> </a:t>
            </a:r>
            <a:r>
              <a:rPr lang="zh-CN" altLang="en-US" sz="2400"/>
              <a:t>最小元素法的</a:t>
            </a:r>
            <a:r>
              <a:rPr lang="zh-CN" altLang="en-US" sz="2400">
                <a:solidFill>
                  <a:srgbClr val="D2668D"/>
                </a:solidFill>
              </a:rPr>
              <a:t>缺点</a:t>
            </a:r>
            <a:r>
              <a:rPr lang="zh-CN" altLang="en-US" sz="2400"/>
              <a:t>是：为了节省一处的费用，有时造成在其他处要多花几倍的运费。</a:t>
            </a:r>
            <a:r>
              <a:rPr lang="zh-CN" altLang="en-US" sz="2400">
                <a:solidFill>
                  <a:srgbClr val="FF0000"/>
                </a:solidFill>
              </a:rPr>
              <a:t>需要优先考虑最小运费和次小运费的差额，在差额最大处采用最小运费调运。</a:t>
            </a:r>
            <a:r>
              <a:rPr lang="zh-CN" altLang="en-US" sz="2400"/>
              <a:t>因为差额最大处</a:t>
            </a:r>
            <a:r>
              <a:rPr lang="zh-CN" altLang="en-US" sz="2400">
                <a:solidFill>
                  <a:srgbClr val="FF0000"/>
                </a:solidFill>
              </a:rPr>
              <a:t>如果不能按最小运费调运</a:t>
            </a:r>
            <a:r>
              <a:rPr lang="zh-CN" altLang="en-US" sz="2400"/>
              <a:t>，则</a:t>
            </a:r>
            <a:r>
              <a:rPr lang="zh-CN" altLang="en-US" sz="2400">
                <a:solidFill>
                  <a:srgbClr val="FF0000"/>
                </a:solidFill>
              </a:rPr>
              <a:t>运费增加非常多</a:t>
            </a:r>
            <a:r>
              <a:rPr lang="zh-CN" altLang="en-US" sz="2400"/>
              <a:t>。例如下面两种运输方案：</a:t>
            </a:r>
          </a:p>
        </p:txBody>
      </p:sp>
      <p:sp>
        <p:nvSpPr>
          <p:cNvPr id="198692" name="Text Box 36">
            <a:extLst>
              <a:ext uri="{FF2B5EF4-FFF2-40B4-BE49-F238E27FC236}">
                <a16:creationId xmlns:a16="http://schemas.microsoft.com/office/drawing/2014/main" id="{1CC9EE3A-16FC-4D4B-84AD-B379D5E379E0}"/>
              </a:ext>
            </a:extLst>
          </p:cNvPr>
          <p:cNvSpPr txBox="1">
            <a:spLocks noChangeArrowheads="1"/>
          </p:cNvSpPr>
          <p:nvPr/>
        </p:nvSpPr>
        <p:spPr bwMode="auto">
          <a:xfrm>
            <a:off x="1154113" y="4146550"/>
            <a:ext cx="2376487"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zh-CN" altLang="en-US" sz="2400" b="1">
                <a:solidFill>
                  <a:schemeClr val="bg2"/>
                </a:solidFill>
              </a:rPr>
              <a:t>最小元素法：</a:t>
            </a:r>
          </a:p>
        </p:txBody>
      </p:sp>
      <p:sp>
        <p:nvSpPr>
          <p:cNvPr id="198714" name="Rectangle 58">
            <a:extLst>
              <a:ext uri="{FF2B5EF4-FFF2-40B4-BE49-F238E27FC236}">
                <a16:creationId xmlns:a16="http://schemas.microsoft.com/office/drawing/2014/main" id="{5C3E223E-D7B0-4C1B-86C1-9A4D7636FC18}"/>
              </a:ext>
            </a:extLst>
          </p:cNvPr>
          <p:cNvSpPr>
            <a:spLocks noChangeArrowheads="1"/>
          </p:cNvSpPr>
          <p:nvPr/>
        </p:nvSpPr>
        <p:spPr bwMode="auto">
          <a:xfrm>
            <a:off x="4724400" y="4356100"/>
            <a:ext cx="2532063" cy="1041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20000"/>
              </a:spcBef>
              <a:buSzPct val="85000"/>
            </a:pPr>
            <a:r>
              <a:rPr kumimoji="1" lang="zh-CN" altLang="en-US" sz="2400">
                <a:solidFill>
                  <a:schemeClr val="bg2"/>
                </a:solidFill>
              </a:rPr>
              <a:t>总运费是</a:t>
            </a:r>
            <a:r>
              <a:rPr kumimoji="1" lang="en-US" altLang="zh-CN" sz="2400" i="1">
                <a:solidFill>
                  <a:schemeClr val="bg2"/>
                </a:solidFill>
              </a:rPr>
              <a:t>z</a:t>
            </a:r>
            <a:r>
              <a:rPr kumimoji="1" lang="en-US" altLang="zh-CN" sz="2400">
                <a:solidFill>
                  <a:schemeClr val="bg2"/>
                </a:solidFill>
              </a:rPr>
              <a:t>=10×8</a:t>
            </a:r>
          </a:p>
          <a:p>
            <a:pPr>
              <a:lnSpc>
                <a:spcPct val="120000"/>
              </a:lnSpc>
              <a:spcBef>
                <a:spcPct val="20000"/>
              </a:spcBef>
              <a:buSzPct val="85000"/>
            </a:pPr>
            <a:r>
              <a:rPr kumimoji="1" lang="en-US" altLang="zh-CN" sz="2400">
                <a:solidFill>
                  <a:schemeClr val="bg2"/>
                </a:solidFill>
              </a:rPr>
              <a:t>+5×2+15×1=105</a:t>
            </a:r>
          </a:p>
        </p:txBody>
      </p:sp>
      <p:grpSp>
        <p:nvGrpSpPr>
          <p:cNvPr id="7" name="组合 6">
            <a:extLst>
              <a:ext uri="{FF2B5EF4-FFF2-40B4-BE49-F238E27FC236}">
                <a16:creationId xmlns:a16="http://schemas.microsoft.com/office/drawing/2014/main" id="{90BA008C-1233-4D8D-B6CA-B11024F90768}"/>
              </a:ext>
            </a:extLst>
          </p:cNvPr>
          <p:cNvGrpSpPr>
            <a:grpSpLocks/>
          </p:cNvGrpSpPr>
          <p:nvPr/>
        </p:nvGrpSpPr>
        <p:grpSpPr bwMode="auto">
          <a:xfrm>
            <a:off x="533400" y="4733925"/>
            <a:ext cx="2976563" cy="1655763"/>
            <a:chOff x="515938" y="3789363"/>
            <a:chExt cx="2976562" cy="1655762"/>
          </a:xfrm>
        </p:grpSpPr>
        <p:grpSp>
          <p:nvGrpSpPr>
            <p:cNvPr id="52231" name="Group 82">
              <a:extLst>
                <a:ext uri="{FF2B5EF4-FFF2-40B4-BE49-F238E27FC236}">
                  <a16:creationId xmlns:a16="http://schemas.microsoft.com/office/drawing/2014/main" id="{F6718ABD-86D5-4A63-8859-132450EC61D3}"/>
                </a:ext>
              </a:extLst>
            </p:cNvPr>
            <p:cNvGrpSpPr>
              <a:grpSpLocks/>
            </p:cNvGrpSpPr>
            <p:nvPr/>
          </p:nvGrpSpPr>
          <p:grpSpPr bwMode="auto">
            <a:xfrm>
              <a:off x="515938" y="3789363"/>
              <a:ext cx="2976562" cy="1655762"/>
              <a:chOff x="325" y="2387"/>
              <a:chExt cx="1875" cy="1043"/>
            </a:xfrm>
          </p:grpSpPr>
          <p:sp>
            <p:nvSpPr>
              <p:cNvPr id="52236" name="Rectangle 38">
                <a:extLst>
                  <a:ext uri="{FF2B5EF4-FFF2-40B4-BE49-F238E27FC236}">
                    <a16:creationId xmlns:a16="http://schemas.microsoft.com/office/drawing/2014/main" id="{5EC0FB29-556E-4BA3-9B4B-B1D8431C48F5}"/>
                  </a:ext>
                </a:extLst>
              </p:cNvPr>
              <p:cNvSpPr>
                <a:spLocks noChangeArrowheads="1"/>
              </p:cNvSpPr>
              <p:nvPr/>
            </p:nvSpPr>
            <p:spPr bwMode="auto">
              <a:xfrm>
                <a:off x="1575"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52237" name="Rectangle 39">
                <a:extLst>
                  <a:ext uri="{FF2B5EF4-FFF2-40B4-BE49-F238E27FC236}">
                    <a16:creationId xmlns:a16="http://schemas.microsoft.com/office/drawing/2014/main" id="{A8BD2736-DD79-42C5-874B-C0FB522D1611}"/>
                  </a:ext>
                </a:extLst>
              </p:cNvPr>
              <p:cNvSpPr>
                <a:spLocks noChangeArrowheads="1"/>
              </p:cNvSpPr>
              <p:nvPr/>
            </p:nvSpPr>
            <p:spPr bwMode="auto">
              <a:xfrm>
                <a:off x="950"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15</a:t>
                </a:r>
              </a:p>
            </p:txBody>
          </p:sp>
          <p:sp>
            <p:nvSpPr>
              <p:cNvPr id="52238" name="Rectangle 40">
                <a:extLst>
                  <a:ext uri="{FF2B5EF4-FFF2-40B4-BE49-F238E27FC236}">
                    <a16:creationId xmlns:a16="http://schemas.microsoft.com/office/drawing/2014/main" id="{3A7A7FBF-06DC-4116-9C6F-CAE11185726B}"/>
                  </a:ext>
                </a:extLst>
              </p:cNvPr>
              <p:cNvSpPr>
                <a:spLocks noChangeArrowheads="1"/>
              </p:cNvSpPr>
              <p:nvPr/>
            </p:nvSpPr>
            <p:spPr bwMode="auto">
              <a:xfrm>
                <a:off x="325"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15</a:t>
                </a:r>
              </a:p>
            </p:txBody>
          </p:sp>
          <p:sp>
            <p:nvSpPr>
              <p:cNvPr id="52239" name="Rectangle 41">
                <a:extLst>
                  <a:ext uri="{FF2B5EF4-FFF2-40B4-BE49-F238E27FC236}">
                    <a16:creationId xmlns:a16="http://schemas.microsoft.com/office/drawing/2014/main" id="{83F38833-EA87-4088-B679-C5581A7F1A63}"/>
                  </a:ext>
                </a:extLst>
              </p:cNvPr>
              <p:cNvSpPr>
                <a:spLocks noChangeArrowheads="1"/>
              </p:cNvSpPr>
              <p:nvPr/>
            </p:nvSpPr>
            <p:spPr bwMode="auto">
              <a:xfrm>
                <a:off x="1575"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20</a:t>
                </a:r>
              </a:p>
            </p:txBody>
          </p:sp>
          <p:sp>
            <p:nvSpPr>
              <p:cNvPr id="52240" name="Rectangle 42">
                <a:extLst>
                  <a:ext uri="{FF2B5EF4-FFF2-40B4-BE49-F238E27FC236}">
                    <a16:creationId xmlns:a16="http://schemas.microsoft.com/office/drawing/2014/main" id="{E2FCAC58-8B1E-4234-8994-DB6AFBBC6833}"/>
                  </a:ext>
                </a:extLst>
              </p:cNvPr>
              <p:cNvSpPr>
                <a:spLocks noChangeArrowheads="1"/>
              </p:cNvSpPr>
              <p:nvPr/>
            </p:nvSpPr>
            <p:spPr bwMode="auto">
              <a:xfrm>
                <a:off x="950"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2241" name="Rectangle 43">
                <a:extLst>
                  <a:ext uri="{FF2B5EF4-FFF2-40B4-BE49-F238E27FC236}">
                    <a16:creationId xmlns:a16="http://schemas.microsoft.com/office/drawing/2014/main" id="{8E7C08D4-CDC5-4FFA-A2F0-6874A6133282}"/>
                  </a:ext>
                </a:extLst>
              </p:cNvPr>
              <p:cNvSpPr>
                <a:spLocks noChangeArrowheads="1"/>
              </p:cNvSpPr>
              <p:nvPr/>
            </p:nvSpPr>
            <p:spPr bwMode="auto">
              <a:xfrm>
                <a:off x="325"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2242" name="Rectangle 44">
                <a:extLst>
                  <a:ext uri="{FF2B5EF4-FFF2-40B4-BE49-F238E27FC236}">
                    <a16:creationId xmlns:a16="http://schemas.microsoft.com/office/drawing/2014/main" id="{2E7BFE92-93A7-4F28-B383-8D94CEACBCF5}"/>
                  </a:ext>
                </a:extLst>
              </p:cNvPr>
              <p:cNvSpPr>
                <a:spLocks noChangeArrowheads="1"/>
              </p:cNvSpPr>
              <p:nvPr/>
            </p:nvSpPr>
            <p:spPr bwMode="auto">
              <a:xfrm>
                <a:off x="1575"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10</a:t>
                </a:r>
              </a:p>
            </p:txBody>
          </p:sp>
          <p:sp>
            <p:nvSpPr>
              <p:cNvPr id="52243" name="Rectangle 45">
                <a:extLst>
                  <a:ext uri="{FF2B5EF4-FFF2-40B4-BE49-F238E27FC236}">
                    <a16:creationId xmlns:a16="http://schemas.microsoft.com/office/drawing/2014/main" id="{2E88FDA3-390D-493F-A779-54351FC92F4F}"/>
                  </a:ext>
                </a:extLst>
              </p:cNvPr>
              <p:cNvSpPr>
                <a:spLocks noChangeArrowheads="1"/>
              </p:cNvSpPr>
              <p:nvPr/>
            </p:nvSpPr>
            <p:spPr bwMode="auto">
              <a:xfrm>
                <a:off x="950"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2244" name="Rectangle 46">
                <a:extLst>
                  <a:ext uri="{FF2B5EF4-FFF2-40B4-BE49-F238E27FC236}">
                    <a16:creationId xmlns:a16="http://schemas.microsoft.com/office/drawing/2014/main" id="{01A7D8A4-AFAA-4E8C-A027-0B79A295518B}"/>
                  </a:ext>
                </a:extLst>
              </p:cNvPr>
              <p:cNvSpPr>
                <a:spLocks noChangeArrowheads="1"/>
              </p:cNvSpPr>
              <p:nvPr/>
            </p:nvSpPr>
            <p:spPr bwMode="auto">
              <a:xfrm>
                <a:off x="325"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2245" name="Line 47">
                <a:extLst>
                  <a:ext uri="{FF2B5EF4-FFF2-40B4-BE49-F238E27FC236}">
                    <a16:creationId xmlns:a16="http://schemas.microsoft.com/office/drawing/2014/main" id="{3DB4D749-2069-47A0-8C9E-0EBB13D4E920}"/>
                  </a:ext>
                </a:extLst>
              </p:cNvPr>
              <p:cNvSpPr>
                <a:spLocks noChangeShapeType="1"/>
              </p:cNvSpPr>
              <p:nvPr/>
            </p:nvSpPr>
            <p:spPr bwMode="auto">
              <a:xfrm>
                <a:off x="325" y="2387"/>
                <a:ext cx="1875"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46" name="Line 48">
                <a:extLst>
                  <a:ext uri="{FF2B5EF4-FFF2-40B4-BE49-F238E27FC236}">
                    <a16:creationId xmlns:a16="http://schemas.microsoft.com/office/drawing/2014/main" id="{5F1AD6F1-38A6-4AF8-BA0B-B51381FF1AEB}"/>
                  </a:ext>
                </a:extLst>
              </p:cNvPr>
              <p:cNvSpPr>
                <a:spLocks noChangeShapeType="1"/>
              </p:cNvSpPr>
              <p:nvPr/>
            </p:nvSpPr>
            <p:spPr bwMode="auto">
              <a:xfrm>
                <a:off x="325" y="2734"/>
                <a:ext cx="18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47" name="Line 49">
                <a:extLst>
                  <a:ext uri="{FF2B5EF4-FFF2-40B4-BE49-F238E27FC236}">
                    <a16:creationId xmlns:a16="http://schemas.microsoft.com/office/drawing/2014/main" id="{0AF20CB7-FB21-4AC2-A795-5428EE8CF0EB}"/>
                  </a:ext>
                </a:extLst>
              </p:cNvPr>
              <p:cNvSpPr>
                <a:spLocks noChangeShapeType="1"/>
              </p:cNvSpPr>
              <p:nvPr/>
            </p:nvSpPr>
            <p:spPr bwMode="auto">
              <a:xfrm>
                <a:off x="325" y="3083"/>
                <a:ext cx="18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48" name="Line 50">
                <a:extLst>
                  <a:ext uri="{FF2B5EF4-FFF2-40B4-BE49-F238E27FC236}">
                    <a16:creationId xmlns:a16="http://schemas.microsoft.com/office/drawing/2014/main" id="{01AB560D-146B-4148-9DF8-D8D831F1C43A}"/>
                  </a:ext>
                </a:extLst>
              </p:cNvPr>
              <p:cNvSpPr>
                <a:spLocks noChangeShapeType="1"/>
              </p:cNvSpPr>
              <p:nvPr/>
            </p:nvSpPr>
            <p:spPr bwMode="auto">
              <a:xfrm>
                <a:off x="325" y="3430"/>
                <a:ext cx="1875"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49" name="Line 51">
                <a:extLst>
                  <a:ext uri="{FF2B5EF4-FFF2-40B4-BE49-F238E27FC236}">
                    <a16:creationId xmlns:a16="http://schemas.microsoft.com/office/drawing/2014/main" id="{5A5711D8-1C93-427D-AA0D-8516203C2CDF}"/>
                  </a:ext>
                </a:extLst>
              </p:cNvPr>
              <p:cNvSpPr>
                <a:spLocks noChangeShapeType="1"/>
              </p:cNvSpPr>
              <p:nvPr/>
            </p:nvSpPr>
            <p:spPr bwMode="auto">
              <a:xfrm>
                <a:off x="325" y="2387"/>
                <a:ext cx="0" cy="104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50" name="Line 52">
                <a:extLst>
                  <a:ext uri="{FF2B5EF4-FFF2-40B4-BE49-F238E27FC236}">
                    <a16:creationId xmlns:a16="http://schemas.microsoft.com/office/drawing/2014/main" id="{498732C4-E68D-4BB2-B3CF-C79B6470E6FC}"/>
                  </a:ext>
                </a:extLst>
              </p:cNvPr>
              <p:cNvSpPr>
                <a:spLocks noChangeShapeType="1"/>
              </p:cNvSpPr>
              <p:nvPr/>
            </p:nvSpPr>
            <p:spPr bwMode="auto">
              <a:xfrm>
                <a:off x="950" y="2387"/>
                <a:ext cx="0" cy="104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51" name="Line 53">
                <a:extLst>
                  <a:ext uri="{FF2B5EF4-FFF2-40B4-BE49-F238E27FC236}">
                    <a16:creationId xmlns:a16="http://schemas.microsoft.com/office/drawing/2014/main" id="{33E329F0-6F68-4448-BF8E-B2A7775EDC19}"/>
                  </a:ext>
                </a:extLst>
              </p:cNvPr>
              <p:cNvSpPr>
                <a:spLocks noChangeShapeType="1"/>
              </p:cNvSpPr>
              <p:nvPr/>
            </p:nvSpPr>
            <p:spPr bwMode="auto">
              <a:xfrm>
                <a:off x="1575" y="2387"/>
                <a:ext cx="0" cy="104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2252" name="Line 54">
                <a:extLst>
                  <a:ext uri="{FF2B5EF4-FFF2-40B4-BE49-F238E27FC236}">
                    <a16:creationId xmlns:a16="http://schemas.microsoft.com/office/drawing/2014/main" id="{A891932B-02C0-4180-A06E-D1D523AC9069}"/>
                  </a:ext>
                </a:extLst>
              </p:cNvPr>
              <p:cNvSpPr>
                <a:spLocks noChangeShapeType="1"/>
              </p:cNvSpPr>
              <p:nvPr/>
            </p:nvSpPr>
            <p:spPr bwMode="auto">
              <a:xfrm>
                <a:off x="2200" y="2387"/>
                <a:ext cx="0" cy="104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grpSp>
        <p:sp>
          <p:nvSpPr>
            <p:cNvPr id="52232" name="矩形 2">
              <a:extLst>
                <a:ext uri="{FF2B5EF4-FFF2-40B4-BE49-F238E27FC236}">
                  <a16:creationId xmlns:a16="http://schemas.microsoft.com/office/drawing/2014/main" id="{5DDE68C1-388B-4035-918C-76DC0717A7B3}"/>
                </a:ext>
              </a:extLst>
            </p:cNvPr>
            <p:cNvSpPr>
              <a:spLocks noChangeArrowheads="1"/>
            </p:cNvSpPr>
            <p:nvPr/>
          </p:nvSpPr>
          <p:spPr bwMode="auto">
            <a:xfrm>
              <a:off x="930253" y="3874636"/>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8</a:t>
              </a:r>
            </a:p>
          </p:txBody>
        </p:sp>
        <p:sp>
          <p:nvSpPr>
            <p:cNvPr id="52233" name="矩形 3">
              <a:extLst>
                <a:ext uri="{FF2B5EF4-FFF2-40B4-BE49-F238E27FC236}">
                  <a16:creationId xmlns:a16="http://schemas.microsoft.com/office/drawing/2014/main" id="{6D8E8F7D-9F2E-47E5-B3E0-A3F81EE10D00}"/>
                </a:ext>
              </a:extLst>
            </p:cNvPr>
            <p:cNvSpPr>
              <a:spLocks noChangeArrowheads="1"/>
            </p:cNvSpPr>
            <p:nvPr/>
          </p:nvSpPr>
          <p:spPr bwMode="auto">
            <a:xfrm>
              <a:off x="1922439" y="3851988"/>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5</a:t>
              </a:r>
            </a:p>
          </p:txBody>
        </p:sp>
        <p:sp>
          <p:nvSpPr>
            <p:cNvPr id="52234" name="矩形 4">
              <a:extLst>
                <a:ext uri="{FF2B5EF4-FFF2-40B4-BE49-F238E27FC236}">
                  <a16:creationId xmlns:a16="http://schemas.microsoft.com/office/drawing/2014/main" id="{3928EB0A-DCD6-483F-82CF-DDD18B7AB45A}"/>
                </a:ext>
              </a:extLst>
            </p:cNvPr>
            <p:cNvSpPr>
              <a:spLocks noChangeArrowheads="1"/>
            </p:cNvSpPr>
            <p:nvPr/>
          </p:nvSpPr>
          <p:spPr bwMode="auto">
            <a:xfrm>
              <a:off x="973116" y="4371538"/>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2</a:t>
              </a:r>
            </a:p>
          </p:txBody>
        </p:sp>
        <p:sp>
          <p:nvSpPr>
            <p:cNvPr id="52235" name="矩形 5">
              <a:extLst>
                <a:ext uri="{FF2B5EF4-FFF2-40B4-BE49-F238E27FC236}">
                  <a16:creationId xmlns:a16="http://schemas.microsoft.com/office/drawing/2014/main" id="{0BA7BD66-3269-4DDB-9005-F34D787C9BF8}"/>
                </a:ext>
              </a:extLst>
            </p:cNvPr>
            <p:cNvSpPr>
              <a:spLocks noChangeArrowheads="1"/>
            </p:cNvSpPr>
            <p:nvPr/>
          </p:nvSpPr>
          <p:spPr bwMode="auto">
            <a:xfrm>
              <a:off x="1939064" y="4414104"/>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869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4" presetClass="entr" presetSubtype="1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randombar(horizontal)">
                                      <p:cBhvr>
                                        <p:cTn id="11" dur="500"/>
                                        <p:tgtEl>
                                          <p:spTgt spid="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98714"/>
                                        </p:tgtEl>
                                        <p:attrNameLst>
                                          <p:attrName>style.visibility</p:attrName>
                                        </p:attrNameLst>
                                      </p:cBhvr>
                                      <p:to>
                                        <p:strVal val="visible"/>
                                      </p:to>
                                    </p:set>
                                    <p:animEffect transition="in" filter="fade">
                                      <p:cBhvr>
                                        <p:cTn id="16" dur="500"/>
                                        <p:tgtEl>
                                          <p:spTgt spid="1987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92" grpId="0"/>
      <p:bldP spid="19871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descr="Large confetti">
            <a:extLst>
              <a:ext uri="{FF2B5EF4-FFF2-40B4-BE49-F238E27FC236}">
                <a16:creationId xmlns:a16="http://schemas.microsoft.com/office/drawing/2014/main" id="{7CCB22F1-2975-432E-A946-457D2C31A2A2}"/>
              </a:ext>
            </a:extLst>
          </p:cNvPr>
          <p:cNvSpPr>
            <a:spLocks noGrp="1" noChangeArrowheads="1"/>
          </p:cNvSpPr>
          <p:nvPr>
            <p:ph type="title"/>
          </p:nvPr>
        </p:nvSpPr>
        <p:spPr/>
        <p:txBody>
          <a:bodyPr/>
          <a:lstStyle/>
          <a:p>
            <a:r>
              <a:rPr lang="zh-CN" altLang="en-US" sz="4400"/>
              <a:t>最小元素法的</a:t>
            </a:r>
            <a:r>
              <a:rPr lang="zh-CN" altLang="en-US" sz="4400">
                <a:solidFill>
                  <a:srgbClr val="D2668D"/>
                </a:solidFill>
              </a:rPr>
              <a:t>缺点</a:t>
            </a:r>
            <a:endParaRPr lang="zh-CN" altLang="en-US"/>
          </a:p>
        </p:txBody>
      </p:sp>
      <p:sp>
        <p:nvSpPr>
          <p:cNvPr id="53251" name="Rectangle 34" descr="Ricebk">
            <a:extLst>
              <a:ext uri="{FF2B5EF4-FFF2-40B4-BE49-F238E27FC236}">
                <a16:creationId xmlns:a16="http://schemas.microsoft.com/office/drawing/2014/main" id="{E25BC0DC-F5D6-4219-9B45-AAAED9363A93}"/>
              </a:ext>
            </a:extLst>
          </p:cNvPr>
          <p:cNvSpPr>
            <a:spLocks noGrp="1" noChangeArrowheads="1"/>
          </p:cNvSpPr>
          <p:nvPr>
            <p:ph type="body" idx="1"/>
          </p:nvPr>
        </p:nvSpPr>
        <p:spPr>
          <a:xfrm>
            <a:off x="266700" y="1033463"/>
            <a:ext cx="8420100" cy="2012950"/>
          </a:xfrm>
          <a:extLst>
            <a:ext uri="{909E8E84-426E-40DD-AFC4-6F175D3DCCD1}">
              <a14:hiddenFill xmlns:a14="http://schemas.microsoft.com/office/drawing/2010/main">
                <a:blipFill dpi="0" rotWithShape="1">
                  <a:blip r:embed="rId2"/>
                  <a:srcRect/>
                  <a:tile tx="0" ty="0" sx="100000" sy="100000" flip="none" algn="tl"/>
                </a:blipFill>
              </a14:hiddenFill>
            </a:ext>
          </a:extLst>
        </p:spPr>
        <p:txBody>
          <a:bodyPr/>
          <a:lstStyle/>
          <a:p>
            <a:r>
              <a:rPr lang="en-US" altLang="zh-CN"/>
              <a:t> </a:t>
            </a:r>
            <a:r>
              <a:rPr lang="zh-CN" altLang="en-US" sz="2400"/>
              <a:t>最小元素法的</a:t>
            </a:r>
            <a:r>
              <a:rPr lang="zh-CN" altLang="en-US" sz="2400">
                <a:solidFill>
                  <a:srgbClr val="D2668D"/>
                </a:solidFill>
              </a:rPr>
              <a:t>缺点</a:t>
            </a:r>
            <a:r>
              <a:rPr lang="zh-CN" altLang="en-US" sz="2400"/>
              <a:t>是：为了节省一处的费用，有时造成在其他处要多花几倍的运费。</a:t>
            </a:r>
            <a:r>
              <a:rPr lang="zh-CN" altLang="en-US" sz="2400">
                <a:solidFill>
                  <a:srgbClr val="FF0000"/>
                </a:solidFill>
              </a:rPr>
              <a:t>需要优先考虑最小运费和次小运费的差额，在差额最大处采用最小运费调运。</a:t>
            </a:r>
            <a:r>
              <a:rPr lang="zh-CN" altLang="en-US" sz="2400"/>
              <a:t>因为差额最大处如果不能按最小运费调运，则运费增加非常多。例如下面两种运输方案：</a:t>
            </a:r>
          </a:p>
        </p:txBody>
      </p:sp>
      <p:sp>
        <p:nvSpPr>
          <p:cNvPr id="198692" name="Text Box 36">
            <a:extLst>
              <a:ext uri="{FF2B5EF4-FFF2-40B4-BE49-F238E27FC236}">
                <a16:creationId xmlns:a16="http://schemas.microsoft.com/office/drawing/2014/main" id="{1D71181C-0FF1-42A4-B7B8-AEB6A8476D5B}"/>
              </a:ext>
            </a:extLst>
          </p:cNvPr>
          <p:cNvSpPr txBox="1">
            <a:spLocks noChangeArrowheads="1"/>
          </p:cNvSpPr>
          <p:nvPr/>
        </p:nvSpPr>
        <p:spPr bwMode="auto">
          <a:xfrm>
            <a:off x="900113" y="3114675"/>
            <a:ext cx="2376487"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zh-CN" altLang="en-US" sz="2400" b="1">
                <a:solidFill>
                  <a:schemeClr val="bg2"/>
                </a:solidFill>
              </a:rPr>
              <a:t>最小元素法：</a:t>
            </a:r>
          </a:p>
        </p:txBody>
      </p:sp>
      <p:sp>
        <p:nvSpPr>
          <p:cNvPr id="198714" name="Rectangle 58">
            <a:extLst>
              <a:ext uri="{FF2B5EF4-FFF2-40B4-BE49-F238E27FC236}">
                <a16:creationId xmlns:a16="http://schemas.microsoft.com/office/drawing/2014/main" id="{DC816713-BA01-4CA1-9963-4F6FCEFD3C23}"/>
              </a:ext>
            </a:extLst>
          </p:cNvPr>
          <p:cNvSpPr>
            <a:spLocks noChangeArrowheads="1"/>
          </p:cNvSpPr>
          <p:nvPr/>
        </p:nvSpPr>
        <p:spPr bwMode="auto">
          <a:xfrm>
            <a:off x="515938" y="5543550"/>
            <a:ext cx="2532062" cy="1041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20000"/>
              </a:spcBef>
              <a:buSzPct val="85000"/>
            </a:pPr>
            <a:r>
              <a:rPr kumimoji="1" lang="zh-CN" altLang="en-US" sz="2400">
                <a:solidFill>
                  <a:schemeClr val="bg2"/>
                </a:solidFill>
              </a:rPr>
              <a:t>总运费是</a:t>
            </a:r>
            <a:r>
              <a:rPr kumimoji="1" lang="en-US" altLang="zh-CN" sz="2400" i="1">
                <a:solidFill>
                  <a:schemeClr val="bg2"/>
                </a:solidFill>
              </a:rPr>
              <a:t>z</a:t>
            </a:r>
            <a:r>
              <a:rPr kumimoji="1" lang="en-US" altLang="zh-CN" sz="2400">
                <a:solidFill>
                  <a:schemeClr val="bg2"/>
                </a:solidFill>
              </a:rPr>
              <a:t>=10×8</a:t>
            </a:r>
          </a:p>
          <a:p>
            <a:pPr>
              <a:lnSpc>
                <a:spcPct val="120000"/>
              </a:lnSpc>
              <a:spcBef>
                <a:spcPct val="20000"/>
              </a:spcBef>
              <a:buSzPct val="85000"/>
            </a:pPr>
            <a:r>
              <a:rPr kumimoji="1" lang="en-US" altLang="zh-CN" sz="2400">
                <a:solidFill>
                  <a:schemeClr val="bg2"/>
                </a:solidFill>
              </a:rPr>
              <a:t>+5×2+15×1=105</a:t>
            </a:r>
          </a:p>
        </p:txBody>
      </p:sp>
      <p:sp>
        <p:nvSpPr>
          <p:cNvPr id="198736" name="Text Box 80">
            <a:extLst>
              <a:ext uri="{FF2B5EF4-FFF2-40B4-BE49-F238E27FC236}">
                <a16:creationId xmlns:a16="http://schemas.microsoft.com/office/drawing/2014/main" id="{E4B8D623-F28E-47C0-8017-170A76BB660F}"/>
              </a:ext>
            </a:extLst>
          </p:cNvPr>
          <p:cNvSpPr txBox="1">
            <a:spLocks noChangeArrowheads="1"/>
          </p:cNvSpPr>
          <p:nvPr/>
        </p:nvSpPr>
        <p:spPr bwMode="auto">
          <a:xfrm>
            <a:off x="5530850" y="3217863"/>
            <a:ext cx="2376488"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zh-CN" altLang="en-US" sz="2400" b="1">
                <a:solidFill>
                  <a:schemeClr val="bg2"/>
                </a:solidFill>
              </a:rPr>
              <a:t>另一种方法：</a:t>
            </a:r>
          </a:p>
        </p:txBody>
      </p:sp>
      <p:sp>
        <p:nvSpPr>
          <p:cNvPr id="198737" name="Rectangle 81">
            <a:extLst>
              <a:ext uri="{FF2B5EF4-FFF2-40B4-BE49-F238E27FC236}">
                <a16:creationId xmlns:a16="http://schemas.microsoft.com/office/drawing/2014/main" id="{C1DF689F-E6D5-4149-983C-6541A4947DCE}"/>
              </a:ext>
            </a:extLst>
          </p:cNvPr>
          <p:cNvSpPr>
            <a:spLocks noChangeArrowheads="1"/>
          </p:cNvSpPr>
          <p:nvPr/>
        </p:nvSpPr>
        <p:spPr bwMode="auto">
          <a:xfrm>
            <a:off x="5219700" y="5661025"/>
            <a:ext cx="23796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zh-CN" altLang="en-US" sz="2400">
                <a:solidFill>
                  <a:schemeClr val="bg2"/>
                </a:solidFill>
              </a:rPr>
              <a:t>总运费</a:t>
            </a:r>
            <a:r>
              <a:rPr kumimoji="1" lang="en-US" altLang="zh-CN" sz="2400" i="1">
                <a:solidFill>
                  <a:schemeClr val="bg2"/>
                </a:solidFill>
              </a:rPr>
              <a:t>z</a:t>
            </a:r>
            <a:r>
              <a:rPr kumimoji="1" lang="en-US" altLang="zh-CN" sz="2400">
                <a:solidFill>
                  <a:schemeClr val="bg2"/>
                </a:solidFill>
              </a:rPr>
              <a:t>=10×5</a:t>
            </a:r>
          </a:p>
          <a:p>
            <a:r>
              <a:rPr kumimoji="1" lang="en-US" altLang="zh-CN" sz="2400">
                <a:solidFill>
                  <a:schemeClr val="bg2"/>
                </a:solidFill>
              </a:rPr>
              <a:t>+15×2+5×1=85</a:t>
            </a:r>
          </a:p>
        </p:txBody>
      </p:sp>
      <p:sp>
        <p:nvSpPr>
          <p:cNvPr id="2" name="矩形 1">
            <a:extLst>
              <a:ext uri="{FF2B5EF4-FFF2-40B4-BE49-F238E27FC236}">
                <a16:creationId xmlns:a16="http://schemas.microsoft.com/office/drawing/2014/main" id="{22A2BB71-695B-4C83-BE72-5248D8807CF5}"/>
              </a:ext>
            </a:extLst>
          </p:cNvPr>
          <p:cNvSpPr/>
          <p:nvPr/>
        </p:nvSpPr>
        <p:spPr>
          <a:xfrm>
            <a:off x="5181600" y="3687763"/>
            <a:ext cx="1050925" cy="121285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nvGrpSpPr>
          <p:cNvPr id="7" name="组合 6">
            <a:extLst>
              <a:ext uri="{FF2B5EF4-FFF2-40B4-BE49-F238E27FC236}">
                <a16:creationId xmlns:a16="http://schemas.microsoft.com/office/drawing/2014/main" id="{14802AAF-4AD7-471B-BAAB-9E6A42AEC2D0}"/>
              </a:ext>
            </a:extLst>
          </p:cNvPr>
          <p:cNvGrpSpPr>
            <a:grpSpLocks/>
          </p:cNvGrpSpPr>
          <p:nvPr/>
        </p:nvGrpSpPr>
        <p:grpSpPr bwMode="auto">
          <a:xfrm>
            <a:off x="477838" y="3703638"/>
            <a:ext cx="3014662" cy="1741487"/>
            <a:chOff x="477838" y="3703126"/>
            <a:chExt cx="3014662" cy="1741999"/>
          </a:xfrm>
        </p:grpSpPr>
        <p:grpSp>
          <p:nvGrpSpPr>
            <p:cNvPr id="53285" name="Group 84">
              <a:extLst>
                <a:ext uri="{FF2B5EF4-FFF2-40B4-BE49-F238E27FC236}">
                  <a16:creationId xmlns:a16="http://schemas.microsoft.com/office/drawing/2014/main" id="{3ED8DB59-73B6-4079-8276-48E93FD151CA}"/>
                </a:ext>
              </a:extLst>
            </p:cNvPr>
            <p:cNvGrpSpPr>
              <a:grpSpLocks/>
            </p:cNvGrpSpPr>
            <p:nvPr/>
          </p:nvGrpSpPr>
          <p:grpSpPr bwMode="auto">
            <a:xfrm>
              <a:off x="477838" y="3789363"/>
              <a:ext cx="3014662" cy="1655762"/>
              <a:chOff x="301" y="2387"/>
              <a:chExt cx="1899" cy="1043"/>
            </a:xfrm>
          </p:grpSpPr>
          <p:grpSp>
            <p:nvGrpSpPr>
              <p:cNvPr id="53290" name="Group 82">
                <a:extLst>
                  <a:ext uri="{FF2B5EF4-FFF2-40B4-BE49-F238E27FC236}">
                    <a16:creationId xmlns:a16="http://schemas.microsoft.com/office/drawing/2014/main" id="{715C0E7A-24D4-45F6-AAD9-48C234B8888E}"/>
                  </a:ext>
                </a:extLst>
              </p:cNvPr>
              <p:cNvGrpSpPr>
                <a:grpSpLocks/>
              </p:cNvGrpSpPr>
              <p:nvPr/>
            </p:nvGrpSpPr>
            <p:grpSpPr bwMode="auto">
              <a:xfrm>
                <a:off x="325" y="2387"/>
                <a:ext cx="1875" cy="1043"/>
                <a:chOff x="325" y="2387"/>
                <a:chExt cx="1875" cy="1043"/>
              </a:xfrm>
            </p:grpSpPr>
            <p:sp>
              <p:nvSpPr>
                <p:cNvPr id="53294" name="Rectangle 38">
                  <a:extLst>
                    <a:ext uri="{FF2B5EF4-FFF2-40B4-BE49-F238E27FC236}">
                      <a16:creationId xmlns:a16="http://schemas.microsoft.com/office/drawing/2014/main" id="{CB4C74D8-07D0-40F8-8721-FA2D9C837DE9}"/>
                    </a:ext>
                  </a:extLst>
                </p:cNvPr>
                <p:cNvSpPr>
                  <a:spLocks noChangeArrowheads="1"/>
                </p:cNvSpPr>
                <p:nvPr/>
              </p:nvSpPr>
              <p:spPr bwMode="auto">
                <a:xfrm>
                  <a:off x="1575"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53295" name="Rectangle 39">
                  <a:extLst>
                    <a:ext uri="{FF2B5EF4-FFF2-40B4-BE49-F238E27FC236}">
                      <a16:creationId xmlns:a16="http://schemas.microsoft.com/office/drawing/2014/main" id="{CC8BAEEB-BAB8-4D90-ADE9-631C7962F4A0}"/>
                    </a:ext>
                  </a:extLst>
                </p:cNvPr>
                <p:cNvSpPr>
                  <a:spLocks noChangeArrowheads="1"/>
                </p:cNvSpPr>
                <p:nvPr/>
              </p:nvSpPr>
              <p:spPr bwMode="auto">
                <a:xfrm>
                  <a:off x="950"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15</a:t>
                  </a:r>
                </a:p>
              </p:txBody>
            </p:sp>
            <p:sp>
              <p:nvSpPr>
                <p:cNvPr id="53296" name="Rectangle 40">
                  <a:extLst>
                    <a:ext uri="{FF2B5EF4-FFF2-40B4-BE49-F238E27FC236}">
                      <a16:creationId xmlns:a16="http://schemas.microsoft.com/office/drawing/2014/main" id="{97B38DEB-4E56-4362-A2D7-E764F0E83799}"/>
                    </a:ext>
                  </a:extLst>
                </p:cNvPr>
                <p:cNvSpPr>
                  <a:spLocks noChangeArrowheads="1"/>
                </p:cNvSpPr>
                <p:nvPr/>
              </p:nvSpPr>
              <p:spPr bwMode="auto">
                <a:xfrm>
                  <a:off x="325"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15</a:t>
                  </a:r>
                </a:p>
              </p:txBody>
            </p:sp>
            <p:sp>
              <p:nvSpPr>
                <p:cNvPr id="53297" name="Rectangle 41">
                  <a:extLst>
                    <a:ext uri="{FF2B5EF4-FFF2-40B4-BE49-F238E27FC236}">
                      <a16:creationId xmlns:a16="http://schemas.microsoft.com/office/drawing/2014/main" id="{07E82274-2FE7-465D-BC9F-9D8C84976098}"/>
                    </a:ext>
                  </a:extLst>
                </p:cNvPr>
                <p:cNvSpPr>
                  <a:spLocks noChangeArrowheads="1"/>
                </p:cNvSpPr>
                <p:nvPr/>
              </p:nvSpPr>
              <p:spPr bwMode="auto">
                <a:xfrm>
                  <a:off x="1575"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20</a:t>
                  </a:r>
                </a:p>
              </p:txBody>
            </p:sp>
            <p:sp>
              <p:nvSpPr>
                <p:cNvPr id="53298" name="Rectangle 42">
                  <a:extLst>
                    <a:ext uri="{FF2B5EF4-FFF2-40B4-BE49-F238E27FC236}">
                      <a16:creationId xmlns:a16="http://schemas.microsoft.com/office/drawing/2014/main" id="{609A00EB-3262-4C50-A93C-CC58A9B41F9B}"/>
                    </a:ext>
                  </a:extLst>
                </p:cNvPr>
                <p:cNvSpPr>
                  <a:spLocks noChangeArrowheads="1"/>
                </p:cNvSpPr>
                <p:nvPr/>
              </p:nvSpPr>
              <p:spPr bwMode="auto">
                <a:xfrm>
                  <a:off x="950"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299" name="Rectangle 43">
                  <a:extLst>
                    <a:ext uri="{FF2B5EF4-FFF2-40B4-BE49-F238E27FC236}">
                      <a16:creationId xmlns:a16="http://schemas.microsoft.com/office/drawing/2014/main" id="{A0B0F9EB-576A-4F7D-8137-3894CF4F2562}"/>
                    </a:ext>
                  </a:extLst>
                </p:cNvPr>
                <p:cNvSpPr>
                  <a:spLocks noChangeArrowheads="1"/>
                </p:cNvSpPr>
                <p:nvPr/>
              </p:nvSpPr>
              <p:spPr bwMode="auto">
                <a:xfrm>
                  <a:off x="325"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300" name="Rectangle 44">
                  <a:extLst>
                    <a:ext uri="{FF2B5EF4-FFF2-40B4-BE49-F238E27FC236}">
                      <a16:creationId xmlns:a16="http://schemas.microsoft.com/office/drawing/2014/main" id="{121024DD-55D9-4A2C-A161-5F490C5B2788}"/>
                    </a:ext>
                  </a:extLst>
                </p:cNvPr>
                <p:cNvSpPr>
                  <a:spLocks noChangeArrowheads="1"/>
                </p:cNvSpPr>
                <p:nvPr/>
              </p:nvSpPr>
              <p:spPr bwMode="auto">
                <a:xfrm>
                  <a:off x="1575"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10</a:t>
                  </a:r>
                </a:p>
              </p:txBody>
            </p:sp>
            <p:sp>
              <p:nvSpPr>
                <p:cNvPr id="53301" name="Rectangle 45">
                  <a:extLst>
                    <a:ext uri="{FF2B5EF4-FFF2-40B4-BE49-F238E27FC236}">
                      <a16:creationId xmlns:a16="http://schemas.microsoft.com/office/drawing/2014/main" id="{C0C1739C-4492-4BC5-A6E1-2C4D25B28516}"/>
                    </a:ext>
                  </a:extLst>
                </p:cNvPr>
                <p:cNvSpPr>
                  <a:spLocks noChangeArrowheads="1"/>
                </p:cNvSpPr>
                <p:nvPr/>
              </p:nvSpPr>
              <p:spPr bwMode="auto">
                <a:xfrm>
                  <a:off x="950"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302" name="Rectangle 46">
                  <a:extLst>
                    <a:ext uri="{FF2B5EF4-FFF2-40B4-BE49-F238E27FC236}">
                      <a16:creationId xmlns:a16="http://schemas.microsoft.com/office/drawing/2014/main" id="{926717F2-F603-4C7E-906B-E867B75F47C3}"/>
                    </a:ext>
                  </a:extLst>
                </p:cNvPr>
                <p:cNvSpPr>
                  <a:spLocks noChangeArrowheads="1"/>
                </p:cNvSpPr>
                <p:nvPr/>
              </p:nvSpPr>
              <p:spPr bwMode="auto">
                <a:xfrm>
                  <a:off x="325"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303" name="Line 47">
                  <a:extLst>
                    <a:ext uri="{FF2B5EF4-FFF2-40B4-BE49-F238E27FC236}">
                      <a16:creationId xmlns:a16="http://schemas.microsoft.com/office/drawing/2014/main" id="{4FCCC1D9-51B6-4197-822C-FB34F4D2F706}"/>
                    </a:ext>
                  </a:extLst>
                </p:cNvPr>
                <p:cNvSpPr>
                  <a:spLocks noChangeShapeType="1"/>
                </p:cNvSpPr>
                <p:nvPr/>
              </p:nvSpPr>
              <p:spPr bwMode="auto">
                <a:xfrm>
                  <a:off x="325" y="2387"/>
                  <a:ext cx="1875"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04" name="Line 48">
                  <a:extLst>
                    <a:ext uri="{FF2B5EF4-FFF2-40B4-BE49-F238E27FC236}">
                      <a16:creationId xmlns:a16="http://schemas.microsoft.com/office/drawing/2014/main" id="{5D9C7124-3455-45F7-B706-25187BA7C981}"/>
                    </a:ext>
                  </a:extLst>
                </p:cNvPr>
                <p:cNvSpPr>
                  <a:spLocks noChangeShapeType="1"/>
                </p:cNvSpPr>
                <p:nvPr/>
              </p:nvSpPr>
              <p:spPr bwMode="auto">
                <a:xfrm>
                  <a:off x="325" y="2734"/>
                  <a:ext cx="18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05" name="Line 49">
                  <a:extLst>
                    <a:ext uri="{FF2B5EF4-FFF2-40B4-BE49-F238E27FC236}">
                      <a16:creationId xmlns:a16="http://schemas.microsoft.com/office/drawing/2014/main" id="{DB4B82EA-377F-4F79-99DD-63CB745AA360}"/>
                    </a:ext>
                  </a:extLst>
                </p:cNvPr>
                <p:cNvSpPr>
                  <a:spLocks noChangeShapeType="1"/>
                </p:cNvSpPr>
                <p:nvPr/>
              </p:nvSpPr>
              <p:spPr bwMode="auto">
                <a:xfrm>
                  <a:off x="325" y="3083"/>
                  <a:ext cx="18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06" name="Line 50">
                  <a:extLst>
                    <a:ext uri="{FF2B5EF4-FFF2-40B4-BE49-F238E27FC236}">
                      <a16:creationId xmlns:a16="http://schemas.microsoft.com/office/drawing/2014/main" id="{A56BA62D-E70D-4AF8-B6EA-6206F9C5EE0A}"/>
                    </a:ext>
                  </a:extLst>
                </p:cNvPr>
                <p:cNvSpPr>
                  <a:spLocks noChangeShapeType="1"/>
                </p:cNvSpPr>
                <p:nvPr/>
              </p:nvSpPr>
              <p:spPr bwMode="auto">
                <a:xfrm>
                  <a:off x="325" y="3430"/>
                  <a:ext cx="1875"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07" name="Line 51">
                  <a:extLst>
                    <a:ext uri="{FF2B5EF4-FFF2-40B4-BE49-F238E27FC236}">
                      <a16:creationId xmlns:a16="http://schemas.microsoft.com/office/drawing/2014/main" id="{086AAD15-8EDE-4A18-8758-A7EDD699D04E}"/>
                    </a:ext>
                  </a:extLst>
                </p:cNvPr>
                <p:cNvSpPr>
                  <a:spLocks noChangeShapeType="1"/>
                </p:cNvSpPr>
                <p:nvPr/>
              </p:nvSpPr>
              <p:spPr bwMode="auto">
                <a:xfrm>
                  <a:off x="325" y="2387"/>
                  <a:ext cx="0" cy="104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08" name="Line 52">
                  <a:extLst>
                    <a:ext uri="{FF2B5EF4-FFF2-40B4-BE49-F238E27FC236}">
                      <a16:creationId xmlns:a16="http://schemas.microsoft.com/office/drawing/2014/main" id="{5D75167A-3C53-4FF7-9F9C-B915AED961C6}"/>
                    </a:ext>
                  </a:extLst>
                </p:cNvPr>
                <p:cNvSpPr>
                  <a:spLocks noChangeShapeType="1"/>
                </p:cNvSpPr>
                <p:nvPr/>
              </p:nvSpPr>
              <p:spPr bwMode="auto">
                <a:xfrm>
                  <a:off x="950" y="2387"/>
                  <a:ext cx="0" cy="104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09" name="Line 53">
                  <a:extLst>
                    <a:ext uri="{FF2B5EF4-FFF2-40B4-BE49-F238E27FC236}">
                      <a16:creationId xmlns:a16="http://schemas.microsoft.com/office/drawing/2014/main" id="{CB4DAD18-8529-48CF-BF86-953767E3051C}"/>
                    </a:ext>
                  </a:extLst>
                </p:cNvPr>
                <p:cNvSpPr>
                  <a:spLocks noChangeShapeType="1"/>
                </p:cNvSpPr>
                <p:nvPr/>
              </p:nvSpPr>
              <p:spPr bwMode="auto">
                <a:xfrm>
                  <a:off x="1575" y="2387"/>
                  <a:ext cx="0" cy="104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310" name="Line 54">
                  <a:extLst>
                    <a:ext uri="{FF2B5EF4-FFF2-40B4-BE49-F238E27FC236}">
                      <a16:creationId xmlns:a16="http://schemas.microsoft.com/office/drawing/2014/main" id="{F73BED50-004E-455A-B258-B55FAD91DDDF}"/>
                    </a:ext>
                  </a:extLst>
                </p:cNvPr>
                <p:cNvSpPr>
                  <a:spLocks noChangeShapeType="1"/>
                </p:cNvSpPr>
                <p:nvPr/>
              </p:nvSpPr>
              <p:spPr bwMode="auto">
                <a:xfrm>
                  <a:off x="2200" y="2387"/>
                  <a:ext cx="0" cy="104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grpSp>
          <p:sp>
            <p:nvSpPr>
              <p:cNvPr id="53291" name="Text Box 55">
                <a:extLst>
                  <a:ext uri="{FF2B5EF4-FFF2-40B4-BE49-F238E27FC236}">
                    <a16:creationId xmlns:a16="http://schemas.microsoft.com/office/drawing/2014/main" id="{07DAE97C-FE22-4D91-A074-678D95EA6467}"/>
                  </a:ext>
                </a:extLst>
              </p:cNvPr>
              <p:cNvSpPr txBox="1">
                <a:spLocks noChangeArrowheads="1"/>
              </p:cNvSpPr>
              <p:nvPr/>
            </p:nvSpPr>
            <p:spPr bwMode="auto">
              <a:xfrm>
                <a:off x="917" y="2841"/>
                <a:ext cx="331"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CC3300"/>
                    </a:solidFill>
                  </a:rPr>
                  <a:t>15</a:t>
                </a:r>
              </a:p>
            </p:txBody>
          </p:sp>
          <p:sp>
            <p:nvSpPr>
              <p:cNvPr id="53292" name="Text Box 56">
                <a:extLst>
                  <a:ext uri="{FF2B5EF4-FFF2-40B4-BE49-F238E27FC236}">
                    <a16:creationId xmlns:a16="http://schemas.microsoft.com/office/drawing/2014/main" id="{58245153-670F-442D-9542-B63C448AC1FD}"/>
                  </a:ext>
                </a:extLst>
              </p:cNvPr>
              <p:cNvSpPr txBox="1">
                <a:spLocks noChangeArrowheads="1"/>
              </p:cNvSpPr>
              <p:nvPr/>
            </p:nvSpPr>
            <p:spPr bwMode="auto">
              <a:xfrm>
                <a:off x="326" y="2832"/>
                <a:ext cx="189"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CC3300"/>
                    </a:solidFill>
                  </a:rPr>
                  <a:t>5</a:t>
                </a:r>
              </a:p>
            </p:txBody>
          </p:sp>
          <p:sp>
            <p:nvSpPr>
              <p:cNvPr id="53293" name="Text Box 57">
                <a:extLst>
                  <a:ext uri="{FF2B5EF4-FFF2-40B4-BE49-F238E27FC236}">
                    <a16:creationId xmlns:a16="http://schemas.microsoft.com/office/drawing/2014/main" id="{04D61B8A-A671-4FC8-A741-F1FB706A3A73}"/>
                  </a:ext>
                </a:extLst>
              </p:cNvPr>
              <p:cNvSpPr txBox="1">
                <a:spLocks noChangeArrowheads="1"/>
              </p:cNvSpPr>
              <p:nvPr/>
            </p:nvSpPr>
            <p:spPr bwMode="auto">
              <a:xfrm>
                <a:off x="301" y="2486"/>
                <a:ext cx="331"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CC3300"/>
                    </a:solidFill>
                  </a:rPr>
                  <a:t>10</a:t>
                </a:r>
              </a:p>
            </p:txBody>
          </p:sp>
        </p:grpSp>
        <p:sp>
          <p:nvSpPr>
            <p:cNvPr id="53286" name="矩形 2">
              <a:extLst>
                <a:ext uri="{FF2B5EF4-FFF2-40B4-BE49-F238E27FC236}">
                  <a16:creationId xmlns:a16="http://schemas.microsoft.com/office/drawing/2014/main" id="{D68A8018-5634-45A8-9386-84815A1642F6}"/>
                </a:ext>
              </a:extLst>
            </p:cNvPr>
            <p:cNvSpPr>
              <a:spLocks noChangeArrowheads="1"/>
            </p:cNvSpPr>
            <p:nvPr/>
          </p:nvSpPr>
          <p:spPr bwMode="auto">
            <a:xfrm>
              <a:off x="1114789" y="3709063"/>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8</a:t>
              </a:r>
            </a:p>
          </p:txBody>
        </p:sp>
        <p:sp>
          <p:nvSpPr>
            <p:cNvPr id="53287" name="矩形 3">
              <a:extLst>
                <a:ext uri="{FF2B5EF4-FFF2-40B4-BE49-F238E27FC236}">
                  <a16:creationId xmlns:a16="http://schemas.microsoft.com/office/drawing/2014/main" id="{5523C029-772D-49B3-A828-6E533BAF7FBC}"/>
                </a:ext>
              </a:extLst>
            </p:cNvPr>
            <p:cNvSpPr>
              <a:spLocks noChangeArrowheads="1"/>
            </p:cNvSpPr>
            <p:nvPr/>
          </p:nvSpPr>
          <p:spPr bwMode="auto">
            <a:xfrm>
              <a:off x="2147072" y="3703126"/>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5</a:t>
              </a:r>
            </a:p>
          </p:txBody>
        </p:sp>
        <p:sp>
          <p:nvSpPr>
            <p:cNvPr id="53288" name="矩形 4">
              <a:extLst>
                <a:ext uri="{FF2B5EF4-FFF2-40B4-BE49-F238E27FC236}">
                  <a16:creationId xmlns:a16="http://schemas.microsoft.com/office/drawing/2014/main" id="{60962BE2-EBC8-4094-BEF4-6E78FE5DB9DF}"/>
                </a:ext>
              </a:extLst>
            </p:cNvPr>
            <p:cNvSpPr>
              <a:spLocks noChangeArrowheads="1"/>
            </p:cNvSpPr>
            <p:nvPr/>
          </p:nvSpPr>
          <p:spPr bwMode="auto">
            <a:xfrm>
              <a:off x="1133453" y="4254953"/>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2</a:t>
              </a:r>
            </a:p>
          </p:txBody>
        </p:sp>
        <p:sp>
          <p:nvSpPr>
            <p:cNvPr id="53289" name="矩形 5">
              <a:extLst>
                <a:ext uri="{FF2B5EF4-FFF2-40B4-BE49-F238E27FC236}">
                  <a16:creationId xmlns:a16="http://schemas.microsoft.com/office/drawing/2014/main" id="{A907FBDA-FB5A-4C49-9960-D3D3BB2ECC26}"/>
                </a:ext>
              </a:extLst>
            </p:cNvPr>
            <p:cNvSpPr>
              <a:spLocks noChangeArrowheads="1"/>
            </p:cNvSpPr>
            <p:nvPr/>
          </p:nvSpPr>
          <p:spPr bwMode="auto">
            <a:xfrm>
              <a:off x="2162174" y="4247738"/>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1</a:t>
              </a:r>
            </a:p>
          </p:txBody>
        </p:sp>
      </p:grpSp>
      <p:grpSp>
        <p:nvGrpSpPr>
          <p:cNvPr id="58" name="组合 57">
            <a:extLst>
              <a:ext uri="{FF2B5EF4-FFF2-40B4-BE49-F238E27FC236}">
                <a16:creationId xmlns:a16="http://schemas.microsoft.com/office/drawing/2014/main" id="{92FEF7FB-EE05-4899-B25F-57E7671D6623}"/>
              </a:ext>
            </a:extLst>
          </p:cNvPr>
          <p:cNvGrpSpPr>
            <a:grpSpLocks/>
          </p:cNvGrpSpPr>
          <p:nvPr/>
        </p:nvGrpSpPr>
        <p:grpSpPr bwMode="auto">
          <a:xfrm>
            <a:off x="5181600" y="3657600"/>
            <a:ext cx="3014663" cy="1741488"/>
            <a:chOff x="477838" y="3703126"/>
            <a:chExt cx="3014662" cy="1741999"/>
          </a:xfrm>
        </p:grpSpPr>
        <p:grpSp>
          <p:nvGrpSpPr>
            <p:cNvPr id="53259" name="Group 84">
              <a:extLst>
                <a:ext uri="{FF2B5EF4-FFF2-40B4-BE49-F238E27FC236}">
                  <a16:creationId xmlns:a16="http://schemas.microsoft.com/office/drawing/2014/main" id="{A8B7E858-7E85-45FB-9BA0-E6AB9D13402B}"/>
                </a:ext>
              </a:extLst>
            </p:cNvPr>
            <p:cNvGrpSpPr>
              <a:grpSpLocks/>
            </p:cNvGrpSpPr>
            <p:nvPr/>
          </p:nvGrpSpPr>
          <p:grpSpPr bwMode="auto">
            <a:xfrm>
              <a:off x="477838" y="3789363"/>
              <a:ext cx="3014662" cy="1655762"/>
              <a:chOff x="301" y="2387"/>
              <a:chExt cx="1899" cy="1043"/>
            </a:xfrm>
          </p:grpSpPr>
          <p:grpSp>
            <p:nvGrpSpPr>
              <p:cNvPr id="53264" name="Group 82">
                <a:extLst>
                  <a:ext uri="{FF2B5EF4-FFF2-40B4-BE49-F238E27FC236}">
                    <a16:creationId xmlns:a16="http://schemas.microsoft.com/office/drawing/2014/main" id="{AAD8186D-9277-4771-8067-1F4714C79B23}"/>
                  </a:ext>
                </a:extLst>
              </p:cNvPr>
              <p:cNvGrpSpPr>
                <a:grpSpLocks/>
              </p:cNvGrpSpPr>
              <p:nvPr/>
            </p:nvGrpSpPr>
            <p:grpSpPr bwMode="auto">
              <a:xfrm>
                <a:off x="325" y="2387"/>
                <a:ext cx="1875" cy="1043"/>
                <a:chOff x="325" y="2387"/>
                <a:chExt cx="1875" cy="1043"/>
              </a:xfrm>
            </p:grpSpPr>
            <p:sp>
              <p:nvSpPr>
                <p:cNvPr id="53268" name="Rectangle 38">
                  <a:extLst>
                    <a:ext uri="{FF2B5EF4-FFF2-40B4-BE49-F238E27FC236}">
                      <a16:creationId xmlns:a16="http://schemas.microsoft.com/office/drawing/2014/main" id="{D29D1654-E111-4DCA-BF53-82FCBE9F9090}"/>
                    </a:ext>
                  </a:extLst>
                </p:cNvPr>
                <p:cNvSpPr>
                  <a:spLocks noChangeArrowheads="1"/>
                </p:cNvSpPr>
                <p:nvPr/>
              </p:nvSpPr>
              <p:spPr bwMode="auto">
                <a:xfrm>
                  <a:off x="1575"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53269" name="Rectangle 39">
                  <a:extLst>
                    <a:ext uri="{FF2B5EF4-FFF2-40B4-BE49-F238E27FC236}">
                      <a16:creationId xmlns:a16="http://schemas.microsoft.com/office/drawing/2014/main" id="{80DC00C6-4BF5-4183-A79C-F938A33C6F19}"/>
                    </a:ext>
                  </a:extLst>
                </p:cNvPr>
                <p:cNvSpPr>
                  <a:spLocks noChangeArrowheads="1"/>
                </p:cNvSpPr>
                <p:nvPr/>
              </p:nvSpPr>
              <p:spPr bwMode="auto">
                <a:xfrm>
                  <a:off x="950"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15</a:t>
                  </a:r>
                </a:p>
              </p:txBody>
            </p:sp>
            <p:sp>
              <p:nvSpPr>
                <p:cNvPr id="53270" name="Rectangle 40">
                  <a:extLst>
                    <a:ext uri="{FF2B5EF4-FFF2-40B4-BE49-F238E27FC236}">
                      <a16:creationId xmlns:a16="http://schemas.microsoft.com/office/drawing/2014/main" id="{C1449443-7BBE-45FE-9AAE-665C96D7A3C5}"/>
                    </a:ext>
                  </a:extLst>
                </p:cNvPr>
                <p:cNvSpPr>
                  <a:spLocks noChangeArrowheads="1"/>
                </p:cNvSpPr>
                <p:nvPr/>
              </p:nvSpPr>
              <p:spPr bwMode="auto">
                <a:xfrm>
                  <a:off x="325" y="3083"/>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15</a:t>
                  </a:r>
                </a:p>
              </p:txBody>
            </p:sp>
            <p:sp>
              <p:nvSpPr>
                <p:cNvPr id="53271" name="Rectangle 41">
                  <a:extLst>
                    <a:ext uri="{FF2B5EF4-FFF2-40B4-BE49-F238E27FC236}">
                      <a16:creationId xmlns:a16="http://schemas.microsoft.com/office/drawing/2014/main" id="{98C01A3E-130F-448E-9716-A1715DDBC93C}"/>
                    </a:ext>
                  </a:extLst>
                </p:cNvPr>
                <p:cNvSpPr>
                  <a:spLocks noChangeArrowheads="1"/>
                </p:cNvSpPr>
                <p:nvPr/>
              </p:nvSpPr>
              <p:spPr bwMode="auto">
                <a:xfrm>
                  <a:off x="1575"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20</a:t>
                  </a:r>
                </a:p>
              </p:txBody>
            </p:sp>
            <p:sp>
              <p:nvSpPr>
                <p:cNvPr id="53272" name="Rectangle 42">
                  <a:extLst>
                    <a:ext uri="{FF2B5EF4-FFF2-40B4-BE49-F238E27FC236}">
                      <a16:creationId xmlns:a16="http://schemas.microsoft.com/office/drawing/2014/main" id="{089FFAE2-53B0-4C19-90AA-F277EA5CF876}"/>
                    </a:ext>
                  </a:extLst>
                </p:cNvPr>
                <p:cNvSpPr>
                  <a:spLocks noChangeArrowheads="1"/>
                </p:cNvSpPr>
                <p:nvPr/>
              </p:nvSpPr>
              <p:spPr bwMode="auto">
                <a:xfrm>
                  <a:off x="950"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273" name="Rectangle 43">
                  <a:extLst>
                    <a:ext uri="{FF2B5EF4-FFF2-40B4-BE49-F238E27FC236}">
                      <a16:creationId xmlns:a16="http://schemas.microsoft.com/office/drawing/2014/main" id="{BB6BCFF2-09E5-4609-A3C0-570FD0244829}"/>
                    </a:ext>
                  </a:extLst>
                </p:cNvPr>
                <p:cNvSpPr>
                  <a:spLocks noChangeArrowheads="1"/>
                </p:cNvSpPr>
                <p:nvPr/>
              </p:nvSpPr>
              <p:spPr bwMode="auto">
                <a:xfrm>
                  <a:off x="325" y="2734"/>
                  <a:ext cx="625"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274" name="Rectangle 44">
                  <a:extLst>
                    <a:ext uri="{FF2B5EF4-FFF2-40B4-BE49-F238E27FC236}">
                      <a16:creationId xmlns:a16="http://schemas.microsoft.com/office/drawing/2014/main" id="{D5F22686-12A7-47F9-92B3-7F34D9EFEF30}"/>
                    </a:ext>
                  </a:extLst>
                </p:cNvPr>
                <p:cNvSpPr>
                  <a:spLocks noChangeArrowheads="1"/>
                </p:cNvSpPr>
                <p:nvPr/>
              </p:nvSpPr>
              <p:spPr bwMode="auto">
                <a:xfrm>
                  <a:off x="1575"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10</a:t>
                  </a:r>
                </a:p>
              </p:txBody>
            </p:sp>
            <p:sp>
              <p:nvSpPr>
                <p:cNvPr id="53275" name="Rectangle 45">
                  <a:extLst>
                    <a:ext uri="{FF2B5EF4-FFF2-40B4-BE49-F238E27FC236}">
                      <a16:creationId xmlns:a16="http://schemas.microsoft.com/office/drawing/2014/main" id="{BD209687-3C32-48A0-9407-5377192E410B}"/>
                    </a:ext>
                  </a:extLst>
                </p:cNvPr>
                <p:cNvSpPr>
                  <a:spLocks noChangeArrowheads="1"/>
                </p:cNvSpPr>
                <p:nvPr/>
              </p:nvSpPr>
              <p:spPr bwMode="auto">
                <a:xfrm>
                  <a:off x="950"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276" name="Rectangle 46">
                  <a:extLst>
                    <a:ext uri="{FF2B5EF4-FFF2-40B4-BE49-F238E27FC236}">
                      <a16:creationId xmlns:a16="http://schemas.microsoft.com/office/drawing/2014/main" id="{5F765DC8-101B-4FE0-BE31-7727D2E263A9}"/>
                    </a:ext>
                  </a:extLst>
                </p:cNvPr>
                <p:cNvSpPr>
                  <a:spLocks noChangeArrowheads="1"/>
                </p:cNvSpPr>
                <p:nvPr/>
              </p:nvSpPr>
              <p:spPr bwMode="auto">
                <a:xfrm>
                  <a:off x="325" y="2387"/>
                  <a:ext cx="625"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53277" name="Line 47">
                  <a:extLst>
                    <a:ext uri="{FF2B5EF4-FFF2-40B4-BE49-F238E27FC236}">
                      <a16:creationId xmlns:a16="http://schemas.microsoft.com/office/drawing/2014/main" id="{11D6CD10-BDE7-4EE3-852C-838C5C5EE791}"/>
                    </a:ext>
                  </a:extLst>
                </p:cNvPr>
                <p:cNvSpPr>
                  <a:spLocks noChangeShapeType="1"/>
                </p:cNvSpPr>
                <p:nvPr/>
              </p:nvSpPr>
              <p:spPr bwMode="auto">
                <a:xfrm>
                  <a:off x="325" y="2387"/>
                  <a:ext cx="1875"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78" name="Line 48">
                  <a:extLst>
                    <a:ext uri="{FF2B5EF4-FFF2-40B4-BE49-F238E27FC236}">
                      <a16:creationId xmlns:a16="http://schemas.microsoft.com/office/drawing/2014/main" id="{22D6618D-8B9C-4545-B3DC-81C33CD7D11A}"/>
                    </a:ext>
                  </a:extLst>
                </p:cNvPr>
                <p:cNvSpPr>
                  <a:spLocks noChangeShapeType="1"/>
                </p:cNvSpPr>
                <p:nvPr/>
              </p:nvSpPr>
              <p:spPr bwMode="auto">
                <a:xfrm>
                  <a:off x="325" y="2734"/>
                  <a:ext cx="18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79" name="Line 49">
                  <a:extLst>
                    <a:ext uri="{FF2B5EF4-FFF2-40B4-BE49-F238E27FC236}">
                      <a16:creationId xmlns:a16="http://schemas.microsoft.com/office/drawing/2014/main" id="{9A661768-1AA2-4114-9616-1AF669A9D224}"/>
                    </a:ext>
                  </a:extLst>
                </p:cNvPr>
                <p:cNvSpPr>
                  <a:spLocks noChangeShapeType="1"/>
                </p:cNvSpPr>
                <p:nvPr/>
              </p:nvSpPr>
              <p:spPr bwMode="auto">
                <a:xfrm>
                  <a:off x="325" y="3083"/>
                  <a:ext cx="18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80" name="Line 50">
                  <a:extLst>
                    <a:ext uri="{FF2B5EF4-FFF2-40B4-BE49-F238E27FC236}">
                      <a16:creationId xmlns:a16="http://schemas.microsoft.com/office/drawing/2014/main" id="{D23A5634-C245-4F68-BDB4-76B63760BE6E}"/>
                    </a:ext>
                  </a:extLst>
                </p:cNvPr>
                <p:cNvSpPr>
                  <a:spLocks noChangeShapeType="1"/>
                </p:cNvSpPr>
                <p:nvPr/>
              </p:nvSpPr>
              <p:spPr bwMode="auto">
                <a:xfrm>
                  <a:off x="325" y="3430"/>
                  <a:ext cx="1875"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81" name="Line 51">
                  <a:extLst>
                    <a:ext uri="{FF2B5EF4-FFF2-40B4-BE49-F238E27FC236}">
                      <a16:creationId xmlns:a16="http://schemas.microsoft.com/office/drawing/2014/main" id="{B5E6BEC5-ED5E-4884-A229-29CC0633C9D4}"/>
                    </a:ext>
                  </a:extLst>
                </p:cNvPr>
                <p:cNvSpPr>
                  <a:spLocks noChangeShapeType="1"/>
                </p:cNvSpPr>
                <p:nvPr/>
              </p:nvSpPr>
              <p:spPr bwMode="auto">
                <a:xfrm>
                  <a:off x="325" y="2387"/>
                  <a:ext cx="0" cy="104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82" name="Line 52">
                  <a:extLst>
                    <a:ext uri="{FF2B5EF4-FFF2-40B4-BE49-F238E27FC236}">
                      <a16:creationId xmlns:a16="http://schemas.microsoft.com/office/drawing/2014/main" id="{6D43B841-6217-4672-BEE2-55B0063CCFFF}"/>
                    </a:ext>
                  </a:extLst>
                </p:cNvPr>
                <p:cNvSpPr>
                  <a:spLocks noChangeShapeType="1"/>
                </p:cNvSpPr>
                <p:nvPr/>
              </p:nvSpPr>
              <p:spPr bwMode="auto">
                <a:xfrm>
                  <a:off x="950" y="2387"/>
                  <a:ext cx="0" cy="104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83" name="Line 53">
                  <a:extLst>
                    <a:ext uri="{FF2B5EF4-FFF2-40B4-BE49-F238E27FC236}">
                      <a16:creationId xmlns:a16="http://schemas.microsoft.com/office/drawing/2014/main" id="{FBE18A2B-65EE-4ABD-8FC0-9E8CAEDF17D9}"/>
                    </a:ext>
                  </a:extLst>
                </p:cNvPr>
                <p:cNvSpPr>
                  <a:spLocks noChangeShapeType="1"/>
                </p:cNvSpPr>
                <p:nvPr/>
              </p:nvSpPr>
              <p:spPr bwMode="auto">
                <a:xfrm>
                  <a:off x="1575" y="2387"/>
                  <a:ext cx="0" cy="104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53284" name="Line 54">
                  <a:extLst>
                    <a:ext uri="{FF2B5EF4-FFF2-40B4-BE49-F238E27FC236}">
                      <a16:creationId xmlns:a16="http://schemas.microsoft.com/office/drawing/2014/main" id="{56039015-1DDE-4D18-AB12-46DDA17A524A}"/>
                    </a:ext>
                  </a:extLst>
                </p:cNvPr>
                <p:cNvSpPr>
                  <a:spLocks noChangeShapeType="1"/>
                </p:cNvSpPr>
                <p:nvPr/>
              </p:nvSpPr>
              <p:spPr bwMode="auto">
                <a:xfrm>
                  <a:off x="2200" y="2387"/>
                  <a:ext cx="0" cy="104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grpSp>
          <p:sp>
            <p:nvSpPr>
              <p:cNvPr id="53265" name="Text Box 55">
                <a:extLst>
                  <a:ext uri="{FF2B5EF4-FFF2-40B4-BE49-F238E27FC236}">
                    <a16:creationId xmlns:a16="http://schemas.microsoft.com/office/drawing/2014/main" id="{DCC4E859-62DC-4E83-9FBF-2D05301B0719}"/>
                  </a:ext>
                </a:extLst>
              </p:cNvPr>
              <p:cNvSpPr txBox="1">
                <a:spLocks noChangeArrowheads="1"/>
              </p:cNvSpPr>
              <p:nvPr/>
            </p:nvSpPr>
            <p:spPr bwMode="auto">
              <a:xfrm>
                <a:off x="301" y="2840"/>
                <a:ext cx="331"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CC3300"/>
                    </a:solidFill>
                  </a:rPr>
                  <a:t>15</a:t>
                </a:r>
              </a:p>
            </p:txBody>
          </p:sp>
          <p:sp>
            <p:nvSpPr>
              <p:cNvPr id="53266" name="Text Box 56">
                <a:extLst>
                  <a:ext uri="{FF2B5EF4-FFF2-40B4-BE49-F238E27FC236}">
                    <a16:creationId xmlns:a16="http://schemas.microsoft.com/office/drawing/2014/main" id="{4D72C06E-EB68-4484-9DB2-85186D19E606}"/>
                  </a:ext>
                </a:extLst>
              </p:cNvPr>
              <p:cNvSpPr txBox="1">
                <a:spLocks noChangeArrowheads="1"/>
              </p:cNvSpPr>
              <p:nvPr/>
            </p:nvSpPr>
            <p:spPr bwMode="auto">
              <a:xfrm>
                <a:off x="984" y="2846"/>
                <a:ext cx="189"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CC3300"/>
                    </a:solidFill>
                  </a:rPr>
                  <a:t>5</a:t>
                </a:r>
              </a:p>
            </p:txBody>
          </p:sp>
          <p:sp>
            <p:nvSpPr>
              <p:cNvPr id="53267" name="Text Box 57">
                <a:extLst>
                  <a:ext uri="{FF2B5EF4-FFF2-40B4-BE49-F238E27FC236}">
                    <a16:creationId xmlns:a16="http://schemas.microsoft.com/office/drawing/2014/main" id="{6229C07D-C552-4A6B-93BB-DAE5A2A4C7C3}"/>
                  </a:ext>
                </a:extLst>
              </p:cNvPr>
              <p:cNvSpPr txBox="1">
                <a:spLocks noChangeArrowheads="1"/>
              </p:cNvSpPr>
              <p:nvPr/>
            </p:nvSpPr>
            <p:spPr bwMode="auto">
              <a:xfrm>
                <a:off x="919" y="2501"/>
                <a:ext cx="331"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CC3300"/>
                    </a:solidFill>
                  </a:rPr>
                  <a:t>10</a:t>
                </a:r>
              </a:p>
            </p:txBody>
          </p:sp>
        </p:grpSp>
        <p:sp>
          <p:nvSpPr>
            <p:cNvPr id="53260" name="矩形 59">
              <a:extLst>
                <a:ext uri="{FF2B5EF4-FFF2-40B4-BE49-F238E27FC236}">
                  <a16:creationId xmlns:a16="http://schemas.microsoft.com/office/drawing/2014/main" id="{FBD9D59F-848E-46DD-8A45-FE2CDE565B9E}"/>
                </a:ext>
              </a:extLst>
            </p:cNvPr>
            <p:cNvSpPr>
              <a:spLocks noChangeArrowheads="1"/>
            </p:cNvSpPr>
            <p:nvPr/>
          </p:nvSpPr>
          <p:spPr bwMode="auto">
            <a:xfrm>
              <a:off x="1114789" y="3709063"/>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8</a:t>
              </a:r>
            </a:p>
          </p:txBody>
        </p:sp>
        <p:sp>
          <p:nvSpPr>
            <p:cNvPr id="53261" name="矩形 60">
              <a:extLst>
                <a:ext uri="{FF2B5EF4-FFF2-40B4-BE49-F238E27FC236}">
                  <a16:creationId xmlns:a16="http://schemas.microsoft.com/office/drawing/2014/main" id="{6117BC4D-1D85-4B0B-B63E-469E9B22D252}"/>
                </a:ext>
              </a:extLst>
            </p:cNvPr>
            <p:cNvSpPr>
              <a:spLocks noChangeArrowheads="1"/>
            </p:cNvSpPr>
            <p:nvPr/>
          </p:nvSpPr>
          <p:spPr bwMode="auto">
            <a:xfrm>
              <a:off x="2147072" y="3703126"/>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5</a:t>
              </a:r>
            </a:p>
          </p:txBody>
        </p:sp>
        <p:sp>
          <p:nvSpPr>
            <p:cNvPr id="53262" name="矩形 61">
              <a:extLst>
                <a:ext uri="{FF2B5EF4-FFF2-40B4-BE49-F238E27FC236}">
                  <a16:creationId xmlns:a16="http://schemas.microsoft.com/office/drawing/2014/main" id="{0875F8B5-9AEB-4CB5-97E3-66A7ED1EE056}"/>
                </a:ext>
              </a:extLst>
            </p:cNvPr>
            <p:cNvSpPr>
              <a:spLocks noChangeArrowheads="1"/>
            </p:cNvSpPr>
            <p:nvPr/>
          </p:nvSpPr>
          <p:spPr bwMode="auto">
            <a:xfrm>
              <a:off x="1133453" y="4254953"/>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2</a:t>
              </a:r>
            </a:p>
          </p:txBody>
        </p:sp>
        <p:sp>
          <p:nvSpPr>
            <p:cNvPr id="53263" name="矩形 62">
              <a:extLst>
                <a:ext uri="{FF2B5EF4-FFF2-40B4-BE49-F238E27FC236}">
                  <a16:creationId xmlns:a16="http://schemas.microsoft.com/office/drawing/2014/main" id="{7A9B85E9-44BC-4003-BBD5-960EC272E1EC}"/>
                </a:ext>
              </a:extLst>
            </p:cNvPr>
            <p:cNvSpPr>
              <a:spLocks noChangeArrowheads="1"/>
            </p:cNvSpPr>
            <p:nvPr/>
          </p:nvSpPr>
          <p:spPr bwMode="auto">
            <a:xfrm>
              <a:off x="2162174" y="4247738"/>
              <a:ext cx="300082" cy="39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b="1">
                  <a:solidFill>
                    <a:schemeClr val="bg2"/>
                  </a:solidFill>
                  <a:latin typeface="Times New Roman" panose="02020603050405020304" pitchFamily="18" charset="0"/>
                  <a:ea typeface="华文细黑" panose="02010600040101010101" pitchFamily="2" charset="-122"/>
                </a:rPr>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869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4" presetClass="entr" presetSubtype="1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randombar(horizontal)">
                                      <p:cBhvr>
                                        <p:cTn id="11" dur="500"/>
                                        <p:tgtEl>
                                          <p:spTgt spid="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98714"/>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98736"/>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4" presetClass="entr" presetSubtype="10" fill="hold" nodeType="click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randombar(horizontal)">
                                      <p:cBhvr>
                                        <p:cTn id="24" dur="500"/>
                                        <p:tgtEl>
                                          <p:spTgt spid="58"/>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98737"/>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fade">
                                      <p:cBhvr>
                                        <p:cTn id="3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92" grpId="0"/>
      <p:bldP spid="198714" grpId="0"/>
      <p:bldP spid="198736" grpId="0"/>
      <p:bldP spid="198737" grpId="0"/>
      <p:bldP spid="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3" name="Rectangle 3">
            <a:extLst>
              <a:ext uri="{FF2B5EF4-FFF2-40B4-BE49-F238E27FC236}">
                <a16:creationId xmlns:a16="http://schemas.microsoft.com/office/drawing/2014/main" id="{246D84E5-1A9A-490C-BBBB-9B98FB5F3482}"/>
              </a:ext>
            </a:extLst>
          </p:cNvPr>
          <p:cNvSpPr>
            <a:spLocks noGrp="1" noChangeArrowheads="1"/>
          </p:cNvSpPr>
          <p:nvPr>
            <p:ph type="body" sz="half" idx="1"/>
          </p:nvPr>
        </p:nvSpPr>
        <p:spPr>
          <a:xfrm>
            <a:off x="304800" y="1295400"/>
            <a:ext cx="8077200" cy="5105400"/>
          </a:xfrm>
        </p:spPr>
        <p:txBody>
          <a:bodyPr/>
          <a:lstStyle/>
          <a:p>
            <a:pPr marL="441325" indent="-441325" eaLnBrk="1" hangingPunct="1"/>
            <a:r>
              <a:rPr lang="zh-CN" altLang="en-US"/>
              <a:t>伏格尔法（</a:t>
            </a:r>
            <a:r>
              <a:rPr lang="en-US" altLang="zh-CN"/>
              <a:t>Vogel</a:t>
            </a:r>
            <a:r>
              <a:rPr lang="zh-CN" altLang="en-US"/>
              <a:t>法）</a:t>
            </a:r>
          </a:p>
          <a:p>
            <a:pPr marL="625475" lvl="1" indent="-4763" eaLnBrk="1" hangingPunct="1">
              <a:lnSpc>
                <a:spcPct val="150000"/>
              </a:lnSpc>
              <a:spcBef>
                <a:spcPts val="2400"/>
              </a:spcBef>
              <a:spcAft>
                <a:spcPts val="600"/>
              </a:spcAft>
              <a:buFont typeface="Wingdings" panose="05000000000000000000" pitchFamily="2" charset="2"/>
              <a:buNone/>
            </a:pPr>
            <a:r>
              <a:rPr lang="zh-CN" altLang="en-US"/>
              <a:t>一产地产品假如不能按最小费用就近供应的话，就只能考虑次小运费方案，如果这两个单位运价之间的差额较大，将显著增加运输成本，所以，应优先考虑</a:t>
            </a:r>
            <a:r>
              <a:rPr lang="zh-CN" altLang="en-US">
                <a:solidFill>
                  <a:srgbClr val="FF0000"/>
                </a:solidFill>
              </a:rPr>
              <a:t>差额大的地方并采用其中最小运费优先调运，</a:t>
            </a:r>
            <a:r>
              <a:rPr lang="zh-CN" altLang="en-US"/>
              <a:t>以减少次小运费方案带来的运输成本的大幅度增加。</a:t>
            </a:r>
          </a:p>
          <a:p>
            <a:pPr marL="625475" lvl="1" indent="-4763" eaLnBrk="1" hangingPunct="1">
              <a:lnSpc>
                <a:spcPct val="150000"/>
              </a:lnSpc>
              <a:buFontTx/>
              <a:buNone/>
            </a:pPr>
            <a:endParaRPr lang="en-US" altLang="zh-CN">
              <a:latin typeface="宋体" panose="02010600030101010101" pitchFamily="2" charset="-122"/>
            </a:endParaRPr>
          </a:p>
        </p:txBody>
      </p:sp>
      <p:sp>
        <p:nvSpPr>
          <p:cNvPr id="54275" name="Rectangle 2">
            <a:extLst>
              <a:ext uri="{FF2B5EF4-FFF2-40B4-BE49-F238E27FC236}">
                <a16:creationId xmlns:a16="http://schemas.microsoft.com/office/drawing/2014/main" id="{F390F89A-1D4C-4D5D-BD17-EC4B932EF2F1}"/>
              </a:ext>
            </a:extLst>
          </p:cNvPr>
          <p:cNvSpPr>
            <a:spLocks noGrp="1" noChangeArrowheads="1"/>
          </p:cNvSpPr>
          <p:nvPr>
            <p:ph type="title"/>
          </p:nvPr>
        </p:nvSpPr>
        <p:spPr>
          <a:xfrm>
            <a:off x="457200" y="155575"/>
            <a:ext cx="5257800" cy="758825"/>
          </a:xfrm>
        </p:spPr>
        <p:txBody>
          <a:bodyPr/>
          <a:lstStyle/>
          <a:p>
            <a:pPr marL="441325" indent="-441325" eaLnBrk="1" hangingPunct="1"/>
            <a:r>
              <a:rPr lang="zh-CN" altLang="en-US"/>
              <a:t>伏格尔法（</a:t>
            </a:r>
            <a:r>
              <a:rPr lang="en-US" altLang="zh-CN"/>
              <a:t>Vogel</a:t>
            </a:r>
            <a:r>
              <a:rPr lang="zh-CN" altLang="en-US"/>
              <a:t>法）</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3843">
                                            <p:txEl>
                                              <p:pRg st="1" end="1"/>
                                            </p:txEl>
                                          </p:spTgt>
                                        </p:tgtEl>
                                        <p:attrNameLst>
                                          <p:attrName>style.visibility</p:attrName>
                                        </p:attrNameLst>
                                      </p:cBhvr>
                                      <p:to>
                                        <p:strVal val="visible"/>
                                      </p:to>
                                    </p:set>
                                    <p:animEffect transition="in" filter="blinds(horizontal)">
                                      <p:cBhvr>
                                        <p:cTn id="7" dur="500"/>
                                        <p:tgtEl>
                                          <p:spTgt spid="16384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43" grpId="0" build="p" bldLvl="3"/>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7" name="Rectangle 3">
            <a:extLst>
              <a:ext uri="{FF2B5EF4-FFF2-40B4-BE49-F238E27FC236}">
                <a16:creationId xmlns:a16="http://schemas.microsoft.com/office/drawing/2014/main" id="{765415D8-637C-4E2D-9D96-2835714023F8}"/>
              </a:ext>
            </a:extLst>
          </p:cNvPr>
          <p:cNvSpPr>
            <a:spLocks noGrp="1" noChangeArrowheads="1"/>
          </p:cNvSpPr>
          <p:nvPr>
            <p:ph type="body" sz="half" idx="1"/>
          </p:nvPr>
        </p:nvSpPr>
        <p:spPr>
          <a:xfrm>
            <a:off x="457200" y="1143000"/>
            <a:ext cx="8077200" cy="4799013"/>
          </a:xfrm>
        </p:spPr>
        <p:txBody>
          <a:bodyPr/>
          <a:lstStyle/>
          <a:p>
            <a:pPr marL="457200" indent="-457200" eaLnBrk="1" hangingPunct="1"/>
            <a:r>
              <a:rPr lang="zh-CN" altLang="en-US"/>
              <a:t>伏格尔法</a:t>
            </a:r>
          </a:p>
          <a:p>
            <a:pPr marL="917575" lvl="1" indent="-573088" eaLnBrk="1" hangingPunct="1"/>
            <a:r>
              <a:rPr lang="zh-CN" altLang="en-US"/>
              <a:t>步骤</a:t>
            </a:r>
          </a:p>
          <a:p>
            <a:pPr marL="1431925" lvl="2" indent="-334963" eaLnBrk="1" hangingPunct="1">
              <a:spcAft>
                <a:spcPts val="600"/>
              </a:spcAft>
              <a:buFontTx/>
              <a:buAutoNum type="arabicPeriod"/>
            </a:pPr>
            <a:r>
              <a:rPr lang="zh-CN" altLang="en-US" sz="2800">
                <a:latin typeface="宋体" panose="02010600030101010101" pitchFamily="2" charset="-122"/>
              </a:rPr>
              <a:t>计算表中各行和各列的最小和次小运费差额，并填入该表的最右列和最下行</a:t>
            </a:r>
          </a:p>
          <a:p>
            <a:pPr marL="1431925" lvl="2" indent="-334963" eaLnBrk="1" hangingPunct="1">
              <a:spcAft>
                <a:spcPts val="600"/>
              </a:spcAft>
              <a:buFontTx/>
              <a:buAutoNum type="arabicPeriod"/>
            </a:pPr>
            <a:r>
              <a:rPr lang="zh-CN" altLang="en-US" sz="2800"/>
              <a:t>选择</a:t>
            </a:r>
            <a:r>
              <a:rPr lang="zh-CN" altLang="en-US" sz="2800">
                <a:solidFill>
                  <a:srgbClr val="FF0000"/>
                </a:solidFill>
              </a:rPr>
              <a:t>差额最大的</a:t>
            </a:r>
            <a:r>
              <a:rPr lang="zh-CN" altLang="en-US" sz="2800">
                <a:solidFill>
                  <a:srgbClr val="FF0000"/>
                </a:solidFill>
                <a:latin typeface="宋体" panose="02010600030101010101" pitchFamily="2" charset="-122"/>
              </a:rPr>
              <a:t>所在行（或列）中的最小元素</a:t>
            </a:r>
            <a:r>
              <a:rPr lang="zh-CN" altLang="en-US" sz="2800">
                <a:latin typeface="宋体" panose="02010600030101010101" pitchFamily="2" charset="-122"/>
              </a:rPr>
              <a:t>，用最小元素法填入数字，且划去一行或列。</a:t>
            </a:r>
          </a:p>
          <a:p>
            <a:pPr marL="1431925" lvl="2" indent="-334963" eaLnBrk="1" hangingPunct="1">
              <a:spcAft>
                <a:spcPts val="600"/>
              </a:spcAft>
              <a:buFontTx/>
              <a:buAutoNum type="arabicPeriod"/>
            </a:pPr>
            <a:r>
              <a:rPr lang="zh-CN" altLang="en-US" sz="2800">
                <a:latin typeface="宋体" panose="02010600030101010101" pitchFamily="2" charset="-122"/>
              </a:rPr>
              <a:t>对剩下的元素再重复</a:t>
            </a:r>
            <a:r>
              <a:rPr lang="en-US" altLang="zh-CN" sz="2800">
                <a:latin typeface="宋体" panose="02010600030101010101" pitchFamily="2" charset="-122"/>
              </a:rPr>
              <a:t>1</a:t>
            </a:r>
            <a:r>
              <a:rPr lang="zh-CN" altLang="en-US" sz="2800">
                <a:latin typeface="宋体" panose="02010600030101010101" pitchFamily="2" charset="-122"/>
              </a:rPr>
              <a:t>、</a:t>
            </a:r>
            <a:r>
              <a:rPr lang="en-US" altLang="zh-CN" sz="2800">
                <a:latin typeface="宋体" panose="02010600030101010101" pitchFamily="2" charset="-122"/>
              </a:rPr>
              <a:t>2</a:t>
            </a:r>
            <a:r>
              <a:rPr lang="zh-CN" altLang="en-US" sz="2800">
                <a:latin typeface="宋体" panose="02010600030101010101" pitchFamily="2" charset="-122"/>
              </a:rPr>
              <a:t>，直到最后一格</a:t>
            </a:r>
            <a:endParaRPr lang="zh-CN" altLang="en-US" sz="2800"/>
          </a:p>
          <a:p>
            <a:pPr marL="917575" lvl="1" indent="-573088" eaLnBrk="1" hangingPunct="1">
              <a:spcAft>
                <a:spcPts val="600"/>
              </a:spcAft>
            </a:pPr>
            <a:r>
              <a:rPr lang="zh-CN" altLang="en-US"/>
              <a:t>给出的解比最小元素法更接近最优解</a:t>
            </a:r>
            <a:endParaRPr lang="zh-CN" altLang="en-US">
              <a:latin typeface="宋体" panose="02010600030101010101" pitchFamily="2" charset="-122"/>
            </a:endParaRPr>
          </a:p>
          <a:p>
            <a:pPr marL="917575" lvl="1" indent="-573088" eaLnBrk="1" hangingPunct="1">
              <a:buFontTx/>
              <a:buNone/>
            </a:pPr>
            <a:endParaRPr lang="en-US" altLang="zh-CN">
              <a:latin typeface="宋体" panose="02010600030101010101" pitchFamily="2" charset="-122"/>
            </a:endParaRPr>
          </a:p>
        </p:txBody>
      </p:sp>
      <p:sp>
        <p:nvSpPr>
          <p:cNvPr id="55299" name="Rectangle 2">
            <a:extLst>
              <a:ext uri="{FF2B5EF4-FFF2-40B4-BE49-F238E27FC236}">
                <a16:creationId xmlns:a16="http://schemas.microsoft.com/office/drawing/2014/main" id="{48C57E99-E5B2-4997-82FF-02DBFD1F1C29}"/>
              </a:ext>
            </a:extLst>
          </p:cNvPr>
          <p:cNvSpPr>
            <a:spLocks noGrp="1" noChangeArrowheads="1"/>
          </p:cNvSpPr>
          <p:nvPr>
            <p:ph type="title"/>
          </p:nvPr>
        </p:nvSpPr>
        <p:spPr>
          <a:xfrm>
            <a:off x="457200" y="155575"/>
            <a:ext cx="5257800" cy="758825"/>
          </a:xfrm>
        </p:spPr>
        <p:txBody>
          <a:bodyPr/>
          <a:lstStyle/>
          <a:p>
            <a:pPr marL="441325" indent="-441325" eaLnBrk="1" hangingPunct="1"/>
            <a:r>
              <a:rPr lang="zh-CN" altLang="en-US"/>
              <a:t>伏格尔法（</a:t>
            </a:r>
            <a:r>
              <a:rPr lang="en-US" altLang="zh-CN"/>
              <a:t>Vogel</a:t>
            </a:r>
            <a:r>
              <a:rPr lang="zh-CN" altLang="en-US"/>
              <a:t>法）</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0227">
                                            <p:txEl>
                                              <p:pRg st="2" end="2"/>
                                            </p:txEl>
                                          </p:spTgt>
                                        </p:tgtEl>
                                        <p:attrNameLst>
                                          <p:attrName>style.visibility</p:attrName>
                                        </p:attrNameLst>
                                      </p:cBhvr>
                                      <p:to>
                                        <p:strVal val="visible"/>
                                      </p:to>
                                    </p:set>
                                    <p:animEffect transition="in" filter="blinds(horizontal)">
                                      <p:cBhvr>
                                        <p:cTn id="7" dur="500"/>
                                        <p:tgtEl>
                                          <p:spTgt spid="180227">
                                            <p:txEl>
                                              <p:pRg st="2" end="2"/>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80227">
                                            <p:txEl>
                                              <p:pRg st="3" end="3"/>
                                            </p:txEl>
                                          </p:spTgt>
                                        </p:tgtEl>
                                        <p:attrNameLst>
                                          <p:attrName>style.visibility</p:attrName>
                                        </p:attrNameLst>
                                      </p:cBhvr>
                                      <p:to>
                                        <p:strVal val="visible"/>
                                      </p:to>
                                    </p:set>
                                    <p:animEffect transition="in" filter="blinds(horizontal)">
                                      <p:cBhvr>
                                        <p:cTn id="12" dur="500"/>
                                        <p:tgtEl>
                                          <p:spTgt spid="180227">
                                            <p:txEl>
                                              <p:pRg st="3" end="3"/>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80227">
                                            <p:txEl>
                                              <p:pRg st="4" end="4"/>
                                            </p:txEl>
                                          </p:spTgt>
                                        </p:tgtEl>
                                        <p:attrNameLst>
                                          <p:attrName>style.visibility</p:attrName>
                                        </p:attrNameLst>
                                      </p:cBhvr>
                                      <p:to>
                                        <p:strVal val="visible"/>
                                      </p:to>
                                    </p:set>
                                    <p:animEffect transition="in" filter="blinds(horizontal)">
                                      <p:cBhvr>
                                        <p:cTn id="17" dur="500"/>
                                        <p:tgtEl>
                                          <p:spTgt spid="180227">
                                            <p:txEl>
                                              <p:pRg st="4" end="4"/>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80227">
                                            <p:txEl>
                                              <p:pRg st="5" end="5"/>
                                            </p:txEl>
                                          </p:spTgt>
                                        </p:tgtEl>
                                        <p:attrNameLst>
                                          <p:attrName>style.visibility</p:attrName>
                                        </p:attrNameLst>
                                      </p:cBhvr>
                                      <p:to>
                                        <p:strVal val="visible"/>
                                      </p:to>
                                    </p:set>
                                    <p:animEffect transition="in" filter="blinds(horizontal)">
                                      <p:cBhvr>
                                        <p:cTn id="22" dur="500"/>
                                        <p:tgtEl>
                                          <p:spTgt spid="18022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227" grpId="0" build="p" bldLvl="3"/>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
            <a:extLst>
              <a:ext uri="{FF2B5EF4-FFF2-40B4-BE49-F238E27FC236}">
                <a16:creationId xmlns:a16="http://schemas.microsoft.com/office/drawing/2014/main" id="{4EDF2F94-B177-47B4-9F34-4E548BE506CA}"/>
              </a:ext>
            </a:extLst>
          </p:cNvPr>
          <p:cNvSpPr txBox="1">
            <a:spLocks noChangeArrowheads="1"/>
          </p:cNvSpPr>
          <p:nvPr/>
        </p:nvSpPr>
        <p:spPr bwMode="auto">
          <a:xfrm>
            <a:off x="76200" y="3981450"/>
            <a:ext cx="1371600" cy="646113"/>
          </a:xfrm>
          <a:prstGeom prst="rect">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9525" algn="ctr">
            <a:noFill/>
            <a:miter lim="800000"/>
            <a:headEnd/>
            <a:tailEnd/>
          </a:ln>
        </p:spPr>
        <p:txBody>
          <a:bodyPr>
            <a:spAutoFit/>
          </a:bodyPr>
          <a:lstStyle/>
          <a:p>
            <a:pPr algn="ctr" eaLnBrk="1" hangingPunct="1">
              <a:defRPr/>
            </a:pPr>
            <a:r>
              <a:rPr lang="zh-CN" altLang="en-US" dirty="0">
                <a:solidFill>
                  <a:srgbClr val="FF00FF"/>
                </a:solidFill>
                <a:latin typeface="Arial" charset="0"/>
              </a:rPr>
              <a:t>最小为</a:t>
            </a:r>
            <a:r>
              <a:rPr lang="en-US" altLang="zh-CN" dirty="0">
                <a:solidFill>
                  <a:srgbClr val="FF00FF"/>
                </a:solidFill>
                <a:latin typeface="Arial" charset="0"/>
              </a:rPr>
              <a:t>3</a:t>
            </a:r>
            <a:r>
              <a:rPr lang="zh-CN" altLang="en-US" dirty="0">
                <a:solidFill>
                  <a:srgbClr val="FF00FF"/>
                </a:solidFill>
                <a:latin typeface="Arial" charset="0"/>
              </a:rPr>
              <a:t>，次小也为</a:t>
            </a:r>
            <a:r>
              <a:rPr lang="en-US" altLang="zh-CN" dirty="0">
                <a:solidFill>
                  <a:srgbClr val="FF00FF"/>
                </a:solidFill>
                <a:latin typeface="Arial" charset="0"/>
              </a:rPr>
              <a:t>3.</a:t>
            </a:r>
            <a:endParaRPr lang="zh-CN" altLang="en-US" dirty="0">
              <a:solidFill>
                <a:srgbClr val="FF00FF"/>
              </a:solidFill>
              <a:latin typeface="Arial" charset="0"/>
            </a:endParaRPr>
          </a:p>
        </p:txBody>
      </p:sp>
      <p:sp>
        <p:nvSpPr>
          <p:cNvPr id="56323" name="Rectangle 2" descr="Large confetti">
            <a:extLst>
              <a:ext uri="{FF2B5EF4-FFF2-40B4-BE49-F238E27FC236}">
                <a16:creationId xmlns:a16="http://schemas.microsoft.com/office/drawing/2014/main" id="{803F64A3-0E91-475B-81FC-997BB8F3EBEA}"/>
              </a:ext>
            </a:extLst>
          </p:cNvPr>
          <p:cNvSpPr>
            <a:spLocks noGrp="1" noChangeArrowheads="1"/>
          </p:cNvSpPr>
          <p:nvPr>
            <p:ph type="title"/>
          </p:nvPr>
        </p:nvSpPr>
        <p:spPr/>
        <p:txBody>
          <a:bodyPr/>
          <a:lstStyle/>
          <a:p>
            <a:pPr eaLnBrk="1" hangingPunct="1"/>
            <a:r>
              <a:rPr lang="zh-CN" altLang="en-US"/>
              <a:t>伏格尔法</a:t>
            </a:r>
          </a:p>
        </p:txBody>
      </p:sp>
      <p:sp>
        <p:nvSpPr>
          <p:cNvPr id="56324" name="Text Box 3">
            <a:extLst>
              <a:ext uri="{FF2B5EF4-FFF2-40B4-BE49-F238E27FC236}">
                <a16:creationId xmlns:a16="http://schemas.microsoft.com/office/drawing/2014/main" id="{76FAE2FA-FA3A-44EA-90CD-4692679D858A}"/>
              </a:ext>
            </a:extLst>
          </p:cNvPr>
          <p:cNvSpPr txBox="1">
            <a:spLocks noChangeArrowheads="1"/>
          </p:cNvSpPr>
          <p:nvPr/>
        </p:nvSpPr>
        <p:spPr bwMode="auto">
          <a:xfrm>
            <a:off x="466725" y="939800"/>
            <a:ext cx="8137525" cy="187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en-US" altLang="zh-CN">
                <a:solidFill>
                  <a:srgbClr val="660066"/>
                </a:solidFill>
              </a:rPr>
              <a:t>Vogel</a:t>
            </a:r>
            <a:r>
              <a:rPr lang="zh-CN" altLang="en-US">
                <a:solidFill>
                  <a:srgbClr val="660066"/>
                </a:solidFill>
              </a:rPr>
              <a:t>法计算步骤</a:t>
            </a:r>
            <a:endParaRPr lang="en-US" altLang="zh-CN"/>
          </a:p>
          <a:p>
            <a:pPr eaLnBrk="1" hangingPunct="1">
              <a:spcBef>
                <a:spcPct val="15000"/>
              </a:spcBef>
            </a:pPr>
            <a:r>
              <a:rPr lang="en-US" altLang="zh-CN"/>
              <a:t>1</a:t>
            </a:r>
            <a:r>
              <a:rPr lang="zh-CN" altLang="en-US"/>
              <a:t>）从运价表中分别计算出各行和各列的</a:t>
            </a:r>
            <a:r>
              <a:rPr lang="zh-CN" altLang="en-US" b="1" i="1">
                <a:solidFill>
                  <a:srgbClr val="FF0000"/>
                </a:solidFill>
              </a:rPr>
              <a:t>最小运费和次最小运费的差额</a:t>
            </a:r>
            <a:r>
              <a:rPr lang="zh-CN" altLang="en-US"/>
              <a:t>，并填入该表的最右列和最下行。</a:t>
            </a:r>
          </a:p>
          <a:p>
            <a:pPr eaLnBrk="1" hangingPunct="1">
              <a:spcBef>
                <a:spcPct val="15000"/>
              </a:spcBef>
            </a:pPr>
            <a:r>
              <a:rPr lang="en-US" altLang="zh-CN"/>
              <a:t>2</a:t>
            </a:r>
            <a:r>
              <a:rPr lang="zh-CN" altLang="en-US"/>
              <a:t>）再从差额最大的行或列中找出最小运费确定供需关系和供需数量。当产地或销地中有一方数量供应完毕或得到满足时，划去运价表中对应的行或列。</a:t>
            </a:r>
          </a:p>
          <a:p>
            <a:pPr eaLnBrk="1" hangingPunct="1">
              <a:spcBef>
                <a:spcPct val="15000"/>
              </a:spcBef>
            </a:pPr>
            <a:r>
              <a:rPr lang="zh-CN" altLang="en-US"/>
              <a:t>重复</a:t>
            </a:r>
            <a:r>
              <a:rPr lang="en-US" altLang="zh-CN"/>
              <a:t>1)</a:t>
            </a:r>
            <a:r>
              <a:rPr lang="zh-CN" altLang="en-US"/>
              <a:t>和</a:t>
            </a:r>
            <a:r>
              <a:rPr lang="en-US" altLang="zh-CN"/>
              <a:t>2)</a:t>
            </a:r>
            <a:r>
              <a:rPr lang="zh-CN" altLang="en-US"/>
              <a:t>，直到找出初始解为止。</a:t>
            </a:r>
          </a:p>
        </p:txBody>
      </p:sp>
      <p:graphicFrame>
        <p:nvGraphicFramePr>
          <p:cNvPr id="20" name="Group 158">
            <a:extLst>
              <a:ext uri="{FF2B5EF4-FFF2-40B4-BE49-F238E27FC236}">
                <a16:creationId xmlns:a16="http://schemas.microsoft.com/office/drawing/2014/main" id="{A4CA40A7-8678-4D73-AD22-5E3EB82D7420}"/>
              </a:ext>
            </a:extLst>
          </p:cNvPr>
          <p:cNvGraphicFramePr>
            <a:graphicFrameLocks noGrp="1"/>
          </p:cNvGraphicFramePr>
          <p:nvPr/>
        </p:nvGraphicFramePr>
        <p:xfrm>
          <a:off x="1709738" y="2990850"/>
          <a:ext cx="7129462" cy="3638551"/>
        </p:xfrm>
        <a:graphic>
          <a:graphicData uri="http://schemas.openxmlformats.org/drawingml/2006/table">
            <a:tbl>
              <a:tblPr/>
              <a:tblGrid>
                <a:gridCol w="1344612">
                  <a:extLst>
                    <a:ext uri="{9D8B030D-6E8A-4147-A177-3AD203B41FA5}">
                      <a16:colId xmlns:a16="http://schemas.microsoft.com/office/drawing/2014/main" val="20000"/>
                    </a:ext>
                  </a:extLst>
                </a:gridCol>
                <a:gridCol w="814388">
                  <a:extLst>
                    <a:ext uri="{9D8B030D-6E8A-4147-A177-3AD203B41FA5}">
                      <a16:colId xmlns:a16="http://schemas.microsoft.com/office/drawing/2014/main" val="20001"/>
                    </a:ext>
                  </a:extLst>
                </a:gridCol>
                <a:gridCol w="865187">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3">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370012">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4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行差额</a:t>
                      </a:r>
                      <a:endParaRPr kumimoji="1" lang="zh-CN" altLang="en-US" sz="2400" b="1" i="0" u="none" strike="noStrike" cap="none" normalizeH="0" baseline="-25000" dirty="0">
                        <a:ln>
                          <a:noFill/>
                        </a:ln>
                        <a:solidFill>
                          <a:srgbClr val="FF0000"/>
                        </a:solidFill>
                        <a:effectLst/>
                        <a:latin typeface="Times New Roman" panose="02020603050405020304" pitchFamily="18" charset="0"/>
                        <a:ea typeface="华文细黑" panose="02010600040101010101" pitchFamily="2" charset="-122"/>
                      </a:endParaRP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dirty="0">
                          <a:ln>
                            <a:noFill/>
                          </a:ln>
                          <a:solidFill>
                            <a:srgbClr val="FF0000"/>
                          </a:solidFill>
                          <a:effectLst/>
                          <a:latin typeface="楷体_GB2312" pitchFamily="49" charset="-122"/>
                          <a:ea typeface="华文细黑" panose="02010600040101010101" pitchFamily="2" charset="-122"/>
                        </a:rPr>
                        <a:t>列差额</a:t>
                      </a:r>
                      <a:endParaRPr kumimoji="1" lang="zh-CN" altLang="en-US" sz="1800" b="1" i="0" u="none" strike="noStrike" cap="none" normalizeH="0" baseline="-25000" dirty="0">
                        <a:ln>
                          <a:noFill/>
                        </a:ln>
                        <a:solidFill>
                          <a:srgbClr val="FF0000"/>
                        </a:solidFill>
                        <a:effectLst/>
                        <a:latin typeface="楷体_GB2312" pitchFamily="49" charset="-122"/>
                        <a:ea typeface="华文细黑" panose="02010600040101010101" pitchFamily="2" charset="-122"/>
                      </a:endParaRP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5"/>
                  </a:ext>
                </a:extLst>
              </a:tr>
            </a:tbl>
          </a:graphicData>
        </a:graphic>
      </p:graphicFrame>
      <p:sp>
        <p:nvSpPr>
          <p:cNvPr id="56383" name="Line 136">
            <a:extLst>
              <a:ext uri="{FF2B5EF4-FFF2-40B4-BE49-F238E27FC236}">
                <a16:creationId xmlns:a16="http://schemas.microsoft.com/office/drawing/2014/main" id="{522CF64E-E67C-48D3-A86B-9441208D0F03}"/>
              </a:ext>
            </a:extLst>
          </p:cNvPr>
          <p:cNvSpPr>
            <a:spLocks noChangeShapeType="1"/>
          </p:cNvSpPr>
          <p:nvPr/>
        </p:nvSpPr>
        <p:spPr bwMode="auto">
          <a:xfrm flipH="1" flipV="1">
            <a:off x="2284413" y="3006725"/>
            <a:ext cx="765175" cy="9747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84" name="Line 137">
            <a:extLst>
              <a:ext uri="{FF2B5EF4-FFF2-40B4-BE49-F238E27FC236}">
                <a16:creationId xmlns:a16="http://schemas.microsoft.com/office/drawing/2014/main" id="{9D1E8B17-2D77-4270-8BA6-76898BC055E7}"/>
              </a:ext>
            </a:extLst>
          </p:cNvPr>
          <p:cNvSpPr>
            <a:spLocks noChangeShapeType="1"/>
          </p:cNvSpPr>
          <p:nvPr/>
        </p:nvSpPr>
        <p:spPr bwMode="auto">
          <a:xfrm flipH="1" flipV="1">
            <a:off x="1731963" y="3624263"/>
            <a:ext cx="1317625" cy="3730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 name="Text Box 140">
            <a:extLst>
              <a:ext uri="{FF2B5EF4-FFF2-40B4-BE49-F238E27FC236}">
                <a16:creationId xmlns:a16="http://schemas.microsoft.com/office/drawing/2014/main" id="{647E8EDB-CE6B-4DEF-AE91-591C27317533}"/>
              </a:ext>
            </a:extLst>
          </p:cNvPr>
          <p:cNvSpPr txBox="1">
            <a:spLocks noChangeArrowheads="1"/>
          </p:cNvSpPr>
          <p:nvPr/>
        </p:nvSpPr>
        <p:spPr bwMode="auto">
          <a:xfrm>
            <a:off x="7888288" y="410527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0</a:t>
            </a:r>
            <a:endParaRPr lang="en-US" altLang="zh-CN" sz="3200">
              <a:solidFill>
                <a:srgbClr val="000000"/>
              </a:solidFill>
              <a:latin typeface="楷体_GB2312" pitchFamily="49" charset="-122"/>
              <a:ea typeface="楷体_GB2312" pitchFamily="49" charset="-122"/>
            </a:endParaRPr>
          </a:p>
        </p:txBody>
      </p:sp>
      <p:sp>
        <p:nvSpPr>
          <p:cNvPr id="26" name="Text Box 141">
            <a:extLst>
              <a:ext uri="{FF2B5EF4-FFF2-40B4-BE49-F238E27FC236}">
                <a16:creationId xmlns:a16="http://schemas.microsoft.com/office/drawing/2014/main" id="{A2BF2149-7D5B-4754-AE7F-6F1F681DF510}"/>
              </a:ext>
            </a:extLst>
          </p:cNvPr>
          <p:cNvSpPr txBox="1">
            <a:spLocks noChangeArrowheads="1"/>
          </p:cNvSpPr>
          <p:nvPr/>
        </p:nvSpPr>
        <p:spPr bwMode="auto">
          <a:xfrm>
            <a:off x="7881938" y="5186363"/>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27" name="Text Box 142">
            <a:extLst>
              <a:ext uri="{FF2B5EF4-FFF2-40B4-BE49-F238E27FC236}">
                <a16:creationId xmlns:a16="http://schemas.microsoft.com/office/drawing/2014/main" id="{DAEC36BE-A600-41B7-82F5-7A73D1F90BA3}"/>
              </a:ext>
            </a:extLst>
          </p:cNvPr>
          <p:cNvSpPr txBox="1">
            <a:spLocks noChangeArrowheads="1"/>
          </p:cNvSpPr>
          <p:nvPr/>
        </p:nvSpPr>
        <p:spPr bwMode="auto">
          <a:xfrm>
            <a:off x="4954588" y="619442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28" name="Text Box 143">
            <a:extLst>
              <a:ext uri="{FF2B5EF4-FFF2-40B4-BE49-F238E27FC236}">
                <a16:creationId xmlns:a16="http://schemas.microsoft.com/office/drawing/2014/main" id="{9F8FA5A6-BA27-48C5-89E6-72B0E683B8E4}"/>
              </a:ext>
            </a:extLst>
          </p:cNvPr>
          <p:cNvSpPr txBox="1">
            <a:spLocks noChangeArrowheads="1"/>
          </p:cNvSpPr>
          <p:nvPr/>
        </p:nvSpPr>
        <p:spPr bwMode="auto">
          <a:xfrm>
            <a:off x="5792788" y="619442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29" name="Text Box 144">
            <a:extLst>
              <a:ext uri="{FF2B5EF4-FFF2-40B4-BE49-F238E27FC236}">
                <a16:creationId xmlns:a16="http://schemas.microsoft.com/office/drawing/2014/main" id="{3556588C-6FD7-4C4B-95A2-1F5F893321B2}"/>
              </a:ext>
            </a:extLst>
          </p:cNvPr>
          <p:cNvSpPr txBox="1">
            <a:spLocks noChangeArrowheads="1"/>
          </p:cNvSpPr>
          <p:nvPr/>
        </p:nvSpPr>
        <p:spPr bwMode="auto">
          <a:xfrm>
            <a:off x="4116388" y="619442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30" name="Text Box 145">
            <a:extLst>
              <a:ext uri="{FF2B5EF4-FFF2-40B4-BE49-F238E27FC236}">
                <a16:creationId xmlns:a16="http://schemas.microsoft.com/office/drawing/2014/main" id="{59DCBE2E-11EE-4B5E-AE1C-8229439F4837}"/>
              </a:ext>
            </a:extLst>
          </p:cNvPr>
          <p:cNvSpPr txBox="1">
            <a:spLocks noChangeArrowheads="1"/>
          </p:cNvSpPr>
          <p:nvPr/>
        </p:nvSpPr>
        <p:spPr bwMode="auto">
          <a:xfrm>
            <a:off x="3278188" y="619442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2</a:t>
            </a:r>
          </a:p>
        </p:txBody>
      </p:sp>
      <p:sp>
        <p:nvSpPr>
          <p:cNvPr id="31" name="Text Box 146">
            <a:extLst>
              <a:ext uri="{FF2B5EF4-FFF2-40B4-BE49-F238E27FC236}">
                <a16:creationId xmlns:a16="http://schemas.microsoft.com/office/drawing/2014/main" id="{A8544243-F5B7-4105-A4F9-A3E33E097460}"/>
              </a:ext>
            </a:extLst>
          </p:cNvPr>
          <p:cNvSpPr txBox="1">
            <a:spLocks noChangeArrowheads="1"/>
          </p:cNvSpPr>
          <p:nvPr/>
        </p:nvSpPr>
        <p:spPr bwMode="auto">
          <a:xfrm>
            <a:off x="7881938" y="4681538"/>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56392" name="Oval 147">
            <a:extLst>
              <a:ext uri="{FF2B5EF4-FFF2-40B4-BE49-F238E27FC236}">
                <a16:creationId xmlns:a16="http://schemas.microsoft.com/office/drawing/2014/main" id="{6793885E-A0A1-4963-94C2-89976835FB75}"/>
              </a:ext>
            </a:extLst>
          </p:cNvPr>
          <p:cNvSpPr>
            <a:spLocks noChangeArrowheads="1"/>
          </p:cNvSpPr>
          <p:nvPr/>
        </p:nvSpPr>
        <p:spPr bwMode="auto">
          <a:xfrm>
            <a:off x="7805738" y="4122738"/>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33" name="Text Box 148">
            <a:extLst>
              <a:ext uri="{FF2B5EF4-FFF2-40B4-BE49-F238E27FC236}">
                <a16:creationId xmlns:a16="http://schemas.microsoft.com/office/drawing/2014/main" id="{23DCAF22-DDB3-4691-9842-017E595B19B2}"/>
              </a:ext>
            </a:extLst>
          </p:cNvPr>
          <p:cNvSpPr txBox="1">
            <a:spLocks noChangeArrowheads="1"/>
          </p:cNvSpPr>
          <p:nvPr/>
        </p:nvSpPr>
        <p:spPr bwMode="auto">
          <a:xfrm>
            <a:off x="4383088" y="5172075"/>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34" name="Oval 149">
            <a:extLst>
              <a:ext uri="{FF2B5EF4-FFF2-40B4-BE49-F238E27FC236}">
                <a16:creationId xmlns:a16="http://schemas.microsoft.com/office/drawing/2014/main" id="{C5A386A5-6243-466E-89BF-FC67F4EF65AA}"/>
              </a:ext>
            </a:extLst>
          </p:cNvPr>
          <p:cNvSpPr>
            <a:spLocks noChangeArrowheads="1"/>
          </p:cNvSpPr>
          <p:nvPr/>
        </p:nvSpPr>
        <p:spPr bwMode="auto">
          <a:xfrm>
            <a:off x="4306888" y="5172075"/>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35" name="Text Box 150">
            <a:extLst>
              <a:ext uri="{FF2B5EF4-FFF2-40B4-BE49-F238E27FC236}">
                <a16:creationId xmlns:a16="http://schemas.microsoft.com/office/drawing/2014/main" id="{95310E2E-3008-4AB2-B6A5-C69345994E27}"/>
              </a:ext>
            </a:extLst>
          </p:cNvPr>
          <p:cNvSpPr txBox="1">
            <a:spLocks noChangeArrowheads="1"/>
          </p:cNvSpPr>
          <p:nvPr/>
        </p:nvSpPr>
        <p:spPr bwMode="auto">
          <a:xfrm>
            <a:off x="4348163" y="4714875"/>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36" name="Text Box 151">
            <a:extLst>
              <a:ext uri="{FF2B5EF4-FFF2-40B4-BE49-F238E27FC236}">
                <a16:creationId xmlns:a16="http://schemas.microsoft.com/office/drawing/2014/main" id="{8DB22EFC-C939-4D64-A583-7C5015504DF1}"/>
              </a:ext>
            </a:extLst>
          </p:cNvPr>
          <p:cNvSpPr txBox="1">
            <a:spLocks noChangeArrowheads="1"/>
          </p:cNvSpPr>
          <p:nvPr/>
        </p:nvSpPr>
        <p:spPr bwMode="auto">
          <a:xfrm>
            <a:off x="4348163" y="4181475"/>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38" name="右箭头 37">
            <a:extLst>
              <a:ext uri="{FF2B5EF4-FFF2-40B4-BE49-F238E27FC236}">
                <a16:creationId xmlns:a16="http://schemas.microsoft.com/office/drawing/2014/main" id="{EAD88E04-45FD-443E-8B86-ED0CED7A4C6F}"/>
              </a:ext>
            </a:extLst>
          </p:cNvPr>
          <p:cNvSpPr/>
          <p:nvPr/>
        </p:nvSpPr>
        <p:spPr>
          <a:xfrm>
            <a:off x="1447800" y="4210050"/>
            <a:ext cx="228600" cy="2286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 name="AutoShape 63">
            <a:extLst>
              <a:ext uri="{FF2B5EF4-FFF2-40B4-BE49-F238E27FC236}">
                <a16:creationId xmlns:a16="http://schemas.microsoft.com/office/drawing/2014/main" id="{29042BC0-A12D-4317-9E6F-AD6B712956EE}"/>
              </a:ext>
            </a:extLst>
          </p:cNvPr>
          <p:cNvSpPr>
            <a:spLocks noChangeArrowheads="1"/>
          </p:cNvSpPr>
          <p:nvPr/>
        </p:nvSpPr>
        <p:spPr bwMode="auto">
          <a:xfrm rot="10800000">
            <a:off x="6019800" y="525463"/>
            <a:ext cx="1524000" cy="609600"/>
          </a:xfrm>
          <a:prstGeom prst="wedgeRoundRectCallout">
            <a:avLst>
              <a:gd name="adj1" fmla="val 83239"/>
              <a:gd name="adj2" fmla="val -77661"/>
              <a:gd name="adj3" fmla="val 16667"/>
            </a:avLst>
          </a:prstGeom>
          <a:solidFill>
            <a:schemeClr val="tx2">
              <a:lumMod val="60000"/>
              <a:lumOff val="40000"/>
            </a:schemeClr>
          </a:solidFill>
          <a:ln w="9525">
            <a:solidFill>
              <a:srgbClr val="00FF00"/>
            </a:solidFill>
            <a:miter lim="800000"/>
            <a:headEnd/>
            <a:tailEnd/>
          </a:ln>
        </p:spPr>
        <p:txBody>
          <a:bodyPr rot="10800000" anchor="ctr" anchorCtr="1"/>
          <a:lstStyle/>
          <a:p>
            <a:pPr algn="ctr" eaLnBrk="1" hangingPunct="1">
              <a:defRPr/>
            </a:pPr>
            <a:r>
              <a:rPr kumimoji="1" lang="zh-CN" altLang="en-US" sz="1200" b="1" dirty="0">
                <a:solidFill>
                  <a:srgbClr val="FF0000"/>
                </a:solidFill>
                <a:latin typeface="Times New Roman" pitchFamily="18" charset="0"/>
              </a:rPr>
              <a:t>不是行或列所有数字之间的最大差额！</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linds(horizontal)">
                                      <p:cBhvr>
                                        <p:cTn id="7" dur="500"/>
                                        <p:tgtEl>
                                          <p:spTgt spid="2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box(in)">
                                      <p:cBhvr>
                                        <p:cTn id="12" dur="500"/>
                                        <p:tgtEl>
                                          <p:spTgt spid="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42"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barn(outHorizontal)">
                                      <p:cBhvr>
                                        <p:cTn id="17" dur="500"/>
                                        <p:tgtEl>
                                          <p:spTgt spid="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blinds(horizontal)">
                                      <p:cBhvr>
                                        <p:cTn id="22" dur="500"/>
                                        <p:tgtEl>
                                          <p:spTgt spid="2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6" presetClass="entr" presetSubtype="42"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barn(outHorizontal)">
                                      <p:cBhvr>
                                        <p:cTn id="27" dur="500"/>
                                        <p:tgtEl>
                                          <p:spTgt spid="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29"/>
                                        </p:tgtEl>
                                        <p:attrNameLst>
                                          <p:attrName>style.visibility</p:attrName>
                                        </p:attrNameLst>
                                      </p:cBhvr>
                                      <p:to>
                                        <p:strVal val="visible"/>
                                      </p:to>
                                    </p:set>
                                    <p:animEffect transition="in" filter="box(in)">
                                      <p:cBhvr>
                                        <p:cTn id="32" dur="500"/>
                                        <p:tgtEl>
                                          <p:spTgt spid="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box(in)">
                                      <p:cBhvr>
                                        <p:cTn id="37" dur="500"/>
                                        <p:tgtEl>
                                          <p:spTgt spid="2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2" presetClass="entr" presetSubtype="4"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slide(fromBottom)">
                                      <p:cBhvr>
                                        <p:cTn id="42" dur="500"/>
                                        <p:tgtEl>
                                          <p:spTgt spid="2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mph" presetSubtype="0" fill="hold" grpId="1" nodeType="clickEffect">
                                  <p:stCondLst>
                                    <p:cond delay="0"/>
                                  </p:stCondLst>
                                  <p:childTnLst>
                                    <p:animRot by="21600000">
                                      <p:cBhvr>
                                        <p:cTn id="46" dur="2000" fill="hold"/>
                                        <p:tgtEl>
                                          <p:spTgt spid="29"/>
                                        </p:tgtEl>
                                        <p:attrNameLst>
                                          <p:attrName>r</p:attrName>
                                        </p:attrNameLst>
                                      </p:cBhvr>
                                    </p:animRo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0-#ppt_w/2"/>
                                          </p:val>
                                        </p:tav>
                                        <p:tav tm="100000">
                                          <p:val>
                                            <p:strVal val="#ppt_x"/>
                                          </p:val>
                                        </p:tav>
                                      </p:tavLst>
                                    </p:anim>
                                    <p:anim calcmode="lin" valueType="num">
                                      <p:cBhvr additive="base">
                                        <p:cTn id="5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34"/>
                                        </p:tgtEl>
                                        <p:attrNameLst>
                                          <p:attrName>style.visibility</p:attrName>
                                        </p:attrNameLst>
                                      </p:cBhvr>
                                      <p:to>
                                        <p:strVal val="visible"/>
                                      </p:to>
                                    </p:set>
                                    <p:animEffect transition="in" filter="dissolve">
                                      <p:cBhvr>
                                        <p:cTn id="57" dur="500"/>
                                        <p:tgtEl>
                                          <p:spTgt spid="34"/>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grpId="0" nodeType="clickEffect">
                                  <p:stCondLst>
                                    <p:cond delay="0"/>
                                  </p:stCondLst>
                                  <p:childTnLst>
                                    <p:set>
                                      <p:cBhvr>
                                        <p:cTn id="61" dur="1" fill="hold">
                                          <p:stCondLst>
                                            <p:cond delay="0"/>
                                          </p:stCondLst>
                                        </p:cTn>
                                        <p:tgtEl>
                                          <p:spTgt spid="35"/>
                                        </p:tgtEl>
                                        <p:attrNameLst>
                                          <p:attrName>style.visibility</p:attrName>
                                        </p:attrNameLst>
                                      </p:cBhvr>
                                      <p:to>
                                        <p:strVal val="visible"/>
                                      </p:to>
                                    </p:set>
                                    <p:animEffect transition="in" filter="blinds(horizontal)">
                                      <p:cBhvr>
                                        <p:cTn id="62" dur="500"/>
                                        <p:tgtEl>
                                          <p:spTgt spid="3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grpId="0" nodeType="clickEffect">
                                  <p:stCondLst>
                                    <p:cond delay="0"/>
                                  </p:stCondLst>
                                  <p:childTnLst>
                                    <p:set>
                                      <p:cBhvr>
                                        <p:cTn id="66" dur="1" fill="hold">
                                          <p:stCondLst>
                                            <p:cond delay="0"/>
                                          </p:stCondLst>
                                        </p:cTn>
                                        <p:tgtEl>
                                          <p:spTgt spid="36"/>
                                        </p:tgtEl>
                                        <p:attrNameLst>
                                          <p:attrName>style.visibility</p:attrName>
                                        </p:attrNameLst>
                                      </p:cBhvr>
                                      <p:to>
                                        <p:strVal val="visible"/>
                                      </p:to>
                                    </p:set>
                                    <p:animEffect transition="in" filter="blinds(horizontal)">
                                      <p:cBhvr>
                                        <p:cTn id="6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utoUpdateAnimBg="0"/>
      <p:bldP spid="26" grpId="0" autoUpdateAnimBg="0"/>
      <p:bldP spid="27" grpId="0" autoUpdateAnimBg="0"/>
      <p:bldP spid="28" grpId="0" autoUpdateAnimBg="0"/>
      <p:bldP spid="29" grpId="0" autoUpdateAnimBg="0"/>
      <p:bldP spid="29" grpId="1"/>
      <p:bldP spid="30" grpId="0" autoUpdateAnimBg="0"/>
      <p:bldP spid="31" grpId="0" autoUpdateAnimBg="0"/>
      <p:bldP spid="33" grpId="0" autoUpdateAnimBg="0"/>
      <p:bldP spid="34" grpId="0" animBg="1" autoUpdateAnimBg="0"/>
      <p:bldP spid="35" grpId="0" autoUpdateAnimBg="0"/>
      <p:bldP spid="36" grpId="0" autoUpdateAnimBg="0"/>
      <p:bldP spid="2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2" descr="Large confetti">
            <a:extLst>
              <a:ext uri="{FF2B5EF4-FFF2-40B4-BE49-F238E27FC236}">
                <a16:creationId xmlns:a16="http://schemas.microsoft.com/office/drawing/2014/main" id="{FBBFFD0C-495D-4364-8F22-F3A59E2CEDBD}"/>
              </a:ext>
            </a:extLst>
          </p:cNvPr>
          <p:cNvSpPr>
            <a:spLocks noGrp="1" noChangeArrowheads="1"/>
          </p:cNvSpPr>
          <p:nvPr>
            <p:ph type="title"/>
          </p:nvPr>
        </p:nvSpPr>
        <p:spPr/>
        <p:txBody>
          <a:bodyPr/>
          <a:lstStyle/>
          <a:p>
            <a:pPr eaLnBrk="1" hangingPunct="1"/>
            <a:r>
              <a:rPr lang="zh-CN" altLang="en-US"/>
              <a:t>伏格尔法</a:t>
            </a:r>
          </a:p>
        </p:txBody>
      </p:sp>
      <p:graphicFrame>
        <p:nvGraphicFramePr>
          <p:cNvPr id="185507" name="Group 163">
            <a:extLst>
              <a:ext uri="{FF2B5EF4-FFF2-40B4-BE49-F238E27FC236}">
                <a16:creationId xmlns:a16="http://schemas.microsoft.com/office/drawing/2014/main" id="{40835EEE-462E-4433-8351-2877C6C527EE}"/>
              </a:ext>
            </a:extLst>
          </p:cNvPr>
          <p:cNvGraphicFramePr>
            <a:graphicFrameLocks noGrp="1"/>
          </p:cNvGraphicFramePr>
          <p:nvPr/>
        </p:nvGraphicFramePr>
        <p:xfrm>
          <a:off x="971550" y="1628775"/>
          <a:ext cx="6838950" cy="3638551"/>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行差额</a:t>
                      </a: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楷体_GB2312" pitchFamily="49" charset="-122"/>
                          <a:ea typeface="华文细黑" panose="02010600040101010101" pitchFamily="2" charset="-122"/>
                        </a:rPr>
                        <a:t>列差额</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7405" name="Line 140">
            <a:extLst>
              <a:ext uri="{FF2B5EF4-FFF2-40B4-BE49-F238E27FC236}">
                <a16:creationId xmlns:a16="http://schemas.microsoft.com/office/drawing/2014/main" id="{6E497A0A-005B-4312-895E-3C3F00B67991}"/>
              </a:ext>
            </a:extLst>
          </p:cNvPr>
          <p:cNvSpPr>
            <a:spLocks noChangeShapeType="1"/>
          </p:cNvSpPr>
          <p:nvPr/>
        </p:nvSpPr>
        <p:spPr bwMode="auto">
          <a:xfrm flipH="1" flipV="1">
            <a:off x="1454150" y="1628775"/>
            <a:ext cx="873125" cy="10509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6" name="Line 141">
            <a:extLst>
              <a:ext uri="{FF2B5EF4-FFF2-40B4-BE49-F238E27FC236}">
                <a16:creationId xmlns:a16="http://schemas.microsoft.com/office/drawing/2014/main" id="{FE77DB86-8604-42D4-8B56-28A2996291C3}"/>
              </a:ext>
            </a:extLst>
          </p:cNvPr>
          <p:cNvSpPr>
            <a:spLocks noChangeShapeType="1"/>
          </p:cNvSpPr>
          <p:nvPr/>
        </p:nvSpPr>
        <p:spPr bwMode="auto">
          <a:xfrm flipH="1" flipV="1">
            <a:off x="971550" y="2076450"/>
            <a:ext cx="1355725" cy="6032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88" name="Text Box 144">
            <a:extLst>
              <a:ext uri="{FF2B5EF4-FFF2-40B4-BE49-F238E27FC236}">
                <a16:creationId xmlns:a16="http://schemas.microsoft.com/office/drawing/2014/main" id="{B51A0423-E22E-4874-9ABC-EE78C96ED2EA}"/>
              </a:ext>
            </a:extLst>
          </p:cNvPr>
          <p:cNvSpPr txBox="1">
            <a:spLocks noChangeArrowheads="1"/>
          </p:cNvSpPr>
          <p:nvPr/>
        </p:nvSpPr>
        <p:spPr bwMode="auto">
          <a:xfrm>
            <a:off x="7112000" y="276225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0</a:t>
            </a:r>
            <a:endParaRPr lang="en-US" altLang="zh-CN" sz="3200">
              <a:solidFill>
                <a:srgbClr val="000000"/>
              </a:solidFill>
              <a:latin typeface="楷体_GB2312" pitchFamily="49" charset="-122"/>
              <a:ea typeface="楷体_GB2312" pitchFamily="49" charset="-122"/>
            </a:endParaRPr>
          </a:p>
        </p:txBody>
      </p:sp>
      <p:sp>
        <p:nvSpPr>
          <p:cNvPr id="185489" name="Text Box 145">
            <a:extLst>
              <a:ext uri="{FF2B5EF4-FFF2-40B4-BE49-F238E27FC236}">
                <a16:creationId xmlns:a16="http://schemas.microsoft.com/office/drawing/2014/main" id="{B29DD0FA-A83B-4B35-8D38-7797F2772314}"/>
              </a:ext>
            </a:extLst>
          </p:cNvPr>
          <p:cNvSpPr txBox="1">
            <a:spLocks noChangeArrowheads="1"/>
          </p:cNvSpPr>
          <p:nvPr/>
        </p:nvSpPr>
        <p:spPr bwMode="auto">
          <a:xfrm>
            <a:off x="7112000" y="37528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2</a:t>
            </a:r>
            <a:endParaRPr lang="en-US" altLang="zh-CN" sz="3200">
              <a:solidFill>
                <a:srgbClr val="000000"/>
              </a:solidFill>
              <a:latin typeface="楷体_GB2312" pitchFamily="49" charset="-122"/>
              <a:ea typeface="楷体_GB2312" pitchFamily="49" charset="-122"/>
            </a:endParaRPr>
          </a:p>
        </p:txBody>
      </p:sp>
      <p:sp>
        <p:nvSpPr>
          <p:cNvPr id="185490" name="Text Box 146">
            <a:extLst>
              <a:ext uri="{FF2B5EF4-FFF2-40B4-BE49-F238E27FC236}">
                <a16:creationId xmlns:a16="http://schemas.microsoft.com/office/drawing/2014/main" id="{2C788738-CEF4-459D-A38F-7EDF2E7691DD}"/>
              </a:ext>
            </a:extLst>
          </p:cNvPr>
          <p:cNvSpPr txBox="1">
            <a:spLocks noChangeArrowheads="1"/>
          </p:cNvSpPr>
          <p:nvPr/>
        </p:nvSpPr>
        <p:spPr bwMode="auto">
          <a:xfrm>
            <a:off x="50546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5491" name="Text Box 147">
            <a:extLst>
              <a:ext uri="{FF2B5EF4-FFF2-40B4-BE49-F238E27FC236}">
                <a16:creationId xmlns:a16="http://schemas.microsoft.com/office/drawing/2014/main" id="{33B5B35E-EAEE-49F6-A14C-567958FD0BBA}"/>
              </a:ext>
            </a:extLst>
          </p:cNvPr>
          <p:cNvSpPr txBox="1">
            <a:spLocks noChangeArrowheads="1"/>
          </p:cNvSpPr>
          <p:nvPr/>
        </p:nvSpPr>
        <p:spPr bwMode="auto">
          <a:xfrm>
            <a:off x="4267200" y="4800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5492" name="Text Box 148">
            <a:extLst>
              <a:ext uri="{FF2B5EF4-FFF2-40B4-BE49-F238E27FC236}">
                <a16:creationId xmlns:a16="http://schemas.microsoft.com/office/drawing/2014/main" id="{E82D4FF0-CEA7-4242-8CA6-80E0F19F096B}"/>
              </a:ext>
            </a:extLst>
          </p:cNvPr>
          <p:cNvSpPr txBox="1">
            <a:spLocks noChangeArrowheads="1"/>
          </p:cNvSpPr>
          <p:nvPr/>
        </p:nvSpPr>
        <p:spPr bwMode="auto">
          <a:xfrm>
            <a:off x="25400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2</a:t>
            </a:r>
          </a:p>
        </p:txBody>
      </p:sp>
      <p:sp>
        <p:nvSpPr>
          <p:cNvPr id="185493" name="Text Box 149">
            <a:extLst>
              <a:ext uri="{FF2B5EF4-FFF2-40B4-BE49-F238E27FC236}">
                <a16:creationId xmlns:a16="http://schemas.microsoft.com/office/drawing/2014/main" id="{6F359DB0-4907-4A89-857F-04FD2085C10C}"/>
              </a:ext>
            </a:extLst>
          </p:cNvPr>
          <p:cNvSpPr txBox="1">
            <a:spLocks noChangeArrowheads="1"/>
          </p:cNvSpPr>
          <p:nvPr/>
        </p:nvSpPr>
        <p:spPr bwMode="auto">
          <a:xfrm>
            <a:off x="7092950" y="3284538"/>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5494" name="Oval 150">
            <a:extLst>
              <a:ext uri="{FF2B5EF4-FFF2-40B4-BE49-F238E27FC236}">
                <a16:creationId xmlns:a16="http://schemas.microsoft.com/office/drawing/2014/main" id="{17931DF2-5843-4609-865A-E52D6887C56F}"/>
              </a:ext>
            </a:extLst>
          </p:cNvPr>
          <p:cNvSpPr>
            <a:spLocks noChangeArrowheads="1"/>
          </p:cNvSpPr>
          <p:nvPr/>
        </p:nvSpPr>
        <p:spPr bwMode="auto">
          <a:xfrm>
            <a:off x="7019925" y="3263900"/>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57414" name="Text Box 151">
            <a:extLst>
              <a:ext uri="{FF2B5EF4-FFF2-40B4-BE49-F238E27FC236}">
                <a16:creationId xmlns:a16="http://schemas.microsoft.com/office/drawing/2014/main" id="{814E10B2-757B-4624-AAE6-A1683875AFEC}"/>
              </a:ext>
            </a:extLst>
          </p:cNvPr>
          <p:cNvSpPr txBox="1">
            <a:spLocks noChangeArrowheads="1"/>
          </p:cNvSpPr>
          <p:nvPr/>
        </p:nvSpPr>
        <p:spPr bwMode="auto">
          <a:xfrm>
            <a:off x="3581400" y="381000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57415" name="Oval 152">
            <a:extLst>
              <a:ext uri="{FF2B5EF4-FFF2-40B4-BE49-F238E27FC236}">
                <a16:creationId xmlns:a16="http://schemas.microsoft.com/office/drawing/2014/main" id="{DE16078E-BC4B-4544-9384-FE94842DCDCD}"/>
              </a:ext>
            </a:extLst>
          </p:cNvPr>
          <p:cNvSpPr>
            <a:spLocks noChangeArrowheads="1"/>
          </p:cNvSpPr>
          <p:nvPr/>
        </p:nvSpPr>
        <p:spPr bwMode="auto">
          <a:xfrm>
            <a:off x="35052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57416" name="Text Box 153">
            <a:extLst>
              <a:ext uri="{FF2B5EF4-FFF2-40B4-BE49-F238E27FC236}">
                <a16:creationId xmlns:a16="http://schemas.microsoft.com/office/drawing/2014/main" id="{70BE0783-375E-4199-A21C-809C44362B3D}"/>
              </a:ext>
            </a:extLst>
          </p:cNvPr>
          <p:cNvSpPr txBox="1">
            <a:spLocks noChangeArrowheads="1"/>
          </p:cNvSpPr>
          <p:nvPr/>
        </p:nvSpPr>
        <p:spPr bwMode="auto">
          <a:xfrm>
            <a:off x="3505200" y="32766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7417" name="Text Box 154">
            <a:extLst>
              <a:ext uri="{FF2B5EF4-FFF2-40B4-BE49-F238E27FC236}">
                <a16:creationId xmlns:a16="http://schemas.microsoft.com/office/drawing/2014/main" id="{17733848-F026-4F49-B7C1-BBC723957B52}"/>
              </a:ext>
            </a:extLst>
          </p:cNvPr>
          <p:cNvSpPr txBox="1">
            <a:spLocks noChangeArrowheads="1"/>
          </p:cNvSpPr>
          <p:nvPr/>
        </p:nvSpPr>
        <p:spPr bwMode="auto">
          <a:xfrm>
            <a:off x="35464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7418" name="Line 155">
            <a:extLst>
              <a:ext uri="{FF2B5EF4-FFF2-40B4-BE49-F238E27FC236}">
                <a16:creationId xmlns:a16="http://schemas.microsoft.com/office/drawing/2014/main" id="{9574B511-110B-4EC9-A0C6-63334B7A16FF}"/>
              </a:ext>
            </a:extLst>
          </p:cNvPr>
          <p:cNvSpPr>
            <a:spLocks noChangeShapeType="1"/>
          </p:cNvSpPr>
          <p:nvPr/>
        </p:nvSpPr>
        <p:spPr bwMode="auto">
          <a:xfrm>
            <a:off x="3429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500" name="Text Box 156">
            <a:extLst>
              <a:ext uri="{FF2B5EF4-FFF2-40B4-BE49-F238E27FC236}">
                <a16:creationId xmlns:a16="http://schemas.microsoft.com/office/drawing/2014/main" id="{5A1458DA-8C3D-4277-A13D-842B0E8B2B5F}"/>
              </a:ext>
            </a:extLst>
          </p:cNvPr>
          <p:cNvSpPr txBox="1">
            <a:spLocks noChangeArrowheads="1"/>
          </p:cNvSpPr>
          <p:nvPr/>
        </p:nvSpPr>
        <p:spPr bwMode="auto">
          <a:xfrm>
            <a:off x="4460875"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185501" name="Oval 157">
            <a:extLst>
              <a:ext uri="{FF2B5EF4-FFF2-40B4-BE49-F238E27FC236}">
                <a16:creationId xmlns:a16="http://schemas.microsoft.com/office/drawing/2014/main" id="{440C42D3-9850-4074-A7D4-B02F944AEB01}"/>
              </a:ext>
            </a:extLst>
          </p:cNvPr>
          <p:cNvSpPr>
            <a:spLocks noChangeArrowheads="1"/>
          </p:cNvSpPr>
          <p:nvPr/>
        </p:nvSpPr>
        <p:spPr bwMode="auto">
          <a:xfrm>
            <a:off x="51816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185502" name="Text Box 158">
            <a:extLst>
              <a:ext uri="{FF2B5EF4-FFF2-40B4-BE49-F238E27FC236}">
                <a16:creationId xmlns:a16="http://schemas.microsoft.com/office/drawing/2014/main" id="{ADBFE893-F2A2-4607-9E5A-FD1FA4B97088}"/>
              </a:ext>
            </a:extLst>
          </p:cNvPr>
          <p:cNvSpPr txBox="1">
            <a:spLocks noChangeArrowheads="1"/>
          </p:cNvSpPr>
          <p:nvPr/>
        </p:nvSpPr>
        <p:spPr bwMode="auto">
          <a:xfrm>
            <a:off x="5257800" y="38100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5503" name="Text Box 159">
            <a:extLst>
              <a:ext uri="{FF2B5EF4-FFF2-40B4-BE49-F238E27FC236}">
                <a16:creationId xmlns:a16="http://schemas.microsoft.com/office/drawing/2014/main" id="{D31E2A24-A63A-452C-9D24-D041431D4CA9}"/>
              </a:ext>
            </a:extLst>
          </p:cNvPr>
          <p:cNvSpPr txBox="1">
            <a:spLocks noChangeArrowheads="1"/>
          </p:cNvSpPr>
          <p:nvPr/>
        </p:nvSpPr>
        <p:spPr bwMode="auto">
          <a:xfrm>
            <a:off x="2647950"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5488"/>
                                        </p:tgtEl>
                                        <p:attrNameLst>
                                          <p:attrName>style.visibility</p:attrName>
                                        </p:attrNameLst>
                                      </p:cBhvr>
                                      <p:to>
                                        <p:strVal val="visible"/>
                                      </p:to>
                                    </p:set>
                                    <p:animEffect transition="in" filter="blinds(horizontal)">
                                      <p:cBhvr>
                                        <p:cTn id="7" dur="500"/>
                                        <p:tgtEl>
                                          <p:spTgt spid="185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85493"/>
                                        </p:tgtEl>
                                        <p:attrNameLst>
                                          <p:attrName>style.visibility</p:attrName>
                                        </p:attrNameLst>
                                      </p:cBhvr>
                                      <p:to>
                                        <p:strVal val="visible"/>
                                      </p:to>
                                    </p:set>
                                    <p:animEffect transition="in" filter="blinds(horizontal)">
                                      <p:cBhvr>
                                        <p:cTn id="12" dur="500"/>
                                        <p:tgtEl>
                                          <p:spTgt spid="1854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85489"/>
                                        </p:tgtEl>
                                        <p:attrNameLst>
                                          <p:attrName>style.visibility</p:attrName>
                                        </p:attrNameLst>
                                      </p:cBhvr>
                                      <p:to>
                                        <p:strVal val="visible"/>
                                      </p:to>
                                    </p:set>
                                    <p:animEffect transition="in" filter="box(in)">
                                      <p:cBhvr>
                                        <p:cTn id="17" dur="500"/>
                                        <p:tgtEl>
                                          <p:spTgt spid="18548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85492"/>
                                        </p:tgtEl>
                                        <p:attrNameLst>
                                          <p:attrName>style.visibility</p:attrName>
                                        </p:attrNameLst>
                                      </p:cBhvr>
                                      <p:to>
                                        <p:strVal val="visible"/>
                                      </p:to>
                                    </p:set>
                                    <p:animEffect transition="in" filter="box(in)">
                                      <p:cBhvr>
                                        <p:cTn id="22" dur="500"/>
                                        <p:tgtEl>
                                          <p:spTgt spid="1854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85491"/>
                                        </p:tgtEl>
                                        <p:attrNameLst>
                                          <p:attrName>style.visibility</p:attrName>
                                        </p:attrNameLst>
                                      </p:cBhvr>
                                      <p:to>
                                        <p:strVal val="visible"/>
                                      </p:to>
                                    </p:set>
                                    <p:animEffect transition="in" filter="box(in)">
                                      <p:cBhvr>
                                        <p:cTn id="27" dur="500"/>
                                        <p:tgtEl>
                                          <p:spTgt spid="1854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185490"/>
                                        </p:tgtEl>
                                        <p:attrNameLst>
                                          <p:attrName>style.visibility</p:attrName>
                                        </p:attrNameLst>
                                      </p:cBhvr>
                                      <p:to>
                                        <p:strVal val="visible"/>
                                      </p:to>
                                    </p:set>
                                    <p:animEffect transition="in" filter="blinds(horizontal)">
                                      <p:cBhvr>
                                        <p:cTn id="32" dur="500"/>
                                        <p:tgtEl>
                                          <p:spTgt spid="18549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85494"/>
                                        </p:tgtEl>
                                        <p:attrNameLst>
                                          <p:attrName>style.visibility</p:attrName>
                                        </p:attrNameLst>
                                      </p:cBhvr>
                                      <p:to>
                                        <p:strVal val="visible"/>
                                      </p:to>
                                    </p:set>
                                    <p:animEffect transition="in" filter="dissolve">
                                      <p:cBhvr>
                                        <p:cTn id="37" dur="500"/>
                                        <p:tgtEl>
                                          <p:spTgt spid="1854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185502"/>
                                        </p:tgtEl>
                                        <p:attrNameLst>
                                          <p:attrName>style.visibility</p:attrName>
                                        </p:attrNameLst>
                                      </p:cBhvr>
                                      <p:to>
                                        <p:strVal val="visible"/>
                                      </p:to>
                                    </p:set>
                                    <p:animEffect transition="in" filter="blinds(horizontal)">
                                      <p:cBhvr>
                                        <p:cTn id="42" dur="500"/>
                                        <p:tgtEl>
                                          <p:spTgt spid="18550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6" presetClass="entr" presetSubtype="42" fill="hold" grpId="0" nodeType="clickEffect">
                                  <p:stCondLst>
                                    <p:cond delay="0"/>
                                  </p:stCondLst>
                                  <p:childTnLst>
                                    <p:set>
                                      <p:cBhvr>
                                        <p:cTn id="46" dur="1" fill="hold">
                                          <p:stCondLst>
                                            <p:cond delay="0"/>
                                          </p:stCondLst>
                                        </p:cTn>
                                        <p:tgtEl>
                                          <p:spTgt spid="185501"/>
                                        </p:tgtEl>
                                        <p:attrNameLst>
                                          <p:attrName>style.visibility</p:attrName>
                                        </p:attrNameLst>
                                      </p:cBhvr>
                                      <p:to>
                                        <p:strVal val="visible"/>
                                      </p:to>
                                    </p:set>
                                    <p:animEffect transition="in" filter="barn(outHorizontal)">
                                      <p:cBhvr>
                                        <p:cTn id="47" dur="500"/>
                                        <p:tgtEl>
                                          <p:spTgt spid="18550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185500"/>
                                        </p:tgtEl>
                                        <p:attrNameLst>
                                          <p:attrName>style.visibility</p:attrName>
                                        </p:attrNameLst>
                                      </p:cBhvr>
                                      <p:to>
                                        <p:strVal val="visible"/>
                                      </p:to>
                                    </p:set>
                                    <p:animEffect transition="in" filter="blinds(horizontal)">
                                      <p:cBhvr>
                                        <p:cTn id="52" dur="500"/>
                                        <p:tgtEl>
                                          <p:spTgt spid="18550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grpId="0" nodeType="clickEffect">
                                  <p:stCondLst>
                                    <p:cond delay="0"/>
                                  </p:stCondLst>
                                  <p:childTnLst>
                                    <p:set>
                                      <p:cBhvr>
                                        <p:cTn id="56" dur="1" fill="hold">
                                          <p:stCondLst>
                                            <p:cond delay="0"/>
                                          </p:stCondLst>
                                        </p:cTn>
                                        <p:tgtEl>
                                          <p:spTgt spid="185503"/>
                                        </p:tgtEl>
                                        <p:attrNameLst>
                                          <p:attrName>style.visibility</p:attrName>
                                        </p:attrNameLst>
                                      </p:cBhvr>
                                      <p:to>
                                        <p:strVal val="visible"/>
                                      </p:to>
                                    </p:set>
                                    <p:animEffect transition="in" filter="blinds(horizontal)">
                                      <p:cBhvr>
                                        <p:cTn id="57" dur="500"/>
                                        <p:tgtEl>
                                          <p:spTgt spid="1855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488" grpId="0" autoUpdateAnimBg="0"/>
      <p:bldP spid="185489" grpId="0" autoUpdateAnimBg="0"/>
      <p:bldP spid="185490" grpId="0" autoUpdateAnimBg="0"/>
      <p:bldP spid="185491" grpId="0" autoUpdateAnimBg="0"/>
      <p:bldP spid="185492" grpId="0" autoUpdateAnimBg="0"/>
      <p:bldP spid="185493" grpId="0" autoUpdateAnimBg="0"/>
      <p:bldP spid="185494" grpId="0" animBg="1"/>
      <p:bldP spid="185500" grpId="0" autoUpdateAnimBg="0"/>
      <p:bldP spid="185501" grpId="0" animBg="1" autoUpdateAnimBg="0"/>
      <p:bldP spid="185502" grpId="0" autoUpdateAnimBg="0"/>
      <p:bldP spid="185503" grpId="0" autoUpdateAnimBg="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descr="Large confetti">
            <a:extLst>
              <a:ext uri="{FF2B5EF4-FFF2-40B4-BE49-F238E27FC236}">
                <a16:creationId xmlns:a16="http://schemas.microsoft.com/office/drawing/2014/main" id="{E2607D94-6472-472C-A30D-DAE0E954AE9B}"/>
              </a:ext>
            </a:extLst>
          </p:cNvPr>
          <p:cNvSpPr>
            <a:spLocks noGrp="1" noChangeArrowheads="1"/>
          </p:cNvSpPr>
          <p:nvPr>
            <p:ph type="title"/>
          </p:nvPr>
        </p:nvSpPr>
        <p:spPr/>
        <p:txBody>
          <a:bodyPr/>
          <a:lstStyle/>
          <a:p>
            <a:pPr eaLnBrk="1" hangingPunct="1"/>
            <a:r>
              <a:rPr lang="zh-CN" altLang="en-US"/>
              <a:t>伏格尔法</a:t>
            </a:r>
          </a:p>
        </p:txBody>
      </p:sp>
      <p:graphicFrame>
        <p:nvGraphicFramePr>
          <p:cNvPr id="185507" name="Group 163">
            <a:extLst>
              <a:ext uri="{FF2B5EF4-FFF2-40B4-BE49-F238E27FC236}">
                <a16:creationId xmlns:a16="http://schemas.microsoft.com/office/drawing/2014/main" id="{E9E37CBC-8680-47AF-BF42-7D07A268F61A}"/>
              </a:ext>
            </a:extLst>
          </p:cNvPr>
          <p:cNvGraphicFramePr>
            <a:graphicFrameLocks noGrp="1"/>
          </p:cNvGraphicFramePr>
          <p:nvPr/>
        </p:nvGraphicFramePr>
        <p:xfrm>
          <a:off x="971550" y="1628775"/>
          <a:ext cx="6838950" cy="3638551"/>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行差额</a:t>
                      </a: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楷体_GB2312" pitchFamily="49" charset="-122"/>
                          <a:ea typeface="华文细黑" panose="02010600040101010101" pitchFamily="2" charset="-122"/>
                        </a:rPr>
                        <a:t>列差额</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8429" name="Line 140">
            <a:extLst>
              <a:ext uri="{FF2B5EF4-FFF2-40B4-BE49-F238E27FC236}">
                <a16:creationId xmlns:a16="http://schemas.microsoft.com/office/drawing/2014/main" id="{69D31B54-3A27-4657-AE00-30933CF8E945}"/>
              </a:ext>
            </a:extLst>
          </p:cNvPr>
          <p:cNvSpPr>
            <a:spLocks noChangeShapeType="1"/>
          </p:cNvSpPr>
          <p:nvPr/>
        </p:nvSpPr>
        <p:spPr bwMode="auto">
          <a:xfrm flipH="1" flipV="1">
            <a:off x="1546225" y="1644650"/>
            <a:ext cx="739775" cy="987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30" name="Line 141">
            <a:extLst>
              <a:ext uri="{FF2B5EF4-FFF2-40B4-BE49-F238E27FC236}">
                <a16:creationId xmlns:a16="http://schemas.microsoft.com/office/drawing/2014/main" id="{4D150CE9-C950-4D27-A91F-81AC73E2A1D7}"/>
              </a:ext>
            </a:extLst>
          </p:cNvPr>
          <p:cNvSpPr>
            <a:spLocks noChangeShapeType="1"/>
          </p:cNvSpPr>
          <p:nvPr/>
        </p:nvSpPr>
        <p:spPr bwMode="auto">
          <a:xfrm flipH="1" flipV="1">
            <a:off x="971550" y="2076450"/>
            <a:ext cx="1314450" cy="5556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88" name="Text Box 144">
            <a:extLst>
              <a:ext uri="{FF2B5EF4-FFF2-40B4-BE49-F238E27FC236}">
                <a16:creationId xmlns:a16="http://schemas.microsoft.com/office/drawing/2014/main" id="{D20758C6-56DC-4D58-A558-005CE490EE14}"/>
              </a:ext>
            </a:extLst>
          </p:cNvPr>
          <p:cNvSpPr txBox="1">
            <a:spLocks noChangeArrowheads="1"/>
          </p:cNvSpPr>
          <p:nvPr/>
        </p:nvSpPr>
        <p:spPr bwMode="auto">
          <a:xfrm>
            <a:off x="7112000" y="276225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0</a:t>
            </a:r>
            <a:endParaRPr lang="en-US" altLang="zh-CN" sz="3200">
              <a:solidFill>
                <a:srgbClr val="000000"/>
              </a:solidFill>
              <a:latin typeface="楷体_GB2312" pitchFamily="49" charset="-122"/>
              <a:ea typeface="楷体_GB2312" pitchFamily="49" charset="-122"/>
            </a:endParaRPr>
          </a:p>
        </p:txBody>
      </p:sp>
      <p:sp>
        <p:nvSpPr>
          <p:cNvPr id="185490" name="Text Box 146">
            <a:extLst>
              <a:ext uri="{FF2B5EF4-FFF2-40B4-BE49-F238E27FC236}">
                <a16:creationId xmlns:a16="http://schemas.microsoft.com/office/drawing/2014/main" id="{EF82AEB0-AC28-41F4-92D5-E0C3DCE6557A}"/>
              </a:ext>
            </a:extLst>
          </p:cNvPr>
          <p:cNvSpPr txBox="1">
            <a:spLocks noChangeArrowheads="1"/>
          </p:cNvSpPr>
          <p:nvPr/>
        </p:nvSpPr>
        <p:spPr bwMode="auto">
          <a:xfrm>
            <a:off x="50546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2</a:t>
            </a:r>
            <a:endParaRPr lang="en-US" altLang="zh-CN" sz="3200">
              <a:solidFill>
                <a:srgbClr val="000000"/>
              </a:solidFill>
              <a:latin typeface="楷体_GB2312" pitchFamily="49" charset="-122"/>
              <a:ea typeface="楷体_GB2312" pitchFamily="49" charset="-122"/>
            </a:endParaRPr>
          </a:p>
        </p:txBody>
      </p:sp>
      <p:sp>
        <p:nvSpPr>
          <p:cNvPr id="185491" name="Text Box 147">
            <a:extLst>
              <a:ext uri="{FF2B5EF4-FFF2-40B4-BE49-F238E27FC236}">
                <a16:creationId xmlns:a16="http://schemas.microsoft.com/office/drawing/2014/main" id="{DAC0ACC1-411A-40CF-9B90-2306A7AA991E}"/>
              </a:ext>
            </a:extLst>
          </p:cNvPr>
          <p:cNvSpPr txBox="1">
            <a:spLocks noChangeArrowheads="1"/>
          </p:cNvSpPr>
          <p:nvPr/>
        </p:nvSpPr>
        <p:spPr bwMode="auto">
          <a:xfrm>
            <a:off x="4267200" y="4800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5492" name="Text Box 148">
            <a:extLst>
              <a:ext uri="{FF2B5EF4-FFF2-40B4-BE49-F238E27FC236}">
                <a16:creationId xmlns:a16="http://schemas.microsoft.com/office/drawing/2014/main" id="{2CA6F7EA-A8B1-4AC1-A947-1A899E67D1D3}"/>
              </a:ext>
            </a:extLst>
          </p:cNvPr>
          <p:cNvSpPr txBox="1">
            <a:spLocks noChangeArrowheads="1"/>
          </p:cNvSpPr>
          <p:nvPr/>
        </p:nvSpPr>
        <p:spPr bwMode="auto">
          <a:xfrm>
            <a:off x="25400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2</a:t>
            </a:r>
          </a:p>
        </p:txBody>
      </p:sp>
      <p:sp>
        <p:nvSpPr>
          <p:cNvPr id="185493" name="Text Box 149">
            <a:extLst>
              <a:ext uri="{FF2B5EF4-FFF2-40B4-BE49-F238E27FC236}">
                <a16:creationId xmlns:a16="http://schemas.microsoft.com/office/drawing/2014/main" id="{761F6BE0-93DA-467B-93F2-7F569FAE6AB6}"/>
              </a:ext>
            </a:extLst>
          </p:cNvPr>
          <p:cNvSpPr txBox="1">
            <a:spLocks noChangeArrowheads="1"/>
          </p:cNvSpPr>
          <p:nvPr/>
        </p:nvSpPr>
        <p:spPr bwMode="auto">
          <a:xfrm>
            <a:off x="7092950" y="3284538"/>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58436" name="Oval 150">
            <a:extLst>
              <a:ext uri="{FF2B5EF4-FFF2-40B4-BE49-F238E27FC236}">
                <a16:creationId xmlns:a16="http://schemas.microsoft.com/office/drawing/2014/main" id="{DA89011F-E4B0-440F-B325-CC8A8F89E8D9}"/>
              </a:ext>
            </a:extLst>
          </p:cNvPr>
          <p:cNvSpPr>
            <a:spLocks noChangeArrowheads="1"/>
          </p:cNvSpPr>
          <p:nvPr/>
        </p:nvSpPr>
        <p:spPr bwMode="auto">
          <a:xfrm>
            <a:off x="7019925" y="3263900"/>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58437" name="Text Box 151">
            <a:extLst>
              <a:ext uri="{FF2B5EF4-FFF2-40B4-BE49-F238E27FC236}">
                <a16:creationId xmlns:a16="http://schemas.microsoft.com/office/drawing/2014/main" id="{896C0DA3-27FC-46DF-B582-74B6EDC177A5}"/>
              </a:ext>
            </a:extLst>
          </p:cNvPr>
          <p:cNvSpPr txBox="1">
            <a:spLocks noChangeArrowheads="1"/>
          </p:cNvSpPr>
          <p:nvPr/>
        </p:nvSpPr>
        <p:spPr bwMode="auto">
          <a:xfrm>
            <a:off x="3581400" y="381000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58438" name="Oval 152">
            <a:extLst>
              <a:ext uri="{FF2B5EF4-FFF2-40B4-BE49-F238E27FC236}">
                <a16:creationId xmlns:a16="http://schemas.microsoft.com/office/drawing/2014/main" id="{D6EF929B-72CA-4796-A61E-77C02BB5F726}"/>
              </a:ext>
            </a:extLst>
          </p:cNvPr>
          <p:cNvSpPr>
            <a:spLocks noChangeArrowheads="1"/>
          </p:cNvSpPr>
          <p:nvPr/>
        </p:nvSpPr>
        <p:spPr bwMode="auto">
          <a:xfrm>
            <a:off x="35052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58439" name="Text Box 153">
            <a:extLst>
              <a:ext uri="{FF2B5EF4-FFF2-40B4-BE49-F238E27FC236}">
                <a16:creationId xmlns:a16="http://schemas.microsoft.com/office/drawing/2014/main" id="{DCF8F32F-50A6-4791-8AD8-DCC5329A9545}"/>
              </a:ext>
            </a:extLst>
          </p:cNvPr>
          <p:cNvSpPr txBox="1">
            <a:spLocks noChangeArrowheads="1"/>
          </p:cNvSpPr>
          <p:nvPr/>
        </p:nvSpPr>
        <p:spPr bwMode="auto">
          <a:xfrm>
            <a:off x="3505200" y="32766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8440" name="Text Box 154">
            <a:extLst>
              <a:ext uri="{FF2B5EF4-FFF2-40B4-BE49-F238E27FC236}">
                <a16:creationId xmlns:a16="http://schemas.microsoft.com/office/drawing/2014/main" id="{4BE3DF65-2DE4-40B3-A54F-001F0D323438}"/>
              </a:ext>
            </a:extLst>
          </p:cNvPr>
          <p:cNvSpPr txBox="1">
            <a:spLocks noChangeArrowheads="1"/>
          </p:cNvSpPr>
          <p:nvPr/>
        </p:nvSpPr>
        <p:spPr bwMode="auto">
          <a:xfrm>
            <a:off x="35464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8441" name="Line 155">
            <a:extLst>
              <a:ext uri="{FF2B5EF4-FFF2-40B4-BE49-F238E27FC236}">
                <a16:creationId xmlns:a16="http://schemas.microsoft.com/office/drawing/2014/main" id="{7A8AC533-4C42-413A-AA55-B339CAFDF6CD}"/>
              </a:ext>
            </a:extLst>
          </p:cNvPr>
          <p:cNvSpPr>
            <a:spLocks noChangeShapeType="1"/>
          </p:cNvSpPr>
          <p:nvPr/>
        </p:nvSpPr>
        <p:spPr bwMode="auto">
          <a:xfrm>
            <a:off x="3429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2" name="Text Box 156">
            <a:extLst>
              <a:ext uri="{FF2B5EF4-FFF2-40B4-BE49-F238E27FC236}">
                <a16:creationId xmlns:a16="http://schemas.microsoft.com/office/drawing/2014/main" id="{FF3AB164-6E8A-4C05-B746-C6962BF43D4A}"/>
              </a:ext>
            </a:extLst>
          </p:cNvPr>
          <p:cNvSpPr txBox="1">
            <a:spLocks noChangeArrowheads="1"/>
          </p:cNvSpPr>
          <p:nvPr/>
        </p:nvSpPr>
        <p:spPr bwMode="auto">
          <a:xfrm>
            <a:off x="4460875"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8443" name="Oval 157">
            <a:extLst>
              <a:ext uri="{FF2B5EF4-FFF2-40B4-BE49-F238E27FC236}">
                <a16:creationId xmlns:a16="http://schemas.microsoft.com/office/drawing/2014/main" id="{D80796EB-9E95-4E3B-8B09-55ED7616302C}"/>
              </a:ext>
            </a:extLst>
          </p:cNvPr>
          <p:cNvSpPr>
            <a:spLocks noChangeArrowheads="1"/>
          </p:cNvSpPr>
          <p:nvPr/>
        </p:nvSpPr>
        <p:spPr bwMode="auto">
          <a:xfrm>
            <a:off x="51816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58444" name="Text Box 158">
            <a:extLst>
              <a:ext uri="{FF2B5EF4-FFF2-40B4-BE49-F238E27FC236}">
                <a16:creationId xmlns:a16="http://schemas.microsoft.com/office/drawing/2014/main" id="{5ECB44FA-3062-4BBF-BD54-A6B362DF9FF6}"/>
              </a:ext>
            </a:extLst>
          </p:cNvPr>
          <p:cNvSpPr txBox="1">
            <a:spLocks noChangeArrowheads="1"/>
          </p:cNvSpPr>
          <p:nvPr/>
        </p:nvSpPr>
        <p:spPr bwMode="auto">
          <a:xfrm>
            <a:off x="5257800" y="38100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58445" name="Text Box 159">
            <a:extLst>
              <a:ext uri="{FF2B5EF4-FFF2-40B4-BE49-F238E27FC236}">
                <a16:creationId xmlns:a16="http://schemas.microsoft.com/office/drawing/2014/main" id="{0DD71A3F-1E59-49ED-BEB6-A39D98799117}"/>
              </a:ext>
            </a:extLst>
          </p:cNvPr>
          <p:cNvSpPr txBox="1">
            <a:spLocks noChangeArrowheads="1"/>
          </p:cNvSpPr>
          <p:nvPr/>
        </p:nvSpPr>
        <p:spPr bwMode="auto">
          <a:xfrm>
            <a:off x="2647950"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8446" name="Line 155">
            <a:extLst>
              <a:ext uri="{FF2B5EF4-FFF2-40B4-BE49-F238E27FC236}">
                <a16:creationId xmlns:a16="http://schemas.microsoft.com/office/drawing/2014/main" id="{E8BB7D60-7EE4-4B39-A07F-2C6A101F19FC}"/>
              </a:ext>
            </a:extLst>
          </p:cNvPr>
          <p:cNvSpPr>
            <a:spLocks noChangeShapeType="1"/>
          </p:cNvSpPr>
          <p:nvPr/>
        </p:nvSpPr>
        <p:spPr bwMode="auto">
          <a:xfrm>
            <a:off x="7086600" y="39624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 name="Text Box 158">
            <a:extLst>
              <a:ext uri="{FF2B5EF4-FFF2-40B4-BE49-F238E27FC236}">
                <a16:creationId xmlns:a16="http://schemas.microsoft.com/office/drawing/2014/main" id="{B5CDF386-C68D-4F94-8C75-A64D9775127A}"/>
              </a:ext>
            </a:extLst>
          </p:cNvPr>
          <p:cNvSpPr txBox="1">
            <a:spLocks noChangeArrowheads="1"/>
          </p:cNvSpPr>
          <p:nvPr/>
        </p:nvSpPr>
        <p:spPr bwMode="auto">
          <a:xfrm>
            <a:off x="2743200" y="3276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26" name="Oval 157">
            <a:extLst>
              <a:ext uri="{FF2B5EF4-FFF2-40B4-BE49-F238E27FC236}">
                <a16:creationId xmlns:a16="http://schemas.microsoft.com/office/drawing/2014/main" id="{C080EE73-B38D-41DF-BAF0-9E5807973F9A}"/>
              </a:ext>
            </a:extLst>
          </p:cNvPr>
          <p:cNvSpPr>
            <a:spLocks noChangeArrowheads="1"/>
          </p:cNvSpPr>
          <p:nvPr/>
        </p:nvSpPr>
        <p:spPr bwMode="auto">
          <a:xfrm>
            <a:off x="2667000" y="32766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27" name="Text Box 159">
            <a:extLst>
              <a:ext uri="{FF2B5EF4-FFF2-40B4-BE49-F238E27FC236}">
                <a16:creationId xmlns:a16="http://schemas.microsoft.com/office/drawing/2014/main" id="{625A7E8A-415B-4355-B965-C01D1E40EEEF}"/>
              </a:ext>
            </a:extLst>
          </p:cNvPr>
          <p:cNvSpPr txBox="1">
            <a:spLocks noChangeArrowheads="1"/>
          </p:cNvSpPr>
          <p:nvPr/>
        </p:nvSpPr>
        <p:spPr bwMode="auto">
          <a:xfrm>
            <a:off x="27082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5488"/>
                                        </p:tgtEl>
                                        <p:attrNameLst>
                                          <p:attrName>style.visibility</p:attrName>
                                        </p:attrNameLst>
                                      </p:cBhvr>
                                      <p:to>
                                        <p:strVal val="visible"/>
                                      </p:to>
                                    </p:set>
                                    <p:animEffect transition="in" filter="blinds(horizontal)">
                                      <p:cBhvr>
                                        <p:cTn id="7" dur="500"/>
                                        <p:tgtEl>
                                          <p:spTgt spid="185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85493"/>
                                        </p:tgtEl>
                                        <p:attrNameLst>
                                          <p:attrName>style.visibility</p:attrName>
                                        </p:attrNameLst>
                                      </p:cBhvr>
                                      <p:to>
                                        <p:strVal val="visible"/>
                                      </p:to>
                                    </p:set>
                                    <p:animEffect transition="in" filter="blinds(horizontal)">
                                      <p:cBhvr>
                                        <p:cTn id="12" dur="500"/>
                                        <p:tgtEl>
                                          <p:spTgt spid="1854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85492"/>
                                        </p:tgtEl>
                                        <p:attrNameLst>
                                          <p:attrName>style.visibility</p:attrName>
                                        </p:attrNameLst>
                                      </p:cBhvr>
                                      <p:to>
                                        <p:strVal val="visible"/>
                                      </p:to>
                                    </p:set>
                                    <p:animEffect transition="in" filter="box(in)">
                                      <p:cBhvr>
                                        <p:cTn id="17" dur="500"/>
                                        <p:tgtEl>
                                          <p:spTgt spid="1854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85491"/>
                                        </p:tgtEl>
                                        <p:attrNameLst>
                                          <p:attrName>style.visibility</p:attrName>
                                        </p:attrNameLst>
                                      </p:cBhvr>
                                      <p:to>
                                        <p:strVal val="visible"/>
                                      </p:to>
                                    </p:set>
                                    <p:animEffect transition="in" filter="box(in)">
                                      <p:cBhvr>
                                        <p:cTn id="22" dur="500"/>
                                        <p:tgtEl>
                                          <p:spTgt spid="18549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85490"/>
                                        </p:tgtEl>
                                        <p:attrNameLst>
                                          <p:attrName>style.visibility</p:attrName>
                                        </p:attrNameLst>
                                      </p:cBhvr>
                                      <p:to>
                                        <p:strVal val="visible"/>
                                      </p:to>
                                    </p:set>
                                    <p:animEffect transition="in" filter="blinds(horizontal)">
                                      <p:cBhvr>
                                        <p:cTn id="27" dur="500"/>
                                        <p:tgtEl>
                                          <p:spTgt spid="1854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6" presetClass="emph" presetSubtype="0" fill="hold" grpId="1" nodeType="clickEffect">
                                  <p:stCondLst>
                                    <p:cond delay="0"/>
                                  </p:stCondLst>
                                  <p:childTnLst>
                                    <p:animScale>
                                      <p:cBhvr>
                                        <p:cTn id="31" dur="2000" fill="hold"/>
                                        <p:tgtEl>
                                          <p:spTgt spid="185492"/>
                                        </p:tgtEl>
                                      </p:cBhvr>
                                      <p:by x="150000" y="150000"/>
                                    </p:animScale>
                                  </p:child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grpId="0" nodeType="click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blinds(horizontal)">
                                      <p:cBhvr>
                                        <p:cTn id="36" dur="500"/>
                                        <p:tgtEl>
                                          <p:spTgt spid="25"/>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blinds(horizontal)">
                                      <p:cBhvr>
                                        <p:cTn id="41" dur="500"/>
                                        <p:tgtEl>
                                          <p:spTgt spid="2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3" presetClass="entr" presetSubtype="10" fill="hold" grpId="0" nodeType="click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blinds(horizontal)">
                                      <p:cBhvr>
                                        <p:cTn id="46"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488" grpId="0" autoUpdateAnimBg="0"/>
      <p:bldP spid="185490" grpId="0" autoUpdateAnimBg="0"/>
      <p:bldP spid="185491" grpId="0" autoUpdateAnimBg="0"/>
      <p:bldP spid="185492" grpId="0" autoUpdateAnimBg="0"/>
      <p:bldP spid="185492" grpId="1"/>
      <p:bldP spid="185493" grpId="0" autoUpdateAnimBg="0"/>
      <p:bldP spid="25" grpId="0"/>
      <p:bldP spid="26" grpId="0" animBg="1"/>
      <p:bldP spid="2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descr="Large confetti">
            <a:extLst>
              <a:ext uri="{FF2B5EF4-FFF2-40B4-BE49-F238E27FC236}">
                <a16:creationId xmlns:a16="http://schemas.microsoft.com/office/drawing/2014/main" id="{7A524FFE-C374-46CC-8110-BCEA61EDB451}"/>
              </a:ext>
            </a:extLst>
          </p:cNvPr>
          <p:cNvSpPr>
            <a:spLocks noGrp="1" noChangeArrowheads="1"/>
          </p:cNvSpPr>
          <p:nvPr>
            <p:ph type="title"/>
          </p:nvPr>
        </p:nvSpPr>
        <p:spPr/>
        <p:txBody>
          <a:bodyPr/>
          <a:lstStyle/>
          <a:p>
            <a:pPr eaLnBrk="1" hangingPunct="1"/>
            <a:r>
              <a:rPr lang="zh-CN" altLang="en-US"/>
              <a:t>伏格尔法</a:t>
            </a:r>
          </a:p>
        </p:txBody>
      </p:sp>
      <p:graphicFrame>
        <p:nvGraphicFramePr>
          <p:cNvPr id="185507" name="Group 163">
            <a:extLst>
              <a:ext uri="{FF2B5EF4-FFF2-40B4-BE49-F238E27FC236}">
                <a16:creationId xmlns:a16="http://schemas.microsoft.com/office/drawing/2014/main" id="{4E22F588-FBA6-475C-87E7-E86D4B230C84}"/>
              </a:ext>
            </a:extLst>
          </p:cNvPr>
          <p:cNvGraphicFramePr>
            <a:graphicFrameLocks noGrp="1"/>
          </p:cNvGraphicFramePr>
          <p:nvPr/>
        </p:nvGraphicFramePr>
        <p:xfrm>
          <a:off x="971550" y="1628775"/>
          <a:ext cx="6838950" cy="3638551"/>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行差额</a:t>
                      </a: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楷体_GB2312" pitchFamily="49" charset="-122"/>
                          <a:ea typeface="华文细黑" panose="02010600040101010101" pitchFamily="2" charset="-122"/>
                        </a:rPr>
                        <a:t>列差额</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9453" name="Line 140">
            <a:extLst>
              <a:ext uri="{FF2B5EF4-FFF2-40B4-BE49-F238E27FC236}">
                <a16:creationId xmlns:a16="http://schemas.microsoft.com/office/drawing/2014/main" id="{14A5CF66-1EDB-46DB-A8F3-E0B75C3B38F8}"/>
              </a:ext>
            </a:extLst>
          </p:cNvPr>
          <p:cNvSpPr>
            <a:spLocks noChangeShapeType="1"/>
          </p:cNvSpPr>
          <p:nvPr/>
        </p:nvSpPr>
        <p:spPr bwMode="auto">
          <a:xfrm flipH="1" flipV="1">
            <a:off x="1454150" y="1644650"/>
            <a:ext cx="831850" cy="10223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54" name="Line 141">
            <a:extLst>
              <a:ext uri="{FF2B5EF4-FFF2-40B4-BE49-F238E27FC236}">
                <a16:creationId xmlns:a16="http://schemas.microsoft.com/office/drawing/2014/main" id="{67AB57BE-5A81-43F8-BDB3-160B37C1F0BE}"/>
              </a:ext>
            </a:extLst>
          </p:cNvPr>
          <p:cNvSpPr>
            <a:spLocks noChangeShapeType="1"/>
          </p:cNvSpPr>
          <p:nvPr/>
        </p:nvSpPr>
        <p:spPr bwMode="auto">
          <a:xfrm flipH="1" flipV="1">
            <a:off x="971550" y="2076450"/>
            <a:ext cx="1295400" cy="590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88" name="Text Box 144">
            <a:extLst>
              <a:ext uri="{FF2B5EF4-FFF2-40B4-BE49-F238E27FC236}">
                <a16:creationId xmlns:a16="http://schemas.microsoft.com/office/drawing/2014/main" id="{0176EB8F-88D0-4926-87CE-56276ED78B0F}"/>
              </a:ext>
            </a:extLst>
          </p:cNvPr>
          <p:cNvSpPr txBox="1">
            <a:spLocks noChangeArrowheads="1"/>
          </p:cNvSpPr>
          <p:nvPr/>
        </p:nvSpPr>
        <p:spPr bwMode="auto">
          <a:xfrm>
            <a:off x="7112000" y="276225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7</a:t>
            </a:r>
            <a:endParaRPr lang="en-US" altLang="zh-CN" sz="3200">
              <a:solidFill>
                <a:srgbClr val="000000"/>
              </a:solidFill>
              <a:latin typeface="楷体_GB2312" pitchFamily="49" charset="-122"/>
              <a:ea typeface="楷体_GB2312" pitchFamily="49" charset="-122"/>
            </a:endParaRPr>
          </a:p>
        </p:txBody>
      </p:sp>
      <p:sp>
        <p:nvSpPr>
          <p:cNvPr id="185490" name="Text Box 146">
            <a:extLst>
              <a:ext uri="{FF2B5EF4-FFF2-40B4-BE49-F238E27FC236}">
                <a16:creationId xmlns:a16="http://schemas.microsoft.com/office/drawing/2014/main" id="{191064F4-6F92-469B-A4C4-95031913299E}"/>
              </a:ext>
            </a:extLst>
          </p:cNvPr>
          <p:cNvSpPr txBox="1">
            <a:spLocks noChangeArrowheads="1"/>
          </p:cNvSpPr>
          <p:nvPr/>
        </p:nvSpPr>
        <p:spPr bwMode="auto">
          <a:xfrm>
            <a:off x="50546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2</a:t>
            </a:r>
            <a:endParaRPr lang="en-US" altLang="zh-CN" sz="3200">
              <a:solidFill>
                <a:srgbClr val="000000"/>
              </a:solidFill>
              <a:latin typeface="楷体_GB2312" pitchFamily="49" charset="-122"/>
              <a:ea typeface="楷体_GB2312" pitchFamily="49" charset="-122"/>
            </a:endParaRPr>
          </a:p>
        </p:txBody>
      </p:sp>
      <p:sp>
        <p:nvSpPr>
          <p:cNvPr id="185491" name="Text Box 147">
            <a:extLst>
              <a:ext uri="{FF2B5EF4-FFF2-40B4-BE49-F238E27FC236}">
                <a16:creationId xmlns:a16="http://schemas.microsoft.com/office/drawing/2014/main" id="{5992B47F-6E23-4A40-8861-52B974A3E349}"/>
              </a:ext>
            </a:extLst>
          </p:cNvPr>
          <p:cNvSpPr txBox="1">
            <a:spLocks noChangeArrowheads="1"/>
          </p:cNvSpPr>
          <p:nvPr/>
        </p:nvSpPr>
        <p:spPr bwMode="auto">
          <a:xfrm>
            <a:off x="4267200" y="4800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5493" name="Text Box 149">
            <a:extLst>
              <a:ext uri="{FF2B5EF4-FFF2-40B4-BE49-F238E27FC236}">
                <a16:creationId xmlns:a16="http://schemas.microsoft.com/office/drawing/2014/main" id="{9587ECE3-D580-4F27-9FC8-DD02BCC423EB}"/>
              </a:ext>
            </a:extLst>
          </p:cNvPr>
          <p:cNvSpPr txBox="1">
            <a:spLocks noChangeArrowheads="1"/>
          </p:cNvSpPr>
          <p:nvPr/>
        </p:nvSpPr>
        <p:spPr bwMode="auto">
          <a:xfrm>
            <a:off x="7092950" y="3284538"/>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59459" name="Oval 150">
            <a:extLst>
              <a:ext uri="{FF2B5EF4-FFF2-40B4-BE49-F238E27FC236}">
                <a16:creationId xmlns:a16="http://schemas.microsoft.com/office/drawing/2014/main" id="{2670385F-0470-4B5E-A583-D1E37009AE04}"/>
              </a:ext>
            </a:extLst>
          </p:cNvPr>
          <p:cNvSpPr>
            <a:spLocks noChangeArrowheads="1"/>
          </p:cNvSpPr>
          <p:nvPr/>
        </p:nvSpPr>
        <p:spPr bwMode="auto">
          <a:xfrm>
            <a:off x="7019925" y="3263900"/>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59460" name="Text Box 151">
            <a:extLst>
              <a:ext uri="{FF2B5EF4-FFF2-40B4-BE49-F238E27FC236}">
                <a16:creationId xmlns:a16="http://schemas.microsoft.com/office/drawing/2014/main" id="{ED0FE7AB-E5B1-4EC3-8B92-3ECC54D1FB34}"/>
              </a:ext>
            </a:extLst>
          </p:cNvPr>
          <p:cNvSpPr txBox="1">
            <a:spLocks noChangeArrowheads="1"/>
          </p:cNvSpPr>
          <p:nvPr/>
        </p:nvSpPr>
        <p:spPr bwMode="auto">
          <a:xfrm>
            <a:off x="3581400" y="381000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59461" name="Oval 152">
            <a:extLst>
              <a:ext uri="{FF2B5EF4-FFF2-40B4-BE49-F238E27FC236}">
                <a16:creationId xmlns:a16="http://schemas.microsoft.com/office/drawing/2014/main" id="{DA828A4B-0FB6-4F2A-A417-0E8F7C9A508A}"/>
              </a:ext>
            </a:extLst>
          </p:cNvPr>
          <p:cNvSpPr>
            <a:spLocks noChangeArrowheads="1"/>
          </p:cNvSpPr>
          <p:nvPr/>
        </p:nvSpPr>
        <p:spPr bwMode="auto">
          <a:xfrm>
            <a:off x="35052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59462" name="Text Box 153">
            <a:extLst>
              <a:ext uri="{FF2B5EF4-FFF2-40B4-BE49-F238E27FC236}">
                <a16:creationId xmlns:a16="http://schemas.microsoft.com/office/drawing/2014/main" id="{79A76385-C978-4499-BA40-1A37356D1E2C}"/>
              </a:ext>
            </a:extLst>
          </p:cNvPr>
          <p:cNvSpPr txBox="1">
            <a:spLocks noChangeArrowheads="1"/>
          </p:cNvSpPr>
          <p:nvPr/>
        </p:nvSpPr>
        <p:spPr bwMode="auto">
          <a:xfrm>
            <a:off x="3505200" y="32766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9463" name="Text Box 154">
            <a:extLst>
              <a:ext uri="{FF2B5EF4-FFF2-40B4-BE49-F238E27FC236}">
                <a16:creationId xmlns:a16="http://schemas.microsoft.com/office/drawing/2014/main" id="{15D44A2C-D015-458E-A99A-8002519A47C8}"/>
              </a:ext>
            </a:extLst>
          </p:cNvPr>
          <p:cNvSpPr txBox="1">
            <a:spLocks noChangeArrowheads="1"/>
          </p:cNvSpPr>
          <p:nvPr/>
        </p:nvSpPr>
        <p:spPr bwMode="auto">
          <a:xfrm>
            <a:off x="35464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9464" name="Line 155">
            <a:extLst>
              <a:ext uri="{FF2B5EF4-FFF2-40B4-BE49-F238E27FC236}">
                <a16:creationId xmlns:a16="http://schemas.microsoft.com/office/drawing/2014/main" id="{8B8A9986-DB6A-4886-A3B5-FB9FD510BBC2}"/>
              </a:ext>
            </a:extLst>
          </p:cNvPr>
          <p:cNvSpPr>
            <a:spLocks noChangeShapeType="1"/>
          </p:cNvSpPr>
          <p:nvPr/>
        </p:nvSpPr>
        <p:spPr bwMode="auto">
          <a:xfrm>
            <a:off x="3429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65" name="Text Box 156">
            <a:extLst>
              <a:ext uri="{FF2B5EF4-FFF2-40B4-BE49-F238E27FC236}">
                <a16:creationId xmlns:a16="http://schemas.microsoft.com/office/drawing/2014/main" id="{DF1989D3-173C-4156-A9E5-5B15C7CE9B04}"/>
              </a:ext>
            </a:extLst>
          </p:cNvPr>
          <p:cNvSpPr txBox="1">
            <a:spLocks noChangeArrowheads="1"/>
          </p:cNvSpPr>
          <p:nvPr/>
        </p:nvSpPr>
        <p:spPr bwMode="auto">
          <a:xfrm>
            <a:off x="4460875"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9466" name="Oval 157">
            <a:extLst>
              <a:ext uri="{FF2B5EF4-FFF2-40B4-BE49-F238E27FC236}">
                <a16:creationId xmlns:a16="http://schemas.microsoft.com/office/drawing/2014/main" id="{6084C96C-58C5-4762-A691-55F03AA503FC}"/>
              </a:ext>
            </a:extLst>
          </p:cNvPr>
          <p:cNvSpPr>
            <a:spLocks noChangeArrowheads="1"/>
          </p:cNvSpPr>
          <p:nvPr/>
        </p:nvSpPr>
        <p:spPr bwMode="auto">
          <a:xfrm>
            <a:off x="51816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59467" name="Text Box 158">
            <a:extLst>
              <a:ext uri="{FF2B5EF4-FFF2-40B4-BE49-F238E27FC236}">
                <a16:creationId xmlns:a16="http://schemas.microsoft.com/office/drawing/2014/main" id="{71176722-555B-4058-8D67-1F9CCD9BB1F1}"/>
              </a:ext>
            </a:extLst>
          </p:cNvPr>
          <p:cNvSpPr txBox="1">
            <a:spLocks noChangeArrowheads="1"/>
          </p:cNvSpPr>
          <p:nvPr/>
        </p:nvSpPr>
        <p:spPr bwMode="auto">
          <a:xfrm>
            <a:off x="5257800" y="38100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59468" name="Text Box 159">
            <a:extLst>
              <a:ext uri="{FF2B5EF4-FFF2-40B4-BE49-F238E27FC236}">
                <a16:creationId xmlns:a16="http://schemas.microsoft.com/office/drawing/2014/main" id="{DE3E639A-7084-4294-B41E-34FE485194FB}"/>
              </a:ext>
            </a:extLst>
          </p:cNvPr>
          <p:cNvSpPr txBox="1">
            <a:spLocks noChangeArrowheads="1"/>
          </p:cNvSpPr>
          <p:nvPr/>
        </p:nvSpPr>
        <p:spPr bwMode="auto">
          <a:xfrm>
            <a:off x="2647950"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9469" name="Line 155">
            <a:extLst>
              <a:ext uri="{FF2B5EF4-FFF2-40B4-BE49-F238E27FC236}">
                <a16:creationId xmlns:a16="http://schemas.microsoft.com/office/drawing/2014/main" id="{AC0845A1-5EA7-424E-B88F-AE1F95373F0A}"/>
              </a:ext>
            </a:extLst>
          </p:cNvPr>
          <p:cNvSpPr>
            <a:spLocks noChangeShapeType="1"/>
          </p:cNvSpPr>
          <p:nvPr/>
        </p:nvSpPr>
        <p:spPr bwMode="auto">
          <a:xfrm>
            <a:off x="7086600" y="39624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0" name="Text Box 158">
            <a:extLst>
              <a:ext uri="{FF2B5EF4-FFF2-40B4-BE49-F238E27FC236}">
                <a16:creationId xmlns:a16="http://schemas.microsoft.com/office/drawing/2014/main" id="{3BE60E0B-25FC-4751-85DD-28550ADCC484}"/>
              </a:ext>
            </a:extLst>
          </p:cNvPr>
          <p:cNvSpPr txBox="1">
            <a:spLocks noChangeArrowheads="1"/>
          </p:cNvSpPr>
          <p:nvPr/>
        </p:nvSpPr>
        <p:spPr bwMode="auto">
          <a:xfrm>
            <a:off x="2743200" y="3276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59471" name="Oval 157">
            <a:extLst>
              <a:ext uri="{FF2B5EF4-FFF2-40B4-BE49-F238E27FC236}">
                <a16:creationId xmlns:a16="http://schemas.microsoft.com/office/drawing/2014/main" id="{D1E6EE23-E065-4AD8-A18A-62AA81D57AC0}"/>
              </a:ext>
            </a:extLst>
          </p:cNvPr>
          <p:cNvSpPr>
            <a:spLocks noChangeArrowheads="1"/>
          </p:cNvSpPr>
          <p:nvPr/>
        </p:nvSpPr>
        <p:spPr bwMode="auto">
          <a:xfrm>
            <a:off x="2667000" y="32766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59472" name="Text Box 159">
            <a:extLst>
              <a:ext uri="{FF2B5EF4-FFF2-40B4-BE49-F238E27FC236}">
                <a16:creationId xmlns:a16="http://schemas.microsoft.com/office/drawing/2014/main" id="{7158DA5C-7EBB-4DEA-9F10-51BCF0F0AC70}"/>
              </a:ext>
            </a:extLst>
          </p:cNvPr>
          <p:cNvSpPr txBox="1">
            <a:spLocks noChangeArrowheads="1"/>
          </p:cNvSpPr>
          <p:nvPr/>
        </p:nvSpPr>
        <p:spPr bwMode="auto">
          <a:xfrm>
            <a:off x="27082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59473" name="Line 155">
            <a:extLst>
              <a:ext uri="{FF2B5EF4-FFF2-40B4-BE49-F238E27FC236}">
                <a16:creationId xmlns:a16="http://schemas.microsoft.com/office/drawing/2014/main" id="{B8CEC5E5-58BE-4F25-86E7-634729A7B803}"/>
              </a:ext>
            </a:extLst>
          </p:cNvPr>
          <p:cNvSpPr>
            <a:spLocks noChangeShapeType="1"/>
          </p:cNvSpPr>
          <p:nvPr/>
        </p:nvSpPr>
        <p:spPr bwMode="auto">
          <a:xfrm>
            <a:off x="25908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 name="Text Box 158">
            <a:extLst>
              <a:ext uri="{FF2B5EF4-FFF2-40B4-BE49-F238E27FC236}">
                <a16:creationId xmlns:a16="http://schemas.microsoft.com/office/drawing/2014/main" id="{691B5ABB-EB70-4EBC-B27E-BA74C6AB7FF1}"/>
              </a:ext>
            </a:extLst>
          </p:cNvPr>
          <p:cNvSpPr txBox="1">
            <a:spLocks noChangeArrowheads="1"/>
          </p:cNvSpPr>
          <p:nvPr/>
        </p:nvSpPr>
        <p:spPr bwMode="auto">
          <a:xfrm>
            <a:off x="4495800" y="280352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30" name="Oval 157">
            <a:extLst>
              <a:ext uri="{FF2B5EF4-FFF2-40B4-BE49-F238E27FC236}">
                <a16:creationId xmlns:a16="http://schemas.microsoft.com/office/drawing/2014/main" id="{0C3D669E-2B03-4371-893B-EA592618107C}"/>
              </a:ext>
            </a:extLst>
          </p:cNvPr>
          <p:cNvSpPr>
            <a:spLocks noChangeArrowheads="1"/>
          </p:cNvSpPr>
          <p:nvPr/>
        </p:nvSpPr>
        <p:spPr bwMode="auto">
          <a:xfrm>
            <a:off x="4419600" y="28194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31" name="Text Box 156">
            <a:extLst>
              <a:ext uri="{FF2B5EF4-FFF2-40B4-BE49-F238E27FC236}">
                <a16:creationId xmlns:a16="http://schemas.microsoft.com/office/drawing/2014/main" id="{39C60170-8B6A-4659-8D9B-B86EFDD39C96}"/>
              </a:ext>
            </a:extLst>
          </p:cNvPr>
          <p:cNvSpPr txBox="1">
            <a:spLocks noChangeArrowheads="1"/>
          </p:cNvSpPr>
          <p:nvPr/>
        </p:nvSpPr>
        <p:spPr bwMode="auto">
          <a:xfrm>
            <a:off x="4495800" y="33528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5488"/>
                                        </p:tgtEl>
                                        <p:attrNameLst>
                                          <p:attrName>style.visibility</p:attrName>
                                        </p:attrNameLst>
                                      </p:cBhvr>
                                      <p:to>
                                        <p:strVal val="visible"/>
                                      </p:to>
                                    </p:set>
                                    <p:animEffect transition="in" filter="blinds(horizontal)">
                                      <p:cBhvr>
                                        <p:cTn id="7" dur="500"/>
                                        <p:tgtEl>
                                          <p:spTgt spid="185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85493"/>
                                        </p:tgtEl>
                                        <p:attrNameLst>
                                          <p:attrName>style.visibility</p:attrName>
                                        </p:attrNameLst>
                                      </p:cBhvr>
                                      <p:to>
                                        <p:strVal val="visible"/>
                                      </p:to>
                                    </p:set>
                                    <p:animEffect transition="in" filter="blinds(horizontal)">
                                      <p:cBhvr>
                                        <p:cTn id="12" dur="500"/>
                                        <p:tgtEl>
                                          <p:spTgt spid="1854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85491"/>
                                        </p:tgtEl>
                                        <p:attrNameLst>
                                          <p:attrName>style.visibility</p:attrName>
                                        </p:attrNameLst>
                                      </p:cBhvr>
                                      <p:to>
                                        <p:strVal val="visible"/>
                                      </p:to>
                                    </p:set>
                                    <p:animEffect transition="in" filter="box(in)">
                                      <p:cBhvr>
                                        <p:cTn id="17" dur="500"/>
                                        <p:tgtEl>
                                          <p:spTgt spid="1854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85490"/>
                                        </p:tgtEl>
                                        <p:attrNameLst>
                                          <p:attrName>style.visibility</p:attrName>
                                        </p:attrNameLst>
                                      </p:cBhvr>
                                      <p:to>
                                        <p:strVal val="visible"/>
                                      </p:to>
                                    </p:set>
                                    <p:animEffect transition="in" filter="blinds(horizontal)">
                                      <p:cBhvr>
                                        <p:cTn id="22" dur="500"/>
                                        <p:tgtEl>
                                          <p:spTgt spid="1854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6" presetClass="emph" presetSubtype="0" fill="hold" grpId="1" nodeType="clickEffect">
                                  <p:stCondLst>
                                    <p:cond delay="0"/>
                                  </p:stCondLst>
                                  <p:childTnLst>
                                    <p:animScale>
                                      <p:cBhvr>
                                        <p:cTn id="26" dur="2000" fill="hold"/>
                                        <p:tgtEl>
                                          <p:spTgt spid="185488"/>
                                        </p:tgtEl>
                                      </p:cBhvr>
                                      <p:by x="150000" y="150000"/>
                                    </p:animScale>
                                  </p:childTnLst>
                                </p:cTn>
                              </p:par>
                            </p:childTnLst>
                          </p:cTn>
                        </p:par>
                      </p:childTnLst>
                    </p:cTn>
                  </p:par>
                  <p:par>
                    <p:cTn id="27" fill="hold" nodeType="clickPar">
                      <p:stCondLst>
                        <p:cond delay="indefinite"/>
                      </p:stCondLst>
                      <p:childTnLst>
                        <p:par>
                          <p:cTn id="28" fill="hold" nodeType="withGroup">
                            <p:stCondLst>
                              <p:cond delay="0"/>
                            </p:stCondLst>
                            <p:childTnLst>
                              <p:par>
                                <p:cTn id="29" presetID="3" presetClass="entr" presetSubtype="1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blinds(horizontal)">
                                      <p:cBhvr>
                                        <p:cTn id="31" dur="500"/>
                                        <p:tgtEl>
                                          <p:spTgt spid="29"/>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blinds(horizontal)">
                                      <p:cBhvr>
                                        <p:cTn id="36" dur="500"/>
                                        <p:tgtEl>
                                          <p:spTgt spid="3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blinds(horizontal)">
                                      <p:cBhvr>
                                        <p:cTn id="4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488" grpId="0" autoUpdateAnimBg="0"/>
      <p:bldP spid="185488" grpId="1"/>
      <p:bldP spid="185490" grpId="0" autoUpdateAnimBg="0"/>
      <p:bldP spid="185491" grpId="0" autoUpdateAnimBg="0"/>
      <p:bldP spid="185493" grpId="0" autoUpdateAnimBg="0"/>
      <p:bldP spid="29" grpId="0"/>
      <p:bldP spid="30" grpId="0" animBg="1"/>
      <p:bldP spid="3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descr="Large confetti">
            <a:extLst>
              <a:ext uri="{FF2B5EF4-FFF2-40B4-BE49-F238E27FC236}">
                <a16:creationId xmlns:a16="http://schemas.microsoft.com/office/drawing/2014/main" id="{77615B7A-0918-40C8-A359-66194AF2D961}"/>
              </a:ext>
            </a:extLst>
          </p:cNvPr>
          <p:cNvSpPr>
            <a:spLocks noGrp="1" noChangeArrowheads="1"/>
          </p:cNvSpPr>
          <p:nvPr>
            <p:ph type="title"/>
          </p:nvPr>
        </p:nvSpPr>
        <p:spPr/>
        <p:txBody>
          <a:bodyPr/>
          <a:lstStyle/>
          <a:p>
            <a:pPr eaLnBrk="1" hangingPunct="1"/>
            <a:r>
              <a:rPr lang="zh-CN" altLang="en-US"/>
              <a:t>伏格尔法</a:t>
            </a:r>
          </a:p>
        </p:txBody>
      </p:sp>
      <p:graphicFrame>
        <p:nvGraphicFramePr>
          <p:cNvPr id="185507" name="Group 163">
            <a:extLst>
              <a:ext uri="{FF2B5EF4-FFF2-40B4-BE49-F238E27FC236}">
                <a16:creationId xmlns:a16="http://schemas.microsoft.com/office/drawing/2014/main" id="{E9BBAA32-0A86-417F-8545-95D1829FE856}"/>
              </a:ext>
            </a:extLst>
          </p:cNvPr>
          <p:cNvGraphicFramePr>
            <a:graphicFrameLocks noGrp="1"/>
          </p:cNvGraphicFramePr>
          <p:nvPr/>
        </p:nvGraphicFramePr>
        <p:xfrm>
          <a:off x="971550" y="1628775"/>
          <a:ext cx="6838950" cy="3638551"/>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行差额</a:t>
                      </a: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FF0000"/>
                          </a:solidFill>
                          <a:effectLst/>
                          <a:latin typeface="楷体_GB2312" pitchFamily="49" charset="-122"/>
                          <a:ea typeface="华文细黑" panose="02010600040101010101" pitchFamily="2" charset="-122"/>
                        </a:rPr>
                        <a:t>列差额</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60477" name="Line 140">
            <a:extLst>
              <a:ext uri="{FF2B5EF4-FFF2-40B4-BE49-F238E27FC236}">
                <a16:creationId xmlns:a16="http://schemas.microsoft.com/office/drawing/2014/main" id="{2DA023DE-B98F-4380-9DDC-250943997098}"/>
              </a:ext>
            </a:extLst>
          </p:cNvPr>
          <p:cNvSpPr>
            <a:spLocks noChangeShapeType="1"/>
          </p:cNvSpPr>
          <p:nvPr/>
        </p:nvSpPr>
        <p:spPr bwMode="auto">
          <a:xfrm flipH="1" flipV="1">
            <a:off x="1447800" y="1644650"/>
            <a:ext cx="838200" cy="1038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78" name="Line 141">
            <a:extLst>
              <a:ext uri="{FF2B5EF4-FFF2-40B4-BE49-F238E27FC236}">
                <a16:creationId xmlns:a16="http://schemas.microsoft.com/office/drawing/2014/main" id="{5A2B0672-4084-4A98-8B4D-80B4FA70E9EA}"/>
              </a:ext>
            </a:extLst>
          </p:cNvPr>
          <p:cNvSpPr>
            <a:spLocks noChangeShapeType="1"/>
          </p:cNvSpPr>
          <p:nvPr/>
        </p:nvSpPr>
        <p:spPr bwMode="auto">
          <a:xfrm flipH="1" flipV="1">
            <a:off x="971550" y="2076450"/>
            <a:ext cx="1314450" cy="606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88" name="Text Box 144">
            <a:extLst>
              <a:ext uri="{FF2B5EF4-FFF2-40B4-BE49-F238E27FC236}">
                <a16:creationId xmlns:a16="http://schemas.microsoft.com/office/drawing/2014/main" id="{8111911D-70B8-45E9-B69A-0D7585D87495}"/>
              </a:ext>
            </a:extLst>
          </p:cNvPr>
          <p:cNvSpPr txBox="1">
            <a:spLocks noChangeArrowheads="1"/>
          </p:cNvSpPr>
          <p:nvPr/>
        </p:nvSpPr>
        <p:spPr bwMode="auto">
          <a:xfrm>
            <a:off x="6959600" y="2762250"/>
            <a:ext cx="584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10</a:t>
            </a:r>
            <a:endParaRPr lang="en-US" altLang="zh-CN" sz="3200">
              <a:solidFill>
                <a:srgbClr val="000000"/>
              </a:solidFill>
              <a:latin typeface="楷体_GB2312" pitchFamily="49" charset="-122"/>
              <a:ea typeface="楷体_GB2312" pitchFamily="49" charset="-122"/>
            </a:endParaRPr>
          </a:p>
        </p:txBody>
      </p:sp>
      <p:sp>
        <p:nvSpPr>
          <p:cNvPr id="185490" name="Text Box 146">
            <a:extLst>
              <a:ext uri="{FF2B5EF4-FFF2-40B4-BE49-F238E27FC236}">
                <a16:creationId xmlns:a16="http://schemas.microsoft.com/office/drawing/2014/main" id="{EEF63682-EA79-4526-890F-AFAC4E4444B9}"/>
              </a:ext>
            </a:extLst>
          </p:cNvPr>
          <p:cNvSpPr txBox="1">
            <a:spLocks noChangeArrowheads="1"/>
          </p:cNvSpPr>
          <p:nvPr/>
        </p:nvSpPr>
        <p:spPr bwMode="auto">
          <a:xfrm>
            <a:off x="50546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2</a:t>
            </a:r>
            <a:endParaRPr lang="en-US" altLang="zh-CN" sz="3200">
              <a:solidFill>
                <a:srgbClr val="000000"/>
              </a:solidFill>
              <a:latin typeface="楷体_GB2312" pitchFamily="49" charset="-122"/>
              <a:ea typeface="楷体_GB2312" pitchFamily="49" charset="-122"/>
            </a:endParaRPr>
          </a:p>
        </p:txBody>
      </p:sp>
      <p:sp>
        <p:nvSpPr>
          <p:cNvPr id="185493" name="Text Box 149">
            <a:extLst>
              <a:ext uri="{FF2B5EF4-FFF2-40B4-BE49-F238E27FC236}">
                <a16:creationId xmlns:a16="http://schemas.microsoft.com/office/drawing/2014/main" id="{93ECC183-001D-497D-8EB7-FAF990839E5C}"/>
              </a:ext>
            </a:extLst>
          </p:cNvPr>
          <p:cNvSpPr txBox="1">
            <a:spLocks noChangeArrowheads="1"/>
          </p:cNvSpPr>
          <p:nvPr/>
        </p:nvSpPr>
        <p:spPr bwMode="auto">
          <a:xfrm>
            <a:off x="7092950" y="3284538"/>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8</a:t>
            </a:r>
            <a:endParaRPr lang="en-US" altLang="zh-CN" sz="3200">
              <a:solidFill>
                <a:srgbClr val="000000"/>
              </a:solidFill>
              <a:latin typeface="楷体_GB2312" pitchFamily="49" charset="-122"/>
              <a:ea typeface="楷体_GB2312" pitchFamily="49" charset="-122"/>
            </a:endParaRPr>
          </a:p>
        </p:txBody>
      </p:sp>
      <p:sp>
        <p:nvSpPr>
          <p:cNvPr id="60482" name="Oval 150">
            <a:extLst>
              <a:ext uri="{FF2B5EF4-FFF2-40B4-BE49-F238E27FC236}">
                <a16:creationId xmlns:a16="http://schemas.microsoft.com/office/drawing/2014/main" id="{430BF27D-0975-4E82-B5C4-8A3F9A295740}"/>
              </a:ext>
            </a:extLst>
          </p:cNvPr>
          <p:cNvSpPr>
            <a:spLocks noChangeArrowheads="1"/>
          </p:cNvSpPr>
          <p:nvPr/>
        </p:nvSpPr>
        <p:spPr bwMode="auto">
          <a:xfrm>
            <a:off x="7019925" y="3263900"/>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60483" name="Text Box 151">
            <a:extLst>
              <a:ext uri="{FF2B5EF4-FFF2-40B4-BE49-F238E27FC236}">
                <a16:creationId xmlns:a16="http://schemas.microsoft.com/office/drawing/2014/main" id="{170FEA83-6A72-4E45-963C-5A0B8A5BE966}"/>
              </a:ext>
            </a:extLst>
          </p:cNvPr>
          <p:cNvSpPr txBox="1">
            <a:spLocks noChangeArrowheads="1"/>
          </p:cNvSpPr>
          <p:nvPr/>
        </p:nvSpPr>
        <p:spPr bwMode="auto">
          <a:xfrm>
            <a:off x="3581400" y="381000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60484" name="Oval 152">
            <a:extLst>
              <a:ext uri="{FF2B5EF4-FFF2-40B4-BE49-F238E27FC236}">
                <a16:creationId xmlns:a16="http://schemas.microsoft.com/office/drawing/2014/main" id="{A2043AE0-062E-4455-857C-B58B7AF89F1B}"/>
              </a:ext>
            </a:extLst>
          </p:cNvPr>
          <p:cNvSpPr>
            <a:spLocks noChangeArrowheads="1"/>
          </p:cNvSpPr>
          <p:nvPr/>
        </p:nvSpPr>
        <p:spPr bwMode="auto">
          <a:xfrm>
            <a:off x="35052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0485" name="Text Box 153">
            <a:extLst>
              <a:ext uri="{FF2B5EF4-FFF2-40B4-BE49-F238E27FC236}">
                <a16:creationId xmlns:a16="http://schemas.microsoft.com/office/drawing/2014/main" id="{3EC7DFAA-8997-4A43-8824-F44BDBAADC85}"/>
              </a:ext>
            </a:extLst>
          </p:cNvPr>
          <p:cNvSpPr txBox="1">
            <a:spLocks noChangeArrowheads="1"/>
          </p:cNvSpPr>
          <p:nvPr/>
        </p:nvSpPr>
        <p:spPr bwMode="auto">
          <a:xfrm>
            <a:off x="3505200" y="32766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0486" name="Text Box 154">
            <a:extLst>
              <a:ext uri="{FF2B5EF4-FFF2-40B4-BE49-F238E27FC236}">
                <a16:creationId xmlns:a16="http://schemas.microsoft.com/office/drawing/2014/main" id="{51D6EFC0-AD89-4CFF-BD09-D5A8D2CD4517}"/>
              </a:ext>
            </a:extLst>
          </p:cNvPr>
          <p:cNvSpPr txBox="1">
            <a:spLocks noChangeArrowheads="1"/>
          </p:cNvSpPr>
          <p:nvPr/>
        </p:nvSpPr>
        <p:spPr bwMode="auto">
          <a:xfrm>
            <a:off x="35464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0487" name="Line 155">
            <a:extLst>
              <a:ext uri="{FF2B5EF4-FFF2-40B4-BE49-F238E27FC236}">
                <a16:creationId xmlns:a16="http://schemas.microsoft.com/office/drawing/2014/main" id="{134D36A6-A250-4E80-9851-B94232CC09C1}"/>
              </a:ext>
            </a:extLst>
          </p:cNvPr>
          <p:cNvSpPr>
            <a:spLocks noChangeShapeType="1"/>
          </p:cNvSpPr>
          <p:nvPr/>
        </p:nvSpPr>
        <p:spPr bwMode="auto">
          <a:xfrm>
            <a:off x="3429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88" name="Text Box 156">
            <a:extLst>
              <a:ext uri="{FF2B5EF4-FFF2-40B4-BE49-F238E27FC236}">
                <a16:creationId xmlns:a16="http://schemas.microsoft.com/office/drawing/2014/main" id="{F8DA0D37-ACFF-4B36-9602-3C05DADE02E1}"/>
              </a:ext>
            </a:extLst>
          </p:cNvPr>
          <p:cNvSpPr txBox="1">
            <a:spLocks noChangeArrowheads="1"/>
          </p:cNvSpPr>
          <p:nvPr/>
        </p:nvSpPr>
        <p:spPr bwMode="auto">
          <a:xfrm>
            <a:off x="4460875"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0489" name="Oval 157">
            <a:extLst>
              <a:ext uri="{FF2B5EF4-FFF2-40B4-BE49-F238E27FC236}">
                <a16:creationId xmlns:a16="http://schemas.microsoft.com/office/drawing/2014/main" id="{65B933E6-E96D-4EDD-8FA3-25E328BC72A5}"/>
              </a:ext>
            </a:extLst>
          </p:cNvPr>
          <p:cNvSpPr>
            <a:spLocks noChangeArrowheads="1"/>
          </p:cNvSpPr>
          <p:nvPr/>
        </p:nvSpPr>
        <p:spPr bwMode="auto">
          <a:xfrm>
            <a:off x="5181600" y="38100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0490" name="Text Box 158">
            <a:extLst>
              <a:ext uri="{FF2B5EF4-FFF2-40B4-BE49-F238E27FC236}">
                <a16:creationId xmlns:a16="http://schemas.microsoft.com/office/drawing/2014/main" id="{605CCADE-1606-408F-A6D7-DED522613369}"/>
              </a:ext>
            </a:extLst>
          </p:cNvPr>
          <p:cNvSpPr txBox="1">
            <a:spLocks noChangeArrowheads="1"/>
          </p:cNvSpPr>
          <p:nvPr/>
        </p:nvSpPr>
        <p:spPr bwMode="auto">
          <a:xfrm>
            <a:off x="5257800" y="38100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60491" name="Text Box 159">
            <a:extLst>
              <a:ext uri="{FF2B5EF4-FFF2-40B4-BE49-F238E27FC236}">
                <a16:creationId xmlns:a16="http://schemas.microsoft.com/office/drawing/2014/main" id="{BFE3BB71-F924-4A49-AD32-2CE13365C6B1}"/>
              </a:ext>
            </a:extLst>
          </p:cNvPr>
          <p:cNvSpPr txBox="1">
            <a:spLocks noChangeArrowheads="1"/>
          </p:cNvSpPr>
          <p:nvPr/>
        </p:nvSpPr>
        <p:spPr bwMode="auto">
          <a:xfrm>
            <a:off x="2647950" y="38100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0492" name="Line 155">
            <a:extLst>
              <a:ext uri="{FF2B5EF4-FFF2-40B4-BE49-F238E27FC236}">
                <a16:creationId xmlns:a16="http://schemas.microsoft.com/office/drawing/2014/main" id="{61580A70-279C-4B38-AC3D-A76D9CC60BF1}"/>
              </a:ext>
            </a:extLst>
          </p:cNvPr>
          <p:cNvSpPr>
            <a:spLocks noChangeShapeType="1"/>
          </p:cNvSpPr>
          <p:nvPr/>
        </p:nvSpPr>
        <p:spPr bwMode="auto">
          <a:xfrm>
            <a:off x="7086600" y="39624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93" name="Text Box 158">
            <a:extLst>
              <a:ext uri="{FF2B5EF4-FFF2-40B4-BE49-F238E27FC236}">
                <a16:creationId xmlns:a16="http://schemas.microsoft.com/office/drawing/2014/main" id="{B731DA3D-AD3E-43B9-B768-3A25A15F3FB1}"/>
              </a:ext>
            </a:extLst>
          </p:cNvPr>
          <p:cNvSpPr txBox="1">
            <a:spLocks noChangeArrowheads="1"/>
          </p:cNvSpPr>
          <p:nvPr/>
        </p:nvSpPr>
        <p:spPr bwMode="auto">
          <a:xfrm>
            <a:off x="2743200" y="32766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60494" name="Oval 157">
            <a:extLst>
              <a:ext uri="{FF2B5EF4-FFF2-40B4-BE49-F238E27FC236}">
                <a16:creationId xmlns:a16="http://schemas.microsoft.com/office/drawing/2014/main" id="{D766A704-3528-490A-B996-110687453E7D}"/>
              </a:ext>
            </a:extLst>
          </p:cNvPr>
          <p:cNvSpPr>
            <a:spLocks noChangeArrowheads="1"/>
          </p:cNvSpPr>
          <p:nvPr/>
        </p:nvSpPr>
        <p:spPr bwMode="auto">
          <a:xfrm>
            <a:off x="2667000" y="32766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0495" name="Text Box 159">
            <a:extLst>
              <a:ext uri="{FF2B5EF4-FFF2-40B4-BE49-F238E27FC236}">
                <a16:creationId xmlns:a16="http://schemas.microsoft.com/office/drawing/2014/main" id="{D59CE905-89DD-4331-9478-F98C0DFD9B60}"/>
              </a:ext>
            </a:extLst>
          </p:cNvPr>
          <p:cNvSpPr txBox="1">
            <a:spLocks noChangeArrowheads="1"/>
          </p:cNvSpPr>
          <p:nvPr/>
        </p:nvSpPr>
        <p:spPr bwMode="auto">
          <a:xfrm>
            <a:off x="2708275" y="28194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0496" name="Line 155">
            <a:extLst>
              <a:ext uri="{FF2B5EF4-FFF2-40B4-BE49-F238E27FC236}">
                <a16:creationId xmlns:a16="http://schemas.microsoft.com/office/drawing/2014/main" id="{01A9750A-80D9-40DF-9534-0FAB7EE0CE8A}"/>
              </a:ext>
            </a:extLst>
          </p:cNvPr>
          <p:cNvSpPr>
            <a:spLocks noChangeShapeType="1"/>
          </p:cNvSpPr>
          <p:nvPr/>
        </p:nvSpPr>
        <p:spPr bwMode="auto">
          <a:xfrm>
            <a:off x="25908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97" name="Text Box 158">
            <a:extLst>
              <a:ext uri="{FF2B5EF4-FFF2-40B4-BE49-F238E27FC236}">
                <a16:creationId xmlns:a16="http://schemas.microsoft.com/office/drawing/2014/main" id="{29F3E807-90C7-4967-9E35-DA14C11623F0}"/>
              </a:ext>
            </a:extLst>
          </p:cNvPr>
          <p:cNvSpPr txBox="1">
            <a:spLocks noChangeArrowheads="1"/>
          </p:cNvSpPr>
          <p:nvPr/>
        </p:nvSpPr>
        <p:spPr bwMode="auto">
          <a:xfrm>
            <a:off x="4495800" y="280352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60498" name="Oval 157">
            <a:extLst>
              <a:ext uri="{FF2B5EF4-FFF2-40B4-BE49-F238E27FC236}">
                <a16:creationId xmlns:a16="http://schemas.microsoft.com/office/drawing/2014/main" id="{425824D8-E5E0-476B-A1DB-88142F8317AF}"/>
              </a:ext>
            </a:extLst>
          </p:cNvPr>
          <p:cNvSpPr>
            <a:spLocks noChangeArrowheads="1"/>
          </p:cNvSpPr>
          <p:nvPr/>
        </p:nvSpPr>
        <p:spPr bwMode="auto">
          <a:xfrm>
            <a:off x="4419600" y="28194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0499" name="Text Box 156">
            <a:extLst>
              <a:ext uri="{FF2B5EF4-FFF2-40B4-BE49-F238E27FC236}">
                <a16:creationId xmlns:a16="http://schemas.microsoft.com/office/drawing/2014/main" id="{72AE5AF6-D1F7-4B8D-B6A2-8100783EC216}"/>
              </a:ext>
            </a:extLst>
          </p:cNvPr>
          <p:cNvSpPr txBox="1">
            <a:spLocks noChangeArrowheads="1"/>
          </p:cNvSpPr>
          <p:nvPr/>
        </p:nvSpPr>
        <p:spPr bwMode="auto">
          <a:xfrm>
            <a:off x="4495800" y="335280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0500" name="Line 155">
            <a:extLst>
              <a:ext uri="{FF2B5EF4-FFF2-40B4-BE49-F238E27FC236}">
                <a16:creationId xmlns:a16="http://schemas.microsoft.com/office/drawing/2014/main" id="{E9F8952C-0087-4F88-ACA3-15D97B2F5EB2}"/>
              </a:ext>
            </a:extLst>
          </p:cNvPr>
          <p:cNvSpPr>
            <a:spLocks noChangeShapeType="1"/>
          </p:cNvSpPr>
          <p:nvPr/>
        </p:nvSpPr>
        <p:spPr bwMode="auto">
          <a:xfrm>
            <a:off x="4191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 name="Text Box 158">
            <a:extLst>
              <a:ext uri="{FF2B5EF4-FFF2-40B4-BE49-F238E27FC236}">
                <a16:creationId xmlns:a16="http://schemas.microsoft.com/office/drawing/2014/main" id="{D01A4A3E-F4D2-4A8A-AAEC-4F97E862AC14}"/>
              </a:ext>
            </a:extLst>
          </p:cNvPr>
          <p:cNvSpPr txBox="1">
            <a:spLocks noChangeArrowheads="1"/>
          </p:cNvSpPr>
          <p:nvPr/>
        </p:nvSpPr>
        <p:spPr bwMode="auto">
          <a:xfrm>
            <a:off x="5257800" y="280352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2</a:t>
            </a:r>
            <a:endParaRPr lang="en-US" altLang="zh-CN" sz="3200">
              <a:solidFill>
                <a:srgbClr val="000000"/>
              </a:solidFill>
              <a:latin typeface="楷体_GB2312" pitchFamily="49" charset="-122"/>
              <a:ea typeface="楷体_GB2312" pitchFamily="49" charset="-122"/>
            </a:endParaRPr>
          </a:p>
        </p:txBody>
      </p:sp>
      <p:sp>
        <p:nvSpPr>
          <p:cNvPr id="35" name="Oval 157">
            <a:extLst>
              <a:ext uri="{FF2B5EF4-FFF2-40B4-BE49-F238E27FC236}">
                <a16:creationId xmlns:a16="http://schemas.microsoft.com/office/drawing/2014/main" id="{1A054325-28FA-4EE9-A19E-C98BF9FB859F}"/>
              </a:ext>
            </a:extLst>
          </p:cNvPr>
          <p:cNvSpPr>
            <a:spLocks noChangeArrowheads="1"/>
          </p:cNvSpPr>
          <p:nvPr/>
        </p:nvSpPr>
        <p:spPr bwMode="auto">
          <a:xfrm>
            <a:off x="5181600" y="28194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36" name="Text Box 158">
            <a:extLst>
              <a:ext uri="{FF2B5EF4-FFF2-40B4-BE49-F238E27FC236}">
                <a16:creationId xmlns:a16="http://schemas.microsoft.com/office/drawing/2014/main" id="{ACF36360-A048-403C-B57E-1DEEEE776A81}"/>
              </a:ext>
            </a:extLst>
          </p:cNvPr>
          <p:cNvSpPr txBox="1">
            <a:spLocks noChangeArrowheads="1"/>
          </p:cNvSpPr>
          <p:nvPr/>
        </p:nvSpPr>
        <p:spPr bwMode="auto">
          <a:xfrm>
            <a:off x="5257800" y="3336925"/>
            <a:ext cx="381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37" name="Oval 157">
            <a:extLst>
              <a:ext uri="{FF2B5EF4-FFF2-40B4-BE49-F238E27FC236}">
                <a16:creationId xmlns:a16="http://schemas.microsoft.com/office/drawing/2014/main" id="{293D0DDA-24D1-4D65-A57E-AEBABB02314B}"/>
              </a:ext>
            </a:extLst>
          </p:cNvPr>
          <p:cNvSpPr>
            <a:spLocks noChangeArrowheads="1"/>
          </p:cNvSpPr>
          <p:nvPr/>
        </p:nvSpPr>
        <p:spPr bwMode="auto">
          <a:xfrm>
            <a:off x="5181600" y="335280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5488"/>
                                        </p:tgtEl>
                                        <p:attrNameLst>
                                          <p:attrName>style.visibility</p:attrName>
                                        </p:attrNameLst>
                                      </p:cBhvr>
                                      <p:to>
                                        <p:strVal val="visible"/>
                                      </p:to>
                                    </p:set>
                                    <p:animEffect transition="in" filter="blinds(horizontal)">
                                      <p:cBhvr>
                                        <p:cTn id="7" dur="500"/>
                                        <p:tgtEl>
                                          <p:spTgt spid="185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85493"/>
                                        </p:tgtEl>
                                        <p:attrNameLst>
                                          <p:attrName>style.visibility</p:attrName>
                                        </p:attrNameLst>
                                      </p:cBhvr>
                                      <p:to>
                                        <p:strVal val="visible"/>
                                      </p:to>
                                    </p:set>
                                    <p:animEffect transition="in" filter="blinds(horizontal)">
                                      <p:cBhvr>
                                        <p:cTn id="12" dur="500"/>
                                        <p:tgtEl>
                                          <p:spTgt spid="1854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85490"/>
                                        </p:tgtEl>
                                        <p:attrNameLst>
                                          <p:attrName>style.visibility</p:attrName>
                                        </p:attrNameLst>
                                      </p:cBhvr>
                                      <p:to>
                                        <p:strVal val="visible"/>
                                      </p:to>
                                    </p:set>
                                    <p:animEffect transition="in" filter="blinds(horizontal)">
                                      <p:cBhvr>
                                        <p:cTn id="17" dur="500"/>
                                        <p:tgtEl>
                                          <p:spTgt spid="18549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blinds(horizontal)">
                                      <p:cBhvr>
                                        <p:cTn id="22" dur="500"/>
                                        <p:tgtEl>
                                          <p:spTgt spid="3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blinds(horizontal)">
                                      <p:cBhvr>
                                        <p:cTn id="27" dur="500"/>
                                        <p:tgtEl>
                                          <p:spTgt spid="3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blinds(horizontal)">
                                      <p:cBhvr>
                                        <p:cTn id="32" dur="500"/>
                                        <p:tgtEl>
                                          <p:spTgt spid="3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animEffect transition="in" filter="blinds(horizontal)">
                                      <p:cBhvr>
                                        <p:cTn id="3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488" grpId="0" autoUpdateAnimBg="0"/>
      <p:bldP spid="185490" grpId="0" autoUpdateAnimBg="0"/>
      <p:bldP spid="185493" grpId="0" autoUpdateAnimBg="0"/>
      <p:bldP spid="33" grpId="0"/>
      <p:bldP spid="35" grpId="0" animBg="1"/>
      <p:bldP spid="36" grpId="0"/>
      <p:bldP spid="3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descr="Large confetti">
            <a:extLst>
              <a:ext uri="{FF2B5EF4-FFF2-40B4-BE49-F238E27FC236}">
                <a16:creationId xmlns:a16="http://schemas.microsoft.com/office/drawing/2014/main" id="{25C25E0D-A755-422F-B505-C712DEACD8DE}"/>
              </a:ext>
            </a:extLst>
          </p:cNvPr>
          <p:cNvSpPr>
            <a:spLocks noGrp="1" noChangeArrowheads="1"/>
          </p:cNvSpPr>
          <p:nvPr>
            <p:ph type="title"/>
          </p:nvPr>
        </p:nvSpPr>
        <p:spPr>
          <a:xfrm>
            <a:off x="457200" y="223838"/>
            <a:ext cx="5943600" cy="714375"/>
          </a:xfrm>
        </p:spPr>
        <p:txBody>
          <a:bodyPr/>
          <a:lstStyle/>
          <a:p>
            <a:pPr eaLnBrk="1" hangingPunct="1"/>
            <a:r>
              <a:rPr lang="zh-CN" altLang="en-US"/>
              <a:t>伏格尔法</a:t>
            </a:r>
            <a:r>
              <a:rPr lang="en-US" altLang="zh-CN"/>
              <a:t>VS </a:t>
            </a:r>
            <a:r>
              <a:rPr lang="zh-CN" altLang="en-US"/>
              <a:t>最小元素法</a:t>
            </a:r>
          </a:p>
        </p:txBody>
      </p:sp>
      <p:graphicFrame>
        <p:nvGraphicFramePr>
          <p:cNvPr id="185507" name="Group 163">
            <a:extLst>
              <a:ext uri="{FF2B5EF4-FFF2-40B4-BE49-F238E27FC236}">
                <a16:creationId xmlns:a16="http://schemas.microsoft.com/office/drawing/2014/main" id="{4E003253-EC11-4F7D-AD81-D722C857EB0A}"/>
              </a:ext>
            </a:extLst>
          </p:cNvPr>
          <p:cNvGraphicFramePr>
            <a:graphicFrameLocks noGrp="1"/>
          </p:cNvGraphicFramePr>
          <p:nvPr/>
        </p:nvGraphicFramePr>
        <p:xfrm>
          <a:off x="971550" y="1628775"/>
          <a:ext cx="6838950" cy="3638551"/>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1</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2</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3</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4</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行差额</a:t>
                      </a: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1</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2</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rPr>
                        <a:t>3</a:t>
                      </a:r>
                      <a:endParaRPr kumimoji="1" lang="zh-CN" altLang="zh-CN" sz="2000" b="1" i="0" u="none" strike="noStrike" cap="none" normalizeH="0" baseline="-2500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dirty="0">
                          <a:ln>
                            <a:noFill/>
                          </a:ln>
                          <a:solidFill>
                            <a:srgbClr val="000000"/>
                          </a:solidFill>
                          <a:effectLst/>
                          <a:latin typeface="楷体_GB2312" pitchFamily="49" charset="-122"/>
                          <a:ea typeface="华文细黑" panose="02010600040101010101" pitchFamily="2" charset="-122"/>
                        </a:rPr>
                        <a:t>列差额</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61501" name="Line 140">
            <a:extLst>
              <a:ext uri="{FF2B5EF4-FFF2-40B4-BE49-F238E27FC236}">
                <a16:creationId xmlns:a16="http://schemas.microsoft.com/office/drawing/2014/main" id="{DF4D834A-463F-43F0-94BF-8FDC75495FCE}"/>
              </a:ext>
            </a:extLst>
          </p:cNvPr>
          <p:cNvSpPr>
            <a:spLocks noChangeShapeType="1"/>
          </p:cNvSpPr>
          <p:nvPr/>
        </p:nvSpPr>
        <p:spPr bwMode="auto">
          <a:xfrm flipH="1" flipV="1">
            <a:off x="1546225" y="1644650"/>
            <a:ext cx="720725" cy="8636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2" name="Line 141">
            <a:extLst>
              <a:ext uri="{FF2B5EF4-FFF2-40B4-BE49-F238E27FC236}">
                <a16:creationId xmlns:a16="http://schemas.microsoft.com/office/drawing/2014/main" id="{72FDA172-6DEF-4212-AE3E-ADCBED56312C}"/>
              </a:ext>
            </a:extLst>
          </p:cNvPr>
          <p:cNvSpPr>
            <a:spLocks noChangeShapeType="1"/>
          </p:cNvSpPr>
          <p:nvPr/>
        </p:nvSpPr>
        <p:spPr bwMode="auto">
          <a:xfrm flipH="1" flipV="1">
            <a:off x="971550" y="2076450"/>
            <a:ext cx="1295400" cy="431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3" name="Text Box 144">
            <a:extLst>
              <a:ext uri="{FF2B5EF4-FFF2-40B4-BE49-F238E27FC236}">
                <a16:creationId xmlns:a16="http://schemas.microsoft.com/office/drawing/2014/main" id="{C115F35F-A935-4A58-8F6B-3AF92D3C7A12}"/>
              </a:ext>
            </a:extLst>
          </p:cNvPr>
          <p:cNvSpPr txBox="1">
            <a:spLocks noChangeArrowheads="1"/>
          </p:cNvSpPr>
          <p:nvPr/>
        </p:nvSpPr>
        <p:spPr bwMode="auto">
          <a:xfrm>
            <a:off x="6959600" y="2762250"/>
            <a:ext cx="584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10</a:t>
            </a:r>
            <a:endParaRPr lang="en-US" altLang="zh-CN" sz="3200">
              <a:solidFill>
                <a:srgbClr val="000000"/>
              </a:solidFill>
              <a:latin typeface="楷体_GB2312" pitchFamily="49" charset="-122"/>
              <a:ea typeface="楷体_GB2312" pitchFamily="49" charset="-122"/>
            </a:endParaRPr>
          </a:p>
        </p:txBody>
      </p:sp>
      <p:sp>
        <p:nvSpPr>
          <p:cNvPr id="61504" name="Text Box 146">
            <a:extLst>
              <a:ext uri="{FF2B5EF4-FFF2-40B4-BE49-F238E27FC236}">
                <a16:creationId xmlns:a16="http://schemas.microsoft.com/office/drawing/2014/main" id="{7A9A656D-AA73-457D-84A4-07E7D4110185}"/>
              </a:ext>
            </a:extLst>
          </p:cNvPr>
          <p:cNvSpPr txBox="1">
            <a:spLocks noChangeArrowheads="1"/>
          </p:cNvSpPr>
          <p:nvPr/>
        </p:nvSpPr>
        <p:spPr bwMode="auto">
          <a:xfrm>
            <a:off x="5054600" y="48323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2</a:t>
            </a:r>
            <a:endParaRPr lang="en-US" altLang="zh-CN" sz="3200">
              <a:solidFill>
                <a:srgbClr val="000000"/>
              </a:solidFill>
              <a:latin typeface="楷体_GB2312" pitchFamily="49" charset="-122"/>
              <a:ea typeface="楷体_GB2312" pitchFamily="49" charset="-122"/>
            </a:endParaRPr>
          </a:p>
        </p:txBody>
      </p:sp>
      <p:sp>
        <p:nvSpPr>
          <p:cNvPr id="61505" name="Text Box 149">
            <a:extLst>
              <a:ext uri="{FF2B5EF4-FFF2-40B4-BE49-F238E27FC236}">
                <a16:creationId xmlns:a16="http://schemas.microsoft.com/office/drawing/2014/main" id="{ECF26F9F-8E6C-49EE-A9CE-1DFDF0B185AF}"/>
              </a:ext>
            </a:extLst>
          </p:cNvPr>
          <p:cNvSpPr txBox="1">
            <a:spLocks noChangeArrowheads="1"/>
          </p:cNvSpPr>
          <p:nvPr/>
        </p:nvSpPr>
        <p:spPr bwMode="auto">
          <a:xfrm>
            <a:off x="7092950" y="3284538"/>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8</a:t>
            </a:r>
            <a:endParaRPr lang="en-US" altLang="zh-CN" sz="3200">
              <a:solidFill>
                <a:srgbClr val="000000"/>
              </a:solidFill>
              <a:latin typeface="楷体_GB2312" pitchFamily="49" charset="-122"/>
              <a:ea typeface="楷体_GB2312" pitchFamily="49" charset="-122"/>
            </a:endParaRPr>
          </a:p>
        </p:txBody>
      </p:sp>
      <p:sp>
        <p:nvSpPr>
          <p:cNvPr id="61506" name="Oval 150">
            <a:extLst>
              <a:ext uri="{FF2B5EF4-FFF2-40B4-BE49-F238E27FC236}">
                <a16:creationId xmlns:a16="http://schemas.microsoft.com/office/drawing/2014/main" id="{61E84B9A-4792-4627-9B23-6169BA58C54E}"/>
              </a:ext>
            </a:extLst>
          </p:cNvPr>
          <p:cNvSpPr>
            <a:spLocks noChangeArrowheads="1"/>
          </p:cNvSpPr>
          <p:nvPr/>
        </p:nvSpPr>
        <p:spPr bwMode="auto">
          <a:xfrm>
            <a:off x="7019925" y="3263900"/>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61507" name="Text Box 151">
            <a:extLst>
              <a:ext uri="{FF2B5EF4-FFF2-40B4-BE49-F238E27FC236}">
                <a16:creationId xmlns:a16="http://schemas.microsoft.com/office/drawing/2014/main" id="{6EB89B15-B448-443A-8259-F8A8EAF296DA}"/>
              </a:ext>
            </a:extLst>
          </p:cNvPr>
          <p:cNvSpPr txBox="1">
            <a:spLocks noChangeArrowheads="1"/>
          </p:cNvSpPr>
          <p:nvPr/>
        </p:nvSpPr>
        <p:spPr bwMode="auto">
          <a:xfrm>
            <a:off x="3355975" y="3886200"/>
            <a:ext cx="7620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1600">
                <a:solidFill>
                  <a:srgbClr val="A50021"/>
                </a:solidFill>
              </a:rPr>
              <a:t>6</a:t>
            </a:r>
            <a:r>
              <a:rPr lang="zh-CN" altLang="en-US" sz="1600">
                <a:solidFill>
                  <a:srgbClr val="A50021"/>
                </a:solidFill>
              </a:rPr>
              <a:t>，</a:t>
            </a:r>
            <a:r>
              <a:rPr lang="en-US" altLang="zh-CN" sz="1600">
                <a:solidFill>
                  <a:srgbClr val="00CC00"/>
                </a:solidFill>
              </a:rPr>
              <a:t>6</a:t>
            </a:r>
          </a:p>
        </p:txBody>
      </p:sp>
      <p:sp>
        <p:nvSpPr>
          <p:cNvPr id="61508" name="Line 155">
            <a:extLst>
              <a:ext uri="{FF2B5EF4-FFF2-40B4-BE49-F238E27FC236}">
                <a16:creationId xmlns:a16="http://schemas.microsoft.com/office/drawing/2014/main" id="{305534FE-774D-4FD9-BD7C-EFBB4E5E9D98}"/>
              </a:ext>
            </a:extLst>
          </p:cNvPr>
          <p:cNvSpPr>
            <a:spLocks noChangeShapeType="1"/>
          </p:cNvSpPr>
          <p:nvPr/>
        </p:nvSpPr>
        <p:spPr bwMode="auto">
          <a:xfrm>
            <a:off x="3429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9" name="Text Box 158">
            <a:extLst>
              <a:ext uri="{FF2B5EF4-FFF2-40B4-BE49-F238E27FC236}">
                <a16:creationId xmlns:a16="http://schemas.microsoft.com/office/drawing/2014/main" id="{7EDE74A5-E7AB-4A75-A133-EC229328ABAA}"/>
              </a:ext>
            </a:extLst>
          </p:cNvPr>
          <p:cNvSpPr txBox="1">
            <a:spLocks noChangeArrowheads="1"/>
          </p:cNvSpPr>
          <p:nvPr/>
        </p:nvSpPr>
        <p:spPr bwMode="auto">
          <a:xfrm>
            <a:off x="5183188" y="3806825"/>
            <a:ext cx="53498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1600">
                <a:solidFill>
                  <a:srgbClr val="A50021"/>
                </a:solidFill>
              </a:rPr>
              <a:t>3,</a:t>
            </a:r>
            <a:r>
              <a:rPr lang="en-US" altLang="zh-CN" sz="1600">
                <a:solidFill>
                  <a:srgbClr val="00CC00"/>
                </a:solidFill>
              </a:rPr>
              <a:t>3</a:t>
            </a:r>
            <a:endParaRPr lang="en-US" altLang="zh-CN" sz="2400">
              <a:solidFill>
                <a:srgbClr val="00CC00"/>
              </a:solidFill>
              <a:latin typeface="楷体_GB2312" pitchFamily="49" charset="-122"/>
              <a:ea typeface="楷体_GB2312" pitchFamily="49" charset="-122"/>
            </a:endParaRPr>
          </a:p>
        </p:txBody>
      </p:sp>
      <p:sp>
        <p:nvSpPr>
          <p:cNvPr id="61510" name="Line 155">
            <a:extLst>
              <a:ext uri="{FF2B5EF4-FFF2-40B4-BE49-F238E27FC236}">
                <a16:creationId xmlns:a16="http://schemas.microsoft.com/office/drawing/2014/main" id="{54CA786B-D56A-4DDA-B7B3-37E857C751DB}"/>
              </a:ext>
            </a:extLst>
          </p:cNvPr>
          <p:cNvSpPr>
            <a:spLocks noChangeShapeType="1"/>
          </p:cNvSpPr>
          <p:nvPr/>
        </p:nvSpPr>
        <p:spPr bwMode="auto">
          <a:xfrm>
            <a:off x="7086600" y="39624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1" name="Text Box 158">
            <a:extLst>
              <a:ext uri="{FF2B5EF4-FFF2-40B4-BE49-F238E27FC236}">
                <a16:creationId xmlns:a16="http://schemas.microsoft.com/office/drawing/2014/main" id="{1297FD80-E006-4E62-8FFF-C0E149616E84}"/>
              </a:ext>
            </a:extLst>
          </p:cNvPr>
          <p:cNvSpPr txBox="1">
            <a:spLocks noChangeArrowheads="1"/>
          </p:cNvSpPr>
          <p:nvPr/>
        </p:nvSpPr>
        <p:spPr bwMode="auto">
          <a:xfrm>
            <a:off x="2525713" y="3317875"/>
            <a:ext cx="6746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1600">
                <a:solidFill>
                  <a:srgbClr val="A50021"/>
                </a:solidFill>
              </a:rPr>
              <a:t>3, </a:t>
            </a:r>
            <a:r>
              <a:rPr lang="en-US" altLang="zh-CN" sz="1600">
                <a:solidFill>
                  <a:srgbClr val="00CC00"/>
                </a:solidFill>
              </a:rPr>
              <a:t>3</a:t>
            </a:r>
            <a:endParaRPr lang="en-US" altLang="zh-CN" sz="2400">
              <a:solidFill>
                <a:srgbClr val="00CC00"/>
              </a:solidFill>
              <a:latin typeface="楷体_GB2312" pitchFamily="49" charset="-122"/>
              <a:ea typeface="楷体_GB2312" pitchFamily="49" charset="-122"/>
            </a:endParaRPr>
          </a:p>
        </p:txBody>
      </p:sp>
      <p:sp>
        <p:nvSpPr>
          <p:cNvPr id="61512" name="Line 155">
            <a:extLst>
              <a:ext uri="{FF2B5EF4-FFF2-40B4-BE49-F238E27FC236}">
                <a16:creationId xmlns:a16="http://schemas.microsoft.com/office/drawing/2014/main" id="{149058E6-E8FF-4543-BCE1-5B8C778CC996}"/>
              </a:ext>
            </a:extLst>
          </p:cNvPr>
          <p:cNvSpPr>
            <a:spLocks noChangeShapeType="1"/>
          </p:cNvSpPr>
          <p:nvPr/>
        </p:nvSpPr>
        <p:spPr bwMode="auto">
          <a:xfrm>
            <a:off x="25908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3" name="Text Box 158">
            <a:extLst>
              <a:ext uri="{FF2B5EF4-FFF2-40B4-BE49-F238E27FC236}">
                <a16:creationId xmlns:a16="http://schemas.microsoft.com/office/drawing/2014/main" id="{A4F8E01F-34C4-425A-A5B7-0B9F571C802A}"/>
              </a:ext>
            </a:extLst>
          </p:cNvPr>
          <p:cNvSpPr txBox="1">
            <a:spLocks noChangeArrowheads="1"/>
          </p:cNvSpPr>
          <p:nvPr/>
        </p:nvSpPr>
        <p:spPr bwMode="auto">
          <a:xfrm>
            <a:off x="4267200" y="2803525"/>
            <a:ext cx="7620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1600">
                <a:solidFill>
                  <a:srgbClr val="A50021"/>
                </a:solidFill>
              </a:rPr>
              <a:t>5 , </a:t>
            </a:r>
            <a:r>
              <a:rPr lang="en-US" altLang="zh-CN" sz="1600">
                <a:solidFill>
                  <a:srgbClr val="00CC00"/>
                </a:solidFill>
              </a:rPr>
              <a:t>4</a:t>
            </a:r>
            <a:endParaRPr lang="en-US" altLang="zh-CN" sz="2400">
              <a:solidFill>
                <a:srgbClr val="00CC00"/>
              </a:solidFill>
              <a:latin typeface="楷体_GB2312" pitchFamily="49" charset="-122"/>
              <a:ea typeface="楷体_GB2312" pitchFamily="49" charset="-122"/>
            </a:endParaRPr>
          </a:p>
        </p:txBody>
      </p:sp>
      <p:sp>
        <p:nvSpPr>
          <p:cNvPr id="61514" name="Text Box 156">
            <a:extLst>
              <a:ext uri="{FF2B5EF4-FFF2-40B4-BE49-F238E27FC236}">
                <a16:creationId xmlns:a16="http://schemas.microsoft.com/office/drawing/2014/main" id="{2FFD88AC-8B2B-41AD-9E79-1022BEBC69BD}"/>
              </a:ext>
            </a:extLst>
          </p:cNvPr>
          <p:cNvSpPr txBox="1">
            <a:spLocks noChangeArrowheads="1"/>
          </p:cNvSpPr>
          <p:nvPr/>
        </p:nvSpPr>
        <p:spPr bwMode="auto">
          <a:xfrm>
            <a:off x="4268788" y="3368675"/>
            <a:ext cx="2984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a:solidFill>
                  <a:srgbClr val="00CC00"/>
                </a:solidFill>
              </a:rPr>
              <a:t>1</a:t>
            </a:r>
          </a:p>
        </p:txBody>
      </p:sp>
      <p:sp>
        <p:nvSpPr>
          <p:cNvPr id="61515" name="Line 155">
            <a:extLst>
              <a:ext uri="{FF2B5EF4-FFF2-40B4-BE49-F238E27FC236}">
                <a16:creationId xmlns:a16="http://schemas.microsoft.com/office/drawing/2014/main" id="{6044B67F-EDA5-42EF-9494-E4A5D7D3B8FF}"/>
              </a:ext>
            </a:extLst>
          </p:cNvPr>
          <p:cNvSpPr>
            <a:spLocks noChangeShapeType="1"/>
          </p:cNvSpPr>
          <p:nvPr/>
        </p:nvSpPr>
        <p:spPr bwMode="auto">
          <a:xfrm>
            <a:off x="4191000" y="5029200"/>
            <a:ext cx="3810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6" name="Text Box 158">
            <a:extLst>
              <a:ext uri="{FF2B5EF4-FFF2-40B4-BE49-F238E27FC236}">
                <a16:creationId xmlns:a16="http://schemas.microsoft.com/office/drawing/2014/main" id="{777D9512-8964-403E-869F-D4762CA841BF}"/>
              </a:ext>
            </a:extLst>
          </p:cNvPr>
          <p:cNvSpPr txBox="1">
            <a:spLocks noChangeArrowheads="1"/>
          </p:cNvSpPr>
          <p:nvPr/>
        </p:nvSpPr>
        <p:spPr bwMode="auto">
          <a:xfrm>
            <a:off x="5183188" y="2782888"/>
            <a:ext cx="5365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1600">
                <a:solidFill>
                  <a:srgbClr val="A50021"/>
                </a:solidFill>
              </a:rPr>
              <a:t>2,</a:t>
            </a:r>
            <a:r>
              <a:rPr lang="en-US" altLang="zh-CN" sz="1600">
                <a:solidFill>
                  <a:srgbClr val="00CC00"/>
                </a:solidFill>
              </a:rPr>
              <a:t>3</a:t>
            </a:r>
            <a:endParaRPr lang="en-US" altLang="zh-CN" sz="2400">
              <a:solidFill>
                <a:srgbClr val="00CC00"/>
              </a:solidFill>
              <a:latin typeface="楷体_GB2312" pitchFamily="49" charset="-122"/>
              <a:ea typeface="楷体_GB2312" pitchFamily="49" charset="-122"/>
            </a:endParaRPr>
          </a:p>
        </p:txBody>
      </p:sp>
      <p:sp>
        <p:nvSpPr>
          <p:cNvPr id="61517" name="Text Box 158">
            <a:extLst>
              <a:ext uri="{FF2B5EF4-FFF2-40B4-BE49-F238E27FC236}">
                <a16:creationId xmlns:a16="http://schemas.microsoft.com/office/drawing/2014/main" id="{F7A08453-DDA6-4459-9499-AC031EA68993}"/>
              </a:ext>
            </a:extLst>
          </p:cNvPr>
          <p:cNvSpPr txBox="1">
            <a:spLocks noChangeArrowheads="1"/>
          </p:cNvSpPr>
          <p:nvPr/>
        </p:nvSpPr>
        <p:spPr bwMode="auto">
          <a:xfrm>
            <a:off x="5146675" y="3336925"/>
            <a:ext cx="4921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1600">
                <a:solidFill>
                  <a:srgbClr val="A50021"/>
                </a:solidFill>
              </a:rPr>
              <a:t>1</a:t>
            </a:r>
            <a:endParaRPr lang="en-US" altLang="zh-CN" sz="2400">
              <a:solidFill>
                <a:srgbClr val="000000"/>
              </a:solidFill>
              <a:latin typeface="楷体_GB2312" pitchFamily="49" charset="-122"/>
              <a:ea typeface="楷体_GB2312" pitchFamily="49" charset="-122"/>
            </a:endParaRPr>
          </a:p>
        </p:txBody>
      </p:sp>
      <p:grpSp>
        <p:nvGrpSpPr>
          <p:cNvPr id="5" name="组合 4">
            <a:extLst>
              <a:ext uri="{FF2B5EF4-FFF2-40B4-BE49-F238E27FC236}">
                <a16:creationId xmlns:a16="http://schemas.microsoft.com/office/drawing/2014/main" id="{E31875B1-A07E-4A84-8475-DF6B81923813}"/>
              </a:ext>
            </a:extLst>
          </p:cNvPr>
          <p:cNvGrpSpPr>
            <a:grpSpLocks/>
          </p:cNvGrpSpPr>
          <p:nvPr/>
        </p:nvGrpSpPr>
        <p:grpSpPr bwMode="auto">
          <a:xfrm>
            <a:off x="990600" y="5657850"/>
            <a:ext cx="7162800" cy="1200150"/>
            <a:chOff x="990600" y="5657485"/>
            <a:chExt cx="7162800" cy="1200329"/>
          </a:xfrm>
        </p:grpSpPr>
        <p:sp>
          <p:nvSpPr>
            <p:cNvPr id="61519" name="矩形 1">
              <a:extLst>
                <a:ext uri="{FF2B5EF4-FFF2-40B4-BE49-F238E27FC236}">
                  <a16:creationId xmlns:a16="http://schemas.microsoft.com/office/drawing/2014/main" id="{C417A49A-8EAC-404B-99FE-BC3A767DFA5F}"/>
                </a:ext>
              </a:extLst>
            </p:cNvPr>
            <p:cNvSpPr>
              <a:spLocks noChangeArrowheads="1"/>
            </p:cNvSpPr>
            <p:nvPr/>
          </p:nvSpPr>
          <p:spPr bwMode="auto">
            <a:xfrm>
              <a:off x="990600" y="5657485"/>
              <a:ext cx="71628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400" b="1">
                  <a:solidFill>
                    <a:srgbClr val="FF0000"/>
                  </a:solidFill>
                </a:rPr>
                <a:t>伏格尔法</a:t>
              </a:r>
              <a:r>
                <a:rPr lang="zh-CN" altLang="en-US" sz="2400" b="1"/>
                <a:t>：</a:t>
              </a:r>
              <a:r>
                <a:rPr lang="en-US" altLang="zh-CN" sz="2400" b="1"/>
                <a:t>3</a:t>
              </a:r>
              <a:r>
                <a:rPr lang="zh-CN" altLang="en-US" sz="2400" b="1"/>
                <a:t>*</a:t>
              </a:r>
              <a:r>
                <a:rPr lang="en-US" altLang="zh-CN" sz="2400" b="1"/>
                <a:t>5+10</a:t>
              </a:r>
              <a:r>
                <a:rPr lang="zh-CN" altLang="en-US" sz="2400" b="1"/>
                <a:t>*</a:t>
              </a:r>
              <a:r>
                <a:rPr lang="en-US" altLang="zh-CN" sz="2400" b="1"/>
                <a:t>2+1</a:t>
              </a:r>
              <a:r>
                <a:rPr lang="zh-CN" altLang="en-US" sz="2400" b="1"/>
                <a:t>*</a:t>
              </a:r>
              <a:r>
                <a:rPr lang="en-US" altLang="zh-CN" sz="2400" b="1"/>
                <a:t>3+8</a:t>
              </a:r>
              <a:r>
                <a:rPr lang="zh-CN" altLang="en-US" sz="2400" b="1"/>
                <a:t>*</a:t>
              </a:r>
              <a:r>
                <a:rPr lang="en-US" altLang="zh-CN" sz="2400" b="1"/>
                <a:t>1+4</a:t>
              </a:r>
              <a:r>
                <a:rPr lang="zh-CN" altLang="en-US" sz="2400" b="1"/>
                <a:t>*</a:t>
              </a:r>
              <a:r>
                <a:rPr lang="en-US" altLang="zh-CN" sz="2400" b="1"/>
                <a:t>6+5</a:t>
              </a:r>
              <a:r>
                <a:rPr lang="zh-CN" altLang="en-US" sz="2400" b="1"/>
                <a:t>*</a:t>
              </a:r>
              <a:r>
                <a:rPr lang="en-US" altLang="zh-CN" sz="2400" b="1"/>
                <a:t>3=</a:t>
              </a:r>
              <a:r>
                <a:rPr lang="en-US" altLang="zh-CN" sz="2400" b="1">
                  <a:solidFill>
                    <a:srgbClr val="FF0000"/>
                  </a:solidFill>
                </a:rPr>
                <a:t>85</a:t>
              </a:r>
            </a:p>
            <a:p>
              <a:r>
                <a:rPr lang="zh-CN" altLang="en-US" sz="2400" b="1">
                  <a:solidFill>
                    <a:srgbClr val="FF0000"/>
                  </a:solidFill>
                </a:rPr>
                <a:t>最小元素法</a:t>
              </a:r>
              <a:r>
                <a:rPr lang="zh-CN" altLang="en-US" sz="2400" b="1"/>
                <a:t>：</a:t>
              </a:r>
              <a:r>
                <a:rPr lang="en-US" altLang="zh-CN" sz="2400" b="1"/>
                <a:t>3</a:t>
              </a:r>
              <a:r>
                <a:rPr lang="zh-CN" altLang="en-US" sz="2400" b="1"/>
                <a:t>*</a:t>
              </a:r>
              <a:r>
                <a:rPr lang="en-US" altLang="zh-CN" sz="2400" b="1"/>
                <a:t>4+10</a:t>
              </a:r>
              <a:r>
                <a:rPr lang="zh-CN" altLang="en-US" sz="2400" b="1"/>
                <a:t>*</a:t>
              </a:r>
              <a:r>
                <a:rPr lang="en-US" altLang="zh-CN" sz="2400" b="1"/>
                <a:t>3+1</a:t>
              </a:r>
              <a:r>
                <a:rPr lang="zh-CN" altLang="en-US" sz="2400" b="1"/>
                <a:t>*</a:t>
              </a:r>
              <a:r>
                <a:rPr lang="en-US" altLang="zh-CN" sz="2400" b="1"/>
                <a:t>3+2</a:t>
              </a:r>
              <a:r>
                <a:rPr lang="zh-CN" altLang="en-US" sz="2400" b="1"/>
                <a:t>*</a:t>
              </a:r>
              <a:r>
                <a:rPr lang="en-US" altLang="zh-CN" sz="2400" b="1"/>
                <a:t>1+4</a:t>
              </a:r>
              <a:r>
                <a:rPr lang="zh-CN" altLang="en-US" sz="2400" b="1"/>
                <a:t>*</a:t>
              </a:r>
              <a:r>
                <a:rPr lang="en-US" altLang="zh-CN" sz="2400" b="1"/>
                <a:t>6+5</a:t>
              </a:r>
              <a:r>
                <a:rPr lang="zh-CN" altLang="en-US" sz="2400" b="1"/>
                <a:t>*</a:t>
              </a:r>
              <a:r>
                <a:rPr lang="en-US" altLang="zh-CN" sz="2400" b="1"/>
                <a:t>3=</a:t>
              </a:r>
              <a:r>
                <a:rPr lang="en-US" altLang="zh-CN" sz="2400" b="1">
                  <a:solidFill>
                    <a:srgbClr val="FF0000"/>
                  </a:solidFill>
                </a:rPr>
                <a:t>86</a:t>
              </a:r>
            </a:p>
            <a:p>
              <a:endParaRPr lang="zh-CN" altLang="en-US" sz="2400" b="1">
                <a:solidFill>
                  <a:srgbClr val="FF0000"/>
                </a:solidFill>
              </a:endParaRPr>
            </a:p>
          </p:txBody>
        </p:sp>
        <p:sp>
          <p:nvSpPr>
            <p:cNvPr id="30" name="笑脸 29">
              <a:extLst>
                <a:ext uri="{FF2B5EF4-FFF2-40B4-BE49-F238E27FC236}">
                  <a16:creationId xmlns:a16="http://schemas.microsoft.com/office/drawing/2014/main" id="{223F9A18-486A-4025-ADF6-3899E9B0E054}"/>
                </a:ext>
              </a:extLst>
            </p:cNvPr>
            <p:cNvSpPr/>
            <p:nvPr/>
          </p:nvSpPr>
          <p:spPr>
            <a:xfrm>
              <a:off x="7086600" y="5697179"/>
              <a:ext cx="304800" cy="381057"/>
            </a:xfrm>
            <a:prstGeom prst="smileyFace">
              <a:avLst/>
            </a:prstGeom>
            <a:solidFill>
              <a:srgbClr val="00CC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
            <a:extLst>
              <a:ext uri="{FF2B5EF4-FFF2-40B4-BE49-F238E27FC236}">
                <a16:creationId xmlns:a16="http://schemas.microsoft.com/office/drawing/2014/main" id="{D99E4617-E57E-4616-A7D9-905330417321}"/>
              </a:ext>
            </a:extLst>
          </p:cNvPr>
          <p:cNvSpPr txBox="1">
            <a:spLocks noChangeArrowheads="1"/>
          </p:cNvSpPr>
          <p:nvPr/>
        </p:nvSpPr>
        <p:spPr bwMode="auto">
          <a:xfrm>
            <a:off x="76200" y="3429000"/>
            <a:ext cx="1371600" cy="646113"/>
          </a:xfrm>
          <a:prstGeom prst="rect">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9525" algn="ctr">
            <a:noFill/>
            <a:miter lim="800000"/>
            <a:headEnd/>
            <a:tailEnd/>
          </a:ln>
        </p:spPr>
        <p:txBody>
          <a:bodyPr>
            <a:spAutoFit/>
          </a:bodyPr>
          <a:lstStyle/>
          <a:p>
            <a:pPr algn="ctr" eaLnBrk="1" hangingPunct="1">
              <a:defRPr/>
            </a:pPr>
            <a:r>
              <a:rPr lang="zh-CN" altLang="en-US" dirty="0">
                <a:solidFill>
                  <a:srgbClr val="FF00FF"/>
                </a:solidFill>
                <a:latin typeface="Arial" charset="0"/>
              </a:rPr>
              <a:t>最小为</a:t>
            </a:r>
            <a:r>
              <a:rPr lang="en-US" altLang="zh-CN" dirty="0">
                <a:solidFill>
                  <a:srgbClr val="FF00FF"/>
                </a:solidFill>
                <a:latin typeface="Arial" charset="0"/>
              </a:rPr>
              <a:t>3</a:t>
            </a:r>
            <a:r>
              <a:rPr lang="zh-CN" altLang="en-US" dirty="0">
                <a:solidFill>
                  <a:srgbClr val="FF00FF"/>
                </a:solidFill>
                <a:latin typeface="Arial" charset="0"/>
              </a:rPr>
              <a:t>，次小为</a:t>
            </a:r>
            <a:r>
              <a:rPr lang="en-US" altLang="zh-CN" dirty="0">
                <a:solidFill>
                  <a:srgbClr val="FF00FF"/>
                </a:solidFill>
                <a:latin typeface="Arial" charset="0"/>
              </a:rPr>
              <a:t>10.</a:t>
            </a:r>
            <a:endParaRPr lang="zh-CN" altLang="en-US" dirty="0">
              <a:solidFill>
                <a:srgbClr val="FF00FF"/>
              </a:solidFill>
              <a:latin typeface="Arial" charset="0"/>
            </a:endParaRPr>
          </a:p>
        </p:txBody>
      </p:sp>
      <p:sp>
        <p:nvSpPr>
          <p:cNvPr id="62467" name="Rectangle 2" descr="Large confetti">
            <a:extLst>
              <a:ext uri="{FF2B5EF4-FFF2-40B4-BE49-F238E27FC236}">
                <a16:creationId xmlns:a16="http://schemas.microsoft.com/office/drawing/2014/main" id="{D84BF8F0-04B8-4E4B-AF83-9CBC2505B63C}"/>
              </a:ext>
            </a:extLst>
          </p:cNvPr>
          <p:cNvSpPr>
            <a:spLocks noGrp="1" noChangeArrowheads="1"/>
          </p:cNvSpPr>
          <p:nvPr>
            <p:ph type="title"/>
          </p:nvPr>
        </p:nvSpPr>
        <p:spPr/>
        <p:txBody>
          <a:bodyPr/>
          <a:lstStyle/>
          <a:p>
            <a:pPr eaLnBrk="1" hangingPunct="1"/>
            <a:r>
              <a:rPr lang="zh-CN" altLang="en-US"/>
              <a:t>思考题</a:t>
            </a:r>
          </a:p>
        </p:txBody>
      </p:sp>
      <p:graphicFrame>
        <p:nvGraphicFramePr>
          <p:cNvPr id="20" name="Group 158">
            <a:extLst>
              <a:ext uri="{FF2B5EF4-FFF2-40B4-BE49-F238E27FC236}">
                <a16:creationId xmlns:a16="http://schemas.microsoft.com/office/drawing/2014/main" id="{2064E4A7-AD9C-4D0B-82EE-9E74393F6984}"/>
              </a:ext>
            </a:extLst>
          </p:cNvPr>
          <p:cNvGraphicFramePr>
            <a:graphicFrameLocks noGrp="1"/>
          </p:cNvGraphicFramePr>
          <p:nvPr/>
        </p:nvGraphicFramePr>
        <p:xfrm>
          <a:off x="1709738" y="2601913"/>
          <a:ext cx="7129462" cy="3490911"/>
        </p:xfrm>
        <a:graphic>
          <a:graphicData uri="http://schemas.openxmlformats.org/drawingml/2006/table">
            <a:tbl>
              <a:tblPr/>
              <a:tblGrid>
                <a:gridCol w="1344612">
                  <a:extLst>
                    <a:ext uri="{9D8B030D-6E8A-4147-A177-3AD203B41FA5}">
                      <a16:colId xmlns:a16="http://schemas.microsoft.com/office/drawing/2014/main" val="20000"/>
                    </a:ext>
                  </a:extLst>
                </a:gridCol>
                <a:gridCol w="814388">
                  <a:extLst>
                    <a:ext uri="{9D8B030D-6E8A-4147-A177-3AD203B41FA5}">
                      <a16:colId xmlns:a16="http://schemas.microsoft.com/office/drawing/2014/main" val="20001"/>
                    </a:ext>
                  </a:extLst>
                </a:gridCol>
                <a:gridCol w="865187">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3">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370012">
                  <a:extLst>
                    <a:ext uri="{9D8B030D-6E8A-4147-A177-3AD203B41FA5}">
                      <a16:colId xmlns:a16="http://schemas.microsoft.com/office/drawing/2014/main" val="20006"/>
                    </a:ext>
                  </a:extLst>
                </a:gridCol>
              </a:tblGrid>
              <a:tr h="90355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15" marB="45715"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4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行差额</a:t>
                      </a:r>
                      <a:endParaRPr kumimoji="1" lang="zh-CN" altLang="en-US" sz="24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endParaRPr>
                    </a:p>
                  </a:txBody>
                  <a:tcPr marT="45715" marB="45715"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71">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15" marB="45715"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71">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15" marB="45715"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71">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15" marB="45715"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15" marB="45715"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71">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15" marB="45715"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4"/>
                  </a:ext>
                </a:extLst>
              </a:tr>
              <a:tr h="517471">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rgbClr val="000000"/>
                          </a:solidFill>
                          <a:effectLst/>
                          <a:latin typeface="楷体_GB2312" pitchFamily="49" charset="-122"/>
                          <a:ea typeface="华文细黑" panose="02010600040101010101" pitchFamily="2" charset="-122"/>
                        </a:rPr>
                        <a:t>列差额</a:t>
                      </a:r>
                      <a:endParaRPr kumimoji="1" lang="zh-CN" altLang="en-US" sz="1800" b="1" i="0" u="none" strike="noStrike" cap="none" normalizeH="0" baseline="-25000">
                        <a:ln>
                          <a:noFill/>
                        </a:ln>
                        <a:solidFill>
                          <a:srgbClr val="000000"/>
                        </a:solidFill>
                        <a:effectLst/>
                        <a:latin typeface="楷体_GB2312" pitchFamily="49" charset="-122"/>
                        <a:ea typeface="华文细黑" panose="02010600040101010101" pitchFamily="2" charset="-122"/>
                      </a:endParaRPr>
                    </a:p>
                  </a:txBody>
                  <a:tcPr marT="45715" marB="45715"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5" marB="45715"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5"/>
                  </a:ext>
                </a:extLst>
              </a:tr>
            </a:tbl>
          </a:graphicData>
        </a:graphic>
      </p:graphicFrame>
      <p:sp>
        <p:nvSpPr>
          <p:cNvPr id="62526" name="Line 136">
            <a:extLst>
              <a:ext uri="{FF2B5EF4-FFF2-40B4-BE49-F238E27FC236}">
                <a16:creationId xmlns:a16="http://schemas.microsoft.com/office/drawing/2014/main" id="{527A869C-749D-434F-BD37-379865CED6C8}"/>
              </a:ext>
            </a:extLst>
          </p:cNvPr>
          <p:cNvSpPr>
            <a:spLocks noChangeShapeType="1"/>
          </p:cNvSpPr>
          <p:nvPr/>
        </p:nvSpPr>
        <p:spPr bwMode="auto">
          <a:xfrm flipH="1" flipV="1">
            <a:off x="2284413" y="2606675"/>
            <a:ext cx="720725" cy="8636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7" name="Line 137">
            <a:extLst>
              <a:ext uri="{FF2B5EF4-FFF2-40B4-BE49-F238E27FC236}">
                <a16:creationId xmlns:a16="http://schemas.microsoft.com/office/drawing/2014/main" id="{37CD4DBD-19AE-4D9B-95E1-F5CE13E6326F}"/>
              </a:ext>
            </a:extLst>
          </p:cNvPr>
          <p:cNvSpPr>
            <a:spLocks noChangeShapeType="1"/>
          </p:cNvSpPr>
          <p:nvPr/>
        </p:nvSpPr>
        <p:spPr bwMode="auto">
          <a:xfrm flipH="1" flipV="1">
            <a:off x="1709738" y="3038475"/>
            <a:ext cx="1295400" cy="431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 name="Text Box 140">
            <a:extLst>
              <a:ext uri="{FF2B5EF4-FFF2-40B4-BE49-F238E27FC236}">
                <a16:creationId xmlns:a16="http://schemas.microsoft.com/office/drawing/2014/main" id="{5ED36B47-A217-4A3B-B44E-BF7229BEC2CA}"/>
              </a:ext>
            </a:extLst>
          </p:cNvPr>
          <p:cNvSpPr txBox="1">
            <a:spLocks noChangeArrowheads="1"/>
          </p:cNvSpPr>
          <p:nvPr/>
        </p:nvSpPr>
        <p:spPr bwMode="auto">
          <a:xfrm>
            <a:off x="7888288" y="35052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b="1">
                <a:solidFill>
                  <a:srgbClr val="FF0000"/>
                </a:solidFill>
              </a:rPr>
              <a:t>7</a:t>
            </a:r>
            <a:endParaRPr lang="en-US" altLang="zh-CN" sz="3200" b="1">
              <a:solidFill>
                <a:srgbClr val="FF0000"/>
              </a:solidFill>
              <a:latin typeface="楷体_GB2312" pitchFamily="49" charset="-122"/>
              <a:ea typeface="楷体_GB2312" pitchFamily="49" charset="-122"/>
            </a:endParaRPr>
          </a:p>
        </p:txBody>
      </p:sp>
      <p:sp>
        <p:nvSpPr>
          <p:cNvPr id="62529" name="Oval 147">
            <a:extLst>
              <a:ext uri="{FF2B5EF4-FFF2-40B4-BE49-F238E27FC236}">
                <a16:creationId xmlns:a16="http://schemas.microsoft.com/office/drawing/2014/main" id="{F637FD34-314B-4542-9C02-945884727F78}"/>
              </a:ext>
            </a:extLst>
          </p:cNvPr>
          <p:cNvSpPr>
            <a:spLocks noChangeArrowheads="1"/>
          </p:cNvSpPr>
          <p:nvPr/>
        </p:nvSpPr>
        <p:spPr bwMode="auto">
          <a:xfrm>
            <a:off x="7805738" y="3522663"/>
            <a:ext cx="457200" cy="381000"/>
          </a:xfrm>
          <a:prstGeom prst="ellipse">
            <a:avLst/>
          </a:prstGeom>
          <a:noFill/>
          <a:ln w="28575">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38" name="右箭头 37">
            <a:extLst>
              <a:ext uri="{FF2B5EF4-FFF2-40B4-BE49-F238E27FC236}">
                <a16:creationId xmlns:a16="http://schemas.microsoft.com/office/drawing/2014/main" id="{00193668-C892-4D1B-AE4A-20F8D86FCAE8}"/>
              </a:ext>
            </a:extLst>
          </p:cNvPr>
          <p:cNvSpPr/>
          <p:nvPr/>
        </p:nvSpPr>
        <p:spPr>
          <a:xfrm>
            <a:off x="1447800" y="3657600"/>
            <a:ext cx="228600" cy="2286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531" name="Text Box 3">
            <a:extLst>
              <a:ext uri="{FF2B5EF4-FFF2-40B4-BE49-F238E27FC236}">
                <a16:creationId xmlns:a16="http://schemas.microsoft.com/office/drawing/2014/main" id="{B6A55CEC-5D0B-46F2-B71C-FFA86DB9F8FE}"/>
              </a:ext>
            </a:extLst>
          </p:cNvPr>
          <p:cNvSpPr txBox="1">
            <a:spLocks noChangeArrowheads="1"/>
          </p:cNvSpPr>
          <p:nvPr/>
        </p:nvSpPr>
        <p:spPr bwMode="auto">
          <a:xfrm>
            <a:off x="3597275" y="152400"/>
            <a:ext cx="35655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zh-CN" altLang="en-US" sz="3600" b="1">
                <a:solidFill>
                  <a:srgbClr val="FF0000"/>
                </a:solidFill>
              </a:rPr>
              <a:t>结果是否一样？</a:t>
            </a:r>
          </a:p>
        </p:txBody>
      </p:sp>
      <p:sp>
        <p:nvSpPr>
          <p:cNvPr id="62532" name="矩形 18">
            <a:extLst>
              <a:ext uri="{FF2B5EF4-FFF2-40B4-BE49-F238E27FC236}">
                <a16:creationId xmlns:a16="http://schemas.microsoft.com/office/drawing/2014/main" id="{BBEC8CDD-BCA4-4EA2-BD87-15C1D6380F7E}"/>
              </a:ext>
            </a:extLst>
          </p:cNvPr>
          <p:cNvSpPr>
            <a:spLocks noChangeArrowheads="1"/>
          </p:cNvSpPr>
          <p:nvPr/>
        </p:nvSpPr>
        <p:spPr bwMode="auto">
          <a:xfrm>
            <a:off x="685800" y="982663"/>
            <a:ext cx="8001000" cy="183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t>1</a:t>
            </a:r>
            <a:r>
              <a:rPr lang="zh-CN" altLang="en-US"/>
              <a:t>）从运价表中分别计算出各行和各列的</a:t>
            </a:r>
            <a:r>
              <a:rPr lang="zh-CN" altLang="en-US" b="1">
                <a:solidFill>
                  <a:srgbClr val="FF00FF"/>
                </a:solidFill>
              </a:rPr>
              <a:t>最小运费和次最小运费的差额</a:t>
            </a:r>
            <a:r>
              <a:rPr lang="zh-CN" altLang="en-US"/>
              <a:t>，并填入该表的最右列和最下行。</a:t>
            </a:r>
            <a:endParaRPr lang="en-US" altLang="zh-CN"/>
          </a:p>
          <a:p>
            <a:pPr eaLnBrk="1" hangingPunct="1">
              <a:spcBef>
                <a:spcPct val="15000"/>
              </a:spcBef>
            </a:pPr>
            <a:r>
              <a:rPr lang="en-US" altLang="zh-CN"/>
              <a:t>2</a:t>
            </a:r>
            <a:r>
              <a:rPr lang="zh-CN" altLang="en-US"/>
              <a:t>）再从差值最大的行或列中找出</a:t>
            </a:r>
            <a:r>
              <a:rPr lang="zh-CN" altLang="en-US" b="1">
                <a:solidFill>
                  <a:srgbClr val="FF00FF"/>
                </a:solidFill>
              </a:rPr>
              <a:t>最小运费</a:t>
            </a:r>
            <a:r>
              <a:rPr lang="zh-CN" altLang="en-US"/>
              <a:t>确定供需关系和供需数量。当产地或销地中有一方数量供应完毕或得到满足时，划去运价表中对应的行或列。</a:t>
            </a:r>
          </a:p>
          <a:p>
            <a:pPr eaLnBrk="1" hangingPunct="1">
              <a:spcBef>
                <a:spcPct val="15000"/>
              </a:spcBef>
            </a:pPr>
            <a:r>
              <a:rPr lang="zh-CN" altLang="en-US"/>
              <a:t>重复</a:t>
            </a:r>
            <a:r>
              <a:rPr lang="en-US" altLang="zh-CN"/>
              <a:t>1)</a:t>
            </a:r>
            <a:r>
              <a:rPr lang="zh-CN" altLang="en-US"/>
              <a:t>和</a:t>
            </a:r>
            <a:r>
              <a:rPr lang="en-US" altLang="zh-CN"/>
              <a:t>2)</a:t>
            </a:r>
            <a:r>
              <a:rPr lang="zh-CN" altLang="en-US"/>
              <a:t>，直到找出初始解为止。</a:t>
            </a:r>
          </a:p>
          <a:p>
            <a:pPr eaLnBrk="1" hangingPunct="1"/>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box(in)">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descr="Large confetti">
            <a:extLst>
              <a:ext uri="{FF2B5EF4-FFF2-40B4-BE49-F238E27FC236}">
                <a16:creationId xmlns:a16="http://schemas.microsoft.com/office/drawing/2014/main" id="{1F7D7424-D8E4-4A3A-82F9-92A1FF22B03E}"/>
              </a:ext>
            </a:extLst>
          </p:cNvPr>
          <p:cNvSpPr>
            <a:spLocks noGrp="1" noChangeArrowheads="1"/>
          </p:cNvSpPr>
          <p:nvPr>
            <p:ph type="title"/>
          </p:nvPr>
        </p:nvSpPr>
        <p:spPr/>
        <p:txBody>
          <a:bodyPr/>
          <a:lstStyle/>
          <a:p>
            <a:pPr eaLnBrk="1" hangingPunct="1"/>
            <a:r>
              <a:rPr lang="zh-CN" altLang="en-US"/>
              <a:t>伏格尔法</a:t>
            </a:r>
          </a:p>
        </p:txBody>
      </p:sp>
      <p:graphicFrame>
        <p:nvGraphicFramePr>
          <p:cNvPr id="184478" name="Group 158">
            <a:extLst>
              <a:ext uri="{FF2B5EF4-FFF2-40B4-BE49-F238E27FC236}">
                <a16:creationId xmlns:a16="http://schemas.microsoft.com/office/drawing/2014/main" id="{38AF2631-3C18-455E-8076-1D761BC1012A}"/>
              </a:ext>
            </a:extLst>
          </p:cNvPr>
          <p:cNvGraphicFramePr>
            <a:graphicFrameLocks noGrp="1"/>
          </p:cNvGraphicFramePr>
          <p:nvPr/>
        </p:nvGraphicFramePr>
        <p:xfrm>
          <a:off x="755650" y="1828800"/>
          <a:ext cx="7129463" cy="3502026"/>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370013">
                  <a:extLst>
                    <a:ext uri="{9D8B030D-6E8A-4147-A177-3AD203B41FA5}">
                      <a16:colId xmlns:a16="http://schemas.microsoft.com/office/drawing/2014/main" val="20006"/>
                    </a:ext>
                  </a:extLst>
                </a:gridCol>
              </a:tblGrid>
              <a:tr h="91455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17" marB="4571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4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行差额</a:t>
                      </a:r>
                      <a:endParaRPr kumimoji="1" lang="zh-CN" altLang="en-US" sz="24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endParaRPr>
                    </a:p>
                  </a:txBody>
                  <a:tcPr marT="45717" marB="45717"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4"/>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rgbClr val="000000"/>
                          </a:solidFill>
                          <a:effectLst/>
                          <a:latin typeface="楷体_GB2312" pitchFamily="49" charset="-122"/>
                          <a:ea typeface="华文细黑" panose="02010600040101010101" pitchFamily="2" charset="-122"/>
                        </a:rPr>
                        <a:t>列差额</a:t>
                      </a:r>
                      <a:endParaRPr kumimoji="1" lang="zh-CN" altLang="en-US" sz="1800" b="1" i="0" u="none" strike="noStrike" cap="none" normalizeH="0" baseline="-25000">
                        <a:ln>
                          <a:noFill/>
                        </a:ln>
                        <a:solidFill>
                          <a:srgbClr val="000000"/>
                        </a:solidFill>
                        <a:effectLst/>
                        <a:latin typeface="楷体_GB2312" pitchFamily="49" charset="-122"/>
                        <a:ea typeface="华文细黑" panose="02010600040101010101" pitchFamily="2" charset="-122"/>
                      </a:endParaRP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5"/>
                  </a:ext>
                </a:extLst>
              </a:tr>
            </a:tbl>
          </a:graphicData>
        </a:graphic>
      </p:graphicFrame>
      <p:sp>
        <p:nvSpPr>
          <p:cNvPr id="63549" name="Line 136">
            <a:extLst>
              <a:ext uri="{FF2B5EF4-FFF2-40B4-BE49-F238E27FC236}">
                <a16:creationId xmlns:a16="http://schemas.microsoft.com/office/drawing/2014/main" id="{F4407A55-9B7B-45CB-88D0-059E9AA7B469}"/>
              </a:ext>
            </a:extLst>
          </p:cNvPr>
          <p:cNvSpPr>
            <a:spLocks noChangeShapeType="1"/>
          </p:cNvSpPr>
          <p:nvPr/>
        </p:nvSpPr>
        <p:spPr bwMode="auto">
          <a:xfrm flipH="1" flipV="1">
            <a:off x="1330325" y="1844675"/>
            <a:ext cx="720725" cy="8636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0" name="Line 137">
            <a:extLst>
              <a:ext uri="{FF2B5EF4-FFF2-40B4-BE49-F238E27FC236}">
                <a16:creationId xmlns:a16="http://schemas.microsoft.com/office/drawing/2014/main" id="{25A533B9-7EBD-44E0-8C24-0945C9FBC4A7}"/>
              </a:ext>
            </a:extLst>
          </p:cNvPr>
          <p:cNvSpPr>
            <a:spLocks noChangeShapeType="1"/>
          </p:cNvSpPr>
          <p:nvPr/>
        </p:nvSpPr>
        <p:spPr bwMode="auto">
          <a:xfrm flipH="1" flipV="1">
            <a:off x="755650" y="2276475"/>
            <a:ext cx="1295400" cy="431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61" name="Text Box 141">
            <a:extLst>
              <a:ext uri="{FF2B5EF4-FFF2-40B4-BE49-F238E27FC236}">
                <a16:creationId xmlns:a16="http://schemas.microsoft.com/office/drawing/2014/main" id="{CEFA383E-2513-41DB-8046-CD0DCF932E71}"/>
              </a:ext>
            </a:extLst>
          </p:cNvPr>
          <p:cNvSpPr txBox="1">
            <a:spLocks noChangeArrowheads="1"/>
          </p:cNvSpPr>
          <p:nvPr/>
        </p:nvSpPr>
        <p:spPr bwMode="auto">
          <a:xfrm>
            <a:off x="6927850" y="380682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4462" name="Text Box 142">
            <a:extLst>
              <a:ext uri="{FF2B5EF4-FFF2-40B4-BE49-F238E27FC236}">
                <a16:creationId xmlns:a16="http://schemas.microsoft.com/office/drawing/2014/main" id="{6A3AA3D3-F955-4B84-9E72-ABDA19BDE7CF}"/>
              </a:ext>
            </a:extLst>
          </p:cNvPr>
          <p:cNvSpPr txBox="1">
            <a:spLocks noChangeArrowheads="1"/>
          </p:cNvSpPr>
          <p:nvPr/>
        </p:nvSpPr>
        <p:spPr bwMode="auto">
          <a:xfrm>
            <a:off x="4000500" y="48768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4463" name="Text Box 143">
            <a:extLst>
              <a:ext uri="{FF2B5EF4-FFF2-40B4-BE49-F238E27FC236}">
                <a16:creationId xmlns:a16="http://schemas.microsoft.com/office/drawing/2014/main" id="{780830D1-65A0-467E-9364-011E570C97CE}"/>
              </a:ext>
            </a:extLst>
          </p:cNvPr>
          <p:cNvSpPr txBox="1">
            <a:spLocks noChangeArrowheads="1"/>
          </p:cNvSpPr>
          <p:nvPr/>
        </p:nvSpPr>
        <p:spPr bwMode="auto">
          <a:xfrm>
            <a:off x="4838700" y="48768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4464" name="Text Box 144">
            <a:extLst>
              <a:ext uri="{FF2B5EF4-FFF2-40B4-BE49-F238E27FC236}">
                <a16:creationId xmlns:a16="http://schemas.microsoft.com/office/drawing/2014/main" id="{F7954F18-8FBE-44DF-BA86-0E83956D29EC}"/>
              </a:ext>
            </a:extLst>
          </p:cNvPr>
          <p:cNvSpPr txBox="1">
            <a:spLocks noChangeArrowheads="1"/>
          </p:cNvSpPr>
          <p:nvPr/>
        </p:nvSpPr>
        <p:spPr bwMode="auto">
          <a:xfrm>
            <a:off x="3162300" y="48768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184465" name="Text Box 145">
            <a:extLst>
              <a:ext uri="{FF2B5EF4-FFF2-40B4-BE49-F238E27FC236}">
                <a16:creationId xmlns:a16="http://schemas.microsoft.com/office/drawing/2014/main" id="{5B601555-388A-4BF5-804E-D1B97BECC705}"/>
              </a:ext>
            </a:extLst>
          </p:cNvPr>
          <p:cNvSpPr txBox="1">
            <a:spLocks noChangeArrowheads="1"/>
          </p:cNvSpPr>
          <p:nvPr/>
        </p:nvSpPr>
        <p:spPr bwMode="auto">
          <a:xfrm>
            <a:off x="2324100" y="48768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2</a:t>
            </a:r>
          </a:p>
        </p:txBody>
      </p:sp>
      <p:sp>
        <p:nvSpPr>
          <p:cNvPr id="184466" name="Text Box 146">
            <a:extLst>
              <a:ext uri="{FF2B5EF4-FFF2-40B4-BE49-F238E27FC236}">
                <a16:creationId xmlns:a16="http://schemas.microsoft.com/office/drawing/2014/main" id="{7AC6A37F-6E9A-4CA3-B8C3-F8EF74825AFD}"/>
              </a:ext>
            </a:extLst>
          </p:cNvPr>
          <p:cNvSpPr txBox="1">
            <a:spLocks noChangeArrowheads="1"/>
          </p:cNvSpPr>
          <p:nvPr/>
        </p:nvSpPr>
        <p:spPr bwMode="auto">
          <a:xfrm>
            <a:off x="6927850" y="33020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4468" name="Text Box 148">
            <a:extLst>
              <a:ext uri="{FF2B5EF4-FFF2-40B4-BE49-F238E27FC236}">
                <a16:creationId xmlns:a16="http://schemas.microsoft.com/office/drawing/2014/main" id="{F260AA43-92A1-4433-8B37-088A54FFDC75}"/>
              </a:ext>
            </a:extLst>
          </p:cNvPr>
          <p:cNvSpPr txBox="1">
            <a:spLocks noChangeArrowheads="1"/>
          </p:cNvSpPr>
          <p:nvPr/>
        </p:nvSpPr>
        <p:spPr bwMode="auto">
          <a:xfrm>
            <a:off x="4229100" y="29083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184469" name="Oval 149">
            <a:extLst>
              <a:ext uri="{FF2B5EF4-FFF2-40B4-BE49-F238E27FC236}">
                <a16:creationId xmlns:a16="http://schemas.microsoft.com/office/drawing/2014/main" id="{66EA325C-B75A-467C-A626-1FE9529904B0}"/>
              </a:ext>
            </a:extLst>
          </p:cNvPr>
          <p:cNvSpPr>
            <a:spLocks noChangeArrowheads="1"/>
          </p:cNvSpPr>
          <p:nvPr/>
        </p:nvSpPr>
        <p:spPr bwMode="auto">
          <a:xfrm>
            <a:off x="4152900" y="2887663"/>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184470" name="Text Box 150">
            <a:extLst>
              <a:ext uri="{FF2B5EF4-FFF2-40B4-BE49-F238E27FC236}">
                <a16:creationId xmlns:a16="http://schemas.microsoft.com/office/drawing/2014/main" id="{1A9252F7-D31A-4C2C-BC77-D0881DF52590}"/>
              </a:ext>
            </a:extLst>
          </p:cNvPr>
          <p:cNvSpPr txBox="1">
            <a:spLocks noChangeArrowheads="1"/>
          </p:cNvSpPr>
          <p:nvPr/>
        </p:nvSpPr>
        <p:spPr bwMode="auto">
          <a:xfrm>
            <a:off x="4152900" y="3387725"/>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184471" name="Text Box 151">
            <a:extLst>
              <a:ext uri="{FF2B5EF4-FFF2-40B4-BE49-F238E27FC236}">
                <a16:creationId xmlns:a16="http://schemas.microsoft.com/office/drawing/2014/main" id="{D9C0AFF9-BA8A-486C-8D8D-C2B1DA7D88B6}"/>
              </a:ext>
            </a:extLst>
          </p:cNvPr>
          <p:cNvSpPr txBox="1">
            <a:spLocks noChangeArrowheads="1"/>
          </p:cNvSpPr>
          <p:nvPr/>
        </p:nvSpPr>
        <p:spPr bwMode="auto">
          <a:xfrm>
            <a:off x="4152900" y="3890963"/>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18" name="Text Box 148">
            <a:extLst>
              <a:ext uri="{FF2B5EF4-FFF2-40B4-BE49-F238E27FC236}">
                <a16:creationId xmlns:a16="http://schemas.microsoft.com/office/drawing/2014/main" id="{98BC2098-9718-4CE4-A8E4-439C9AE364BA}"/>
              </a:ext>
            </a:extLst>
          </p:cNvPr>
          <p:cNvSpPr txBox="1">
            <a:spLocks noChangeArrowheads="1"/>
          </p:cNvSpPr>
          <p:nvPr/>
        </p:nvSpPr>
        <p:spPr bwMode="auto">
          <a:xfrm>
            <a:off x="6948488" y="2794000"/>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box(in)">
                                      <p:cBhvr>
                                        <p:cTn id="7" dur="500"/>
                                        <p:tgtEl>
                                          <p:spTgt spid="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42" fill="hold" grpId="0" nodeType="clickEffect">
                                  <p:stCondLst>
                                    <p:cond delay="0"/>
                                  </p:stCondLst>
                                  <p:childTnLst>
                                    <p:set>
                                      <p:cBhvr>
                                        <p:cTn id="11" dur="1" fill="hold">
                                          <p:stCondLst>
                                            <p:cond delay="0"/>
                                          </p:stCondLst>
                                        </p:cTn>
                                        <p:tgtEl>
                                          <p:spTgt spid="184466"/>
                                        </p:tgtEl>
                                        <p:attrNameLst>
                                          <p:attrName>style.visibility</p:attrName>
                                        </p:attrNameLst>
                                      </p:cBhvr>
                                      <p:to>
                                        <p:strVal val="visible"/>
                                      </p:to>
                                    </p:set>
                                    <p:animEffect transition="in" filter="barn(outHorizontal)">
                                      <p:cBhvr>
                                        <p:cTn id="12" dur="500"/>
                                        <p:tgtEl>
                                          <p:spTgt spid="18446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84461"/>
                                        </p:tgtEl>
                                        <p:attrNameLst>
                                          <p:attrName>style.visibility</p:attrName>
                                        </p:attrNameLst>
                                      </p:cBhvr>
                                      <p:to>
                                        <p:strVal val="visible"/>
                                      </p:to>
                                    </p:set>
                                    <p:animEffect transition="in" filter="blinds(horizontal)">
                                      <p:cBhvr>
                                        <p:cTn id="17" dur="500"/>
                                        <p:tgtEl>
                                          <p:spTgt spid="18446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6" presetClass="entr" presetSubtype="42" fill="hold" grpId="0" nodeType="clickEffect">
                                  <p:stCondLst>
                                    <p:cond delay="0"/>
                                  </p:stCondLst>
                                  <p:childTnLst>
                                    <p:set>
                                      <p:cBhvr>
                                        <p:cTn id="21" dur="1" fill="hold">
                                          <p:stCondLst>
                                            <p:cond delay="0"/>
                                          </p:stCondLst>
                                        </p:cTn>
                                        <p:tgtEl>
                                          <p:spTgt spid="184465"/>
                                        </p:tgtEl>
                                        <p:attrNameLst>
                                          <p:attrName>style.visibility</p:attrName>
                                        </p:attrNameLst>
                                      </p:cBhvr>
                                      <p:to>
                                        <p:strVal val="visible"/>
                                      </p:to>
                                    </p:set>
                                    <p:animEffect transition="in" filter="barn(outHorizontal)">
                                      <p:cBhvr>
                                        <p:cTn id="22" dur="500"/>
                                        <p:tgtEl>
                                          <p:spTgt spid="18446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84464"/>
                                        </p:tgtEl>
                                        <p:attrNameLst>
                                          <p:attrName>style.visibility</p:attrName>
                                        </p:attrNameLst>
                                      </p:cBhvr>
                                      <p:to>
                                        <p:strVal val="visible"/>
                                      </p:to>
                                    </p:set>
                                    <p:animEffect transition="in" filter="box(in)">
                                      <p:cBhvr>
                                        <p:cTn id="27" dur="500"/>
                                        <p:tgtEl>
                                          <p:spTgt spid="18446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184462"/>
                                        </p:tgtEl>
                                        <p:attrNameLst>
                                          <p:attrName>style.visibility</p:attrName>
                                        </p:attrNameLst>
                                      </p:cBhvr>
                                      <p:to>
                                        <p:strVal val="visible"/>
                                      </p:to>
                                    </p:set>
                                    <p:animEffect transition="in" filter="box(in)">
                                      <p:cBhvr>
                                        <p:cTn id="32" dur="500"/>
                                        <p:tgtEl>
                                          <p:spTgt spid="18446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grpId="0" nodeType="clickEffect">
                                  <p:stCondLst>
                                    <p:cond delay="0"/>
                                  </p:stCondLst>
                                  <p:childTnLst>
                                    <p:set>
                                      <p:cBhvr>
                                        <p:cTn id="36" dur="1" fill="hold">
                                          <p:stCondLst>
                                            <p:cond delay="0"/>
                                          </p:stCondLst>
                                        </p:cTn>
                                        <p:tgtEl>
                                          <p:spTgt spid="184463"/>
                                        </p:tgtEl>
                                        <p:attrNameLst>
                                          <p:attrName>style.visibility</p:attrName>
                                        </p:attrNameLst>
                                      </p:cBhvr>
                                      <p:to>
                                        <p:strVal val="visible"/>
                                      </p:to>
                                    </p:set>
                                    <p:animEffect transition="in" filter="slide(fromBottom)">
                                      <p:cBhvr>
                                        <p:cTn id="37" dur="500"/>
                                        <p:tgtEl>
                                          <p:spTgt spid="18446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6" presetClass="emph" presetSubtype="0" fill="hold" grpId="1" nodeType="clickEffect">
                                  <p:stCondLst>
                                    <p:cond delay="0"/>
                                  </p:stCondLst>
                                  <p:childTnLst>
                                    <p:animScale>
                                      <p:cBhvr>
                                        <p:cTn id="41" dur="2000" fill="hold"/>
                                        <p:tgtEl>
                                          <p:spTgt spid="18"/>
                                        </p:tgtEl>
                                      </p:cBhvr>
                                      <p:by x="150000" y="150000"/>
                                    </p:animScale>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8" fill="hold" grpId="0" nodeType="clickEffect">
                                  <p:stCondLst>
                                    <p:cond delay="0"/>
                                  </p:stCondLst>
                                  <p:childTnLst>
                                    <p:set>
                                      <p:cBhvr>
                                        <p:cTn id="45" dur="1" fill="hold">
                                          <p:stCondLst>
                                            <p:cond delay="0"/>
                                          </p:stCondLst>
                                        </p:cTn>
                                        <p:tgtEl>
                                          <p:spTgt spid="184468"/>
                                        </p:tgtEl>
                                        <p:attrNameLst>
                                          <p:attrName>style.visibility</p:attrName>
                                        </p:attrNameLst>
                                      </p:cBhvr>
                                      <p:to>
                                        <p:strVal val="visible"/>
                                      </p:to>
                                    </p:set>
                                    <p:anim calcmode="lin" valueType="num">
                                      <p:cBhvr additive="base">
                                        <p:cTn id="46" dur="500" fill="hold"/>
                                        <p:tgtEl>
                                          <p:spTgt spid="184468"/>
                                        </p:tgtEl>
                                        <p:attrNameLst>
                                          <p:attrName>ppt_x</p:attrName>
                                        </p:attrNameLst>
                                      </p:cBhvr>
                                      <p:tavLst>
                                        <p:tav tm="0">
                                          <p:val>
                                            <p:strVal val="0-#ppt_w/2"/>
                                          </p:val>
                                        </p:tav>
                                        <p:tav tm="100000">
                                          <p:val>
                                            <p:strVal val="#ppt_x"/>
                                          </p:val>
                                        </p:tav>
                                      </p:tavLst>
                                    </p:anim>
                                    <p:anim calcmode="lin" valueType="num">
                                      <p:cBhvr additive="base">
                                        <p:cTn id="47" dur="500" fill="hold"/>
                                        <p:tgtEl>
                                          <p:spTgt spid="184468"/>
                                        </p:tgtEl>
                                        <p:attrNameLst>
                                          <p:attrName>ppt_y</p:attrName>
                                        </p:attrNameLst>
                                      </p:cBhvr>
                                      <p:tavLst>
                                        <p:tav tm="0">
                                          <p:val>
                                            <p:strVal val="#ppt_y"/>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184469"/>
                                        </p:tgtEl>
                                        <p:attrNameLst>
                                          <p:attrName>style.visibility</p:attrName>
                                        </p:attrNameLst>
                                      </p:cBhvr>
                                      <p:to>
                                        <p:strVal val="visible"/>
                                      </p:to>
                                    </p:set>
                                    <p:animEffect transition="in" filter="dissolve">
                                      <p:cBhvr>
                                        <p:cTn id="52" dur="500"/>
                                        <p:tgtEl>
                                          <p:spTgt spid="18446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grpId="0" nodeType="clickEffect">
                                  <p:stCondLst>
                                    <p:cond delay="0"/>
                                  </p:stCondLst>
                                  <p:childTnLst>
                                    <p:set>
                                      <p:cBhvr>
                                        <p:cTn id="56" dur="1" fill="hold">
                                          <p:stCondLst>
                                            <p:cond delay="0"/>
                                          </p:stCondLst>
                                        </p:cTn>
                                        <p:tgtEl>
                                          <p:spTgt spid="184470"/>
                                        </p:tgtEl>
                                        <p:attrNameLst>
                                          <p:attrName>style.visibility</p:attrName>
                                        </p:attrNameLst>
                                      </p:cBhvr>
                                      <p:to>
                                        <p:strVal val="visible"/>
                                      </p:to>
                                    </p:set>
                                    <p:animEffect transition="in" filter="blinds(horizontal)">
                                      <p:cBhvr>
                                        <p:cTn id="57" dur="500"/>
                                        <p:tgtEl>
                                          <p:spTgt spid="18447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grpId="0" nodeType="clickEffect">
                                  <p:stCondLst>
                                    <p:cond delay="0"/>
                                  </p:stCondLst>
                                  <p:childTnLst>
                                    <p:set>
                                      <p:cBhvr>
                                        <p:cTn id="61" dur="1" fill="hold">
                                          <p:stCondLst>
                                            <p:cond delay="0"/>
                                          </p:stCondLst>
                                        </p:cTn>
                                        <p:tgtEl>
                                          <p:spTgt spid="184471"/>
                                        </p:tgtEl>
                                        <p:attrNameLst>
                                          <p:attrName>style.visibility</p:attrName>
                                        </p:attrNameLst>
                                      </p:cBhvr>
                                      <p:to>
                                        <p:strVal val="visible"/>
                                      </p:to>
                                    </p:set>
                                    <p:animEffect transition="in" filter="blinds(horizontal)">
                                      <p:cBhvr>
                                        <p:cTn id="62" dur="500"/>
                                        <p:tgtEl>
                                          <p:spTgt spid="1844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461" grpId="0" autoUpdateAnimBg="0"/>
      <p:bldP spid="184462" grpId="0" autoUpdateAnimBg="0"/>
      <p:bldP spid="184463" grpId="0" autoUpdateAnimBg="0"/>
      <p:bldP spid="184464" grpId="0" autoUpdateAnimBg="0"/>
      <p:bldP spid="184465" grpId="0" autoUpdateAnimBg="0"/>
      <p:bldP spid="184466" grpId="0" autoUpdateAnimBg="0"/>
      <p:bldP spid="184468" grpId="0" autoUpdateAnimBg="0"/>
      <p:bldP spid="184469" grpId="0" animBg="1" autoUpdateAnimBg="0"/>
      <p:bldP spid="184470" grpId="0" autoUpdateAnimBg="0"/>
      <p:bldP spid="184471" grpId="0" autoUpdateAnimBg="0"/>
      <p:bldP spid="18" grpId="0" autoUpdateAnimBg="0"/>
      <p:bldP spid="18" grpId="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descr="Large confetti">
            <a:extLst>
              <a:ext uri="{FF2B5EF4-FFF2-40B4-BE49-F238E27FC236}">
                <a16:creationId xmlns:a16="http://schemas.microsoft.com/office/drawing/2014/main" id="{E68CB252-2132-4A04-8E81-78A0AD48E59F}"/>
              </a:ext>
            </a:extLst>
          </p:cNvPr>
          <p:cNvSpPr>
            <a:spLocks noGrp="1" noChangeArrowheads="1"/>
          </p:cNvSpPr>
          <p:nvPr>
            <p:ph type="title"/>
          </p:nvPr>
        </p:nvSpPr>
        <p:spPr/>
        <p:txBody>
          <a:bodyPr/>
          <a:lstStyle/>
          <a:p>
            <a:pPr eaLnBrk="1" hangingPunct="1"/>
            <a:r>
              <a:rPr lang="zh-CN" altLang="en-US"/>
              <a:t>伏格尔法</a:t>
            </a:r>
          </a:p>
        </p:txBody>
      </p:sp>
      <p:graphicFrame>
        <p:nvGraphicFramePr>
          <p:cNvPr id="185507" name="Group 163">
            <a:extLst>
              <a:ext uri="{FF2B5EF4-FFF2-40B4-BE49-F238E27FC236}">
                <a16:creationId xmlns:a16="http://schemas.microsoft.com/office/drawing/2014/main" id="{F2162EB0-EF3E-44D3-AA62-D5C7012C139D}"/>
              </a:ext>
            </a:extLst>
          </p:cNvPr>
          <p:cNvGraphicFramePr>
            <a:graphicFrameLocks noGrp="1"/>
          </p:cNvGraphicFramePr>
          <p:nvPr/>
        </p:nvGraphicFramePr>
        <p:xfrm>
          <a:off x="971550" y="1628775"/>
          <a:ext cx="6838950" cy="3473449"/>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885979">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17" marB="4571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行差额</a:t>
                      </a:r>
                    </a:p>
                  </a:txBody>
                  <a:tcPr marT="45717" marB="45717"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17" marB="45717"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94">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rgbClr val="000000"/>
                          </a:solidFill>
                          <a:effectLst/>
                          <a:latin typeface="楷体_GB2312" pitchFamily="49" charset="-122"/>
                          <a:ea typeface="华文细黑" panose="02010600040101010101" pitchFamily="2" charset="-122"/>
                        </a:rPr>
                        <a:t>列差额</a:t>
                      </a:r>
                    </a:p>
                  </a:txBody>
                  <a:tcPr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64573" name="Line 140">
            <a:extLst>
              <a:ext uri="{FF2B5EF4-FFF2-40B4-BE49-F238E27FC236}">
                <a16:creationId xmlns:a16="http://schemas.microsoft.com/office/drawing/2014/main" id="{229537EF-6049-4575-8B0D-BBD3142E5F03}"/>
              </a:ext>
            </a:extLst>
          </p:cNvPr>
          <p:cNvSpPr>
            <a:spLocks noChangeShapeType="1"/>
          </p:cNvSpPr>
          <p:nvPr/>
        </p:nvSpPr>
        <p:spPr bwMode="auto">
          <a:xfrm flipH="1" flipV="1">
            <a:off x="1546225" y="1644650"/>
            <a:ext cx="720725" cy="8636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74" name="Line 141">
            <a:extLst>
              <a:ext uri="{FF2B5EF4-FFF2-40B4-BE49-F238E27FC236}">
                <a16:creationId xmlns:a16="http://schemas.microsoft.com/office/drawing/2014/main" id="{57E0652F-A038-49AF-9A5A-A64D6C7FC802}"/>
              </a:ext>
            </a:extLst>
          </p:cNvPr>
          <p:cNvSpPr>
            <a:spLocks noChangeShapeType="1"/>
          </p:cNvSpPr>
          <p:nvPr/>
        </p:nvSpPr>
        <p:spPr bwMode="auto">
          <a:xfrm flipH="1" flipV="1">
            <a:off x="971550" y="2076450"/>
            <a:ext cx="1295400" cy="431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88" name="Text Box 144">
            <a:extLst>
              <a:ext uri="{FF2B5EF4-FFF2-40B4-BE49-F238E27FC236}">
                <a16:creationId xmlns:a16="http://schemas.microsoft.com/office/drawing/2014/main" id="{D13114E4-5A46-430D-BF27-F7EEBCBBAF71}"/>
              </a:ext>
            </a:extLst>
          </p:cNvPr>
          <p:cNvSpPr txBox="1">
            <a:spLocks noChangeArrowheads="1"/>
          </p:cNvSpPr>
          <p:nvPr/>
        </p:nvSpPr>
        <p:spPr bwMode="auto">
          <a:xfrm>
            <a:off x="7112000" y="25908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7</a:t>
            </a:r>
            <a:endParaRPr lang="en-US" altLang="zh-CN" sz="3200">
              <a:solidFill>
                <a:srgbClr val="000000"/>
              </a:solidFill>
              <a:latin typeface="楷体_GB2312" pitchFamily="49" charset="-122"/>
              <a:ea typeface="楷体_GB2312" pitchFamily="49" charset="-122"/>
            </a:endParaRPr>
          </a:p>
        </p:txBody>
      </p:sp>
      <p:sp>
        <p:nvSpPr>
          <p:cNvPr id="185489" name="Text Box 145">
            <a:extLst>
              <a:ext uri="{FF2B5EF4-FFF2-40B4-BE49-F238E27FC236}">
                <a16:creationId xmlns:a16="http://schemas.microsoft.com/office/drawing/2014/main" id="{92C2625E-5B24-46F5-9814-53938DA0E6FB}"/>
              </a:ext>
            </a:extLst>
          </p:cNvPr>
          <p:cNvSpPr txBox="1">
            <a:spLocks noChangeArrowheads="1"/>
          </p:cNvSpPr>
          <p:nvPr/>
        </p:nvSpPr>
        <p:spPr bwMode="auto">
          <a:xfrm>
            <a:off x="7112000" y="35814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5490" name="Text Box 146">
            <a:extLst>
              <a:ext uri="{FF2B5EF4-FFF2-40B4-BE49-F238E27FC236}">
                <a16:creationId xmlns:a16="http://schemas.microsoft.com/office/drawing/2014/main" id="{3F655A00-5079-4B04-AA00-8699BFB18CA7}"/>
              </a:ext>
            </a:extLst>
          </p:cNvPr>
          <p:cNvSpPr txBox="1">
            <a:spLocks noChangeArrowheads="1"/>
          </p:cNvSpPr>
          <p:nvPr/>
        </p:nvSpPr>
        <p:spPr bwMode="auto">
          <a:xfrm>
            <a:off x="5054600" y="46482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5491" name="Text Box 147">
            <a:extLst>
              <a:ext uri="{FF2B5EF4-FFF2-40B4-BE49-F238E27FC236}">
                <a16:creationId xmlns:a16="http://schemas.microsoft.com/office/drawing/2014/main" id="{21C4DBCA-3B58-4E1F-89A0-36E15D0338C2}"/>
              </a:ext>
            </a:extLst>
          </p:cNvPr>
          <p:cNvSpPr txBox="1">
            <a:spLocks noChangeArrowheads="1"/>
          </p:cNvSpPr>
          <p:nvPr/>
        </p:nvSpPr>
        <p:spPr bwMode="auto">
          <a:xfrm>
            <a:off x="3378200" y="46482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185492" name="Text Box 148">
            <a:extLst>
              <a:ext uri="{FF2B5EF4-FFF2-40B4-BE49-F238E27FC236}">
                <a16:creationId xmlns:a16="http://schemas.microsoft.com/office/drawing/2014/main" id="{F5A49144-F569-487F-8300-E22B7995A955}"/>
              </a:ext>
            </a:extLst>
          </p:cNvPr>
          <p:cNvSpPr txBox="1">
            <a:spLocks noChangeArrowheads="1"/>
          </p:cNvSpPr>
          <p:nvPr/>
        </p:nvSpPr>
        <p:spPr bwMode="auto">
          <a:xfrm>
            <a:off x="2540000" y="464820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2</a:t>
            </a:r>
          </a:p>
        </p:txBody>
      </p:sp>
      <p:sp>
        <p:nvSpPr>
          <p:cNvPr id="64580" name="Text Box 151">
            <a:extLst>
              <a:ext uri="{FF2B5EF4-FFF2-40B4-BE49-F238E27FC236}">
                <a16:creationId xmlns:a16="http://schemas.microsoft.com/office/drawing/2014/main" id="{18A9026E-9F0F-4773-8CF0-9E0403723EA9}"/>
              </a:ext>
            </a:extLst>
          </p:cNvPr>
          <p:cNvSpPr txBox="1">
            <a:spLocks noChangeArrowheads="1"/>
          </p:cNvSpPr>
          <p:nvPr/>
        </p:nvSpPr>
        <p:spPr bwMode="auto">
          <a:xfrm>
            <a:off x="4445000" y="2697163"/>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64581" name="Oval 152">
            <a:extLst>
              <a:ext uri="{FF2B5EF4-FFF2-40B4-BE49-F238E27FC236}">
                <a16:creationId xmlns:a16="http://schemas.microsoft.com/office/drawing/2014/main" id="{43ACEB03-773B-4B5F-BC65-65BE05CDA4C8}"/>
              </a:ext>
            </a:extLst>
          </p:cNvPr>
          <p:cNvSpPr>
            <a:spLocks noChangeArrowheads="1"/>
          </p:cNvSpPr>
          <p:nvPr/>
        </p:nvSpPr>
        <p:spPr bwMode="auto">
          <a:xfrm>
            <a:off x="4368800" y="2697163"/>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4582" name="Text Box 153">
            <a:extLst>
              <a:ext uri="{FF2B5EF4-FFF2-40B4-BE49-F238E27FC236}">
                <a16:creationId xmlns:a16="http://schemas.microsoft.com/office/drawing/2014/main" id="{A3F356C7-A906-4313-A81D-B6CB5D094B8B}"/>
              </a:ext>
            </a:extLst>
          </p:cNvPr>
          <p:cNvSpPr txBox="1">
            <a:spLocks noChangeArrowheads="1"/>
          </p:cNvSpPr>
          <p:nvPr/>
        </p:nvSpPr>
        <p:spPr bwMode="auto">
          <a:xfrm>
            <a:off x="4368800" y="3230563"/>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4583" name="Text Box 154">
            <a:extLst>
              <a:ext uri="{FF2B5EF4-FFF2-40B4-BE49-F238E27FC236}">
                <a16:creationId xmlns:a16="http://schemas.microsoft.com/office/drawing/2014/main" id="{E7E7C2BC-3F90-4B39-B388-DF0F7ADF71C8}"/>
              </a:ext>
            </a:extLst>
          </p:cNvPr>
          <p:cNvSpPr txBox="1">
            <a:spLocks noChangeArrowheads="1"/>
          </p:cNvSpPr>
          <p:nvPr/>
        </p:nvSpPr>
        <p:spPr bwMode="auto">
          <a:xfrm>
            <a:off x="4368800" y="3763963"/>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4584" name="Line 155">
            <a:extLst>
              <a:ext uri="{FF2B5EF4-FFF2-40B4-BE49-F238E27FC236}">
                <a16:creationId xmlns:a16="http://schemas.microsoft.com/office/drawing/2014/main" id="{B3D2E340-194F-440B-86C4-75625C55C487}"/>
              </a:ext>
            </a:extLst>
          </p:cNvPr>
          <p:cNvSpPr>
            <a:spLocks noChangeShapeType="1"/>
          </p:cNvSpPr>
          <p:nvPr/>
        </p:nvSpPr>
        <p:spPr bwMode="auto">
          <a:xfrm>
            <a:off x="4248150" y="4814888"/>
            <a:ext cx="3810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500" name="Text Box 156">
            <a:extLst>
              <a:ext uri="{FF2B5EF4-FFF2-40B4-BE49-F238E27FC236}">
                <a16:creationId xmlns:a16="http://schemas.microsoft.com/office/drawing/2014/main" id="{27F145F1-B017-4183-95C6-4243FFDF3925}"/>
              </a:ext>
            </a:extLst>
          </p:cNvPr>
          <p:cNvSpPr txBox="1">
            <a:spLocks noChangeArrowheads="1"/>
          </p:cNvSpPr>
          <p:nvPr/>
        </p:nvSpPr>
        <p:spPr bwMode="auto">
          <a:xfrm>
            <a:off x="2647950" y="2619375"/>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185501" name="Oval 157">
            <a:extLst>
              <a:ext uri="{FF2B5EF4-FFF2-40B4-BE49-F238E27FC236}">
                <a16:creationId xmlns:a16="http://schemas.microsoft.com/office/drawing/2014/main" id="{F3C9CA69-D527-4CA0-84CE-0AF9ECD7E3B0}"/>
              </a:ext>
            </a:extLst>
          </p:cNvPr>
          <p:cNvSpPr>
            <a:spLocks noChangeArrowheads="1"/>
          </p:cNvSpPr>
          <p:nvPr/>
        </p:nvSpPr>
        <p:spPr bwMode="auto">
          <a:xfrm>
            <a:off x="2647950" y="3192463"/>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185502" name="Text Box 158">
            <a:extLst>
              <a:ext uri="{FF2B5EF4-FFF2-40B4-BE49-F238E27FC236}">
                <a16:creationId xmlns:a16="http://schemas.microsoft.com/office/drawing/2014/main" id="{B9D70C18-66A2-4E31-9827-D1E1026F3303}"/>
              </a:ext>
            </a:extLst>
          </p:cNvPr>
          <p:cNvSpPr txBox="1">
            <a:spLocks noChangeArrowheads="1"/>
          </p:cNvSpPr>
          <p:nvPr/>
        </p:nvSpPr>
        <p:spPr bwMode="auto">
          <a:xfrm>
            <a:off x="2724150" y="3213100"/>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5503" name="Text Box 159">
            <a:extLst>
              <a:ext uri="{FF2B5EF4-FFF2-40B4-BE49-F238E27FC236}">
                <a16:creationId xmlns:a16="http://schemas.microsoft.com/office/drawing/2014/main" id="{D067D57E-43C1-46B5-A1FC-2487457FD04F}"/>
              </a:ext>
            </a:extLst>
          </p:cNvPr>
          <p:cNvSpPr txBox="1">
            <a:spLocks noChangeArrowheads="1"/>
          </p:cNvSpPr>
          <p:nvPr/>
        </p:nvSpPr>
        <p:spPr bwMode="auto">
          <a:xfrm>
            <a:off x="2647950" y="3609975"/>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22" name="Text Box 148">
            <a:extLst>
              <a:ext uri="{FF2B5EF4-FFF2-40B4-BE49-F238E27FC236}">
                <a16:creationId xmlns:a16="http://schemas.microsoft.com/office/drawing/2014/main" id="{B6D50400-DC07-4336-AE61-6A5AAAD108C9}"/>
              </a:ext>
            </a:extLst>
          </p:cNvPr>
          <p:cNvSpPr txBox="1">
            <a:spLocks noChangeArrowheads="1"/>
          </p:cNvSpPr>
          <p:nvPr/>
        </p:nvSpPr>
        <p:spPr bwMode="auto">
          <a:xfrm>
            <a:off x="7112000" y="3084513"/>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5488"/>
                                        </p:tgtEl>
                                        <p:attrNameLst>
                                          <p:attrName>style.visibility</p:attrName>
                                        </p:attrNameLst>
                                      </p:cBhvr>
                                      <p:to>
                                        <p:strVal val="visible"/>
                                      </p:to>
                                    </p:set>
                                    <p:animEffect transition="in" filter="blinds(horizontal)">
                                      <p:cBhvr>
                                        <p:cTn id="7" dur="500"/>
                                        <p:tgtEl>
                                          <p:spTgt spid="185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box(in)">
                                      <p:cBhvr>
                                        <p:cTn id="12" dur="500"/>
                                        <p:tgtEl>
                                          <p:spTgt spid="2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85489"/>
                                        </p:tgtEl>
                                        <p:attrNameLst>
                                          <p:attrName>style.visibility</p:attrName>
                                        </p:attrNameLst>
                                      </p:cBhvr>
                                      <p:to>
                                        <p:strVal val="visible"/>
                                      </p:to>
                                    </p:set>
                                    <p:animEffect transition="in" filter="box(in)">
                                      <p:cBhvr>
                                        <p:cTn id="17" dur="500"/>
                                        <p:tgtEl>
                                          <p:spTgt spid="18548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85492"/>
                                        </p:tgtEl>
                                        <p:attrNameLst>
                                          <p:attrName>style.visibility</p:attrName>
                                        </p:attrNameLst>
                                      </p:cBhvr>
                                      <p:to>
                                        <p:strVal val="visible"/>
                                      </p:to>
                                    </p:set>
                                    <p:animEffect transition="in" filter="box(in)">
                                      <p:cBhvr>
                                        <p:cTn id="22" dur="500"/>
                                        <p:tgtEl>
                                          <p:spTgt spid="1854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85491"/>
                                        </p:tgtEl>
                                        <p:attrNameLst>
                                          <p:attrName>style.visibility</p:attrName>
                                        </p:attrNameLst>
                                      </p:cBhvr>
                                      <p:to>
                                        <p:strVal val="visible"/>
                                      </p:to>
                                    </p:set>
                                    <p:animEffect transition="in" filter="box(in)">
                                      <p:cBhvr>
                                        <p:cTn id="27" dur="500"/>
                                        <p:tgtEl>
                                          <p:spTgt spid="1854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185490"/>
                                        </p:tgtEl>
                                        <p:attrNameLst>
                                          <p:attrName>style.visibility</p:attrName>
                                        </p:attrNameLst>
                                      </p:cBhvr>
                                      <p:to>
                                        <p:strVal val="visible"/>
                                      </p:to>
                                    </p:set>
                                    <p:animEffect transition="in" filter="blinds(horizontal)">
                                      <p:cBhvr>
                                        <p:cTn id="32" dur="500"/>
                                        <p:tgtEl>
                                          <p:spTgt spid="18549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6" presetClass="emph" presetSubtype="0" fill="hold" grpId="1" nodeType="clickEffect">
                                  <p:stCondLst>
                                    <p:cond delay="0"/>
                                  </p:stCondLst>
                                  <p:childTnLst>
                                    <p:animScale>
                                      <p:cBhvr>
                                        <p:cTn id="36" dur="2000" fill="hold"/>
                                        <p:tgtEl>
                                          <p:spTgt spid="22"/>
                                        </p:tgtEl>
                                      </p:cBhvr>
                                      <p:by x="150000" y="150000"/>
                                    </p:animScale>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185502"/>
                                        </p:tgtEl>
                                        <p:attrNameLst>
                                          <p:attrName>style.visibility</p:attrName>
                                        </p:attrNameLst>
                                      </p:cBhvr>
                                      <p:to>
                                        <p:strVal val="visible"/>
                                      </p:to>
                                    </p:set>
                                    <p:animEffect transition="in" filter="blinds(horizontal)">
                                      <p:cBhvr>
                                        <p:cTn id="41" dur="500"/>
                                        <p:tgtEl>
                                          <p:spTgt spid="18550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6" presetClass="entr" presetSubtype="42" fill="hold" grpId="0" nodeType="clickEffect">
                                  <p:stCondLst>
                                    <p:cond delay="0"/>
                                  </p:stCondLst>
                                  <p:childTnLst>
                                    <p:set>
                                      <p:cBhvr>
                                        <p:cTn id="45" dur="1" fill="hold">
                                          <p:stCondLst>
                                            <p:cond delay="0"/>
                                          </p:stCondLst>
                                        </p:cTn>
                                        <p:tgtEl>
                                          <p:spTgt spid="185501"/>
                                        </p:tgtEl>
                                        <p:attrNameLst>
                                          <p:attrName>style.visibility</p:attrName>
                                        </p:attrNameLst>
                                      </p:cBhvr>
                                      <p:to>
                                        <p:strVal val="visible"/>
                                      </p:to>
                                    </p:set>
                                    <p:animEffect transition="in" filter="barn(outHorizontal)">
                                      <p:cBhvr>
                                        <p:cTn id="46" dur="500"/>
                                        <p:tgtEl>
                                          <p:spTgt spid="185501"/>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 presetClass="entr" presetSubtype="10" fill="hold" grpId="0" nodeType="clickEffect">
                                  <p:stCondLst>
                                    <p:cond delay="0"/>
                                  </p:stCondLst>
                                  <p:childTnLst>
                                    <p:set>
                                      <p:cBhvr>
                                        <p:cTn id="50" dur="1" fill="hold">
                                          <p:stCondLst>
                                            <p:cond delay="0"/>
                                          </p:stCondLst>
                                        </p:cTn>
                                        <p:tgtEl>
                                          <p:spTgt spid="185500"/>
                                        </p:tgtEl>
                                        <p:attrNameLst>
                                          <p:attrName>style.visibility</p:attrName>
                                        </p:attrNameLst>
                                      </p:cBhvr>
                                      <p:to>
                                        <p:strVal val="visible"/>
                                      </p:to>
                                    </p:set>
                                    <p:animEffect transition="in" filter="blinds(horizontal)">
                                      <p:cBhvr>
                                        <p:cTn id="51" dur="500"/>
                                        <p:tgtEl>
                                          <p:spTgt spid="185500"/>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grpId="0" nodeType="clickEffect">
                                  <p:stCondLst>
                                    <p:cond delay="0"/>
                                  </p:stCondLst>
                                  <p:childTnLst>
                                    <p:set>
                                      <p:cBhvr>
                                        <p:cTn id="55" dur="1" fill="hold">
                                          <p:stCondLst>
                                            <p:cond delay="0"/>
                                          </p:stCondLst>
                                        </p:cTn>
                                        <p:tgtEl>
                                          <p:spTgt spid="185503"/>
                                        </p:tgtEl>
                                        <p:attrNameLst>
                                          <p:attrName>style.visibility</p:attrName>
                                        </p:attrNameLst>
                                      </p:cBhvr>
                                      <p:to>
                                        <p:strVal val="visible"/>
                                      </p:to>
                                    </p:set>
                                    <p:animEffect transition="in" filter="blinds(horizontal)">
                                      <p:cBhvr>
                                        <p:cTn id="56" dur="500"/>
                                        <p:tgtEl>
                                          <p:spTgt spid="1855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488" grpId="0" autoUpdateAnimBg="0"/>
      <p:bldP spid="185489" grpId="0" autoUpdateAnimBg="0"/>
      <p:bldP spid="185490" grpId="0" autoUpdateAnimBg="0"/>
      <p:bldP spid="185491" grpId="0" autoUpdateAnimBg="0"/>
      <p:bldP spid="185492" grpId="0" autoUpdateAnimBg="0"/>
      <p:bldP spid="185500" grpId="0" autoUpdateAnimBg="0"/>
      <p:bldP spid="185501" grpId="0" animBg="1" autoUpdateAnimBg="0"/>
      <p:bldP spid="185502" grpId="0" autoUpdateAnimBg="0"/>
      <p:bldP spid="185503" grpId="0" autoUpdateAnimBg="0"/>
      <p:bldP spid="22" grpId="0" autoUpdateAnimBg="0"/>
      <p:bldP spid="22"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descr="Large confetti">
            <a:extLst>
              <a:ext uri="{FF2B5EF4-FFF2-40B4-BE49-F238E27FC236}">
                <a16:creationId xmlns:a16="http://schemas.microsoft.com/office/drawing/2014/main" id="{398ACF1B-8488-4602-8769-5C61497DB78F}"/>
              </a:ext>
            </a:extLst>
          </p:cNvPr>
          <p:cNvSpPr>
            <a:spLocks noGrp="1" noChangeArrowheads="1"/>
          </p:cNvSpPr>
          <p:nvPr>
            <p:ph type="title"/>
          </p:nvPr>
        </p:nvSpPr>
        <p:spPr/>
        <p:txBody>
          <a:bodyPr/>
          <a:lstStyle/>
          <a:p>
            <a:pPr eaLnBrk="1" hangingPunct="1"/>
            <a:r>
              <a:rPr lang="zh-CN" altLang="en-US"/>
              <a:t>伏格尔法</a:t>
            </a:r>
          </a:p>
        </p:txBody>
      </p:sp>
      <p:graphicFrame>
        <p:nvGraphicFramePr>
          <p:cNvPr id="186551" name="Group 183">
            <a:extLst>
              <a:ext uri="{FF2B5EF4-FFF2-40B4-BE49-F238E27FC236}">
                <a16:creationId xmlns:a16="http://schemas.microsoft.com/office/drawing/2014/main" id="{B30FF09D-ED18-4C77-B048-C7FBA14CCCF9}"/>
              </a:ext>
            </a:extLst>
          </p:cNvPr>
          <p:cNvGraphicFramePr>
            <a:graphicFrameLocks noGrp="1"/>
          </p:cNvGraphicFramePr>
          <p:nvPr/>
        </p:nvGraphicFramePr>
        <p:xfrm>
          <a:off x="828675" y="852488"/>
          <a:ext cx="6838950" cy="3638551"/>
        </p:xfrm>
        <a:graphic>
          <a:graphicData uri="http://schemas.openxmlformats.org/drawingml/2006/table">
            <a:tbl>
              <a:tblPr/>
              <a:tblGrid>
                <a:gridCol w="1344613">
                  <a:extLst>
                    <a:ext uri="{9D8B030D-6E8A-4147-A177-3AD203B41FA5}">
                      <a16:colId xmlns:a16="http://schemas.microsoft.com/office/drawing/2014/main" val="20000"/>
                    </a:ext>
                  </a:extLst>
                </a:gridCol>
                <a:gridCol w="814387">
                  <a:extLst>
                    <a:ext uri="{9D8B030D-6E8A-4147-A177-3AD203B41FA5}">
                      <a16:colId xmlns:a16="http://schemas.microsoft.com/office/drawing/2014/main" val="20001"/>
                    </a:ext>
                  </a:extLst>
                </a:gridCol>
                <a:gridCol w="865188">
                  <a:extLst>
                    <a:ext uri="{9D8B030D-6E8A-4147-A177-3AD203B41FA5}">
                      <a16:colId xmlns:a16="http://schemas.microsoft.com/office/drawing/2014/main" val="20002"/>
                    </a:ext>
                  </a:extLst>
                </a:gridCol>
                <a:gridCol w="863600">
                  <a:extLst>
                    <a:ext uri="{9D8B030D-6E8A-4147-A177-3AD203B41FA5}">
                      <a16:colId xmlns:a16="http://schemas.microsoft.com/office/drawing/2014/main" val="20003"/>
                    </a:ext>
                  </a:extLst>
                </a:gridCol>
                <a:gridCol w="792162">
                  <a:extLst>
                    <a:ext uri="{9D8B030D-6E8A-4147-A177-3AD203B41FA5}">
                      <a16:colId xmlns:a16="http://schemas.microsoft.com/office/drawing/2014/main" val="20004"/>
                    </a:ext>
                  </a:extLst>
                </a:gridCol>
                <a:gridCol w="1079500">
                  <a:extLst>
                    <a:ext uri="{9D8B030D-6E8A-4147-A177-3AD203B41FA5}">
                      <a16:colId xmlns:a16="http://schemas.microsoft.com/office/drawing/2014/main" val="20005"/>
                    </a:ext>
                  </a:extLst>
                </a:gridCol>
                <a:gridCol w="1079500">
                  <a:extLst>
                    <a:ext uri="{9D8B030D-6E8A-4147-A177-3AD203B41FA5}">
                      <a16:colId xmlns:a16="http://schemas.microsoft.com/office/drawing/2014/main" val="20006"/>
                    </a:ext>
                  </a:extLst>
                </a:gridCol>
              </a:tblGrid>
              <a:tr h="1051536">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单位       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运价                                                        </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en-US" altLang="zh-CN"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2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产地</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4</a:t>
                      </a:r>
                    </a:p>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行差额</a:t>
                      </a:r>
                    </a:p>
                  </a:txBody>
                  <a:tcPr marT="45709" marB="45709"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extLst>
                  <a:ext uri="{0D108BD9-81ED-4DB2-BD59-A6C34878D82A}">
                    <a16:rowId xmlns:a16="http://schemas.microsoft.com/office/drawing/2014/main" val="10000"/>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2</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8</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0" lang="en-US" altLang="zh-CN" sz="20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000" b="1" i="0" u="none" strike="noStrike" cap="none" normalizeH="0" baseline="-25000" dirty="0">
                          <a:ln>
                            <a:noFill/>
                          </a:ln>
                          <a:solidFill>
                            <a:schemeClr val="tx1"/>
                          </a:solidFill>
                          <a:effectLst/>
                          <a:latin typeface="Times New Roman" panose="02020603050405020304" pitchFamily="18" charset="0"/>
                          <a:ea typeface="楷体_GB2312" pitchFamily="49" charset="-122"/>
                        </a:rPr>
                        <a:t>3</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740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rgbClr val="000000"/>
                          </a:solidFill>
                          <a:effectLst/>
                          <a:latin typeface="楷体_GB2312" pitchFamily="49" charset="-122"/>
                          <a:ea typeface="华文细黑" panose="02010600040101010101" pitchFamily="2" charset="-122"/>
                        </a:rPr>
                        <a:t>列差额</a:t>
                      </a:r>
                    </a:p>
                  </a:txBody>
                  <a:tcPr marT="45709" marB="4570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rgbClr val="A50021"/>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709" marB="4570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65597" name="Line 150">
            <a:extLst>
              <a:ext uri="{FF2B5EF4-FFF2-40B4-BE49-F238E27FC236}">
                <a16:creationId xmlns:a16="http://schemas.microsoft.com/office/drawing/2014/main" id="{A34C3CCC-97ED-4D5D-8981-6532B15CCCCC}"/>
              </a:ext>
            </a:extLst>
          </p:cNvPr>
          <p:cNvSpPr>
            <a:spLocks noChangeShapeType="1"/>
          </p:cNvSpPr>
          <p:nvPr/>
        </p:nvSpPr>
        <p:spPr bwMode="auto">
          <a:xfrm flipH="1" flipV="1">
            <a:off x="1371600" y="852488"/>
            <a:ext cx="752475" cy="1012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8" name="Line 151">
            <a:extLst>
              <a:ext uri="{FF2B5EF4-FFF2-40B4-BE49-F238E27FC236}">
                <a16:creationId xmlns:a16="http://schemas.microsoft.com/office/drawing/2014/main" id="{FC5065A7-DAE4-4612-B529-786F16E51C5A}"/>
              </a:ext>
            </a:extLst>
          </p:cNvPr>
          <p:cNvSpPr>
            <a:spLocks noChangeShapeType="1"/>
          </p:cNvSpPr>
          <p:nvPr/>
        </p:nvSpPr>
        <p:spPr bwMode="auto">
          <a:xfrm flipH="1" flipV="1">
            <a:off x="828675" y="1433513"/>
            <a:ext cx="1295400" cy="431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6522" name="Text Box 154">
            <a:extLst>
              <a:ext uri="{FF2B5EF4-FFF2-40B4-BE49-F238E27FC236}">
                <a16:creationId xmlns:a16="http://schemas.microsoft.com/office/drawing/2014/main" id="{4765FDB5-B0F2-4E1E-8A41-E32E64C9307B}"/>
              </a:ext>
            </a:extLst>
          </p:cNvPr>
          <p:cNvSpPr txBox="1">
            <a:spLocks noChangeArrowheads="1"/>
          </p:cNvSpPr>
          <p:nvPr/>
        </p:nvSpPr>
        <p:spPr bwMode="auto">
          <a:xfrm>
            <a:off x="6969125" y="1966913"/>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6523" name="Text Box 155">
            <a:extLst>
              <a:ext uri="{FF2B5EF4-FFF2-40B4-BE49-F238E27FC236}">
                <a16:creationId xmlns:a16="http://schemas.microsoft.com/office/drawing/2014/main" id="{741B3609-2C74-4A27-AA25-3E876209AEDB}"/>
              </a:ext>
            </a:extLst>
          </p:cNvPr>
          <p:cNvSpPr txBox="1">
            <a:spLocks noChangeArrowheads="1"/>
          </p:cNvSpPr>
          <p:nvPr/>
        </p:nvSpPr>
        <p:spPr bwMode="auto">
          <a:xfrm>
            <a:off x="6969125" y="2957513"/>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6524" name="Text Box 156">
            <a:extLst>
              <a:ext uri="{FF2B5EF4-FFF2-40B4-BE49-F238E27FC236}">
                <a16:creationId xmlns:a16="http://schemas.microsoft.com/office/drawing/2014/main" id="{29779604-4F25-40A1-8628-B37A93CD9525}"/>
              </a:ext>
            </a:extLst>
          </p:cNvPr>
          <p:cNvSpPr txBox="1">
            <a:spLocks noChangeArrowheads="1"/>
          </p:cNvSpPr>
          <p:nvPr/>
        </p:nvSpPr>
        <p:spPr bwMode="auto">
          <a:xfrm>
            <a:off x="4911725" y="405447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6526" name="Text Box 158">
            <a:extLst>
              <a:ext uri="{FF2B5EF4-FFF2-40B4-BE49-F238E27FC236}">
                <a16:creationId xmlns:a16="http://schemas.microsoft.com/office/drawing/2014/main" id="{ADCDE330-3EF9-4A9A-9A09-CDC2B3915DC4}"/>
              </a:ext>
            </a:extLst>
          </p:cNvPr>
          <p:cNvSpPr txBox="1">
            <a:spLocks noChangeArrowheads="1"/>
          </p:cNvSpPr>
          <p:nvPr/>
        </p:nvSpPr>
        <p:spPr bwMode="auto">
          <a:xfrm>
            <a:off x="6969125" y="2424113"/>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65603" name="Text Box 160">
            <a:extLst>
              <a:ext uri="{FF2B5EF4-FFF2-40B4-BE49-F238E27FC236}">
                <a16:creationId xmlns:a16="http://schemas.microsoft.com/office/drawing/2014/main" id="{ABB4A16B-46D2-4B07-8915-0915CAB23641}"/>
              </a:ext>
            </a:extLst>
          </p:cNvPr>
          <p:cNvSpPr txBox="1">
            <a:spLocks noChangeArrowheads="1"/>
          </p:cNvSpPr>
          <p:nvPr/>
        </p:nvSpPr>
        <p:spPr bwMode="auto">
          <a:xfrm>
            <a:off x="4302125" y="1962150"/>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5</a:t>
            </a:r>
            <a:endParaRPr lang="en-US" altLang="zh-CN" sz="3200">
              <a:solidFill>
                <a:srgbClr val="000000"/>
              </a:solidFill>
              <a:latin typeface="楷体_GB2312" pitchFamily="49" charset="-122"/>
              <a:ea typeface="楷体_GB2312" pitchFamily="49" charset="-122"/>
            </a:endParaRPr>
          </a:p>
        </p:txBody>
      </p:sp>
      <p:sp>
        <p:nvSpPr>
          <p:cNvPr id="65604" name="Oval 161">
            <a:extLst>
              <a:ext uri="{FF2B5EF4-FFF2-40B4-BE49-F238E27FC236}">
                <a16:creationId xmlns:a16="http://schemas.microsoft.com/office/drawing/2014/main" id="{6E6FA815-BE02-4F76-A1EB-7D2AE2888E0F}"/>
              </a:ext>
            </a:extLst>
          </p:cNvPr>
          <p:cNvSpPr>
            <a:spLocks noChangeArrowheads="1"/>
          </p:cNvSpPr>
          <p:nvPr/>
        </p:nvSpPr>
        <p:spPr bwMode="auto">
          <a:xfrm>
            <a:off x="4225925" y="1962150"/>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5605" name="Text Box 162">
            <a:extLst>
              <a:ext uri="{FF2B5EF4-FFF2-40B4-BE49-F238E27FC236}">
                <a16:creationId xmlns:a16="http://schemas.microsoft.com/office/drawing/2014/main" id="{27EA2CE7-41A4-44AB-A316-0E71CE5CCB46}"/>
              </a:ext>
            </a:extLst>
          </p:cNvPr>
          <p:cNvSpPr txBox="1">
            <a:spLocks noChangeArrowheads="1"/>
          </p:cNvSpPr>
          <p:nvPr/>
        </p:nvSpPr>
        <p:spPr bwMode="auto">
          <a:xfrm>
            <a:off x="4225925" y="249555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5606" name="Text Box 163">
            <a:extLst>
              <a:ext uri="{FF2B5EF4-FFF2-40B4-BE49-F238E27FC236}">
                <a16:creationId xmlns:a16="http://schemas.microsoft.com/office/drawing/2014/main" id="{A9A56280-E015-4646-8C78-E0ED4EA1A39E}"/>
              </a:ext>
            </a:extLst>
          </p:cNvPr>
          <p:cNvSpPr txBox="1">
            <a:spLocks noChangeArrowheads="1"/>
          </p:cNvSpPr>
          <p:nvPr/>
        </p:nvSpPr>
        <p:spPr bwMode="auto">
          <a:xfrm>
            <a:off x="4225925" y="3028950"/>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5607" name="Line 164">
            <a:extLst>
              <a:ext uri="{FF2B5EF4-FFF2-40B4-BE49-F238E27FC236}">
                <a16:creationId xmlns:a16="http://schemas.microsoft.com/office/drawing/2014/main" id="{CDA3F9A8-14E0-4E90-B934-023471859F64}"/>
              </a:ext>
            </a:extLst>
          </p:cNvPr>
          <p:cNvSpPr>
            <a:spLocks noChangeShapeType="1"/>
          </p:cNvSpPr>
          <p:nvPr/>
        </p:nvSpPr>
        <p:spPr bwMode="auto">
          <a:xfrm>
            <a:off x="4105275" y="4221163"/>
            <a:ext cx="3810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8" name="Text Box 165">
            <a:extLst>
              <a:ext uri="{FF2B5EF4-FFF2-40B4-BE49-F238E27FC236}">
                <a16:creationId xmlns:a16="http://schemas.microsoft.com/office/drawing/2014/main" id="{779FD3B7-D483-4A0E-8CBB-85E5F765F524}"/>
              </a:ext>
            </a:extLst>
          </p:cNvPr>
          <p:cNvSpPr txBox="1">
            <a:spLocks noChangeArrowheads="1"/>
          </p:cNvSpPr>
          <p:nvPr/>
        </p:nvSpPr>
        <p:spPr bwMode="auto">
          <a:xfrm>
            <a:off x="2505075" y="1976438"/>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5609" name="Oval 166">
            <a:extLst>
              <a:ext uri="{FF2B5EF4-FFF2-40B4-BE49-F238E27FC236}">
                <a16:creationId xmlns:a16="http://schemas.microsoft.com/office/drawing/2014/main" id="{80C344EB-52BB-4A7C-B138-D184A55B7F9C}"/>
              </a:ext>
            </a:extLst>
          </p:cNvPr>
          <p:cNvSpPr>
            <a:spLocks noChangeArrowheads="1"/>
          </p:cNvSpPr>
          <p:nvPr/>
        </p:nvSpPr>
        <p:spPr bwMode="auto">
          <a:xfrm>
            <a:off x="2505075" y="2509838"/>
            <a:ext cx="4572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65610" name="Text Box 167">
            <a:extLst>
              <a:ext uri="{FF2B5EF4-FFF2-40B4-BE49-F238E27FC236}">
                <a16:creationId xmlns:a16="http://schemas.microsoft.com/office/drawing/2014/main" id="{8201BBAA-B541-4DA5-93A8-DF0D942456F1}"/>
              </a:ext>
            </a:extLst>
          </p:cNvPr>
          <p:cNvSpPr txBox="1">
            <a:spLocks noChangeArrowheads="1"/>
          </p:cNvSpPr>
          <p:nvPr/>
        </p:nvSpPr>
        <p:spPr bwMode="auto">
          <a:xfrm>
            <a:off x="2581275" y="24939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65611" name="Text Box 168">
            <a:extLst>
              <a:ext uri="{FF2B5EF4-FFF2-40B4-BE49-F238E27FC236}">
                <a16:creationId xmlns:a16="http://schemas.microsoft.com/office/drawing/2014/main" id="{55752582-BB4D-4D54-92D6-C7D55FAAE26D}"/>
              </a:ext>
            </a:extLst>
          </p:cNvPr>
          <p:cNvSpPr txBox="1">
            <a:spLocks noChangeArrowheads="1"/>
          </p:cNvSpPr>
          <p:nvPr/>
        </p:nvSpPr>
        <p:spPr bwMode="auto">
          <a:xfrm>
            <a:off x="2505075" y="2967038"/>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65612" name="Line 169">
            <a:extLst>
              <a:ext uri="{FF2B5EF4-FFF2-40B4-BE49-F238E27FC236}">
                <a16:creationId xmlns:a16="http://schemas.microsoft.com/office/drawing/2014/main" id="{6E52209F-B025-4DFF-A3CD-B55892027AFC}"/>
              </a:ext>
            </a:extLst>
          </p:cNvPr>
          <p:cNvSpPr>
            <a:spLocks noChangeShapeType="1"/>
          </p:cNvSpPr>
          <p:nvPr/>
        </p:nvSpPr>
        <p:spPr bwMode="auto">
          <a:xfrm>
            <a:off x="2409825" y="4221163"/>
            <a:ext cx="381000" cy="0"/>
          </a:xfrm>
          <a:prstGeom prst="line">
            <a:avLst/>
          </a:prstGeom>
          <a:noFill/>
          <a:ln w="28575">
            <a:solidFill>
              <a:srgbClr val="A5002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6538" name="Text Box 170">
            <a:extLst>
              <a:ext uri="{FF2B5EF4-FFF2-40B4-BE49-F238E27FC236}">
                <a16:creationId xmlns:a16="http://schemas.microsoft.com/office/drawing/2014/main" id="{51DBC145-6183-4AF6-9150-ABCDE89CB036}"/>
              </a:ext>
            </a:extLst>
          </p:cNvPr>
          <p:cNvSpPr txBox="1">
            <a:spLocks noChangeArrowheads="1"/>
          </p:cNvSpPr>
          <p:nvPr/>
        </p:nvSpPr>
        <p:spPr bwMode="auto">
          <a:xfrm>
            <a:off x="3476625" y="30273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6</a:t>
            </a:r>
            <a:endParaRPr lang="en-US" altLang="zh-CN" sz="3200">
              <a:solidFill>
                <a:srgbClr val="000000"/>
              </a:solidFill>
              <a:latin typeface="楷体_GB2312" pitchFamily="49" charset="-122"/>
              <a:ea typeface="楷体_GB2312" pitchFamily="49" charset="-122"/>
            </a:endParaRPr>
          </a:p>
        </p:txBody>
      </p:sp>
      <p:sp>
        <p:nvSpPr>
          <p:cNvPr id="186539" name="Text Box 171">
            <a:extLst>
              <a:ext uri="{FF2B5EF4-FFF2-40B4-BE49-F238E27FC236}">
                <a16:creationId xmlns:a16="http://schemas.microsoft.com/office/drawing/2014/main" id="{1CCFFA57-A14D-465D-A1C0-41ECFF8001B7}"/>
              </a:ext>
            </a:extLst>
          </p:cNvPr>
          <p:cNvSpPr txBox="1">
            <a:spLocks noChangeArrowheads="1"/>
          </p:cNvSpPr>
          <p:nvPr/>
        </p:nvSpPr>
        <p:spPr bwMode="auto">
          <a:xfrm>
            <a:off x="5076825" y="30273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3</a:t>
            </a:r>
            <a:endParaRPr lang="en-US" altLang="zh-CN" sz="3200">
              <a:solidFill>
                <a:srgbClr val="000000"/>
              </a:solidFill>
              <a:latin typeface="楷体_GB2312" pitchFamily="49" charset="-122"/>
              <a:ea typeface="楷体_GB2312" pitchFamily="49" charset="-122"/>
            </a:endParaRPr>
          </a:p>
        </p:txBody>
      </p:sp>
      <p:sp>
        <p:nvSpPr>
          <p:cNvPr id="186540" name="Text Box 172">
            <a:extLst>
              <a:ext uri="{FF2B5EF4-FFF2-40B4-BE49-F238E27FC236}">
                <a16:creationId xmlns:a16="http://schemas.microsoft.com/office/drawing/2014/main" id="{2EB5FF3C-09BD-4256-9DCB-8E5A93A8EB7D}"/>
              </a:ext>
            </a:extLst>
          </p:cNvPr>
          <p:cNvSpPr txBox="1">
            <a:spLocks noChangeArrowheads="1"/>
          </p:cNvSpPr>
          <p:nvPr/>
        </p:nvSpPr>
        <p:spPr bwMode="auto">
          <a:xfrm>
            <a:off x="5076825" y="24939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rPr>
              <a:t>1</a:t>
            </a:r>
            <a:endParaRPr lang="en-US" altLang="zh-CN" sz="3200">
              <a:solidFill>
                <a:srgbClr val="000000"/>
              </a:solidFill>
              <a:latin typeface="楷体_GB2312" pitchFamily="49" charset="-122"/>
              <a:ea typeface="楷体_GB2312" pitchFamily="49" charset="-122"/>
            </a:endParaRPr>
          </a:p>
        </p:txBody>
      </p:sp>
      <p:sp>
        <p:nvSpPr>
          <p:cNvPr id="186541" name="Text Box 173">
            <a:extLst>
              <a:ext uri="{FF2B5EF4-FFF2-40B4-BE49-F238E27FC236}">
                <a16:creationId xmlns:a16="http://schemas.microsoft.com/office/drawing/2014/main" id="{B6FEED60-F851-4910-BDE7-235F43C7FDAD}"/>
              </a:ext>
            </a:extLst>
          </p:cNvPr>
          <p:cNvSpPr txBox="1">
            <a:spLocks noChangeArrowheads="1"/>
          </p:cNvSpPr>
          <p:nvPr/>
        </p:nvSpPr>
        <p:spPr bwMode="auto">
          <a:xfrm>
            <a:off x="3400425" y="2433638"/>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186542" name="Text Box 174">
            <a:extLst>
              <a:ext uri="{FF2B5EF4-FFF2-40B4-BE49-F238E27FC236}">
                <a16:creationId xmlns:a16="http://schemas.microsoft.com/office/drawing/2014/main" id="{2FD5A984-626D-4EF3-9353-A695FE1EE792}"/>
              </a:ext>
            </a:extLst>
          </p:cNvPr>
          <p:cNvSpPr txBox="1">
            <a:spLocks noChangeArrowheads="1"/>
          </p:cNvSpPr>
          <p:nvPr/>
        </p:nvSpPr>
        <p:spPr bwMode="auto">
          <a:xfrm>
            <a:off x="3400425" y="1976438"/>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a:solidFill>
                  <a:srgbClr val="A50021"/>
                </a:solidFill>
              </a:rPr>
              <a:t>×</a:t>
            </a:r>
          </a:p>
        </p:txBody>
      </p:sp>
      <p:sp>
        <p:nvSpPr>
          <p:cNvPr id="186543" name="Text Box 175">
            <a:extLst>
              <a:ext uri="{FF2B5EF4-FFF2-40B4-BE49-F238E27FC236}">
                <a16:creationId xmlns:a16="http://schemas.microsoft.com/office/drawing/2014/main" id="{D5C3946B-1B59-4CBF-81D5-B1A2DCE13229}"/>
              </a:ext>
            </a:extLst>
          </p:cNvPr>
          <p:cNvSpPr txBox="1">
            <a:spLocks noChangeArrowheads="1"/>
          </p:cNvSpPr>
          <p:nvPr/>
        </p:nvSpPr>
        <p:spPr bwMode="auto">
          <a:xfrm>
            <a:off x="5076825" y="1946275"/>
            <a:ext cx="325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A50021"/>
                </a:solidFill>
              </a:rPr>
              <a:t>2</a:t>
            </a:r>
          </a:p>
        </p:txBody>
      </p:sp>
      <p:sp>
        <p:nvSpPr>
          <p:cNvPr id="186544" name="Oval 176">
            <a:extLst>
              <a:ext uri="{FF2B5EF4-FFF2-40B4-BE49-F238E27FC236}">
                <a16:creationId xmlns:a16="http://schemas.microsoft.com/office/drawing/2014/main" id="{76B37E85-9378-4E21-876D-6048D493AFD1}"/>
              </a:ext>
            </a:extLst>
          </p:cNvPr>
          <p:cNvSpPr>
            <a:spLocks noChangeArrowheads="1"/>
          </p:cNvSpPr>
          <p:nvPr/>
        </p:nvSpPr>
        <p:spPr bwMode="auto">
          <a:xfrm>
            <a:off x="5059363" y="1946275"/>
            <a:ext cx="3810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186545" name="Oval 177">
            <a:extLst>
              <a:ext uri="{FF2B5EF4-FFF2-40B4-BE49-F238E27FC236}">
                <a16:creationId xmlns:a16="http://schemas.microsoft.com/office/drawing/2014/main" id="{6F2190B9-26F1-4F77-8C5A-A8255DAC6BBF}"/>
              </a:ext>
            </a:extLst>
          </p:cNvPr>
          <p:cNvSpPr>
            <a:spLocks noChangeArrowheads="1"/>
          </p:cNvSpPr>
          <p:nvPr/>
        </p:nvSpPr>
        <p:spPr bwMode="auto">
          <a:xfrm>
            <a:off x="5076825" y="2509838"/>
            <a:ext cx="3810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186546" name="Oval 178">
            <a:extLst>
              <a:ext uri="{FF2B5EF4-FFF2-40B4-BE49-F238E27FC236}">
                <a16:creationId xmlns:a16="http://schemas.microsoft.com/office/drawing/2014/main" id="{296A5470-385C-4346-987F-DD867A34472E}"/>
              </a:ext>
            </a:extLst>
          </p:cNvPr>
          <p:cNvSpPr>
            <a:spLocks noChangeArrowheads="1"/>
          </p:cNvSpPr>
          <p:nvPr/>
        </p:nvSpPr>
        <p:spPr bwMode="auto">
          <a:xfrm>
            <a:off x="5076825" y="3043238"/>
            <a:ext cx="3810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186547" name="Oval 179">
            <a:extLst>
              <a:ext uri="{FF2B5EF4-FFF2-40B4-BE49-F238E27FC236}">
                <a16:creationId xmlns:a16="http://schemas.microsoft.com/office/drawing/2014/main" id="{2C7C055A-A985-474C-955E-2141961F416C}"/>
              </a:ext>
            </a:extLst>
          </p:cNvPr>
          <p:cNvSpPr>
            <a:spLocks noChangeArrowheads="1"/>
          </p:cNvSpPr>
          <p:nvPr/>
        </p:nvSpPr>
        <p:spPr bwMode="auto">
          <a:xfrm>
            <a:off x="3448050" y="3028950"/>
            <a:ext cx="381000" cy="381000"/>
          </a:xfrm>
          <a:prstGeom prst="ellipse">
            <a:avLst/>
          </a:prstGeom>
          <a:noFill/>
          <a:ln w="38100">
            <a:solidFill>
              <a:srgbClr val="A5002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10000"/>
              </a:spcBef>
              <a:buClr>
                <a:schemeClr val="accent1"/>
              </a:buClr>
              <a:buSzPct val="80000"/>
              <a:buFont typeface="Wingdings" panose="05000000000000000000" pitchFamily="2" charset="2"/>
              <a:buNone/>
            </a:pPr>
            <a:endParaRPr lang="zh-CN" altLang="zh-CN" sz="3200">
              <a:solidFill>
                <a:schemeClr val="bg1"/>
              </a:solidFill>
              <a:latin typeface="楷体_GB2312" pitchFamily="49" charset="-122"/>
              <a:ea typeface="楷体_GB2312" pitchFamily="49" charset="-122"/>
            </a:endParaRPr>
          </a:p>
        </p:txBody>
      </p:sp>
      <p:sp>
        <p:nvSpPr>
          <p:cNvPr id="36" name="Rectangle 184">
            <a:extLst>
              <a:ext uri="{FF2B5EF4-FFF2-40B4-BE49-F238E27FC236}">
                <a16:creationId xmlns:a16="http://schemas.microsoft.com/office/drawing/2014/main" id="{C3E8BFCF-A33E-4AAA-B955-3FB1FA6D80D4}"/>
              </a:ext>
            </a:extLst>
          </p:cNvPr>
          <p:cNvSpPr>
            <a:spLocks noChangeArrowheads="1"/>
          </p:cNvSpPr>
          <p:nvPr/>
        </p:nvSpPr>
        <p:spPr bwMode="auto">
          <a:xfrm>
            <a:off x="381000" y="4724400"/>
            <a:ext cx="8208963" cy="1023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zh-CN" altLang="en-US"/>
              <a:t>该方案的总运费</a:t>
            </a:r>
            <a:r>
              <a:rPr lang="en-US" altLang="zh-CN"/>
              <a:t>:</a:t>
            </a:r>
          </a:p>
          <a:p>
            <a:pPr eaLnBrk="1" hangingPunct="1">
              <a:spcBef>
                <a:spcPct val="15000"/>
              </a:spcBef>
            </a:pPr>
            <a:r>
              <a:rPr lang="en-US" altLang="zh-CN"/>
              <a:t>(1×3)</a:t>
            </a:r>
            <a:r>
              <a:rPr lang="zh-CN" altLang="en-US"/>
              <a:t>＋</a:t>
            </a:r>
            <a:r>
              <a:rPr lang="en-US" altLang="zh-CN"/>
              <a:t>(4×6)</a:t>
            </a:r>
            <a:r>
              <a:rPr lang="zh-CN" altLang="en-US"/>
              <a:t>＋</a:t>
            </a:r>
            <a:r>
              <a:rPr lang="en-US" altLang="zh-CN"/>
              <a:t>(3×5)</a:t>
            </a:r>
            <a:r>
              <a:rPr lang="zh-CN" altLang="en-US"/>
              <a:t>＋</a:t>
            </a:r>
            <a:r>
              <a:rPr lang="en-US" altLang="zh-CN"/>
              <a:t>(2×10)</a:t>
            </a:r>
            <a:r>
              <a:rPr lang="zh-CN" altLang="en-US"/>
              <a:t>＋</a:t>
            </a:r>
            <a:r>
              <a:rPr lang="en-US" altLang="zh-CN"/>
              <a:t>(1×8)</a:t>
            </a:r>
            <a:r>
              <a:rPr lang="zh-CN" altLang="en-US"/>
              <a:t>＋</a:t>
            </a:r>
            <a:r>
              <a:rPr lang="en-US" altLang="zh-CN"/>
              <a:t>(3×5)</a:t>
            </a:r>
            <a:r>
              <a:rPr lang="zh-CN" altLang="en-US"/>
              <a:t>＝</a:t>
            </a:r>
            <a:r>
              <a:rPr lang="en-US" altLang="zh-CN"/>
              <a:t>85</a:t>
            </a:r>
            <a:r>
              <a:rPr lang="zh-CN" altLang="en-US"/>
              <a:t>元</a:t>
            </a:r>
          </a:p>
        </p:txBody>
      </p:sp>
      <p:sp>
        <p:nvSpPr>
          <p:cNvPr id="84060" name="Text Box 3">
            <a:extLst>
              <a:ext uri="{FF2B5EF4-FFF2-40B4-BE49-F238E27FC236}">
                <a16:creationId xmlns:a16="http://schemas.microsoft.com/office/drawing/2014/main" id="{DD4C4EEC-F2A8-4878-BAEC-5B69F1C802D2}"/>
              </a:ext>
            </a:extLst>
          </p:cNvPr>
          <p:cNvSpPr txBox="1">
            <a:spLocks noChangeArrowheads="1"/>
          </p:cNvSpPr>
          <p:nvPr/>
        </p:nvSpPr>
        <p:spPr bwMode="auto">
          <a:xfrm>
            <a:off x="357188" y="5427663"/>
            <a:ext cx="49530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zh-CN" altLang="en-US" sz="2400" b="1"/>
              <a:t>结果与最小为</a:t>
            </a:r>
            <a:r>
              <a:rPr lang="en-US" altLang="zh-CN" sz="2400" b="1"/>
              <a:t>3</a:t>
            </a:r>
            <a:r>
              <a:rPr lang="zh-CN" altLang="en-US" sz="2400" b="1"/>
              <a:t>，次小也为</a:t>
            </a:r>
            <a:r>
              <a:rPr lang="en-US" altLang="zh-CN" sz="2400" b="1"/>
              <a:t>3</a:t>
            </a:r>
            <a:r>
              <a:rPr lang="zh-CN" altLang="en-US" sz="2400" b="1"/>
              <a:t>一样。</a:t>
            </a:r>
          </a:p>
        </p:txBody>
      </p:sp>
      <p:sp>
        <p:nvSpPr>
          <p:cNvPr id="34" name="Text Box 148">
            <a:extLst>
              <a:ext uri="{FF2B5EF4-FFF2-40B4-BE49-F238E27FC236}">
                <a16:creationId xmlns:a16="http://schemas.microsoft.com/office/drawing/2014/main" id="{FF7BC9DB-0D16-485E-955F-9CEC45EBAB14}"/>
              </a:ext>
            </a:extLst>
          </p:cNvPr>
          <p:cNvSpPr txBox="1">
            <a:spLocks noChangeArrowheads="1"/>
          </p:cNvSpPr>
          <p:nvPr/>
        </p:nvSpPr>
        <p:spPr bwMode="auto">
          <a:xfrm>
            <a:off x="3267075" y="4035425"/>
            <a:ext cx="304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lang="en-US" altLang="zh-CN" sz="2000">
                <a:solidFill>
                  <a:srgbClr val="A50021"/>
                </a:solidFill>
                <a:ea typeface="楷体_GB2312" pitchFamily="49" charset="-122"/>
              </a:rPr>
              <a:t>5</a:t>
            </a:r>
          </a:p>
        </p:txBody>
      </p:sp>
      <p:sp>
        <p:nvSpPr>
          <p:cNvPr id="35" name="Text Box 3">
            <a:extLst>
              <a:ext uri="{FF2B5EF4-FFF2-40B4-BE49-F238E27FC236}">
                <a16:creationId xmlns:a16="http://schemas.microsoft.com/office/drawing/2014/main" id="{8E16FF9F-8CEB-4DAD-B7E9-1D23BCA0A2DC}"/>
              </a:ext>
            </a:extLst>
          </p:cNvPr>
          <p:cNvSpPr txBox="1">
            <a:spLocks noChangeArrowheads="1"/>
          </p:cNvSpPr>
          <p:nvPr/>
        </p:nvSpPr>
        <p:spPr bwMode="auto">
          <a:xfrm>
            <a:off x="357188" y="5972175"/>
            <a:ext cx="6348412"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zh-CN" altLang="en-US" sz="2400" b="1">
                <a:solidFill>
                  <a:srgbClr val="FF0000"/>
                </a:solidFill>
              </a:rPr>
              <a:t>伏格尔法对于最小和次小选择具有鲁棒性！</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6522"/>
                                        </p:tgtEl>
                                        <p:attrNameLst>
                                          <p:attrName>style.visibility</p:attrName>
                                        </p:attrNameLst>
                                      </p:cBhvr>
                                      <p:to>
                                        <p:strVal val="visible"/>
                                      </p:to>
                                    </p:set>
                                    <p:animEffect transition="in" filter="dissolve">
                                      <p:cBhvr>
                                        <p:cTn id="7" dur="500"/>
                                        <p:tgtEl>
                                          <p:spTgt spid="1865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86526"/>
                                        </p:tgtEl>
                                        <p:attrNameLst>
                                          <p:attrName>style.visibility</p:attrName>
                                        </p:attrNameLst>
                                      </p:cBhvr>
                                      <p:to>
                                        <p:strVal val="visible"/>
                                      </p:to>
                                    </p:set>
                                    <p:animEffect transition="in" filter="box(in)">
                                      <p:cBhvr>
                                        <p:cTn id="12" dur="500"/>
                                        <p:tgtEl>
                                          <p:spTgt spid="1865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186523"/>
                                        </p:tgtEl>
                                        <p:attrNameLst>
                                          <p:attrName>style.visibility</p:attrName>
                                        </p:attrNameLst>
                                      </p:cBhvr>
                                      <p:to>
                                        <p:strVal val="visible"/>
                                      </p:to>
                                    </p:set>
                                    <p:animEffect transition="in" filter="slide(fromBottom)">
                                      <p:cBhvr>
                                        <p:cTn id="17" dur="500"/>
                                        <p:tgtEl>
                                          <p:spTgt spid="1865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box(in)">
                                      <p:cBhvr>
                                        <p:cTn id="22" dur="500"/>
                                        <p:tgtEl>
                                          <p:spTgt spid="3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86524"/>
                                        </p:tgtEl>
                                        <p:attrNameLst>
                                          <p:attrName>style.visibility</p:attrName>
                                        </p:attrNameLst>
                                      </p:cBhvr>
                                      <p:to>
                                        <p:strVal val="visible"/>
                                      </p:to>
                                    </p:set>
                                    <p:animEffect transition="in" filter="box(in)">
                                      <p:cBhvr>
                                        <p:cTn id="27" dur="500"/>
                                        <p:tgtEl>
                                          <p:spTgt spid="1865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6" presetClass="emph" presetSubtype="0" fill="hold" grpId="1" nodeType="clickEffect">
                                  <p:stCondLst>
                                    <p:cond delay="0"/>
                                  </p:stCondLst>
                                  <p:childTnLst>
                                    <p:animScale>
                                      <p:cBhvr>
                                        <p:cTn id="31" dur="2000" fill="hold"/>
                                        <p:tgtEl>
                                          <p:spTgt spid="34"/>
                                        </p:tgtEl>
                                      </p:cBhvr>
                                      <p:by x="150000" y="150000"/>
                                    </p:animScale>
                                  </p:childTnLst>
                                </p:cTn>
                              </p:par>
                            </p:childTnLst>
                          </p:cTn>
                        </p:par>
                      </p:childTnLst>
                    </p:cTn>
                  </p:par>
                  <p:par>
                    <p:cTn id="32" fill="hold" nodeType="clickPar">
                      <p:stCondLst>
                        <p:cond delay="indefinite"/>
                      </p:stCondLst>
                      <p:childTnLst>
                        <p:par>
                          <p:cTn id="33" fill="hold" nodeType="withGroup">
                            <p:stCondLst>
                              <p:cond delay="0"/>
                            </p:stCondLst>
                            <p:childTnLst>
                              <p:par>
                                <p:cTn id="34" presetID="12" presetClass="entr" presetSubtype="4" fill="hold" grpId="0" nodeType="clickEffect">
                                  <p:stCondLst>
                                    <p:cond delay="0"/>
                                  </p:stCondLst>
                                  <p:childTnLst>
                                    <p:set>
                                      <p:cBhvr>
                                        <p:cTn id="35" dur="1" fill="hold">
                                          <p:stCondLst>
                                            <p:cond delay="0"/>
                                          </p:stCondLst>
                                        </p:cTn>
                                        <p:tgtEl>
                                          <p:spTgt spid="186538"/>
                                        </p:tgtEl>
                                        <p:attrNameLst>
                                          <p:attrName>style.visibility</p:attrName>
                                        </p:attrNameLst>
                                      </p:cBhvr>
                                      <p:to>
                                        <p:strVal val="visible"/>
                                      </p:to>
                                    </p:set>
                                    <p:animEffect transition="in" filter="slide(fromBottom)">
                                      <p:cBhvr>
                                        <p:cTn id="36" dur="500"/>
                                        <p:tgtEl>
                                          <p:spTgt spid="18653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4" presetClass="entr" presetSubtype="16" fill="hold" grpId="0" nodeType="clickEffect">
                                  <p:stCondLst>
                                    <p:cond delay="0"/>
                                  </p:stCondLst>
                                  <p:childTnLst>
                                    <p:set>
                                      <p:cBhvr>
                                        <p:cTn id="40" dur="1" fill="hold">
                                          <p:stCondLst>
                                            <p:cond delay="0"/>
                                          </p:stCondLst>
                                        </p:cTn>
                                        <p:tgtEl>
                                          <p:spTgt spid="186547"/>
                                        </p:tgtEl>
                                        <p:attrNameLst>
                                          <p:attrName>style.visibility</p:attrName>
                                        </p:attrNameLst>
                                      </p:cBhvr>
                                      <p:to>
                                        <p:strVal val="visible"/>
                                      </p:to>
                                    </p:set>
                                    <p:animEffect transition="in" filter="box(in)">
                                      <p:cBhvr>
                                        <p:cTn id="41" dur="500"/>
                                        <p:tgtEl>
                                          <p:spTgt spid="186547"/>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3" presetClass="entr" presetSubtype="10" fill="hold" grpId="0" nodeType="clickEffect">
                                  <p:stCondLst>
                                    <p:cond delay="0"/>
                                  </p:stCondLst>
                                  <p:childTnLst>
                                    <p:set>
                                      <p:cBhvr>
                                        <p:cTn id="45" dur="1" fill="hold">
                                          <p:stCondLst>
                                            <p:cond delay="0"/>
                                          </p:stCondLst>
                                        </p:cTn>
                                        <p:tgtEl>
                                          <p:spTgt spid="186541"/>
                                        </p:tgtEl>
                                        <p:attrNameLst>
                                          <p:attrName>style.visibility</p:attrName>
                                        </p:attrNameLst>
                                      </p:cBhvr>
                                      <p:to>
                                        <p:strVal val="visible"/>
                                      </p:to>
                                    </p:set>
                                    <p:animEffect transition="in" filter="blinds(horizontal)">
                                      <p:cBhvr>
                                        <p:cTn id="46" dur="500"/>
                                        <p:tgtEl>
                                          <p:spTgt spid="186541"/>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 presetClass="entr" presetSubtype="10" fill="hold" grpId="0" nodeType="clickEffect">
                                  <p:stCondLst>
                                    <p:cond delay="0"/>
                                  </p:stCondLst>
                                  <p:childTnLst>
                                    <p:set>
                                      <p:cBhvr>
                                        <p:cTn id="50" dur="1" fill="hold">
                                          <p:stCondLst>
                                            <p:cond delay="0"/>
                                          </p:stCondLst>
                                        </p:cTn>
                                        <p:tgtEl>
                                          <p:spTgt spid="186542"/>
                                        </p:tgtEl>
                                        <p:attrNameLst>
                                          <p:attrName>style.visibility</p:attrName>
                                        </p:attrNameLst>
                                      </p:cBhvr>
                                      <p:to>
                                        <p:strVal val="visible"/>
                                      </p:to>
                                    </p:set>
                                    <p:animEffect transition="in" filter="blinds(horizontal)">
                                      <p:cBhvr>
                                        <p:cTn id="51" dur="500"/>
                                        <p:tgtEl>
                                          <p:spTgt spid="186542"/>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grpId="0" nodeType="clickEffect">
                                  <p:stCondLst>
                                    <p:cond delay="0"/>
                                  </p:stCondLst>
                                  <p:childTnLst>
                                    <p:set>
                                      <p:cBhvr>
                                        <p:cTn id="55" dur="1" fill="hold">
                                          <p:stCondLst>
                                            <p:cond delay="0"/>
                                          </p:stCondLst>
                                        </p:cTn>
                                        <p:tgtEl>
                                          <p:spTgt spid="186539"/>
                                        </p:tgtEl>
                                        <p:attrNameLst>
                                          <p:attrName>style.visibility</p:attrName>
                                        </p:attrNameLst>
                                      </p:cBhvr>
                                      <p:to>
                                        <p:strVal val="visible"/>
                                      </p:to>
                                    </p:set>
                                    <p:animEffect transition="in" filter="blinds(horizontal)">
                                      <p:cBhvr>
                                        <p:cTn id="56" dur="500"/>
                                        <p:tgtEl>
                                          <p:spTgt spid="186539"/>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86546"/>
                                        </p:tgtEl>
                                        <p:attrNameLst>
                                          <p:attrName>style.visibility</p:attrName>
                                        </p:attrNameLst>
                                      </p:cBhvr>
                                      <p:to>
                                        <p:strVal val="visible"/>
                                      </p:to>
                                    </p:set>
                                    <p:animEffect transition="in" filter="dissolve">
                                      <p:cBhvr>
                                        <p:cTn id="61" dur="500"/>
                                        <p:tgtEl>
                                          <p:spTgt spid="186546"/>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6" presetClass="entr" presetSubtype="26" fill="hold" grpId="0" nodeType="clickEffect">
                                  <p:stCondLst>
                                    <p:cond delay="0"/>
                                  </p:stCondLst>
                                  <p:childTnLst>
                                    <p:set>
                                      <p:cBhvr>
                                        <p:cTn id="65" dur="1" fill="hold">
                                          <p:stCondLst>
                                            <p:cond delay="0"/>
                                          </p:stCondLst>
                                        </p:cTn>
                                        <p:tgtEl>
                                          <p:spTgt spid="186540"/>
                                        </p:tgtEl>
                                        <p:attrNameLst>
                                          <p:attrName>style.visibility</p:attrName>
                                        </p:attrNameLst>
                                      </p:cBhvr>
                                      <p:to>
                                        <p:strVal val="visible"/>
                                      </p:to>
                                    </p:set>
                                    <p:animEffect transition="in" filter="barn(inHorizontal)">
                                      <p:cBhvr>
                                        <p:cTn id="66" dur="500"/>
                                        <p:tgtEl>
                                          <p:spTgt spid="186540"/>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3" presetClass="entr" presetSubtype="10" fill="hold" grpId="0" nodeType="clickEffect">
                                  <p:stCondLst>
                                    <p:cond delay="0"/>
                                  </p:stCondLst>
                                  <p:childTnLst>
                                    <p:set>
                                      <p:cBhvr>
                                        <p:cTn id="70" dur="1" fill="hold">
                                          <p:stCondLst>
                                            <p:cond delay="0"/>
                                          </p:stCondLst>
                                        </p:cTn>
                                        <p:tgtEl>
                                          <p:spTgt spid="186545"/>
                                        </p:tgtEl>
                                        <p:attrNameLst>
                                          <p:attrName>style.visibility</p:attrName>
                                        </p:attrNameLst>
                                      </p:cBhvr>
                                      <p:to>
                                        <p:strVal val="visible"/>
                                      </p:to>
                                    </p:set>
                                    <p:animEffect transition="in" filter="blinds(horizontal)">
                                      <p:cBhvr>
                                        <p:cTn id="71" dur="500"/>
                                        <p:tgtEl>
                                          <p:spTgt spid="186545"/>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3" presetClass="entr" presetSubtype="10" fill="hold" grpId="0" nodeType="clickEffect">
                                  <p:stCondLst>
                                    <p:cond delay="0"/>
                                  </p:stCondLst>
                                  <p:childTnLst>
                                    <p:set>
                                      <p:cBhvr>
                                        <p:cTn id="75" dur="1" fill="hold">
                                          <p:stCondLst>
                                            <p:cond delay="0"/>
                                          </p:stCondLst>
                                        </p:cTn>
                                        <p:tgtEl>
                                          <p:spTgt spid="186543"/>
                                        </p:tgtEl>
                                        <p:attrNameLst>
                                          <p:attrName>style.visibility</p:attrName>
                                        </p:attrNameLst>
                                      </p:cBhvr>
                                      <p:to>
                                        <p:strVal val="visible"/>
                                      </p:to>
                                    </p:set>
                                    <p:animEffect transition="in" filter="blinds(horizontal)">
                                      <p:cBhvr>
                                        <p:cTn id="76" dur="500"/>
                                        <p:tgtEl>
                                          <p:spTgt spid="186543"/>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9" presetClass="entr" presetSubtype="0" fill="hold" grpId="0" nodeType="clickEffect">
                                  <p:stCondLst>
                                    <p:cond delay="0"/>
                                  </p:stCondLst>
                                  <p:childTnLst>
                                    <p:set>
                                      <p:cBhvr>
                                        <p:cTn id="80" dur="1" fill="hold">
                                          <p:stCondLst>
                                            <p:cond delay="0"/>
                                          </p:stCondLst>
                                        </p:cTn>
                                        <p:tgtEl>
                                          <p:spTgt spid="186544"/>
                                        </p:tgtEl>
                                        <p:attrNameLst>
                                          <p:attrName>style.visibility</p:attrName>
                                        </p:attrNameLst>
                                      </p:cBhvr>
                                      <p:to>
                                        <p:strVal val="visible"/>
                                      </p:to>
                                    </p:set>
                                    <p:animEffect transition="in" filter="dissolve">
                                      <p:cBhvr>
                                        <p:cTn id="81" dur="500"/>
                                        <p:tgtEl>
                                          <p:spTgt spid="186544"/>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3" presetClass="entr" presetSubtype="10" fill="hold" grpId="0" nodeType="clickEffect">
                                  <p:stCondLst>
                                    <p:cond delay="0"/>
                                  </p:stCondLst>
                                  <p:childTnLst>
                                    <p:set>
                                      <p:cBhvr>
                                        <p:cTn id="85" dur="1" fill="hold">
                                          <p:stCondLst>
                                            <p:cond delay="0"/>
                                          </p:stCondLst>
                                        </p:cTn>
                                        <p:tgtEl>
                                          <p:spTgt spid="36"/>
                                        </p:tgtEl>
                                        <p:attrNameLst>
                                          <p:attrName>style.visibility</p:attrName>
                                        </p:attrNameLst>
                                      </p:cBhvr>
                                      <p:to>
                                        <p:strVal val="visible"/>
                                      </p:to>
                                    </p:set>
                                    <p:animEffect transition="in" filter="blinds(horizontal)">
                                      <p:cBhvr>
                                        <p:cTn id="86" dur="500"/>
                                        <p:tgtEl>
                                          <p:spTgt spid="36"/>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16" presetClass="entr" presetSubtype="21" fill="hold" grpId="0" nodeType="clickEffect">
                                  <p:stCondLst>
                                    <p:cond delay="0"/>
                                  </p:stCondLst>
                                  <p:childTnLst>
                                    <p:set>
                                      <p:cBhvr>
                                        <p:cTn id="90" dur="1" fill="hold">
                                          <p:stCondLst>
                                            <p:cond delay="0"/>
                                          </p:stCondLst>
                                        </p:cTn>
                                        <p:tgtEl>
                                          <p:spTgt spid="84060"/>
                                        </p:tgtEl>
                                        <p:attrNameLst>
                                          <p:attrName>style.visibility</p:attrName>
                                        </p:attrNameLst>
                                      </p:cBhvr>
                                      <p:to>
                                        <p:strVal val="visible"/>
                                      </p:to>
                                    </p:set>
                                    <p:animEffect transition="in" filter="barn(inVertical)">
                                      <p:cBhvr>
                                        <p:cTn id="91" dur="500"/>
                                        <p:tgtEl>
                                          <p:spTgt spid="84060"/>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16" presetClass="entr" presetSubtype="21" fill="hold" grpId="0" nodeType="clickEffect">
                                  <p:stCondLst>
                                    <p:cond delay="0"/>
                                  </p:stCondLst>
                                  <p:childTnLst>
                                    <p:set>
                                      <p:cBhvr>
                                        <p:cTn id="95" dur="1" fill="hold">
                                          <p:stCondLst>
                                            <p:cond delay="0"/>
                                          </p:stCondLst>
                                        </p:cTn>
                                        <p:tgtEl>
                                          <p:spTgt spid="35"/>
                                        </p:tgtEl>
                                        <p:attrNameLst>
                                          <p:attrName>style.visibility</p:attrName>
                                        </p:attrNameLst>
                                      </p:cBhvr>
                                      <p:to>
                                        <p:strVal val="visible"/>
                                      </p:to>
                                    </p:set>
                                    <p:animEffect transition="in" filter="barn(inVertical)">
                                      <p:cBhvr>
                                        <p:cTn id="9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522" grpId="0" autoUpdateAnimBg="0"/>
      <p:bldP spid="186523" grpId="0" autoUpdateAnimBg="0"/>
      <p:bldP spid="186524" grpId="0" autoUpdateAnimBg="0"/>
      <p:bldP spid="186526" grpId="0" autoUpdateAnimBg="0"/>
      <p:bldP spid="186538" grpId="0" autoUpdateAnimBg="0"/>
      <p:bldP spid="186539" grpId="0" autoUpdateAnimBg="0"/>
      <p:bldP spid="186540" grpId="0" autoUpdateAnimBg="0"/>
      <p:bldP spid="186541" grpId="0" autoUpdateAnimBg="0"/>
      <p:bldP spid="186542" grpId="0" autoUpdateAnimBg="0"/>
      <p:bldP spid="186543" grpId="0" autoUpdateAnimBg="0"/>
      <p:bldP spid="186544" grpId="0" animBg="1" autoUpdateAnimBg="0"/>
      <p:bldP spid="186545" grpId="0" animBg="1" autoUpdateAnimBg="0"/>
      <p:bldP spid="186546" grpId="0" animBg="1" autoUpdateAnimBg="0"/>
      <p:bldP spid="186547" grpId="0" animBg="1" autoUpdateAnimBg="0"/>
      <p:bldP spid="36" grpId="0"/>
      <p:bldP spid="84060" grpId="0"/>
      <p:bldP spid="34" grpId="0" autoUpdateAnimBg="0"/>
      <p:bldP spid="34" grpId="1"/>
      <p:bldP spid="3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矩形 1">
            <a:extLst>
              <a:ext uri="{FF2B5EF4-FFF2-40B4-BE49-F238E27FC236}">
                <a16:creationId xmlns:a16="http://schemas.microsoft.com/office/drawing/2014/main" id="{A9BFADDE-02F6-4123-9054-0A5D26C1749A}"/>
              </a:ext>
            </a:extLst>
          </p:cNvPr>
          <p:cNvSpPr>
            <a:spLocks noChangeArrowheads="1"/>
          </p:cNvSpPr>
          <p:nvPr/>
        </p:nvSpPr>
        <p:spPr bwMode="auto">
          <a:xfrm>
            <a:off x="76200" y="2492375"/>
            <a:ext cx="1524000" cy="708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solidFill>
                  <a:srgbClr val="FF0000"/>
                </a:solidFill>
              </a:rPr>
              <a:t>可能的问题有哪些呢？</a:t>
            </a:r>
          </a:p>
        </p:txBody>
      </p:sp>
      <p:grpSp>
        <p:nvGrpSpPr>
          <p:cNvPr id="66563" name="组合 10">
            <a:extLst>
              <a:ext uri="{FF2B5EF4-FFF2-40B4-BE49-F238E27FC236}">
                <a16:creationId xmlns:a16="http://schemas.microsoft.com/office/drawing/2014/main" id="{9BE13831-A339-4E50-83CF-2517BC0D3968}"/>
              </a:ext>
            </a:extLst>
          </p:cNvPr>
          <p:cNvGrpSpPr>
            <a:grpSpLocks/>
          </p:cNvGrpSpPr>
          <p:nvPr/>
        </p:nvGrpSpPr>
        <p:grpSpPr bwMode="auto">
          <a:xfrm>
            <a:off x="1981200" y="1371600"/>
            <a:ext cx="3886200" cy="1447800"/>
            <a:chOff x="2209800" y="1676400"/>
            <a:chExt cx="3886200" cy="1447800"/>
          </a:xfrm>
        </p:grpSpPr>
        <p:sp>
          <p:nvSpPr>
            <p:cNvPr id="66579" name="矩形 18">
              <a:extLst>
                <a:ext uri="{FF2B5EF4-FFF2-40B4-BE49-F238E27FC236}">
                  <a16:creationId xmlns:a16="http://schemas.microsoft.com/office/drawing/2014/main" id="{90E0A26E-C919-4E5E-B0B8-2CE669D4760E}"/>
                </a:ext>
              </a:extLst>
            </p:cNvPr>
            <p:cNvSpPr>
              <a:spLocks noChangeArrowheads="1"/>
            </p:cNvSpPr>
            <p:nvPr/>
          </p:nvSpPr>
          <p:spPr bwMode="auto">
            <a:xfrm>
              <a:off x="2590800" y="1676400"/>
              <a:ext cx="35052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a:t>
              </a:r>
              <a:r>
                <a:rPr lang="zh-CN" altLang="en-US" sz="2000">
                  <a:solidFill>
                    <a:srgbClr val="FF0000"/>
                  </a:solidFill>
                </a:rPr>
                <a:t>不是最优的算法</a:t>
              </a:r>
              <a:r>
                <a:rPr lang="zh-CN" altLang="en-US" sz="2000"/>
                <a:t>？可能有更优的算法？</a:t>
              </a:r>
            </a:p>
          </p:txBody>
        </p:sp>
        <p:cxnSp>
          <p:nvCxnSpPr>
            <p:cNvPr id="5" name="直接箭头连接符 4">
              <a:extLst>
                <a:ext uri="{FF2B5EF4-FFF2-40B4-BE49-F238E27FC236}">
                  <a16:creationId xmlns:a16="http://schemas.microsoft.com/office/drawing/2014/main" id="{F4909B37-ADC7-4842-857C-4F32528BD6D1}"/>
                </a:ext>
              </a:extLst>
            </p:cNvPr>
            <p:cNvCxnSpPr/>
            <p:nvPr/>
          </p:nvCxnSpPr>
          <p:spPr>
            <a:xfrm>
              <a:off x="2209800" y="2030413"/>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DFEF7828-40A2-4068-A7BF-E312169D91C9}"/>
                </a:ext>
              </a:extLst>
            </p:cNvPr>
            <p:cNvCxnSpPr>
              <a:cxnSpLocks/>
            </p:cNvCxnSpPr>
            <p:nvPr/>
          </p:nvCxnSpPr>
          <p:spPr>
            <a:xfrm>
              <a:off x="2209800" y="2030413"/>
              <a:ext cx="0" cy="1093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直接箭头连接符 26">
            <a:extLst>
              <a:ext uri="{FF2B5EF4-FFF2-40B4-BE49-F238E27FC236}">
                <a16:creationId xmlns:a16="http://schemas.microsoft.com/office/drawing/2014/main" id="{5838F91B-F589-4472-893B-E264E7141DBD}"/>
              </a:ext>
            </a:extLst>
          </p:cNvPr>
          <p:cNvCxnSpPr/>
          <p:nvPr/>
        </p:nvCxnSpPr>
        <p:spPr>
          <a:xfrm>
            <a:off x="1600200" y="2819400"/>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6565" name="组合 11">
            <a:extLst>
              <a:ext uri="{FF2B5EF4-FFF2-40B4-BE49-F238E27FC236}">
                <a16:creationId xmlns:a16="http://schemas.microsoft.com/office/drawing/2014/main" id="{C764305E-19D7-4963-84EB-5693B0DD02CF}"/>
              </a:ext>
            </a:extLst>
          </p:cNvPr>
          <p:cNvGrpSpPr>
            <a:grpSpLocks/>
          </p:cNvGrpSpPr>
          <p:nvPr/>
        </p:nvGrpSpPr>
        <p:grpSpPr bwMode="auto">
          <a:xfrm>
            <a:off x="1981200" y="2819400"/>
            <a:ext cx="3886200" cy="1692275"/>
            <a:chOff x="2209800" y="3124200"/>
            <a:chExt cx="3886200" cy="1692859"/>
          </a:xfrm>
        </p:grpSpPr>
        <p:sp>
          <p:nvSpPr>
            <p:cNvPr id="66576" name="矩形 19">
              <a:extLst>
                <a:ext uri="{FF2B5EF4-FFF2-40B4-BE49-F238E27FC236}">
                  <a16:creationId xmlns:a16="http://schemas.microsoft.com/office/drawing/2014/main" id="{51E5F01E-75A3-427B-806A-B670C2D1B7C4}"/>
                </a:ext>
              </a:extLst>
            </p:cNvPr>
            <p:cNvSpPr>
              <a:spLocks noChangeArrowheads="1"/>
            </p:cNvSpPr>
            <p:nvPr/>
          </p:nvSpPr>
          <p:spPr bwMode="auto">
            <a:xfrm>
              <a:off x="2590800" y="4109173"/>
              <a:ext cx="35052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最小元素法只是第一步？</a:t>
              </a:r>
              <a:endParaRPr lang="en-US" altLang="zh-CN" sz="2000"/>
            </a:p>
            <a:p>
              <a:r>
                <a:rPr lang="zh-CN" altLang="en-US" sz="2000"/>
                <a:t>可能</a:t>
              </a:r>
              <a:r>
                <a:rPr lang="zh-CN" altLang="en-US" sz="2000">
                  <a:solidFill>
                    <a:srgbClr val="FF0000"/>
                  </a:solidFill>
                </a:rPr>
                <a:t>还有后续优化算法</a:t>
              </a:r>
              <a:r>
                <a:rPr lang="zh-CN" altLang="en-US" sz="2000"/>
                <a:t>？</a:t>
              </a:r>
            </a:p>
          </p:txBody>
        </p:sp>
        <p:cxnSp>
          <p:nvCxnSpPr>
            <p:cNvPr id="23" name="直接箭头连接符 22">
              <a:extLst>
                <a:ext uri="{FF2B5EF4-FFF2-40B4-BE49-F238E27FC236}">
                  <a16:creationId xmlns:a16="http://schemas.microsoft.com/office/drawing/2014/main" id="{5E39D8D6-54C4-42C4-A07E-7B2C61BA32DB}"/>
                </a:ext>
              </a:extLst>
            </p:cNvPr>
            <p:cNvCxnSpPr/>
            <p:nvPr/>
          </p:nvCxnSpPr>
          <p:spPr>
            <a:xfrm>
              <a:off x="2209800" y="4462925"/>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0CA7F7D1-7151-4EB9-A726-814B26E3B86F}"/>
                </a:ext>
              </a:extLst>
            </p:cNvPr>
            <p:cNvCxnSpPr>
              <a:cxnSpLocks/>
            </p:cNvCxnSpPr>
            <p:nvPr/>
          </p:nvCxnSpPr>
          <p:spPr>
            <a:xfrm>
              <a:off x="2209800" y="3124200"/>
              <a:ext cx="0" cy="1338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566" name="矩形 32">
            <a:extLst>
              <a:ext uri="{FF2B5EF4-FFF2-40B4-BE49-F238E27FC236}">
                <a16:creationId xmlns:a16="http://schemas.microsoft.com/office/drawing/2014/main" id="{45086367-EA47-443F-8868-FA2D2137F834}"/>
              </a:ext>
            </a:extLst>
          </p:cNvPr>
          <p:cNvSpPr>
            <a:spLocks noChangeArrowheads="1"/>
          </p:cNvSpPr>
          <p:nvPr/>
        </p:nvSpPr>
        <p:spPr bwMode="auto">
          <a:xfrm>
            <a:off x="2743200" y="914400"/>
            <a:ext cx="2819400"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rPr>
              <a:t>还没有得到最优结果</a:t>
            </a:r>
          </a:p>
        </p:txBody>
      </p:sp>
      <p:sp>
        <p:nvSpPr>
          <p:cNvPr id="66567" name="矩形 33">
            <a:extLst>
              <a:ext uri="{FF2B5EF4-FFF2-40B4-BE49-F238E27FC236}">
                <a16:creationId xmlns:a16="http://schemas.microsoft.com/office/drawing/2014/main" id="{6B40A2FE-7323-42D8-B1FF-472C20A22359}"/>
              </a:ext>
            </a:extLst>
          </p:cNvPr>
          <p:cNvSpPr>
            <a:spLocks noChangeArrowheads="1"/>
          </p:cNvSpPr>
          <p:nvPr/>
        </p:nvSpPr>
        <p:spPr bwMode="auto">
          <a:xfrm>
            <a:off x="3124200" y="4613275"/>
            <a:ext cx="1790700"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rPr>
              <a:t>靠近最优结果</a:t>
            </a:r>
          </a:p>
        </p:txBody>
      </p:sp>
      <p:sp>
        <p:nvSpPr>
          <p:cNvPr id="66568" name="Text Box 89">
            <a:extLst>
              <a:ext uri="{FF2B5EF4-FFF2-40B4-BE49-F238E27FC236}">
                <a16:creationId xmlns:a16="http://schemas.microsoft.com/office/drawing/2014/main" id="{FDE228B6-9ABE-495B-AC63-6F40A3A34117}"/>
              </a:ext>
            </a:extLst>
          </p:cNvPr>
          <p:cNvSpPr txBox="1">
            <a:spLocks noChangeArrowheads="1"/>
          </p:cNvSpPr>
          <p:nvPr/>
        </p:nvSpPr>
        <p:spPr bwMode="auto">
          <a:xfrm>
            <a:off x="3592513" y="2519363"/>
            <a:ext cx="528637"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4400" b="1">
                <a:solidFill>
                  <a:srgbClr val="FF0000"/>
                </a:solidFill>
              </a:rPr>
              <a:t>?</a:t>
            </a:r>
          </a:p>
        </p:txBody>
      </p:sp>
      <p:grpSp>
        <p:nvGrpSpPr>
          <p:cNvPr id="3" name="组合 2">
            <a:extLst>
              <a:ext uri="{FF2B5EF4-FFF2-40B4-BE49-F238E27FC236}">
                <a16:creationId xmlns:a16="http://schemas.microsoft.com/office/drawing/2014/main" id="{656E0640-D008-48C1-BDF1-70999275B5D7}"/>
              </a:ext>
            </a:extLst>
          </p:cNvPr>
          <p:cNvGrpSpPr>
            <a:grpSpLocks/>
          </p:cNvGrpSpPr>
          <p:nvPr/>
        </p:nvGrpSpPr>
        <p:grpSpPr bwMode="auto">
          <a:xfrm>
            <a:off x="5943600" y="1392238"/>
            <a:ext cx="2362200" cy="708025"/>
            <a:chOff x="5943600" y="1392238"/>
            <a:chExt cx="2362200" cy="708025"/>
          </a:xfrm>
        </p:grpSpPr>
        <p:sp>
          <p:nvSpPr>
            <p:cNvPr id="66574" name="矩形 15">
              <a:extLst>
                <a:ext uri="{FF2B5EF4-FFF2-40B4-BE49-F238E27FC236}">
                  <a16:creationId xmlns:a16="http://schemas.microsoft.com/office/drawing/2014/main" id="{E994545F-F401-4751-9862-786F2064AF62}"/>
                </a:ext>
              </a:extLst>
            </p:cNvPr>
            <p:cNvSpPr>
              <a:spLocks noChangeArrowheads="1"/>
            </p:cNvSpPr>
            <p:nvPr/>
          </p:nvSpPr>
          <p:spPr bwMode="auto">
            <a:xfrm>
              <a:off x="6629400" y="1392238"/>
              <a:ext cx="1676400" cy="708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FF00FF"/>
                  </a:solidFill>
                </a:rPr>
                <a:t>伏格尔法</a:t>
              </a:r>
              <a:endParaRPr lang="en-US" altLang="zh-CN" sz="2000">
                <a:solidFill>
                  <a:srgbClr val="FF00FF"/>
                </a:solidFill>
              </a:endParaRPr>
            </a:p>
            <a:p>
              <a:r>
                <a:rPr lang="zh-CN" altLang="en-US" sz="2000">
                  <a:solidFill>
                    <a:srgbClr val="FF00FF"/>
                  </a:solidFill>
                </a:rPr>
                <a:t>（</a:t>
              </a:r>
              <a:r>
                <a:rPr lang="en-US" altLang="zh-CN" sz="2000">
                  <a:solidFill>
                    <a:srgbClr val="FF00FF"/>
                  </a:solidFill>
                </a:rPr>
                <a:t> Vogel</a:t>
              </a:r>
              <a:r>
                <a:rPr lang="zh-CN" altLang="en-US" sz="2000">
                  <a:solidFill>
                    <a:srgbClr val="FF00FF"/>
                  </a:solidFill>
                </a:rPr>
                <a:t>）</a:t>
              </a:r>
            </a:p>
          </p:txBody>
        </p:sp>
        <p:sp>
          <p:nvSpPr>
            <p:cNvPr id="2" name="箭头: 右 1">
              <a:extLst>
                <a:ext uri="{FF2B5EF4-FFF2-40B4-BE49-F238E27FC236}">
                  <a16:creationId xmlns:a16="http://schemas.microsoft.com/office/drawing/2014/main" id="{ED18FAF5-10B9-4C4D-BDB2-FDE7C34EB40B}"/>
                </a:ext>
              </a:extLst>
            </p:cNvPr>
            <p:cNvSpPr/>
            <p:nvPr/>
          </p:nvSpPr>
          <p:spPr>
            <a:xfrm>
              <a:off x="5943600" y="1600200"/>
              <a:ext cx="68580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grpSp>
        <p:nvGrpSpPr>
          <p:cNvPr id="4" name="组合 3">
            <a:extLst>
              <a:ext uri="{FF2B5EF4-FFF2-40B4-BE49-F238E27FC236}">
                <a16:creationId xmlns:a16="http://schemas.microsoft.com/office/drawing/2014/main" id="{C2BA511D-3EF9-4894-B272-4DC09C015E08}"/>
              </a:ext>
            </a:extLst>
          </p:cNvPr>
          <p:cNvGrpSpPr>
            <a:grpSpLocks/>
          </p:cNvGrpSpPr>
          <p:nvPr/>
        </p:nvGrpSpPr>
        <p:grpSpPr bwMode="auto">
          <a:xfrm>
            <a:off x="5942013" y="3803650"/>
            <a:ext cx="2516187" cy="708025"/>
            <a:chOff x="5942639" y="3803650"/>
            <a:chExt cx="2515561" cy="707886"/>
          </a:xfrm>
        </p:grpSpPr>
        <p:sp>
          <p:nvSpPr>
            <p:cNvPr id="66572" name="矩形 16">
              <a:extLst>
                <a:ext uri="{FF2B5EF4-FFF2-40B4-BE49-F238E27FC236}">
                  <a16:creationId xmlns:a16="http://schemas.microsoft.com/office/drawing/2014/main" id="{46A95F78-A777-4CD6-91FA-5B2FFAD0E315}"/>
                </a:ext>
              </a:extLst>
            </p:cNvPr>
            <p:cNvSpPr>
              <a:spLocks noChangeArrowheads="1"/>
            </p:cNvSpPr>
            <p:nvPr/>
          </p:nvSpPr>
          <p:spPr bwMode="auto">
            <a:xfrm>
              <a:off x="6629400" y="3803650"/>
              <a:ext cx="18288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FF00FF"/>
                  </a:solidFill>
                </a:rPr>
                <a:t>？</a:t>
              </a:r>
              <a:endParaRPr lang="en-US" altLang="zh-CN" sz="2000">
                <a:solidFill>
                  <a:srgbClr val="FF00FF"/>
                </a:solidFill>
              </a:endParaRPr>
            </a:p>
            <a:p>
              <a:r>
                <a:rPr lang="zh-CN" altLang="en-US" sz="2000">
                  <a:solidFill>
                    <a:srgbClr val="FF00FF"/>
                  </a:solidFill>
                </a:rPr>
                <a:t>？</a:t>
              </a:r>
              <a:endParaRPr lang="en-US" altLang="zh-CN" sz="2000">
                <a:solidFill>
                  <a:srgbClr val="FF00FF"/>
                </a:solidFill>
              </a:endParaRPr>
            </a:p>
          </p:txBody>
        </p:sp>
        <p:sp>
          <p:nvSpPr>
            <p:cNvPr id="19" name="箭头: 右 18">
              <a:extLst>
                <a:ext uri="{FF2B5EF4-FFF2-40B4-BE49-F238E27FC236}">
                  <a16:creationId xmlns:a16="http://schemas.microsoft.com/office/drawing/2014/main" id="{0E246B6D-BE68-4524-87A9-BB58FEF69BDF}"/>
                </a:ext>
              </a:extLst>
            </p:cNvPr>
            <p:cNvSpPr/>
            <p:nvPr/>
          </p:nvSpPr>
          <p:spPr>
            <a:xfrm>
              <a:off x="5942639" y="4005223"/>
              <a:ext cx="685629" cy="30474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
        <p:nvSpPr>
          <p:cNvPr id="66571" name="标题 5">
            <a:extLst>
              <a:ext uri="{FF2B5EF4-FFF2-40B4-BE49-F238E27FC236}">
                <a16:creationId xmlns:a16="http://schemas.microsoft.com/office/drawing/2014/main" id="{8A9A1659-1D1C-49B5-B607-5711A1125199}"/>
              </a:ext>
            </a:extLst>
          </p:cNvPr>
          <p:cNvSpPr>
            <a:spLocks noGrp="1" noChangeArrowheads="1"/>
          </p:cNvSpPr>
          <p:nvPr>
            <p:ph type="title"/>
          </p:nvPr>
        </p:nvSpPr>
        <p:spPr/>
        <p:txBody>
          <a:bodyPr/>
          <a:lstStyle/>
          <a:p>
            <a:r>
              <a:rPr lang="zh-CN" altLang="en-US" sz="4400"/>
              <a:t>让最小元素法不再遗憾</a:t>
            </a: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randombar(horizontal)">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descr="Large confetti">
            <a:extLst>
              <a:ext uri="{FF2B5EF4-FFF2-40B4-BE49-F238E27FC236}">
                <a16:creationId xmlns:a16="http://schemas.microsoft.com/office/drawing/2014/main" id="{0EEDEDFE-2220-43F9-B2D2-767A5F442CB0}"/>
              </a:ext>
            </a:extLst>
          </p:cNvPr>
          <p:cNvSpPr>
            <a:spLocks noGrp="1" noChangeArrowheads="1"/>
          </p:cNvSpPr>
          <p:nvPr>
            <p:ph type="title"/>
          </p:nvPr>
        </p:nvSpPr>
        <p:spPr/>
        <p:txBody>
          <a:bodyPr/>
          <a:lstStyle/>
          <a:p>
            <a:pPr eaLnBrk="1" hangingPunct="1"/>
            <a:r>
              <a:rPr lang="zh-CN" altLang="en-US"/>
              <a:t>最小元素法</a:t>
            </a:r>
            <a:r>
              <a:rPr lang="en-US" altLang="zh-CN"/>
              <a:t>VS</a:t>
            </a:r>
            <a:r>
              <a:rPr lang="zh-CN" altLang="en-US"/>
              <a:t>参考目标</a:t>
            </a:r>
          </a:p>
        </p:txBody>
      </p:sp>
      <p:graphicFrame>
        <p:nvGraphicFramePr>
          <p:cNvPr id="44" name="Group 107">
            <a:extLst>
              <a:ext uri="{FF2B5EF4-FFF2-40B4-BE49-F238E27FC236}">
                <a16:creationId xmlns:a16="http://schemas.microsoft.com/office/drawing/2014/main" id="{A56B11EF-C38C-4B63-9362-5B6A456FFCF9}"/>
              </a:ext>
            </a:extLst>
          </p:cNvPr>
          <p:cNvGraphicFramePr>
            <a:graphicFrameLocks/>
          </p:cNvGraphicFramePr>
          <p:nvPr/>
        </p:nvGraphicFramePr>
        <p:xfrm>
          <a:off x="76200" y="914400"/>
          <a:ext cx="6781800" cy="3962401"/>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67679" name="矩形 1">
            <a:extLst>
              <a:ext uri="{FF2B5EF4-FFF2-40B4-BE49-F238E27FC236}">
                <a16:creationId xmlns:a16="http://schemas.microsoft.com/office/drawing/2014/main" id="{48A6768F-1D5B-46DA-BDF9-DA36172D8BDC}"/>
              </a:ext>
            </a:extLst>
          </p:cNvPr>
          <p:cNvSpPr>
            <a:spLocks noChangeArrowheads="1"/>
          </p:cNvSpPr>
          <p:nvPr/>
        </p:nvSpPr>
        <p:spPr bwMode="auto">
          <a:xfrm>
            <a:off x="6967538" y="1308100"/>
            <a:ext cx="2024062" cy="341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400" b="1">
                <a:solidFill>
                  <a:srgbClr val="FF0000"/>
                </a:solidFill>
              </a:rPr>
              <a:t>最小元素法：</a:t>
            </a:r>
            <a:r>
              <a:rPr lang="en-US" altLang="zh-CN" sz="2400" b="1"/>
              <a:t>3</a:t>
            </a:r>
            <a:r>
              <a:rPr lang="zh-CN" altLang="en-US" sz="2400" b="1"/>
              <a:t>*</a:t>
            </a:r>
            <a:r>
              <a:rPr lang="en-US" altLang="zh-CN" sz="2400" b="1"/>
              <a:t>4+10</a:t>
            </a:r>
            <a:r>
              <a:rPr lang="zh-CN" altLang="en-US" sz="2400" b="1"/>
              <a:t>*</a:t>
            </a:r>
            <a:r>
              <a:rPr lang="en-US" altLang="zh-CN" sz="2400" b="1"/>
              <a:t>3+1</a:t>
            </a:r>
            <a:r>
              <a:rPr lang="zh-CN" altLang="en-US" sz="2400" b="1"/>
              <a:t>*</a:t>
            </a:r>
            <a:r>
              <a:rPr lang="en-US" altLang="zh-CN" sz="2400" b="1"/>
              <a:t>3+2</a:t>
            </a:r>
            <a:r>
              <a:rPr lang="zh-CN" altLang="en-US" sz="2400" b="1"/>
              <a:t>*</a:t>
            </a:r>
            <a:r>
              <a:rPr lang="en-US" altLang="zh-CN" sz="2400" b="1"/>
              <a:t>1+4</a:t>
            </a:r>
            <a:r>
              <a:rPr lang="zh-CN" altLang="en-US" sz="2400" b="1"/>
              <a:t>*</a:t>
            </a:r>
            <a:r>
              <a:rPr lang="en-US" altLang="zh-CN" sz="2400" b="1"/>
              <a:t>6+5</a:t>
            </a:r>
            <a:r>
              <a:rPr lang="zh-CN" altLang="en-US" sz="2400" b="1"/>
              <a:t>*</a:t>
            </a:r>
            <a:r>
              <a:rPr lang="en-US" altLang="zh-CN" sz="2400" b="1"/>
              <a:t>3=</a:t>
            </a:r>
            <a:r>
              <a:rPr lang="en-US" altLang="zh-CN" sz="2400" b="1">
                <a:solidFill>
                  <a:srgbClr val="FF0000"/>
                </a:solidFill>
              </a:rPr>
              <a:t>86</a:t>
            </a:r>
            <a:endParaRPr lang="zh-CN" altLang="en-US" sz="2400" b="1">
              <a:solidFill>
                <a:srgbClr val="FF0000"/>
              </a:solidFill>
            </a:endParaRPr>
          </a:p>
          <a:p>
            <a:endParaRPr lang="en-US" altLang="zh-CN" sz="2400" b="1">
              <a:solidFill>
                <a:srgbClr val="0000FF"/>
              </a:solidFill>
            </a:endParaRPr>
          </a:p>
          <a:p>
            <a:r>
              <a:rPr lang="zh-CN" altLang="en-US" sz="2400" b="1">
                <a:solidFill>
                  <a:srgbClr val="0000FF"/>
                </a:solidFill>
              </a:rPr>
              <a:t>参考目标：</a:t>
            </a:r>
            <a:r>
              <a:rPr lang="en-US" altLang="zh-CN" sz="2400" b="1"/>
              <a:t>3</a:t>
            </a:r>
            <a:r>
              <a:rPr lang="zh-CN" altLang="en-US" sz="2400" b="1"/>
              <a:t>*</a:t>
            </a:r>
            <a:r>
              <a:rPr lang="en-US" altLang="zh-CN" sz="2400" b="1"/>
              <a:t>5+10</a:t>
            </a:r>
            <a:r>
              <a:rPr lang="zh-CN" altLang="en-US" sz="2400" b="1"/>
              <a:t>*</a:t>
            </a:r>
            <a:r>
              <a:rPr lang="en-US" altLang="zh-CN" sz="2400" b="1"/>
              <a:t>2+1</a:t>
            </a:r>
            <a:r>
              <a:rPr lang="zh-CN" altLang="en-US" sz="2400" b="1"/>
              <a:t>*</a:t>
            </a:r>
            <a:r>
              <a:rPr lang="en-US" altLang="zh-CN" sz="2400" b="1"/>
              <a:t>3+8</a:t>
            </a:r>
            <a:r>
              <a:rPr lang="zh-CN" altLang="en-US" sz="2400" b="1"/>
              <a:t>*</a:t>
            </a:r>
            <a:r>
              <a:rPr lang="en-US" altLang="zh-CN" sz="2400" b="1"/>
              <a:t>1+4</a:t>
            </a:r>
            <a:r>
              <a:rPr lang="zh-CN" altLang="en-US" sz="2400" b="1"/>
              <a:t>*</a:t>
            </a:r>
            <a:r>
              <a:rPr lang="en-US" altLang="zh-CN" sz="2400" b="1"/>
              <a:t>6+5</a:t>
            </a:r>
            <a:r>
              <a:rPr lang="zh-CN" altLang="en-US" sz="2400" b="1"/>
              <a:t>*</a:t>
            </a:r>
            <a:r>
              <a:rPr lang="en-US" altLang="zh-CN" sz="2400" b="1"/>
              <a:t>3=</a:t>
            </a:r>
            <a:r>
              <a:rPr lang="en-US" altLang="zh-CN" sz="2400" b="1">
                <a:solidFill>
                  <a:srgbClr val="0000FF"/>
                </a:solidFill>
              </a:rPr>
              <a:t>85</a:t>
            </a:r>
          </a:p>
        </p:txBody>
      </p:sp>
      <p:sp>
        <p:nvSpPr>
          <p:cNvPr id="67680" name="Text Box 96">
            <a:extLst>
              <a:ext uri="{FF2B5EF4-FFF2-40B4-BE49-F238E27FC236}">
                <a16:creationId xmlns:a16="http://schemas.microsoft.com/office/drawing/2014/main" id="{71018E2F-1682-42F2-9841-694AD0F105CD}"/>
              </a:ext>
            </a:extLst>
          </p:cNvPr>
          <p:cNvSpPr txBox="1">
            <a:spLocks noChangeArrowheads="1"/>
          </p:cNvSpPr>
          <p:nvPr/>
        </p:nvSpPr>
        <p:spPr bwMode="auto">
          <a:xfrm>
            <a:off x="990600" y="284162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67681" name="Text Box 98">
            <a:extLst>
              <a:ext uri="{FF2B5EF4-FFF2-40B4-BE49-F238E27FC236}">
                <a16:creationId xmlns:a16="http://schemas.microsoft.com/office/drawing/2014/main" id="{755D78AE-6B2D-4856-8C4F-83E9FDD7D2E9}"/>
              </a:ext>
            </a:extLst>
          </p:cNvPr>
          <p:cNvSpPr txBox="1">
            <a:spLocks noChangeArrowheads="1"/>
          </p:cNvSpPr>
          <p:nvPr/>
        </p:nvSpPr>
        <p:spPr bwMode="auto">
          <a:xfrm>
            <a:off x="3581400" y="284162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67682" name="Text Box 100">
            <a:extLst>
              <a:ext uri="{FF2B5EF4-FFF2-40B4-BE49-F238E27FC236}">
                <a16:creationId xmlns:a16="http://schemas.microsoft.com/office/drawing/2014/main" id="{38790D6A-FEC8-4E72-8EC7-BD608CF48B84}"/>
              </a:ext>
            </a:extLst>
          </p:cNvPr>
          <p:cNvSpPr txBox="1">
            <a:spLocks noChangeArrowheads="1"/>
          </p:cNvSpPr>
          <p:nvPr/>
        </p:nvSpPr>
        <p:spPr bwMode="auto">
          <a:xfrm>
            <a:off x="3581400" y="2003425"/>
            <a:ext cx="3429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4</a:t>
            </a:r>
            <a:endParaRPr lang="en-US" altLang="zh-CN" sz="2000" b="1">
              <a:solidFill>
                <a:srgbClr val="0000FF"/>
              </a:solidFill>
            </a:endParaRPr>
          </a:p>
        </p:txBody>
      </p:sp>
      <p:sp>
        <p:nvSpPr>
          <p:cNvPr id="67683" name="Text Box 102">
            <a:extLst>
              <a:ext uri="{FF2B5EF4-FFF2-40B4-BE49-F238E27FC236}">
                <a16:creationId xmlns:a16="http://schemas.microsoft.com/office/drawing/2014/main" id="{4902E2A4-9C4A-4C59-B1F0-EC063EA15F98}"/>
              </a:ext>
            </a:extLst>
          </p:cNvPr>
          <p:cNvSpPr txBox="1">
            <a:spLocks noChangeArrowheads="1"/>
          </p:cNvSpPr>
          <p:nvPr/>
        </p:nvSpPr>
        <p:spPr bwMode="auto">
          <a:xfrm>
            <a:off x="2346325" y="37877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67684" name="Text Box 103">
            <a:extLst>
              <a:ext uri="{FF2B5EF4-FFF2-40B4-BE49-F238E27FC236}">
                <a16:creationId xmlns:a16="http://schemas.microsoft.com/office/drawing/2014/main" id="{D03228F8-BD3E-47AE-96E9-D2389E614C70}"/>
              </a:ext>
            </a:extLst>
          </p:cNvPr>
          <p:cNvSpPr txBox="1">
            <a:spLocks noChangeArrowheads="1"/>
          </p:cNvSpPr>
          <p:nvPr/>
        </p:nvSpPr>
        <p:spPr bwMode="auto">
          <a:xfrm>
            <a:off x="4772025" y="37877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67685" name="Text Box 104">
            <a:extLst>
              <a:ext uri="{FF2B5EF4-FFF2-40B4-BE49-F238E27FC236}">
                <a16:creationId xmlns:a16="http://schemas.microsoft.com/office/drawing/2014/main" id="{E2A45FEA-6A34-4C49-B878-C37408B78FB3}"/>
              </a:ext>
            </a:extLst>
          </p:cNvPr>
          <p:cNvSpPr txBox="1">
            <a:spLocks noChangeArrowheads="1"/>
          </p:cNvSpPr>
          <p:nvPr/>
        </p:nvSpPr>
        <p:spPr bwMode="auto">
          <a:xfrm>
            <a:off x="4800600" y="2003425"/>
            <a:ext cx="381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endParaRPr lang="en-US" altLang="zh-CN" sz="2000" b="1">
              <a:solidFill>
                <a:srgbClr val="0000FF"/>
              </a:solidFill>
            </a:endParaRPr>
          </a:p>
        </p:txBody>
      </p:sp>
      <p:grpSp>
        <p:nvGrpSpPr>
          <p:cNvPr id="5" name="组合 4">
            <a:extLst>
              <a:ext uri="{FF2B5EF4-FFF2-40B4-BE49-F238E27FC236}">
                <a16:creationId xmlns:a16="http://schemas.microsoft.com/office/drawing/2014/main" id="{DB1FBA6A-F9E9-46E9-9AD3-255A915A3CDD}"/>
              </a:ext>
            </a:extLst>
          </p:cNvPr>
          <p:cNvGrpSpPr>
            <a:grpSpLocks/>
          </p:cNvGrpSpPr>
          <p:nvPr/>
        </p:nvGrpSpPr>
        <p:grpSpPr bwMode="auto">
          <a:xfrm>
            <a:off x="1401763" y="1993900"/>
            <a:ext cx="4148137" cy="2190750"/>
            <a:chOff x="1935949" y="2070020"/>
            <a:chExt cx="4147351" cy="2190826"/>
          </a:xfrm>
        </p:grpSpPr>
        <p:sp>
          <p:nvSpPr>
            <p:cNvPr id="67692" name="Text Box 100">
              <a:extLst>
                <a:ext uri="{FF2B5EF4-FFF2-40B4-BE49-F238E27FC236}">
                  <a16:creationId xmlns:a16="http://schemas.microsoft.com/office/drawing/2014/main" id="{73028A53-031D-478F-8BC6-D02A569EEB33}"/>
                </a:ext>
              </a:extLst>
            </p:cNvPr>
            <p:cNvSpPr txBox="1">
              <a:spLocks noChangeArrowheads="1"/>
            </p:cNvSpPr>
            <p:nvPr/>
          </p:nvSpPr>
          <p:spPr bwMode="auto">
            <a:xfrm>
              <a:off x="4457700" y="2070020"/>
              <a:ext cx="395301"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5</a:t>
              </a:r>
            </a:p>
          </p:txBody>
        </p:sp>
        <p:sp>
          <p:nvSpPr>
            <p:cNvPr id="67693" name="Text Box 104">
              <a:extLst>
                <a:ext uri="{FF2B5EF4-FFF2-40B4-BE49-F238E27FC236}">
                  <a16:creationId xmlns:a16="http://schemas.microsoft.com/office/drawing/2014/main" id="{4C9365D7-749A-4B32-AA5E-20473BE86238}"/>
                </a:ext>
              </a:extLst>
            </p:cNvPr>
            <p:cNvSpPr txBox="1">
              <a:spLocks noChangeArrowheads="1"/>
            </p:cNvSpPr>
            <p:nvPr/>
          </p:nvSpPr>
          <p:spPr bwMode="auto">
            <a:xfrm>
              <a:off x="5701499" y="2079812"/>
              <a:ext cx="3683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2</a:t>
              </a:r>
            </a:p>
          </p:txBody>
        </p:sp>
        <p:sp>
          <p:nvSpPr>
            <p:cNvPr id="67694" name="Text Box 100">
              <a:extLst>
                <a:ext uri="{FF2B5EF4-FFF2-40B4-BE49-F238E27FC236}">
                  <a16:creationId xmlns:a16="http://schemas.microsoft.com/office/drawing/2014/main" id="{C0BDADFD-4429-4B1D-B272-C2AFF0990A57}"/>
                </a:ext>
              </a:extLst>
            </p:cNvPr>
            <p:cNvSpPr txBox="1">
              <a:spLocks noChangeArrowheads="1"/>
            </p:cNvSpPr>
            <p:nvPr/>
          </p:nvSpPr>
          <p:spPr bwMode="auto">
            <a:xfrm>
              <a:off x="1935949" y="2918011"/>
              <a:ext cx="3953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3</a:t>
              </a:r>
            </a:p>
          </p:txBody>
        </p:sp>
        <p:sp>
          <p:nvSpPr>
            <p:cNvPr id="67695" name="Text Box 104">
              <a:extLst>
                <a:ext uri="{FF2B5EF4-FFF2-40B4-BE49-F238E27FC236}">
                  <a16:creationId xmlns:a16="http://schemas.microsoft.com/office/drawing/2014/main" id="{9C4E81CB-9BD2-40C4-A5D5-9ED3A5476801}"/>
                </a:ext>
              </a:extLst>
            </p:cNvPr>
            <p:cNvSpPr txBox="1">
              <a:spLocks noChangeArrowheads="1"/>
            </p:cNvSpPr>
            <p:nvPr/>
          </p:nvSpPr>
          <p:spPr bwMode="auto">
            <a:xfrm>
              <a:off x="5715000" y="2901733"/>
              <a:ext cx="3683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1</a:t>
              </a:r>
            </a:p>
          </p:txBody>
        </p:sp>
        <p:sp>
          <p:nvSpPr>
            <p:cNvPr id="67696" name="Text Box 100">
              <a:extLst>
                <a:ext uri="{FF2B5EF4-FFF2-40B4-BE49-F238E27FC236}">
                  <a16:creationId xmlns:a16="http://schemas.microsoft.com/office/drawing/2014/main" id="{740074FB-3B96-4B92-83A2-7738F799542F}"/>
                </a:ext>
              </a:extLst>
            </p:cNvPr>
            <p:cNvSpPr txBox="1">
              <a:spLocks noChangeArrowheads="1"/>
            </p:cNvSpPr>
            <p:nvPr/>
          </p:nvSpPr>
          <p:spPr bwMode="auto">
            <a:xfrm>
              <a:off x="3289966" y="3860736"/>
              <a:ext cx="3953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6</a:t>
              </a:r>
            </a:p>
          </p:txBody>
        </p:sp>
        <p:sp>
          <p:nvSpPr>
            <p:cNvPr id="67697" name="Text Box 100">
              <a:extLst>
                <a:ext uri="{FF2B5EF4-FFF2-40B4-BE49-F238E27FC236}">
                  <a16:creationId xmlns:a16="http://schemas.microsoft.com/office/drawing/2014/main" id="{DAA7058B-4910-48F8-8BEF-3C9F08A844FA}"/>
                </a:ext>
              </a:extLst>
            </p:cNvPr>
            <p:cNvSpPr txBox="1">
              <a:spLocks noChangeArrowheads="1"/>
            </p:cNvSpPr>
            <p:nvPr/>
          </p:nvSpPr>
          <p:spPr bwMode="auto">
            <a:xfrm>
              <a:off x="5641520" y="3860736"/>
              <a:ext cx="3953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FF"/>
                  </a:solidFill>
                </a:rPr>
                <a:t>3</a:t>
              </a:r>
            </a:p>
          </p:txBody>
        </p:sp>
      </p:grpSp>
      <p:sp>
        <p:nvSpPr>
          <p:cNvPr id="79" name="矩形 78">
            <a:extLst>
              <a:ext uri="{FF2B5EF4-FFF2-40B4-BE49-F238E27FC236}">
                <a16:creationId xmlns:a16="http://schemas.microsoft.com/office/drawing/2014/main" id="{D01672F0-7F9C-4031-8B78-F60CAD425540}"/>
              </a:ext>
            </a:extLst>
          </p:cNvPr>
          <p:cNvSpPr/>
          <p:nvPr/>
        </p:nvSpPr>
        <p:spPr>
          <a:xfrm>
            <a:off x="3960813" y="1946275"/>
            <a:ext cx="1147762" cy="1212850"/>
          </a:xfrm>
          <a:prstGeom prst="rect">
            <a:avLst/>
          </a:prstGeom>
          <a:noFill/>
          <a:ln w="38100">
            <a:solidFill>
              <a:srgbClr val="FF00F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4616" name="矩形 19">
            <a:extLst>
              <a:ext uri="{FF2B5EF4-FFF2-40B4-BE49-F238E27FC236}">
                <a16:creationId xmlns:a16="http://schemas.microsoft.com/office/drawing/2014/main" id="{AC981A66-8FED-469D-9D75-0165D01215A0}"/>
              </a:ext>
            </a:extLst>
          </p:cNvPr>
          <p:cNvSpPr>
            <a:spLocks noChangeArrowheads="1"/>
          </p:cNvSpPr>
          <p:nvPr/>
        </p:nvSpPr>
        <p:spPr bwMode="auto">
          <a:xfrm>
            <a:off x="615950" y="5118100"/>
            <a:ext cx="6383338"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最小元素法只是第一步？可能</a:t>
            </a:r>
            <a:r>
              <a:rPr lang="zh-CN" altLang="en-US" sz="2000">
                <a:solidFill>
                  <a:srgbClr val="FF0000"/>
                </a:solidFill>
              </a:rPr>
              <a:t>还有后续优化算法</a:t>
            </a:r>
            <a:r>
              <a:rPr lang="zh-CN" altLang="en-US" sz="2000"/>
              <a:t>？</a:t>
            </a:r>
          </a:p>
        </p:txBody>
      </p:sp>
      <p:grpSp>
        <p:nvGrpSpPr>
          <p:cNvPr id="2" name="组合 1">
            <a:extLst>
              <a:ext uri="{FF2B5EF4-FFF2-40B4-BE49-F238E27FC236}">
                <a16:creationId xmlns:a16="http://schemas.microsoft.com/office/drawing/2014/main" id="{BEFED149-8983-4BE1-97B2-36EA84A23B88}"/>
              </a:ext>
            </a:extLst>
          </p:cNvPr>
          <p:cNvGrpSpPr>
            <a:grpSpLocks/>
          </p:cNvGrpSpPr>
          <p:nvPr/>
        </p:nvGrpSpPr>
        <p:grpSpPr bwMode="auto">
          <a:xfrm>
            <a:off x="1239838" y="5589588"/>
            <a:ext cx="5210175" cy="930275"/>
            <a:chOff x="1239050" y="5589656"/>
            <a:chExt cx="5211683" cy="929520"/>
          </a:xfrm>
        </p:grpSpPr>
        <p:sp>
          <p:nvSpPr>
            <p:cNvPr id="67690" name="矩形 2">
              <a:extLst>
                <a:ext uri="{FF2B5EF4-FFF2-40B4-BE49-F238E27FC236}">
                  <a16:creationId xmlns:a16="http://schemas.microsoft.com/office/drawing/2014/main" id="{7DAD6CB9-6D36-4505-8159-64511FFADCF8}"/>
                </a:ext>
              </a:extLst>
            </p:cNvPr>
            <p:cNvSpPr>
              <a:spLocks noChangeArrowheads="1"/>
            </p:cNvSpPr>
            <p:nvPr/>
          </p:nvSpPr>
          <p:spPr bwMode="auto">
            <a:xfrm>
              <a:off x="1239050" y="5995956"/>
              <a:ext cx="5211683" cy="52322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a:t>怎么样判断已经达到了最优解？</a:t>
              </a:r>
            </a:p>
          </p:txBody>
        </p:sp>
        <p:sp>
          <p:nvSpPr>
            <p:cNvPr id="21" name="箭头: 右 20">
              <a:extLst>
                <a:ext uri="{FF2B5EF4-FFF2-40B4-BE49-F238E27FC236}">
                  <a16:creationId xmlns:a16="http://schemas.microsoft.com/office/drawing/2014/main" id="{AFD72961-1570-4610-A3DE-E9306936CA7E}"/>
                </a:ext>
              </a:extLst>
            </p:cNvPr>
            <p:cNvSpPr/>
            <p:nvPr/>
          </p:nvSpPr>
          <p:spPr bwMode="auto">
            <a:xfrm rot="5400000">
              <a:off x="3558457" y="5612489"/>
              <a:ext cx="350552" cy="3048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randombar(horizontal)">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9"/>
                                        </p:tgtEl>
                                        <p:attrNameLst>
                                          <p:attrName>style.visibility</p:attrName>
                                        </p:attrNameLst>
                                      </p:cBhvr>
                                      <p:to>
                                        <p:strVal val="visible"/>
                                      </p:to>
                                    </p:set>
                                    <p:animEffect transition="in" filter="fade">
                                      <p:cBhvr>
                                        <p:cTn id="12" dur="500"/>
                                        <p:tgtEl>
                                          <p:spTgt spid="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64616"/>
                                        </p:tgtEl>
                                        <p:attrNameLst>
                                          <p:attrName>style.visibility</p:attrName>
                                        </p:attrNameLst>
                                      </p:cBhvr>
                                      <p:to>
                                        <p:strVal val="visible"/>
                                      </p:to>
                                    </p:set>
                                    <p:animEffect transition="in" filter="randombar(horizontal)">
                                      <p:cBhvr>
                                        <p:cTn id="17" dur="500"/>
                                        <p:tgtEl>
                                          <p:spTgt spid="646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randombar(horizontal)">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64616"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a:extLst>
              <a:ext uri="{FF2B5EF4-FFF2-40B4-BE49-F238E27FC236}">
                <a16:creationId xmlns:a16="http://schemas.microsoft.com/office/drawing/2014/main" id="{9226D8C0-5C76-4F7F-A5EC-66FAD532FDD6}"/>
              </a:ext>
            </a:extLst>
          </p:cNvPr>
          <p:cNvSpPr>
            <a:spLocks noGrp="1" noChangeArrowheads="1"/>
          </p:cNvSpPr>
          <p:nvPr>
            <p:ph type="title"/>
          </p:nvPr>
        </p:nvSpPr>
        <p:spPr/>
        <p:txBody>
          <a:bodyPr/>
          <a:lstStyle/>
          <a:p>
            <a:pPr eaLnBrk="1" hangingPunct="1"/>
            <a:r>
              <a:rPr lang="zh-CN" altLang="en-US"/>
              <a:t>最优解判断</a:t>
            </a:r>
          </a:p>
        </p:txBody>
      </p:sp>
      <p:sp>
        <p:nvSpPr>
          <p:cNvPr id="164867" name="Rectangle 3">
            <a:extLst>
              <a:ext uri="{FF2B5EF4-FFF2-40B4-BE49-F238E27FC236}">
                <a16:creationId xmlns:a16="http://schemas.microsoft.com/office/drawing/2014/main" id="{12FDAE1E-29D1-4402-A5A9-5DF6D8323883}"/>
              </a:ext>
            </a:extLst>
          </p:cNvPr>
          <p:cNvSpPr>
            <a:spLocks noGrp="1" noChangeArrowheads="1"/>
          </p:cNvSpPr>
          <p:nvPr>
            <p:ph type="body" idx="1"/>
          </p:nvPr>
        </p:nvSpPr>
        <p:spPr>
          <a:xfrm>
            <a:off x="76200" y="990600"/>
            <a:ext cx="8991600" cy="5410200"/>
          </a:xfrm>
        </p:spPr>
        <p:txBody>
          <a:bodyPr/>
          <a:lstStyle/>
          <a:p>
            <a:pPr eaLnBrk="1" hangingPunct="1">
              <a:defRPr/>
            </a:pPr>
            <a:r>
              <a:rPr lang="zh-CN" altLang="en-US" dirty="0"/>
              <a:t>判别的方法依然是计算空格（非基变量）的检验数</a:t>
            </a:r>
            <a:endParaRPr lang="en-US" altLang="zh-CN" dirty="0"/>
          </a:p>
          <a:p>
            <a:pPr marL="0" indent="0" eaLnBrk="1" hangingPunct="1">
              <a:buFont typeface="Wingdings" panose="05000000000000000000" pitchFamily="2" charset="2"/>
              <a:buNone/>
              <a:defRPr/>
            </a:pPr>
            <a:endParaRPr lang="zh-CN" altLang="en-US" sz="1400" dirty="0">
              <a:latin typeface="Times New Roman" panose="02020603050405020304" pitchFamily="18" charset="0"/>
            </a:endParaRPr>
          </a:p>
          <a:p>
            <a:pPr lvl="1" algn="just" eaLnBrk="1" hangingPunct="1">
              <a:spcBef>
                <a:spcPts val="0"/>
              </a:spcBef>
              <a:defRPr/>
            </a:pPr>
            <a:r>
              <a:rPr lang="zh-CN" altLang="en-US" b="0" dirty="0">
                <a:latin typeface="Times New Roman" panose="02020603050405020304" pitchFamily="18" charset="0"/>
              </a:rPr>
              <a:t>当所有</a:t>
            </a:r>
            <a:r>
              <a:rPr lang="el-GR" altLang="zh-CN" b="0" dirty="0">
                <a:latin typeface="Times New Roman" panose="02020603050405020304" pitchFamily="18" charset="0"/>
              </a:rPr>
              <a:t>σ</a:t>
            </a:r>
            <a:r>
              <a:rPr lang="en-US" altLang="zh-CN" b="0" i="1" baseline="-25000" dirty="0" err="1">
                <a:latin typeface="Times New Roman" panose="02020603050405020304" pitchFamily="18" charset="0"/>
              </a:rPr>
              <a:t>ij</a:t>
            </a:r>
            <a:r>
              <a:rPr lang="en-US" altLang="zh-CN" b="0" i="1" baseline="-25000" dirty="0">
                <a:latin typeface="Times New Roman" panose="02020603050405020304" pitchFamily="18" charset="0"/>
              </a:rPr>
              <a:t> </a:t>
            </a:r>
            <a:r>
              <a:rPr lang="en-US" altLang="zh-CN" b="0" dirty="0">
                <a:latin typeface="Times New Roman" panose="02020603050405020304" pitchFamily="18" charset="0"/>
              </a:rPr>
              <a:t>= </a:t>
            </a:r>
            <a:r>
              <a:rPr lang="en-US" altLang="zh-CN" b="0" i="1" dirty="0" err="1">
                <a:latin typeface="Times New Roman" panose="02020603050405020304" pitchFamily="18" charset="0"/>
              </a:rPr>
              <a:t>c</a:t>
            </a:r>
            <a:r>
              <a:rPr lang="en-US" altLang="zh-CN" b="0" i="1" baseline="-25000" dirty="0" err="1">
                <a:latin typeface="Times New Roman" panose="02020603050405020304" pitchFamily="18" charset="0"/>
              </a:rPr>
              <a:t>ij</a:t>
            </a:r>
            <a:r>
              <a:rPr lang="en-US" altLang="zh-CN" b="0" dirty="0">
                <a:latin typeface="Times New Roman" panose="02020603050405020304" pitchFamily="18" charset="0"/>
              </a:rPr>
              <a:t>- </a:t>
            </a:r>
            <a:r>
              <a:rPr lang="en-US" altLang="zh-CN" dirty="0">
                <a:latin typeface="Times New Roman" panose="02020603050405020304" pitchFamily="18" charset="0"/>
              </a:rPr>
              <a:t>C</a:t>
            </a:r>
            <a:r>
              <a:rPr lang="en-US" altLang="zh-CN" b="0" i="1" baseline="-25000" dirty="0">
                <a:latin typeface="Times New Roman" panose="02020603050405020304" pitchFamily="18" charset="0"/>
              </a:rPr>
              <a:t>B</a:t>
            </a:r>
            <a:r>
              <a:rPr lang="en-US" altLang="zh-CN" dirty="0">
                <a:latin typeface="Times New Roman" panose="02020603050405020304" pitchFamily="18" charset="0"/>
              </a:rPr>
              <a:t>B</a:t>
            </a:r>
            <a:r>
              <a:rPr lang="en-US" altLang="zh-CN" b="0" baseline="30000" dirty="0">
                <a:latin typeface="Times New Roman" panose="02020603050405020304" pitchFamily="18" charset="0"/>
              </a:rPr>
              <a:t>-1</a:t>
            </a:r>
            <a:r>
              <a:rPr lang="en-US" altLang="zh-CN" dirty="0">
                <a:latin typeface="Times New Roman" panose="02020603050405020304" pitchFamily="18" charset="0"/>
              </a:rPr>
              <a:t>P</a:t>
            </a:r>
            <a:r>
              <a:rPr lang="en-US" altLang="zh-CN" b="0" i="1" baseline="-25000" dirty="0">
                <a:latin typeface="Times New Roman" panose="02020603050405020304" pitchFamily="18" charset="0"/>
              </a:rPr>
              <a:t>ij</a:t>
            </a:r>
            <a:r>
              <a:rPr lang="en-US" altLang="zh-CN" b="0" dirty="0">
                <a:latin typeface="Times New Roman" panose="02020603050405020304" pitchFamily="18" charset="0"/>
              </a:rPr>
              <a:t> ≥0</a:t>
            </a:r>
            <a:r>
              <a:rPr lang="zh-CN" altLang="en-US" b="0" dirty="0">
                <a:latin typeface="Times New Roman" panose="02020603050405020304" pitchFamily="18" charset="0"/>
              </a:rPr>
              <a:t>时</a:t>
            </a:r>
            <a:r>
              <a:rPr lang="zh-CN" altLang="en-US" b="0" dirty="0"/>
              <a:t> </a:t>
            </a:r>
            <a:r>
              <a:rPr lang="en-US" altLang="zh-CN" b="0" dirty="0"/>
              <a:t>, </a:t>
            </a:r>
            <a:r>
              <a:rPr lang="zh-CN" altLang="en-US" b="0" dirty="0"/>
              <a:t>运输问题得到最优解。</a:t>
            </a:r>
            <a:endParaRPr lang="en-US" altLang="zh-CN" b="0" dirty="0">
              <a:latin typeface="Times New Roman" panose="02020603050405020304" pitchFamily="18" charset="0"/>
            </a:endParaRPr>
          </a:p>
          <a:p>
            <a:pPr lvl="1" algn="just" eaLnBrk="1" hangingPunct="1">
              <a:spcBef>
                <a:spcPts val="0"/>
              </a:spcBef>
              <a:defRPr/>
            </a:pPr>
            <a:endParaRPr lang="en-US" altLang="zh-CN" b="0" dirty="0">
              <a:latin typeface="Times New Roman" panose="02020603050405020304" pitchFamily="18" charset="0"/>
            </a:endParaRPr>
          </a:p>
          <a:p>
            <a:pPr eaLnBrk="1" hangingPunct="1">
              <a:spcBef>
                <a:spcPts val="1200"/>
              </a:spcBef>
              <a:defRPr/>
            </a:pPr>
            <a:r>
              <a:rPr lang="zh-CN" altLang="en-US" dirty="0"/>
              <a:t>可有两种方法来求检验数</a:t>
            </a:r>
          </a:p>
          <a:p>
            <a:pPr lvl="1" eaLnBrk="1" hangingPunct="1">
              <a:defRPr/>
            </a:pPr>
            <a:r>
              <a:rPr lang="zh-CN" altLang="en-US" b="0" dirty="0"/>
              <a:t>闭回路法</a:t>
            </a:r>
            <a:endParaRPr lang="en-US" altLang="zh-CN" b="0" dirty="0"/>
          </a:p>
          <a:p>
            <a:pPr marL="344487" lvl="1" indent="0" eaLnBrk="1" hangingPunct="1">
              <a:buFont typeface="Wingdings" panose="05000000000000000000" pitchFamily="2" charset="2"/>
              <a:buNone/>
              <a:defRPr/>
            </a:pPr>
            <a:r>
              <a:rPr lang="en-US" altLang="zh-CN" b="0" dirty="0"/>
              <a:t>    </a:t>
            </a:r>
            <a:r>
              <a:rPr lang="zh-CN" altLang="en-US" dirty="0">
                <a:solidFill>
                  <a:srgbClr val="FF00FF"/>
                </a:solidFill>
              </a:rPr>
              <a:t>从一个空格出发与基格组成</a:t>
            </a:r>
            <a:endParaRPr lang="en-US" altLang="zh-CN" dirty="0">
              <a:solidFill>
                <a:srgbClr val="FF00FF"/>
              </a:solidFill>
            </a:endParaRPr>
          </a:p>
          <a:p>
            <a:pPr marL="344487" lvl="1" indent="0" eaLnBrk="1" hangingPunct="1">
              <a:buFont typeface="Wingdings" panose="05000000000000000000" pitchFamily="2" charset="2"/>
              <a:buNone/>
              <a:defRPr/>
            </a:pPr>
            <a:r>
              <a:rPr lang="en-US" altLang="zh-CN" dirty="0">
                <a:solidFill>
                  <a:srgbClr val="FF00FF"/>
                </a:solidFill>
              </a:rPr>
              <a:t>    </a:t>
            </a:r>
            <a:r>
              <a:rPr lang="zh-CN" altLang="en-US" dirty="0">
                <a:solidFill>
                  <a:srgbClr val="FF00FF"/>
                </a:solidFill>
              </a:rPr>
              <a:t>的闭回路存在且唯一（</a:t>
            </a:r>
            <a:r>
              <a:rPr lang="en-US" altLang="zh-CN" dirty="0">
                <a:solidFill>
                  <a:srgbClr val="FF00FF"/>
                </a:solidFill>
              </a:rPr>
              <a:t>P98</a:t>
            </a:r>
            <a:r>
              <a:rPr lang="zh-CN" altLang="en-US" dirty="0">
                <a:solidFill>
                  <a:srgbClr val="FF00FF"/>
                </a:solidFill>
              </a:rPr>
              <a:t>）</a:t>
            </a:r>
            <a:endParaRPr lang="en-US" altLang="zh-CN" dirty="0">
              <a:solidFill>
                <a:srgbClr val="FF00FF"/>
              </a:solidFill>
            </a:endParaRPr>
          </a:p>
          <a:p>
            <a:pPr lvl="1" eaLnBrk="1" hangingPunct="1">
              <a:defRPr/>
            </a:pPr>
            <a:r>
              <a:rPr lang="zh-CN" altLang="en-US" b="0" dirty="0"/>
              <a:t>位势法</a:t>
            </a:r>
          </a:p>
          <a:p>
            <a:pPr lvl="1" eaLnBrk="1" hangingPunct="1">
              <a:defRPr/>
            </a:pPr>
            <a:endParaRPr lang="zh-CN" altLang="en-US" sz="3200" b="0" dirty="0"/>
          </a:p>
        </p:txBody>
      </p:sp>
      <p:pic>
        <p:nvPicPr>
          <p:cNvPr id="3" name="图片 2">
            <a:extLst>
              <a:ext uri="{FF2B5EF4-FFF2-40B4-BE49-F238E27FC236}">
                <a16:creationId xmlns:a16="http://schemas.microsoft.com/office/drawing/2014/main" id="{CE514855-3B40-4F9B-8275-7994C6F268C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257800" y="2970213"/>
            <a:ext cx="3810000" cy="25003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64867">
                                            <p:txEl>
                                              <p:pRg st="4" end="4"/>
                                            </p:txEl>
                                          </p:spTgt>
                                        </p:tgtEl>
                                        <p:attrNameLst>
                                          <p:attrName>style.visibility</p:attrName>
                                        </p:attrNameLst>
                                      </p:cBhvr>
                                      <p:to>
                                        <p:strVal val="visible"/>
                                      </p:to>
                                    </p:set>
                                    <p:animEffect transition="in" filter="blinds(horizontal)">
                                      <p:cBhvr>
                                        <p:cTn id="12" dur="500"/>
                                        <p:tgtEl>
                                          <p:spTgt spid="164867">
                                            <p:txEl>
                                              <p:pRg st="4" end="4"/>
                                            </p:txEl>
                                          </p:spTgt>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164867">
                                            <p:txEl>
                                              <p:pRg st="5" end="5"/>
                                            </p:txEl>
                                          </p:spTgt>
                                        </p:tgtEl>
                                        <p:attrNameLst>
                                          <p:attrName>style.visibility</p:attrName>
                                        </p:attrNameLst>
                                      </p:cBhvr>
                                      <p:to>
                                        <p:strVal val="visible"/>
                                      </p:to>
                                    </p:set>
                                    <p:animEffect transition="in" filter="blinds(horizontal)">
                                      <p:cBhvr>
                                        <p:cTn id="15" dur="500"/>
                                        <p:tgtEl>
                                          <p:spTgt spid="164867">
                                            <p:txEl>
                                              <p:pRg st="5" end="5"/>
                                            </p:txEl>
                                          </p:spTgt>
                                        </p:tgtEl>
                                      </p:cBhvr>
                                    </p:animEffect>
                                  </p:childTnLst>
                                </p:cTn>
                              </p:par>
                              <p:par>
                                <p:cTn id="16" presetID="3" presetClass="entr" presetSubtype="10" fill="hold" grpId="0" nodeType="withEffect">
                                  <p:stCondLst>
                                    <p:cond delay="0"/>
                                  </p:stCondLst>
                                  <p:childTnLst>
                                    <p:set>
                                      <p:cBhvr>
                                        <p:cTn id="17" dur="1" fill="hold">
                                          <p:stCondLst>
                                            <p:cond delay="0"/>
                                          </p:stCondLst>
                                        </p:cTn>
                                        <p:tgtEl>
                                          <p:spTgt spid="164867">
                                            <p:txEl>
                                              <p:pRg st="6" end="6"/>
                                            </p:txEl>
                                          </p:spTgt>
                                        </p:tgtEl>
                                        <p:attrNameLst>
                                          <p:attrName>style.visibility</p:attrName>
                                        </p:attrNameLst>
                                      </p:cBhvr>
                                      <p:to>
                                        <p:strVal val="visible"/>
                                      </p:to>
                                    </p:set>
                                    <p:animEffect transition="in" filter="blinds(horizontal)">
                                      <p:cBhvr>
                                        <p:cTn id="18" dur="500"/>
                                        <p:tgtEl>
                                          <p:spTgt spid="164867">
                                            <p:txEl>
                                              <p:pRg st="6" end="6"/>
                                            </p:txEl>
                                          </p:spTgt>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164867">
                                            <p:txEl>
                                              <p:pRg st="7" end="7"/>
                                            </p:txEl>
                                          </p:spTgt>
                                        </p:tgtEl>
                                        <p:attrNameLst>
                                          <p:attrName>style.visibility</p:attrName>
                                        </p:attrNameLst>
                                      </p:cBhvr>
                                      <p:to>
                                        <p:strVal val="visible"/>
                                      </p:to>
                                    </p:set>
                                    <p:animEffect transition="in" filter="blinds(horizontal)">
                                      <p:cBhvr>
                                        <p:cTn id="21" dur="500"/>
                                        <p:tgtEl>
                                          <p:spTgt spid="164867">
                                            <p:txEl>
                                              <p:pRg st="7" end="7"/>
                                            </p:txEl>
                                          </p:spTgt>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164867">
                                            <p:txEl>
                                              <p:pRg st="8" end="8"/>
                                            </p:txEl>
                                          </p:spTgt>
                                        </p:tgtEl>
                                        <p:attrNameLst>
                                          <p:attrName>style.visibility</p:attrName>
                                        </p:attrNameLst>
                                      </p:cBhvr>
                                      <p:to>
                                        <p:strVal val="visible"/>
                                      </p:to>
                                    </p:set>
                                    <p:animEffect transition="in" filter="blinds(horizontal)">
                                      <p:cBhvr>
                                        <p:cTn id="24" dur="500"/>
                                        <p:tgtEl>
                                          <p:spTgt spid="16486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7"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a:extLst>
              <a:ext uri="{FF2B5EF4-FFF2-40B4-BE49-F238E27FC236}">
                <a16:creationId xmlns:a16="http://schemas.microsoft.com/office/drawing/2014/main" id="{93935612-22F1-4AF6-AA15-11373A3B12B4}"/>
              </a:ext>
            </a:extLst>
          </p:cNvPr>
          <p:cNvSpPr>
            <a:spLocks noGrp="1" noChangeArrowheads="1"/>
          </p:cNvSpPr>
          <p:nvPr>
            <p:ph type="title"/>
          </p:nvPr>
        </p:nvSpPr>
        <p:spPr/>
        <p:txBody>
          <a:bodyPr/>
          <a:lstStyle/>
          <a:p>
            <a:pPr eaLnBrk="1" hangingPunct="1"/>
            <a:r>
              <a:rPr lang="zh-CN" altLang="en-US"/>
              <a:t>为什么闭回路存在且唯一？</a:t>
            </a:r>
          </a:p>
        </p:txBody>
      </p:sp>
      <p:graphicFrame>
        <p:nvGraphicFramePr>
          <p:cNvPr id="69635" name="Object 6">
            <a:extLst>
              <a:ext uri="{FF2B5EF4-FFF2-40B4-BE49-F238E27FC236}">
                <a16:creationId xmlns:a16="http://schemas.microsoft.com/office/drawing/2014/main" id="{85F06576-112F-48E6-8649-13B9375D6ECB}"/>
              </a:ext>
            </a:extLst>
          </p:cNvPr>
          <p:cNvGraphicFramePr>
            <a:graphicFrameLocks noChangeAspect="1"/>
          </p:cNvGraphicFramePr>
          <p:nvPr/>
        </p:nvGraphicFramePr>
        <p:xfrm>
          <a:off x="1143000" y="2133600"/>
          <a:ext cx="7924800" cy="3370263"/>
        </p:xfrm>
        <a:graphic>
          <a:graphicData uri="http://schemas.openxmlformats.org/presentationml/2006/ole">
            <mc:AlternateContent xmlns:mc="http://schemas.openxmlformats.org/markup-compatibility/2006">
              <mc:Choice xmlns:v="urn:schemas-microsoft-com:vml" Requires="v">
                <p:oleObj spid="_x0000_s69654" name="公式" r:id="rId4" imgW="4787900" imgH="2032000" progId="Equation.3">
                  <p:embed/>
                </p:oleObj>
              </mc:Choice>
              <mc:Fallback>
                <p:oleObj name="公式" r:id="rId4" imgW="4787900" imgH="2032000" progId="Equation.3">
                  <p:embed/>
                  <p:pic>
                    <p:nvPicPr>
                      <p:cNvPr id="0"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43000" y="2133600"/>
                        <a:ext cx="7924800" cy="337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9636" name="Text Box 8">
            <a:extLst>
              <a:ext uri="{FF2B5EF4-FFF2-40B4-BE49-F238E27FC236}">
                <a16:creationId xmlns:a16="http://schemas.microsoft.com/office/drawing/2014/main" id="{2CB10C3E-25D9-403D-B4AC-3E17517133ED}"/>
              </a:ext>
            </a:extLst>
          </p:cNvPr>
          <p:cNvSpPr txBox="1">
            <a:spLocks noChangeArrowheads="1"/>
          </p:cNvSpPr>
          <p:nvPr/>
        </p:nvSpPr>
        <p:spPr bwMode="auto">
          <a:xfrm>
            <a:off x="1241425" y="1066800"/>
            <a:ext cx="7391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x</a:t>
            </a:r>
            <a:r>
              <a:rPr lang="en-US" altLang="zh-CN" sz="2400" baseline="-25000">
                <a:latin typeface="Times New Roman" panose="02020603050405020304" pitchFamily="18" charset="0"/>
              </a:rPr>
              <a:t>11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12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1</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2</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             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1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2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mn</a:t>
            </a:r>
          </a:p>
        </p:txBody>
      </p:sp>
      <p:sp>
        <p:nvSpPr>
          <p:cNvPr id="4" name="矩形 3">
            <a:extLst>
              <a:ext uri="{FF2B5EF4-FFF2-40B4-BE49-F238E27FC236}">
                <a16:creationId xmlns:a16="http://schemas.microsoft.com/office/drawing/2014/main" id="{CD0B1365-7C03-401C-9169-60557CBAB58D}"/>
              </a:ext>
            </a:extLst>
          </p:cNvPr>
          <p:cNvSpPr>
            <a:spLocks noChangeArrowheads="1"/>
          </p:cNvSpPr>
          <p:nvPr/>
        </p:nvSpPr>
        <p:spPr bwMode="auto">
          <a:xfrm>
            <a:off x="212725" y="5697538"/>
            <a:ext cx="655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a:solidFill>
                  <a:srgbClr val="FF0000"/>
                </a:solidFill>
              </a:rPr>
              <a:t>决策变量</a:t>
            </a:r>
            <a:r>
              <a:rPr lang="en-US" altLang="zh-CN" sz="2800" i="1">
                <a:solidFill>
                  <a:srgbClr val="FF0000"/>
                </a:solidFill>
              </a:rPr>
              <a:t>x</a:t>
            </a:r>
            <a:r>
              <a:rPr lang="en-US" altLang="zh-CN" sz="2800" baseline="-25000">
                <a:solidFill>
                  <a:srgbClr val="FF0000"/>
                </a:solidFill>
              </a:rPr>
              <a:t>ij</a:t>
            </a:r>
            <a:r>
              <a:rPr lang="zh-CN" altLang="en-US" sz="2800">
                <a:solidFill>
                  <a:srgbClr val="FF0000"/>
                </a:solidFill>
              </a:rPr>
              <a:t>与系数向量</a:t>
            </a:r>
            <a:r>
              <a:rPr lang="en-US" altLang="zh-CN" sz="2800" b="1">
                <a:solidFill>
                  <a:srgbClr val="FF0000"/>
                </a:solidFill>
              </a:rPr>
              <a:t>P</a:t>
            </a:r>
            <a:r>
              <a:rPr lang="en-US" altLang="zh-CN" sz="2800" baseline="-25000">
                <a:solidFill>
                  <a:srgbClr val="FF0000"/>
                </a:solidFill>
              </a:rPr>
              <a:t>ij</a:t>
            </a:r>
            <a:r>
              <a:rPr lang="zh-CN" altLang="en-US" sz="2800">
                <a:solidFill>
                  <a:srgbClr val="FF0000"/>
                </a:solidFill>
              </a:rPr>
              <a:t>是一一对应的。</a:t>
            </a:r>
          </a:p>
        </p:txBody>
      </p:sp>
      <p:sp>
        <p:nvSpPr>
          <p:cNvPr id="69638" name="Text Box 8">
            <a:extLst>
              <a:ext uri="{FF2B5EF4-FFF2-40B4-BE49-F238E27FC236}">
                <a16:creationId xmlns:a16="http://schemas.microsoft.com/office/drawing/2014/main" id="{A3782F2B-BE57-4F6F-8D08-1529E5AB3C2A}"/>
              </a:ext>
            </a:extLst>
          </p:cNvPr>
          <p:cNvSpPr txBox="1">
            <a:spLocks noChangeArrowheads="1"/>
          </p:cNvSpPr>
          <p:nvPr/>
        </p:nvSpPr>
        <p:spPr bwMode="auto">
          <a:xfrm>
            <a:off x="1163638" y="1582738"/>
            <a:ext cx="7523162"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latin typeface="Times New Roman" panose="02020603050405020304" pitchFamily="18" charset="0"/>
              </a:rPr>
              <a:t>P</a:t>
            </a:r>
            <a:r>
              <a:rPr lang="en-US" altLang="zh-CN" sz="2400" baseline="-25000">
                <a:latin typeface="Times New Roman" panose="02020603050405020304" pitchFamily="18" charset="0"/>
              </a:rPr>
              <a:t>11  </a:t>
            </a:r>
            <a:r>
              <a:rPr lang="en-US" altLang="zh-CN" sz="2400" b="1">
                <a:latin typeface="Times New Roman" panose="02020603050405020304" pitchFamily="18" charset="0"/>
              </a:rPr>
              <a:t>P</a:t>
            </a:r>
            <a:r>
              <a:rPr lang="en-US" altLang="zh-CN" sz="2400" baseline="-25000">
                <a:latin typeface="Times New Roman" panose="02020603050405020304" pitchFamily="18" charset="0"/>
              </a:rPr>
              <a:t>12  </a:t>
            </a:r>
            <a:r>
              <a:rPr lang="en-US" altLang="zh-CN" sz="2400" i="1">
                <a:latin typeface="Times New Roman" panose="02020603050405020304" pitchFamily="18" charset="0"/>
              </a:rPr>
              <a:t>… </a:t>
            </a:r>
            <a:r>
              <a:rPr lang="en-US" altLang="zh-CN" sz="2400" b="1">
                <a:latin typeface="Times New Roman" panose="02020603050405020304" pitchFamily="18" charset="0"/>
              </a:rPr>
              <a:t>P</a:t>
            </a:r>
            <a:r>
              <a:rPr lang="en-US" altLang="zh-CN" sz="2400" baseline="-25000">
                <a:latin typeface="Times New Roman" panose="02020603050405020304" pitchFamily="18" charset="0"/>
              </a:rPr>
              <a:t>1</a:t>
            </a:r>
            <a:r>
              <a:rPr lang="en-US" altLang="zh-CN" sz="2400" i="1" baseline="-25000">
                <a:latin typeface="Times New Roman" panose="02020603050405020304" pitchFamily="18" charset="0"/>
              </a:rPr>
              <a:t>n  </a:t>
            </a:r>
            <a:r>
              <a:rPr lang="en-US" altLang="zh-CN" sz="2400" b="1">
                <a:latin typeface="Times New Roman" panose="02020603050405020304" pitchFamily="18" charset="0"/>
              </a:rPr>
              <a:t>P</a:t>
            </a:r>
            <a:r>
              <a:rPr lang="en-US" altLang="zh-CN" sz="2400" baseline="-25000">
                <a:latin typeface="Times New Roman" panose="02020603050405020304" pitchFamily="18" charset="0"/>
              </a:rPr>
              <a:t>21  </a:t>
            </a:r>
            <a:r>
              <a:rPr lang="en-US" altLang="zh-CN" sz="2400" b="1">
                <a:latin typeface="Times New Roman" panose="02020603050405020304" pitchFamily="18" charset="0"/>
              </a:rPr>
              <a:t>P</a:t>
            </a:r>
            <a:r>
              <a:rPr lang="en-US" altLang="zh-CN" sz="2400" baseline="-25000">
                <a:latin typeface="Times New Roman" panose="02020603050405020304" pitchFamily="18" charset="0"/>
              </a:rPr>
              <a:t>22  </a:t>
            </a:r>
            <a:r>
              <a:rPr lang="en-US" altLang="zh-CN" sz="2400" i="1">
                <a:latin typeface="Times New Roman" panose="02020603050405020304" pitchFamily="18" charset="0"/>
              </a:rPr>
              <a:t>… </a:t>
            </a:r>
            <a:r>
              <a:rPr lang="en-US" altLang="zh-CN" sz="2400" b="1">
                <a:latin typeface="Times New Roman" panose="02020603050405020304" pitchFamily="18" charset="0"/>
              </a:rPr>
              <a:t>P</a:t>
            </a:r>
            <a:r>
              <a:rPr lang="en-US" altLang="zh-CN" sz="2400" baseline="-25000">
                <a:latin typeface="Times New Roman" panose="02020603050405020304" pitchFamily="18" charset="0"/>
              </a:rPr>
              <a:t>2</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            </a:t>
            </a:r>
            <a:r>
              <a:rPr lang="en-US" altLang="zh-CN" sz="2400" b="1">
                <a:latin typeface="Times New Roman" panose="02020603050405020304" pitchFamily="18" charset="0"/>
              </a:rPr>
              <a:t>P</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1 </a:t>
            </a:r>
            <a:r>
              <a:rPr lang="en-US" altLang="zh-CN" sz="2400" b="1">
                <a:latin typeface="Times New Roman" panose="02020603050405020304" pitchFamily="18" charset="0"/>
              </a:rPr>
              <a:t>P</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2  </a:t>
            </a:r>
            <a:r>
              <a:rPr lang="en-US" altLang="zh-CN" sz="2400" i="1">
                <a:latin typeface="Times New Roman" panose="02020603050405020304" pitchFamily="18" charset="0"/>
              </a:rPr>
              <a:t>…</a:t>
            </a:r>
            <a:r>
              <a:rPr lang="en-US" altLang="zh-CN" sz="2400" b="1">
                <a:latin typeface="Times New Roman" panose="02020603050405020304" pitchFamily="18" charset="0"/>
              </a:rPr>
              <a:t>P</a:t>
            </a:r>
            <a:r>
              <a:rPr lang="en-US" altLang="zh-CN" sz="2400" i="1" baseline="-25000">
                <a:latin typeface="Times New Roman" panose="02020603050405020304" pitchFamily="18" charset="0"/>
              </a:rPr>
              <a:t>mn</a:t>
            </a:r>
          </a:p>
        </p:txBody>
      </p:sp>
      <p:sp>
        <p:nvSpPr>
          <p:cNvPr id="69639" name="矩形 4">
            <a:extLst>
              <a:ext uri="{FF2B5EF4-FFF2-40B4-BE49-F238E27FC236}">
                <a16:creationId xmlns:a16="http://schemas.microsoft.com/office/drawing/2014/main" id="{A2C0922E-C043-413A-9580-5EBA86647BA5}"/>
              </a:ext>
            </a:extLst>
          </p:cNvPr>
          <p:cNvSpPr>
            <a:spLocks noChangeArrowheads="1"/>
          </p:cNvSpPr>
          <p:nvPr/>
        </p:nvSpPr>
        <p:spPr bwMode="auto">
          <a:xfrm>
            <a:off x="73025" y="1136650"/>
            <a:ext cx="11080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solidFill>
                  <a:srgbClr val="FF0000"/>
                </a:solidFill>
              </a:rPr>
              <a:t>决策变量</a:t>
            </a:r>
            <a:endParaRPr lang="zh-CN" altLang="en-US"/>
          </a:p>
        </p:txBody>
      </p:sp>
      <p:sp>
        <p:nvSpPr>
          <p:cNvPr id="69640" name="矩形 7">
            <a:extLst>
              <a:ext uri="{FF2B5EF4-FFF2-40B4-BE49-F238E27FC236}">
                <a16:creationId xmlns:a16="http://schemas.microsoft.com/office/drawing/2014/main" id="{37F59EB1-827A-4BB1-BBEA-95633B42D0F5}"/>
              </a:ext>
            </a:extLst>
          </p:cNvPr>
          <p:cNvSpPr>
            <a:spLocks noChangeArrowheads="1"/>
          </p:cNvSpPr>
          <p:nvPr/>
        </p:nvSpPr>
        <p:spPr bwMode="auto">
          <a:xfrm>
            <a:off x="73025" y="1657350"/>
            <a:ext cx="11080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solidFill>
                  <a:srgbClr val="FF0000"/>
                </a:solidFill>
              </a:rPr>
              <a:t>系数向量</a:t>
            </a:r>
            <a:endParaRPr lang="zh-CN" altLang="en-US"/>
          </a:p>
        </p:txBody>
      </p:sp>
      <p:grpSp>
        <p:nvGrpSpPr>
          <p:cNvPr id="3" name="组合 2">
            <a:extLst>
              <a:ext uri="{FF2B5EF4-FFF2-40B4-BE49-F238E27FC236}">
                <a16:creationId xmlns:a16="http://schemas.microsoft.com/office/drawing/2014/main" id="{52D15B9F-B747-417C-884E-2BD27935B945}"/>
              </a:ext>
            </a:extLst>
          </p:cNvPr>
          <p:cNvGrpSpPr>
            <a:grpSpLocks/>
          </p:cNvGrpSpPr>
          <p:nvPr/>
        </p:nvGrpSpPr>
        <p:grpSpPr bwMode="auto">
          <a:xfrm>
            <a:off x="2895600" y="1905000"/>
            <a:ext cx="596900" cy="2057400"/>
            <a:chOff x="2743200" y="1905000"/>
            <a:chExt cx="597520" cy="2057400"/>
          </a:xfrm>
        </p:grpSpPr>
        <p:sp>
          <p:nvSpPr>
            <p:cNvPr id="69643" name="矩形 2">
              <a:extLst>
                <a:ext uri="{FF2B5EF4-FFF2-40B4-BE49-F238E27FC236}">
                  <a16:creationId xmlns:a16="http://schemas.microsoft.com/office/drawing/2014/main" id="{E6330821-FA2C-4DE6-AF00-BD34661FBD19}"/>
                </a:ext>
              </a:extLst>
            </p:cNvPr>
            <p:cNvSpPr>
              <a:spLocks noChangeArrowheads="1"/>
            </p:cNvSpPr>
            <p:nvPr/>
          </p:nvSpPr>
          <p:spPr bwMode="auto">
            <a:xfrm>
              <a:off x="2895600" y="2209800"/>
              <a:ext cx="248786" cy="369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i="1">
                  <a:solidFill>
                    <a:srgbClr val="FF00FF"/>
                  </a:solidFill>
                  <a:latin typeface="Times New Roman" panose="02020603050405020304" pitchFamily="18" charset="0"/>
                </a:rPr>
                <a:t>i</a:t>
              </a:r>
              <a:endParaRPr lang="zh-CN" altLang="en-US">
                <a:solidFill>
                  <a:srgbClr val="FF00FF"/>
                </a:solidFill>
              </a:endParaRPr>
            </a:p>
          </p:txBody>
        </p:sp>
        <p:sp>
          <p:nvSpPr>
            <p:cNvPr id="2" name="椭圆 1">
              <a:extLst>
                <a:ext uri="{FF2B5EF4-FFF2-40B4-BE49-F238E27FC236}">
                  <a16:creationId xmlns:a16="http://schemas.microsoft.com/office/drawing/2014/main" id="{947EBEE5-B813-4D15-8AD4-13286856577E}"/>
                </a:ext>
              </a:extLst>
            </p:cNvPr>
            <p:cNvSpPr/>
            <p:nvPr/>
          </p:nvSpPr>
          <p:spPr>
            <a:xfrm>
              <a:off x="2895758" y="2559050"/>
              <a:ext cx="305117" cy="292100"/>
            </a:xfrm>
            <a:prstGeom prst="ellipse">
              <a:avLst/>
            </a:prstGeom>
            <a:noFill/>
            <a:ln>
              <a:solidFill>
                <a:srgbClr val="FF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00FF"/>
                </a:solidFill>
              </a:endParaRPr>
            </a:p>
          </p:txBody>
        </p:sp>
        <p:sp>
          <p:nvSpPr>
            <p:cNvPr id="11" name="椭圆 10">
              <a:extLst>
                <a:ext uri="{FF2B5EF4-FFF2-40B4-BE49-F238E27FC236}">
                  <a16:creationId xmlns:a16="http://schemas.microsoft.com/office/drawing/2014/main" id="{1E692F05-4C0D-4E8E-8655-80E5E53305B6}"/>
                </a:ext>
              </a:extLst>
            </p:cNvPr>
            <p:cNvSpPr/>
            <p:nvPr/>
          </p:nvSpPr>
          <p:spPr>
            <a:xfrm>
              <a:off x="2895758" y="3670300"/>
              <a:ext cx="305117" cy="292100"/>
            </a:xfrm>
            <a:prstGeom prst="ellipse">
              <a:avLst/>
            </a:prstGeom>
            <a:noFill/>
            <a:ln>
              <a:solidFill>
                <a:srgbClr val="FF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00FF"/>
                </a:solidFill>
              </a:endParaRPr>
            </a:p>
          </p:txBody>
        </p:sp>
        <p:sp>
          <p:nvSpPr>
            <p:cNvPr id="69646" name="矩形 2">
              <a:extLst>
                <a:ext uri="{FF2B5EF4-FFF2-40B4-BE49-F238E27FC236}">
                  <a16:creationId xmlns:a16="http://schemas.microsoft.com/office/drawing/2014/main" id="{9F5FE6F9-7F44-4975-99A6-11B446B0D8DA}"/>
                </a:ext>
              </a:extLst>
            </p:cNvPr>
            <p:cNvSpPr>
              <a:spLocks noChangeArrowheads="1"/>
            </p:cNvSpPr>
            <p:nvPr/>
          </p:nvSpPr>
          <p:spPr bwMode="auto">
            <a:xfrm>
              <a:off x="2743200" y="3276600"/>
              <a:ext cx="5709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i="1">
                  <a:solidFill>
                    <a:srgbClr val="FF00FF"/>
                  </a:solidFill>
                  <a:latin typeface="Times New Roman" panose="02020603050405020304" pitchFamily="18" charset="0"/>
                </a:rPr>
                <a:t>m+j</a:t>
              </a:r>
              <a:endParaRPr lang="zh-CN" altLang="en-US">
                <a:solidFill>
                  <a:srgbClr val="FF00FF"/>
                </a:solidFill>
              </a:endParaRPr>
            </a:p>
          </p:txBody>
        </p:sp>
        <p:sp>
          <p:nvSpPr>
            <p:cNvPr id="69647" name="矩形 2">
              <a:extLst>
                <a:ext uri="{FF2B5EF4-FFF2-40B4-BE49-F238E27FC236}">
                  <a16:creationId xmlns:a16="http://schemas.microsoft.com/office/drawing/2014/main" id="{40B75B6B-4D14-49BC-A0D8-4E432DF33B8E}"/>
                </a:ext>
              </a:extLst>
            </p:cNvPr>
            <p:cNvSpPr>
              <a:spLocks noChangeArrowheads="1"/>
            </p:cNvSpPr>
            <p:nvPr/>
          </p:nvSpPr>
          <p:spPr bwMode="auto">
            <a:xfrm>
              <a:off x="3027814" y="1905000"/>
              <a:ext cx="3129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i="1">
                  <a:solidFill>
                    <a:srgbClr val="FF00FF"/>
                  </a:solidFill>
                  <a:latin typeface="Times New Roman" panose="02020603050405020304" pitchFamily="18" charset="0"/>
                </a:rPr>
                <a:t>ij</a:t>
              </a:r>
              <a:endParaRPr lang="zh-CN" altLang="en-US">
                <a:solidFill>
                  <a:srgbClr val="FF00FF"/>
                </a:solidFill>
              </a:endParaRPr>
            </a:p>
          </p:txBody>
        </p:sp>
      </p:grpSp>
      <p:sp>
        <p:nvSpPr>
          <p:cNvPr id="21" name="箭头: 右 20">
            <a:extLst>
              <a:ext uri="{FF2B5EF4-FFF2-40B4-BE49-F238E27FC236}">
                <a16:creationId xmlns:a16="http://schemas.microsoft.com/office/drawing/2014/main" id="{F1291E8A-C5A7-4F52-B4F2-AD262D459EFB}"/>
              </a:ext>
            </a:extLst>
          </p:cNvPr>
          <p:cNvSpPr/>
          <p:nvPr/>
        </p:nvSpPr>
        <p:spPr bwMode="auto">
          <a:xfrm rot="5400000">
            <a:off x="450056" y="1464469"/>
            <a:ext cx="290513" cy="1809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randombar(horizontal)">
                                      <p:cBhvr>
                                        <p:cTn id="12" dur="500"/>
                                        <p:tgtEl>
                                          <p:spTgt spid="2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randombar(horizontal)">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1"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a:extLst>
              <a:ext uri="{FF2B5EF4-FFF2-40B4-BE49-F238E27FC236}">
                <a16:creationId xmlns:a16="http://schemas.microsoft.com/office/drawing/2014/main" id="{9B0599D0-ECAD-408D-A45E-6C47E37D0376}"/>
              </a:ext>
            </a:extLst>
          </p:cNvPr>
          <p:cNvSpPr>
            <a:spLocks noGrp="1" noChangeArrowheads="1"/>
          </p:cNvSpPr>
          <p:nvPr>
            <p:ph type="title"/>
          </p:nvPr>
        </p:nvSpPr>
        <p:spPr/>
        <p:txBody>
          <a:bodyPr/>
          <a:lstStyle/>
          <a:p>
            <a:pPr eaLnBrk="1" hangingPunct="1"/>
            <a:r>
              <a:rPr lang="zh-CN" altLang="en-US"/>
              <a:t>为什么闭回路存在且唯一？</a:t>
            </a:r>
          </a:p>
        </p:txBody>
      </p:sp>
      <p:sp>
        <p:nvSpPr>
          <p:cNvPr id="71683" name="矩形 4">
            <a:extLst>
              <a:ext uri="{FF2B5EF4-FFF2-40B4-BE49-F238E27FC236}">
                <a16:creationId xmlns:a16="http://schemas.microsoft.com/office/drawing/2014/main" id="{90523EB4-69C2-4BE1-98C0-A39F056FEAF7}"/>
              </a:ext>
            </a:extLst>
          </p:cNvPr>
          <p:cNvSpPr>
            <a:spLocks noChangeArrowheads="1"/>
          </p:cNvSpPr>
          <p:nvPr/>
        </p:nvSpPr>
        <p:spPr bwMode="auto">
          <a:xfrm>
            <a:off x="304800" y="1096963"/>
            <a:ext cx="86106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3200"/>
              <a:t>考虑到</a:t>
            </a:r>
            <a:r>
              <a:rPr lang="en-US" altLang="zh-CN" sz="3200"/>
              <a:t>(</a:t>
            </a:r>
            <a:r>
              <a:rPr lang="en-US" altLang="zh-CN" sz="3200" i="1"/>
              <a:t>m</a:t>
            </a:r>
            <a:r>
              <a:rPr lang="en-US" altLang="zh-CN" sz="3200"/>
              <a:t>+</a:t>
            </a:r>
            <a:r>
              <a:rPr lang="en-US" altLang="zh-CN" sz="3200" i="1"/>
              <a:t>n</a:t>
            </a:r>
            <a:r>
              <a:rPr lang="en-US" altLang="zh-CN" sz="3200"/>
              <a:t>-1)</a:t>
            </a:r>
            <a:r>
              <a:rPr lang="zh-CN" altLang="en-US" sz="3200"/>
              <a:t>个数字格</a:t>
            </a:r>
            <a:r>
              <a:rPr lang="en-US" altLang="zh-CN" sz="3200"/>
              <a:t>(</a:t>
            </a:r>
            <a:r>
              <a:rPr lang="zh-CN" altLang="en-US" sz="3200"/>
              <a:t>基变量</a:t>
            </a:r>
            <a:r>
              <a:rPr lang="en-US" altLang="zh-CN" sz="3200"/>
              <a:t>)</a:t>
            </a:r>
            <a:r>
              <a:rPr lang="zh-CN" altLang="en-US" sz="3200"/>
              <a:t>对应的系数向量是一个基，故任一非基变量对应的系数向量是该基变量对应的系数向量的线性组合。</a:t>
            </a:r>
          </a:p>
        </p:txBody>
      </p:sp>
      <p:graphicFrame>
        <p:nvGraphicFramePr>
          <p:cNvPr id="71684" name="对象 1">
            <a:extLst>
              <a:ext uri="{FF2B5EF4-FFF2-40B4-BE49-F238E27FC236}">
                <a16:creationId xmlns:a16="http://schemas.microsoft.com/office/drawing/2014/main" id="{25563BB6-B786-4181-AA22-5BDD277E3F2F}"/>
              </a:ext>
            </a:extLst>
          </p:cNvPr>
          <p:cNvGraphicFramePr>
            <a:graphicFrameLocks noChangeAspect="1"/>
          </p:cNvGraphicFramePr>
          <p:nvPr/>
        </p:nvGraphicFramePr>
        <p:xfrm>
          <a:off x="231775" y="3035300"/>
          <a:ext cx="5327650" cy="1816100"/>
        </p:xfrm>
        <a:graphic>
          <a:graphicData uri="http://schemas.openxmlformats.org/presentationml/2006/ole">
            <mc:AlternateContent xmlns:mc="http://schemas.openxmlformats.org/markup-compatibility/2006">
              <mc:Choice xmlns:v="urn:schemas-microsoft-com:vml" Requires="v">
                <p:oleObj spid="_x0000_s71746" name="Equation" r:id="rId3" imgW="3759200" imgH="1282700" progId="Equation.DSMT4">
                  <p:embed/>
                </p:oleObj>
              </mc:Choice>
              <mc:Fallback>
                <p:oleObj name="Equation" r:id="rId3" imgW="3759200" imgH="1282700" progId="Equation.DSMT4">
                  <p:embed/>
                  <p:pic>
                    <p:nvPicPr>
                      <p:cNvPr id="0" name="对象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1775" y="3035300"/>
                        <a:ext cx="5327650" cy="181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71685" name="对象 11">
            <a:extLst>
              <a:ext uri="{FF2B5EF4-FFF2-40B4-BE49-F238E27FC236}">
                <a16:creationId xmlns:a16="http://schemas.microsoft.com/office/drawing/2014/main" id="{0078E354-A61F-48A1-AFC4-5A8D37B8703C}"/>
              </a:ext>
            </a:extLst>
          </p:cNvPr>
          <p:cNvGraphicFramePr>
            <a:graphicFrameLocks noChangeAspect="1"/>
          </p:cNvGraphicFramePr>
          <p:nvPr/>
        </p:nvGraphicFramePr>
        <p:xfrm>
          <a:off x="231775" y="5210175"/>
          <a:ext cx="2736850" cy="342900"/>
        </p:xfrm>
        <a:graphic>
          <a:graphicData uri="http://schemas.openxmlformats.org/presentationml/2006/ole">
            <mc:AlternateContent xmlns:mc="http://schemas.openxmlformats.org/markup-compatibility/2006">
              <mc:Choice xmlns:v="urn:schemas-microsoft-com:vml" Requires="v">
                <p:oleObj spid="_x0000_s71747" name="Equation" r:id="rId5" imgW="1930400" imgH="241300" progId="Equation.DSMT4">
                  <p:embed/>
                </p:oleObj>
              </mc:Choice>
              <mc:Fallback>
                <p:oleObj name="Equation" r:id="rId5" imgW="1930400" imgH="241300" progId="Equation.DSMT4">
                  <p:embed/>
                  <p:pic>
                    <p:nvPicPr>
                      <p:cNvPr id="0"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1775" y="5210175"/>
                        <a:ext cx="273685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3" name="Group 528">
            <a:extLst>
              <a:ext uri="{FF2B5EF4-FFF2-40B4-BE49-F238E27FC236}">
                <a16:creationId xmlns:a16="http://schemas.microsoft.com/office/drawing/2014/main" id="{7B86C160-0E59-4C05-ACEC-ECE9CCEE15BE}"/>
              </a:ext>
            </a:extLst>
          </p:cNvPr>
          <p:cNvGraphicFramePr>
            <a:graphicFrameLocks/>
          </p:cNvGraphicFramePr>
          <p:nvPr/>
        </p:nvGraphicFramePr>
        <p:xfrm>
          <a:off x="5562600" y="2971800"/>
          <a:ext cx="3200400" cy="2286000"/>
        </p:xfrm>
        <a:graphic>
          <a:graphicData uri="http://schemas.openxmlformats.org/drawingml/2006/table">
            <a:tbl>
              <a:tblPr/>
              <a:tblGrid>
                <a:gridCol w="533400">
                  <a:extLst>
                    <a:ext uri="{9D8B030D-6E8A-4147-A177-3AD203B41FA5}">
                      <a16:colId xmlns:a16="http://schemas.microsoft.com/office/drawing/2014/main" val="20000"/>
                    </a:ext>
                  </a:extLst>
                </a:gridCol>
                <a:gridCol w="533400">
                  <a:extLst>
                    <a:ext uri="{9D8B030D-6E8A-4147-A177-3AD203B41FA5}">
                      <a16:colId xmlns:a16="http://schemas.microsoft.com/office/drawing/2014/main" val="20001"/>
                    </a:ext>
                  </a:extLst>
                </a:gridCol>
                <a:gridCol w="533400">
                  <a:extLst>
                    <a:ext uri="{9D8B030D-6E8A-4147-A177-3AD203B41FA5}">
                      <a16:colId xmlns:a16="http://schemas.microsoft.com/office/drawing/2014/main" val="20002"/>
                    </a:ext>
                  </a:extLst>
                </a:gridCol>
                <a:gridCol w="533400">
                  <a:extLst>
                    <a:ext uri="{9D8B030D-6E8A-4147-A177-3AD203B41FA5}">
                      <a16:colId xmlns:a16="http://schemas.microsoft.com/office/drawing/2014/main" val="20003"/>
                    </a:ext>
                  </a:extLst>
                </a:gridCol>
                <a:gridCol w="533400">
                  <a:extLst>
                    <a:ext uri="{9D8B030D-6E8A-4147-A177-3AD203B41FA5}">
                      <a16:colId xmlns:a16="http://schemas.microsoft.com/office/drawing/2014/main" val="20004"/>
                    </a:ext>
                  </a:extLst>
                </a:gridCol>
                <a:gridCol w="533400">
                  <a:extLst>
                    <a:ext uri="{9D8B030D-6E8A-4147-A177-3AD203B41FA5}">
                      <a16:colId xmlns:a16="http://schemas.microsoft.com/office/drawing/2014/main" val="20005"/>
                    </a:ext>
                  </a:extLst>
                </a:gridCol>
              </a:tblGrid>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a:noFill/>
                    </a:lnL>
                    <a:lnR>
                      <a:noFill/>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1</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800" b="1" i="0" u="none" strike="noStrike" cap="none" normalizeH="0" baseline="0" dirty="0" err="1">
                          <a:ln>
                            <a:noFill/>
                          </a:ln>
                          <a:solidFill>
                            <a:schemeClr val="bg1"/>
                          </a:solidFill>
                          <a:effectLst/>
                          <a:latin typeface="Arial" panose="020B0604020202020204" pitchFamily="34" charset="0"/>
                          <a:ea typeface="宋体" panose="02010600030101010101" pitchFamily="2" charset="-122"/>
                        </a:rPr>
                        <a:t>P</a:t>
                      </a:r>
                      <a:r>
                        <a:rPr kumimoji="0" lang="en-US" altLang="zh-CN" sz="1800" b="1" i="0" u="none" strike="noStrike" cap="none" normalizeH="0" baseline="-25000" dirty="0" err="1">
                          <a:ln>
                            <a:noFill/>
                          </a:ln>
                          <a:solidFill>
                            <a:schemeClr val="bg1"/>
                          </a:solidFill>
                          <a:effectLst/>
                          <a:latin typeface="Arial" panose="020B0604020202020204" pitchFamily="34" charset="0"/>
                          <a:ea typeface="宋体" panose="02010600030101010101" pitchFamily="2" charset="-122"/>
                        </a:rPr>
                        <a:t>uj</a:t>
                      </a:r>
                      <a:endParaRPr kumimoji="0" lang="zh-CN" altLang="zh-CN" sz="1800" b="1" i="0" u="none" strike="noStrike" cap="none" normalizeH="0" baseline="-25000" dirty="0">
                        <a:ln>
                          <a:noFill/>
                        </a:ln>
                        <a:solidFill>
                          <a:schemeClr val="bg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800" b="1" i="0" u="none" strike="noStrike" cap="none" normalizeH="0" baseline="0" dirty="0">
                          <a:ln>
                            <a:noFill/>
                          </a:ln>
                          <a:solidFill>
                            <a:schemeClr val="bg1"/>
                          </a:solidFill>
                          <a:effectLst/>
                          <a:latin typeface="Arial" panose="020B0604020202020204" pitchFamily="34" charset="0"/>
                          <a:ea typeface="宋体" panose="02010600030101010101" pitchFamily="2" charset="-122"/>
                        </a:rPr>
                        <a:t>P</a:t>
                      </a:r>
                      <a:r>
                        <a:rPr kumimoji="0" lang="en-US" altLang="zh-CN" sz="1800" b="1" i="0" u="none" strike="noStrike" cap="none" normalizeH="0" baseline="-25000" dirty="0">
                          <a:ln>
                            <a:noFill/>
                          </a:ln>
                          <a:solidFill>
                            <a:schemeClr val="bg1"/>
                          </a:solidFill>
                          <a:effectLst/>
                          <a:latin typeface="Arial" panose="020B0604020202020204" pitchFamily="34" charset="0"/>
                          <a:ea typeface="宋体" panose="02010600030101010101" pitchFamily="2" charset="-122"/>
                        </a:rPr>
                        <a:t>us</a:t>
                      </a:r>
                      <a:endParaRPr kumimoji="0" lang="zh-CN" altLang="zh-CN" sz="1800" b="1" i="0" u="none" strike="noStrike" cap="none" normalizeH="0" baseline="-25000" dirty="0">
                        <a:ln>
                          <a:noFill/>
                        </a:ln>
                        <a:solidFill>
                          <a:schemeClr val="bg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extLst>
                  <a:ext uri="{0D108BD9-81ED-4DB2-BD59-A6C34878D82A}">
                    <a16:rowId xmlns:a16="http://schemas.microsoft.com/office/drawing/2014/main" val="10001"/>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2</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800" b="1" i="0" u="none" strike="noStrike" cap="none" normalizeH="0" baseline="0" dirty="0" err="1">
                          <a:ln>
                            <a:noFill/>
                          </a:ln>
                          <a:solidFill>
                            <a:schemeClr val="bg1"/>
                          </a:solidFill>
                          <a:effectLst/>
                          <a:latin typeface="Arial" panose="020B0604020202020204" pitchFamily="34" charset="0"/>
                          <a:ea typeface="宋体" panose="02010600030101010101" pitchFamily="2" charset="-122"/>
                        </a:rPr>
                        <a:t>P</a:t>
                      </a:r>
                      <a:r>
                        <a:rPr kumimoji="0" lang="en-US" altLang="zh-CN" sz="1800" b="1" i="0" u="none" strike="noStrike" cap="none" normalizeH="0" baseline="-25000" dirty="0" err="1">
                          <a:ln>
                            <a:noFill/>
                          </a:ln>
                          <a:solidFill>
                            <a:schemeClr val="bg1"/>
                          </a:solidFill>
                          <a:effectLst/>
                          <a:latin typeface="Arial" panose="020B0604020202020204" pitchFamily="34" charset="0"/>
                          <a:ea typeface="宋体" panose="02010600030101010101" pitchFamily="2" charset="-122"/>
                        </a:rPr>
                        <a:t>lk</a:t>
                      </a: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800" b="1" i="0" u="none" strike="noStrike" cap="none" normalizeH="0" baseline="0" dirty="0" err="1">
                          <a:ln>
                            <a:noFill/>
                          </a:ln>
                          <a:solidFill>
                            <a:schemeClr val="bg1"/>
                          </a:solidFill>
                          <a:effectLst/>
                          <a:latin typeface="Arial" panose="020B0604020202020204" pitchFamily="34" charset="0"/>
                          <a:ea typeface="宋体" panose="02010600030101010101" pitchFamily="2" charset="-122"/>
                        </a:rPr>
                        <a:t>P</a:t>
                      </a:r>
                      <a:r>
                        <a:rPr kumimoji="0" lang="en-US" altLang="zh-CN" sz="1800" b="1" i="0" u="none" strike="noStrike" cap="none" normalizeH="0" baseline="-25000" dirty="0" err="1">
                          <a:ln>
                            <a:noFill/>
                          </a:ln>
                          <a:solidFill>
                            <a:schemeClr val="bg1"/>
                          </a:solidFill>
                          <a:effectLst/>
                          <a:latin typeface="Arial" panose="020B0604020202020204" pitchFamily="34" charset="0"/>
                          <a:ea typeface="宋体" panose="02010600030101010101" pitchFamily="2" charset="-122"/>
                        </a:rPr>
                        <a:t>ls</a:t>
                      </a: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extLst>
                  <a:ext uri="{0D108BD9-81ED-4DB2-BD59-A6C34878D82A}">
                    <a16:rowId xmlns:a16="http://schemas.microsoft.com/office/drawing/2014/main" val="10002"/>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3</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03225">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rPr>
                        <a:t>4</a:t>
                      </a:r>
                    </a:p>
                  </a:txBody>
                  <a:tcPr horzOverflow="overflow">
                    <a:lnL>
                      <a:noFill/>
                    </a:lnL>
                    <a:lnR w="381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1800" b="1" i="0" u="none" strike="noStrike" cap="none" normalizeH="0" baseline="0" dirty="0" err="1">
                          <a:ln>
                            <a:noFill/>
                          </a:ln>
                          <a:solidFill>
                            <a:schemeClr val="tx1"/>
                          </a:solidFill>
                          <a:effectLst/>
                          <a:latin typeface="Arial" panose="020B0604020202020204" pitchFamily="34" charset="0"/>
                          <a:ea typeface="宋体" panose="02010600030101010101" pitchFamily="2" charset="-122"/>
                        </a:rPr>
                        <a:t>P</a:t>
                      </a:r>
                      <a:r>
                        <a:rPr kumimoji="0" lang="en-US" altLang="zh-CN" sz="1800" b="1" i="0" u="none" strike="noStrike" cap="none" normalizeH="0" baseline="-25000" dirty="0" err="1">
                          <a:ln>
                            <a:noFill/>
                          </a:ln>
                          <a:solidFill>
                            <a:schemeClr val="tx1"/>
                          </a:solidFill>
                          <a:effectLst/>
                          <a:latin typeface="Arial" panose="020B0604020202020204" pitchFamily="34" charset="0"/>
                          <a:ea typeface="宋体" panose="02010600030101010101" pitchFamily="2" charset="-122"/>
                        </a:rPr>
                        <a:t>ij</a:t>
                      </a:r>
                      <a:endParaRPr kumimoji="0" lang="zh-CN" altLang="zh-CN" sz="1800" b="1"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defRPr/>
                      </a:pPr>
                      <a:r>
                        <a:rPr kumimoji="0" lang="en-US" altLang="zh-CN" sz="1800" b="1" i="0" u="none" strike="noStrike" cap="none" normalizeH="0" baseline="0" dirty="0" err="1">
                          <a:ln>
                            <a:noFill/>
                          </a:ln>
                          <a:solidFill>
                            <a:schemeClr val="bg1"/>
                          </a:solidFill>
                          <a:effectLst/>
                          <a:latin typeface="Arial" panose="020B0604020202020204" pitchFamily="34" charset="0"/>
                          <a:ea typeface="宋体" panose="02010600030101010101" pitchFamily="2" charset="-122"/>
                        </a:rPr>
                        <a:t>P</a:t>
                      </a:r>
                      <a:r>
                        <a:rPr kumimoji="0" lang="en-US" altLang="zh-CN" sz="1800" b="1" i="0" u="none" strike="noStrike" cap="none" normalizeH="0" baseline="-25000" dirty="0" err="1">
                          <a:ln>
                            <a:noFill/>
                          </a:ln>
                          <a:solidFill>
                            <a:schemeClr val="bg1"/>
                          </a:solidFill>
                          <a:effectLst/>
                          <a:latin typeface="Arial" panose="020B0604020202020204" pitchFamily="34" charset="0"/>
                          <a:ea typeface="宋体" panose="02010600030101010101" pitchFamily="2" charset="-122"/>
                        </a:rPr>
                        <a:t>ik</a:t>
                      </a: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9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6" name="Line 206">
            <a:extLst>
              <a:ext uri="{FF2B5EF4-FFF2-40B4-BE49-F238E27FC236}">
                <a16:creationId xmlns:a16="http://schemas.microsoft.com/office/drawing/2014/main" id="{733372AD-3B3F-479A-8B26-A948C8FEE48B}"/>
              </a:ext>
            </a:extLst>
          </p:cNvPr>
          <p:cNvSpPr>
            <a:spLocks noChangeShapeType="1"/>
          </p:cNvSpPr>
          <p:nvPr/>
        </p:nvSpPr>
        <p:spPr bwMode="auto">
          <a:xfrm flipH="1">
            <a:off x="6477000" y="5011738"/>
            <a:ext cx="1066800" cy="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17" name="Line 206">
            <a:extLst>
              <a:ext uri="{FF2B5EF4-FFF2-40B4-BE49-F238E27FC236}">
                <a16:creationId xmlns:a16="http://schemas.microsoft.com/office/drawing/2014/main" id="{5877D808-3DC0-4FAF-9247-53E3B7C6E4C7}"/>
              </a:ext>
            </a:extLst>
          </p:cNvPr>
          <p:cNvSpPr>
            <a:spLocks noChangeShapeType="1"/>
          </p:cNvSpPr>
          <p:nvPr/>
        </p:nvSpPr>
        <p:spPr bwMode="auto">
          <a:xfrm flipV="1">
            <a:off x="6318250" y="3644900"/>
            <a:ext cx="9525" cy="120650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18" name="Line 206">
            <a:extLst>
              <a:ext uri="{FF2B5EF4-FFF2-40B4-BE49-F238E27FC236}">
                <a16:creationId xmlns:a16="http://schemas.microsoft.com/office/drawing/2014/main" id="{02563BD2-5A2D-4692-99D3-84B03BC7DBE8}"/>
              </a:ext>
            </a:extLst>
          </p:cNvPr>
          <p:cNvSpPr>
            <a:spLocks noChangeShapeType="1"/>
          </p:cNvSpPr>
          <p:nvPr/>
        </p:nvSpPr>
        <p:spPr bwMode="auto">
          <a:xfrm flipH="1">
            <a:off x="7543800" y="4114800"/>
            <a:ext cx="914400" cy="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19" name="Line 206">
            <a:extLst>
              <a:ext uri="{FF2B5EF4-FFF2-40B4-BE49-F238E27FC236}">
                <a16:creationId xmlns:a16="http://schemas.microsoft.com/office/drawing/2014/main" id="{D6BB60B9-1D98-455B-A121-86B37FF425F8}"/>
              </a:ext>
            </a:extLst>
          </p:cNvPr>
          <p:cNvSpPr>
            <a:spLocks noChangeShapeType="1"/>
          </p:cNvSpPr>
          <p:nvPr/>
        </p:nvSpPr>
        <p:spPr bwMode="auto">
          <a:xfrm flipH="1">
            <a:off x="8464550" y="3605213"/>
            <a:ext cx="0" cy="509587"/>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0" name="Line 206">
            <a:extLst>
              <a:ext uri="{FF2B5EF4-FFF2-40B4-BE49-F238E27FC236}">
                <a16:creationId xmlns:a16="http://schemas.microsoft.com/office/drawing/2014/main" id="{CF3191FE-ADF8-4A48-9877-B7AF7259011F}"/>
              </a:ext>
            </a:extLst>
          </p:cNvPr>
          <p:cNvSpPr>
            <a:spLocks noChangeShapeType="1"/>
          </p:cNvSpPr>
          <p:nvPr/>
        </p:nvSpPr>
        <p:spPr bwMode="auto">
          <a:xfrm>
            <a:off x="6324600" y="3644900"/>
            <a:ext cx="2133600" cy="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1" name="Line 206">
            <a:extLst>
              <a:ext uri="{FF2B5EF4-FFF2-40B4-BE49-F238E27FC236}">
                <a16:creationId xmlns:a16="http://schemas.microsoft.com/office/drawing/2014/main" id="{52B4287F-4A4C-4F96-A063-81FBFCB7FD60}"/>
              </a:ext>
            </a:extLst>
          </p:cNvPr>
          <p:cNvSpPr>
            <a:spLocks noChangeShapeType="1"/>
          </p:cNvSpPr>
          <p:nvPr/>
        </p:nvSpPr>
        <p:spPr bwMode="auto">
          <a:xfrm>
            <a:off x="7532688" y="4114800"/>
            <a:ext cx="11112" cy="88900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slide(fromBottom)">
                                      <p:cBhvr>
                                        <p:cTn id="7" dur="500"/>
                                        <p:tgtEl>
                                          <p:spTgt spid="1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slide(fromBottom)">
                                      <p:cBhvr>
                                        <p:cTn id="12" dur="500"/>
                                        <p:tgtEl>
                                          <p:spTgt spid="2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slide(fromBottom)">
                                      <p:cBhvr>
                                        <p:cTn id="17" dur="500"/>
                                        <p:tgtEl>
                                          <p:spTgt spid="1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slide(fromBottom)">
                                      <p:cBhvr>
                                        <p:cTn id="22" dur="500"/>
                                        <p:tgtEl>
                                          <p:spTgt spid="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4"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slide(fromBottom)">
                                      <p:cBhvr>
                                        <p:cTn id="27" dur="500"/>
                                        <p:tgtEl>
                                          <p:spTgt spid="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2" presetClass="entr" presetSubtype="4" fill="hold"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slide(fromBottom)">
                                      <p:cBhvr>
                                        <p:cTn id="3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a:extLst>
              <a:ext uri="{FF2B5EF4-FFF2-40B4-BE49-F238E27FC236}">
                <a16:creationId xmlns:a16="http://schemas.microsoft.com/office/drawing/2014/main" id="{CAD7B415-71D8-4C79-B806-853C2FC2AD7D}"/>
              </a:ext>
            </a:extLst>
          </p:cNvPr>
          <p:cNvSpPr>
            <a:spLocks noGrp="1" noChangeArrowheads="1"/>
          </p:cNvSpPr>
          <p:nvPr>
            <p:ph type="title"/>
          </p:nvPr>
        </p:nvSpPr>
        <p:spPr/>
        <p:txBody>
          <a:bodyPr/>
          <a:lstStyle/>
          <a:p>
            <a:pPr eaLnBrk="1" hangingPunct="1"/>
            <a:r>
              <a:rPr lang="zh-CN" altLang="en-US"/>
              <a:t>闭回路存在且唯一为什么重要？</a:t>
            </a:r>
          </a:p>
        </p:txBody>
      </p:sp>
      <p:sp>
        <p:nvSpPr>
          <p:cNvPr id="4" name="矩形 3">
            <a:extLst>
              <a:ext uri="{FF2B5EF4-FFF2-40B4-BE49-F238E27FC236}">
                <a16:creationId xmlns:a16="http://schemas.microsoft.com/office/drawing/2014/main" id="{2B66591F-D976-4D3F-8DA4-2AD4240CE04B}"/>
              </a:ext>
            </a:extLst>
          </p:cNvPr>
          <p:cNvSpPr>
            <a:spLocks noChangeArrowheads="1"/>
          </p:cNvSpPr>
          <p:nvPr/>
        </p:nvSpPr>
        <p:spPr bwMode="auto">
          <a:xfrm>
            <a:off x="500063" y="5672138"/>
            <a:ext cx="77247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b="1">
                <a:solidFill>
                  <a:srgbClr val="FF00FF"/>
                </a:solidFill>
              </a:rPr>
              <a:t>闭回路存在且唯一是闭回路法赖以生存的基础！</a:t>
            </a:r>
          </a:p>
        </p:txBody>
      </p:sp>
      <p:grpSp>
        <p:nvGrpSpPr>
          <p:cNvPr id="8" name="组合 7">
            <a:extLst>
              <a:ext uri="{FF2B5EF4-FFF2-40B4-BE49-F238E27FC236}">
                <a16:creationId xmlns:a16="http://schemas.microsoft.com/office/drawing/2014/main" id="{B9642BC1-56A0-41A9-A849-C2B5DDF39BAA}"/>
              </a:ext>
            </a:extLst>
          </p:cNvPr>
          <p:cNvGrpSpPr>
            <a:grpSpLocks/>
          </p:cNvGrpSpPr>
          <p:nvPr/>
        </p:nvGrpSpPr>
        <p:grpSpPr bwMode="auto">
          <a:xfrm>
            <a:off x="500063" y="1387475"/>
            <a:ext cx="2730500" cy="1077913"/>
            <a:chOff x="1333498" y="2731799"/>
            <a:chExt cx="2731177" cy="1077218"/>
          </a:xfrm>
        </p:grpSpPr>
        <p:sp>
          <p:nvSpPr>
            <p:cNvPr id="9" name="Text Box 4">
              <a:extLst>
                <a:ext uri="{FF2B5EF4-FFF2-40B4-BE49-F238E27FC236}">
                  <a16:creationId xmlns:a16="http://schemas.microsoft.com/office/drawing/2014/main" id="{54D8E127-EAB4-4E5F-99A6-E867014DE847}"/>
                </a:ext>
              </a:extLst>
            </p:cNvPr>
            <p:cNvSpPr txBox="1">
              <a:spLocks noChangeArrowheads="1"/>
            </p:cNvSpPr>
            <p:nvPr/>
          </p:nvSpPr>
          <p:spPr bwMode="auto">
            <a:xfrm>
              <a:off x="1333498" y="2731799"/>
              <a:ext cx="2057910" cy="1077218"/>
            </a:xfrm>
            <a:prstGeom prst="rect">
              <a:avLst/>
            </a:prstGeom>
            <a:solidFill>
              <a:srgbClr val="C1F5FB"/>
            </a:solidFill>
            <a:ln>
              <a:noFill/>
            </a:ln>
            <a:effectLst/>
          </p:spPr>
          <p:txBody>
            <a:bodyPr>
              <a:spAutoFit/>
            </a:bodyPr>
            <a:lstStyle/>
            <a:p>
              <a:pPr>
                <a:spcBef>
                  <a:spcPct val="50000"/>
                </a:spcBef>
                <a:defRPr/>
              </a:pPr>
              <a:r>
                <a:rPr lang="zh-CN" altLang="en-US" sz="3200" b="1" dirty="0">
                  <a:solidFill>
                    <a:srgbClr val="462FEF"/>
                  </a:solidFill>
                  <a:effectLst>
                    <a:outerShdw blurRad="38100" dist="38100" dir="2700000" algn="tl">
                      <a:srgbClr val="000000"/>
                    </a:outerShdw>
                  </a:effectLst>
                </a:rPr>
                <a:t>找闭回路的目的</a:t>
              </a:r>
            </a:p>
          </p:txBody>
        </p:sp>
        <p:sp>
          <p:nvSpPr>
            <p:cNvPr id="72719" name="AutoShape 6">
              <a:extLst>
                <a:ext uri="{FF2B5EF4-FFF2-40B4-BE49-F238E27FC236}">
                  <a16:creationId xmlns:a16="http://schemas.microsoft.com/office/drawing/2014/main" id="{BDA56FF0-5CCC-462E-A653-2B5F3D8731A5}"/>
                </a:ext>
              </a:extLst>
            </p:cNvPr>
            <p:cNvSpPr>
              <a:spLocks noChangeArrowheads="1"/>
            </p:cNvSpPr>
            <p:nvPr/>
          </p:nvSpPr>
          <p:spPr bwMode="auto">
            <a:xfrm>
              <a:off x="3421784" y="3217902"/>
              <a:ext cx="642891"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1" name="Text Box 8">
            <a:extLst>
              <a:ext uri="{FF2B5EF4-FFF2-40B4-BE49-F238E27FC236}">
                <a16:creationId xmlns:a16="http://schemas.microsoft.com/office/drawing/2014/main" id="{AE6A408F-22A3-4ECE-9910-CD5E280516FC}"/>
              </a:ext>
            </a:extLst>
          </p:cNvPr>
          <p:cNvSpPr txBox="1">
            <a:spLocks noChangeArrowheads="1"/>
          </p:cNvSpPr>
          <p:nvPr/>
        </p:nvSpPr>
        <p:spPr bwMode="auto">
          <a:xfrm>
            <a:off x="3429000" y="1708150"/>
            <a:ext cx="5257800" cy="523875"/>
          </a:xfrm>
          <a:prstGeom prst="rect">
            <a:avLst/>
          </a:prstGeom>
          <a:solidFill>
            <a:schemeClr val="bg1"/>
          </a:solidFill>
          <a:ln>
            <a:noFill/>
          </a:ln>
          <a:effectLst/>
        </p:spPr>
        <p:txBody>
          <a:bodyPr>
            <a:spAutoFit/>
          </a:bodyPr>
          <a:lstStyle/>
          <a:p>
            <a:pPr>
              <a:spcBef>
                <a:spcPct val="50000"/>
              </a:spcBef>
              <a:defRPr/>
            </a:pPr>
            <a:r>
              <a:rPr lang="zh-CN" altLang="en-US" sz="2800" b="1" dirty="0">
                <a:solidFill>
                  <a:schemeClr val="tx2"/>
                </a:solidFill>
                <a:effectLst>
                  <a:outerShdw blurRad="38100" dist="38100" dir="2700000" algn="tl">
                    <a:srgbClr val="C0C0C0"/>
                  </a:outerShdw>
                </a:effectLst>
              </a:rPr>
              <a:t>计算检验数，判断是否最优解？</a:t>
            </a:r>
            <a:endParaRPr lang="zh-CN" altLang="en-US" dirty="0">
              <a:solidFill>
                <a:schemeClr val="tx2"/>
              </a:solidFill>
            </a:endParaRPr>
          </a:p>
        </p:txBody>
      </p:sp>
      <p:grpSp>
        <p:nvGrpSpPr>
          <p:cNvPr id="12" name="组合 11">
            <a:extLst>
              <a:ext uri="{FF2B5EF4-FFF2-40B4-BE49-F238E27FC236}">
                <a16:creationId xmlns:a16="http://schemas.microsoft.com/office/drawing/2014/main" id="{9A464B2A-AAD8-4F95-BD09-95639440CA45}"/>
              </a:ext>
            </a:extLst>
          </p:cNvPr>
          <p:cNvGrpSpPr>
            <a:grpSpLocks/>
          </p:cNvGrpSpPr>
          <p:nvPr/>
        </p:nvGrpSpPr>
        <p:grpSpPr bwMode="auto">
          <a:xfrm>
            <a:off x="457200" y="2651125"/>
            <a:ext cx="2773363" cy="1076325"/>
            <a:chOff x="1333498" y="2731799"/>
            <a:chExt cx="2774086" cy="1077218"/>
          </a:xfrm>
        </p:grpSpPr>
        <p:sp>
          <p:nvSpPr>
            <p:cNvPr id="13" name="Text Box 4">
              <a:extLst>
                <a:ext uri="{FF2B5EF4-FFF2-40B4-BE49-F238E27FC236}">
                  <a16:creationId xmlns:a16="http://schemas.microsoft.com/office/drawing/2014/main" id="{BA6E80F1-DB68-4951-9419-4957A97547A6}"/>
                </a:ext>
              </a:extLst>
            </p:cNvPr>
            <p:cNvSpPr txBox="1">
              <a:spLocks noChangeArrowheads="1"/>
            </p:cNvSpPr>
            <p:nvPr/>
          </p:nvSpPr>
          <p:spPr bwMode="auto">
            <a:xfrm>
              <a:off x="1333498" y="2731799"/>
              <a:ext cx="2134156" cy="1077218"/>
            </a:xfrm>
            <a:prstGeom prst="rect">
              <a:avLst/>
            </a:prstGeom>
            <a:solidFill>
              <a:srgbClr val="C1F5FB"/>
            </a:solidFill>
            <a:ln>
              <a:noFill/>
            </a:ln>
            <a:effectLst/>
          </p:spPr>
          <p:txBody>
            <a:bodyPr>
              <a:spAutoFit/>
            </a:bodyPr>
            <a:lstStyle/>
            <a:p>
              <a:pPr>
                <a:spcBef>
                  <a:spcPct val="50000"/>
                </a:spcBef>
                <a:defRPr/>
              </a:pPr>
              <a:r>
                <a:rPr lang="zh-CN" altLang="en-US" sz="3200" b="1" dirty="0">
                  <a:solidFill>
                    <a:srgbClr val="462FEF"/>
                  </a:solidFill>
                  <a:effectLst>
                    <a:outerShdw blurRad="38100" dist="38100" dir="2700000" algn="tl">
                      <a:srgbClr val="000000"/>
                    </a:outerShdw>
                  </a:effectLst>
                </a:rPr>
                <a:t>假设闭回路不存在</a:t>
              </a:r>
            </a:p>
          </p:txBody>
        </p:sp>
        <p:sp>
          <p:nvSpPr>
            <p:cNvPr id="72717" name="AutoShape 6">
              <a:extLst>
                <a:ext uri="{FF2B5EF4-FFF2-40B4-BE49-F238E27FC236}">
                  <a16:creationId xmlns:a16="http://schemas.microsoft.com/office/drawing/2014/main" id="{C23B6770-F3C5-4374-B004-1E0AA6BEE5FB}"/>
                </a:ext>
              </a:extLst>
            </p:cNvPr>
            <p:cNvSpPr>
              <a:spLocks noChangeArrowheads="1"/>
            </p:cNvSpPr>
            <p:nvPr/>
          </p:nvSpPr>
          <p:spPr bwMode="auto">
            <a:xfrm>
              <a:off x="3554764" y="3011774"/>
              <a:ext cx="552820"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5" name="Text Box 8">
            <a:extLst>
              <a:ext uri="{FF2B5EF4-FFF2-40B4-BE49-F238E27FC236}">
                <a16:creationId xmlns:a16="http://schemas.microsoft.com/office/drawing/2014/main" id="{63C5152A-4685-4398-8684-C20944541B12}"/>
              </a:ext>
            </a:extLst>
          </p:cNvPr>
          <p:cNvSpPr txBox="1">
            <a:spLocks noChangeArrowheads="1"/>
          </p:cNvSpPr>
          <p:nvPr/>
        </p:nvSpPr>
        <p:spPr bwMode="auto">
          <a:xfrm>
            <a:off x="3363913" y="2498725"/>
            <a:ext cx="4027487" cy="1168400"/>
          </a:xfrm>
          <a:prstGeom prst="rect">
            <a:avLst/>
          </a:prstGeom>
          <a:solidFill>
            <a:schemeClr val="bg1"/>
          </a:solidFill>
          <a:ln>
            <a:noFill/>
          </a:ln>
          <a:effectLst/>
        </p:spPr>
        <p:txBody>
          <a:bodyPr>
            <a:spAutoFit/>
          </a:bodyPr>
          <a:lstStyle/>
          <a:p>
            <a:pPr>
              <a:spcBef>
                <a:spcPct val="50000"/>
              </a:spcBef>
              <a:defRPr/>
            </a:pPr>
            <a:r>
              <a:rPr lang="zh-CN" altLang="en-US" sz="2800" b="1" dirty="0">
                <a:solidFill>
                  <a:schemeClr val="tx2"/>
                </a:solidFill>
                <a:effectLst>
                  <a:outerShdw blurRad="38100" dist="38100" dir="2700000" algn="tl">
                    <a:srgbClr val="C0C0C0"/>
                  </a:outerShdw>
                </a:effectLst>
              </a:rPr>
              <a:t>无法计算检验数，</a:t>
            </a:r>
            <a:endParaRPr lang="en-US" altLang="zh-CN" sz="2800" b="1" dirty="0">
              <a:solidFill>
                <a:schemeClr val="tx2"/>
              </a:solidFill>
              <a:effectLst>
                <a:outerShdw blurRad="38100" dist="38100" dir="2700000" algn="tl">
                  <a:srgbClr val="C0C0C0"/>
                </a:outerShdw>
              </a:effectLst>
            </a:endParaRPr>
          </a:p>
          <a:p>
            <a:pPr>
              <a:spcBef>
                <a:spcPct val="50000"/>
              </a:spcBef>
              <a:defRPr/>
            </a:pPr>
            <a:r>
              <a:rPr lang="zh-CN" altLang="en-US" sz="2800" b="1" dirty="0">
                <a:solidFill>
                  <a:schemeClr val="tx2"/>
                </a:solidFill>
                <a:effectLst>
                  <a:outerShdw blurRad="38100" dist="38100" dir="2700000" algn="tl">
                    <a:srgbClr val="C0C0C0"/>
                  </a:outerShdw>
                </a:effectLst>
              </a:rPr>
              <a:t>无法判断是否最优解？</a:t>
            </a:r>
            <a:endParaRPr lang="zh-CN" altLang="en-US" dirty="0">
              <a:solidFill>
                <a:schemeClr val="tx2"/>
              </a:solidFill>
            </a:endParaRPr>
          </a:p>
        </p:txBody>
      </p:sp>
      <p:grpSp>
        <p:nvGrpSpPr>
          <p:cNvPr id="16" name="组合 15">
            <a:extLst>
              <a:ext uri="{FF2B5EF4-FFF2-40B4-BE49-F238E27FC236}">
                <a16:creationId xmlns:a16="http://schemas.microsoft.com/office/drawing/2014/main" id="{EB29DFA7-5CD6-40FA-B212-BD2230F56689}"/>
              </a:ext>
            </a:extLst>
          </p:cNvPr>
          <p:cNvGrpSpPr>
            <a:grpSpLocks/>
          </p:cNvGrpSpPr>
          <p:nvPr/>
        </p:nvGrpSpPr>
        <p:grpSpPr bwMode="auto">
          <a:xfrm>
            <a:off x="500063" y="4103688"/>
            <a:ext cx="2773362" cy="1077912"/>
            <a:chOff x="1333498" y="2731799"/>
            <a:chExt cx="2774086" cy="1077218"/>
          </a:xfrm>
        </p:grpSpPr>
        <p:sp>
          <p:nvSpPr>
            <p:cNvPr id="17" name="Text Box 4">
              <a:extLst>
                <a:ext uri="{FF2B5EF4-FFF2-40B4-BE49-F238E27FC236}">
                  <a16:creationId xmlns:a16="http://schemas.microsoft.com/office/drawing/2014/main" id="{0C42D810-9415-4E90-AA00-F70F32BF319A}"/>
                </a:ext>
              </a:extLst>
            </p:cNvPr>
            <p:cNvSpPr txBox="1">
              <a:spLocks noChangeArrowheads="1"/>
            </p:cNvSpPr>
            <p:nvPr/>
          </p:nvSpPr>
          <p:spPr bwMode="auto">
            <a:xfrm>
              <a:off x="1333498" y="2731799"/>
              <a:ext cx="2134157" cy="1077218"/>
            </a:xfrm>
            <a:prstGeom prst="rect">
              <a:avLst/>
            </a:prstGeom>
            <a:solidFill>
              <a:srgbClr val="C1F5FB"/>
            </a:solidFill>
            <a:ln>
              <a:noFill/>
            </a:ln>
            <a:effectLst/>
          </p:spPr>
          <p:txBody>
            <a:bodyPr>
              <a:spAutoFit/>
            </a:bodyPr>
            <a:lstStyle/>
            <a:p>
              <a:pPr>
                <a:spcBef>
                  <a:spcPct val="50000"/>
                </a:spcBef>
                <a:defRPr/>
              </a:pPr>
              <a:r>
                <a:rPr lang="zh-CN" altLang="en-US" sz="3200" b="1" dirty="0">
                  <a:solidFill>
                    <a:srgbClr val="462FEF"/>
                  </a:solidFill>
                  <a:effectLst>
                    <a:outerShdw blurRad="38100" dist="38100" dir="2700000" algn="tl">
                      <a:srgbClr val="000000"/>
                    </a:outerShdw>
                  </a:effectLst>
                </a:rPr>
                <a:t>假设闭回路不唯一</a:t>
              </a:r>
            </a:p>
          </p:txBody>
        </p:sp>
        <p:sp>
          <p:nvSpPr>
            <p:cNvPr id="72715" name="AutoShape 6">
              <a:extLst>
                <a:ext uri="{FF2B5EF4-FFF2-40B4-BE49-F238E27FC236}">
                  <a16:creationId xmlns:a16="http://schemas.microsoft.com/office/drawing/2014/main" id="{49DB09FB-8DBA-4991-AE68-85C372877A0F}"/>
                </a:ext>
              </a:extLst>
            </p:cNvPr>
            <p:cNvSpPr>
              <a:spLocks noChangeArrowheads="1"/>
            </p:cNvSpPr>
            <p:nvPr/>
          </p:nvSpPr>
          <p:spPr bwMode="auto">
            <a:xfrm>
              <a:off x="3554764" y="3011774"/>
              <a:ext cx="552820"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9" name="Text Box 8">
            <a:extLst>
              <a:ext uri="{FF2B5EF4-FFF2-40B4-BE49-F238E27FC236}">
                <a16:creationId xmlns:a16="http://schemas.microsoft.com/office/drawing/2014/main" id="{6384BEC5-4F53-45E7-A6C1-835701C681E1}"/>
              </a:ext>
            </a:extLst>
          </p:cNvPr>
          <p:cNvSpPr txBox="1">
            <a:spLocks noChangeArrowheads="1"/>
          </p:cNvSpPr>
          <p:nvPr/>
        </p:nvSpPr>
        <p:spPr bwMode="auto">
          <a:xfrm>
            <a:off x="3406775" y="3951288"/>
            <a:ext cx="5584825" cy="1169987"/>
          </a:xfrm>
          <a:prstGeom prst="rect">
            <a:avLst/>
          </a:prstGeom>
          <a:solidFill>
            <a:schemeClr val="bg1"/>
          </a:solidFill>
          <a:ln>
            <a:noFill/>
          </a:ln>
          <a:effectLst/>
        </p:spPr>
        <p:txBody>
          <a:bodyPr>
            <a:spAutoFit/>
          </a:bodyPr>
          <a:lstStyle/>
          <a:p>
            <a:pPr>
              <a:spcBef>
                <a:spcPct val="50000"/>
              </a:spcBef>
              <a:defRPr/>
            </a:pPr>
            <a:r>
              <a:rPr lang="zh-CN" altLang="en-US" sz="2800" b="1" dirty="0">
                <a:solidFill>
                  <a:schemeClr val="tx2"/>
                </a:solidFill>
                <a:effectLst>
                  <a:outerShdw blurRad="38100" dist="38100" dir="2700000" algn="tl">
                    <a:srgbClr val="C0C0C0"/>
                  </a:outerShdw>
                </a:effectLst>
              </a:rPr>
              <a:t>计算出多个检验数（有正有负），</a:t>
            </a:r>
            <a:endParaRPr lang="en-US" altLang="zh-CN" sz="2800" b="1" dirty="0">
              <a:solidFill>
                <a:schemeClr val="tx2"/>
              </a:solidFill>
              <a:effectLst>
                <a:outerShdw blurRad="38100" dist="38100" dir="2700000" algn="tl">
                  <a:srgbClr val="C0C0C0"/>
                </a:outerShdw>
              </a:effectLst>
            </a:endParaRPr>
          </a:p>
          <a:p>
            <a:pPr>
              <a:spcBef>
                <a:spcPct val="50000"/>
              </a:spcBef>
              <a:defRPr/>
            </a:pPr>
            <a:r>
              <a:rPr lang="zh-CN" altLang="en-US" sz="2800" b="1" dirty="0">
                <a:solidFill>
                  <a:schemeClr val="tx2"/>
                </a:solidFill>
                <a:effectLst>
                  <a:outerShdw blurRad="38100" dist="38100" dir="2700000" algn="tl">
                    <a:srgbClr val="C0C0C0"/>
                  </a:outerShdw>
                </a:effectLst>
              </a:rPr>
              <a:t>无法判断是否最优解？</a:t>
            </a:r>
            <a:endParaRPr lang="zh-CN" altLang="en-US" dirty="0">
              <a:solidFill>
                <a:schemeClr val="tx2"/>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randombar(horizontal)">
                                      <p:cBhvr>
                                        <p:cTn id="7" dur="500"/>
                                        <p:tgtEl>
                                          <p:spTgt spid="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randombar(horizontal)">
                                      <p:cBhvr>
                                        <p:cTn id="17" dur="500"/>
                                        <p:tgtEl>
                                          <p:spTgt spid="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barn(inVertical)">
                                      <p:cBhvr>
                                        <p:cTn id="22" dur="500"/>
                                        <p:tgtEl>
                                          <p:spTgt spid="1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randombar(horizontal)">
                                      <p:cBhvr>
                                        <p:cTn id="27" dur="500"/>
                                        <p:tgtEl>
                                          <p:spTgt spid="1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6" presetClass="entr" presetSubtype="21"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barn(inVertical)">
                                      <p:cBhvr>
                                        <p:cTn id="32" dur="500"/>
                                        <p:tgtEl>
                                          <p:spTgt spid="1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grpId="0"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barn(inVertical)">
                                      <p:cBhvr>
                                        <p:cTn id="3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animBg="1" autoUpdateAnimBg="0"/>
      <p:bldP spid="15" grpId="0" animBg="1" autoUpdateAnimBg="0"/>
      <p:bldP spid="19" grpId="0" animBg="1"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a:extLst>
              <a:ext uri="{FF2B5EF4-FFF2-40B4-BE49-F238E27FC236}">
                <a16:creationId xmlns:a16="http://schemas.microsoft.com/office/drawing/2014/main" id="{63622F83-BE21-4518-812A-30F605C6EFB9}"/>
              </a:ext>
            </a:extLst>
          </p:cNvPr>
          <p:cNvSpPr>
            <a:spLocks noGrp="1" noChangeArrowheads="1"/>
          </p:cNvSpPr>
          <p:nvPr>
            <p:ph type="title"/>
          </p:nvPr>
        </p:nvSpPr>
        <p:spPr/>
        <p:txBody>
          <a:bodyPr/>
          <a:lstStyle/>
          <a:p>
            <a:pPr eaLnBrk="1" hangingPunct="1"/>
            <a:r>
              <a:rPr lang="zh-CN" altLang="en-US"/>
              <a:t>闭回路法</a:t>
            </a:r>
          </a:p>
        </p:txBody>
      </p:sp>
      <p:sp>
        <p:nvSpPr>
          <p:cNvPr id="165891" name="Rectangle 3">
            <a:extLst>
              <a:ext uri="{FF2B5EF4-FFF2-40B4-BE49-F238E27FC236}">
                <a16:creationId xmlns:a16="http://schemas.microsoft.com/office/drawing/2014/main" id="{79A5EC92-03CC-4107-8589-C0988E3C37B9}"/>
              </a:ext>
            </a:extLst>
          </p:cNvPr>
          <p:cNvSpPr>
            <a:spLocks noGrp="1" noChangeArrowheads="1"/>
          </p:cNvSpPr>
          <p:nvPr>
            <p:ph type="body" sz="half" idx="1"/>
          </p:nvPr>
        </p:nvSpPr>
        <p:spPr>
          <a:xfrm>
            <a:off x="304800" y="1143000"/>
            <a:ext cx="8686800" cy="5562600"/>
          </a:xfrm>
        </p:spPr>
        <p:txBody>
          <a:bodyPr/>
          <a:lstStyle/>
          <a:p>
            <a:pPr eaLnBrk="1" hangingPunct="1">
              <a:lnSpc>
                <a:spcPct val="90000"/>
              </a:lnSpc>
            </a:pPr>
            <a:r>
              <a:rPr lang="zh-CN" altLang="en-US" sz="2800"/>
              <a:t>从表中任一空格（非基变量）出发，与基变量格子形成一个闭回路，回路拐点处数值依次加减</a:t>
            </a:r>
          </a:p>
          <a:p>
            <a:pPr eaLnBrk="1" hangingPunct="1">
              <a:lnSpc>
                <a:spcPct val="90000"/>
              </a:lnSpc>
            </a:pPr>
            <a:endParaRPr lang="zh-CN" altLang="en-US" sz="900"/>
          </a:p>
          <a:p>
            <a:pPr eaLnBrk="1" hangingPunct="1">
              <a:lnSpc>
                <a:spcPct val="90000"/>
              </a:lnSpc>
            </a:pPr>
            <a:endParaRPr lang="zh-CN" altLang="en-US" sz="2800"/>
          </a:p>
          <a:p>
            <a:pPr eaLnBrk="1" hangingPunct="1">
              <a:lnSpc>
                <a:spcPct val="90000"/>
              </a:lnSpc>
            </a:pPr>
            <a:endParaRPr lang="zh-CN" altLang="en-US" sz="900"/>
          </a:p>
          <a:p>
            <a:pPr eaLnBrk="1" hangingPunct="1">
              <a:lnSpc>
                <a:spcPct val="90000"/>
              </a:lnSpc>
            </a:pPr>
            <a:endParaRPr lang="zh-CN" altLang="en-US" sz="2800"/>
          </a:p>
          <a:p>
            <a:pPr eaLnBrk="1" hangingPunct="1">
              <a:lnSpc>
                <a:spcPct val="90000"/>
              </a:lnSpc>
            </a:pPr>
            <a:endParaRPr lang="zh-CN" altLang="en-US" sz="2800"/>
          </a:p>
          <a:p>
            <a:pPr eaLnBrk="1" hangingPunct="1">
              <a:lnSpc>
                <a:spcPct val="90000"/>
              </a:lnSpc>
            </a:pPr>
            <a:endParaRPr lang="zh-CN" altLang="en-US" sz="2800"/>
          </a:p>
          <a:p>
            <a:pPr eaLnBrk="1" hangingPunct="1">
              <a:lnSpc>
                <a:spcPct val="90000"/>
              </a:lnSpc>
            </a:pPr>
            <a:endParaRPr lang="zh-CN" altLang="en-US" sz="2800"/>
          </a:p>
          <a:p>
            <a:pPr eaLnBrk="1" hangingPunct="1">
              <a:lnSpc>
                <a:spcPct val="90000"/>
              </a:lnSpc>
            </a:pPr>
            <a:endParaRPr lang="zh-CN" altLang="en-US" sz="2800"/>
          </a:p>
          <a:p>
            <a:pPr eaLnBrk="1" hangingPunct="1">
              <a:lnSpc>
                <a:spcPct val="90000"/>
              </a:lnSpc>
            </a:pPr>
            <a:endParaRPr lang="zh-CN" altLang="en-US" sz="2800"/>
          </a:p>
          <a:p>
            <a:pPr eaLnBrk="1" hangingPunct="1">
              <a:lnSpc>
                <a:spcPct val="90000"/>
              </a:lnSpc>
            </a:pPr>
            <a:r>
              <a:rPr lang="zh-CN" altLang="en-US" sz="2800"/>
              <a:t>经济解释：</a:t>
            </a:r>
            <a:r>
              <a:rPr lang="zh-CN" altLang="en-US" sz="2800">
                <a:solidFill>
                  <a:srgbClr val="FF0000"/>
                </a:solidFill>
              </a:rPr>
              <a:t>增加某一非基变量一个单位，看有无可能降低总的运输成本</a:t>
            </a:r>
            <a:r>
              <a:rPr lang="en-US" altLang="zh-CN" sz="2800">
                <a:solidFill>
                  <a:srgbClr val="FF0000"/>
                </a:solidFill>
              </a:rPr>
              <a:t>(</a:t>
            </a:r>
            <a:r>
              <a:rPr lang="zh-CN" altLang="en-US" sz="2800">
                <a:solidFill>
                  <a:srgbClr val="FF0000"/>
                </a:solidFill>
              </a:rPr>
              <a:t>检验数</a:t>
            </a:r>
            <a:r>
              <a:rPr lang="en-US" altLang="zh-CN" sz="2800">
                <a:solidFill>
                  <a:srgbClr val="FF0000"/>
                </a:solidFill>
              </a:rPr>
              <a:t>)</a:t>
            </a:r>
            <a:r>
              <a:rPr lang="zh-CN" altLang="en-US" sz="2800">
                <a:solidFill>
                  <a:srgbClr val="FF0000"/>
                </a:solidFill>
              </a:rPr>
              <a:t>，若能降低则不是最优</a:t>
            </a:r>
            <a:endParaRPr lang="zh-CN" altLang="en-US" sz="2800"/>
          </a:p>
        </p:txBody>
      </p:sp>
      <p:graphicFrame>
        <p:nvGraphicFramePr>
          <p:cNvPr id="166091" name="Group 203">
            <a:extLst>
              <a:ext uri="{FF2B5EF4-FFF2-40B4-BE49-F238E27FC236}">
                <a16:creationId xmlns:a16="http://schemas.microsoft.com/office/drawing/2014/main" id="{493F686C-3F2E-4988-8C35-AEB9576223BC}"/>
              </a:ext>
            </a:extLst>
          </p:cNvPr>
          <p:cNvGraphicFramePr>
            <a:graphicFrameLocks noGrp="1"/>
          </p:cNvGraphicFramePr>
          <p:nvPr>
            <p:ph sz="half" idx="2"/>
          </p:nvPr>
        </p:nvGraphicFramePr>
        <p:xfrm>
          <a:off x="1295400" y="1981200"/>
          <a:ext cx="6781800" cy="3659188"/>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4587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73824" name="Text Box 195">
            <a:extLst>
              <a:ext uri="{FF2B5EF4-FFF2-40B4-BE49-F238E27FC236}">
                <a16:creationId xmlns:a16="http://schemas.microsoft.com/office/drawing/2014/main" id="{889B274F-9AD6-494F-8BF6-727B649725EB}"/>
              </a:ext>
            </a:extLst>
          </p:cNvPr>
          <p:cNvSpPr txBox="1">
            <a:spLocks noChangeArrowheads="1"/>
          </p:cNvSpPr>
          <p:nvPr/>
        </p:nvSpPr>
        <p:spPr bwMode="auto">
          <a:xfrm>
            <a:off x="2286000" y="349567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73825" name="Text Box 196">
            <a:extLst>
              <a:ext uri="{FF2B5EF4-FFF2-40B4-BE49-F238E27FC236}">
                <a16:creationId xmlns:a16="http://schemas.microsoft.com/office/drawing/2014/main" id="{34438814-E409-470A-A635-DF6CFBC21FEF}"/>
              </a:ext>
            </a:extLst>
          </p:cNvPr>
          <p:cNvSpPr txBox="1">
            <a:spLocks noChangeArrowheads="1"/>
          </p:cNvSpPr>
          <p:nvPr/>
        </p:nvSpPr>
        <p:spPr bwMode="auto">
          <a:xfrm>
            <a:off x="4876800" y="3495675"/>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73826" name="Text Box 197">
            <a:extLst>
              <a:ext uri="{FF2B5EF4-FFF2-40B4-BE49-F238E27FC236}">
                <a16:creationId xmlns:a16="http://schemas.microsoft.com/office/drawing/2014/main" id="{FDC8527B-C6B4-4629-8778-A5B9C4002ECD}"/>
              </a:ext>
            </a:extLst>
          </p:cNvPr>
          <p:cNvSpPr txBox="1">
            <a:spLocks noChangeArrowheads="1"/>
          </p:cNvSpPr>
          <p:nvPr/>
        </p:nvSpPr>
        <p:spPr bwMode="auto">
          <a:xfrm>
            <a:off x="4876800" y="2657475"/>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4</a:t>
            </a:r>
          </a:p>
        </p:txBody>
      </p:sp>
      <p:sp>
        <p:nvSpPr>
          <p:cNvPr id="73827" name="Text Box 198">
            <a:extLst>
              <a:ext uri="{FF2B5EF4-FFF2-40B4-BE49-F238E27FC236}">
                <a16:creationId xmlns:a16="http://schemas.microsoft.com/office/drawing/2014/main" id="{7FFBC0FC-27A6-474E-B48B-26E9E54DF158}"/>
              </a:ext>
            </a:extLst>
          </p:cNvPr>
          <p:cNvSpPr txBox="1">
            <a:spLocks noChangeArrowheads="1"/>
          </p:cNvSpPr>
          <p:nvPr/>
        </p:nvSpPr>
        <p:spPr bwMode="auto">
          <a:xfrm>
            <a:off x="3657600" y="42576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73828" name="Text Box 199">
            <a:extLst>
              <a:ext uri="{FF2B5EF4-FFF2-40B4-BE49-F238E27FC236}">
                <a16:creationId xmlns:a16="http://schemas.microsoft.com/office/drawing/2014/main" id="{9BBD8FD1-345A-4AF0-9C3D-F0DCB3BF395A}"/>
              </a:ext>
            </a:extLst>
          </p:cNvPr>
          <p:cNvSpPr txBox="1">
            <a:spLocks noChangeArrowheads="1"/>
          </p:cNvSpPr>
          <p:nvPr/>
        </p:nvSpPr>
        <p:spPr bwMode="auto">
          <a:xfrm>
            <a:off x="6096000" y="43338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73829" name="Text Box 200">
            <a:extLst>
              <a:ext uri="{FF2B5EF4-FFF2-40B4-BE49-F238E27FC236}">
                <a16:creationId xmlns:a16="http://schemas.microsoft.com/office/drawing/2014/main" id="{3758FC2C-4A95-4E2F-A2A0-53B633C2CDCE}"/>
              </a:ext>
            </a:extLst>
          </p:cNvPr>
          <p:cNvSpPr txBox="1">
            <a:spLocks noChangeArrowheads="1"/>
          </p:cNvSpPr>
          <p:nvPr/>
        </p:nvSpPr>
        <p:spPr bwMode="auto">
          <a:xfrm>
            <a:off x="6096000" y="26574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29804" name="Line 206">
            <a:extLst>
              <a:ext uri="{FF2B5EF4-FFF2-40B4-BE49-F238E27FC236}">
                <a16:creationId xmlns:a16="http://schemas.microsoft.com/office/drawing/2014/main" id="{B8D495F9-9ED8-4C97-9B28-0E27087D96E3}"/>
              </a:ext>
            </a:extLst>
          </p:cNvPr>
          <p:cNvSpPr>
            <a:spLocks noChangeShapeType="1"/>
          </p:cNvSpPr>
          <p:nvPr/>
        </p:nvSpPr>
        <p:spPr bwMode="auto">
          <a:xfrm flipH="1">
            <a:off x="3276600" y="3571875"/>
            <a:ext cx="2133600" cy="0"/>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2" name="组合 25">
            <a:extLst>
              <a:ext uri="{FF2B5EF4-FFF2-40B4-BE49-F238E27FC236}">
                <a16:creationId xmlns:a16="http://schemas.microsoft.com/office/drawing/2014/main" id="{795F32C8-4F7F-4F3B-814D-CF133B162A8A}"/>
              </a:ext>
            </a:extLst>
          </p:cNvPr>
          <p:cNvGrpSpPr>
            <a:grpSpLocks/>
          </p:cNvGrpSpPr>
          <p:nvPr/>
        </p:nvGrpSpPr>
        <p:grpSpPr bwMode="auto">
          <a:xfrm>
            <a:off x="2743200" y="2352675"/>
            <a:ext cx="3048000" cy="1463675"/>
            <a:chOff x="2743200" y="2667000"/>
            <a:chExt cx="3048000" cy="1463675"/>
          </a:xfrm>
        </p:grpSpPr>
        <p:sp>
          <p:nvSpPr>
            <p:cNvPr id="45168" name="Text Box 209">
              <a:extLst>
                <a:ext uri="{FF2B5EF4-FFF2-40B4-BE49-F238E27FC236}">
                  <a16:creationId xmlns:a16="http://schemas.microsoft.com/office/drawing/2014/main" id="{1EF52F5F-98DA-48EB-91CD-0BF254A99506}"/>
                </a:ext>
              </a:extLst>
            </p:cNvPr>
            <p:cNvSpPr txBox="1">
              <a:spLocks noChangeArrowheads="1"/>
            </p:cNvSpPr>
            <p:nvPr/>
          </p:nvSpPr>
          <p:spPr bwMode="auto">
            <a:xfrm>
              <a:off x="2743200" y="2803525"/>
              <a:ext cx="457200" cy="396875"/>
            </a:xfrm>
            <a:prstGeom prst="rect">
              <a:avLst/>
            </a:prstGeom>
            <a:noFill/>
            <a:ln>
              <a:noFill/>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buClrTx/>
                <a:buSzTx/>
                <a:buFontTx/>
                <a:buNone/>
                <a:defRPr/>
              </a:pPr>
              <a:r>
                <a:rPr lang="en-US" altLang="zh-CN" sz="2000" b="0" dirty="0">
                  <a:solidFill>
                    <a:schemeClr val="tx2">
                      <a:lumMod val="60000"/>
                      <a:lumOff val="40000"/>
                    </a:schemeClr>
                  </a:solidFill>
                </a:rPr>
                <a:t>+</a:t>
              </a:r>
            </a:p>
          </p:txBody>
        </p:sp>
        <p:sp>
          <p:nvSpPr>
            <p:cNvPr id="45169" name="Text Box 210">
              <a:extLst>
                <a:ext uri="{FF2B5EF4-FFF2-40B4-BE49-F238E27FC236}">
                  <a16:creationId xmlns:a16="http://schemas.microsoft.com/office/drawing/2014/main" id="{6F45DAA6-5E2E-4F0C-88FA-BA70D5F69DB8}"/>
                </a:ext>
              </a:extLst>
            </p:cNvPr>
            <p:cNvSpPr txBox="1">
              <a:spLocks noChangeArrowheads="1"/>
            </p:cNvSpPr>
            <p:nvPr/>
          </p:nvSpPr>
          <p:spPr bwMode="auto">
            <a:xfrm>
              <a:off x="5257800" y="3733800"/>
              <a:ext cx="457200" cy="396875"/>
            </a:xfrm>
            <a:prstGeom prst="rect">
              <a:avLst/>
            </a:prstGeom>
            <a:noFill/>
            <a:ln>
              <a:noFill/>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buClrTx/>
                <a:buSzTx/>
                <a:buFontTx/>
                <a:buNone/>
                <a:defRPr/>
              </a:pPr>
              <a:r>
                <a:rPr lang="en-US" altLang="zh-CN" sz="2000" b="0" dirty="0">
                  <a:solidFill>
                    <a:schemeClr val="tx2">
                      <a:lumMod val="60000"/>
                      <a:lumOff val="40000"/>
                    </a:schemeClr>
                  </a:solidFill>
                </a:rPr>
                <a:t>+</a:t>
              </a:r>
            </a:p>
          </p:txBody>
        </p:sp>
        <p:sp>
          <p:nvSpPr>
            <p:cNvPr id="73844" name="Text Box 211">
              <a:extLst>
                <a:ext uri="{FF2B5EF4-FFF2-40B4-BE49-F238E27FC236}">
                  <a16:creationId xmlns:a16="http://schemas.microsoft.com/office/drawing/2014/main" id="{E5E72383-872D-4238-8421-DCA168A38993}"/>
                </a:ext>
              </a:extLst>
            </p:cNvPr>
            <p:cNvSpPr txBox="1">
              <a:spLocks noChangeArrowheads="1"/>
            </p:cNvSpPr>
            <p:nvPr/>
          </p:nvSpPr>
          <p:spPr bwMode="auto">
            <a:xfrm>
              <a:off x="5334000" y="26670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sp>
          <p:nvSpPr>
            <p:cNvPr id="73845" name="Text Box 212">
              <a:extLst>
                <a:ext uri="{FF2B5EF4-FFF2-40B4-BE49-F238E27FC236}">
                  <a16:creationId xmlns:a16="http://schemas.microsoft.com/office/drawing/2014/main" id="{073D5ABF-672D-4FC1-B1A9-BEA8341491DE}"/>
                </a:ext>
              </a:extLst>
            </p:cNvPr>
            <p:cNvSpPr txBox="1">
              <a:spLocks noChangeArrowheads="1"/>
            </p:cNvSpPr>
            <p:nvPr/>
          </p:nvSpPr>
          <p:spPr bwMode="auto">
            <a:xfrm>
              <a:off x="2819400" y="37338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grpSp>
      <p:sp>
        <p:nvSpPr>
          <p:cNvPr id="22" name="Line 206">
            <a:extLst>
              <a:ext uri="{FF2B5EF4-FFF2-40B4-BE49-F238E27FC236}">
                <a16:creationId xmlns:a16="http://schemas.microsoft.com/office/drawing/2014/main" id="{E71C8817-2F89-46BD-9A4B-AE0AF86C5C33}"/>
              </a:ext>
            </a:extLst>
          </p:cNvPr>
          <p:cNvSpPr>
            <a:spLocks noChangeShapeType="1"/>
          </p:cNvSpPr>
          <p:nvPr/>
        </p:nvSpPr>
        <p:spPr bwMode="auto">
          <a:xfrm flipH="1">
            <a:off x="5410200" y="2657475"/>
            <a:ext cx="0" cy="914400"/>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3" name="Line 206">
            <a:extLst>
              <a:ext uri="{FF2B5EF4-FFF2-40B4-BE49-F238E27FC236}">
                <a16:creationId xmlns:a16="http://schemas.microsoft.com/office/drawing/2014/main" id="{DA64676D-1032-46AF-BBB4-184E43C0132E}"/>
              </a:ext>
            </a:extLst>
          </p:cNvPr>
          <p:cNvSpPr>
            <a:spLocks noChangeShapeType="1"/>
          </p:cNvSpPr>
          <p:nvPr/>
        </p:nvSpPr>
        <p:spPr bwMode="auto">
          <a:xfrm flipH="1">
            <a:off x="3276600" y="2657475"/>
            <a:ext cx="0" cy="91440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24" name="Line 206">
            <a:extLst>
              <a:ext uri="{FF2B5EF4-FFF2-40B4-BE49-F238E27FC236}">
                <a16:creationId xmlns:a16="http://schemas.microsoft.com/office/drawing/2014/main" id="{022FB6D9-BDAF-4FA0-9992-16874814AF05}"/>
              </a:ext>
            </a:extLst>
          </p:cNvPr>
          <p:cNvSpPr>
            <a:spLocks noChangeShapeType="1"/>
          </p:cNvSpPr>
          <p:nvPr/>
        </p:nvSpPr>
        <p:spPr bwMode="auto">
          <a:xfrm flipH="1">
            <a:off x="3276600" y="2657475"/>
            <a:ext cx="2133600" cy="0"/>
          </a:xfrm>
          <a:prstGeom prst="line">
            <a:avLst/>
          </a:prstGeom>
          <a:noFill/>
          <a:ln w="28575">
            <a:solidFill>
              <a:srgbClr val="FF00FF"/>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grpSp>
        <p:nvGrpSpPr>
          <p:cNvPr id="5" name="组合 4">
            <a:extLst>
              <a:ext uri="{FF2B5EF4-FFF2-40B4-BE49-F238E27FC236}">
                <a16:creationId xmlns:a16="http://schemas.microsoft.com/office/drawing/2014/main" id="{61CFFCC4-0728-465C-B095-2C9FBA9A0763}"/>
              </a:ext>
            </a:extLst>
          </p:cNvPr>
          <p:cNvGrpSpPr>
            <a:grpSpLocks/>
          </p:cNvGrpSpPr>
          <p:nvPr/>
        </p:nvGrpSpPr>
        <p:grpSpPr bwMode="auto">
          <a:xfrm>
            <a:off x="152400" y="180975"/>
            <a:ext cx="7567613" cy="2943225"/>
            <a:chOff x="152391" y="181570"/>
            <a:chExt cx="7568390" cy="2942688"/>
          </a:xfrm>
        </p:grpSpPr>
        <p:grpSp>
          <p:nvGrpSpPr>
            <p:cNvPr id="73838" name="组合 27">
              <a:extLst>
                <a:ext uri="{FF2B5EF4-FFF2-40B4-BE49-F238E27FC236}">
                  <a16:creationId xmlns:a16="http://schemas.microsoft.com/office/drawing/2014/main" id="{DC581179-7BF8-4352-A23E-AD0530386A1D}"/>
                </a:ext>
              </a:extLst>
            </p:cNvPr>
            <p:cNvGrpSpPr>
              <a:grpSpLocks/>
            </p:cNvGrpSpPr>
            <p:nvPr/>
          </p:nvGrpSpPr>
          <p:grpSpPr bwMode="auto">
            <a:xfrm>
              <a:off x="152391" y="1965594"/>
              <a:ext cx="2519372" cy="1158664"/>
              <a:chOff x="172153" y="1965594"/>
              <a:chExt cx="2518660" cy="1158664"/>
            </a:xfrm>
          </p:grpSpPr>
          <p:sp>
            <p:nvSpPr>
              <p:cNvPr id="27" name="AutoShape 63">
                <a:extLst>
                  <a:ext uri="{FF2B5EF4-FFF2-40B4-BE49-F238E27FC236}">
                    <a16:creationId xmlns:a16="http://schemas.microsoft.com/office/drawing/2014/main" id="{9B30FCAE-E912-409C-B0BD-F36C82D1257F}"/>
                  </a:ext>
                </a:extLst>
              </p:cNvPr>
              <p:cNvSpPr>
                <a:spLocks noChangeArrowheads="1"/>
              </p:cNvSpPr>
              <p:nvPr/>
            </p:nvSpPr>
            <p:spPr bwMode="auto">
              <a:xfrm rot="10800000">
                <a:off x="172153" y="1965594"/>
                <a:ext cx="1047562" cy="1158664"/>
              </a:xfrm>
              <a:prstGeom prst="wedgeRoundRectCallout">
                <a:avLst>
                  <a:gd name="adj1" fmla="val -153064"/>
                  <a:gd name="adj2" fmla="val -23988"/>
                  <a:gd name="adj3" fmla="val 16667"/>
                </a:avLst>
              </a:prstGeom>
              <a:solidFill>
                <a:schemeClr val="tx2">
                  <a:lumMod val="60000"/>
                  <a:lumOff val="40000"/>
                </a:schemeClr>
              </a:solidFill>
              <a:ln w="9525">
                <a:solidFill>
                  <a:srgbClr val="00FF00"/>
                </a:solidFill>
                <a:miter lim="800000"/>
                <a:headEnd/>
                <a:tailEnd/>
              </a:ln>
            </p:spPr>
            <p:txBody>
              <a:bodyPr rot="10800000" anchor="ctr" anchorCtr="1"/>
              <a:lstStyle/>
              <a:p>
                <a:pPr algn="ctr" eaLnBrk="1" hangingPunct="1">
                  <a:defRPr/>
                </a:pPr>
                <a:r>
                  <a:rPr kumimoji="1" lang="zh-CN" altLang="en-US" sz="1200" b="1" dirty="0">
                    <a:solidFill>
                      <a:srgbClr val="FF0000"/>
                    </a:solidFill>
                    <a:latin typeface="Times New Roman" pitchFamily="18" charset="0"/>
                  </a:rPr>
                  <a:t>检验数：如果这样调整运量将增加运费。</a:t>
                </a:r>
              </a:p>
            </p:txBody>
          </p:sp>
          <p:sp>
            <p:nvSpPr>
              <p:cNvPr id="73841" name="Oval 208">
                <a:extLst>
                  <a:ext uri="{FF2B5EF4-FFF2-40B4-BE49-F238E27FC236}">
                    <a16:creationId xmlns:a16="http://schemas.microsoft.com/office/drawing/2014/main" id="{D171887E-4059-4436-889C-A491AB0A7BCD}"/>
                  </a:ext>
                </a:extLst>
              </p:cNvPr>
              <p:cNvSpPr>
                <a:spLocks noChangeArrowheads="1"/>
              </p:cNvSpPr>
              <p:nvPr/>
            </p:nvSpPr>
            <p:spPr bwMode="auto">
              <a:xfrm>
                <a:off x="2286000" y="2733733"/>
                <a:ext cx="404813" cy="390525"/>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a:t>
                </a:r>
                <a:endParaRPr lang="en-US" altLang="zh-CN"/>
              </a:p>
            </p:txBody>
          </p:sp>
        </p:grpSp>
        <p:sp>
          <p:nvSpPr>
            <p:cNvPr id="73839" name="矩形 3">
              <a:extLst>
                <a:ext uri="{FF2B5EF4-FFF2-40B4-BE49-F238E27FC236}">
                  <a16:creationId xmlns:a16="http://schemas.microsoft.com/office/drawing/2014/main" id="{6AF446F7-F619-40D0-A7EB-905CEB2C91E4}"/>
                </a:ext>
              </a:extLst>
            </p:cNvPr>
            <p:cNvSpPr>
              <a:spLocks noChangeArrowheads="1"/>
            </p:cNvSpPr>
            <p:nvPr/>
          </p:nvSpPr>
          <p:spPr bwMode="auto">
            <a:xfrm>
              <a:off x="2843981" y="181570"/>
              <a:ext cx="4876800" cy="923330"/>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zh-CN">
                  <a:solidFill>
                    <a:srgbClr val="FF00FF"/>
                  </a:solidFill>
                  <a:cs typeface="Arial" panose="020B0604020202020204" pitchFamily="34" charset="0"/>
                </a:rPr>
                <a:t>σ</a:t>
              </a:r>
              <a:r>
                <a:rPr lang="zh-CN" altLang="zh-CN" baseline="-25000">
                  <a:solidFill>
                    <a:srgbClr val="FF00FF"/>
                  </a:solidFill>
                  <a:latin typeface="Times New Roman" panose="02020603050405020304" pitchFamily="18" charset="0"/>
                  <a:cs typeface="Arial" panose="020B0604020202020204" pitchFamily="34" charset="0"/>
                </a:rPr>
                <a:t>ij</a:t>
              </a:r>
              <a:r>
                <a:rPr lang="zh-CN" altLang="zh-CN">
                  <a:solidFill>
                    <a:srgbClr val="FF00FF"/>
                  </a:solidFill>
                  <a:latin typeface="Times New Roman" panose="02020603050405020304" pitchFamily="18" charset="0"/>
                  <a:cs typeface="Arial" panose="020B0604020202020204" pitchFamily="34" charset="0"/>
                </a:rPr>
                <a:t>=(第一顶点的运价)-(</a:t>
              </a:r>
              <a:r>
                <a:rPr lang="zh-CN" altLang="zh-CN">
                  <a:solidFill>
                    <a:srgbClr val="FF00FF"/>
                  </a:solidFill>
                </a:rPr>
                <a:t>第二顶点的运价</a:t>
              </a:r>
              <a:r>
                <a:rPr lang="zh-CN" altLang="zh-CN">
                  <a:solidFill>
                    <a:srgbClr val="FF00FF"/>
                  </a:solidFill>
                  <a:latin typeface="Times New Roman" panose="02020603050405020304" pitchFamily="18" charset="0"/>
                  <a:cs typeface="Arial" panose="020B0604020202020204" pitchFamily="34" charset="0"/>
                </a:rPr>
                <a:t>)+(</a:t>
              </a:r>
              <a:r>
                <a:rPr lang="zh-CN" altLang="zh-CN">
                  <a:solidFill>
                    <a:srgbClr val="FF00FF"/>
                  </a:solidFill>
                </a:rPr>
                <a:t>第三顶点的运价</a:t>
              </a:r>
              <a:r>
                <a:rPr lang="zh-CN" altLang="zh-CN">
                  <a:solidFill>
                    <a:srgbClr val="FF00FF"/>
                  </a:solidFill>
                  <a:latin typeface="Times New Roman" panose="02020603050405020304" pitchFamily="18" charset="0"/>
                  <a:cs typeface="Arial" panose="020B0604020202020204" pitchFamily="34" charset="0"/>
                </a:rPr>
                <a:t>)-(</a:t>
              </a:r>
              <a:r>
                <a:rPr lang="zh-CN" altLang="zh-CN">
                  <a:solidFill>
                    <a:srgbClr val="FF00FF"/>
                  </a:solidFill>
                </a:rPr>
                <a:t>第四顶点的运价</a:t>
              </a:r>
              <a:r>
                <a:rPr lang="zh-CN" altLang="zh-CN">
                  <a:solidFill>
                    <a:srgbClr val="FF00FF"/>
                  </a:solidFill>
                  <a:latin typeface="Times New Roman" panose="02020603050405020304" pitchFamily="18" charset="0"/>
                  <a:cs typeface="Arial" panose="020B0604020202020204" pitchFamily="34" charset="0"/>
                </a:rPr>
                <a:t>)……=(奇数顶点运价之和)-(偶数顶点运价之和)</a:t>
              </a:r>
              <a:endParaRPr lang="zh-CN" altLang="en-US">
                <a:solidFill>
                  <a:srgbClr val="FF00FF"/>
                </a:solidFill>
              </a:endParaRPr>
            </a:p>
          </p:txBody>
        </p:sp>
      </p:grpSp>
      <p:sp>
        <p:nvSpPr>
          <p:cNvPr id="25" name="椭圆 24">
            <a:extLst>
              <a:ext uri="{FF2B5EF4-FFF2-40B4-BE49-F238E27FC236}">
                <a16:creationId xmlns:a16="http://schemas.microsoft.com/office/drawing/2014/main" id="{469EA0BC-7B7C-4C4C-9C89-80C0F4F6D373}"/>
              </a:ext>
            </a:extLst>
          </p:cNvPr>
          <p:cNvSpPr/>
          <p:nvPr/>
        </p:nvSpPr>
        <p:spPr>
          <a:xfrm>
            <a:off x="3200400" y="25908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 name="矩形 2">
            <a:extLst>
              <a:ext uri="{FF2B5EF4-FFF2-40B4-BE49-F238E27FC236}">
                <a16:creationId xmlns:a16="http://schemas.microsoft.com/office/drawing/2014/main" id="{BB97122E-D977-4EB9-A3C4-C8E14B9D42E9}"/>
              </a:ext>
            </a:extLst>
          </p:cNvPr>
          <p:cNvSpPr>
            <a:spLocks noChangeArrowheads="1"/>
          </p:cNvSpPr>
          <p:nvPr/>
        </p:nvSpPr>
        <p:spPr bwMode="auto">
          <a:xfrm>
            <a:off x="177800" y="3379788"/>
            <a:ext cx="965200" cy="1755775"/>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a:solidFill>
                  <a:srgbClr val="FF0000"/>
                </a:solidFill>
              </a:rPr>
              <a:t>用于最优解检验的闭回路法作用在</a:t>
            </a:r>
            <a:r>
              <a:rPr lang="zh-CN" altLang="en-US" b="1" i="1">
                <a:solidFill>
                  <a:srgbClr val="FF0000"/>
                </a:solidFill>
              </a:rPr>
              <a:t>运价</a:t>
            </a:r>
            <a:r>
              <a:rPr lang="zh-CN" altLang="en-US" b="1">
                <a:solidFill>
                  <a:srgbClr val="FF0000"/>
                </a:solidFill>
              </a:rPr>
              <a:t>上</a:t>
            </a:r>
            <a:endParaRPr lang="zh-CN"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5891">
                                            <p:txEl>
                                              <p:pRg st="0" end="0"/>
                                            </p:txEl>
                                          </p:spTgt>
                                        </p:tgtEl>
                                        <p:attrNameLst>
                                          <p:attrName>style.visibility</p:attrName>
                                        </p:attrNameLst>
                                      </p:cBhvr>
                                      <p:to>
                                        <p:strVal val="visible"/>
                                      </p:to>
                                    </p:set>
                                    <p:animEffect transition="in" filter="blinds(horizontal)">
                                      <p:cBhvr>
                                        <p:cTn id="7" dur="500"/>
                                        <p:tgtEl>
                                          <p:spTgt spid="16589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slide(fromBottom)">
                                      <p:cBhvr>
                                        <p:cTn id="12" dur="500"/>
                                        <p:tgtEl>
                                          <p:spTgt spid="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box(in)">
                                      <p:cBhvr>
                                        <p:cTn id="17" dur="500"/>
                                        <p:tgtEl>
                                          <p:spTgt spid="2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nodeType="clickEffect">
                                  <p:stCondLst>
                                    <p:cond delay="0"/>
                                  </p:stCondLst>
                                  <p:childTnLst>
                                    <p:set>
                                      <p:cBhvr>
                                        <p:cTn id="21" dur="1" fill="hold">
                                          <p:stCondLst>
                                            <p:cond delay="0"/>
                                          </p:stCondLst>
                                        </p:cTn>
                                        <p:tgtEl>
                                          <p:spTgt spid="29804"/>
                                        </p:tgtEl>
                                        <p:attrNameLst>
                                          <p:attrName>style.visibility</p:attrName>
                                        </p:attrNameLst>
                                      </p:cBhvr>
                                      <p:to>
                                        <p:strVal val="visible"/>
                                      </p:to>
                                    </p:set>
                                    <p:animEffect transition="in" filter="slide(fromBottom)">
                                      <p:cBhvr>
                                        <p:cTn id="22" dur="500"/>
                                        <p:tgtEl>
                                          <p:spTgt spid="2980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box(in)">
                                      <p:cBhvr>
                                        <p:cTn id="27" dur="500"/>
                                        <p:tgtEl>
                                          <p:spTgt spid="2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box(in)">
                                      <p:cBhvr>
                                        <p:cTn id="32" dur="500"/>
                                        <p:tgtEl>
                                          <p:spTgt spid="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0"/>
                                          </p:stCondLst>
                                        </p:cTn>
                                        <p:tgtEl>
                                          <p:spTgt spid="5"/>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165891">
                                            <p:txEl>
                                              <p:pRg st="10" end="10"/>
                                            </p:txEl>
                                          </p:spTgt>
                                        </p:tgtEl>
                                        <p:attrNameLst>
                                          <p:attrName>style.visibility</p:attrName>
                                        </p:attrNameLst>
                                      </p:cBhvr>
                                      <p:to>
                                        <p:strVal val="visible"/>
                                      </p:to>
                                    </p:set>
                                    <p:animEffect transition="in" filter="blinds(horizontal)">
                                      <p:cBhvr>
                                        <p:cTn id="41" dur="500"/>
                                        <p:tgtEl>
                                          <p:spTgt spid="165891">
                                            <p:txEl>
                                              <p:pRg st="10" end="10"/>
                                            </p:txEl>
                                          </p:spTgt>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4" presetClass="entr" presetSubtype="10" fill="hold" grpId="0" nodeType="clickEffect">
                                  <p:stCondLst>
                                    <p:cond delay="0"/>
                                  </p:stCondLst>
                                  <p:childTnLst>
                                    <p:set>
                                      <p:cBhvr>
                                        <p:cTn id="45" dur="1" fill="hold">
                                          <p:stCondLst>
                                            <p:cond delay="0"/>
                                          </p:stCondLst>
                                        </p:cTn>
                                        <p:tgtEl>
                                          <p:spTgt spid="3"/>
                                        </p:tgtEl>
                                        <p:attrNameLst>
                                          <p:attrName>style.visibility</p:attrName>
                                        </p:attrNameLst>
                                      </p:cBhvr>
                                      <p:to>
                                        <p:strVal val="visible"/>
                                      </p:to>
                                    </p:set>
                                    <p:animEffect transition="in" filter="randombar(horizontal)">
                                      <p:cBhvr>
                                        <p:cTn id="4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891" grpId="0" build="p"/>
      <p:bldP spid="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a:extLst>
              <a:ext uri="{FF2B5EF4-FFF2-40B4-BE49-F238E27FC236}">
                <a16:creationId xmlns:a16="http://schemas.microsoft.com/office/drawing/2014/main" id="{99FC678C-4E22-4512-97A7-FF33A0DD409C}"/>
              </a:ext>
            </a:extLst>
          </p:cNvPr>
          <p:cNvSpPr>
            <a:spLocks noGrp="1" noChangeArrowheads="1"/>
          </p:cNvSpPr>
          <p:nvPr>
            <p:ph type="title"/>
          </p:nvPr>
        </p:nvSpPr>
        <p:spPr/>
        <p:txBody>
          <a:bodyPr/>
          <a:lstStyle/>
          <a:p>
            <a:pPr eaLnBrk="1" hangingPunct="1"/>
            <a:r>
              <a:rPr lang="zh-CN" altLang="en-US"/>
              <a:t>闭回路法</a:t>
            </a:r>
          </a:p>
        </p:txBody>
      </p:sp>
      <p:graphicFrame>
        <p:nvGraphicFramePr>
          <p:cNvPr id="166091" name="Group 203">
            <a:extLst>
              <a:ext uri="{FF2B5EF4-FFF2-40B4-BE49-F238E27FC236}">
                <a16:creationId xmlns:a16="http://schemas.microsoft.com/office/drawing/2014/main" id="{F4FF1F9D-3DB8-4A28-BA1A-7E1AACCC1A08}"/>
              </a:ext>
            </a:extLst>
          </p:cNvPr>
          <p:cNvGraphicFramePr>
            <a:graphicFrameLocks noGrp="1"/>
          </p:cNvGraphicFramePr>
          <p:nvPr>
            <p:ph sz="half" idx="2"/>
          </p:nvPr>
        </p:nvGraphicFramePr>
        <p:xfrm>
          <a:off x="1066800" y="1219200"/>
          <a:ext cx="6781800" cy="3659188"/>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4587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74847" name="Text Box 195">
            <a:extLst>
              <a:ext uri="{FF2B5EF4-FFF2-40B4-BE49-F238E27FC236}">
                <a16:creationId xmlns:a16="http://schemas.microsoft.com/office/drawing/2014/main" id="{54F318D0-C86B-4818-9256-815F740C7068}"/>
              </a:ext>
            </a:extLst>
          </p:cNvPr>
          <p:cNvSpPr txBox="1">
            <a:spLocks noChangeArrowheads="1"/>
          </p:cNvSpPr>
          <p:nvPr/>
        </p:nvSpPr>
        <p:spPr bwMode="auto">
          <a:xfrm>
            <a:off x="2057400" y="273367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74848" name="Text Box 196">
            <a:extLst>
              <a:ext uri="{FF2B5EF4-FFF2-40B4-BE49-F238E27FC236}">
                <a16:creationId xmlns:a16="http://schemas.microsoft.com/office/drawing/2014/main" id="{6094665D-7742-41D0-8E37-742CB00DB461}"/>
              </a:ext>
            </a:extLst>
          </p:cNvPr>
          <p:cNvSpPr txBox="1">
            <a:spLocks noChangeArrowheads="1"/>
          </p:cNvSpPr>
          <p:nvPr/>
        </p:nvSpPr>
        <p:spPr bwMode="auto">
          <a:xfrm>
            <a:off x="4648200" y="2733675"/>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74849" name="Text Box 197">
            <a:extLst>
              <a:ext uri="{FF2B5EF4-FFF2-40B4-BE49-F238E27FC236}">
                <a16:creationId xmlns:a16="http://schemas.microsoft.com/office/drawing/2014/main" id="{625A511D-C003-4B77-B4EB-77C86DBBE83B}"/>
              </a:ext>
            </a:extLst>
          </p:cNvPr>
          <p:cNvSpPr txBox="1">
            <a:spLocks noChangeArrowheads="1"/>
          </p:cNvSpPr>
          <p:nvPr/>
        </p:nvSpPr>
        <p:spPr bwMode="auto">
          <a:xfrm>
            <a:off x="4648200" y="1895475"/>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4</a:t>
            </a:r>
          </a:p>
        </p:txBody>
      </p:sp>
      <p:sp>
        <p:nvSpPr>
          <p:cNvPr id="74850" name="Text Box 198">
            <a:extLst>
              <a:ext uri="{FF2B5EF4-FFF2-40B4-BE49-F238E27FC236}">
                <a16:creationId xmlns:a16="http://schemas.microsoft.com/office/drawing/2014/main" id="{556FD5B9-BC98-446F-85EB-ADAF3C3593FF}"/>
              </a:ext>
            </a:extLst>
          </p:cNvPr>
          <p:cNvSpPr txBox="1">
            <a:spLocks noChangeArrowheads="1"/>
          </p:cNvSpPr>
          <p:nvPr/>
        </p:nvSpPr>
        <p:spPr bwMode="auto">
          <a:xfrm>
            <a:off x="3429000" y="34956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74851" name="Text Box 199">
            <a:extLst>
              <a:ext uri="{FF2B5EF4-FFF2-40B4-BE49-F238E27FC236}">
                <a16:creationId xmlns:a16="http://schemas.microsoft.com/office/drawing/2014/main" id="{64A36D43-14A5-4DDE-9519-ABA0CD117337}"/>
              </a:ext>
            </a:extLst>
          </p:cNvPr>
          <p:cNvSpPr txBox="1">
            <a:spLocks noChangeArrowheads="1"/>
          </p:cNvSpPr>
          <p:nvPr/>
        </p:nvSpPr>
        <p:spPr bwMode="auto">
          <a:xfrm>
            <a:off x="5867400" y="35718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74852" name="Text Box 200">
            <a:extLst>
              <a:ext uri="{FF2B5EF4-FFF2-40B4-BE49-F238E27FC236}">
                <a16:creationId xmlns:a16="http://schemas.microsoft.com/office/drawing/2014/main" id="{28C4D9B4-C93A-41F3-8432-61142090C48E}"/>
              </a:ext>
            </a:extLst>
          </p:cNvPr>
          <p:cNvSpPr txBox="1">
            <a:spLocks noChangeArrowheads="1"/>
          </p:cNvSpPr>
          <p:nvPr/>
        </p:nvSpPr>
        <p:spPr bwMode="auto">
          <a:xfrm>
            <a:off x="5867400" y="18954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grpSp>
        <p:nvGrpSpPr>
          <p:cNvPr id="2" name="Group 214">
            <a:extLst>
              <a:ext uri="{FF2B5EF4-FFF2-40B4-BE49-F238E27FC236}">
                <a16:creationId xmlns:a16="http://schemas.microsoft.com/office/drawing/2014/main" id="{3E5AF82D-60A6-4C34-B632-8A7F5B52D616}"/>
              </a:ext>
            </a:extLst>
          </p:cNvPr>
          <p:cNvGrpSpPr>
            <a:grpSpLocks/>
          </p:cNvGrpSpPr>
          <p:nvPr/>
        </p:nvGrpSpPr>
        <p:grpSpPr bwMode="auto">
          <a:xfrm>
            <a:off x="5486400" y="1905000"/>
            <a:ext cx="838200" cy="914400"/>
            <a:chOff x="2064" y="1872"/>
            <a:chExt cx="1344" cy="576"/>
          </a:xfrm>
        </p:grpSpPr>
        <p:sp>
          <p:nvSpPr>
            <p:cNvPr id="74861" name="Line 206">
              <a:extLst>
                <a:ext uri="{FF2B5EF4-FFF2-40B4-BE49-F238E27FC236}">
                  <a16:creationId xmlns:a16="http://schemas.microsoft.com/office/drawing/2014/main" id="{8623BA3C-314E-4F62-B64E-84900D73DB63}"/>
                </a:ext>
              </a:extLst>
            </p:cNvPr>
            <p:cNvSpPr>
              <a:spLocks noChangeShapeType="1"/>
            </p:cNvSpPr>
            <p:nvPr/>
          </p:nvSpPr>
          <p:spPr bwMode="auto">
            <a:xfrm flipH="1">
              <a:off x="2064" y="2448"/>
              <a:ext cx="1344" cy="0"/>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74862" name="Group 213">
              <a:extLst>
                <a:ext uri="{FF2B5EF4-FFF2-40B4-BE49-F238E27FC236}">
                  <a16:creationId xmlns:a16="http://schemas.microsoft.com/office/drawing/2014/main" id="{E01F83A4-4521-4276-AF4F-4437F4752B67}"/>
                </a:ext>
              </a:extLst>
            </p:cNvPr>
            <p:cNvGrpSpPr>
              <a:grpSpLocks/>
            </p:cNvGrpSpPr>
            <p:nvPr/>
          </p:nvGrpSpPr>
          <p:grpSpPr bwMode="auto">
            <a:xfrm>
              <a:off x="2064" y="1872"/>
              <a:ext cx="1344" cy="576"/>
              <a:chOff x="2064" y="1872"/>
              <a:chExt cx="1344" cy="576"/>
            </a:xfrm>
          </p:grpSpPr>
          <p:sp>
            <p:nvSpPr>
              <p:cNvPr id="74863" name="Line 204">
                <a:extLst>
                  <a:ext uri="{FF2B5EF4-FFF2-40B4-BE49-F238E27FC236}">
                    <a16:creationId xmlns:a16="http://schemas.microsoft.com/office/drawing/2014/main" id="{75B76E22-DBE2-495C-97ED-D3007BEC3AC4}"/>
                  </a:ext>
                </a:extLst>
              </p:cNvPr>
              <p:cNvSpPr>
                <a:spLocks noChangeShapeType="1"/>
              </p:cNvSpPr>
              <p:nvPr/>
            </p:nvSpPr>
            <p:spPr bwMode="auto">
              <a:xfrm>
                <a:off x="2064" y="1872"/>
                <a:ext cx="1344" cy="0"/>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4864" name="Line 205">
                <a:extLst>
                  <a:ext uri="{FF2B5EF4-FFF2-40B4-BE49-F238E27FC236}">
                    <a16:creationId xmlns:a16="http://schemas.microsoft.com/office/drawing/2014/main" id="{E0026656-848C-4ECB-92BF-B6CF5D39F70F}"/>
                  </a:ext>
                </a:extLst>
              </p:cNvPr>
              <p:cNvSpPr>
                <a:spLocks noChangeShapeType="1"/>
              </p:cNvSpPr>
              <p:nvPr/>
            </p:nvSpPr>
            <p:spPr bwMode="auto">
              <a:xfrm>
                <a:off x="3408" y="1872"/>
                <a:ext cx="0" cy="576"/>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4865" name="Line 207">
                <a:extLst>
                  <a:ext uri="{FF2B5EF4-FFF2-40B4-BE49-F238E27FC236}">
                    <a16:creationId xmlns:a16="http://schemas.microsoft.com/office/drawing/2014/main" id="{B97382EF-D81F-4460-BB4D-901BDB917571}"/>
                  </a:ext>
                </a:extLst>
              </p:cNvPr>
              <p:cNvSpPr>
                <a:spLocks noChangeShapeType="1"/>
              </p:cNvSpPr>
              <p:nvPr/>
            </p:nvSpPr>
            <p:spPr bwMode="auto">
              <a:xfrm flipV="1">
                <a:off x="2064" y="1872"/>
                <a:ext cx="0" cy="576"/>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sp>
        <p:nvSpPr>
          <p:cNvPr id="166096" name="Oval 208">
            <a:extLst>
              <a:ext uri="{FF2B5EF4-FFF2-40B4-BE49-F238E27FC236}">
                <a16:creationId xmlns:a16="http://schemas.microsoft.com/office/drawing/2014/main" id="{E8F6E945-34EF-40BE-A973-D13B6B2AB9DF}"/>
              </a:ext>
            </a:extLst>
          </p:cNvPr>
          <p:cNvSpPr>
            <a:spLocks noChangeArrowheads="1"/>
          </p:cNvSpPr>
          <p:nvPr/>
        </p:nvSpPr>
        <p:spPr bwMode="auto">
          <a:xfrm>
            <a:off x="5791200" y="2971800"/>
            <a:ext cx="457200" cy="390525"/>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a:t>
            </a:r>
            <a:endParaRPr lang="en-US" altLang="zh-CN"/>
          </a:p>
        </p:txBody>
      </p:sp>
      <p:sp>
        <p:nvSpPr>
          <p:cNvPr id="166097" name="Text Box 209">
            <a:extLst>
              <a:ext uri="{FF2B5EF4-FFF2-40B4-BE49-F238E27FC236}">
                <a16:creationId xmlns:a16="http://schemas.microsoft.com/office/drawing/2014/main" id="{732E144F-7846-4667-B914-D002D7673EFB}"/>
              </a:ext>
            </a:extLst>
          </p:cNvPr>
          <p:cNvSpPr txBox="1">
            <a:spLocks noChangeArrowheads="1"/>
          </p:cNvSpPr>
          <p:nvPr/>
        </p:nvSpPr>
        <p:spPr bwMode="auto">
          <a:xfrm>
            <a:off x="5029200" y="1727200"/>
            <a:ext cx="457200" cy="396875"/>
          </a:xfrm>
          <a:prstGeom prst="rect">
            <a:avLst/>
          </a:prstGeom>
          <a:noFill/>
          <a:ln>
            <a:noFill/>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buClrTx/>
              <a:buSzTx/>
              <a:buFontTx/>
              <a:buNone/>
              <a:defRPr/>
            </a:pPr>
            <a:r>
              <a:rPr lang="en-US" altLang="zh-CN" sz="2000" b="0" dirty="0">
                <a:solidFill>
                  <a:schemeClr val="tx2">
                    <a:lumMod val="60000"/>
                    <a:lumOff val="40000"/>
                  </a:schemeClr>
                </a:solidFill>
              </a:rPr>
              <a:t>+</a:t>
            </a:r>
          </a:p>
        </p:txBody>
      </p:sp>
      <p:sp>
        <p:nvSpPr>
          <p:cNvPr id="166098" name="Text Box 210">
            <a:extLst>
              <a:ext uri="{FF2B5EF4-FFF2-40B4-BE49-F238E27FC236}">
                <a16:creationId xmlns:a16="http://schemas.microsoft.com/office/drawing/2014/main" id="{EAE26AF0-2792-4945-A8F0-B68D3E7BF52E}"/>
              </a:ext>
            </a:extLst>
          </p:cNvPr>
          <p:cNvSpPr txBox="1">
            <a:spLocks noChangeArrowheads="1"/>
          </p:cNvSpPr>
          <p:nvPr/>
        </p:nvSpPr>
        <p:spPr bwMode="auto">
          <a:xfrm>
            <a:off x="6324600" y="2657475"/>
            <a:ext cx="457200" cy="396875"/>
          </a:xfrm>
          <a:prstGeom prst="rect">
            <a:avLst/>
          </a:prstGeom>
          <a:noFill/>
          <a:ln>
            <a:noFill/>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buClrTx/>
              <a:buSzTx/>
              <a:buFontTx/>
              <a:buNone/>
              <a:defRPr/>
            </a:pPr>
            <a:r>
              <a:rPr lang="en-US" altLang="zh-CN" sz="2000" b="0" dirty="0">
                <a:solidFill>
                  <a:schemeClr val="tx2">
                    <a:lumMod val="60000"/>
                    <a:lumOff val="40000"/>
                  </a:schemeClr>
                </a:solidFill>
              </a:rPr>
              <a:t>+</a:t>
            </a:r>
          </a:p>
        </p:txBody>
      </p:sp>
      <p:sp>
        <p:nvSpPr>
          <p:cNvPr id="166099" name="Text Box 211">
            <a:extLst>
              <a:ext uri="{FF2B5EF4-FFF2-40B4-BE49-F238E27FC236}">
                <a16:creationId xmlns:a16="http://schemas.microsoft.com/office/drawing/2014/main" id="{29ECEBCA-7374-4674-B3B0-6A37A95B6F2B}"/>
              </a:ext>
            </a:extLst>
          </p:cNvPr>
          <p:cNvSpPr txBox="1">
            <a:spLocks noChangeArrowheads="1"/>
          </p:cNvSpPr>
          <p:nvPr/>
        </p:nvSpPr>
        <p:spPr bwMode="auto">
          <a:xfrm>
            <a:off x="6324600" y="1676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sp>
        <p:nvSpPr>
          <p:cNvPr id="166100" name="Text Box 212">
            <a:extLst>
              <a:ext uri="{FF2B5EF4-FFF2-40B4-BE49-F238E27FC236}">
                <a16:creationId xmlns:a16="http://schemas.microsoft.com/office/drawing/2014/main" id="{E22C433D-A2CE-4618-BA0E-D6C966203802}"/>
              </a:ext>
            </a:extLst>
          </p:cNvPr>
          <p:cNvSpPr txBox="1">
            <a:spLocks noChangeArrowheads="1"/>
          </p:cNvSpPr>
          <p:nvPr/>
        </p:nvSpPr>
        <p:spPr bwMode="auto">
          <a:xfrm>
            <a:off x="5105400" y="265112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sp>
        <p:nvSpPr>
          <p:cNvPr id="23" name="Text Box 3">
            <a:extLst>
              <a:ext uri="{FF2B5EF4-FFF2-40B4-BE49-F238E27FC236}">
                <a16:creationId xmlns:a16="http://schemas.microsoft.com/office/drawing/2014/main" id="{E3B8A801-AEDF-402B-8ADB-B27363AF91D1}"/>
              </a:ext>
            </a:extLst>
          </p:cNvPr>
          <p:cNvSpPr txBox="1">
            <a:spLocks noChangeArrowheads="1"/>
          </p:cNvSpPr>
          <p:nvPr/>
        </p:nvSpPr>
        <p:spPr bwMode="auto">
          <a:xfrm>
            <a:off x="1143000" y="5410200"/>
            <a:ext cx="6629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zh-CN" altLang="en-US" sz="2800" b="1">
                <a:solidFill>
                  <a:srgbClr val="FF0000"/>
                </a:solidFill>
              </a:rPr>
              <a:t>检验数为负数，说明原方案不是最优解！</a:t>
            </a:r>
          </a:p>
        </p:txBody>
      </p:sp>
      <p:sp>
        <p:nvSpPr>
          <p:cNvPr id="22" name="椭圆 21">
            <a:extLst>
              <a:ext uri="{FF2B5EF4-FFF2-40B4-BE49-F238E27FC236}">
                <a16:creationId xmlns:a16="http://schemas.microsoft.com/office/drawing/2014/main" id="{6C878173-9A0D-4BCE-9BE9-7A4291A2B72E}"/>
              </a:ext>
            </a:extLst>
          </p:cNvPr>
          <p:cNvSpPr/>
          <p:nvPr/>
        </p:nvSpPr>
        <p:spPr>
          <a:xfrm>
            <a:off x="6296025" y="27813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6609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609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610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6609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66096"/>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blinds(horizontal)">
                                      <p:cBhvr>
                                        <p:cTn id="2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096" grpId="0" animBg="1"/>
      <p:bldP spid="166097" grpId="0"/>
      <p:bldP spid="166098" grpId="0"/>
      <p:bldP spid="166099" grpId="0"/>
      <p:bldP spid="166100" grpId="0"/>
      <p:bldP spid="23"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27F871C0-093C-4CE8-A5D5-4DC04421C19A}"/>
              </a:ext>
            </a:extLst>
          </p:cNvPr>
          <p:cNvSpPr>
            <a:spLocks noGrp="1" noChangeArrowheads="1"/>
          </p:cNvSpPr>
          <p:nvPr>
            <p:ph type="title"/>
          </p:nvPr>
        </p:nvSpPr>
        <p:spPr/>
        <p:txBody>
          <a:bodyPr/>
          <a:lstStyle/>
          <a:p>
            <a:pPr eaLnBrk="1" hangingPunct="1"/>
            <a:r>
              <a:rPr lang="zh-CN" altLang="en-US"/>
              <a:t>闭回路法</a:t>
            </a:r>
            <a:r>
              <a:rPr lang="en-US" altLang="zh-CN">
                <a:solidFill>
                  <a:srgbClr val="FF00FF"/>
                </a:solidFill>
              </a:rPr>
              <a:t>(</a:t>
            </a:r>
            <a:r>
              <a:rPr lang="zh-CN" altLang="en-US">
                <a:solidFill>
                  <a:srgbClr val="FF00FF"/>
                </a:solidFill>
              </a:rPr>
              <a:t>与什么游戏很像？</a:t>
            </a:r>
            <a:r>
              <a:rPr lang="en-US" altLang="zh-CN">
                <a:solidFill>
                  <a:srgbClr val="FF00FF"/>
                </a:solidFill>
              </a:rPr>
              <a:t>)</a:t>
            </a:r>
            <a:endParaRPr lang="zh-CN" altLang="en-US">
              <a:solidFill>
                <a:srgbClr val="FF00FF"/>
              </a:solidFill>
            </a:endParaRPr>
          </a:p>
        </p:txBody>
      </p:sp>
      <p:sp>
        <p:nvSpPr>
          <p:cNvPr id="68614" name="Text Box 3">
            <a:extLst>
              <a:ext uri="{FF2B5EF4-FFF2-40B4-BE49-F238E27FC236}">
                <a16:creationId xmlns:a16="http://schemas.microsoft.com/office/drawing/2014/main" id="{5F498224-E2BE-4134-8140-C81D09826F84}"/>
              </a:ext>
            </a:extLst>
          </p:cNvPr>
          <p:cNvSpPr txBox="1">
            <a:spLocks noChangeArrowheads="1"/>
          </p:cNvSpPr>
          <p:nvPr/>
        </p:nvSpPr>
        <p:spPr bwMode="auto">
          <a:xfrm>
            <a:off x="4724400" y="1219200"/>
            <a:ext cx="3565525" cy="435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zh-CN" altLang="en-US" sz="3600" b="1">
                <a:solidFill>
                  <a:srgbClr val="FF0000"/>
                </a:solidFill>
              </a:rPr>
              <a:t>“贪吃蛇游戏”</a:t>
            </a:r>
            <a:endParaRPr lang="en-US" altLang="zh-CN" sz="3600" b="1">
              <a:solidFill>
                <a:srgbClr val="FF0000"/>
              </a:solidFill>
            </a:endParaRPr>
          </a:p>
          <a:p>
            <a:pPr eaLnBrk="1" hangingPunct="1">
              <a:spcBef>
                <a:spcPct val="15000"/>
              </a:spcBef>
            </a:pPr>
            <a:r>
              <a:rPr lang="en-US" altLang="zh-CN" sz="2000" b="1">
                <a:solidFill>
                  <a:srgbClr val="FF0000"/>
                </a:solidFill>
              </a:rPr>
              <a:t>1.</a:t>
            </a:r>
            <a:r>
              <a:rPr lang="zh-CN" altLang="en-US" sz="2000" b="1">
                <a:solidFill>
                  <a:srgbClr val="FF0000"/>
                </a:solidFill>
              </a:rPr>
              <a:t>相同：</a:t>
            </a:r>
            <a:endParaRPr lang="en-US" altLang="zh-CN" sz="2000" b="1">
              <a:solidFill>
                <a:srgbClr val="FF0000"/>
              </a:solidFill>
            </a:endParaRPr>
          </a:p>
          <a:p>
            <a:pPr eaLnBrk="1" hangingPunct="1">
              <a:spcBef>
                <a:spcPct val="15000"/>
              </a:spcBef>
            </a:pPr>
            <a:r>
              <a:rPr lang="en-US" altLang="zh-CN" sz="2000" b="1">
                <a:solidFill>
                  <a:srgbClr val="FF0000"/>
                </a:solidFill>
              </a:rPr>
              <a:t>(1)</a:t>
            </a:r>
            <a:r>
              <a:rPr lang="zh-CN" altLang="en-US" sz="2000" b="1">
                <a:solidFill>
                  <a:srgbClr val="FF0000"/>
                </a:solidFill>
              </a:rPr>
              <a:t>直线或者</a:t>
            </a:r>
            <a:r>
              <a:rPr lang="en-US" altLang="zh-CN" sz="2000" b="1">
                <a:solidFill>
                  <a:srgbClr val="FF0000"/>
                </a:solidFill>
              </a:rPr>
              <a:t>90</a:t>
            </a:r>
            <a:r>
              <a:rPr lang="zh-CN" altLang="en-US" sz="2000" b="1">
                <a:solidFill>
                  <a:srgbClr val="FF0000"/>
                </a:solidFill>
              </a:rPr>
              <a:t>度折线方式前进</a:t>
            </a:r>
            <a:r>
              <a:rPr lang="en-US" altLang="zh-CN" sz="2000" b="1">
                <a:solidFill>
                  <a:srgbClr val="FF0000"/>
                </a:solidFill>
              </a:rPr>
              <a:t>;</a:t>
            </a:r>
          </a:p>
          <a:p>
            <a:pPr eaLnBrk="1" hangingPunct="1">
              <a:spcBef>
                <a:spcPct val="15000"/>
              </a:spcBef>
              <a:buFont typeface="Wingdings" panose="05000000000000000000" pitchFamily="2" charset="2"/>
              <a:buNone/>
            </a:pPr>
            <a:r>
              <a:rPr lang="en-US" altLang="zh-CN" sz="2000" b="1">
                <a:solidFill>
                  <a:srgbClr val="FF0000"/>
                </a:solidFill>
              </a:rPr>
              <a:t>(2)</a:t>
            </a:r>
            <a:r>
              <a:rPr lang="zh-CN" altLang="en-US" sz="2000" b="1">
                <a:solidFill>
                  <a:srgbClr val="FF0000"/>
                </a:solidFill>
              </a:rPr>
              <a:t>碰到基格可以选择</a:t>
            </a:r>
            <a:r>
              <a:rPr lang="en-US" altLang="zh-CN" sz="2000" b="1">
                <a:solidFill>
                  <a:srgbClr val="FF0000"/>
                </a:solidFill>
              </a:rPr>
              <a:t>90</a:t>
            </a:r>
            <a:r>
              <a:rPr lang="zh-CN" altLang="en-US" sz="2000" b="1">
                <a:solidFill>
                  <a:srgbClr val="FF0000"/>
                </a:solidFill>
              </a:rPr>
              <a:t>度转向或者继续前进；</a:t>
            </a:r>
            <a:endParaRPr lang="en-US" altLang="zh-CN" sz="2000" b="1">
              <a:solidFill>
                <a:srgbClr val="FF0000"/>
              </a:solidFill>
            </a:endParaRPr>
          </a:p>
          <a:p>
            <a:pPr eaLnBrk="1" hangingPunct="1">
              <a:spcBef>
                <a:spcPct val="15000"/>
              </a:spcBef>
              <a:buFont typeface="Wingdings" panose="05000000000000000000" pitchFamily="2" charset="2"/>
              <a:buNone/>
            </a:pPr>
            <a:r>
              <a:rPr lang="en-US" altLang="zh-CN" sz="2000" b="1">
                <a:solidFill>
                  <a:srgbClr val="FF0000"/>
                </a:solidFill>
              </a:rPr>
              <a:t>(3)</a:t>
            </a:r>
            <a:r>
              <a:rPr lang="zh-CN" altLang="en-US" sz="2000" b="1">
                <a:solidFill>
                  <a:srgbClr val="FF0000"/>
                </a:solidFill>
              </a:rPr>
              <a:t>游戏结束的标准：贪吃蛇咬到自己的尾巴。</a:t>
            </a:r>
            <a:endParaRPr lang="en-US" altLang="zh-CN" sz="2000" b="1">
              <a:solidFill>
                <a:srgbClr val="FF0000"/>
              </a:solidFill>
            </a:endParaRPr>
          </a:p>
          <a:p>
            <a:pPr eaLnBrk="1" hangingPunct="1">
              <a:spcBef>
                <a:spcPct val="15000"/>
              </a:spcBef>
            </a:pPr>
            <a:endParaRPr lang="en-US" altLang="zh-CN" sz="2000" b="1">
              <a:solidFill>
                <a:srgbClr val="FF0000"/>
              </a:solidFill>
            </a:endParaRPr>
          </a:p>
          <a:p>
            <a:pPr eaLnBrk="1" hangingPunct="1">
              <a:spcBef>
                <a:spcPct val="15000"/>
              </a:spcBef>
            </a:pPr>
            <a:r>
              <a:rPr lang="en-US" altLang="zh-CN" sz="2000" b="1">
                <a:solidFill>
                  <a:srgbClr val="FF0000"/>
                </a:solidFill>
              </a:rPr>
              <a:t>2.</a:t>
            </a:r>
            <a:r>
              <a:rPr lang="zh-CN" altLang="en-US" sz="2000" b="1">
                <a:solidFill>
                  <a:srgbClr val="FF0000"/>
                </a:solidFill>
              </a:rPr>
              <a:t>不同：</a:t>
            </a:r>
            <a:endParaRPr lang="en-US" altLang="zh-CN" sz="2000" b="1">
              <a:solidFill>
                <a:srgbClr val="FF0000"/>
              </a:solidFill>
            </a:endParaRPr>
          </a:p>
          <a:p>
            <a:pPr eaLnBrk="1" hangingPunct="1">
              <a:spcBef>
                <a:spcPct val="15000"/>
              </a:spcBef>
            </a:pPr>
            <a:r>
              <a:rPr lang="en-US" altLang="zh-CN" sz="2000" b="1">
                <a:solidFill>
                  <a:srgbClr val="FF0000"/>
                </a:solidFill>
              </a:rPr>
              <a:t>(1)</a:t>
            </a:r>
            <a:r>
              <a:rPr lang="zh-CN" altLang="en-US" sz="2000" b="1">
                <a:solidFill>
                  <a:srgbClr val="FF0000"/>
                </a:solidFill>
              </a:rPr>
              <a:t>闭回路法碰到非基格必须继续前进；贪吃蛇在非基格自由。</a:t>
            </a:r>
            <a:endParaRPr lang="en-US" altLang="zh-CN" sz="2000" b="1">
              <a:solidFill>
                <a:srgbClr val="FF0000"/>
              </a:solidFill>
            </a:endParaRPr>
          </a:p>
        </p:txBody>
      </p:sp>
      <p:sp>
        <p:nvSpPr>
          <p:cNvPr id="3" name="矩形 2">
            <a:extLst>
              <a:ext uri="{FF2B5EF4-FFF2-40B4-BE49-F238E27FC236}">
                <a16:creationId xmlns:a16="http://schemas.microsoft.com/office/drawing/2014/main" id="{98282673-18F8-40BA-9529-CA0B3887384A}"/>
              </a:ext>
            </a:extLst>
          </p:cNvPr>
          <p:cNvSpPr>
            <a:spLocks noChangeArrowheads="1"/>
          </p:cNvSpPr>
          <p:nvPr/>
        </p:nvSpPr>
        <p:spPr bwMode="auto">
          <a:xfrm>
            <a:off x="5208588" y="5591175"/>
            <a:ext cx="2298700" cy="369888"/>
          </a:xfrm>
          <a:prstGeom prst="rect">
            <a:avLst/>
          </a:prstGeom>
          <a:solidFill>
            <a:srgbClr val="0099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t>[4-3]</a:t>
            </a:r>
            <a:r>
              <a:rPr lang="zh-CN" altLang="en-US" b="1"/>
              <a:t>贪吃蛇游戏视频</a:t>
            </a:r>
            <a:endParaRPr lang="zh-CN" altLang="en-US"/>
          </a:p>
        </p:txBody>
      </p:sp>
      <p:pic>
        <p:nvPicPr>
          <p:cNvPr id="7" name="图片 6">
            <a:extLst>
              <a:ext uri="{FF2B5EF4-FFF2-40B4-BE49-F238E27FC236}">
                <a16:creationId xmlns:a16="http://schemas.microsoft.com/office/drawing/2014/main" id="{E2E88E6B-5911-4F75-A66C-C5E39E2CB23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2950" y="1066800"/>
            <a:ext cx="3286125"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randombar(horizontal)">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randombar(horizontal)">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68614"/>
                                        </p:tgtEl>
                                        <p:attrNameLst>
                                          <p:attrName>style.visibility</p:attrName>
                                        </p:attrNameLst>
                                      </p:cBhvr>
                                      <p:to>
                                        <p:strVal val="visible"/>
                                      </p:to>
                                    </p:set>
                                    <p:animEffect transition="in" filter="randombar(horizontal)">
                                      <p:cBhvr>
                                        <p:cTn id="17" dur="500"/>
                                        <p:tgtEl>
                                          <p:spTgt spid="686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4" grpId="0"/>
      <p:bldP spid="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a:extLst>
              <a:ext uri="{FF2B5EF4-FFF2-40B4-BE49-F238E27FC236}">
                <a16:creationId xmlns:a16="http://schemas.microsoft.com/office/drawing/2014/main" id="{4ED982E8-3A47-491A-97B5-77F37F5B6134}"/>
              </a:ext>
            </a:extLst>
          </p:cNvPr>
          <p:cNvSpPr>
            <a:spLocks noGrp="1" noChangeArrowheads="1"/>
          </p:cNvSpPr>
          <p:nvPr>
            <p:ph type="title"/>
          </p:nvPr>
        </p:nvSpPr>
        <p:spPr/>
        <p:txBody>
          <a:bodyPr/>
          <a:lstStyle/>
          <a:p>
            <a:pPr eaLnBrk="1" hangingPunct="1"/>
            <a:r>
              <a:rPr lang="zh-CN" altLang="en-US"/>
              <a:t>闭回路法的不足（最优解判断）</a:t>
            </a:r>
          </a:p>
        </p:txBody>
      </p:sp>
      <p:graphicFrame>
        <p:nvGraphicFramePr>
          <p:cNvPr id="166091" name="Group 203">
            <a:extLst>
              <a:ext uri="{FF2B5EF4-FFF2-40B4-BE49-F238E27FC236}">
                <a16:creationId xmlns:a16="http://schemas.microsoft.com/office/drawing/2014/main" id="{E372DC58-ECAF-42B6-B370-D3AD0D1FCD12}"/>
              </a:ext>
            </a:extLst>
          </p:cNvPr>
          <p:cNvGraphicFramePr>
            <a:graphicFrameLocks noGrp="1"/>
          </p:cNvGraphicFramePr>
          <p:nvPr>
            <p:ph sz="half" idx="2"/>
          </p:nvPr>
        </p:nvGraphicFramePr>
        <p:xfrm>
          <a:off x="1066800" y="1219200"/>
          <a:ext cx="6781800" cy="3659188"/>
        </p:xfrm>
        <a:graphic>
          <a:graphicData uri="http://schemas.openxmlformats.org/drawingml/2006/table">
            <a:tbl>
              <a:tblPr/>
              <a:tblGrid>
                <a:gridCol w="839788">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9612">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gridCol w="592138">
                  <a:extLst>
                    <a:ext uri="{9D8B030D-6E8A-4147-A177-3AD203B41FA5}">
                      <a16:colId xmlns:a16="http://schemas.microsoft.com/office/drawing/2014/main" val="20004"/>
                    </a:ext>
                  </a:extLst>
                </a:gridCol>
                <a:gridCol w="611187">
                  <a:extLst>
                    <a:ext uri="{9D8B030D-6E8A-4147-A177-3AD203B41FA5}">
                      <a16:colId xmlns:a16="http://schemas.microsoft.com/office/drawing/2014/main" val="20005"/>
                    </a:ext>
                  </a:extLst>
                </a:gridCol>
                <a:gridCol w="647700">
                  <a:extLst>
                    <a:ext uri="{9D8B030D-6E8A-4147-A177-3AD203B41FA5}">
                      <a16:colId xmlns:a16="http://schemas.microsoft.com/office/drawing/2014/main" val="20006"/>
                    </a:ext>
                  </a:extLst>
                </a:gridCol>
                <a:gridCol w="625475">
                  <a:extLst>
                    <a:ext uri="{9D8B030D-6E8A-4147-A177-3AD203B41FA5}">
                      <a16:colId xmlns:a16="http://schemas.microsoft.com/office/drawing/2014/main" val="20007"/>
                    </a:ext>
                  </a:extLst>
                </a:gridCol>
                <a:gridCol w="628650">
                  <a:extLst>
                    <a:ext uri="{9D8B030D-6E8A-4147-A177-3AD203B41FA5}">
                      <a16:colId xmlns:a16="http://schemas.microsoft.com/office/drawing/2014/main" val="20008"/>
                    </a:ext>
                  </a:extLst>
                </a:gridCol>
                <a:gridCol w="917575">
                  <a:extLst>
                    <a:ext uri="{9D8B030D-6E8A-4147-A177-3AD203B41FA5}">
                      <a16:colId xmlns:a16="http://schemas.microsoft.com/office/drawing/2014/main" val="20009"/>
                    </a:ext>
                  </a:extLst>
                </a:gridCol>
              </a:tblGrid>
              <a:tr h="4587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76895" name="Text Box 195">
            <a:extLst>
              <a:ext uri="{FF2B5EF4-FFF2-40B4-BE49-F238E27FC236}">
                <a16:creationId xmlns:a16="http://schemas.microsoft.com/office/drawing/2014/main" id="{2EA899AE-70E3-433F-9F6E-03AF4E453F14}"/>
              </a:ext>
            </a:extLst>
          </p:cNvPr>
          <p:cNvSpPr txBox="1">
            <a:spLocks noChangeArrowheads="1"/>
          </p:cNvSpPr>
          <p:nvPr/>
        </p:nvSpPr>
        <p:spPr bwMode="auto">
          <a:xfrm>
            <a:off x="2057400" y="273367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76896" name="Text Box 196">
            <a:extLst>
              <a:ext uri="{FF2B5EF4-FFF2-40B4-BE49-F238E27FC236}">
                <a16:creationId xmlns:a16="http://schemas.microsoft.com/office/drawing/2014/main" id="{8B020BC1-DEF2-45F6-87A4-4424EAF8B166}"/>
              </a:ext>
            </a:extLst>
          </p:cNvPr>
          <p:cNvSpPr txBox="1">
            <a:spLocks noChangeArrowheads="1"/>
          </p:cNvSpPr>
          <p:nvPr/>
        </p:nvSpPr>
        <p:spPr bwMode="auto">
          <a:xfrm>
            <a:off x="4648200" y="2733675"/>
            <a:ext cx="762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1</a:t>
            </a:r>
          </a:p>
        </p:txBody>
      </p:sp>
      <p:sp>
        <p:nvSpPr>
          <p:cNvPr id="76897" name="Text Box 197">
            <a:extLst>
              <a:ext uri="{FF2B5EF4-FFF2-40B4-BE49-F238E27FC236}">
                <a16:creationId xmlns:a16="http://schemas.microsoft.com/office/drawing/2014/main" id="{54487FCC-0E0F-443B-B1AD-FCB9F47EFD02}"/>
              </a:ext>
            </a:extLst>
          </p:cNvPr>
          <p:cNvSpPr txBox="1">
            <a:spLocks noChangeArrowheads="1"/>
          </p:cNvSpPr>
          <p:nvPr/>
        </p:nvSpPr>
        <p:spPr bwMode="auto">
          <a:xfrm>
            <a:off x="4648200" y="1895475"/>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4</a:t>
            </a:r>
          </a:p>
        </p:txBody>
      </p:sp>
      <p:sp>
        <p:nvSpPr>
          <p:cNvPr id="76898" name="Text Box 198">
            <a:extLst>
              <a:ext uri="{FF2B5EF4-FFF2-40B4-BE49-F238E27FC236}">
                <a16:creationId xmlns:a16="http://schemas.microsoft.com/office/drawing/2014/main" id="{D5232E5F-E326-4F3F-88EF-BDDD74F9B771}"/>
              </a:ext>
            </a:extLst>
          </p:cNvPr>
          <p:cNvSpPr txBox="1">
            <a:spLocks noChangeArrowheads="1"/>
          </p:cNvSpPr>
          <p:nvPr/>
        </p:nvSpPr>
        <p:spPr bwMode="auto">
          <a:xfrm>
            <a:off x="3429000" y="34956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76899" name="Text Box 199">
            <a:extLst>
              <a:ext uri="{FF2B5EF4-FFF2-40B4-BE49-F238E27FC236}">
                <a16:creationId xmlns:a16="http://schemas.microsoft.com/office/drawing/2014/main" id="{9964E041-4E08-4091-A675-9CE125297193}"/>
              </a:ext>
            </a:extLst>
          </p:cNvPr>
          <p:cNvSpPr txBox="1">
            <a:spLocks noChangeArrowheads="1"/>
          </p:cNvSpPr>
          <p:nvPr/>
        </p:nvSpPr>
        <p:spPr bwMode="auto">
          <a:xfrm>
            <a:off x="5867400" y="35718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76900" name="Text Box 200">
            <a:extLst>
              <a:ext uri="{FF2B5EF4-FFF2-40B4-BE49-F238E27FC236}">
                <a16:creationId xmlns:a16="http://schemas.microsoft.com/office/drawing/2014/main" id="{C2241135-DA4A-4E9F-ADCF-068B739AC794}"/>
              </a:ext>
            </a:extLst>
          </p:cNvPr>
          <p:cNvSpPr txBox="1">
            <a:spLocks noChangeArrowheads="1"/>
          </p:cNvSpPr>
          <p:nvPr/>
        </p:nvSpPr>
        <p:spPr bwMode="auto">
          <a:xfrm>
            <a:off x="5867400" y="189547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3</a:t>
            </a:r>
          </a:p>
        </p:txBody>
      </p:sp>
      <p:sp>
        <p:nvSpPr>
          <p:cNvPr id="23" name="Text Box 3">
            <a:extLst>
              <a:ext uri="{FF2B5EF4-FFF2-40B4-BE49-F238E27FC236}">
                <a16:creationId xmlns:a16="http://schemas.microsoft.com/office/drawing/2014/main" id="{0C06119B-CED2-4947-926B-5946A3C2D4B2}"/>
              </a:ext>
            </a:extLst>
          </p:cNvPr>
          <p:cNvSpPr txBox="1">
            <a:spLocks noChangeArrowheads="1"/>
          </p:cNvSpPr>
          <p:nvPr/>
        </p:nvSpPr>
        <p:spPr bwMode="auto">
          <a:xfrm>
            <a:off x="838200" y="5319713"/>
            <a:ext cx="76200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buFont typeface="Wingdings" panose="05000000000000000000" pitchFamily="2" charset="2"/>
              <a:buNone/>
            </a:pPr>
            <a:r>
              <a:rPr lang="zh-CN" altLang="en-US" sz="2800" b="1">
                <a:solidFill>
                  <a:srgbClr val="FF0000"/>
                </a:solidFill>
              </a:rPr>
              <a:t>用闭回路法求检验数时，需给每一空格找一条闭回路。当产销点很多时，这种计算很繁！</a:t>
            </a:r>
          </a:p>
        </p:txBody>
      </p:sp>
      <p:sp>
        <p:nvSpPr>
          <p:cNvPr id="22" name="椭圆 21">
            <a:extLst>
              <a:ext uri="{FF2B5EF4-FFF2-40B4-BE49-F238E27FC236}">
                <a16:creationId xmlns:a16="http://schemas.microsoft.com/office/drawing/2014/main" id="{B3065481-9CFB-449E-A1A2-77AE2A81B510}"/>
              </a:ext>
            </a:extLst>
          </p:cNvPr>
          <p:cNvSpPr/>
          <p:nvPr/>
        </p:nvSpPr>
        <p:spPr>
          <a:xfrm>
            <a:off x="6296025" y="27813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8" name="椭圆 27">
            <a:extLst>
              <a:ext uri="{FF2B5EF4-FFF2-40B4-BE49-F238E27FC236}">
                <a16:creationId xmlns:a16="http://schemas.microsoft.com/office/drawing/2014/main" id="{ED50C8E7-CD0F-489D-A730-E64AF54B89EA}"/>
              </a:ext>
            </a:extLst>
          </p:cNvPr>
          <p:cNvSpPr/>
          <p:nvPr/>
        </p:nvSpPr>
        <p:spPr>
          <a:xfrm>
            <a:off x="2514600" y="19050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nvGrpSpPr>
          <p:cNvPr id="3" name="组合 2">
            <a:extLst>
              <a:ext uri="{FF2B5EF4-FFF2-40B4-BE49-F238E27FC236}">
                <a16:creationId xmlns:a16="http://schemas.microsoft.com/office/drawing/2014/main" id="{4CCCD9F1-E832-4B71-A5DC-4339E5EB6DB4}"/>
              </a:ext>
            </a:extLst>
          </p:cNvPr>
          <p:cNvGrpSpPr>
            <a:grpSpLocks/>
          </p:cNvGrpSpPr>
          <p:nvPr/>
        </p:nvGrpSpPr>
        <p:grpSpPr bwMode="auto">
          <a:xfrm>
            <a:off x="1981200" y="1981200"/>
            <a:ext cx="2743200" cy="914400"/>
            <a:chOff x="1981200" y="1981200"/>
            <a:chExt cx="2743200" cy="914400"/>
          </a:xfrm>
        </p:grpSpPr>
        <p:sp>
          <p:nvSpPr>
            <p:cNvPr id="76946" name="Line 206">
              <a:extLst>
                <a:ext uri="{FF2B5EF4-FFF2-40B4-BE49-F238E27FC236}">
                  <a16:creationId xmlns:a16="http://schemas.microsoft.com/office/drawing/2014/main" id="{BD115DBD-4BDF-4028-9982-B1E230188FF6}"/>
                </a:ext>
              </a:extLst>
            </p:cNvPr>
            <p:cNvSpPr>
              <a:spLocks noChangeShapeType="1"/>
            </p:cNvSpPr>
            <p:nvPr/>
          </p:nvSpPr>
          <p:spPr bwMode="auto">
            <a:xfrm flipH="1">
              <a:off x="2590800" y="2895600"/>
              <a:ext cx="2133600" cy="0"/>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47" name="Line 206">
              <a:extLst>
                <a:ext uri="{FF2B5EF4-FFF2-40B4-BE49-F238E27FC236}">
                  <a16:creationId xmlns:a16="http://schemas.microsoft.com/office/drawing/2014/main" id="{88298D4C-4C8F-49B6-895E-73BAA6FC60A9}"/>
                </a:ext>
              </a:extLst>
            </p:cNvPr>
            <p:cNvSpPr>
              <a:spLocks noChangeShapeType="1"/>
            </p:cNvSpPr>
            <p:nvPr/>
          </p:nvSpPr>
          <p:spPr bwMode="auto">
            <a:xfrm flipH="1">
              <a:off x="4724400" y="1981200"/>
              <a:ext cx="0" cy="914400"/>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48" name="Line 206">
              <a:extLst>
                <a:ext uri="{FF2B5EF4-FFF2-40B4-BE49-F238E27FC236}">
                  <a16:creationId xmlns:a16="http://schemas.microsoft.com/office/drawing/2014/main" id="{6963BF28-E15C-4743-B3B3-A0A9FFD2228A}"/>
                </a:ext>
              </a:extLst>
            </p:cNvPr>
            <p:cNvSpPr>
              <a:spLocks noChangeShapeType="1"/>
            </p:cNvSpPr>
            <p:nvPr/>
          </p:nvSpPr>
          <p:spPr bwMode="auto">
            <a:xfrm flipH="1">
              <a:off x="2590800" y="1981200"/>
              <a:ext cx="0" cy="914400"/>
            </a:xfrm>
            <a:prstGeom prst="line">
              <a:avLst/>
            </a:prstGeom>
            <a:noFill/>
            <a:ln w="28575">
              <a:solidFill>
                <a:srgbClr val="FF0000"/>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6949" name="Line 206">
              <a:extLst>
                <a:ext uri="{FF2B5EF4-FFF2-40B4-BE49-F238E27FC236}">
                  <a16:creationId xmlns:a16="http://schemas.microsoft.com/office/drawing/2014/main" id="{FCDD6273-03EE-4D2E-A376-001E386356D9}"/>
                </a:ext>
              </a:extLst>
            </p:cNvPr>
            <p:cNvSpPr>
              <a:spLocks noChangeShapeType="1"/>
            </p:cNvSpPr>
            <p:nvPr/>
          </p:nvSpPr>
          <p:spPr bwMode="auto">
            <a:xfrm flipH="1">
              <a:off x="2590800" y="1981200"/>
              <a:ext cx="2133600" cy="0"/>
            </a:xfrm>
            <a:prstGeom prst="line">
              <a:avLst/>
            </a:prstGeom>
            <a:noFill/>
            <a:ln w="28575">
              <a:solidFill>
                <a:srgbClr val="FF0000"/>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6950" name="Oval 208">
              <a:extLst>
                <a:ext uri="{FF2B5EF4-FFF2-40B4-BE49-F238E27FC236}">
                  <a16:creationId xmlns:a16="http://schemas.microsoft.com/office/drawing/2014/main" id="{0F5C6C96-F2AB-4DAE-ABCD-C7C7D9CD26A8}"/>
                </a:ext>
              </a:extLst>
            </p:cNvPr>
            <p:cNvSpPr>
              <a:spLocks noChangeArrowheads="1"/>
            </p:cNvSpPr>
            <p:nvPr/>
          </p:nvSpPr>
          <p:spPr bwMode="auto">
            <a:xfrm>
              <a:off x="1981200" y="1981200"/>
              <a:ext cx="404886" cy="390596"/>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a:t>
              </a:r>
              <a:endParaRPr lang="en-US" altLang="zh-CN"/>
            </a:p>
          </p:txBody>
        </p:sp>
      </p:grpSp>
      <p:grpSp>
        <p:nvGrpSpPr>
          <p:cNvPr id="6" name="组合 5">
            <a:extLst>
              <a:ext uri="{FF2B5EF4-FFF2-40B4-BE49-F238E27FC236}">
                <a16:creationId xmlns:a16="http://schemas.microsoft.com/office/drawing/2014/main" id="{9D34242B-5D89-4A3A-AD4A-A357B131F333}"/>
              </a:ext>
            </a:extLst>
          </p:cNvPr>
          <p:cNvGrpSpPr>
            <a:grpSpLocks/>
          </p:cNvGrpSpPr>
          <p:nvPr/>
        </p:nvGrpSpPr>
        <p:grpSpPr bwMode="auto">
          <a:xfrm>
            <a:off x="5486400" y="1905000"/>
            <a:ext cx="838200" cy="1457325"/>
            <a:chOff x="5486400" y="1905000"/>
            <a:chExt cx="838200" cy="1457325"/>
          </a:xfrm>
        </p:grpSpPr>
        <p:grpSp>
          <p:nvGrpSpPr>
            <p:cNvPr id="76939" name="Group 214">
              <a:extLst>
                <a:ext uri="{FF2B5EF4-FFF2-40B4-BE49-F238E27FC236}">
                  <a16:creationId xmlns:a16="http://schemas.microsoft.com/office/drawing/2014/main" id="{095B99C8-8392-42E3-804C-C677E49B41BB}"/>
                </a:ext>
              </a:extLst>
            </p:cNvPr>
            <p:cNvGrpSpPr>
              <a:grpSpLocks/>
            </p:cNvGrpSpPr>
            <p:nvPr/>
          </p:nvGrpSpPr>
          <p:grpSpPr bwMode="auto">
            <a:xfrm>
              <a:off x="5486400" y="1905000"/>
              <a:ext cx="838200" cy="914400"/>
              <a:chOff x="2064" y="1872"/>
              <a:chExt cx="1344" cy="576"/>
            </a:xfrm>
          </p:grpSpPr>
          <p:sp>
            <p:nvSpPr>
              <p:cNvPr id="76941" name="Line 206">
                <a:extLst>
                  <a:ext uri="{FF2B5EF4-FFF2-40B4-BE49-F238E27FC236}">
                    <a16:creationId xmlns:a16="http://schemas.microsoft.com/office/drawing/2014/main" id="{FD8934D1-3DC0-4D5C-9D71-BED8E4F78A2F}"/>
                  </a:ext>
                </a:extLst>
              </p:cNvPr>
              <p:cNvSpPr>
                <a:spLocks noChangeShapeType="1"/>
              </p:cNvSpPr>
              <p:nvPr/>
            </p:nvSpPr>
            <p:spPr bwMode="auto">
              <a:xfrm flipH="1">
                <a:off x="2064" y="2448"/>
                <a:ext cx="1344" cy="0"/>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nvGrpSpPr>
              <p:cNvPr id="76942" name="Group 213">
                <a:extLst>
                  <a:ext uri="{FF2B5EF4-FFF2-40B4-BE49-F238E27FC236}">
                    <a16:creationId xmlns:a16="http://schemas.microsoft.com/office/drawing/2014/main" id="{DADC3050-CA74-4DC8-9BBB-516779E41634}"/>
                  </a:ext>
                </a:extLst>
              </p:cNvPr>
              <p:cNvGrpSpPr>
                <a:grpSpLocks/>
              </p:cNvGrpSpPr>
              <p:nvPr/>
            </p:nvGrpSpPr>
            <p:grpSpPr bwMode="auto">
              <a:xfrm>
                <a:off x="2064" y="1872"/>
                <a:ext cx="1344" cy="576"/>
                <a:chOff x="2064" y="1872"/>
                <a:chExt cx="1344" cy="576"/>
              </a:xfrm>
            </p:grpSpPr>
            <p:sp>
              <p:nvSpPr>
                <p:cNvPr id="76943" name="Line 204">
                  <a:extLst>
                    <a:ext uri="{FF2B5EF4-FFF2-40B4-BE49-F238E27FC236}">
                      <a16:creationId xmlns:a16="http://schemas.microsoft.com/office/drawing/2014/main" id="{93D0A2A3-3412-4BB9-BB25-B728201ABD4A}"/>
                    </a:ext>
                  </a:extLst>
                </p:cNvPr>
                <p:cNvSpPr>
                  <a:spLocks noChangeShapeType="1"/>
                </p:cNvSpPr>
                <p:nvPr/>
              </p:nvSpPr>
              <p:spPr bwMode="auto">
                <a:xfrm>
                  <a:off x="2064" y="1872"/>
                  <a:ext cx="1344" cy="0"/>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44" name="Line 205">
                  <a:extLst>
                    <a:ext uri="{FF2B5EF4-FFF2-40B4-BE49-F238E27FC236}">
                      <a16:creationId xmlns:a16="http://schemas.microsoft.com/office/drawing/2014/main" id="{A32A0282-E70C-4180-B47A-D1CA7B0BB004}"/>
                    </a:ext>
                  </a:extLst>
                </p:cNvPr>
                <p:cNvSpPr>
                  <a:spLocks noChangeShapeType="1"/>
                </p:cNvSpPr>
                <p:nvPr/>
              </p:nvSpPr>
              <p:spPr bwMode="auto">
                <a:xfrm>
                  <a:off x="3408" y="1872"/>
                  <a:ext cx="0" cy="576"/>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45" name="Line 207">
                  <a:extLst>
                    <a:ext uri="{FF2B5EF4-FFF2-40B4-BE49-F238E27FC236}">
                      <a16:creationId xmlns:a16="http://schemas.microsoft.com/office/drawing/2014/main" id="{42B4BE4E-15D3-4196-9F0F-BFE3193A396C}"/>
                    </a:ext>
                  </a:extLst>
                </p:cNvPr>
                <p:cNvSpPr>
                  <a:spLocks noChangeShapeType="1"/>
                </p:cNvSpPr>
                <p:nvPr/>
              </p:nvSpPr>
              <p:spPr bwMode="auto">
                <a:xfrm flipV="1">
                  <a:off x="2064" y="1872"/>
                  <a:ext cx="0" cy="576"/>
                </a:xfrm>
                <a:prstGeom prst="line">
                  <a:avLst/>
                </a:prstGeom>
                <a:noFill/>
                <a:ln w="28575">
                  <a:solidFill>
                    <a:srgbClr val="FF00FF"/>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sp>
          <p:nvSpPr>
            <p:cNvPr id="76940" name="Oval 208">
              <a:extLst>
                <a:ext uri="{FF2B5EF4-FFF2-40B4-BE49-F238E27FC236}">
                  <a16:creationId xmlns:a16="http://schemas.microsoft.com/office/drawing/2014/main" id="{E26A57E4-283D-47EC-986C-B416F46EB67D}"/>
                </a:ext>
              </a:extLst>
            </p:cNvPr>
            <p:cNvSpPr>
              <a:spLocks noChangeArrowheads="1"/>
            </p:cNvSpPr>
            <p:nvPr/>
          </p:nvSpPr>
          <p:spPr bwMode="auto">
            <a:xfrm>
              <a:off x="5791200" y="2971800"/>
              <a:ext cx="457200" cy="390525"/>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a:t>
              </a:r>
              <a:endParaRPr lang="en-US" altLang="zh-CN"/>
            </a:p>
          </p:txBody>
        </p:sp>
      </p:grpSp>
      <p:grpSp>
        <p:nvGrpSpPr>
          <p:cNvPr id="5" name="组合 4">
            <a:extLst>
              <a:ext uri="{FF2B5EF4-FFF2-40B4-BE49-F238E27FC236}">
                <a16:creationId xmlns:a16="http://schemas.microsoft.com/office/drawing/2014/main" id="{E5742C86-DAAE-4B09-B2A5-16D04DF780F7}"/>
              </a:ext>
            </a:extLst>
          </p:cNvPr>
          <p:cNvGrpSpPr>
            <a:grpSpLocks/>
          </p:cNvGrpSpPr>
          <p:nvPr/>
        </p:nvGrpSpPr>
        <p:grpSpPr bwMode="auto">
          <a:xfrm>
            <a:off x="3352800" y="2209800"/>
            <a:ext cx="2514600" cy="1435100"/>
            <a:chOff x="3352800" y="2209800"/>
            <a:chExt cx="2514599" cy="1434512"/>
          </a:xfrm>
        </p:grpSpPr>
        <p:sp>
          <p:nvSpPr>
            <p:cNvPr id="76932" name="Line 206">
              <a:extLst>
                <a:ext uri="{FF2B5EF4-FFF2-40B4-BE49-F238E27FC236}">
                  <a16:creationId xmlns:a16="http://schemas.microsoft.com/office/drawing/2014/main" id="{DBCB7DA6-23EA-443A-8E8F-AB4457499750}"/>
                </a:ext>
              </a:extLst>
            </p:cNvPr>
            <p:cNvSpPr>
              <a:spLocks noChangeShapeType="1"/>
            </p:cNvSpPr>
            <p:nvPr/>
          </p:nvSpPr>
          <p:spPr bwMode="auto">
            <a:xfrm>
              <a:off x="3809999" y="3047999"/>
              <a:ext cx="1142997" cy="6351"/>
            </a:xfrm>
            <a:prstGeom prst="line">
              <a:avLst/>
            </a:prstGeom>
            <a:noFill/>
            <a:ln w="28575">
              <a:solidFill>
                <a:srgbClr val="FFC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33" name="Line 207">
              <a:extLst>
                <a:ext uri="{FF2B5EF4-FFF2-40B4-BE49-F238E27FC236}">
                  <a16:creationId xmlns:a16="http://schemas.microsoft.com/office/drawing/2014/main" id="{C4431527-0542-4FBF-B9B8-B270305349BE}"/>
                </a:ext>
              </a:extLst>
            </p:cNvPr>
            <p:cNvSpPr>
              <a:spLocks noChangeShapeType="1"/>
            </p:cNvSpPr>
            <p:nvPr/>
          </p:nvSpPr>
          <p:spPr bwMode="auto">
            <a:xfrm flipV="1">
              <a:off x="4952996" y="2209800"/>
              <a:ext cx="0" cy="844550"/>
            </a:xfrm>
            <a:prstGeom prst="line">
              <a:avLst/>
            </a:prstGeom>
            <a:noFill/>
            <a:ln w="28575">
              <a:solidFill>
                <a:srgbClr val="FFC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34" name="Line 204">
              <a:extLst>
                <a:ext uri="{FF2B5EF4-FFF2-40B4-BE49-F238E27FC236}">
                  <a16:creationId xmlns:a16="http://schemas.microsoft.com/office/drawing/2014/main" id="{D9888500-0758-4681-807E-6C330CFCA539}"/>
                </a:ext>
              </a:extLst>
            </p:cNvPr>
            <p:cNvSpPr>
              <a:spLocks noChangeShapeType="1"/>
            </p:cNvSpPr>
            <p:nvPr/>
          </p:nvSpPr>
          <p:spPr bwMode="auto">
            <a:xfrm flipV="1">
              <a:off x="4991100" y="2209800"/>
              <a:ext cx="838197" cy="13447"/>
            </a:xfrm>
            <a:prstGeom prst="line">
              <a:avLst/>
            </a:prstGeom>
            <a:noFill/>
            <a:ln w="28575">
              <a:solidFill>
                <a:srgbClr val="FFC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35" name="Line 205">
              <a:extLst>
                <a:ext uri="{FF2B5EF4-FFF2-40B4-BE49-F238E27FC236}">
                  <a16:creationId xmlns:a16="http://schemas.microsoft.com/office/drawing/2014/main" id="{3C439E5E-E109-4505-8F70-808A3FADDD4A}"/>
                </a:ext>
              </a:extLst>
            </p:cNvPr>
            <p:cNvSpPr>
              <a:spLocks noChangeShapeType="1"/>
            </p:cNvSpPr>
            <p:nvPr/>
          </p:nvSpPr>
          <p:spPr bwMode="auto">
            <a:xfrm>
              <a:off x="5828656" y="2223246"/>
              <a:ext cx="10135" cy="1420905"/>
            </a:xfrm>
            <a:prstGeom prst="line">
              <a:avLst/>
            </a:prstGeom>
            <a:noFill/>
            <a:ln w="28575">
              <a:solidFill>
                <a:srgbClr val="FFC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36" name="Line 206">
              <a:extLst>
                <a:ext uri="{FF2B5EF4-FFF2-40B4-BE49-F238E27FC236}">
                  <a16:creationId xmlns:a16="http://schemas.microsoft.com/office/drawing/2014/main" id="{BC1F07BB-0828-47FF-8F10-21B8F2BF051B}"/>
                </a:ext>
              </a:extLst>
            </p:cNvPr>
            <p:cNvSpPr>
              <a:spLocks noChangeShapeType="1"/>
            </p:cNvSpPr>
            <p:nvPr/>
          </p:nvSpPr>
          <p:spPr bwMode="auto">
            <a:xfrm flipH="1">
              <a:off x="3818846" y="3644151"/>
              <a:ext cx="2048553" cy="0"/>
            </a:xfrm>
            <a:prstGeom prst="line">
              <a:avLst/>
            </a:prstGeom>
            <a:noFill/>
            <a:ln w="28575">
              <a:solidFill>
                <a:srgbClr val="FFC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37" name="Line 206">
              <a:extLst>
                <a:ext uri="{FF2B5EF4-FFF2-40B4-BE49-F238E27FC236}">
                  <a16:creationId xmlns:a16="http://schemas.microsoft.com/office/drawing/2014/main" id="{C38AD002-4ED5-4981-8C3B-259351FE6A9A}"/>
                </a:ext>
              </a:extLst>
            </p:cNvPr>
            <p:cNvSpPr>
              <a:spLocks noChangeShapeType="1"/>
            </p:cNvSpPr>
            <p:nvPr/>
          </p:nvSpPr>
          <p:spPr bwMode="auto">
            <a:xfrm>
              <a:off x="3818847" y="3035299"/>
              <a:ext cx="5238" cy="609013"/>
            </a:xfrm>
            <a:prstGeom prst="line">
              <a:avLst/>
            </a:prstGeom>
            <a:noFill/>
            <a:ln w="28575">
              <a:solidFill>
                <a:srgbClr val="FFC000"/>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6938" name="Oval 208">
              <a:extLst>
                <a:ext uri="{FF2B5EF4-FFF2-40B4-BE49-F238E27FC236}">
                  <a16:creationId xmlns:a16="http://schemas.microsoft.com/office/drawing/2014/main" id="{BBA01C83-ABD2-4CC6-BAA5-B90DE0B16960}"/>
                </a:ext>
              </a:extLst>
            </p:cNvPr>
            <p:cNvSpPr>
              <a:spLocks noChangeArrowheads="1"/>
            </p:cNvSpPr>
            <p:nvPr/>
          </p:nvSpPr>
          <p:spPr bwMode="auto">
            <a:xfrm>
              <a:off x="3352800" y="2962204"/>
              <a:ext cx="404886" cy="390596"/>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a:t>
              </a:r>
              <a:endParaRPr lang="en-US" altLang="zh-CN"/>
            </a:p>
          </p:txBody>
        </p:sp>
      </p:grpSp>
      <p:sp>
        <p:nvSpPr>
          <p:cNvPr id="38" name="椭圆 37">
            <a:extLst>
              <a:ext uri="{FF2B5EF4-FFF2-40B4-BE49-F238E27FC236}">
                <a16:creationId xmlns:a16="http://schemas.microsoft.com/office/drawing/2014/main" id="{80DF1393-589B-472E-9707-A7709849EC4F}"/>
              </a:ext>
            </a:extLst>
          </p:cNvPr>
          <p:cNvSpPr/>
          <p:nvPr/>
        </p:nvSpPr>
        <p:spPr>
          <a:xfrm>
            <a:off x="3810000" y="29718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sp>
        <p:nvSpPr>
          <p:cNvPr id="40" name="椭圆 39">
            <a:extLst>
              <a:ext uri="{FF2B5EF4-FFF2-40B4-BE49-F238E27FC236}">
                <a16:creationId xmlns:a16="http://schemas.microsoft.com/office/drawing/2014/main" id="{716A624E-5525-4F75-A297-CD0E202629CA}"/>
              </a:ext>
            </a:extLst>
          </p:cNvPr>
          <p:cNvSpPr/>
          <p:nvPr/>
        </p:nvSpPr>
        <p:spPr>
          <a:xfrm>
            <a:off x="3276600" y="1700213"/>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nvGrpSpPr>
          <p:cNvPr id="4" name="组合 3">
            <a:extLst>
              <a:ext uri="{FF2B5EF4-FFF2-40B4-BE49-F238E27FC236}">
                <a16:creationId xmlns:a16="http://schemas.microsoft.com/office/drawing/2014/main" id="{6184C620-BC2E-43D8-8F5A-4A8EE48F5468}"/>
              </a:ext>
            </a:extLst>
          </p:cNvPr>
          <p:cNvGrpSpPr>
            <a:grpSpLocks/>
          </p:cNvGrpSpPr>
          <p:nvPr/>
        </p:nvGrpSpPr>
        <p:grpSpPr bwMode="auto">
          <a:xfrm>
            <a:off x="3276600" y="1752600"/>
            <a:ext cx="2895600" cy="2216150"/>
            <a:chOff x="3276600" y="1752600"/>
            <a:chExt cx="2895600" cy="2216150"/>
          </a:xfrm>
        </p:grpSpPr>
        <p:sp>
          <p:nvSpPr>
            <p:cNvPr id="39" name="Line 204">
              <a:extLst>
                <a:ext uri="{FF2B5EF4-FFF2-40B4-BE49-F238E27FC236}">
                  <a16:creationId xmlns:a16="http://schemas.microsoft.com/office/drawing/2014/main" id="{B372171D-F230-4E4A-8B97-7B16FB3AA04F}"/>
                </a:ext>
              </a:extLst>
            </p:cNvPr>
            <p:cNvSpPr>
              <a:spLocks noChangeShapeType="1"/>
            </p:cNvSpPr>
            <p:nvPr/>
          </p:nvSpPr>
          <p:spPr bwMode="auto">
            <a:xfrm>
              <a:off x="3276600" y="1752600"/>
              <a:ext cx="2895600" cy="0"/>
            </a:xfrm>
            <a:prstGeom prst="line">
              <a:avLst/>
            </a:prstGeom>
            <a:noFill/>
            <a:ln w="28575">
              <a:solidFill>
                <a:schemeClr val="tx2">
                  <a:lumMod val="60000"/>
                  <a:lumOff val="40000"/>
                </a:schemeClr>
              </a:solidFill>
              <a:prstDash val="dash"/>
              <a:round/>
              <a:headEnd/>
              <a:tailEnd type="triangle" w="med" len="med"/>
            </a:ln>
          </p:spPr>
          <p:txBody>
            <a:bodyPr/>
            <a:lstStyle/>
            <a:p>
              <a:pPr>
                <a:defRPr/>
              </a:pPr>
              <a:endParaRPr lang="zh-CN" altLang="en-US"/>
            </a:p>
          </p:txBody>
        </p:sp>
        <p:sp>
          <p:nvSpPr>
            <p:cNvPr id="41" name="Line 205">
              <a:extLst>
                <a:ext uri="{FF2B5EF4-FFF2-40B4-BE49-F238E27FC236}">
                  <a16:creationId xmlns:a16="http://schemas.microsoft.com/office/drawing/2014/main" id="{8052D63B-8C1D-4356-9192-9EDB852F6CCE}"/>
                </a:ext>
              </a:extLst>
            </p:cNvPr>
            <p:cNvSpPr>
              <a:spLocks noChangeShapeType="1"/>
            </p:cNvSpPr>
            <p:nvPr/>
          </p:nvSpPr>
          <p:spPr bwMode="auto">
            <a:xfrm>
              <a:off x="6172200" y="1765300"/>
              <a:ext cx="0" cy="2203450"/>
            </a:xfrm>
            <a:prstGeom prst="line">
              <a:avLst/>
            </a:prstGeom>
            <a:noFill/>
            <a:ln w="28575">
              <a:solidFill>
                <a:schemeClr val="tx2">
                  <a:lumMod val="60000"/>
                  <a:lumOff val="40000"/>
                </a:schemeClr>
              </a:solidFill>
              <a:prstDash val="dash"/>
              <a:round/>
              <a:headEnd/>
              <a:tailEnd type="triangle" w="med" len="med"/>
            </a:ln>
          </p:spPr>
          <p:txBody>
            <a:bodyPr/>
            <a:lstStyle/>
            <a:p>
              <a:pPr>
                <a:defRPr/>
              </a:pPr>
              <a:endParaRPr lang="zh-CN" altLang="en-US"/>
            </a:p>
          </p:txBody>
        </p:sp>
        <p:sp>
          <p:nvSpPr>
            <p:cNvPr id="42" name="Line 206">
              <a:extLst>
                <a:ext uri="{FF2B5EF4-FFF2-40B4-BE49-F238E27FC236}">
                  <a16:creationId xmlns:a16="http://schemas.microsoft.com/office/drawing/2014/main" id="{6C00445B-552F-431E-A049-4CE32D0819E3}"/>
                </a:ext>
              </a:extLst>
            </p:cNvPr>
            <p:cNvSpPr>
              <a:spLocks noChangeShapeType="1"/>
            </p:cNvSpPr>
            <p:nvPr/>
          </p:nvSpPr>
          <p:spPr bwMode="auto">
            <a:xfrm flipH="1">
              <a:off x="3352800" y="3968750"/>
              <a:ext cx="2819400" cy="0"/>
            </a:xfrm>
            <a:prstGeom prst="line">
              <a:avLst/>
            </a:prstGeom>
            <a:noFill/>
            <a:ln w="28575">
              <a:solidFill>
                <a:schemeClr val="tx2">
                  <a:lumMod val="60000"/>
                  <a:lumOff val="40000"/>
                </a:schemeClr>
              </a:solidFill>
              <a:prstDash val="dash"/>
              <a:round/>
              <a:headEnd/>
              <a:tailEnd type="triangle" w="med" len="med"/>
            </a:ln>
          </p:spPr>
          <p:txBody>
            <a:bodyPr/>
            <a:lstStyle/>
            <a:p>
              <a:pPr>
                <a:defRPr/>
              </a:pPr>
              <a:endParaRPr lang="zh-CN" altLang="en-US"/>
            </a:p>
          </p:txBody>
        </p:sp>
        <p:sp>
          <p:nvSpPr>
            <p:cNvPr id="43" name="Line 207">
              <a:extLst>
                <a:ext uri="{FF2B5EF4-FFF2-40B4-BE49-F238E27FC236}">
                  <a16:creationId xmlns:a16="http://schemas.microsoft.com/office/drawing/2014/main" id="{94D3A66D-554F-4133-A178-8AD2C360275F}"/>
                </a:ext>
              </a:extLst>
            </p:cNvPr>
            <p:cNvSpPr>
              <a:spLocks noChangeShapeType="1"/>
            </p:cNvSpPr>
            <p:nvPr/>
          </p:nvSpPr>
          <p:spPr bwMode="auto">
            <a:xfrm flipH="1" flipV="1">
              <a:off x="3314700" y="1800225"/>
              <a:ext cx="28575" cy="2092325"/>
            </a:xfrm>
            <a:prstGeom prst="line">
              <a:avLst/>
            </a:prstGeom>
            <a:noFill/>
            <a:ln w="28575">
              <a:solidFill>
                <a:schemeClr val="tx2">
                  <a:lumMod val="60000"/>
                  <a:lumOff val="40000"/>
                </a:schemeClr>
              </a:solidFill>
              <a:prstDash val="dash"/>
              <a:round/>
              <a:headEnd/>
              <a:tailEnd type="triangle" w="med" len="med"/>
            </a:ln>
          </p:spPr>
          <p:txBody>
            <a:bodyPr/>
            <a:lstStyle/>
            <a:p>
              <a:pPr>
                <a:defRPr/>
              </a:pPr>
              <a:endParaRPr lang="zh-CN" altLang="en-US"/>
            </a:p>
          </p:txBody>
        </p:sp>
        <p:sp>
          <p:nvSpPr>
            <p:cNvPr id="76931" name="Oval 208">
              <a:extLst>
                <a:ext uri="{FF2B5EF4-FFF2-40B4-BE49-F238E27FC236}">
                  <a16:creationId xmlns:a16="http://schemas.microsoft.com/office/drawing/2014/main" id="{0B2A27FA-CCE2-49D1-AFFB-64A136F591AB}"/>
                </a:ext>
              </a:extLst>
            </p:cNvPr>
            <p:cNvSpPr>
              <a:spLocks noChangeArrowheads="1"/>
            </p:cNvSpPr>
            <p:nvPr/>
          </p:nvSpPr>
          <p:spPr bwMode="auto">
            <a:xfrm>
              <a:off x="3405114" y="1981200"/>
              <a:ext cx="404886" cy="390596"/>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2</a:t>
              </a:r>
              <a:endParaRPr lang="en-US" altLang="zh-CN"/>
            </a:p>
          </p:txBody>
        </p:sp>
      </p:grpSp>
      <p:sp>
        <p:nvSpPr>
          <p:cNvPr id="45" name="椭圆 44">
            <a:extLst>
              <a:ext uri="{FF2B5EF4-FFF2-40B4-BE49-F238E27FC236}">
                <a16:creationId xmlns:a16="http://schemas.microsoft.com/office/drawing/2014/main" id="{A7AAC526-86C1-4BBF-A7FF-A9B776281476}"/>
              </a:ext>
            </a:extLst>
          </p:cNvPr>
          <p:cNvSpPr/>
          <p:nvPr/>
        </p:nvSpPr>
        <p:spPr>
          <a:xfrm>
            <a:off x="2362200" y="40386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6" name="椭圆 45">
            <a:extLst>
              <a:ext uri="{FF2B5EF4-FFF2-40B4-BE49-F238E27FC236}">
                <a16:creationId xmlns:a16="http://schemas.microsoft.com/office/drawing/2014/main" id="{33C010D6-6D57-486A-9D73-FB571AC47B7C}"/>
              </a:ext>
            </a:extLst>
          </p:cNvPr>
          <p:cNvSpPr/>
          <p:nvPr/>
        </p:nvSpPr>
        <p:spPr>
          <a:xfrm>
            <a:off x="5218113" y="4216400"/>
            <a:ext cx="76200" cy="76200"/>
          </a:xfrm>
          <a:prstGeom prst="ellipse">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nvGrpSpPr>
          <p:cNvPr id="8" name="组合 7">
            <a:extLst>
              <a:ext uri="{FF2B5EF4-FFF2-40B4-BE49-F238E27FC236}">
                <a16:creationId xmlns:a16="http://schemas.microsoft.com/office/drawing/2014/main" id="{9AC39FE6-CD7B-4A78-8703-A6AB5A88D29E}"/>
              </a:ext>
            </a:extLst>
          </p:cNvPr>
          <p:cNvGrpSpPr>
            <a:grpSpLocks/>
          </p:cNvGrpSpPr>
          <p:nvPr/>
        </p:nvGrpSpPr>
        <p:grpSpPr bwMode="auto">
          <a:xfrm>
            <a:off x="1876425" y="1619250"/>
            <a:ext cx="4676775" cy="2724150"/>
            <a:chOff x="1876413" y="1618624"/>
            <a:chExt cx="4676787" cy="2724776"/>
          </a:xfrm>
        </p:grpSpPr>
        <p:sp>
          <p:nvSpPr>
            <p:cNvPr id="52" name="Line 206">
              <a:extLst>
                <a:ext uri="{FF2B5EF4-FFF2-40B4-BE49-F238E27FC236}">
                  <a16:creationId xmlns:a16="http://schemas.microsoft.com/office/drawing/2014/main" id="{2DFA2E51-7E36-47DE-99A5-6185D069184F}"/>
                </a:ext>
              </a:extLst>
            </p:cNvPr>
            <p:cNvSpPr>
              <a:spLocks noChangeShapeType="1"/>
            </p:cNvSpPr>
            <p:nvPr/>
          </p:nvSpPr>
          <p:spPr bwMode="auto">
            <a:xfrm flipH="1">
              <a:off x="2362189" y="2752359"/>
              <a:ext cx="0" cy="1286170"/>
            </a:xfrm>
            <a:prstGeom prst="line">
              <a:avLst/>
            </a:prstGeom>
            <a:noFill/>
            <a:ln w="28575">
              <a:solidFill>
                <a:schemeClr val="accent6"/>
              </a:solidFill>
              <a:prstDash val="dash"/>
              <a:round/>
              <a:headEnd/>
              <a:tailEnd type="triangle" w="med" len="med"/>
            </a:ln>
          </p:spPr>
          <p:txBody>
            <a:bodyPr/>
            <a:lstStyle/>
            <a:p>
              <a:pPr>
                <a:defRPr/>
              </a:pPr>
              <a:endParaRPr lang="zh-CN" altLang="en-US"/>
            </a:p>
          </p:txBody>
        </p:sp>
        <p:grpSp>
          <p:nvGrpSpPr>
            <p:cNvPr id="76920" name="组合 6">
              <a:extLst>
                <a:ext uri="{FF2B5EF4-FFF2-40B4-BE49-F238E27FC236}">
                  <a16:creationId xmlns:a16="http://schemas.microsoft.com/office/drawing/2014/main" id="{1965FD00-E75A-49A8-A699-B6ED700FA20D}"/>
                </a:ext>
              </a:extLst>
            </p:cNvPr>
            <p:cNvGrpSpPr>
              <a:grpSpLocks/>
            </p:cNvGrpSpPr>
            <p:nvPr/>
          </p:nvGrpSpPr>
          <p:grpSpPr bwMode="auto">
            <a:xfrm>
              <a:off x="1876413" y="1618624"/>
              <a:ext cx="4676787" cy="2724776"/>
              <a:chOff x="1876413" y="1618624"/>
              <a:chExt cx="4676787" cy="2724776"/>
            </a:xfrm>
          </p:grpSpPr>
          <p:sp>
            <p:nvSpPr>
              <p:cNvPr id="47" name="Line 206">
                <a:extLst>
                  <a:ext uri="{FF2B5EF4-FFF2-40B4-BE49-F238E27FC236}">
                    <a16:creationId xmlns:a16="http://schemas.microsoft.com/office/drawing/2014/main" id="{EA3CE1E9-1839-4897-BC8C-7DB9FE3D3AF9}"/>
                  </a:ext>
                </a:extLst>
              </p:cNvPr>
              <p:cNvSpPr>
                <a:spLocks noChangeShapeType="1"/>
              </p:cNvSpPr>
              <p:nvPr/>
            </p:nvSpPr>
            <p:spPr bwMode="auto">
              <a:xfrm flipH="1" flipV="1">
                <a:off x="2438389" y="4111572"/>
                <a:ext cx="4114811" cy="19054"/>
              </a:xfrm>
              <a:prstGeom prst="line">
                <a:avLst/>
              </a:prstGeom>
              <a:noFill/>
              <a:ln w="28575">
                <a:solidFill>
                  <a:schemeClr val="accent6"/>
                </a:solidFill>
                <a:prstDash val="dash"/>
                <a:round/>
                <a:headEnd type="triangle" w="med" len="med"/>
                <a:tailEnd/>
              </a:ln>
            </p:spPr>
            <p:txBody>
              <a:bodyPr/>
              <a:lstStyle/>
              <a:p>
                <a:pPr>
                  <a:defRPr/>
                </a:pPr>
                <a:endParaRPr lang="zh-CN" altLang="en-US"/>
              </a:p>
            </p:txBody>
          </p:sp>
          <p:sp>
            <p:nvSpPr>
              <p:cNvPr id="48" name="Line 207">
                <a:extLst>
                  <a:ext uri="{FF2B5EF4-FFF2-40B4-BE49-F238E27FC236}">
                    <a16:creationId xmlns:a16="http://schemas.microsoft.com/office/drawing/2014/main" id="{E6414ADF-31DE-4823-A505-E935381319FC}"/>
                  </a:ext>
                </a:extLst>
              </p:cNvPr>
              <p:cNvSpPr>
                <a:spLocks noChangeShapeType="1"/>
              </p:cNvSpPr>
              <p:nvPr/>
            </p:nvSpPr>
            <p:spPr bwMode="auto">
              <a:xfrm flipH="1" flipV="1">
                <a:off x="6505575" y="1618624"/>
                <a:ext cx="47625" cy="2512002"/>
              </a:xfrm>
              <a:prstGeom prst="line">
                <a:avLst/>
              </a:prstGeom>
              <a:noFill/>
              <a:ln w="28575">
                <a:solidFill>
                  <a:schemeClr val="accent6"/>
                </a:solidFill>
                <a:prstDash val="dash"/>
                <a:round/>
                <a:headEnd/>
                <a:tailEnd type="triangle" w="med" len="med"/>
              </a:ln>
            </p:spPr>
            <p:txBody>
              <a:bodyPr/>
              <a:lstStyle/>
              <a:p>
                <a:pPr>
                  <a:defRPr/>
                </a:pPr>
                <a:endParaRPr lang="zh-CN" altLang="en-US"/>
              </a:p>
            </p:txBody>
          </p:sp>
          <p:sp>
            <p:nvSpPr>
              <p:cNvPr id="49" name="Line 206">
                <a:extLst>
                  <a:ext uri="{FF2B5EF4-FFF2-40B4-BE49-F238E27FC236}">
                    <a16:creationId xmlns:a16="http://schemas.microsoft.com/office/drawing/2014/main" id="{2FB53182-F9D0-4E6B-8B10-CCC12584AB27}"/>
                  </a:ext>
                </a:extLst>
              </p:cNvPr>
              <p:cNvSpPr>
                <a:spLocks noChangeShapeType="1"/>
              </p:cNvSpPr>
              <p:nvPr/>
            </p:nvSpPr>
            <p:spPr bwMode="auto">
              <a:xfrm flipH="1" flipV="1">
                <a:off x="4571995" y="1637678"/>
                <a:ext cx="1933580" cy="11116"/>
              </a:xfrm>
              <a:prstGeom prst="line">
                <a:avLst/>
              </a:prstGeom>
              <a:noFill/>
              <a:ln w="28575">
                <a:solidFill>
                  <a:schemeClr val="accent6"/>
                </a:solidFill>
                <a:prstDash val="dash"/>
                <a:round/>
                <a:headEnd/>
                <a:tailEnd type="triangle" w="med" len="med"/>
              </a:ln>
            </p:spPr>
            <p:txBody>
              <a:bodyPr/>
              <a:lstStyle/>
              <a:p>
                <a:pPr>
                  <a:defRPr/>
                </a:pPr>
                <a:endParaRPr lang="zh-CN" altLang="en-US"/>
              </a:p>
            </p:txBody>
          </p:sp>
          <p:sp>
            <p:nvSpPr>
              <p:cNvPr id="50" name="Line 206">
                <a:extLst>
                  <a:ext uri="{FF2B5EF4-FFF2-40B4-BE49-F238E27FC236}">
                    <a16:creationId xmlns:a16="http://schemas.microsoft.com/office/drawing/2014/main" id="{0B7529CC-4A34-41CD-A04B-487D81790925}"/>
                  </a:ext>
                </a:extLst>
              </p:cNvPr>
              <p:cNvSpPr>
                <a:spLocks noChangeShapeType="1"/>
              </p:cNvSpPr>
              <p:nvPr/>
            </p:nvSpPr>
            <p:spPr bwMode="auto">
              <a:xfrm flipH="1">
                <a:off x="4571995" y="1648794"/>
                <a:ext cx="0" cy="1132147"/>
              </a:xfrm>
              <a:prstGeom prst="line">
                <a:avLst/>
              </a:prstGeom>
              <a:noFill/>
              <a:ln w="28575">
                <a:solidFill>
                  <a:schemeClr val="accent6"/>
                </a:solidFill>
                <a:prstDash val="dash"/>
                <a:round/>
                <a:headEnd/>
                <a:tailEnd type="triangle" w="med" len="med"/>
              </a:ln>
            </p:spPr>
            <p:txBody>
              <a:bodyPr/>
              <a:lstStyle/>
              <a:p>
                <a:pPr>
                  <a:defRPr/>
                </a:pPr>
                <a:endParaRPr lang="zh-CN" altLang="en-US"/>
              </a:p>
            </p:txBody>
          </p:sp>
          <p:sp>
            <p:nvSpPr>
              <p:cNvPr id="51" name="Line 206">
                <a:extLst>
                  <a:ext uri="{FF2B5EF4-FFF2-40B4-BE49-F238E27FC236}">
                    <a16:creationId xmlns:a16="http://schemas.microsoft.com/office/drawing/2014/main" id="{C7BDE564-A1DA-4089-B568-B33A89359E65}"/>
                  </a:ext>
                </a:extLst>
              </p:cNvPr>
              <p:cNvSpPr>
                <a:spLocks noChangeShapeType="1"/>
              </p:cNvSpPr>
              <p:nvPr/>
            </p:nvSpPr>
            <p:spPr bwMode="auto">
              <a:xfrm flipH="1" flipV="1">
                <a:off x="2386002" y="2747596"/>
                <a:ext cx="2151068" cy="15879"/>
              </a:xfrm>
              <a:prstGeom prst="line">
                <a:avLst/>
              </a:prstGeom>
              <a:noFill/>
              <a:ln w="28575">
                <a:solidFill>
                  <a:schemeClr val="accent6"/>
                </a:solidFill>
                <a:prstDash val="dash"/>
                <a:round/>
                <a:headEnd/>
                <a:tailEnd type="triangle" w="med" len="med"/>
              </a:ln>
            </p:spPr>
            <p:txBody>
              <a:bodyPr/>
              <a:lstStyle/>
              <a:p>
                <a:pPr>
                  <a:defRPr/>
                </a:pPr>
                <a:endParaRPr lang="zh-CN" altLang="en-US"/>
              </a:p>
            </p:txBody>
          </p:sp>
          <p:sp>
            <p:nvSpPr>
              <p:cNvPr id="76926" name="Oval 208">
                <a:extLst>
                  <a:ext uri="{FF2B5EF4-FFF2-40B4-BE49-F238E27FC236}">
                    <a16:creationId xmlns:a16="http://schemas.microsoft.com/office/drawing/2014/main" id="{A52EF7A3-BC1B-41DD-9D7E-A8938EF37106}"/>
                  </a:ext>
                </a:extLst>
              </p:cNvPr>
              <p:cNvSpPr>
                <a:spLocks noChangeArrowheads="1"/>
              </p:cNvSpPr>
              <p:nvPr/>
            </p:nvSpPr>
            <p:spPr bwMode="auto">
              <a:xfrm>
                <a:off x="1876413" y="3952804"/>
                <a:ext cx="509668" cy="390596"/>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10</a:t>
                </a:r>
                <a:endParaRPr lang="en-US" altLang="zh-CN"/>
              </a:p>
            </p:txBody>
          </p:sp>
        </p:grpSp>
      </p:grpSp>
      <p:grpSp>
        <p:nvGrpSpPr>
          <p:cNvPr id="9" name="组合 8">
            <a:extLst>
              <a:ext uri="{FF2B5EF4-FFF2-40B4-BE49-F238E27FC236}">
                <a16:creationId xmlns:a16="http://schemas.microsoft.com/office/drawing/2014/main" id="{3FFC94B1-C703-4D48-BD1A-7FB8FE62E1EB}"/>
              </a:ext>
            </a:extLst>
          </p:cNvPr>
          <p:cNvGrpSpPr>
            <a:grpSpLocks/>
          </p:cNvGrpSpPr>
          <p:nvPr/>
        </p:nvGrpSpPr>
        <p:grpSpPr bwMode="auto">
          <a:xfrm>
            <a:off x="4606925" y="1439863"/>
            <a:ext cx="2174875" cy="2995612"/>
            <a:chOff x="4606750" y="1440088"/>
            <a:chExt cx="2175050" cy="2995386"/>
          </a:xfrm>
        </p:grpSpPr>
        <p:sp>
          <p:nvSpPr>
            <p:cNvPr id="76914" name="Line 206">
              <a:extLst>
                <a:ext uri="{FF2B5EF4-FFF2-40B4-BE49-F238E27FC236}">
                  <a16:creationId xmlns:a16="http://schemas.microsoft.com/office/drawing/2014/main" id="{1AA00946-03FD-4A70-B506-5C7374589142}"/>
                </a:ext>
              </a:extLst>
            </p:cNvPr>
            <p:cNvSpPr>
              <a:spLocks noChangeShapeType="1"/>
            </p:cNvSpPr>
            <p:nvPr/>
          </p:nvSpPr>
          <p:spPr bwMode="auto">
            <a:xfrm flipH="1">
              <a:off x="5333999" y="4267200"/>
              <a:ext cx="1447800" cy="0"/>
            </a:xfrm>
            <a:prstGeom prst="line">
              <a:avLst/>
            </a:prstGeom>
            <a:noFill/>
            <a:ln w="28575">
              <a:solidFill>
                <a:srgbClr val="7030A0"/>
              </a:solidFill>
              <a:prstDash val="dash"/>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6915" name="Line 207">
              <a:extLst>
                <a:ext uri="{FF2B5EF4-FFF2-40B4-BE49-F238E27FC236}">
                  <a16:creationId xmlns:a16="http://schemas.microsoft.com/office/drawing/2014/main" id="{058194CD-AD69-4936-9B7E-F4E6D078763A}"/>
                </a:ext>
              </a:extLst>
            </p:cNvPr>
            <p:cNvSpPr>
              <a:spLocks noChangeShapeType="1"/>
            </p:cNvSpPr>
            <p:nvPr/>
          </p:nvSpPr>
          <p:spPr bwMode="auto">
            <a:xfrm flipH="1" flipV="1">
              <a:off x="6767714" y="1445264"/>
              <a:ext cx="5291" cy="2804955"/>
            </a:xfrm>
            <a:prstGeom prst="line">
              <a:avLst/>
            </a:prstGeom>
            <a:noFill/>
            <a:ln w="28575">
              <a:solidFill>
                <a:srgbClr val="7030A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16" name="Line 206">
              <a:extLst>
                <a:ext uri="{FF2B5EF4-FFF2-40B4-BE49-F238E27FC236}">
                  <a16:creationId xmlns:a16="http://schemas.microsoft.com/office/drawing/2014/main" id="{64648EF0-223F-4988-AC18-CBAC54089EF3}"/>
                </a:ext>
              </a:extLst>
            </p:cNvPr>
            <p:cNvSpPr>
              <a:spLocks noChangeShapeType="1"/>
            </p:cNvSpPr>
            <p:nvPr/>
          </p:nvSpPr>
          <p:spPr bwMode="auto">
            <a:xfrm flipH="1">
              <a:off x="5334000" y="1440088"/>
              <a:ext cx="1447800" cy="14062"/>
            </a:xfrm>
            <a:prstGeom prst="line">
              <a:avLst/>
            </a:prstGeom>
            <a:noFill/>
            <a:ln w="28575">
              <a:solidFill>
                <a:srgbClr val="7030A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17" name="Line 206">
              <a:extLst>
                <a:ext uri="{FF2B5EF4-FFF2-40B4-BE49-F238E27FC236}">
                  <a16:creationId xmlns:a16="http://schemas.microsoft.com/office/drawing/2014/main" id="{6E43BA1B-C7D4-4874-91E5-7B44218A66DC}"/>
                </a:ext>
              </a:extLst>
            </p:cNvPr>
            <p:cNvSpPr>
              <a:spLocks noChangeShapeType="1"/>
            </p:cNvSpPr>
            <p:nvPr/>
          </p:nvSpPr>
          <p:spPr bwMode="auto">
            <a:xfrm>
              <a:off x="5325032" y="1454149"/>
              <a:ext cx="11584" cy="2813049"/>
            </a:xfrm>
            <a:prstGeom prst="line">
              <a:avLst/>
            </a:prstGeom>
            <a:noFill/>
            <a:ln w="28575">
              <a:solidFill>
                <a:srgbClr val="7030A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6918" name="Oval 208">
              <a:extLst>
                <a:ext uri="{FF2B5EF4-FFF2-40B4-BE49-F238E27FC236}">
                  <a16:creationId xmlns:a16="http://schemas.microsoft.com/office/drawing/2014/main" id="{622D91E6-470F-4E45-833C-59C4E5B4BAFA}"/>
                </a:ext>
              </a:extLst>
            </p:cNvPr>
            <p:cNvSpPr>
              <a:spLocks noChangeArrowheads="1"/>
            </p:cNvSpPr>
            <p:nvPr/>
          </p:nvSpPr>
          <p:spPr bwMode="auto">
            <a:xfrm>
              <a:off x="4606750" y="4044949"/>
              <a:ext cx="551316" cy="390525"/>
            </a:xfrm>
            <a:prstGeom prst="ellipse">
              <a:avLst/>
            </a:prstGeom>
            <a:solidFill>
              <a:srgbClr val="FFFFFF"/>
            </a:solidFill>
            <a:ln w="19050">
              <a:solidFill>
                <a:srgbClr val="0000FF"/>
              </a:solidFill>
              <a:round/>
              <a:headEnd/>
              <a:tailEnd/>
            </a:ln>
          </p:spPr>
          <p:txBody>
            <a:bodyPr lIns="0" tIns="0" rIns="0" bIns="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en-US" altLang="zh-CN">
                  <a:latin typeface="Times New Roman" panose="02020603050405020304" pitchFamily="18" charset="0"/>
                </a:rPr>
                <a:t>  12</a:t>
              </a:r>
              <a:endParaRPr lang="en-US" altLang="zh-CN"/>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randombar(horizontal)">
                                      <p:cBhvr>
                                        <p:cTn id="12" dur="5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randombar(horizontal)">
                                      <p:cBhvr>
                                        <p:cTn id="17" dur="500"/>
                                        <p:tgtEl>
                                          <p:spTgt spid="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randombar(horizontal)">
                                      <p:cBhvr>
                                        <p:cTn id="22" dur="500"/>
                                        <p:tgtEl>
                                          <p:spTgt spid="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randombar(horizontal)">
                                      <p:cBhvr>
                                        <p:cTn id="27" dur="500"/>
                                        <p:tgtEl>
                                          <p:spTgt spid="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4" presetClass="entr" presetSubtype="10"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randombar(horizontal)">
                                      <p:cBhvr>
                                        <p:cTn id="32" dur="500"/>
                                        <p:tgtEl>
                                          <p:spTgt spid="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blinds(horizontal)">
                                      <p:cBhvr>
                                        <p:cTn id="3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a:extLst>
              <a:ext uri="{FF2B5EF4-FFF2-40B4-BE49-F238E27FC236}">
                <a16:creationId xmlns:a16="http://schemas.microsoft.com/office/drawing/2014/main" id="{BB19E044-8D75-4FAC-8BC3-4ECC80D5E8A1}"/>
              </a:ext>
            </a:extLst>
          </p:cNvPr>
          <p:cNvSpPr>
            <a:spLocks noGrp="1" noChangeArrowheads="1"/>
          </p:cNvSpPr>
          <p:nvPr>
            <p:ph type="title"/>
          </p:nvPr>
        </p:nvSpPr>
        <p:spPr/>
        <p:txBody>
          <a:bodyPr/>
          <a:lstStyle/>
          <a:p>
            <a:pPr eaLnBrk="1" hangingPunct="1"/>
            <a:r>
              <a:rPr lang="zh-CN" altLang="en-US"/>
              <a:t>系数矩阵</a:t>
            </a:r>
            <a:r>
              <a:rPr lang="en-US" altLang="zh-CN"/>
              <a:t>P (P</a:t>
            </a:r>
            <a:r>
              <a:rPr lang="en-US" altLang="zh-CN" baseline="-25000"/>
              <a:t>ij</a:t>
            </a:r>
            <a:r>
              <a:rPr lang="en-US" altLang="zh-CN"/>
              <a:t>)</a:t>
            </a:r>
            <a:endParaRPr lang="zh-CN" altLang="en-US"/>
          </a:p>
        </p:txBody>
      </p:sp>
      <p:sp>
        <p:nvSpPr>
          <p:cNvPr id="185349" name="Rectangle 5">
            <a:extLst>
              <a:ext uri="{FF2B5EF4-FFF2-40B4-BE49-F238E27FC236}">
                <a16:creationId xmlns:a16="http://schemas.microsoft.com/office/drawing/2014/main" id="{92B16490-2C67-47D8-8BE8-135B7C5E00F7}"/>
              </a:ext>
            </a:extLst>
          </p:cNvPr>
          <p:cNvSpPr>
            <a:spLocks noChangeArrowheads="1"/>
          </p:cNvSpPr>
          <p:nvPr/>
        </p:nvSpPr>
        <p:spPr bwMode="auto">
          <a:xfrm>
            <a:off x="1049338" y="5472113"/>
            <a:ext cx="87630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715963" indent="-715963">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2400" b="1">
                <a:latin typeface="Times New Roman" panose="02020603050405020304" pitchFamily="18" charset="0"/>
              </a:rPr>
              <a:t>注：技术</a:t>
            </a:r>
            <a:r>
              <a:rPr kumimoji="1" lang="zh-CN" altLang="zh-CN" sz="2400" b="1">
                <a:latin typeface="Times New Roman" panose="02020603050405020304" pitchFamily="18" charset="0"/>
              </a:rPr>
              <a:t>系数矩阵的秩</a:t>
            </a:r>
            <a:r>
              <a:rPr kumimoji="1" lang="zh-CN" altLang="en-US" sz="2400" b="1">
                <a:latin typeface="Times New Roman" panose="02020603050405020304" pitchFamily="18" charset="0"/>
              </a:rPr>
              <a:t>为</a:t>
            </a:r>
            <a:r>
              <a:rPr kumimoji="1" lang="zh-CN" altLang="zh-CN" sz="2400" b="1" i="1">
                <a:latin typeface="Times New Roman" panose="02020603050405020304" pitchFamily="18" charset="0"/>
              </a:rPr>
              <a:t>m</a:t>
            </a:r>
            <a:r>
              <a:rPr kumimoji="1" lang="zh-CN" altLang="zh-CN" sz="2400" b="1">
                <a:latin typeface="Times New Roman" panose="02020603050405020304" pitchFamily="18" charset="0"/>
              </a:rPr>
              <a:t>+</a:t>
            </a:r>
            <a:r>
              <a:rPr kumimoji="1" lang="zh-CN" altLang="zh-CN" sz="2400" b="1" i="1">
                <a:latin typeface="Times New Roman" panose="02020603050405020304" pitchFamily="18" charset="0"/>
              </a:rPr>
              <a:t>n</a:t>
            </a:r>
            <a:r>
              <a:rPr kumimoji="1" lang="zh-CN" altLang="zh-CN" sz="2400" b="1">
                <a:latin typeface="Times New Roman" panose="02020603050405020304" pitchFamily="18" charset="0"/>
              </a:rPr>
              <a:t>-1,基变量的个数</a:t>
            </a:r>
            <a:r>
              <a:rPr kumimoji="1" lang="zh-CN" altLang="en-US" sz="2400" b="1">
                <a:latin typeface="Times New Roman" panose="02020603050405020304" pitchFamily="18" charset="0"/>
              </a:rPr>
              <a:t>为</a:t>
            </a:r>
            <a:r>
              <a:rPr kumimoji="1" lang="zh-CN" altLang="zh-CN" sz="2400" b="1" i="1">
                <a:latin typeface="Times New Roman" panose="02020603050405020304" pitchFamily="18" charset="0"/>
              </a:rPr>
              <a:t>m</a:t>
            </a:r>
            <a:r>
              <a:rPr kumimoji="1" lang="zh-CN" altLang="zh-CN" sz="2400" b="1">
                <a:latin typeface="Times New Roman" panose="02020603050405020304" pitchFamily="18" charset="0"/>
              </a:rPr>
              <a:t>+</a:t>
            </a:r>
            <a:r>
              <a:rPr kumimoji="1" lang="zh-CN" altLang="zh-CN" sz="2400" b="1" i="1">
                <a:latin typeface="Times New Roman" panose="02020603050405020304" pitchFamily="18" charset="0"/>
              </a:rPr>
              <a:t>n</a:t>
            </a:r>
            <a:r>
              <a:rPr kumimoji="1" lang="zh-CN" altLang="zh-CN" sz="2400" b="1">
                <a:latin typeface="Times New Roman" panose="02020603050405020304" pitchFamily="18" charset="0"/>
              </a:rPr>
              <a:t>-1</a:t>
            </a:r>
            <a:endParaRPr kumimoji="1" lang="en-US" altLang="zh-CN" sz="2400" b="1">
              <a:latin typeface="Times New Roman" panose="02020603050405020304" pitchFamily="18" charset="0"/>
            </a:endParaRPr>
          </a:p>
          <a:p>
            <a:pPr eaLnBrk="1" hangingPunct="1"/>
            <a:r>
              <a:rPr kumimoji="1" lang="en-US" altLang="zh-CN" sz="2400" b="1">
                <a:latin typeface="Times New Roman" panose="02020603050405020304" pitchFamily="18" charset="0"/>
              </a:rPr>
              <a:t>     </a:t>
            </a:r>
            <a:r>
              <a:rPr kumimoji="1" lang="zh-CN" altLang="zh-CN" sz="2400" b="1">
                <a:latin typeface="Times New Roman" panose="02020603050405020304" pitchFamily="18" charset="0"/>
              </a:rPr>
              <a:t>（即基变量的个数＝产地个数＋销售地个数-1）</a:t>
            </a:r>
            <a:endParaRPr kumimoji="1" lang="en-US" altLang="zh-CN" sz="2400" b="1">
              <a:latin typeface="Times New Roman" panose="02020603050405020304" pitchFamily="18" charset="0"/>
            </a:endParaRPr>
          </a:p>
          <a:p>
            <a:pPr eaLnBrk="1" hangingPunct="1"/>
            <a:r>
              <a:rPr kumimoji="1" lang="zh-CN" altLang="zh-CN" sz="2400" b="1">
                <a:latin typeface="Times New Roman" panose="02020603050405020304" pitchFamily="18" charset="0"/>
              </a:rPr>
              <a:t>（</a:t>
            </a:r>
            <a:r>
              <a:rPr kumimoji="1" lang="zh-CN" altLang="en-US" sz="2400" b="1">
                <a:latin typeface="Times New Roman" panose="02020603050405020304" pitchFamily="18" charset="0"/>
              </a:rPr>
              <a:t>或</a:t>
            </a:r>
            <a:r>
              <a:rPr kumimoji="1" lang="zh-CN" altLang="zh-CN" sz="2400" b="1">
                <a:latin typeface="Times New Roman" panose="02020603050405020304" pitchFamily="18" charset="0"/>
              </a:rPr>
              <a:t>基变量的个数＝</a:t>
            </a:r>
            <a:r>
              <a:rPr lang="zh-CN" altLang="en-US" sz="2400" b="1"/>
              <a:t>约束条件个数</a:t>
            </a:r>
            <a:r>
              <a:rPr lang="en-US" altLang="zh-CN" sz="2400" b="1"/>
              <a:t>-</a:t>
            </a:r>
            <a:r>
              <a:rPr lang="zh-CN" altLang="en-US" sz="2400" b="1"/>
              <a:t>线性相关的条件个数</a:t>
            </a:r>
            <a:r>
              <a:rPr kumimoji="1" lang="zh-CN" altLang="zh-CN" sz="2400" b="1">
                <a:latin typeface="Times New Roman" panose="02020603050405020304" pitchFamily="18" charset="0"/>
              </a:rPr>
              <a:t>）</a:t>
            </a:r>
            <a:endParaRPr kumimoji="1" lang="zh-CN" altLang="en-US" sz="2400" b="1">
              <a:latin typeface="Times New Roman" panose="02020603050405020304" pitchFamily="18" charset="0"/>
            </a:endParaRPr>
          </a:p>
        </p:txBody>
      </p:sp>
      <p:sp>
        <p:nvSpPr>
          <p:cNvPr id="77828" name="Rectangle 7">
            <a:extLst>
              <a:ext uri="{FF2B5EF4-FFF2-40B4-BE49-F238E27FC236}">
                <a16:creationId xmlns:a16="http://schemas.microsoft.com/office/drawing/2014/main" id="{80A5E75E-F95A-4010-94BD-D5CFE18BA2B5}"/>
              </a:ext>
            </a:extLst>
          </p:cNvPr>
          <p:cNvSpPr>
            <a:spLocks noChangeArrowheads="1"/>
          </p:cNvSpPr>
          <p:nvPr/>
        </p:nvSpPr>
        <p:spPr bwMode="auto">
          <a:xfrm>
            <a:off x="381000" y="27686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77829" name="Object 6">
            <a:extLst>
              <a:ext uri="{FF2B5EF4-FFF2-40B4-BE49-F238E27FC236}">
                <a16:creationId xmlns:a16="http://schemas.microsoft.com/office/drawing/2014/main" id="{7A867ECA-29CB-4505-B2AA-692D4EFB77D3}"/>
              </a:ext>
            </a:extLst>
          </p:cNvPr>
          <p:cNvGraphicFramePr>
            <a:graphicFrameLocks noChangeAspect="1"/>
          </p:cNvGraphicFramePr>
          <p:nvPr/>
        </p:nvGraphicFramePr>
        <p:xfrm>
          <a:off x="1143000" y="1811338"/>
          <a:ext cx="7924800" cy="3370262"/>
        </p:xfrm>
        <a:graphic>
          <a:graphicData uri="http://schemas.openxmlformats.org/presentationml/2006/ole">
            <mc:AlternateContent xmlns:mc="http://schemas.openxmlformats.org/markup-compatibility/2006">
              <mc:Choice xmlns:v="urn:schemas-microsoft-com:vml" Requires="v">
                <p:oleObj spid="_x0000_s77847" name="公式" r:id="rId3" imgW="4787900" imgH="2032000" progId="Equation.3">
                  <p:embed/>
                </p:oleObj>
              </mc:Choice>
              <mc:Fallback>
                <p:oleObj name="公式" r:id="rId3" imgW="4787900" imgH="203200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811338"/>
                        <a:ext cx="7924800" cy="337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7830" name="Text Box 8">
            <a:extLst>
              <a:ext uri="{FF2B5EF4-FFF2-40B4-BE49-F238E27FC236}">
                <a16:creationId xmlns:a16="http://schemas.microsoft.com/office/drawing/2014/main" id="{3655FA3E-4D4C-4598-85B2-69F8B96E0E30}"/>
              </a:ext>
            </a:extLst>
          </p:cNvPr>
          <p:cNvSpPr txBox="1">
            <a:spLocks noChangeArrowheads="1"/>
          </p:cNvSpPr>
          <p:nvPr/>
        </p:nvSpPr>
        <p:spPr bwMode="auto">
          <a:xfrm>
            <a:off x="1143000" y="1277938"/>
            <a:ext cx="7391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x</a:t>
            </a:r>
            <a:r>
              <a:rPr lang="en-US" altLang="zh-CN" sz="2400" baseline="-25000">
                <a:latin typeface="Times New Roman" panose="02020603050405020304" pitchFamily="18" charset="0"/>
              </a:rPr>
              <a:t>11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12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1</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2</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             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1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2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mn</a:t>
            </a:r>
          </a:p>
        </p:txBody>
      </p:sp>
      <p:sp>
        <p:nvSpPr>
          <p:cNvPr id="77831" name="Text Box 8">
            <a:extLst>
              <a:ext uri="{FF2B5EF4-FFF2-40B4-BE49-F238E27FC236}">
                <a16:creationId xmlns:a16="http://schemas.microsoft.com/office/drawing/2014/main" id="{1B3E9A3A-86EF-4865-9E03-DB29BEA8DCAA}"/>
              </a:ext>
            </a:extLst>
          </p:cNvPr>
          <p:cNvSpPr txBox="1">
            <a:spLocks noChangeArrowheads="1"/>
          </p:cNvSpPr>
          <p:nvPr/>
        </p:nvSpPr>
        <p:spPr bwMode="auto">
          <a:xfrm>
            <a:off x="617538" y="1717675"/>
            <a:ext cx="5715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u</a:t>
            </a:r>
            <a:r>
              <a:rPr lang="en-US" altLang="zh-CN" sz="2400" baseline="-25000">
                <a:latin typeface="Times New Roman" panose="02020603050405020304" pitchFamily="18" charset="0"/>
              </a:rPr>
              <a:t>1  </a:t>
            </a:r>
            <a:r>
              <a:rPr lang="en-US" altLang="zh-CN" sz="2400" i="1">
                <a:latin typeface="Times New Roman" panose="02020603050405020304" pitchFamily="18" charset="0"/>
              </a:rPr>
              <a:t>u</a:t>
            </a:r>
            <a:r>
              <a:rPr lang="en-US" altLang="zh-CN" sz="2400" baseline="-25000">
                <a:latin typeface="Times New Roman" panose="02020603050405020304" pitchFamily="18" charset="0"/>
              </a:rPr>
              <a:t>2  </a:t>
            </a:r>
            <a:r>
              <a:rPr lang="en-US" altLang="zh-CN" sz="2400" i="1">
                <a:latin typeface="Times New Roman" panose="02020603050405020304" pitchFamily="18" charset="0"/>
              </a:rPr>
              <a:t>…  u</a:t>
            </a:r>
            <a:r>
              <a:rPr lang="en-US" altLang="zh-CN" sz="2400" i="1" baseline="-25000">
                <a:latin typeface="Times New Roman" panose="02020603050405020304" pitchFamily="18" charset="0"/>
              </a:rPr>
              <a:t>m    </a:t>
            </a:r>
            <a:r>
              <a:rPr lang="en-US" altLang="zh-CN" sz="2400" i="1">
                <a:latin typeface="Times New Roman" panose="02020603050405020304" pitchFamily="18" charset="0"/>
              </a:rPr>
              <a:t>v</a:t>
            </a:r>
            <a:r>
              <a:rPr lang="en-US" altLang="zh-CN" sz="2400" baseline="-25000">
                <a:latin typeface="Times New Roman" panose="02020603050405020304" pitchFamily="18" charset="0"/>
              </a:rPr>
              <a:t>1  </a:t>
            </a:r>
            <a:r>
              <a:rPr lang="en-US" altLang="zh-CN" sz="2400" i="1">
                <a:latin typeface="Times New Roman" panose="02020603050405020304" pitchFamily="18" charset="0"/>
              </a:rPr>
              <a:t>v</a:t>
            </a:r>
            <a:r>
              <a:rPr lang="en-US" altLang="zh-CN" sz="2400" baseline="-25000">
                <a:latin typeface="Times New Roman" panose="02020603050405020304" pitchFamily="18" charset="0"/>
              </a:rPr>
              <a:t>2  </a:t>
            </a:r>
            <a:r>
              <a:rPr lang="en-US" altLang="zh-CN" sz="2400" i="1">
                <a:latin typeface="Times New Roman" panose="02020603050405020304" pitchFamily="18" charset="0"/>
              </a:rPr>
              <a:t>… v</a:t>
            </a:r>
            <a:r>
              <a:rPr lang="en-US" altLang="zh-CN" sz="2400" i="1" baseline="-25000">
                <a:latin typeface="Times New Roman" panose="02020603050405020304" pitchFamily="18" charset="0"/>
              </a:rPr>
              <a:t>n</a:t>
            </a:r>
          </a:p>
        </p:txBody>
      </p:sp>
      <p:grpSp>
        <p:nvGrpSpPr>
          <p:cNvPr id="3" name="组合 2">
            <a:extLst>
              <a:ext uri="{FF2B5EF4-FFF2-40B4-BE49-F238E27FC236}">
                <a16:creationId xmlns:a16="http://schemas.microsoft.com/office/drawing/2014/main" id="{1FE1BAEC-90EA-453C-ACF0-D2C27504EACF}"/>
              </a:ext>
            </a:extLst>
          </p:cNvPr>
          <p:cNvGrpSpPr>
            <a:grpSpLocks/>
          </p:cNvGrpSpPr>
          <p:nvPr/>
        </p:nvGrpSpPr>
        <p:grpSpPr bwMode="auto">
          <a:xfrm>
            <a:off x="450850" y="720725"/>
            <a:ext cx="5264150" cy="573088"/>
            <a:chOff x="450215" y="721003"/>
            <a:chExt cx="5264785" cy="573602"/>
          </a:xfrm>
        </p:grpSpPr>
        <p:sp>
          <p:nvSpPr>
            <p:cNvPr id="77838" name="矩形 7">
              <a:extLst>
                <a:ext uri="{FF2B5EF4-FFF2-40B4-BE49-F238E27FC236}">
                  <a16:creationId xmlns:a16="http://schemas.microsoft.com/office/drawing/2014/main" id="{800F10E8-6FD5-4E2D-9112-444E0E6BE2C0}"/>
                </a:ext>
              </a:extLst>
            </p:cNvPr>
            <p:cNvSpPr>
              <a:spLocks noChangeArrowheads="1"/>
            </p:cNvSpPr>
            <p:nvPr/>
          </p:nvSpPr>
          <p:spPr bwMode="auto">
            <a:xfrm>
              <a:off x="2362200" y="832940"/>
              <a:ext cx="3352800" cy="46166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i="1">
                  <a:solidFill>
                    <a:srgbClr val="FF00FF"/>
                  </a:solidFill>
                  <a:latin typeface="Times New Roman" panose="02020603050405020304" pitchFamily="18" charset="0"/>
                </a:rPr>
                <a:t>x</a:t>
              </a:r>
              <a:r>
                <a:rPr lang="en-US" altLang="zh-CN" sz="2400" i="1" baseline="-25000">
                  <a:solidFill>
                    <a:srgbClr val="FF00FF"/>
                  </a:solidFill>
                  <a:latin typeface="Times New Roman" panose="02020603050405020304" pitchFamily="18" charset="0"/>
                </a:rPr>
                <a:t>ij</a:t>
              </a:r>
              <a:r>
                <a:rPr lang="en-US" altLang="zh-CN" sz="2400">
                  <a:solidFill>
                    <a:srgbClr val="FF00FF"/>
                  </a:solidFill>
                  <a:latin typeface="Times New Roman" panose="02020603050405020304" pitchFamily="18" charset="0"/>
                </a:rPr>
                <a:t>, </a:t>
              </a:r>
              <a:r>
                <a:rPr lang="en-US" altLang="zh-CN" sz="2400" i="1">
                  <a:solidFill>
                    <a:srgbClr val="FF00FF"/>
                  </a:solidFill>
                  <a:latin typeface="Times New Roman" panose="02020603050405020304" pitchFamily="18" charset="0"/>
                </a:rPr>
                <a:t>i</a:t>
              </a:r>
              <a:r>
                <a:rPr lang="en-US" altLang="zh-CN" sz="2400">
                  <a:solidFill>
                    <a:srgbClr val="FF00FF"/>
                  </a:solidFill>
                  <a:latin typeface="Times New Roman" panose="02020603050405020304" pitchFamily="18" charset="0"/>
                </a:rPr>
                <a:t>=1,2,…,</a:t>
              </a:r>
              <a:r>
                <a:rPr lang="en-US" altLang="zh-CN" sz="2400" i="1">
                  <a:solidFill>
                    <a:srgbClr val="FF00FF"/>
                  </a:solidFill>
                  <a:latin typeface="Times New Roman" panose="02020603050405020304" pitchFamily="18" charset="0"/>
                </a:rPr>
                <a:t>m</a:t>
              </a:r>
              <a:r>
                <a:rPr lang="en-US" altLang="zh-CN" sz="2400">
                  <a:solidFill>
                    <a:srgbClr val="FF00FF"/>
                  </a:solidFill>
                  <a:latin typeface="Times New Roman" panose="02020603050405020304" pitchFamily="18" charset="0"/>
                </a:rPr>
                <a:t>; </a:t>
              </a:r>
              <a:r>
                <a:rPr lang="en-US" altLang="zh-CN" sz="2400" i="1">
                  <a:solidFill>
                    <a:srgbClr val="FF00FF"/>
                  </a:solidFill>
                  <a:latin typeface="Times New Roman" panose="02020603050405020304" pitchFamily="18" charset="0"/>
                </a:rPr>
                <a:t>j</a:t>
              </a:r>
              <a:r>
                <a:rPr lang="en-US" altLang="zh-CN" sz="2400">
                  <a:solidFill>
                    <a:srgbClr val="FF00FF"/>
                  </a:solidFill>
                  <a:latin typeface="Times New Roman" panose="02020603050405020304" pitchFamily="18" charset="0"/>
                </a:rPr>
                <a:t>=1,2,…,</a:t>
              </a:r>
              <a:r>
                <a:rPr lang="en-US" altLang="zh-CN" sz="2400" i="1">
                  <a:solidFill>
                    <a:srgbClr val="FF00FF"/>
                  </a:solidFill>
                  <a:latin typeface="Times New Roman" panose="02020603050405020304" pitchFamily="18" charset="0"/>
                </a:rPr>
                <a:t>n</a:t>
              </a:r>
              <a:endParaRPr lang="zh-CN" altLang="en-US" sz="2400" i="1">
                <a:solidFill>
                  <a:srgbClr val="FF00FF"/>
                </a:solidFill>
              </a:endParaRPr>
            </a:p>
          </p:txBody>
        </p:sp>
        <p:sp>
          <p:nvSpPr>
            <p:cNvPr id="77839" name="Line 3">
              <a:extLst>
                <a:ext uri="{FF2B5EF4-FFF2-40B4-BE49-F238E27FC236}">
                  <a16:creationId xmlns:a16="http://schemas.microsoft.com/office/drawing/2014/main" id="{635A4DE5-B5EA-496A-B93D-EE4505BCC836}"/>
                </a:ext>
              </a:extLst>
            </p:cNvPr>
            <p:cNvSpPr>
              <a:spLocks noChangeShapeType="1"/>
            </p:cNvSpPr>
            <p:nvPr/>
          </p:nvSpPr>
          <p:spPr bwMode="auto">
            <a:xfrm>
              <a:off x="450215" y="1059180"/>
              <a:ext cx="1219199" cy="7620"/>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77840" name="矩形 1">
              <a:extLst>
                <a:ext uri="{FF2B5EF4-FFF2-40B4-BE49-F238E27FC236}">
                  <a16:creationId xmlns:a16="http://schemas.microsoft.com/office/drawing/2014/main" id="{D37875B2-FBBB-4DBE-8097-AC5F3E075CEF}"/>
                </a:ext>
              </a:extLst>
            </p:cNvPr>
            <p:cNvSpPr>
              <a:spLocks noChangeArrowheads="1"/>
            </p:cNvSpPr>
            <p:nvPr/>
          </p:nvSpPr>
          <p:spPr bwMode="auto">
            <a:xfrm>
              <a:off x="617220" y="721003"/>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a:solidFill>
                    <a:srgbClr val="0000FF"/>
                  </a:solidFill>
                  <a:latin typeface="Times New Roman" panose="02020603050405020304" pitchFamily="18" charset="0"/>
                </a:rPr>
                <a:t>原变量</a:t>
              </a:r>
              <a:endParaRPr lang="zh-CN" altLang="en-US">
                <a:solidFill>
                  <a:srgbClr val="0000FF"/>
                </a:solidFill>
              </a:endParaRPr>
            </a:p>
          </p:txBody>
        </p:sp>
      </p:grpSp>
      <p:grpSp>
        <p:nvGrpSpPr>
          <p:cNvPr id="4" name="组合 3">
            <a:extLst>
              <a:ext uri="{FF2B5EF4-FFF2-40B4-BE49-F238E27FC236}">
                <a16:creationId xmlns:a16="http://schemas.microsoft.com/office/drawing/2014/main" id="{8E53D9A5-078B-418E-AE5A-2BE4C26AA8E9}"/>
              </a:ext>
            </a:extLst>
          </p:cNvPr>
          <p:cNvGrpSpPr>
            <a:grpSpLocks/>
          </p:cNvGrpSpPr>
          <p:nvPr/>
        </p:nvGrpSpPr>
        <p:grpSpPr bwMode="auto">
          <a:xfrm>
            <a:off x="69850" y="906463"/>
            <a:ext cx="547688" cy="3267075"/>
            <a:chOff x="69214" y="907197"/>
            <a:chExt cx="548006" cy="3266995"/>
          </a:xfrm>
        </p:grpSpPr>
        <p:sp>
          <p:nvSpPr>
            <p:cNvPr id="77835" name="矩形 9">
              <a:extLst>
                <a:ext uri="{FF2B5EF4-FFF2-40B4-BE49-F238E27FC236}">
                  <a16:creationId xmlns:a16="http://schemas.microsoft.com/office/drawing/2014/main" id="{5F2048E0-28A3-4DD4-A621-12D4EB59EE30}"/>
                </a:ext>
              </a:extLst>
            </p:cNvPr>
            <p:cNvSpPr>
              <a:spLocks noChangeArrowheads="1"/>
            </p:cNvSpPr>
            <p:nvPr/>
          </p:nvSpPr>
          <p:spPr bwMode="auto">
            <a:xfrm>
              <a:off x="198120" y="2235200"/>
              <a:ext cx="419100" cy="193899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i="1">
                  <a:solidFill>
                    <a:srgbClr val="FF00FF"/>
                  </a:solidFill>
                  <a:latin typeface="Times New Roman" panose="02020603050405020304" pitchFamily="18" charset="0"/>
                </a:rPr>
                <a:t>u</a:t>
              </a:r>
              <a:r>
                <a:rPr lang="en-US" altLang="zh-CN" sz="2400" i="1" baseline="-25000">
                  <a:solidFill>
                    <a:srgbClr val="FF00FF"/>
                  </a:solidFill>
                  <a:latin typeface="Times New Roman" panose="02020603050405020304" pitchFamily="18" charset="0"/>
                </a:rPr>
                <a:t>i</a:t>
              </a:r>
            </a:p>
            <a:p>
              <a:pPr eaLnBrk="1" hangingPunct="1"/>
              <a:endParaRPr lang="en-US" altLang="zh-CN" sz="2400" i="1">
                <a:solidFill>
                  <a:srgbClr val="FF00FF"/>
                </a:solidFill>
                <a:latin typeface="Times New Roman" panose="02020603050405020304" pitchFamily="18" charset="0"/>
              </a:endParaRPr>
            </a:p>
            <a:p>
              <a:pPr eaLnBrk="1" hangingPunct="1"/>
              <a:endParaRPr lang="en-US" altLang="zh-CN" sz="2400" i="1">
                <a:solidFill>
                  <a:srgbClr val="FF00FF"/>
                </a:solidFill>
                <a:latin typeface="Times New Roman" panose="02020603050405020304" pitchFamily="18" charset="0"/>
              </a:endParaRPr>
            </a:p>
            <a:p>
              <a:pPr eaLnBrk="1" hangingPunct="1"/>
              <a:endParaRPr lang="en-US" altLang="zh-CN" sz="2400" i="1">
                <a:solidFill>
                  <a:srgbClr val="FF00FF"/>
                </a:solidFill>
                <a:latin typeface="Times New Roman" panose="02020603050405020304" pitchFamily="18" charset="0"/>
              </a:endParaRPr>
            </a:p>
            <a:p>
              <a:pPr eaLnBrk="1" hangingPunct="1"/>
              <a:r>
                <a:rPr lang="en-US" altLang="zh-CN" sz="2400" i="1">
                  <a:solidFill>
                    <a:srgbClr val="FF00FF"/>
                  </a:solidFill>
                  <a:latin typeface="Times New Roman" panose="02020603050405020304" pitchFamily="18" charset="0"/>
                </a:rPr>
                <a:t>v</a:t>
              </a:r>
              <a:r>
                <a:rPr lang="en-US" altLang="zh-CN" sz="2400" i="1" baseline="-25000">
                  <a:solidFill>
                    <a:srgbClr val="FF00FF"/>
                  </a:solidFill>
                  <a:latin typeface="Times New Roman" panose="02020603050405020304" pitchFamily="18" charset="0"/>
                </a:rPr>
                <a:t>j</a:t>
              </a:r>
              <a:endParaRPr lang="zh-CN" altLang="en-US" sz="2400" i="1" baseline="-25000">
                <a:solidFill>
                  <a:srgbClr val="FF00FF"/>
                </a:solidFill>
              </a:endParaRPr>
            </a:p>
          </p:txBody>
        </p:sp>
        <p:sp>
          <p:nvSpPr>
            <p:cNvPr id="77836" name="Line 3">
              <a:extLst>
                <a:ext uri="{FF2B5EF4-FFF2-40B4-BE49-F238E27FC236}">
                  <a16:creationId xmlns:a16="http://schemas.microsoft.com/office/drawing/2014/main" id="{1AD6FFE7-A76C-4D12-9CB8-5FA6A241F7CE}"/>
                </a:ext>
              </a:extLst>
            </p:cNvPr>
            <p:cNvSpPr>
              <a:spLocks noChangeShapeType="1"/>
            </p:cNvSpPr>
            <p:nvPr/>
          </p:nvSpPr>
          <p:spPr bwMode="auto">
            <a:xfrm flipH="1" flipV="1">
              <a:off x="457198" y="1059179"/>
              <a:ext cx="1" cy="1104285"/>
            </a:xfrm>
            <a:prstGeom prst="line">
              <a:avLst/>
            </a:prstGeom>
            <a:noFill/>
            <a:ln w="38100">
              <a:solidFill>
                <a:srgbClr val="0000FF"/>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a:p>
          </p:txBody>
        </p:sp>
        <p:sp>
          <p:nvSpPr>
            <p:cNvPr id="77837" name="矩形 14">
              <a:extLst>
                <a:ext uri="{FF2B5EF4-FFF2-40B4-BE49-F238E27FC236}">
                  <a16:creationId xmlns:a16="http://schemas.microsoft.com/office/drawing/2014/main" id="{E1A059C3-FAA3-43AB-99F2-14D0A259C78C}"/>
                </a:ext>
              </a:extLst>
            </p:cNvPr>
            <p:cNvSpPr>
              <a:spLocks noChangeArrowheads="1"/>
            </p:cNvSpPr>
            <p:nvPr/>
          </p:nvSpPr>
          <p:spPr bwMode="auto">
            <a:xfrm>
              <a:off x="69214" y="907197"/>
              <a:ext cx="381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a:solidFill>
                    <a:srgbClr val="0000FF"/>
                  </a:solidFill>
                  <a:latin typeface="Times New Roman" panose="02020603050405020304" pitchFamily="18" charset="0"/>
                </a:rPr>
                <a:t>对偶变量</a:t>
              </a:r>
              <a:endParaRPr lang="zh-CN" altLang="en-US">
                <a:solidFill>
                  <a:srgbClr val="0000FF"/>
                </a:solidFill>
              </a:endParaRPr>
            </a:p>
          </p:txBody>
        </p:sp>
      </p:grpSp>
      <p:sp>
        <p:nvSpPr>
          <p:cNvPr id="19" name="Rectangle 5">
            <a:extLst>
              <a:ext uri="{FF2B5EF4-FFF2-40B4-BE49-F238E27FC236}">
                <a16:creationId xmlns:a16="http://schemas.microsoft.com/office/drawing/2014/main" id="{3B78574F-EBBB-47BB-912F-8CDC6AEB77F3}"/>
              </a:ext>
            </a:extLst>
          </p:cNvPr>
          <p:cNvSpPr>
            <a:spLocks noChangeArrowheads="1"/>
          </p:cNvSpPr>
          <p:nvPr/>
        </p:nvSpPr>
        <p:spPr bwMode="auto">
          <a:xfrm>
            <a:off x="1495425" y="2700338"/>
            <a:ext cx="6581775" cy="957262"/>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kumimoji="1" lang="zh-CN" altLang="en-US" sz="2000" b="1">
                <a:latin typeface="Times New Roman" panose="02020603050405020304" pitchFamily="18" charset="0"/>
              </a:rPr>
              <a:t>系数矩阵中对应 </a:t>
            </a:r>
            <a:r>
              <a:rPr lang="en-US" altLang="zh-CN" sz="2000" i="1">
                <a:latin typeface="Times New Roman" panose="02020603050405020304" pitchFamily="18" charset="0"/>
              </a:rPr>
              <a:t>x</a:t>
            </a:r>
            <a:r>
              <a:rPr lang="en-US" altLang="zh-CN" sz="2000" i="1" baseline="-25000">
                <a:latin typeface="Times New Roman" panose="02020603050405020304" pitchFamily="18" charset="0"/>
              </a:rPr>
              <a:t>ij</a:t>
            </a:r>
            <a:r>
              <a:rPr lang="en-US" altLang="zh-CN" sz="2000" baseline="-25000">
                <a:latin typeface="Times New Roman" panose="02020603050405020304" pitchFamily="18" charset="0"/>
              </a:rPr>
              <a:t> </a:t>
            </a:r>
            <a:r>
              <a:rPr lang="en-US" altLang="zh-CN" sz="2000">
                <a:latin typeface="Times New Roman" panose="02020603050405020304" pitchFamily="18" charset="0"/>
              </a:rPr>
              <a:t> </a:t>
            </a:r>
            <a:r>
              <a:rPr lang="zh-CN" altLang="en-US" sz="2000">
                <a:latin typeface="Times New Roman" panose="02020603050405020304" pitchFamily="18" charset="0"/>
              </a:rPr>
              <a:t>的系数向量</a:t>
            </a:r>
            <a:r>
              <a:rPr lang="en-US" altLang="zh-CN" sz="2000">
                <a:latin typeface="Times New Roman" panose="02020603050405020304" pitchFamily="18" charset="0"/>
              </a:rPr>
              <a:t>P</a:t>
            </a:r>
            <a:r>
              <a:rPr lang="en-US" altLang="zh-CN" sz="2000" i="1" baseline="-25000">
                <a:latin typeface="Times New Roman" panose="02020603050405020304" pitchFamily="18" charset="0"/>
              </a:rPr>
              <a:t>ij</a:t>
            </a:r>
            <a:r>
              <a:rPr lang="en-US" altLang="zh-CN" sz="2000" i="1">
                <a:latin typeface="Times New Roman" panose="02020603050405020304" pitchFamily="18" charset="0"/>
              </a:rPr>
              <a:t> </a:t>
            </a:r>
            <a:r>
              <a:rPr lang="en-US" altLang="zh-CN" sz="2000">
                <a:latin typeface="Times New Roman" panose="02020603050405020304" pitchFamily="18" charset="0"/>
              </a:rPr>
              <a:t>= (0</a:t>
            </a:r>
            <a:r>
              <a:rPr lang="en-US" altLang="zh-CN" sz="2000" i="1">
                <a:latin typeface="Times New Roman" panose="02020603050405020304" pitchFamily="18" charset="0"/>
              </a:rPr>
              <a:t> </a:t>
            </a:r>
            <a:r>
              <a:rPr lang="en-US" altLang="zh-CN" sz="2000">
                <a:latin typeface="Times New Roman" panose="02020603050405020304" pitchFamily="18" charset="0"/>
              </a:rPr>
              <a:t>…1…...0….1……)</a:t>
            </a:r>
            <a:r>
              <a:rPr lang="en-US" altLang="zh-CN" sz="2000" baseline="30000">
                <a:latin typeface="Times New Roman" panose="02020603050405020304" pitchFamily="18" charset="0"/>
              </a:rPr>
              <a:t>T</a:t>
            </a:r>
            <a:r>
              <a:rPr lang="en-US" altLang="zh-CN" sz="2000">
                <a:latin typeface="Times New Roman" panose="02020603050405020304" pitchFamily="18" charset="0"/>
              </a:rPr>
              <a:t> =e</a:t>
            </a:r>
            <a:r>
              <a:rPr lang="en-US" altLang="zh-CN" sz="2000" i="1" baseline="-25000">
                <a:latin typeface="Times New Roman" panose="02020603050405020304" pitchFamily="18" charset="0"/>
              </a:rPr>
              <a:t>i</a:t>
            </a:r>
            <a:r>
              <a:rPr lang="en-US" altLang="zh-CN" sz="2000">
                <a:latin typeface="Times New Roman" panose="02020603050405020304" pitchFamily="18" charset="0"/>
              </a:rPr>
              <a:t>+e</a:t>
            </a:r>
            <a:r>
              <a:rPr lang="en-US" altLang="zh-CN" sz="2000" i="1" baseline="-25000">
                <a:latin typeface="Times New Roman" panose="02020603050405020304" pitchFamily="18" charset="0"/>
              </a:rPr>
              <a:t>m+j</a:t>
            </a:r>
            <a:r>
              <a:rPr kumimoji="1" lang="zh-CN" altLang="en-US" sz="2000" b="1">
                <a:latin typeface="Times New Roman" panose="02020603050405020304" pitchFamily="18" charset="0"/>
              </a:rPr>
              <a:t>。</a:t>
            </a:r>
            <a:r>
              <a:rPr kumimoji="1" lang="en-US" altLang="zh-CN" sz="2000" b="1">
                <a:latin typeface="Times New Roman" panose="02020603050405020304" pitchFamily="18" charset="0"/>
              </a:rPr>
              <a:t>(</a:t>
            </a:r>
            <a:r>
              <a:rPr kumimoji="1" lang="zh-CN" altLang="en-US" sz="2000" b="1">
                <a:latin typeface="Times New Roman" panose="02020603050405020304" pitchFamily="18" charset="0"/>
              </a:rPr>
              <a:t>除了第</a:t>
            </a:r>
            <a:r>
              <a:rPr kumimoji="1" lang="en-US" altLang="zh-CN" sz="2000" b="1" i="1">
                <a:latin typeface="Times New Roman" panose="02020603050405020304" pitchFamily="18" charset="0"/>
              </a:rPr>
              <a:t>i</a:t>
            </a:r>
            <a:r>
              <a:rPr kumimoji="1" lang="zh-CN" altLang="en-US" sz="2000" b="1">
                <a:latin typeface="Times New Roman" panose="02020603050405020304" pitchFamily="18" charset="0"/>
              </a:rPr>
              <a:t>和第</a:t>
            </a:r>
            <a:r>
              <a:rPr kumimoji="1" lang="en-US" altLang="zh-CN" sz="2000" b="1" i="1">
                <a:latin typeface="Times New Roman" panose="02020603050405020304" pitchFamily="18" charset="0"/>
              </a:rPr>
              <a:t>m</a:t>
            </a:r>
            <a:r>
              <a:rPr kumimoji="1" lang="en-US" altLang="zh-CN" sz="2000" b="1">
                <a:latin typeface="Times New Roman" panose="02020603050405020304" pitchFamily="18" charset="0"/>
              </a:rPr>
              <a:t>+</a:t>
            </a:r>
            <a:r>
              <a:rPr kumimoji="1" lang="en-US" altLang="zh-CN" sz="2000" b="1" i="1">
                <a:latin typeface="Times New Roman" panose="02020603050405020304" pitchFamily="18" charset="0"/>
              </a:rPr>
              <a:t>j</a:t>
            </a:r>
            <a:r>
              <a:rPr kumimoji="1" lang="en-US" altLang="zh-CN" sz="2000" b="1">
                <a:latin typeface="Times New Roman" panose="02020603050405020304" pitchFamily="18" charset="0"/>
              </a:rPr>
              <a:t> </a:t>
            </a:r>
            <a:r>
              <a:rPr kumimoji="1" lang="zh-CN" altLang="en-US" sz="2000" b="1">
                <a:latin typeface="Times New Roman" panose="02020603050405020304" pitchFamily="18" charset="0"/>
              </a:rPr>
              <a:t>个为</a:t>
            </a:r>
            <a:r>
              <a:rPr kumimoji="1" lang="en-US" altLang="zh-CN" sz="2000" b="1">
                <a:latin typeface="Times New Roman" panose="02020603050405020304" pitchFamily="18" charset="0"/>
              </a:rPr>
              <a:t>1, </a:t>
            </a:r>
            <a:r>
              <a:rPr kumimoji="1" lang="zh-CN" altLang="en-US" sz="2000" b="1">
                <a:latin typeface="Times New Roman" panose="02020603050405020304" pitchFamily="18" charset="0"/>
              </a:rPr>
              <a:t>其余的都为</a:t>
            </a:r>
            <a:r>
              <a:rPr kumimoji="1" lang="en-US" altLang="zh-CN" sz="2000" b="1">
                <a:latin typeface="Times New Roman" panose="02020603050405020304" pitchFamily="18" charset="0"/>
              </a:rPr>
              <a:t>0)</a:t>
            </a:r>
            <a:endParaRPr kumimoji="1" lang="zh-CN" altLang="en-US" sz="20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19"/>
                                        </p:tgtEl>
                                        <p:attrNameLst>
                                          <p:attrName>style.visibility</p:attrName>
                                        </p:attrNameLst>
                                      </p:cBhvr>
                                      <p:to>
                                        <p:strVal val="hidden"/>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53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49" grpId="0"/>
      <p:bldP spid="19" grpId="0" animBg="1"/>
      <p:bldP spid="19" grpId="1"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a:extLst>
              <a:ext uri="{FF2B5EF4-FFF2-40B4-BE49-F238E27FC236}">
                <a16:creationId xmlns:a16="http://schemas.microsoft.com/office/drawing/2014/main" id="{19B84221-8E59-411A-8C7B-488FBC0E9784}"/>
              </a:ext>
            </a:extLst>
          </p:cNvPr>
          <p:cNvSpPr>
            <a:spLocks noGrp="1" noChangeArrowheads="1"/>
          </p:cNvSpPr>
          <p:nvPr>
            <p:ph type="title"/>
          </p:nvPr>
        </p:nvSpPr>
        <p:spPr/>
        <p:txBody>
          <a:bodyPr/>
          <a:lstStyle/>
          <a:p>
            <a:pPr eaLnBrk="1" hangingPunct="1"/>
            <a:r>
              <a:rPr lang="zh-CN" altLang="en-US"/>
              <a:t>位势法</a:t>
            </a:r>
            <a:r>
              <a:rPr lang="en-US" altLang="zh-CN"/>
              <a:t>(</a:t>
            </a:r>
            <a:r>
              <a:rPr lang="zh-CN" altLang="en-US"/>
              <a:t>对偶变量法</a:t>
            </a:r>
            <a:r>
              <a:rPr lang="en-US" altLang="zh-CN"/>
              <a:t>)</a:t>
            </a:r>
            <a:endParaRPr lang="zh-CN" altLang="en-US"/>
          </a:p>
        </p:txBody>
      </p:sp>
      <p:sp>
        <p:nvSpPr>
          <p:cNvPr id="166915" name="Rectangle 3">
            <a:extLst>
              <a:ext uri="{FF2B5EF4-FFF2-40B4-BE49-F238E27FC236}">
                <a16:creationId xmlns:a16="http://schemas.microsoft.com/office/drawing/2014/main" id="{F818EA8F-37AF-4A65-A384-859A5C570918}"/>
              </a:ext>
            </a:extLst>
          </p:cNvPr>
          <p:cNvSpPr>
            <a:spLocks noGrp="1" noChangeArrowheads="1"/>
          </p:cNvSpPr>
          <p:nvPr>
            <p:ph type="body" idx="1"/>
          </p:nvPr>
        </p:nvSpPr>
        <p:spPr>
          <a:xfrm>
            <a:off x="304800" y="1066800"/>
            <a:ext cx="8458200" cy="5410200"/>
          </a:xfrm>
        </p:spPr>
        <p:txBody>
          <a:bodyPr/>
          <a:lstStyle/>
          <a:p>
            <a:pPr eaLnBrk="1" hangingPunct="1">
              <a:lnSpc>
                <a:spcPct val="123000"/>
              </a:lnSpc>
              <a:spcAft>
                <a:spcPts val="600"/>
              </a:spcAft>
            </a:pPr>
            <a:r>
              <a:rPr lang="zh-CN" altLang="en-US">
                <a:latin typeface="Times New Roman" panose="02020603050405020304" pitchFamily="18" charset="0"/>
              </a:rPr>
              <a:t>设</a:t>
            </a:r>
            <a:r>
              <a:rPr lang="en-US" altLang="zh-CN" i="1">
                <a:latin typeface="Times New Roman" panose="02020603050405020304" pitchFamily="18" charset="0"/>
              </a:rPr>
              <a:t>u</a:t>
            </a:r>
            <a:r>
              <a:rPr lang="en-US" altLang="zh-CN" baseline="-25000">
                <a:latin typeface="Times New Roman" panose="02020603050405020304" pitchFamily="18" charset="0"/>
              </a:rPr>
              <a:t>1</a:t>
            </a:r>
            <a:r>
              <a:rPr lang="en-US" altLang="zh-CN">
                <a:latin typeface="Times New Roman" panose="02020603050405020304" pitchFamily="18" charset="0"/>
              </a:rPr>
              <a:t>,</a:t>
            </a:r>
            <a:r>
              <a:rPr lang="en-US" altLang="zh-CN" i="1">
                <a:latin typeface="Times New Roman" panose="02020603050405020304" pitchFamily="18" charset="0"/>
              </a:rPr>
              <a:t>u</a:t>
            </a:r>
            <a:r>
              <a:rPr lang="en-US" altLang="zh-CN" baseline="-25000">
                <a:latin typeface="Times New Roman" panose="02020603050405020304" pitchFamily="18" charset="0"/>
              </a:rPr>
              <a:t>2</a:t>
            </a:r>
            <a:r>
              <a:rPr lang="en-US" altLang="zh-CN">
                <a:latin typeface="Times New Roman" panose="02020603050405020304" pitchFamily="18" charset="0"/>
              </a:rPr>
              <a:t>…</a:t>
            </a:r>
            <a:r>
              <a:rPr lang="en-US" altLang="zh-CN" i="1">
                <a:latin typeface="Times New Roman" panose="02020603050405020304" pitchFamily="18" charset="0"/>
              </a:rPr>
              <a:t>u</a:t>
            </a:r>
            <a:r>
              <a:rPr lang="en-US" altLang="zh-CN" i="1" baseline="-25000">
                <a:latin typeface="Times New Roman" panose="02020603050405020304" pitchFamily="18" charset="0"/>
              </a:rPr>
              <a:t>m</a:t>
            </a:r>
            <a:r>
              <a:rPr lang="en-US" altLang="zh-CN">
                <a:latin typeface="Times New Roman" panose="02020603050405020304" pitchFamily="18" charset="0"/>
              </a:rPr>
              <a:t>; </a:t>
            </a:r>
            <a:r>
              <a:rPr lang="en-US" altLang="zh-CN" i="1">
                <a:latin typeface="Times New Roman" panose="02020603050405020304" pitchFamily="18" charset="0"/>
              </a:rPr>
              <a:t>v</a:t>
            </a:r>
            <a:r>
              <a:rPr lang="en-US" altLang="zh-CN" baseline="-25000">
                <a:latin typeface="Times New Roman" panose="02020603050405020304" pitchFamily="18" charset="0"/>
              </a:rPr>
              <a:t>1</a:t>
            </a:r>
            <a:r>
              <a:rPr lang="en-US" altLang="zh-CN">
                <a:latin typeface="Times New Roman" panose="02020603050405020304" pitchFamily="18" charset="0"/>
              </a:rPr>
              <a:t>,</a:t>
            </a:r>
            <a:r>
              <a:rPr lang="en-US" altLang="zh-CN" i="1">
                <a:latin typeface="Times New Roman" panose="02020603050405020304" pitchFamily="18" charset="0"/>
              </a:rPr>
              <a:t>v</a:t>
            </a:r>
            <a:r>
              <a:rPr lang="en-US" altLang="zh-CN" baseline="-25000">
                <a:latin typeface="Times New Roman" panose="02020603050405020304" pitchFamily="18" charset="0"/>
              </a:rPr>
              <a:t>2</a:t>
            </a:r>
            <a:r>
              <a:rPr lang="en-US" altLang="zh-CN">
                <a:latin typeface="Times New Roman" panose="02020603050405020304" pitchFamily="18" charset="0"/>
              </a:rPr>
              <a:t>,…</a:t>
            </a:r>
            <a:r>
              <a:rPr lang="en-US" altLang="zh-CN" i="1">
                <a:latin typeface="Times New Roman" panose="02020603050405020304" pitchFamily="18" charset="0"/>
              </a:rPr>
              <a:t>v</a:t>
            </a:r>
            <a:r>
              <a:rPr lang="en-US" altLang="zh-CN" i="1" baseline="-25000">
                <a:latin typeface="Times New Roman" panose="02020603050405020304" pitchFamily="18" charset="0"/>
              </a:rPr>
              <a:t>n</a:t>
            </a:r>
            <a:r>
              <a:rPr lang="en-US" altLang="zh-CN">
                <a:latin typeface="Times New Roman" panose="02020603050405020304" pitchFamily="18" charset="0"/>
              </a:rPr>
              <a:t> </a:t>
            </a:r>
            <a:r>
              <a:rPr lang="zh-CN" altLang="en-US">
                <a:latin typeface="Times New Roman" panose="02020603050405020304" pitchFamily="18" charset="0"/>
              </a:rPr>
              <a:t>是运输问题的 </a:t>
            </a:r>
            <a:r>
              <a:rPr lang="en-US" altLang="zh-CN" i="1">
                <a:latin typeface="Times New Roman" panose="02020603050405020304" pitchFamily="18" charset="0"/>
              </a:rPr>
              <a:t>m</a:t>
            </a:r>
            <a:r>
              <a:rPr lang="en-US" altLang="zh-CN">
                <a:latin typeface="Times New Roman" panose="02020603050405020304" pitchFamily="18" charset="0"/>
              </a:rPr>
              <a:t>+</a:t>
            </a:r>
            <a:r>
              <a:rPr lang="en-US" altLang="zh-CN" i="1">
                <a:latin typeface="Times New Roman" panose="02020603050405020304" pitchFamily="18" charset="0"/>
              </a:rPr>
              <a:t>n</a:t>
            </a:r>
            <a:r>
              <a:rPr lang="zh-CN" altLang="en-US">
                <a:latin typeface="Times New Roman" panose="02020603050405020304" pitchFamily="18" charset="0"/>
              </a:rPr>
              <a:t>个约束条件的对偶变量</a:t>
            </a:r>
            <a:br>
              <a:rPr lang="zh-CN" altLang="en-US">
                <a:latin typeface="Times New Roman" panose="02020603050405020304" pitchFamily="18" charset="0"/>
              </a:rPr>
            </a:br>
            <a:r>
              <a:rPr lang="zh-CN" altLang="en-US">
                <a:latin typeface="Times New Roman" panose="02020603050405020304" pitchFamily="18" charset="0"/>
              </a:rPr>
              <a:t>    </a:t>
            </a:r>
            <a:r>
              <a:rPr lang="en-US" altLang="zh-CN" b="0">
                <a:latin typeface="Times New Roman" panose="02020603050405020304" pitchFamily="18" charset="0"/>
              </a:rPr>
              <a:t>Y</a:t>
            </a:r>
            <a:r>
              <a:rPr lang="en-US" altLang="zh-CN" b="0" baseline="30000">
                <a:latin typeface="Times New Roman" panose="02020603050405020304" pitchFamily="18" charset="0"/>
              </a:rPr>
              <a:t> </a:t>
            </a:r>
            <a:r>
              <a:rPr lang="en-US" altLang="zh-CN">
                <a:latin typeface="Times New Roman" panose="02020603050405020304" pitchFamily="18" charset="0"/>
              </a:rPr>
              <a:t>=( </a:t>
            </a:r>
            <a:r>
              <a:rPr lang="en-US" altLang="zh-CN" i="1">
                <a:latin typeface="Times New Roman" panose="02020603050405020304" pitchFamily="18" charset="0"/>
              </a:rPr>
              <a:t>u</a:t>
            </a:r>
            <a:r>
              <a:rPr lang="en-US" altLang="zh-CN" baseline="-25000">
                <a:latin typeface="Times New Roman" panose="02020603050405020304" pitchFamily="18" charset="0"/>
              </a:rPr>
              <a:t>1</a:t>
            </a:r>
            <a:r>
              <a:rPr lang="en-US" altLang="zh-CN">
                <a:latin typeface="Times New Roman" panose="02020603050405020304" pitchFamily="18" charset="0"/>
              </a:rPr>
              <a:t>,</a:t>
            </a:r>
            <a:r>
              <a:rPr lang="en-US" altLang="zh-CN" i="1">
                <a:latin typeface="Times New Roman" panose="02020603050405020304" pitchFamily="18" charset="0"/>
              </a:rPr>
              <a:t>u</a:t>
            </a:r>
            <a:r>
              <a:rPr lang="en-US" altLang="zh-CN" baseline="-25000">
                <a:latin typeface="Times New Roman" panose="02020603050405020304" pitchFamily="18" charset="0"/>
              </a:rPr>
              <a:t>2</a:t>
            </a:r>
            <a:r>
              <a:rPr lang="en-US" altLang="zh-CN">
                <a:latin typeface="Times New Roman" panose="02020603050405020304" pitchFamily="18" charset="0"/>
              </a:rPr>
              <a:t>…</a:t>
            </a:r>
            <a:r>
              <a:rPr lang="en-US" altLang="zh-CN" i="1">
                <a:latin typeface="Times New Roman" panose="02020603050405020304" pitchFamily="18" charset="0"/>
              </a:rPr>
              <a:t>u</a:t>
            </a:r>
            <a:r>
              <a:rPr lang="en-US" altLang="zh-CN" i="1" baseline="-25000">
                <a:latin typeface="Times New Roman" panose="02020603050405020304" pitchFamily="18" charset="0"/>
              </a:rPr>
              <a:t>m</a:t>
            </a:r>
            <a:r>
              <a:rPr lang="en-US" altLang="zh-CN">
                <a:latin typeface="Times New Roman" panose="02020603050405020304" pitchFamily="18" charset="0"/>
              </a:rPr>
              <a:t>; </a:t>
            </a:r>
            <a:r>
              <a:rPr lang="en-US" altLang="zh-CN" i="1">
                <a:latin typeface="Times New Roman" panose="02020603050405020304" pitchFamily="18" charset="0"/>
              </a:rPr>
              <a:t>v</a:t>
            </a:r>
            <a:r>
              <a:rPr lang="en-US" altLang="zh-CN" baseline="-25000">
                <a:latin typeface="Times New Roman" panose="02020603050405020304" pitchFamily="18" charset="0"/>
              </a:rPr>
              <a:t>1</a:t>
            </a:r>
            <a:r>
              <a:rPr lang="en-US" altLang="zh-CN">
                <a:latin typeface="Times New Roman" panose="02020603050405020304" pitchFamily="18" charset="0"/>
              </a:rPr>
              <a:t>,</a:t>
            </a:r>
            <a:r>
              <a:rPr lang="en-US" altLang="zh-CN" i="1">
                <a:latin typeface="Times New Roman" panose="02020603050405020304" pitchFamily="18" charset="0"/>
              </a:rPr>
              <a:t>v</a:t>
            </a:r>
            <a:r>
              <a:rPr lang="en-US" altLang="zh-CN" baseline="-25000">
                <a:latin typeface="Times New Roman" panose="02020603050405020304" pitchFamily="18" charset="0"/>
              </a:rPr>
              <a:t>2</a:t>
            </a:r>
            <a:r>
              <a:rPr lang="en-US" altLang="zh-CN">
                <a:latin typeface="Times New Roman" panose="02020603050405020304" pitchFamily="18" charset="0"/>
              </a:rPr>
              <a:t>,…</a:t>
            </a:r>
            <a:r>
              <a:rPr lang="en-US" altLang="zh-CN" i="1">
                <a:latin typeface="Times New Roman" panose="02020603050405020304" pitchFamily="18" charset="0"/>
              </a:rPr>
              <a:t>v</a:t>
            </a:r>
            <a:r>
              <a:rPr lang="en-US" altLang="zh-CN" i="1" baseline="-25000">
                <a:latin typeface="Times New Roman" panose="02020603050405020304" pitchFamily="18" charset="0"/>
              </a:rPr>
              <a:t>n</a:t>
            </a:r>
            <a:r>
              <a:rPr lang="en-US" altLang="zh-CN" baseline="-25000">
                <a:latin typeface="Times New Roman" panose="02020603050405020304" pitchFamily="18" charset="0"/>
              </a:rPr>
              <a:t> </a:t>
            </a:r>
            <a:r>
              <a:rPr lang="en-US" altLang="zh-CN">
                <a:latin typeface="Times New Roman" panose="02020603050405020304" pitchFamily="18" charset="0"/>
              </a:rPr>
              <a:t>)=</a:t>
            </a:r>
            <a:r>
              <a:rPr lang="en-US" altLang="zh-CN" b="0">
                <a:latin typeface="Times New Roman" panose="02020603050405020304" pitchFamily="18" charset="0"/>
              </a:rPr>
              <a:t>C</a:t>
            </a:r>
            <a:r>
              <a:rPr lang="en-US" altLang="zh-CN" b="0" i="1" baseline="-25000">
                <a:latin typeface="Times New Roman" panose="02020603050405020304" pitchFamily="18" charset="0"/>
              </a:rPr>
              <a:t>B</a:t>
            </a:r>
            <a:r>
              <a:rPr lang="en-US" altLang="zh-CN" b="0">
                <a:latin typeface="Times New Roman" panose="02020603050405020304" pitchFamily="18" charset="0"/>
              </a:rPr>
              <a:t>B</a:t>
            </a:r>
            <a:r>
              <a:rPr lang="en-US" altLang="zh-CN" b="0" baseline="30000">
                <a:latin typeface="Times New Roman" panose="02020603050405020304" pitchFamily="18" charset="0"/>
              </a:rPr>
              <a:t>-1</a:t>
            </a:r>
            <a:endParaRPr lang="en-US" altLang="zh-CN">
              <a:latin typeface="Times New Roman" panose="02020603050405020304" pitchFamily="18" charset="0"/>
            </a:endParaRPr>
          </a:p>
          <a:p>
            <a:pPr eaLnBrk="1" hangingPunct="1">
              <a:lnSpc>
                <a:spcPct val="123000"/>
              </a:lnSpc>
              <a:spcAft>
                <a:spcPts val="600"/>
              </a:spcAft>
            </a:pPr>
            <a:r>
              <a:rPr lang="zh-CN" altLang="en-US">
                <a:latin typeface="Times New Roman" panose="02020603050405020304" pitchFamily="18" charset="0"/>
              </a:rPr>
              <a:t>线性规划问题的 </a:t>
            </a:r>
            <a:r>
              <a:rPr lang="en-US" altLang="zh-CN" i="1">
                <a:latin typeface="Times New Roman" panose="02020603050405020304" pitchFamily="18" charset="0"/>
              </a:rPr>
              <a:t>x</a:t>
            </a:r>
            <a:r>
              <a:rPr lang="en-US" altLang="zh-CN" i="1" baseline="-25000">
                <a:latin typeface="Times New Roman" panose="02020603050405020304" pitchFamily="18" charset="0"/>
              </a:rPr>
              <a:t>ij </a:t>
            </a:r>
            <a:r>
              <a:rPr lang="zh-CN" altLang="en-US">
                <a:latin typeface="Times New Roman" panose="02020603050405020304" pitchFamily="18" charset="0"/>
              </a:rPr>
              <a:t>的检验数</a:t>
            </a:r>
            <a:r>
              <a:rPr lang="en-US" altLang="zh-CN">
                <a:latin typeface="Times New Roman" panose="02020603050405020304" pitchFamily="18" charset="0"/>
              </a:rPr>
              <a:t>:</a:t>
            </a:r>
            <a:br>
              <a:rPr lang="zh-CN" altLang="en-US">
                <a:latin typeface="Times New Roman" panose="02020603050405020304" pitchFamily="18" charset="0"/>
              </a:rPr>
            </a:br>
            <a:r>
              <a:rPr lang="zh-CN" altLang="en-US">
                <a:latin typeface="Times New Roman" panose="02020603050405020304" pitchFamily="18" charset="0"/>
                <a:sym typeface="Symbol" panose="05050102010706020507" pitchFamily="18" charset="2"/>
              </a:rPr>
              <a:t></a:t>
            </a:r>
            <a:r>
              <a:rPr lang="en-US" altLang="zh-CN" i="1" baseline="-25000">
                <a:latin typeface="Times New Roman" panose="02020603050405020304" pitchFamily="18" charset="0"/>
                <a:sym typeface="Symbol" panose="05050102010706020507" pitchFamily="18" charset="2"/>
              </a:rPr>
              <a:t>ij </a:t>
            </a:r>
            <a:r>
              <a:rPr lang="en-US" altLang="zh-CN">
                <a:latin typeface="Times New Roman" panose="02020603050405020304" pitchFamily="18" charset="0"/>
                <a:sym typeface="Symbol" panose="05050102010706020507" pitchFamily="18" charset="2"/>
              </a:rPr>
              <a:t>= </a:t>
            </a:r>
            <a:r>
              <a:rPr lang="en-US" altLang="zh-CN" i="1">
                <a:latin typeface="Times New Roman" panose="02020603050405020304" pitchFamily="18" charset="0"/>
                <a:sym typeface="Symbol" panose="05050102010706020507" pitchFamily="18" charset="2"/>
              </a:rPr>
              <a:t>c</a:t>
            </a:r>
            <a:r>
              <a:rPr lang="en-US" altLang="zh-CN" i="1" baseline="-25000">
                <a:latin typeface="Times New Roman" panose="02020603050405020304" pitchFamily="18" charset="0"/>
                <a:sym typeface="Symbol" panose="05050102010706020507" pitchFamily="18" charset="2"/>
              </a:rPr>
              <a:t>ij </a:t>
            </a:r>
            <a:r>
              <a:rPr lang="en-US" altLang="zh-CN">
                <a:latin typeface="Times New Roman" panose="02020603050405020304" pitchFamily="18" charset="0"/>
                <a:sym typeface="Symbol" panose="05050102010706020507" pitchFamily="18" charset="2"/>
              </a:rPr>
              <a:t>-</a:t>
            </a:r>
            <a:r>
              <a:rPr lang="en-US" altLang="zh-CN" b="0">
                <a:latin typeface="Times New Roman" panose="02020603050405020304" pitchFamily="18" charset="0"/>
              </a:rPr>
              <a:t>C</a:t>
            </a:r>
            <a:r>
              <a:rPr lang="en-US" altLang="zh-CN" b="0" i="1" baseline="-25000">
                <a:latin typeface="Times New Roman" panose="02020603050405020304" pitchFamily="18" charset="0"/>
              </a:rPr>
              <a:t>B</a:t>
            </a:r>
            <a:r>
              <a:rPr lang="en-US" altLang="zh-CN" b="0">
                <a:latin typeface="Times New Roman" panose="02020603050405020304" pitchFamily="18" charset="0"/>
              </a:rPr>
              <a:t>B</a:t>
            </a:r>
            <a:r>
              <a:rPr lang="en-US" altLang="zh-CN" b="0" baseline="30000">
                <a:latin typeface="Times New Roman" panose="02020603050405020304" pitchFamily="18" charset="0"/>
              </a:rPr>
              <a:t>-1</a:t>
            </a:r>
            <a:r>
              <a:rPr lang="en-US" altLang="zh-CN">
                <a:latin typeface="Times New Roman" panose="02020603050405020304" pitchFamily="18" charset="0"/>
                <a:sym typeface="Symbol" panose="05050102010706020507" pitchFamily="18" charset="2"/>
              </a:rPr>
              <a:t>P</a:t>
            </a:r>
            <a:r>
              <a:rPr lang="en-US" altLang="zh-CN" i="1" baseline="-25000">
                <a:latin typeface="Times New Roman" panose="02020603050405020304" pitchFamily="18" charset="0"/>
                <a:sym typeface="Symbol" panose="05050102010706020507" pitchFamily="18" charset="2"/>
              </a:rPr>
              <a:t>ij</a:t>
            </a:r>
            <a:r>
              <a:rPr lang="en-US" altLang="zh-CN">
                <a:latin typeface="Times New Roman" panose="02020603050405020304" pitchFamily="18" charset="0"/>
                <a:sym typeface="Symbol" panose="05050102010706020507" pitchFamily="18" charset="2"/>
              </a:rPr>
              <a:t> =</a:t>
            </a:r>
            <a:r>
              <a:rPr lang="en-US" altLang="zh-CN" i="1">
                <a:latin typeface="Times New Roman" panose="02020603050405020304" pitchFamily="18" charset="0"/>
                <a:sym typeface="Symbol" panose="05050102010706020507" pitchFamily="18" charset="2"/>
              </a:rPr>
              <a:t>c</a:t>
            </a:r>
            <a:r>
              <a:rPr lang="en-US" altLang="zh-CN" i="1" baseline="-25000">
                <a:latin typeface="Times New Roman" panose="02020603050405020304" pitchFamily="18" charset="0"/>
                <a:sym typeface="Symbol" panose="05050102010706020507" pitchFamily="18" charset="2"/>
              </a:rPr>
              <a:t>ij </a:t>
            </a:r>
            <a:r>
              <a:rPr lang="en-US" altLang="zh-CN">
                <a:latin typeface="Times New Roman" panose="02020603050405020304" pitchFamily="18" charset="0"/>
                <a:sym typeface="Symbol" panose="05050102010706020507" pitchFamily="18" charset="2"/>
              </a:rPr>
              <a:t>-</a:t>
            </a:r>
            <a:r>
              <a:rPr lang="en-US" altLang="zh-CN" b="0">
                <a:latin typeface="Times New Roman" panose="02020603050405020304" pitchFamily="18" charset="0"/>
                <a:sym typeface="Symbol" panose="05050102010706020507" pitchFamily="18" charset="2"/>
              </a:rPr>
              <a:t>Y</a:t>
            </a:r>
            <a:r>
              <a:rPr lang="en-US" altLang="zh-CN">
                <a:latin typeface="Times New Roman" panose="02020603050405020304" pitchFamily="18" charset="0"/>
                <a:sym typeface="Symbol" panose="05050102010706020507" pitchFamily="18" charset="2"/>
              </a:rPr>
              <a:t>P</a:t>
            </a:r>
            <a:r>
              <a:rPr lang="en-US" altLang="zh-CN" i="1" baseline="-25000">
                <a:latin typeface="Times New Roman" panose="02020603050405020304" pitchFamily="18" charset="0"/>
                <a:sym typeface="Symbol" panose="05050102010706020507" pitchFamily="18" charset="2"/>
              </a:rPr>
              <a:t>ij</a:t>
            </a:r>
            <a:r>
              <a:rPr lang="en-US" altLang="zh-CN">
                <a:latin typeface="Times New Roman" panose="02020603050405020304" pitchFamily="18" charset="0"/>
                <a:sym typeface="Symbol" panose="05050102010706020507" pitchFamily="18" charset="2"/>
              </a:rPr>
              <a:t> = </a:t>
            </a:r>
            <a:r>
              <a:rPr lang="en-US" altLang="zh-CN" i="1">
                <a:latin typeface="Times New Roman" panose="02020603050405020304" pitchFamily="18" charset="0"/>
                <a:sym typeface="Symbol" panose="05050102010706020507" pitchFamily="18" charset="2"/>
              </a:rPr>
              <a:t>c</a:t>
            </a:r>
            <a:r>
              <a:rPr lang="en-US" altLang="zh-CN" i="1" baseline="-25000">
                <a:latin typeface="Times New Roman" panose="02020603050405020304" pitchFamily="18" charset="0"/>
                <a:sym typeface="Symbol" panose="05050102010706020507" pitchFamily="18" charset="2"/>
              </a:rPr>
              <a:t>ij </a:t>
            </a:r>
            <a:r>
              <a:rPr lang="en-US" altLang="zh-CN">
                <a:latin typeface="Times New Roman" panose="02020603050405020304" pitchFamily="18" charset="0"/>
                <a:sym typeface="Symbol" panose="05050102010706020507" pitchFamily="18" charset="2"/>
              </a:rPr>
              <a:t>- (</a:t>
            </a:r>
            <a:r>
              <a:rPr lang="en-US" altLang="zh-CN" i="1">
                <a:latin typeface="Times New Roman" panose="02020603050405020304" pitchFamily="18" charset="0"/>
                <a:sym typeface="Symbol" panose="05050102010706020507" pitchFamily="18" charset="2"/>
              </a:rPr>
              <a:t>u</a:t>
            </a:r>
            <a:r>
              <a:rPr lang="en-US" altLang="zh-CN" i="1" baseline="-25000">
                <a:latin typeface="Times New Roman" panose="02020603050405020304" pitchFamily="18" charset="0"/>
                <a:sym typeface="Symbol" panose="05050102010706020507" pitchFamily="18" charset="2"/>
              </a:rPr>
              <a:t>i</a:t>
            </a:r>
            <a:r>
              <a:rPr lang="en-US" altLang="zh-CN">
                <a:latin typeface="Times New Roman" panose="02020603050405020304" pitchFamily="18" charset="0"/>
                <a:sym typeface="Symbol" panose="05050102010706020507" pitchFamily="18" charset="2"/>
              </a:rPr>
              <a:t>+</a:t>
            </a:r>
            <a:r>
              <a:rPr lang="en-US" altLang="zh-CN" i="1">
                <a:latin typeface="Times New Roman" panose="02020603050405020304" pitchFamily="18" charset="0"/>
                <a:sym typeface="Symbol" panose="05050102010706020507" pitchFamily="18" charset="2"/>
              </a:rPr>
              <a:t>v</a:t>
            </a:r>
            <a:r>
              <a:rPr lang="en-US" altLang="zh-CN" i="1" baseline="-25000">
                <a:latin typeface="Times New Roman" panose="02020603050405020304" pitchFamily="18" charset="0"/>
                <a:sym typeface="Symbol" panose="05050102010706020507" pitchFamily="18" charset="2"/>
              </a:rPr>
              <a:t>j</a:t>
            </a:r>
            <a:r>
              <a:rPr lang="en-US" altLang="zh-CN">
                <a:latin typeface="Times New Roman" panose="02020603050405020304" pitchFamily="18" charset="0"/>
                <a:sym typeface="Symbol" panose="05050102010706020507" pitchFamily="18" charset="2"/>
              </a:rPr>
              <a:t>)</a:t>
            </a:r>
            <a:endParaRPr lang="en-US" altLang="zh-CN" sz="3600">
              <a:latin typeface="Times New Roman" panose="02020603050405020304" pitchFamily="18" charset="0"/>
              <a:sym typeface="Symbol" panose="05050102010706020507" pitchFamily="18" charset="2"/>
            </a:endParaRPr>
          </a:p>
          <a:p>
            <a:pPr algn="just" eaLnBrk="1" hangingPunct="1">
              <a:lnSpc>
                <a:spcPct val="123000"/>
              </a:lnSpc>
              <a:spcAft>
                <a:spcPts val="600"/>
              </a:spcAft>
            </a:pPr>
            <a:r>
              <a:rPr lang="zh-CN" altLang="en-US">
                <a:latin typeface="Times New Roman" panose="02020603050405020304" pitchFamily="18" charset="0"/>
              </a:rPr>
              <a:t>由基变量检验数</a:t>
            </a:r>
            <a:r>
              <a:rPr lang="en-US" altLang="zh-CN">
                <a:latin typeface="Times New Roman" panose="02020603050405020304" pitchFamily="18" charset="0"/>
              </a:rPr>
              <a:t>=0,</a:t>
            </a:r>
            <a:r>
              <a:rPr lang="zh-CN" altLang="en-US">
                <a:latin typeface="Times New Roman" panose="02020603050405020304" pitchFamily="18" charset="0"/>
              </a:rPr>
              <a:t>得</a:t>
            </a:r>
            <a:r>
              <a:rPr lang="en-US" altLang="zh-CN" i="1">
                <a:latin typeface="Times New Roman" panose="02020603050405020304" pitchFamily="18" charset="0"/>
              </a:rPr>
              <a:t>m</a:t>
            </a:r>
            <a:r>
              <a:rPr lang="en-US" altLang="zh-CN">
                <a:latin typeface="Times New Roman" panose="02020603050405020304" pitchFamily="18" charset="0"/>
              </a:rPr>
              <a:t>+</a:t>
            </a:r>
            <a:r>
              <a:rPr lang="en-US" altLang="zh-CN" i="1">
                <a:latin typeface="Times New Roman" panose="02020603050405020304" pitchFamily="18" charset="0"/>
              </a:rPr>
              <a:t>n</a:t>
            </a:r>
            <a:r>
              <a:rPr lang="en-US" altLang="zh-CN">
                <a:latin typeface="Times New Roman" panose="02020603050405020304" pitchFamily="18" charset="0"/>
              </a:rPr>
              <a:t>-1</a:t>
            </a:r>
            <a:r>
              <a:rPr lang="zh-CN" altLang="en-US">
                <a:latin typeface="Times New Roman" panose="02020603050405020304" pitchFamily="18" charset="0"/>
              </a:rPr>
              <a:t>个待求解方程</a:t>
            </a:r>
          </a:p>
          <a:p>
            <a:pPr lvl="1" algn="just" eaLnBrk="1" hangingPunct="1">
              <a:lnSpc>
                <a:spcPct val="123000"/>
              </a:lnSpc>
              <a:spcAft>
                <a:spcPts val="600"/>
              </a:spcAft>
            </a:pPr>
            <a:r>
              <a:rPr lang="zh-CN" altLang="en-US">
                <a:latin typeface="Times New Roman" panose="02020603050405020304" pitchFamily="18" charset="0"/>
              </a:rPr>
              <a:t>方程的解称为</a:t>
            </a:r>
            <a:r>
              <a:rPr lang="zh-CN" altLang="en-US">
                <a:solidFill>
                  <a:srgbClr val="FF0000"/>
                </a:solidFill>
                <a:latin typeface="Times New Roman" panose="02020603050405020304" pitchFamily="18" charset="0"/>
              </a:rPr>
              <a:t>位势</a:t>
            </a:r>
            <a:endParaRPr lang="zh-CN" altLang="en-US" sz="900">
              <a:solidFill>
                <a:srgbClr val="FF0000"/>
              </a:solidFill>
              <a:latin typeface="Times New Roman" panose="02020603050405020304" pitchFamily="18" charset="0"/>
            </a:endParaRPr>
          </a:p>
          <a:p>
            <a:pPr algn="just" eaLnBrk="1" hangingPunct="1">
              <a:lnSpc>
                <a:spcPct val="123000"/>
              </a:lnSpc>
              <a:spcAft>
                <a:spcPts val="600"/>
              </a:spcAft>
            </a:pPr>
            <a:r>
              <a:rPr lang="zh-CN" altLang="en-US">
                <a:latin typeface="Times New Roman" panose="02020603050405020304" pitchFamily="18" charset="0"/>
              </a:rPr>
              <a:t>由位势求得所有非基变量的</a:t>
            </a:r>
            <a:r>
              <a:rPr lang="zh-CN" altLang="en-US">
                <a:solidFill>
                  <a:srgbClr val="FF0000"/>
                </a:solidFill>
                <a:latin typeface="Times New Roman" panose="02020603050405020304" pitchFamily="18" charset="0"/>
              </a:rPr>
              <a:t>检验数</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6915">
                                            <p:txEl>
                                              <p:pRg st="0" end="0"/>
                                            </p:txEl>
                                          </p:spTgt>
                                        </p:tgtEl>
                                        <p:attrNameLst>
                                          <p:attrName>style.visibility</p:attrName>
                                        </p:attrNameLst>
                                      </p:cBhvr>
                                      <p:to>
                                        <p:strVal val="visible"/>
                                      </p:to>
                                    </p:set>
                                    <p:animEffect transition="in" filter="blinds(horizontal)">
                                      <p:cBhvr>
                                        <p:cTn id="7" dur="500"/>
                                        <p:tgtEl>
                                          <p:spTgt spid="166915">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66915">
                                            <p:txEl>
                                              <p:pRg st="1" end="1"/>
                                            </p:txEl>
                                          </p:spTgt>
                                        </p:tgtEl>
                                        <p:attrNameLst>
                                          <p:attrName>style.visibility</p:attrName>
                                        </p:attrNameLst>
                                      </p:cBhvr>
                                      <p:to>
                                        <p:strVal val="visible"/>
                                      </p:to>
                                    </p:set>
                                    <p:animEffect transition="in" filter="blinds(horizontal)">
                                      <p:cBhvr>
                                        <p:cTn id="12" dur="500"/>
                                        <p:tgtEl>
                                          <p:spTgt spid="166915">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66915">
                                            <p:txEl>
                                              <p:pRg st="2" end="2"/>
                                            </p:txEl>
                                          </p:spTgt>
                                        </p:tgtEl>
                                        <p:attrNameLst>
                                          <p:attrName>style.visibility</p:attrName>
                                        </p:attrNameLst>
                                      </p:cBhvr>
                                      <p:to>
                                        <p:strVal val="visible"/>
                                      </p:to>
                                    </p:set>
                                    <p:animEffect transition="in" filter="blinds(horizontal)">
                                      <p:cBhvr>
                                        <p:cTn id="17" dur="500"/>
                                        <p:tgtEl>
                                          <p:spTgt spid="166915">
                                            <p:txEl>
                                              <p:pRg st="2" end="2"/>
                                            </p:txEl>
                                          </p:spTgt>
                                        </p:tgtEl>
                                      </p:cBhvr>
                                    </p:animEffect>
                                  </p:childTnLst>
                                </p:cTn>
                              </p:par>
                              <p:par>
                                <p:cTn id="18" presetID="3" presetClass="entr" presetSubtype="10" fill="hold" grpId="0" nodeType="withEffect">
                                  <p:stCondLst>
                                    <p:cond delay="0"/>
                                  </p:stCondLst>
                                  <p:childTnLst>
                                    <p:set>
                                      <p:cBhvr>
                                        <p:cTn id="19" dur="1" fill="hold">
                                          <p:stCondLst>
                                            <p:cond delay="0"/>
                                          </p:stCondLst>
                                        </p:cTn>
                                        <p:tgtEl>
                                          <p:spTgt spid="166915">
                                            <p:txEl>
                                              <p:pRg st="3" end="3"/>
                                            </p:txEl>
                                          </p:spTgt>
                                        </p:tgtEl>
                                        <p:attrNameLst>
                                          <p:attrName>style.visibility</p:attrName>
                                        </p:attrNameLst>
                                      </p:cBhvr>
                                      <p:to>
                                        <p:strVal val="visible"/>
                                      </p:to>
                                    </p:set>
                                    <p:animEffect transition="in" filter="blinds(horizontal)">
                                      <p:cBhvr>
                                        <p:cTn id="20" dur="500"/>
                                        <p:tgtEl>
                                          <p:spTgt spid="166915">
                                            <p:txEl>
                                              <p:pRg st="3" end="3"/>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166915">
                                            <p:txEl>
                                              <p:pRg st="4" end="4"/>
                                            </p:txEl>
                                          </p:spTgt>
                                        </p:tgtEl>
                                        <p:attrNameLst>
                                          <p:attrName>style.visibility</p:attrName>
                                        </p:attrNameLst>
                                      </p:cBhvr>
                                      <p:to>
                                        <p:strVal val="visible"/>
                                      </p:to>
                                    </p:set>
                                    <p:animEffect transition="in" filter="blinds(horizontal)">
                                      <p:cBhvr>
                                        <p:cTn id="25" dur="500"/>
                                        <p:tgtEl>
                                          <p:spTgt spid="16691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5"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a:extLst>
              <a:ext uri="{FF2B5EF4-FFF2-40B4-BE49-F238E27FC236}">
                <a16:creationId xmlns:a16="http://schemas.microsoft.com/office/drawing/2014/main" id="{AD1B8C87-3B4D-4CE5-B12C-7BFF70517633}"/>
              </a:ext>
            </a:extLst>
          </p:cNvPr>
          <p:cNvSpPr>
            <a:spLocks noGrp="1" noChangeArrowheads="1"/>
          </p:cNvSpPr>
          <p:nvPr>
            <p:ph type="title"/>
          </p:nvPr>
        </p:nvSpPr>
        <p:spPr>
          <a:xfrm>
            <a:off x="381000" y="155575"/>
            <a:ext cx="8229600" cy="911225"/>
          </a:xfrm>
        </p:spPr>
        <p:txBody>
          <a:bodyPr/>
          <a:lstStyle/>
          <a:p>
            <a:pPr eaLnBrk="1" hangingPunct="1"/>
            <a:r>
              <a:rPr lang="zh-CN" altLang="en-US"/>
              <a:t>位势法解释</a:t>
            </a:r>
            <a:r>
              <a:rPr lang="en-US" altLang="zh-CN"/>
              <a:t>(</a:t>
            </a:r>
            <a:r>
              <a:rPr lang="zh-CN" altLang="en-US"/>
              <a:t>对偶形式</a:t>
            </a:r>
            <a:r>
              <a:rPr lang="en-US" altLang="zh-CN"/>
              <a:t>)</a:t>
            </a:r>
            <a:endParaRPr lang="zh-CN" altLang="en-US"/>
          </a:p>
        </p:txBody>
      </p:sp>
      <p:graphicFrame>
        <p:nvGraphicFramePr>
          <p:cNvPr id="143364" name="Object 4">
            <a:extLst>
              <a:ext uri="{FF2B5EF4-FFF2-40B4-BE49-F238E27FC236}">
                <a16:creationId xmlns:a16="http://schemas.microsoft.com/office/drawing/2014/main" id="{FF9FABD7-7CA4-4BE5-A82B-7FB7BA8ABC46}"/>
              </a:ext>
            </a:extLst>
          </p:cNvPr>
          <p:cNvGraphicFramePr>
            <a:graphicFrameLocks noChangeAspect="1"/>
          </p:cNvGraphicFramePr>
          <p:nvPr/>
        </p:nvGraphicFramePr>
        <p:xfrm>
          <a:off x="152400" y="1219200"/>
          <a:ext cx="2971800" cy="3171825"/>
        </p:xfrm>
        <a:graphic>
          <a:graphicData uri="http://schemas.openxmlformats.org/presentationml/2006/ole">
            <mc:AlternateContent xmlns:mc="http://schemas.openxmlformats.org/markup-compatibility/2006">
              <mc:Choice xmlns:v="urn:schemas-microsoft-com:vml" Requires="v">
                <p:oleObj spid="_x0000_s79898" name="Equation" r:id="rId3" imgW="1498600" imgH="1600200" progId="Equation.DSMT4">
                  <p:embed/>
                </p:oleObj>
              </mc:Choice>
              <mc:Fallback>
                <p:oleObj name="Equation" r:id="rId3" imgW="1498600" imgH="1600200" progId="Equation.DSMT4">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 y="1219200"/>
                        <a:ext cx="2971800" cy="317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 name="Object 5">
            <a:extLst>
              <a:ext uri="{FF2B5EF4-FFF2-40B4-BE49-F238E27FC236}">
                <a16:creationId xmlns:a16="http://schemas.microsoft.com/office/drawing/2014/main" id="{6B85D972-FD77-4453-8551-AC300721AF4B}"/>
              </a:ext>
            </a:extLst>
          </p:cNvPr>
          <p:cNvGraphicFramePr>
            <a:graphicFrameLocks noChangeAspect="1"/>
          </p:cNvGraphicFramePr>
          <p:nvPr/>
        </p:nvGraphicFramePr>
        <p:xfrm>
          <a:off x="4594225" y="1030288"/>
          <a:ext cx="4518025" cy="1781175"/>
        </p:xfrm>
        <a:graphic>
          <a:graphicData uri="http://schemas.openxmlformats.org/presentationml/2006/ole">
            <mc:AlternateContent xmlns:mc="http://schemas.openxmlformats.org/markup-compatibility/2006">
              <mc:Choice xmlns:v="urn:schemas-microsoft-com:vml" Requires="v">
                <p:oleObj spid="_x0000_s79899" name="Equation" r:id="rId5" imgW="2222500" imgH="876300" progId="Equation.DSMT4">
                  <p:embed/>
                </p:oleObj>
              </mc:Choice>
              <mc:Fallback>
                <p:oleObj name="Equation" r:id="rId5" imgW="2222500" imgH="876300"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94225" y="1030288"/>
                        <a:ext cx="4518025" cy="178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3" name="组合 15">
            <a:extLst>
              <a:ext uri="{FF2B5EF4-FFF2-40B4-BE49-F238E27FC236}">
                <a16:creationId xmlns:a16="http://schemas.microsoft.com/office/drawing/2014/main" id="{0989BBC8-882F-4864-8C64-7D8A44C32D6B}"/>
              </a:ext>
            </a:extLst>
          </p:cNvPr>
          <p:cNvGrpSpPr>
            <a:grpSpLocks/>
          </p:cNvGrpSpPr>
          <p:nvPr/>
        </p:nvGrpSpPr>
        <p:grpSpPr bwMode="auto">
          <a:xfrm>
            <a:off x="3124200" y="2060575"/>
            <a:ext cx="1535113" cy="917575"/>
            <a:chOff x="3208762" y="2396467"/>
            <a:chExt cx="1771873" cy="918233"/>
          </a:xfrm>
        </p:grpSpPr>
        <p:sp>
          <p:nvSpPr>
            <p:cNvPr id="79884" name="Text Box 31">
              <a:extLst>
                <a:ext uri="{FF2B5EF4-FFF2-40B4-BE49-F238E27FC236}">
                  <a16:creationId xmlns:a16="http://schemas.microsoft.com/office/drawing/2014/main" id="{7A2F84B3-2ADF-40E1-BA59-78E4FA79E3B5}"/>
                </a:ext>
              </a:extLst>
            </p:cNvPr>
            <p:cNvSpPr txBox="1">
              <a:spLocks noChangeArrowheads="1"/>
            </p:cNvSpPr>
            <p:nvPr/>
          </p:nvSpPr>
          <p:spPr bwMode="auto">
            <a:xfrm>
              <a:off x="3208762" y="2396467"/>
              <a:ext cx="162971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a:solidFill>
                    <a:srgbClr val="003366"/>
                  </a:solidFill>
                </a:rPr>
                <a:t>    对偶问题</a:t>
              </a:r>
              <a:endParaRPr lang="en-US" altLang="zh-CN">
                <a:solidFill>
                  <a:srgbClr val="003366"/>
                </a:solidFill>
              </a:endParaRPr>
            </a:p>
          </p:txBody>
        </p:sp>
        <p:sp>
          <p:nvSpPr>
            <p:cNvPr id="79885" name="AutoShape 54">
              <a:extLst>
                <a:ext uri="{FF2B5EF4-FFF2-40B4-BE49-F238E27FC236}">
                  <a16:creationId xmlns:a16="http://schemas.microsoft.com/office/drawing/2014/main" id="{6DB8D42A-7457-4C6E-AA39-23164FF909B5}"/>
                </a:ext>
              </a:extLst>
            </p:cNvPr>
            <p:cNvSpPr>
              <a:spLocks noChangeArrowheads="1"/>
            </p:cNvSpPr>
            <p:nvPr/>
          </p:nvSpPr>
          <p:spPr bwMode="auto">
            <a:xfrm>
              <a:off x="3323285" y="2667000"/>
              <a:ext cx="1657350" cy="647700"/>
            </a:xfrm>
            <a:prstGeom prst="leftRightArrow">
              <a:avLst>
                <a:gd name="adj1" fmla="val 50000"/>
                <a:gd name="adj2" fmla="val 51176"/>
              </a:avLst>
            </a:prstGeom>
            <a:solidFill>
              <a:schemeClr val="accent1"/>
            </a:solidFill>
            <a:ln w="9525" algn="ctr">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grpSp>
        <p:nvGrpSpPr>
          <p:cNvPr id="8" name="组合 7">
            <a:extLst>
              <a:ext uri="{FF2B5EF4-FFF2-40B4-BE49-F238E27FC236}">
                <a16:creationId xmlns:a16="http://schemas.microsoft.com/office/drawing/2014/main" id="{9C1A1D51-E14D-4AB3-A952-41C142019B72}"/>
              </a:ext>
            </a:extLst>
          </p:cNvPr>
          <p:cNvGrpSpPr>
            <a:grpSpLocks/>
          </p:cNvGrpSpPr>
          <p:nvPr/>
        </p:nvGrpSpPr>
        <p:grpSpPr bwMode="auto">
          <a:xfrm>
            <a:off x="4495800" y="1906588"/>
            <a:ext cx="4191000" cy="1978025"/>
            <a:chOff x="4495800" y="1906588"/>
            <a:chExt cx="4191000" cy="1978022"/>
          </a:xfrm>
        </p:grpSpPr>
        <p:sp>
          <p:nvSpPr>
            <p:cNvPr id="79880" name="Text Box 28">
              <a:extLst>
                <a:ext uri="{FF2B5EF4-FFF2-40B4-BE49-F238E27FC236}">
                  <a16:creationId xmlns:a16="http://schemas.microsoft.com/office/drawing/2014/main" id="{5439D34E-F843-48CC-8876-B2EF9908ECBF}"/>
                </a:ext>
              </a:extLst>
            </p:cNvPr>
            <p:cNvSpPr txBox="1">
              <a:spLocks noChangeArrowheads="1"/>
            </p:cNvSpPr>
            <p:nvPr/>
          </p:nvSpPr>
          <p:spPr bwMode="auto">
            <a:xfrm>
              <a:off x="4495800" y="3238620"/>
              <a:ext cx="4191000" cy="645990"/>
            </a:xfrm>
            <a:prstGeom prst="rect">
              <a:avLst/>
            </a:prstGeom>
            <a:solidFill>
              <a:schemeClr val="bg1"/>
            </a:solidFill>
            <a:ln w="9525">
              <a:solidFill>
                <a:srgbClr val="FF00FF"/>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zh-CN" altLang="en-US">
                  <a:solidFill>
                    <a:srgbClr val="FF00FF"/>
                  </a:solidFill>
                  <a:latin typeface="Times New Roman" panose="02020603050405020304" pitchFamily="18" charset="0"/>
                  <a:sym typeface="Symbol" panose="05050102010706020507" pitchFamily="18" charset="2"/>
                </a:rPr>
                <a:t>位势法的基础：</a:t>
              </a:r>
              <a:r>
                <a:rPr kumimoji="1" lang="zh-CN" altLang="en-US">
                  <a:solidFill>
                    <a:srgbClr val="FF00FF"/>
                  </a:solidFill>
                  <a:latin typeface="Times New Roman" panose="02020603050405020304" pitchFamily="18" charset="0"/>
                </a:rPr>
                <a:t>要使得对偶问题解可行，必须检验数</a:t>
              </a:r>
              <a:r>
                <a:rPr lang="zh-CN" altLang="en-US">
                  <a:solidFill>
                    <a:srgbClr val="FF00FF"/>
                  </a:solidFill>
                  <a:latin typeface="Times New Roman" panose="02020603050405020304" pitchFamily="18" charset="0"/>
                  <a:sym typeface="Symbol" panose="05050102010706020507" pitchFamily="18" charset="2"/>
                </a:rPr>
                <a:t></a:t>
              </a:r>
              <a:r>
                <a:rPr lang="en-US" altLang="zh-CN" i="1" baseline="-25000">
                  <a:solidFill>
                    <a:srgbClr val="FF00FF"/>
                  </a:solidFill>
                  <a:latin typeface="Times New Roman" panose="02020603050405020304" pitchFamily="18" charset="0"/>
                  <a:sym typeface="Symbol" panose="05050102010706020507" pitchFamily="18" charset="2"/>
                </a:rPr>
                <a:t>ij </a:t>
              </a:r>
              <a:r>
                <a:rPr lang="en-US" altLang="zh-CN">
                  <a:solidFill>
                    <a:srgbClr val="FF00FF"/>
                  </a:solidFill>
                  <a:latin typeface="Times New Roman" panose="02020603050405020304" pitchFamily="18" charset="0"/>
                  <a:sym typeface="Symbol" panose="05050102010706020507" pitchFamily="18" charset="2"/>
                </a:rPr>
                <a:t>= </a:t>
              </a:r>
              <a:r>
                <a:rPr lang="en-US" altLang="zh-CN" i="1">
                  <a:solidFill>
                    <a:srgbClr val="FF00FF"/>
                  </a:solidFill>
                  <a:latin typeface="Times New Roman" panose="02020603050405020304" pitchFamily="18" charset="0"/>
                  <a:sym typeface="Symbol" panose="05050102010706020507" pitchFamily="18" charset="2"/>
                </a:rPr>
                <a:t>c</a:t>
              </a:r>
              <a:r>
                <a:rPr lang="en-US" altLang="zh-CN" i="1" baseline="-25000">
                  <a:solidFill>
                    <a:srgbClr val="FF00FF"/>
                  </a:solidFill>
                  <a:latin typeface="Times New Roman" panose="02020603050405020304" pitchFamily="18" charset="0"/>
                  <a:sym typeface="Symbol" panose="05050102010706020507" pitchFamily="18" charset="2"/>
                </a:rPr>
                <a:t>ij </a:t>
              </a:r>
              <a:r>
                <a:rPr lang="en-US" altLang="zh-CN">
                  <a:solidFill>
                    <a:srgbClr val="FF00FF"/>
                  </a:solidFill>
                  <a:latin typeface="Times New Roman" panose="02020603050405020304" pitchFamily="18" charset="0"/>
                  <a:sym typeface="Symbol" panose="05050102010706020507" pitchFamily="18" charset="2"/>
                </a:rPr>
                <a:t>- (</a:t>
              </a:r>
              <a:r>
                <a:rPr lang="en-US" altLang="zh-CN" i="1">
                  <a:solidFill>
                    <a:srgbClr val="FF00FF"/>
                  </a:solidFill>
                  <a:latin typeface="Times New Roman" panose="02020603050405020304" pitchFamily="18" charset="0"/>
                  <a:sym typeface="Symbol" panose="05050102010706020507" pitchFamily="18" charset="2"/>
                </a:rPr>
                <a:t>u</a:t>
              </a:r>
              <a:r>
                <a:rPr lang="en-US" altLang="zh-CN" i="1" baseline="-25000">
                  <a:solidFill>
                    <a:srgbClr val="FF00FF"/>
                  </a:solidFill>
                  <a:latin typeface="Times New Roman" panose="02020603050405020304" pitchFamily="18" charset="0"/>
                  <a:sym typeface="Symbol" panose="05050102010706020507" pitchFamily="18" charset="2"/>
                </a:rPr>
                <a:t>i</a:t>
              </a:r>
              <a:r>
                <a:rPr lang="en-US" altLang="zh-CN">
                  <a:solidFill>
                    <a:srgbClr val="FF00FF"/>
                  </a:solidFill>
                  <a:latin typeface="Times New Roman" panose="02020603050405020304" pitchFamily="18" charset="0"/>
                  <a:sym typeface="Symbol" panose="05050102010706020507" pitchFamily="18" charset="2"/>
                </a:rPr>
                <a:t>+</a:t>
              </a:r>
              <a:r>
                <a:rPr lang="en-US" altLang="zh-CN" i="1">
                  <a:solidFill>
                    <a:srgbClr val="FF00FF"/>
                  </a:solidFill>
                  <a:latin typeface="Times New Roman" panose="02020603050405020304" pitchFamily="18" charset="0"/>
                  <a:sym typeface="Symbol" panose="05050102010706020507" pitchFamily="18" charset="2"/>
                </a:rPr>
                <a:t>v</a:t>
              </a:r>
              <a:r>
                <a:rPr lang="en-US" altLang="zh-CN" i="1" baseline="-25000">
                  <a:solidFill>
                    <a:srgbClr val="FF00FF"/>
                  </a:solidFill>
                  <a:latin typeface="Times New Roman" panose="02020603050405020304" pitchFamily="18" charset="0"/>
                  <a:sym typeface="Symbol" panose="05050102010706020507" pitchFamily="18" charset="2"/>
                </a:rPr>
                <a:t>j</a:t>
              </a:r>
              <a:r>
                <a:rPr lang="en-US" altLang="zh-CN">
                  <a:solidFill>
                    <a:srgbClr val="FF00FF"/>
                  </a:solidFill>
                  <a:latin typeface="Times New Roman" panose="02020603050405020304" pitchFamily="18" charset="0"/>
                  <a:sym typeface="Symbol" panose="05050102010706020507" pitchFamily="18" charset="2"/>
                </a:rPr>
                <a:t>) ≥0</a:t>
              </a:r>
              <a:r>
                <a:rPr lang="zh-CN" altLang="en-US">
                  <a:solidFill>
                    <a:srgbClr val="FF00FF"/>
                  </a:solidFill>
                  <a:latin typeface="Times New Roman" panose="02020603050405020304" pitchFamily="18" charset="0"/>
                  <a:sym typeface="Symbol" panose="05050102010706020507" pitchFamily="18" charset="2"/>
                </a:rPr>
                <a:t>。</a:t>
              </a:r>
              <a:endParaRPr kumimoji="1" lang="zh-CN" altLang="en-US">
                <a:solidFill>
                  <a:srgbClr val="FF00FF"/>
                </a:solidFill>
                <a:latin typeface="Times New Roman" panose="02020603050405020304" pitchFamily="18" charset="0"/>
              </a:endParaRPr>
            </a:p>
          </p:txBody>
        </p:sp>
        <p:grpSp>
          <p:nvGrpSpPr>
            <p:cNvPr id="79881" name="组合 6">
              <a:extLst>
                <a:ext uri="{FF2B5EF4-FFF2-40B4-BE49-F238E27FC236}">
                  <a16:creationId xmlns:a16="http://schemas.microsoft.com/office/drawing/2014/main" id="{399EE7F8-918F-470C-84F6-3E6B36C8DF9E}"/>
                </a:ext>
              </a:extLst>
            </p:cNvPr>
            <p:cNvGrpSpPr>
              <a:grpSpLocks/>
            </p:cNvGrpSpPr>
            <p:nvPr/>
          </p:nvGrpSpPr>
          <p:grpSpPr bwMode="auto">
            <a:xfrm>
              <a:off x="4876800" y="1906588"/>
              <a:ext cx="1371600" cy="1331912"/>
              <a:chOff x="4876800" y="2514600"/>
              <a:chExt cx="1371599" cy="1332127"/>
            </a:xfrm>
          </p:grpSpPr>
          <p:sp>
            <p:nvSpPr>
              <p:cNvPr id="5" name="矩形 4">
                <a:extLst>
                  <a:ext uri="{FF2B5EF4-FFF2-40B4-BE49-F238E27FC236}">
                    <a16:creationId xmlns:a16="http://schemas.microsoft.com/office/drawing/2014/main" id="{CD51B5D1-D384-49C0-A098-05FD38D54F9D}"/>
                  </a:ext>
                </a:extLst>
              </p:cNvPr>
              <p:cNvSpPr/>
              <p:nvPr/>
            </p:nvSpPr>
            <p:spPr>
              <a:xfrm>
                <a:off x="4876800" y="2514600"/>
                <a:ext cx="1371599" cy="381061"/>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 name="下箭头 5">
                <a:extLst>
                  <a:ext uri="{FF2B5EF4-FFF2-40B4-BE49-F238E27FC236}">
                    <a16:creationId xmlns:a16="http://schemas.microsoft.com/office/drawing/2014/main" id="{C69D8B1A-59BF-4587-85FF-551F3D37767F}"/>
                  </a:ext>
                </a:extLst>
              </p:cNvPr>
              <p:cNvSpPr/>
              <p:nvPr/>
            </p:nvSpPr>
            <p:spPr>
              <a:xfrm>
                <a:off x="5461000" y="2938530"/>
                <a:ext cx="160338" cy="908195"/>
              </a:xfrm>
              <a:prstGeom prst="downArrow">
                <a:avLst/>
              </a:prstGeom>
              <a:solidFill>
                <a:srgbClr val="FF00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grpSp>
      <p:pic>
        <p:nvPicPr>
          <p:cNvPr id="16" name="图片 15">
            <a:extLst>
              <a:ext uri="{FF2B5EF4-FFF2-40B4-BE49-F238E27FC236}">
                <a16:creationId xmlns:a16="http://schemas.microsoft.com/office/drawing/2014/main" id="{E5EAC4C8-84FA-4584-B2FA-B6129C5D7EF8}"/>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418013" y="4019550"/>
            <a:ext cx="4192587" cy="2609850"/>
          </a:xfrm>
          <a:prstGeom prst="rect">
            <a:avLst/>
          </a:prstGeom>
          <a:solidFill>
            <a:schemeClr val="accent1"/>
          </a:solidFill>
          <a:ln w="9525">
            <a:solidFill>
              <a:srgbClr val="FF00FF"/>
            </a:solid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4336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3" presetClass="entr" presetSubtype="1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blinds(horizontal)">
                                      <p:cBhvr>
                                        <p:cTn id="11" dur="500"/>
                                        <p:tgtEl>
                                          <p:spTgt spid="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4" presetClass="entr" presetSubtype="10" fill="hold"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randombar(horizontal)">
                                      <p:cBhvr>
                                        <p:cTn id="16" dur="500"/>
                                        <p:tgtEl>
                                          <p:spTgt spid="1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4" presetClass="entr" presetSubtype="1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randombar(horizontal)">
                                      <p:cBhvr>
                                        <p:cTn id="2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a:extLst>
              <a:ext uri="{FF2B5EF4-FFF2-40B4-BE49-F238E27FC236}">
                <a16:creationId xmlns:a16="http://schemas.microsoft.com/office/drawing/2014/main" id="{497B3D36-71C3-404A-B119-9AD0B104C810}"/>
              </a:ext>
            </a:extLst>
          </p:cNvPr>
          <p:cNvSpPr>
            <a:spLocks noGrp="1" noChangeArrowheads="1"/>
          </p:cNvSpPr>
          <p:nvPr>
            <p:ph type="title"/>
          </p:nvPr>
        </p:nvSpPr>
        <p:spPr/>
        <p:txBody>
          <a:bodyPr/>
          <a:lstStyle/>
          <a:p>
            <a:pPr eaLnBrk="1" hangingPunct="1"/>
            <a:r>
              <a:rPr lang="zh-CN" altLang="en-US"/>
              <a:t>对偶问题</a:t>
            </a:r>
          </a:p>
        </p:txBody>
      </p:sp>
      <p:sp>
        <p:nvSpPr>
          <p:cNvPr id="80899" name="Rectangle 7">
            <a:extLst>
              <a:ext uri="{FF2B5EF4-FFF2-40B4-BE49-F238E27FC236}">
                <a16:creationId xmlns:a16="http://schemas.microsoft.com/office/drawing/2014/main" id="{61397008-507B-49EA-BD41-4C9207881B56}"/>
              </a:ext>
            </a:extLst>
          </p:cNvPr>
          <p:cNvSpPr>
            <a:spLocks noChangeArrowheads="1"/>
          </p:cNvSpPr>
          <p:nvPr/>
        </p:nvSpPr>
        <p:spPr bwMode="auto">
          <a:xfrm>
            <a:off x="0" y="25574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80900" name="Object 6">
            <a:extLst>
              <a:ext uri="{FF2B5EF4-FFF2-40B4-BE49-F238E27FC236}">
                <a16:creationId xmlns:a16="http://schemas.microsoft.com/office/drawing/2014/main" id="{C23888BB-5DFF-4050-9EFF-D93CB8AE4B27}"/>
              </a:ext>
            </a:extLst>
          </p:cNvPr>
          <p:cNvGraphicFramePr>
            <a:graphicFrameLocks noChangeAspect="1"/>
          </p:cNvGraphicFramePr>
          <p:nvPr/>
        </p:nvGraphicFramePr>
        <p:xfrm>
          <a:off x="0" y="838200"/>
          <a:ext cx="9067800" cy="2190750"/>
        </p:xfrm>
        <a:graphic>
          <a:graphicData uri="http://schemas.openxmlformats.org/presentationml/2006/ole">
            <mc:AlternateContent xmlns:mc="http://schemas.openxmlformats.org/markup-compatibility/2006">
              <mc:Choice xmlns:v="urn:schemas-microsoft-com:vml" Requires="v">
                <p:oleObj spid="_x0000_s80921" name="Equation" r:id="rId3" imgW="8674100" imgH="1930400" progId="Equation.DSMT4">
                  <p:embed/>
                </p:oleObj>
              </mc:Choice>
              <mc:Fallback>
                <p:oleObj name="Equation" r:id="rId3" imgW="8674100" imgH="1930400" progId="Equation.DSMT4">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838200"/>
                        <a:ext cx="9067800" cy="219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0901" name="Object 4">
            <a:extLst>
              <a:ext uri="{FF2B5EF4-FFF2-40B4-BE49-F238E27FC236}">
                <a16:creationId xmlns:a16="http://schemas.microsoft.com/office/drawing/2014/main" id="{A0EAFF68-7C42-40EB-AFD1-0BEE9BD85E67}"/>
              </a:ext>
            </a:extLst>
          </p:cNvPr>
          <p:cNvGraphicFramePr>
            <a:graphicFrameLocks noChangeAspect="1"/>
          </p:cNvGraphicFramePr>
          <p:nvPr/>
        </p:nvGraphicFramePr>
        <p:xfrm>
          <a:off x="381000" y="3505200"/>
          <a:ext cx="7939088" cy="2657475"/>
        </p:xfrm>
        <a:graphic>
          <a:graphicData uri="http://schemas.openxmlformats.org/presentationml/2006/ole">
            <mc:AlternateContent xmlns:mc="http://schemas.openxmlformats.org/markup-compatibility/2006">
              <mc:Choice xmlns:v="urn:schemas-microsoft-com:vml" Requires="v">
                <p:oleObj spid="_x0000_s80922" name="Equation" r:id="rId5" imgW="7112000" imgH="2374900" progId="Equation.DSMT4">
                  <p:embed/>
                </p:oleObj>
              </mc:Choice>
              <mc:Fallback>
                <p:oleObj name="Equation" r:id="rId5" imgW="7112000" imgH="23749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3505200"/>
                        <a:ext cx="7939088" cy="2657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0902" name="矩形 9">
            <a:extLst>
              <a:ext uri="{FF2B5EF4-FFF2-40B4-BE49-F238E27FC236}">
                <a16:creationId xmlns:a16="http://schemas.microsoft.com/office/drawing/2014/main" id="{B7B4000A-E54F-4AAC-8955-E93C0C212894}"/>
              </a:ext>
            </a:extLst>
          </p:cNvPr>
          <p:cNvSpPr>
            <a:spLocks noChangeArrowheads="1"/>
          </p:cNvSpPr>
          <p:nvPr/>
        </p:nvSpPr>
        <p:spPr bwMode="auto">
          <a:xfrm>
            <a:off x="4648200" y="2971800"/>
            <a:ext cx="11080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a:solidFill>
                  <a:srgbClr val="FF0000"/>
                </a:solidFill>
              </a:rPr>
              <a:t>互为对偶</a:t>
            </a:r>
            <a:endParaRPr lang="zh-CN" altLang="en-US"/>
          </a:p>
        </p:txBody>
      </p:sp>
      <p:sp>
        <p:nvSpPr>
          <p:cNvPr id="11" name="上下箭头 10">
            <a:extLst>
              <a:ext uri="{FF2B5EF4-FFF2-40B4-BE49-F238E27FC236}">
                <a16:creationId xmlns:a16="http://schemas.microsoft.com/office/drawing/2014/main" id="{9FEB507C-1DA2-4967-A95D-24A64F3511DA}"/>
              </a:ext>
            </a:extLst>
          </p:cNvPr>
          <p:cNvSpPr/>
          <p:nvPr/>
        </p:nvSpPr>
        <p:spPr>
          <a:xfrm>
            <a:off x="4419600" y="3009900"/>
            <a:ext cx="228600" cy="609600"/>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 name="组合 26">
            <a:extLst>
              <a:ext uri="{FF2B5EF4-FFF2-40B4-BE49-F238E27FC236}">
                <a16:creationId xmlns:a16="http://schemas.microsoft.com/office/drawing/2014/main" id="{84E4ADEE-4FDE-4FEF-ACCC-95BA595E265D}"/>
              </a:ext>
            </a:extLst>
          </p:cNvPr>
          <p:cNvGrpSpPr>
            <a:grpSpLocks/>
          </p:cNvGrpSpPr>
          <p:nvPr/>
        </p:nvGrpSpPr>
        <p:grpSpPr bwMode="auto">
          <a:xfrm>
            <a:off x="152400" y="5940425"/>
            <a:ext cx="2209800" cy="703263"/>
            <a:chOff x="2960700" y="5981042"/>
            <a:chExt cx="1752506" cy="1231145"/>
          </a:xfrm>
        </p:grpSpPr>
        <p:grpSp>
          <p:nvGrpSpPr>
            <p:cNvPr id="80905" name="组合 29">
              <a:extLst>
                <a:ext uri="{FF2B5EF4-FFF2-40B4-BE49-F238E27FC236}">
                  <a16:creationId xmlns:a16="http://schemas.microsoft.com/office/drawing/2014/main" id="{0B00E2B1-AB35-4F71-973E-3F99ACBCE092}"/>
                </a:ext>
              </a:extLst>
            </p:cNvPr>
            <p:cNvGrpSpPr>
              <a:grpSpLocks/>
            </p:cNvGrpSpPr>
            <p:nvPr/>
          </p:nvGrpSpPr>
          <p:grpSpPr bwMode="auto">
            <a:xfrm>
              <a:off x="2960700" y="6315135"/>
              <a:ext cx="1752506" cy="897052"/>
              <a:chOff x="5451198" y="4174055"/>
              <a:chExt cx="1082848" cy="898156"/>
            </a:xfrm>
          </p:grpSpPr>
          <p:sp>
            <p:nvSpPr>
              <p:cNvPr id="80907" name="矩形 30">
                <a:extLst>
                  <a:ext uri="{FF2B5EF4-FFF2-40B4-BE49-F238E27FC236}">
                    <a16:creationId xmlns:a16="http://schemas.microsoft.com/office/drawing/2014/main" id="{8669447D-E046-4F4A-8CC8-CD62BD6CE454}"/>
                  </a:ext>
                </a:extLst>
              </p:cNvPr>
              <p:cNvSpPr>
                <a:spLocks noChangeArrowheads="1"/>
              </p:cNvSpPr>
              <p:nvPr/>
            </p:nvSpPr>
            <p:spPr bwMode="auto">
              <a:xfrm>
                <a:off x="5451198" y="4478569"/>
                <a:ext cx="1082848" cy="593642"/>
              </a:xfrm>
              <a:prstGeom prst="rect">
                <a:avLst/>
              </a:prstGeom>
              <a:noFill/>
              <a:ln w="19050">
                <a:solidFill>
                  <a:srgbClr val="FF0000"/>
                </a:solidFill>
                <a:prstDash val="sysDash"/>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i="1">
                    <a:solidFill>
                      <a:srgbClr val="FF0000"/>
                    </a:solidFill>
                    <a:latin typeface="Times New Roman" panose="02020603050405020304" pitchFamily="18" charset="0"/>
                    <a:cs typeface="Times New Roman" panose="02020603050405020304" pitchFamily="18" charset="0"/>
                  </a:rPr>
                  <a:t>Y=C</a:t>
                </a:r>
                <a:r>
                  <a:rPr lang="en-US" altLang="zh-CN" sz="1600" b="1" i="1" baseline="-25000">
                    <a:solidFill>
                      <a:srgbClr val="FF0000"/>
                    </a:solidFill>
                    <a:latin typeface="Times New Roman" panose="02020603050405020304" pitchFamily="18" charset="0"/>
                    <a:cs typeface="Times New Roman" panose="02020603050405020304" pitchFamily="18" charset="0"/>
                  </a:rPr>
                  <a:t>B</a:t>
                </a:r>
                <a:r>
                  <a:rPr lang="en-US" altLang="zh-CN" sz="1600" b="1" i="1">
                    <a:solidFill>
                      <a:srgbClr val="FF0000"/>
                    </a:solidFill>
                    <a:latin typeface="Times New Roman" panose="02020603050405020304" pitchFamily="18" charset="0"/>
                    <a:cs typeface="Times New Roman" panose="02020603050405020304" pitchFamily="18" charset="0"/>
                  </a:rPr>
                  <a:t>B</a:t>
                </a:r>
                <a:r>
                  <a:rPr lang="en-US" altLang="zh-CN" sz="1600" b="1" i="1" baseline="30000">
                    <a:solidFill>
                      <a:srgbClr val="FF0000"/>
                    </a:solidFill>
                    <a:latin typeface="Times New Roman" panose="02020603050405020304" pitchFamily="18" charset="0"/>
                    <a:cs typeface="Times New Roman" panose="02020603050405020304" pitchFamily="18" charset="0"/>
                  </a:rPr>
                  <a:t>-1 </a:t>
                </a:r>
                <a:r>
                  <a:rPr lang="en-US" altLang="zh-CN" sz="1600" b="1" i="1">
                    <a:solidFill>
                      <a:srgbClr val="FF0000"/>
                    </a:solidFill>
                    <a:latin typeface="Times New Roman" panose="02020603050405020304" pitchFamily="18" charset="0"/>
                    <a:cs typeface="Times New Roman" panose="02020603050405020304" pitchFamily="18" charset="0"/>
                  </a:rPr>
                  <a:t> (P79,</a:t>
                </a:r>
                <a:r>
                  <a:rPr lang="zh-CN" altLang="en-US" sz="1600" b="1" i="1">
                    <a:solidFill>
                      <a:srgbClr val="FF0000"/>
                    </a:solidFill>
                    <a:latin typeface="Times New Roman" panose="02020603050405020304" pitchFamily="18" charset="0"/>
                    <a:cs typeface="Times New Roman" panose="02020603050405020304" pitchFamily="18" charset="0"/>
                  </a:rPr>
                  <a:t>表</a:t>
                </a:r>
                <a:r>
                  <a:rPr lang="en-US" altLang="zh-CN" sz="1600" b="1" i="1">
                    <a:solidFill>
                      <a:srgbClr val="FF0000"/>
                    </a:solidFill>
                    <a:latin typeface="Times New Roman" panose="02020603050405020304" pitchFamily="18" charset="0"/>
                    <a:cs typeface="Times New Roman" panose="02020603050405020304" pitchFamily="18" charset="0"/>
                  </a:rPr>
                  <a:t>3-5) </a:t>
                </a:r>
                <a:endParaRPr lang="zh-CN" altLang="en-US" sz="1600" b="1" i="1" baseline="30000">
                  <a:solidFill>
                    <a:srgbClr val="FF0000"/>
                  </a:solidFill>
                  <a:latin typeface="Times New Roman" panose="02020603050405020304" pitchFamily="18" charset="0"/>
                  <a:cs typeface="Times New Roman" panose="02020603050405020304" pitchFamily="18" charset="0"/>
                </a:endParaRPr>
              </a:p>
            </p:txBody>
          </p:sp>
          <p:sp>
            <p:nvSpPr>
              <p:cNvPr id="80908" name="右箭头 31">
                <a:extLst>
                  <a:ext uri="{FF2B5EF4-FFF2-40B4-BE49-F238E27FC236}">
                    <a16:creationId xmlns:a16="http://schemas.microsoft.com/office/drawing/2014/main" id="{D166C104-CBD1-4327-88F5-1B80E6F5D7B3}"/>
                  </a:ext>
                </a:extLst>
              </p:cNvPr>
              <p:cNvSpPr>
                <a:spLocks noChangeArrowheads="1"/>
              </p:cNvSpPr>
              <p:nvPr/>
            </p:nvSpPr>
            <p:spPr bwMode="auto">
              <a:xfrm rot="5400000">
                <a:off x="5668324" y="4225038"/>
                <a:ext cx="234218" cy="132251"/>
              </a:xfrm>
              <a:prstGeom prst="rightArrow">
                <a:avLst>
                  <a:gd name="adj1" fmla="val 50000"/>
                  <a:gd name="adj2" fmla="val 49998"/>
                </a:avLst>
              </a:prstGeom>
              <a:solidFill>
                <a:srgbClr val="FF00FF"/>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anchor="ctr" anchorCtr="1"/>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kumimoji="1" lang="zh-CN" altLang="en-US" sz="1200">
                  <a:solidFill>
                    <a:srgbClr val="FF0000"/>
                  </a:solidFill>
                  <a:latin typeface="Times New Roman" panose="02020603050405020304" pitchFamily="18" charset="0"/>
                </a:endParaRPr>
              </a:p>
            </p:txBody>
          </p:sp>
        </p:grpSp>
        <p:sp>
          <p:nvSpPr>
            <p:cNvPr id="80906" name="椭圆 24">
              <a:extLst>
                <a:ext uri="{FF2B5EF4-FFF2-40B4-BE49-F238E27FC236}">
                  <a16:creationId xmlns:a16="http://schemas.microsoft.com/office/drawing/2014/main" id="{818ED01D-0650-411F-B84A-32A62316F2DB}"/>
                </a:ext>
              </a:extLst>
            </p:cNvPr>
            <p:cNvSpPr>
              <a:spLocks noChangeArrowheads="1"/>
            </p:cNvSpPr>
            <p:nvPr/>
          </p:nvSpPr>
          <p:spPr bwMode="auto">
            <a:xfrm>
              <a:off x="3311143" y="5981042"/>
              <a:ext cx="380982" cy="287335"/>
            </a:xfrm>
            <a:prstGeom prst="ellipse">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rot="10800000" anchor="ctr" anchorCtr="1"/>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kumimoji="1" lang="zh-CN" altLang="en-US" sz="1200">
                <a:solidFill>
                  <a:srgbClr val="FF0000"/>
                </a:solidFill>
                <a:latin typeface="Times New Roman" panose="02020603050405020304"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a:extLst>
              <a:ext uri="{FF2B5EF4-FFF2-40B4-BE49-F238E27FC236}">
                <a16:creationId xmlns:a16="http://schemas.microsoft.com/office/drawing/2014/main" id="{DB98CBF1-5D27-47D2-BAB0-B927CDF23E96}"/>
              </a:ext>
            </a:extLst>
          </p:cNvPr>
          <p:cNvSpPr>
            <a:spLocks noGrp="1" noChangeArrowheads="1"/>
          </p:cNvSpPr>
          <p:nvPr>
            <p:ph type="title"/>
          </p:nvPr>
        </p:nvSpPr>
        <p:spPr/>
        <p:txBody>
          <a:bodyPr/>
          <a:lstStyle/>
          <a:p>
            <a:pPr eaLnBrk="1" hangingPunct="1"/>
            <a:r>
              <a:rPr lang="zh-CN" altLang="en-US"/>
              <a:t>位势法解释</a:t>
            </a:r>
          </a:p>
        </p:txBody>
      </p:sp>
      <p:sp>
        <p:nvSpPr>
          <p:cNvPr id="81923" name="Rectangle 7">
            <a:extLst>
              <a:ext uri="{FF2B5EF4-FFF2-40B4-BE49-F238E27FC236}">
                <a16:creationId xmlns:a16="http://schemas.microsoft.com/office/drawing/2014/main" id="{277B7881-D53D-4DD9-A816-9D15B067B73B}"/>
              </a:ext>
            </a:extLst>
          </p:cNvPr>
          <p:cNvSpPr>
            <a:spLocks noChangeArrowheads="1"/>
          </p:cNvSpPr>
          <p:nvPr/>
        </p:nvSpPr>
        <p:spPr bwMode="auto">
          <a:xfrm>
            <a:off x="0" y="35528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81924" name="Text Box 5">
            <a:extLst>
              <a:ext uri="{FF2B5EF4-FFF2-40B4-BE49-F238E27FC236}">
                <a16:creationId xmlns:a16="http://schemas.microsoft.com/office/drawing/2014/main" id="{30D86A8C-8838-4571-9D4E-9FDC5B0BD530}"/>
              </a:ext>
            </a:extLst>
          </p:cNvPr>
          <p:cNvSpPr txBox="1">
            <a:spLocks noChangeArrowheads="1"/>
          </p:cNvSpPr>
          <p:nvPr/>
        </p:nvSpPr>
        <p:spPr bwMode="auto">
          <a:xfrm>
            <a:off x="0" y="2971800"/>
            <a:ext cx="7772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77850">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t>若上述方程的某组解满足对偶问题的所有条件，即：</a:t>
            </a:r>
          </a:p>
        </p:txBody>
      </p:sp>
      <p:sp>
        <p:nvSpPr>
          <p:cNvPr id="81925" name="Text Box 8">
            <a:extLst>
              <a:ext uri="{FF2B5EF4-FFF2-40B4-BE49-F238E27FC236}">
                <a16:creationId xmlns:a16="http://schemas.microsoft.com/office/drawing/2014/main" id="{1F4B7F55-377B-4A6D-B765-C222FB5F75AF}"/>
              </a:ext>
            </a:extLst>
          </p:cNvPr>
          <p:cNvSpPr txBox="1">
            <a:spLocks noChangeArrowheads="1"/>
          </p:cNvSpPr>
          <p:nvPr/>
        </p:nvSpPr>
        <p:spPr bwMode="auto">
          <a:xfrm>
            <a:off x="593725" y="4213225"/>
            <a:ext cx="7956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t>此时，</a:t>
            </a:r>
            <a:r>
              <a:rPr lang="zh-CN" altLang="en-US" sz="2400">
                <a:solidFill>
                  <a:srgbClr val="FF0000"/>
                </a:solidFill>
              </a:rPr>
              <a:t>原问题与对偶问题均可行，故达到最优</a:t>
            </a:r>
            <a:r>
              <a:rPr lang="zh-CN" altLang="en-US" sz="2400"/>
              <a:t>。其解为：</a:t>
            </a:r>
          </a:p>
        </p:txBody>
      </p:sp>
      <p:graphicFrame>
        <p:nvGraphicFramePr>
          <p:cNvPr id="81926" name="Object 6">
            <a:extLst>
              <a:ext uri="{FF2B5EF4-FFF2-40B4-BE49-F238E27FC236}">
                <a16:creationId xmlns:a16="http://schemas.microsoft.com/office/drawing/2014/main" id="{C33E476A-EA4C-4D86-BA66-B9A12900C56F}"/>
              </a:ext>
            </a:extLst>
          </p:cNvPr>
          <p:cNvGraphicFramePr>
            <a:graphicFrameLocks noChangeAspect="1"/>
          </p:cNvGraphicFramePr>
          <p:nvPr/>
        </p:nvGraphicFramePr>
        <p:xfrm>
          <a:off x="2057400" y="3502025"/>
          <a:ext cx="2620963" cy="482600"/>
        </p:xfrm>
        <a:graphic>
          <a:graphicData uri="http://schemas.openxmlformats.org/presentationml/2006/ole">
            <mc:AlternateContent xmlns:mc="http://schemas.openxmlformats.org/markup-compatibility/2006">
              <mc:Choice xmlns:v="urn:schemas-microsoft-com:vml" Requires="v">
                <p:oleObj spid="_x0000_s81958" name="Equation" r:id="rId3" imgW="1244600" imgH="228600" progId="Equation.DSMT4">
                  <p:embed/>
                </p:oleObj>
              </mc:Choice>
              <mc:Fallback>
                <p:oleObj name="Equation" r:id="rId3" imgW="1244600" imgH="228600" progId="Equation.DSMT4">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7400" y="3502025"/>
                        <a:ext cx="2620963"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1927" name="Object 7">
            <a:extLst>
              <a:ext uri="{FF2B5EF4-FFF2-40B4-BE49-F238E27FC236}">
                <a16:creationId xmlns:a16="http://schemas.microsoft.com/office/drawing/2014/main" id="{F8162194-59EA-49F0-9B37-58977D23ECBC}"/>
              </a:ext>
            </a:extLst>
          </p:cNvPr>
          <p:cNvGraphicFramePr>
            <a:graphicFrameLocks noChangeAspect="1"/>
          </p:cNvGraphicFramePr>
          <p:nvPr/>
        </p:nvGraphicFramePr>
        <p:xfrm>
          <a:off x="1474788" y="4829175"/>
          <a:ext cx="5294312" cy="509588"/>
        </p:xfrm>
        <a:graphic>
          <a:graphicData uri="http://schemas.openxmlformats.org/presentationml/2006/ole">
            <mc:AlternateContent xmlns:mc="http://schemas.openxmlformats.org/markup-compatibility/2006">
              <mc:Choice xmlns:v="urn:schemas-microsoft-com:vml" Requires="v">
                <p:oleObj spid="_x0000_s81959" name="Equation" r:id="rId5" imgW="2514600" imgH="241300" progId="Equation.DSMT4">
                  <p:embed/>
                </p:oleObj>
              </mc:Choice>
              <mc:Fallback>
                <p:oleObj name="Equation" r:id="rId5" imgW="2514600" imgH="241300" progId="Equation.DSMT4">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74788" y="4829175"/>
                        <a:ext cx="5294312" cy="509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 name="Rectangle 3">
            <a:extLst>
              <a:ext uri="{FF2B5EF4-FFF2-40B4-BE49-F238E27FC236}">
                <a16:creationId xmlns:a16="http://schemas.microsoft.com/office/drawing/2014/main" id="{DDB74349-8BD9-4C94-A30F-A0834FD6C902}"/>
              </a:ext>
            </a:extLst>
          </p:cNvPr>
          <p:cNvSpPr txBox="1">
            <a:spLocks noChangeArrowheads="1"/>
          </p:cNvSpPr>
          <p:nvPr/>
        </p:nvSpPr>
        <p:spPr bwMode="auto">
          <a:xfrm>
            <a:off x="457200" y="5334000"/>
            <a:ext cx="8229600" cy="1447800"/>
          </a:xfrm>
          <a:prstGeom prst="rect">
            <a:avLst/>
          </a:prstGeom>
          <a:solidFill>
            <a:schemeClr val="accent1"/>
          </a:solidFill>
          <a:ln>
            <a:noFill/>
          </a:ln>
        </p:spPr>
        <p:txBody>
          <a:bodyPr/>
          <a:lst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2800" b="1">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400">
                <a:solidFill>
                  <a:schemeClr val="tx1"/>
                </a:solidFill>
                <a:latin typeface="+mn-lt"/>
                <a:ea typeface="+mn-ea"/>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000">
                <a:solidFill>
                  <a:schemeClr val="tx1"/>
                </a:solidFill>
                <a:latin typeface="+mn-lt"/>
                <a:ea typeface="+mn-ea"/>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mn-ea"/>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9pPr>
          </a:lstStyle>
          <a:p>
            <a:pPr marL="533400" indent="-533400" eaLnBrk="1" hangingPunct="1">
              <a:buFont typeface="Wingdings" panose="05000000000000000000" pitchFamily="2" charset="2"/>
              <a:buAutoNum type="arabicPeriod"/>
              <a:defRPr/>
            </a:pPr>
            <a:endParaRPr lang="zh-CN" altLang="en-US" sz="800" kern="0" dirty="0"/>
          </a:p>
          <a:p>
            <a:pPr marL="533400" indent="-533400" eaLnBrk="1" hangingPunct="1">
              <a:buFont typeface="Wingdings" panose="05000000000000000000" pitchFamily="2" charset="2"/>
              <a:buNone/>
              <a:defRPr/>
            </a:pPr>
            <a:r>
              <a:rPr lang="en-US" altLang="zh-CN" sz="2400" kern="0" dirty="0">
                <a:latin typeface="Times New Roman" panose="02020603050405020304" pitchFamily="18" charset="0"/>
              </a:rPr>
              <a:t>4.    </a:t>
            </a:r>
            <a:r>
              <a:rPr lang="zh-CN" altLang="en-US" sz="2400" kern="0" dirty="0">
                <a:solidFill>
                  <a:srgbClr val="FF0000"/>
                </a:solidFill>
              </a:rPr>
              <a:t>最优性定理</a:t>
            </a:r>
            <a:r>
              <a:rPr lang="zh-CN" altLang="en-US" sz="2400" kern="0" dirty="0"/>
              <a:t>：（</a:t>
            </a:r>
            <a:r>
              <a:rPr lang="zh-CN" altLang="en-US" sz="2400" kern="0" dirty="0">
                <a:latin typeface="Times New Roman" panose="02020603050405020304" pitchFamily="18" charset="0"/>
              </a:rPr>
              <a:t>可行解是最优解时的性质）设</a:t>
            </a:r>
            <a:r>
              <a:rPr lang="en-US" altLang="zh-CN" sz="2400" b="0" kern="0" dirty="0">
                <a:latin typeface="Times New Roman" panose="02020603050405020304" pitchFamily="18" charset="0"/>
              </a:rPr>
              <a:t>X</a:t>
            </a:r>
            <a:r>
              <a:rPr lang="en-US" altLang="zh-CN" sz="2400" kern="0" dirty="0">
                <a:latin typeface="Times New Roman" panose="02020603050405020304" pitchFamily="18" charset="0"/>
              </a:rPr>
              <a:t>’</a:t>
            </a:r>
            <a:r>
              <a:rPr lang="zh-CN" altLang="en-US" sz="2400" kern="0" dirty="0">
                <a:latin typeface="Times New Roman" panose="02020603050405020304" pitchFamily="18" charset="0"/>
              </a:rPr>
              <a:t>是原问题的可行解，</a:t>
            </a:r>
            <a:r>
              <a:rPr lang="en-US" altLang="zh-CN" sz="2400" b="0" kern="0" dirty="0">
                <a:latin typeface="Times New Roman" panose="02020603050405020304" pitchFamily="18" charset="0"/>
              </a:rPr>
              <a:t>Y</a:t>
            </a:r>
            <a:r>
              <a:rPr lang="en-US" altLang="zh-CN" sz="2400" kern="0" dirty="0">
                <a:latin typeface="Times New Roman" panose="02020603050405020304" pitchFamily="18" charset="0"/>
              </a:rPr>
              <a:t>’</a:t>
            </a:r>
            <a:r>
              <a:rPr lang="zh-CN" altLang="en-US" sz="2400" kern="0" dirty="0">
                <a:latin typeface="Times New Roman" panose="02020603050405020304" pitchFamily="18" charset="0"/>
              </a:rPr>
              <a:t>是对偶问题的可行解，当</a:t>
            </a:r>
            <a:r>
              <a:rPr lang="en-US" altLang="zh-CN" sz="2400" b="0" kern="0" dirty="0">
                <a:latin typeface="Times New Roman" panose="02020603050405020304" pitchFamily="18" charset="0"/>
              </a:rPr>
              <a:t>CX</a:t>
            </a:r>
            <a:r>
              <a:rPr lang="en-US" altLang="zh-CN" sz="2400" kern="0" dirty="0">
                <a:latin typeface="Times New Roman" panose="02020603050405020304" pitchFamily="18" charset="0"/>
              </a:rPr>
              <a:t>’=</a:t>
            </a:r>
            <a:r>
              <a:rPr lang="en-US" altLang="zh-CN" sz="2400" b="0" kern="0" dirty="0">
                <a:latin typeface="Times New Roman" panose="02020603050405020304" pitchFamily="18" charset="0"/>
              </a:rPr>
              <a:t>Y</a:t>
            </a:r>
            <a:r>
              <a:rPr lang="en-US" altLang="zh-CN" sz="2400" kern="0" dirty="0">
                <a:latin typeface="Times New Roman" panose="02020603050405020304" pitchFamily="18" charset="0"/>
              </a:rPr>
              <a:t>’</a:t>
            </a:r>
            <a:r>
              <a:rPr lang="en-US" altLang="zh-CN" sz="2400" b="0" kern="0" dirty="0">
                <a:latin typeface="Times New Roman" panose="02020603050405020304" pitchFamily="18" charset="0"/>
              </a:rPr>
              <a:t> b </a:t>
            </a:r>
            <a:r>
              <a:rPr lang="zh-CN" altLang="en-US" sz="2400" kern="0" dirty="0">
                <a:latin typeface="Times New Roman" panose="02020603050405020304" pitchFamily="18" charset="0"/>
              </a:rPr>
              <a:t>时，</a:t>
            </a:r>
            <a:r>
              <a:rPr lang="en-US" altLang="zh-CN" sz="2400" b="0" kern="0" dirty="0">
                <a:latin typeface="Times New Roman" panose="02020603050405020304" pitchFamily="18" charset="0"/>
              </a:rPr>
              <a:t>X</a:t>
            </a:r>
            <a:r>
              <a:rPr lang="en-US" altLang="zh-CN" sz="2400" kern="0" dirty="0">
                <a:latin typeface="Times New Roman" panose="02020603050405020304" pitchFamily="18" charset="0"/>
              </a:rPr>
              <a:t>’</a:t>
            </a:r>
            <a:r>
              <a:rPr lang="zh-CN" altLang="en-US" sz="2400" kern="0" dirty="0">
                <a:latin typeface="Times New Roman" panose="02020603050405020304" pitchFamily="18" charset="0"/>
              </a:rPr>
              <a:t>，</a:t>
            </a:r>
            <a:r>
              <a:rPr lang="en-US" altLang="zh-CN" sz="2400" b="0" kern="0" dirty="0">
                <a:latin typeface="Times New Roman" panose="02020603050405020304" pitchFamily="18" charset="0"/>
              </a:rPr>
              <a:t>Y</a:t>
            </a:r>
            <a:r>
              <a:rPr lang="en-US" altLang="zh-CN" sz="2400" kern="0" dirty="0">
                <a:latin typeface="Times New Roman" panose="02020603050405020304" pitchFamily="18" charset="0"/>
              </a:rPr>
              <a:t>’</a:t>
            </a:r>
            <a:r>
              <a:rPr lang="zh-CN" altLang="en-US" sz="2400" kern="0" dirty="0">
                <a:latin typeface="Times New Roman" panose="02020603050405020304" pitchFamily="18" charset="0"/>
              </a:rPr>
              <a:t>是最优解（最优解一般记为</a:t>
            </a:r>
            <a:r>
              <a:rPr lang="en-US" altLang="zh-CN" sz="2400" b="0" kern="0" dirty="0">
                <a:latin typeface="Times New Roman" panose="02020603050405020304" pitchFamily="18" charset="0"/>
              </a:rPr>
              <a:t>X</a:t>
            </a:r>
            <a:r>
              <a:rPr lang="zh-CN" altLang="en-US" sz="2400" kern="0" baseline="30000" dirty="0">
                <a:latin typeface="Times New Roman" panose="02020603050405020304" pitchFamily="18" charset="0"/>
              </a:rPr>
              <a:t>*</a:t>
            </a:r>
            <a:r>
              <a:rPr lang="zh-CN" altLang="en-US" sz="2400" kern="0" dirty="0">
                <a:latin typeface="Times New Roman" panose="02020603050405020304" pitchFamily="18" charset="0"/>
              </a:rPr>
              <a:t>，</a:t>
            </a:r>
            <a:r>
              <a:rPr lang="en-US" altLang="zh-CN" sz="2400" b="0" kern="0" dirty="0">
                <a:latin typeface="Times New Roman" panose="02020603050405020304" pitchFamily="18" charset="0"/>
              </a:rPr>
              <a:t>Y</a:t>
            </a:r>
            <a:r>
              <a:rPr lang="zh-CN" altLang="en-US" sz="2400" kern="0" baseline="30000" dirty="0">
                <a:latin typeface="Times New Roman" panose="02020603050405020304" pitchFamily="18" charset="0"/>
              </a:rPr>
              <a:t>*</a:t>
            </a:r>
            <a:r>
              <a:rPr lang="zh-CN" altLang="en-US" sz="2400" kern="0" dirty="0">
                <a:latin typeface="Times New Roman" panose="02020603050405020304" pitchFamily="18" charset="0"/>
              </a:rPr>
              <a:t>）。</a:t>
            </a:r>
          </a:p>
        </p:txBody>
      </p:sp>
      <p:graphicFrame>
        <p:nvGraphicFramePr>
          <p:cNvPr id="81929" name="Object 4">
            <a:extLst>
              <a:ext uri="{FF2B5EF4-FFF2-40B4-BE49-F238E27FC236}">
                <a16:creationId xmlns:a16="http://schemas.microsoft.com/office/drawing/2014/main" id="{F7BCAEA4-CD7D-447C-9C29-E85C771CF56E}"/>
              </a:ext>
            </a:extLst>
          </p:cNvPr>
          <p:cNvGraphicFramePr>
            <a:graphicFrameLocks noChangeAspect="1"/>
          </p:cNvGraphicFramePr>
          <p:nvPr/>
        </p:nvGraphicFramePr>
        <p:xfrm>
          <a:off x="990600" y="769938"/>
          <a:ext cx="1981200" cy="2114550"/>
        </p:xfrm>
        <a:graphic>
          <a:graphicData uri="http://schemas.openxmlformats.org/presentationml/2006/ole">
            <mc:AlternateContent xmlns:mc="http://schemas.openxmlformats.org/markup-compatibility/2006">
              <mc:Choice xmlns:v="urn:schemas-microsoft-com:vml" Requires="v">
                <p:oleObj spid="_x0000_s81960" name="Equation" r:id="rId7" imgW="1498600" imgH="1600200" progId="Equation.DSMT4">
                  <p:embed/>
                </p:oleObj>
              </mc:Choice>
              <mc:Fallback>
                <p:oleObj name="Equation" r:id="rId7" imgW="1498600" imgH="1600200" progId="Equation.DSMT4">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 y="769938"/>
                        <a:ext cx="1981200" cy="211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1930" name="Object 5">
            <a:extLst>
              <a:ext uri="{FF2B5EF4-FFF2-40B4-BE49-F238E27FC236}">
                <a16:creationId xmlns:a16="http://schemas.microsoft.com/office/drawing/2014/main" id="{2A8A848D-7AEF-4659-9A21-0E3935991734}"/>
              </a:ext>
            </a:extLst>
          </p:cNvPr>
          <p:cNvGraphicFramePr>
            <a:graphicFrameLocks noChangeAspect="1"/>
          </p:cNvGraphicFramePr>
          <p:nvPr/>
        </p:nvGraphicFramePr>
        <p:xfrm>
          <a:off x="5216525" y="1085850"/>
          <a:ext cx="3429000" cy="1352550"/>
        </p:xfrm>
        <a:graphic>
          <a:graphicData uri="http://schemas.openxmlformats.org/presentationml/2006/ole">
            <mc:AlternateContent xmlns:mc="http://schemas.openxmlformats.org/markup-compatibility/2006">
              <mc:Choice xmlns:v="urn:schemas-microsoft-com:vml" Requires="v">
                <p:oleObj spid="_x0000_s81961" name="Equation" r:id="rId9" imgW="2222500" imgH="876300" progId="Equation.DSMT4">
                  <p:embed/>
                </p:oleObj>
              </mc:Choice>
              <mc:Fallback>
                <p:oleObj name="Equation" r:id="rId9" imgW="2222500" imgH="876300" progId="Equation.DSMT4">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16525" y="1085850"/>
                        <a:ext cx="3429000" cy="135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1931" name="组合 15">
            <a:extLst>
              <a:ext uri="{FF2B5EF4-FFF2-40B4-BE49-F238E27FC236}">
                <a16:creationId xmlns:a16="http://schemas.microsoft.com/office/drawing/2014/main" id="{994916B0-2887-44FF-B733-593C01412ACE}"/>
              </a:ext>
            </a:extLst>
          </p:cNvPr>
          <p:cNvGrpSpPr>
            <a:grpSpLocks/>
          </p:cNvGrpSpPr>
          <p:nvPr/>
        </p:nvGrpSpPr>
        <p:grpSpPr bwMode="auto">
          <a:xfrm>
            <a:off x="3276600" y="1166813"/>
            <a:ext cx="1535113" cy="917575"/>
            <a:chOff x="3208762" y="2396467"/>
            <a:chExt cx="1771873" cy="918233"/>
          </a:xfrm>
        </p:grpSpPr>
        <p:sp>
          <p:nvSpPr>
            <p:cNvPr id="81932" name="Text Box 31">
              <a:extLst>
                <a:ext uri="{FF2B5EF4-FFF2-40B4-BE49-F238E27FC236}">
                  <a16:creationId xmlns:a16="http://schemas.microsoft.com/office/drawing/2014/main" id="{91228D67-3FE8-4CDE-877C-BB30E417D79E}"/>
                </a:ext>
              </a:extLst>
            </p:cNvPr>
            <p:cNvSpPr txBox="1">
              <a:spLocks noChangeArrowheads="1"/>
            </p:cNvSpPr>
            <p:nvPr/>
          </p:nvSpPr>
          <p:spPr bwMode="auto">
            <a:xfrm>
              <a:off x="3208762" y="2396467"/>
              <a:ext cx="162971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a:solidFill>
                    <a:srgbClr val="003366"/>
                  </a:solidFill>
                </a:rPr>
                <a:t>    对偶问题</a:t>
              </a:r>
              <a:endParaRPr lang="en-US" altLang="zh-CN">
                <a:solidFill>
                  <a:srgbClr val="003366"/>
                </a:solidFill>
              </a:endParaRPr>
            </a:p>
          </p:txBody>
        </p:sp>
        <p:sp>
          <p:nvSpPr>
            <p:cNvPr id="81933" name="AutoShape 54">
              <a:extLst>
                <a:ext uri="{FF2B5EF4-FFF2-40B4-BE49-F238E27FC236}">
                  <a16:creationId xmlns:a16="http://schemas.microsoft.com/office/drawing/2014/main" id="{3F6F27AD-A2AF-4FF1-9DCB-8834483A0AE0}"/>
                </a:ext>
              </a:extLst>
            </p:cNvPr>
            <p:cNvSpPr>
              <a:spLocks noChangeArrowheads="1"/>
            </p:cNvSpPr>
            <p:nvPr/>
          </p:nvSpPr>
          <p:spPr bwMode="auto">
            <a:xfrm>
              <a:off x="3323285" y="2667000"/>
              <a:ext cx="1657350" cy="647700"/>
            </a:xfrm>
            <a:prstGeom prst="leftRightArrow">
              <a:avLst>
                <a:gd name="adj1" fmla="val 50000"/>
                <a:gd name="adj2" fmla="val 51176"/>
              </a:avLst>
            </a:prstGeom>
            <a:solidFill>
              <a:schemeClr val="accent1"/>
            </a:solidFill>
            <a:ln w="9525" algn="ctr">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randombar(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a:extLst>
              <a:ext uri="{FF2B5EF4-FFF2-40B4-BE49-F238E27FC236}">
                <a16:creationId xmlns:a16="http://schemas.microsoft.com/office/drawing/2014/main" id="{54827CA7-B88C-480E-B560-6B22E57B6A7A}"/>
              </a:ext>
            </a:extLst>
          </p:cNvPr>
          <p:cNvSpPr>
            <a:spLocks noGrp="1" noChangeArrowheads="1"/>
          </p:cNvSpPr>
          <p:nvPr>
            <p:ph type="title"/>
          </p:nvPr>
        </p:nvSpPr>
        <p:spPr/>
        <p:txBody>
          <a:bodyPr/>
          <a:lstStyle/>
          <a:p>
            <a:pPr eaLnBrk="1" hangingPunct="1"/>
            <a:r>
              <a:rPr lang="zh-CN" altLang="en-US"/>
              <a:t>位势法解释</a:t>
            </a:r>
          </a:p>
        </p:txBody>
      </p:sp>
      <p:sp>
        <p:nvSpPr>
          <p:cNvPr id="82947" name="Rectangle 7">
            <a:extLst>
              <a:ext uri="{FF2B5EF4-FFF2-40B4-BE49-F238E27FC236}">
                <a16:creationId xmlns:a16="http://schemas.microsoft.com/office/drawing/2014/main" id="{43D98E41-B457-4D70-86BB-387CBD0649B8}"/>
              </a:ext>
            </a:extLst>
          </p:cNvPr>
          <p:cNvSpPr>
            <a:spLocks noChangeArrowheads="1"/>
          </p:cNvSpPr>
          <p:nvPr/>
        </p:nvSpPr>
        <p:spPr bwMode="auto">
          <a:xfrm>
            <a:off x="0" y="25574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82948" name="Text Box 12">
            <a:extLst>
              <a:ext uri="{FF2B5EF4-FFF2-40B4-BE49-F238E27FC236}">
                <a16:creationId xmlns:a16="http://schemas.microsoft.com/office/drawing/2014/main" id="{09FE1A93-AB29-457F-8257-A3C80CAE168F}"/>
              </a:ext>
            </a:extLst>
          </p:cNvPr>
          <p:cNvSpPr txBox="1">
            <a:spLocks noChangeArrowheads="1"/>
          </p:cNvSpPr>
          <p:nvPr/>
        </p:nvSpPr>
        <p:spPr bwMode="auto">
          <a:xfrm>
            <a:off x="612775" y="936625"/>
            <a:ext cx="19796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a:t>基变量为：</a:t>
            </a:r>
          </a:p>
        </p:txBody>
      </p:sp>
      <p:sp>
        <p:nvSpPr>
          <p:cNvPr id="82949" name="Text Box 14">
            <a:extLst>
              <a:ext uri="{FF2B5EF4-FFF2-40B4-BE49-F238E27FC236}">
                <a16:creationId xmlns:a16="http://schemas.microsoft.com/office/drawing/2014/main" id="{7A556512-539F-4CEF-BA80-55DDE467276F}"/>
              </a:ext>
            </a:extLst>
          </p:cNvPr>
          <p:cNvSpPr txBox="1">
            <a:spLocks noChangeArrowheads="1"/>
          </p:cNvSpPr>
          <p:nvPr/>
        </p:nvSpPr>
        <p:spPr bwMode="auto">
          <a:xfrm>
            <a:off x="685800" y="1963738"/>
            <a:ext cx="5330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a:t>根据基变量的检验数为</a:t>
            </a:r>
            <a:r>
              <a:rPr lang="en-US" altLang="zh-CN" sz="2400"/>
              <a:t>0</a:t>
            </a:r>
            <a:r>
              <a:rPr lang="zh-CN" altLang="en-US" sz="2800"/>
              <a:t>；则有：</a:t>
            </a:r>
          </a:p>
        </p:txBody>
      </p:sp>
      <p:sp>
        <p:nvSpPr>
          <p:cNvPr id="82950" name="矩形 27">
            <a:extLst>
              <a:ext uri="{FF2B5EF4-FFF2-40B4-BE49-F238E27FC236}">
                <a16:creationId xmlns:a16="http://schemas.microsoft.com/office/drawing/2014/main" id="{6CF1A389-C650-4A21-9B8B-8BDD55591EE3}"/>
              </a:ext>
            </a:extLst>
          </p:cNvPr>
          <p:cNvSpPr>
            <a:spLocks noChangeArrowheads="1"/>
          </p:cNvSpPr>
          <p:nvPr/>
        </p:nvSpPr>
        <p:spPr bwMode="auto">
          <a:xfrm>
            <a:off x="762000" y="5105400"/>
            <a:ext cx="74676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t>方程组有</a:t>
            </a:r>
            <a:r>
              <a:rPr lang="en-US" altLang="zh-CN" sz="2400" i="1">
                <a:latin typeface="Times New Roman" panose="02020603050405020304" pitchFamily="18" charset="0"/>
                <a:cs typeface="Times New Roman" panose="02020603050405020304" pitchFamily="18" charset="0"/>
              </a:rPr>
              <a:t>m</a:t>
            </a:r>
            <a:r>
              <a:rPr lang="en-US" altLang="zh-CN" sz="2400">
                <a:latin typeface="Times New Roman" panose="02020603050405020304" pitchFamily="18" charset="0"/>
                <a:cs typeface="Times New Roman" panose="02020603050405020304" pitchFamily="18" charset="0"/>
              </a:rPr>
              <a:t>+</a:t>
            </a:r>
            <a:r>
              <a:rPr lang="en-US" altLang="zh-CN" sz="2400" i="1">
                <a:latin typeface="Times New Roman" panose="02020603050405020304" pitchFamily="18" charset="0"/>
                <a:cs typeface="Times New Roman" panose="02020603050405020304" pitchFamily="18" charset="0"/>
              </a:rPr>
              <a:t>n</a:t>
            </a:r>
            <a:r>
              <a:rPr lang="en-US" altLang="zh-CN" sz="2400">
                <a:latin typeface="Times New Roman" panose="02020603050405020304" pitchFamily="18" charset="0"/>
                <a:cs typeface="Times New Roman" panose="02020603050405020304" pitchFamily="18" charset="0"/>
              </a:rPr>
              <a:t>-1</a:t>
            </a:r>
            <a:r>
              <a:rPr lang="zh-CN" altLang="en-US" sz="2400"/>
              <a:t>个方程。因为运输表中每行和每列均有基变量，因此上面方程组含有全部</a:t>
            </a:r>
            <a:r>
              <a:rPr lang="en-US" altLang="zh-CN" sz="2400" i="1">
                <a:latin typeface="Times New Roman" panose="02020603050405020304" pitchFamily="18" charset="0"/>
                <a:cs typeface="Times New Roman" panose="02020603050405020304" pitchFamily="18" charset="0"/>
              </a:rPr>
              <a:t>m</a:t>
            </a:r>
            <a:r>
              <a:rPr lang="en-US" altLang="zh-CN" sz="2400">
                <a:latin typeface="Times New Roman" panose="02020603050405020304" pitchFamily="18" charset="0"/>
                <a:cs typeface="Times New Roman" panose="02020603050405020304" pitchFamily="18" charset="0"/>
              </a:rPr>
              <a:t>+</a:t>
            </a:r>
            <a:r>
              <a:rPr lang="en-US" altLang="zh-CN" sz="2400" i="1">
                <a:latin typeface="Times New Roman" panose="02020603050405020304" pitchFamily="18" charset="0"/>
                <a:cs typeface="Times New Roman" panose="02020603050405020304" pitchFamily="18" charset="0"/>
              </a:rPr>
              <a:t>n</a:t>
            </a:r>
            <a:r>
              <a:rPr lang="zh-CN" altLang="en-US" sz="2400"/>
              <a:t>个对偶变量。方程个数小于变量个数，</a:t>
            </a:r>
            <a:r>
              <a:rPr lang="zh-CN" altLang="en-US" sz="2400">
                <a:solidFill>
                  <a:srgbClr val="FF0000"/>
                </a:solidFill>
              </a:rPr>
              <a:t>因此解不唯一</a:t>
            </a:r>
            <a:r>
              <a:rPr lang="zh-CN" altLang="en-US" sz="2400"/>
              <a:t>，其解称为</a:t>
            </a:r>
            <a:r>
              <a:rPr lang="zh-CN" altLang="en-US" sz="2400" b="1">
                <a:solidFill>
                  <a:srgbClr val="FF00FF"/>
                </a:solidFill>
              </a:rPr>
              <a:t>位势</a:t>
            </a:r>
            <a:r>
              <a:rPr lang="zh-CN" altLang="en-US" sz="2400"/>
              <a:t>。</a:t>
            </a:r>
          </a:p>
        </p:txBody>
      </p:sp>
      <p:graphicFrame>
        <p:nvGraphicFramePr>
          <p:cNvPr id="82951" name="Object 7">
            <a:extLst>
              <a:ext uri="{FF2B5EF4-FFF2-40B4-BE49-F238E27FC236}">
                <a16:creationId xmlns:a16="http://schemas.microsoft.com/office/drawing/2014/main" id="{2876543E-9D85-4CE1-9BDF-E3E04A05A2F2}"/>
              </a:ext>
            </a:extLst>
          </p:cNvPr>
          <p:cNvGraphicFramePr>
            <a:graphicFrameLocks noChangeAspect="1"/>
          </p:cNvGraphicFramePr>
          <p:nvPr/>
        </p:nvGraphicFramePr>
        <p:xfrm>
          <a:off x="2514600" y="923925"/>
          <a:ext cx="4759325" cy="1071563"/>
        </p:xfrm>
        <a:graphic>
          <a:graphicData uri="http://schemas.openxmlformats.org/presentationml/2006/ole">
            <mc:AlternateContent xmlns:mc="http://schemas.openxmlformats.org/markup-compatibility/2006">
              <mc:Choice xmlns:v="urn:schemas-microsoft-com:vml" Requires="v">
                <p:oleObj spid="_x0000_s83005" name="Equation" r:id="rId3" imgW="2260600" imgH="508000" progId="Equation.DSMT4">
                  <p:embed/>
                </p:oleObj>
              </mc:Choice>
              <mc:Fallback>
                <p:oleObj name="Equation" r:id="rId3" imgW="2260600" imgH="508000" progId="Equation.DSMT4">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923925"/>
                        <a:ext cx="4759325" cy="10715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2952" name="Object 8">
            <a:extLst>
              <a:ext uri="{FF2B5EF4-FFF2-40B4-BE49-F238E27FC236}">
                <a16:creationId xmlns:a16="http://schemas.microsoft.com/office/drawing/2014/main" id="{E6AD89D0-960B-491B-8174-D2851B09E403}"/>
              </a:ext>
            </a:extLst>
          </p:cNvPr>
          <p:cNvGraphicFramePr>
            <a:graphicFrameLocks noChangeAspect="1"/>
          </p:cNvGraphicFramePr>
          <p:nvPr/>
        </p:nvGraphicFramePr>
        <p:xfrm>
          <a:off x="6400800" y="2951163"/>
          <a:ext cx="1873250" cy="1957387"/>
        </p:xfrm>
        <a:graphic>
          <a:graphicData uri="http://schemas.openxmlformats.org/presentationml/2006/ole">
            <mc:AlternateContent xmlns:mc="http://schemas.openxmlformats.org/markup-compatibility/2006">
              <mc:Choice xmlns:v="urn:schemas-microsoft-com:vml" Requires="v">
                <p:oleObj spid="_x0000_s83006" name="Equation" r:id="rId5" imgW="889000" imgH="927100" progId="Equation.DSMT4">
                  <p:embed/>
                </p:oleObj>
              </mc:Choice>
              <mc:Fallback>
                <p:oleObj name="Equation" r:id="rId5" imgW="889000" imgH="927100" progId="Equation.DSMT4">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00800" y="2951163"/>
                        <a:ext cx="1873250" cy="1957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82953" name="组合 1">
            <a:extLst>
              <a:ext uri="{FF2B5EF4-FFF2-40B4-BE49-F238E27FC236}">
                <a16:creationId xmlns:a16="http://schemas.microsoft.com/office/drawing/2014/main" id="{794DB5F1-3B99-48A9-997C-B2934EBD0F50}"/>
              </a:ext>
            </a:extLst>
          </p:cNvPr>
          <p:cNvGrpSpPr>
            <a:grpSpLocks/>
          </p:cNvGrpSpPr>
          <p:nvPr/>
        </p:nvGrpSpPr>
        <p:grpSpPr bwMode="auto">
          <a:xfrm>
            <a:off x="838200" y="2990850"/>
            <a:ext cx="541338" cy="1943100"/>
            <a:chOff x="926306" y="2611376"/>
            <a:chExt cx="540544" cy="1943100"/>
          </a:xfrm>
        </p:grpSpPr>
        <p:graphicFrame>
          <p:nvGraphicFramePr>
            <p:cNvPr id="82959" name="Object 7">
              <a:extLst>
                <a:ext uri="{FF2B5EF4-FFF2-40B4-BE49-F238E27FC236}">
                  <a16:creationId xmlns:a16="http://schemas.microsoft.com/office/drawing/2014/main" id="{D52469AF-43BD-4FA3-BF1B-78BA160E9AAA}"/>
                </a:ext>
              </a:extLst>
            </p:cNvPr>
            <p:cNvGraphicFramePr>
              <a:graphicFrameLocks noChangeAspect="1"/>
            </p:cNvGraphicFramePr>
            <p:nvPr/>
          </p:nvGraphicFramePr>
          <p:xfrm>
            <a:off x="946150" y="2611376"/>
            <a:ext cx="481013" cy="482600"/>
          </p:xfrm>
          <a:graphic>
            <a:graphicData uri="http://schemas.openxmlformats.org/presentationml/2006/ole">
              <mc:AlternateContent xmlns:mc="http://schemas.openxmlformats.org/markup-compatibility/2006">
                <mc:Choice xmlns:v="urn:schemas-microsoft-com:vml" Requires="v">
                  <p:oleObj spid="_x0000_s83007" name="Equation" r:id="rId7" imgW="228600" imgH="228600" progId="Equation.DSMT4">
                    <p:embed/>
                  </p:oleObj>
                </mc:Choice>
                <mc:Fallback>
                  <p:oleObj name="Equation" r:id="rId7" imgW="228600" imgH="2286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6150" y="2611376"/>
                          <a:ext cx="481013"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2960" name="Object 7">
              <a:extLst>
                <a:ext uri="{FF2B5EF4-FFF2-40B4-BE49-F238E27FC236}">
                  <a16:creationId xmlns:a16="http://schemas.microsoft.com/office/drawing/2014/main" id="{96CA05C7-650C-4AE7-B2EF-C19415C98FC3}"/>
                </a:ext>
              </a:extLst>
            </p:cNvPr>
            <p:cNvGraphicFramePr>
              <a:graphicFrameLocks noChangeAspect="1"/>
            </p:cNvGraphicFramePr>
            <p:nvPr/>
          </p:nvGraphicFramePr>
          <p:xfrm>
            <a:off x="926306" y="3087688"/>
            <a:ext cx="508000" cy="482600"/>
          </p:xfrm>
          <a:graphic>
            <a:graphicData uri="http://schemas.openxmlformats.org/presentationml/2006/ole">
              <mc:AlternateContent xmlns:mc="http://schemas.openxmlformats.org/markup-compatibility/2006">
                <mc:Choice xmlns:v="urn:schemas-microsoft-com:vml" Requires="v">
                  <p:oleObj spid="_x0000_s83008" name="Equation" r:id="rId9" imgW="241300" imgH="228600" progId="Equation.DSMT4">
                    <p:embed/>
                  </p:oleObj>
                </mc:Choice>
                <mc:Fallback>
                  <p:oleObj name="Equation" r:id="rId9" imgW="241300" imgH="228600" progId="Equation.DSMT4">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306" y="3087688"/>
                          <a:ext cx="508000"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2961" name="Object 7">
              <a:extLst>
                <a:ext uri="{FF2B5EF4-FFF2-40B4-BE49-F238E27FC236}">
                  <a16:creationId xmlns:a16="http://schemas.microsoft.com/office/drawing/2014/main" id="{7C1F10FA-E067-4207-885D-C9E8AC302E35}"/>
                </a:ext>
              </a:extLst>
            </p:cNvPr>
            <p:cNvGraphicFramePr>
              <a:graphicFrameLocks noChangeAspect="1"/>
            </p:cNvGraphicFramePr>
            <p:nvPr/>
          </p:nvGraphicFramePr>
          <p:xfrm>
            <a:off x="998538" y="3724275"/>
            <a:ext cx="428625" cy="161925"/>
          </p:xfrm>
          <a:graphic>
            <a:graphicData uri="http://schemas.openxmlformats.org/presentationml/2006/ole">
              <mc:AlternateContent xmlns:mc="http://schemas.openxmlformats.org/markup-compatibility/2006">
                <mc:Choice xmlns:v="urn:schemas-microsoft-com:vml" Requires="v">
                  <p:oleObj spid="_x0000_s83009" name="Equation" r:id="rId11" imgW="202936" imgH="76101" progId="Equation.DSMT4">
                    <p:embed/>
                  </p:oleObj>
                </mc:Choice>
                <mc:Fallback>
                  <p:oleObj name="Equation" r:id="rId11" imgW="202936" imgH="76101" progId="Equation.DSMT4">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98538" y="3724275"/>
                          <a:ext cx="428625" cy="161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2962" name="Object 7">
              <a:extLst>
                <a:ext uri="{FF2B5EF4-FFF2-40B4-BE49-F238E27FC236}">
                  <a16:creationId xmlns:a16="http://schemas.microsoft.com/office/drawing/2014/main" id="{7BDF215A-B204-4A2D-86D0-E6F675890357}"/>
                </a:ext>
              </a:extLst>
            </p:cNvPr>
            <p:cNvGraphicFramePr>
              <a:graphicFrameLocks noChangeAspect="1"/>
            </p:cNvGraphicFramePr>
            <p:nvPr/>
          </p:nvGraphicFramePr>
          <p:xfrm>
            <a:off x="958850" y="4071876"/>
            <a:ext cx="508000" cy="482600"/>
          </p:xfrm>
          <a:graphic>
            <a:graphicData uri="http://schemas.openxmlformats.org/presentationml/2006/ole">
              <mc:AlternateContent xmlns:mc="http://schemas.openxmlformats.org/markup-compatibility/2006">
                <mc:Choice xmlns:v="urn:schemas-microsoft-com:vml" Requires="v">
                  <p:oleObj spid="_x0000_s83010" name="Equation" r:id="rId13" imgW="241300" imgH="228600" progId="Equation.DSMT4">
                    <p:embed/>
                  </p:oleObj>
                </mc:Choice>
                <mc:Fallback>
                  <p:oleObj name="Equation" r:id="rId13" imgW="241300" imgH="228600" progId="Equation.DSMT4">
                    <p:embed/>
                    <p:pic>
                      <p:nvPicPr>
                        <p:cNvPr id="0"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58850" y="4071876"/>
                          <a:ext cx="50800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2954" name="Object 8">
            <a:extLst>
              <a:ext uri="{FF2B5EF4-FFF2-40B4-BE49-F238E27FC236}">
                <a16:creationId xmlns:a16="http://schemas.microsoft.com/office/drawing/2014/main" id="{90FCCB91-CAD7-4F77-A290-5E490E5F1B77}"/>
              </a:ext>
            </a:extLst>
          </p:cNvPr>
          <p:cNvGraphicFramePr>
            <a:graphicFrameLocks noChangeAspect="1"/>
          </p:cNvGraphicFramePr>
          <p:nvPr/>
        </p:nvGraphicFramePr>
        <p:xfrm>
          <a:off x="3059113" y="2990850"/>
          <a:ext cx="2111375" cy="2063750"/>
        </p:xfrm>
        <a:graphic>
          <a:graphicData uri="http://schemas.openxmlformats.org/presentationml/2006/ole">
            <mc:AlternateContent xmlns:mc="http://schemas.openxmlformats.org/markup-compatibility/2006">
              <mc:Choice xmlns:v="urn:schemas-microsoft-com:vml" Requires="v">
                <p:oleObj spid="_x0000_s83011" name="Equation" r:id="rId15" imgW="1079500" imgH="1054100" progId="Equation.DSMT4">
                  <p:embed/>
                </p:oleObj>
              </mc:Choice>
              <mc:Fallback>
                <p:oleObj name="Equation" r:id="rId15" imgW="1079500" imgH="1054100" progId="Equation.DSMT4">
                  <p:embed/>
                  <p:pic>
                    <p:nvPicPr>
                      <p:cNvPr id="0" name="Object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59113" y="2990850"/>
                        <a:ext cx="2111375" cy="206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 name="右箭头 2">
            <a:extLst>
              <a:ext uri="{FF2B5EF4-FFF2-40B4-BE49-F238E27FC236}">
                <a16:creationId xmlns:a16="http://schemas.microsoft.com/office/drawing/2014/main" id="{28FDBC6F-3DD7-4D13-850B-C5D57D319345}"/>
              </a:ext>
            </a:extLst>
          </p:cNvPr>
          <p:cNvSpPr/>
          <p:nvPr/>
        </p:nvSpPr>
        <p:spPr>
          <a:xfrm>
            <a:off x="1981200" y="3708400"/>
            <a:ext cx="685800" cy="28416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6" name="右箭头 15">
            <a:extLst>
              <a:ext uri="{FF2B5EF4-FFF2-40B4-BE49-F238E27FC236}">
                <a16:creationId xmlns:a16="http://schemas.microsoft.com/office/drawing/2014/main" id="{F687AF30-09BF-4887-97F5-5B02A4942EFC}"/>
              </a:ext>
            </a:extLst>
          </p:cNvPr>
          <p:cNvSpPr/>
          <p:nvPr/>
        </p:nvSpPr>
        <p:spPr>
          <a:xfrm>
            <a:off x="5441950" y="3725863"/>
            <a:ext cx="685800" cy="2825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2957" name="Text Box 14">
            <a:extLst>
              <a:ext uri="{FF2B5EF4-FFF2-40B4-BE49-F238E27FC236}">
                <a16:creationId xmlns:a16="http://schemas.microsoft.com/office/drawing/2014/main" id="{B2814C40-25FD-42E3-8E79-8D9BA4E06FE9}"/>
              </a:ext>
            </a:extLst>
          </p:cNvPr>
          <p:cNvSpPr txBox="1">
            <a:spLocks noChangeArrowheads="1"/>
          </p:cNvSpPr>
          <p:nvPr/>
        </p:nvSpPr>
        <p:spPr bwMode="auto">
          <a:xfrm>
            <a:off x="631825" y="2641600"/>
            <a:ext cx="990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a:t>基变量</a:t>
            </a:r>
          </a:p>
        </p:txBody>
      </p:sp>
      <p:sp>
        <p:nvSpPr>
          <p:cNvPr id="82958" name="Text Box 14">
            <a:extLst>
              <a:ext uri="{FF2B5EF4-FFF2-40B4-BE49-F238E27FC236}">
                <a16:creationId xmlns:a16="http://schemas.microsoft.com/office/drawing/2014/main" id="{CD5F1A1A-9CB8-4B84-ADBE-042D57803DB7}"/>
              </a:ext>
            </a:extLst>
          </p:cNvPr>
          <p:cNvSpPr txBox="1">
            <a:spLocks noChangeArrowheads="1"/>
          </p:cNvSpPr>
          <p:nvPr/>
        </p:nvSpPr>
        <p:spPr bwMode="auto">
          <a:xfrm>
            <a:off x="3133725" y="2613025"/>
            <a:ext cx="1854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a:t>基变量检验数</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107">
            <a:extLst>
              <a:ext uri="{FF2B5EF4-FFF2-40B4-BE49-F238E27FC236}">
                <a16:creationId xmlns:a16="http://schemas.microsoft.com/office/drawing/2014/main" id="{34DA6C3E-9441-4D76-B67B-B22F8AEB387C}"/>
              </a:ext>
            </a:extLst>
          </p:cNvPr>
          <p:cNvGraphicFramePr>
            <a:graphicFrameLocks/>
          </p:cNvGraphicFramePr>
          <p:nvPr>
            <p:extLst>
              <p:ext uri="{D42A27DB-BD31-4B8C-83A1-F6EECF244321}">
                <p14:modId xmlns:p14="http://schemas.microsoft.com/office/powerpoint/2010/main" val="915766233"/>
              </p:ext>
            </p:extLst>
          </p:nvPr>
        </p:nvGraphicFramePr>
        <p:xfrm>
          <a:off x="228600" y="838200"/>
          <a:ext cx="5715001" cy="4389120"/>
        </p:xfrm>
        <a:graphic>
          <a:graphicData uri="http://schemas.openxmlformats.org/drawingml/2006/table">
            <a:tbl>
              <a:tblPr/>
              <a:tblGrid>
                <a:gridCol w="707687">
                  <a:extLst>
                    <a:ext uri="{9D8B030D-6E8A-4147-A177-3AD203B41FA5}">
                      <a16:colId xmlns:a16="http://schemas.microsoft.com/office/drawing/2014/main" val="20000"/>
                    </a:ext>
                  </a:extLst>
                </a:gridCol>
                <a:gridCol w="527086">
                  <a:extLst>
                    <a:ext uri="{9D8B030D-6E8A-4147-A177-3AD203B41FA5}">
                      <a16:colId xmlns:a16="http://schemas.microsoft.com/office/drawing/2014/main" val="20001"/>
                    </a:ext>
                  </a:extLst>
                </a:gridCol>
                <a:gridCol w="597988">
                  <a:extLst>
                    <a:ext uri="{9D8B030D-6E8A-4147-A177-3AD203B41FA5}">
                      <a16:colId xmlns:a16="http://schemas.microsoft.com/office/drawing/2014/main" val="20002"/>
                    </a:ext>
                  </a:extLst>
                </a:gridCol>
                <a:gridCol w="492303">
                  <a:extLst>
                    <a:ext uri="{9D8B030D-6E8A-4147-A177-3AD203B41FA5}">
                      <a16:colId xmlns:a16="http://schemas.microsoft.com/office/drawing/2014/main" val="20003"/>
                    </a:ext>
                  </a:extLst>
                </a:gridCol>
                <a:gridCol w="498993">
                  <a:extLst>
                    <a:ext uri="{9D8B030D-6E8A-4147-A177-3AD203B41FA5}">
                      <a16:colId xmlns:a16="http://schemas.microsoft.com/office/drawing/2014/main" val="20004"/>
                    </a:ext>
                  </a:extLst>
                </a:gridCol>
                <a:gridCol w="515045">
                  <a:extLst>
                    <a:ext uri="{9D8B030D-6E8A-4147-A177-3AD203B41FA5}">
                      <a16:colId xmlns:a16="http://schemas.microsoft.com/office/drawing/2014/main" val="20005"/>
                    </a:ext>
                  </a:extLst>
                </a:gridCol>
                <a:gridCol w="545815">
                  <a:extLst>
                    <a:ext uri="{9D8B030D-6E8A-4147-A177-3AD203B41FA5}">
                      <a16:colId xmlns:a16="http://schemas.microsoft.com/office/drawing/2014/main" val="20006"/>
                    </a:ext>
                  </a:extLst>
                </a:gridCol>
                <a:gridCol w="527086">
                  <a:extLst>
                    <a:ext uri="{9D8B030D-6E8A-4147-A177-3AD203B41FA5}">
                      <a16:colId xmlns:a16="http://schemas.microsoft.com/office/drawing/2014/main" val="20007"/>
                    </a:ext>
                  </a:extLst>
                </a:gridCol>
                <a:gridCol w="529761">
                  <a:extLst>
                    <a:ext uri="{9D8B030D-6E8A-4147-A177-3AD203B41FA5}">
                      <a16:colId xmlns:a16="http://schemas.microsoft.com/office/drawing/2014/main" val="20008"/>
                    </a:ext>
                  </a:extLst>
                </a:gridCol>
                <a:gridCol w="773237">
                  <a:extLst>
                    <a:ext uri="{9D8B030D-6E8A-4147-A177-3AD203B41FA5}">
                      <a16:colId xmlns:a16="http://schemas.microsoft.com/office/drawing/2014/main" val="20009"/>
                    </a:ext>
                  </a:extLst>
                </a:gridCol>
              </a:tblGrid>
              <a:tr h="61118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dirty="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dirty="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rgbClr val="FF3300"/>
                          </a:solidFill>
                          <a:effectLst/>
                          <a:latin typeface="Times New Roman" panose="02020603050405020304" pitchFamily="18" charset="0"/>
                          <a:ea typeface="楷体_GB2312" pitchFamily="49" charset="-122"/>
                        </a:rPr>
                        <a:t>      </a:t>
                      </a: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60801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dirty="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grpSp>
        <p:nvGrpSpPr>
          <p:cNvPr id="14" name="组合 13">
            <a:extLst>
              <a:ext uri="{FF2B5EF4-FFF2-40B4-BE49-F238E27FC236}">
                <a16:creationId xmlns:a16="http://schemas.microsoft.com/office/drawing/2014/main" id="{DC6F8E4C-5C61-43C0-93EF-78F11E3ED4B1}"/>
              </a:ext>
            </a:extLst>
          </p:cNvPr>
          <p:cNvGrpSpPr/>
          <p:nvPr/>
        </p:nvGrpSpPr>
        <p:grpSpPr>
          <a:xfrm>
            <a:off x="990600" y="2057400"/>
            <a:ext cx="3581400" cy="2331963"/>
            <a:chOff x="1871454" y="3505200"/>
            <a:chExt cx="4689929" cy="2331963"/>
          </a:xfrm>
          <a:solidFill>
            <a:schemeClr val="bg1">
              <a:lumMod val="75000"/>
            </a:schemeClr>
          </a:solidFill>
        </p:grpSpPr>
        <p:sp>
          <p:nvSpPr>
            <p:cNvPr id="6" name="Text Box 96">
              <a:extLst>
                <a:ext uri="{FF2B5EF4-FFF2-40B4-BE49-F238E27FC236}">
                  <a16:creationId xmlns:a16="http://schemas.microsoft.com/office/drawing/2014/main" id="{8DEC79F1-8A92-4A1B-852E-2CBAFC2069CD}"/>
                </a:ext>
              </a:extLst>
            </p:cNvPr>
            <p:cNvSpPr txBox="1">
              <a:spLocks noChangeArrowheads="1"/>
            </p:cNvSpPr>
            <p:nvPr/>
          </p:nvSpPr>
          <p:spPr bwMode="auto">
            <a:xfrm>
              <a:off x="1871454" y="4449762"/>
              <a:ext cx="457201"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dirty="0">
                  <a:solidFill>
                    <a:srgbClr val="FF3300"/>
                  </a:solidFill>
                </a:rPr>
                <a:t>3</a:t>
              </a:r>
            </a:p>
          </p:txBody>
        </p:sp>
        <p:sp>
          <p:nvSpPr>
            <p:cNvPr id="7" name="Text Box 98">
              <a:extLst>
                <a:ext uri="{FF2B5EF4-FFF2-40B4-BE49-F238E27FC236}">
                  <a16:creationId xmlns:a16="http://schemas.microsoft.com/office/drawing/2014/main" id="{AA7EF77B-D2B0-4928-AD0B-6A3F9C649149}"/>
                </a:ext>
              </a:extLst>
            </p:cNvPr>
            <p:cNvSpPr txBox="1">
              <a:spLocks noChangeArrowheads="1"/>
            </p:cNvSpPr>
            <p:nvPr/>
          </p:nvSpPr>
          <p:spPr bwMode="auto">
            <a:xfrm>
              <a:off x="4657333" y="4541837"/>
              <a:ext cx="762000"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dirty="0">
                  <a:solidFill>
                    <a:srgbClr val="FF3300"/>
                  </a:solidFill>
                </a:rPr>
                <a:t>1</a:t>
              </a:r>
            </a:p>
          </p:txBody>
        </p:sp>
        <p:sp>
          <p:nvSpPr>
            <p:cNvPr id="8" name="Text Box 100">
              <a:extLst>
                <a:ext uri="{FF2B5EF4-FFF2-40B4-BE49-F238E27FC236}">
                  <a16:creationId xmlns:a16="http://schemas.microsoft.com/office/drawing/2014/main" id="{D90EA200-4194-4C4A-87CE-5B1C1040D99B}"/>
                </a:ext>
              </a:extLst>
            </p:cNvPr>
            <p:cNvSpPr txBox="1">
              <a:spLocks noChangeArrowheads="1"/>
            </p:cNvSpPr>
            <p:nvPr/>
          </p:nvSpPr>
          <p:spPr bwMode="auto">
            <a:xfrm>
              <a:off x="4800600" y="3505200"/>
              <a:ext cx="685800"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dirty="0">
                  <a:solidFill>
                    <a:srgbClr val="FF3300"/>
                  </a:solidFill>
                </a:rPr>
                <a:t>4</a:t>
              </a:r>
            </a:p>
          </p:txBody>
        </p:sp>
        <p:sp>
          <p:nvSpPr>
            <p:cNvPr id="9" name="Text Box 102">
              <a:extLst>
                <a:ext uri="{FF2B5EF4-FFF2-40B4-BE49-F238E27FC236}">
                  <a16:creationId xmlns:a16="http://schemas.microsoft.com/office/drawing/2014/main" id="{BB6CFD83-1B4A-411B-BB43-7D9DD64A42B8}"/>
                </a:ext>
              </a:extLst>
            </p:cNvPr>
            <p:cNvSpPr txBox="1">
              <a:spLocks noChangeArrowheads="1"/>
            </p:cNvSpPr>
            <p:nvPr/>
          </p:nvSpPr>
          <p:spPr bwMode="auto">
            <a:xfrm>
              <a:off x="3368240" y="5440288"/>
              <a:ext cx="380999"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rPr>
                <a:t>6</a:t>
              </a:r>
            </a:p>
          </p:txBody>
        </p:sp>
        <p:sp>
          <p:nvSpPr>
            <p:cNvPr id="10" name="Text Box 103">
              <a:extLst>
                <a:ext uri="{FF2B5EF4-FFF2-40B4-BE49-F238E27FC236}">
                  <a16:creationId xmlns:a16="http://schemas.microsoft.com/office/drawing/2014/main" id="{0DC71550-ABB4-448D-830D-260A70B351D6}"/>
                </a:ext>
              </a:extLst>
            </p:cNvPr>
            <p:cNvSpPr txBox="1">
              <a:spLocks noChangeArrowheads="1"/>
            </p:cNvSpPr>
            <p:nvPr/>
          </p:nvSpPr>
          <p:spPr bwMode="auto">
            <a:xfrm>
              <a:off x="6180384" y="5394326"/>
              <a:ext cx="380999"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dirty="0">
                  <a:solidFill>
                    <a:srgbClr val="FF3300"/>
                  </a:solidFill>
                </a:rPr>
                <a:t>3</a:t>
              </a:r>
            </a:p>
          </p:txBody>
        </p:sp>
        <p:sp>
          <p:nvSpPr>
            <p:cNvPr id="11" name="Text Box 104">
              <a:extLst>
                <a:ext uri="{FF2B5EF4-FFF2-40B4-BE49-F238E27FC236}">
                  <a16:creationId xmlns:a16="http://schemas.microsoft.com/office/drawing/2014/main" id="{088648C3-3DD8-4A07-A133-8F35B70D5AB9}"/>
                </a:ext>
              </a:extLst>
            </p:cNvPr>
            <p:cNvSpPr txBox="1">
              <a:spLocks noChangeArrowheads="1"/>
            </p:cNvSpPr>
            <p:nvPr/>
          </p:nvSpPr>
          <p:spPr bwMode="auto">
            <a:xfrm>
              <a:off x="6019800" y="3505200"/>
              <a:ext cx="381000" cy="396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dirty="0">
                  <a:solidFill>
                    <a:srgbClr val="FF3300"/>
                  </a:solidFill>
                </a:rPr>
                <a:t>3</a:t>
              </a:r>
            </a:p>
          </p:txBody>
        </p:sp>
      </p:grpSp>
      <p:pic>
        <p:nvPicPr>
          <p:cNvPr id="15" name="图片 14">
            <a:extLst>
              <a:ext uri="{FF2B5EF4-FFF2-40B4-BE49-F238E27FC236}">
                <a16:creationId xmlns:a16="http://schemas.microsoft.com/office/drawing/2014/main" id="{A443F153-DD1E-42FC-A24F-B22118859407}"/>
              </a:ext>
            </a:extLst>
          </p:cNvPr>
          <p:cNvPicPr>
            <a:picLocks noChangeAspect="1"/>
          </p:cNvPicPr>
          <p:nvPr/>
        </p:nvPicPr>
        <p:blipFill rotWithShape="1">
          <a:blip r:embed="rId2"/>
          <a:srcRect l="58063"/>
          <a:stretch/>
        </p:blipFill>
        <p:spPr>
          <a:xfrm>
            <a:off x="6155544" y="2486004"/>
            <a:ext cx="2718325" cy="2954227"/>
          </a:xfrm>
          <a:prstGeom prst="rect">
            <a:avLst/>
          </a:prstGeom>
        </p:spPr>
      </p:pic>
      <p:pic>
        <p:nvPicPr>
          <p:cNvPr id="16" name="图片 15">
            <a:extLst>
              <a:ext uri="{FF2B5EF4-FFF2-40B4-BE49-F238E27FC236}">
                <a16:creationId xmlns:a16="http://schemas.microsoft.com/office/drawing/2014/main" id="{24F549F1-A277-4C03-9FF5-E8547869E65E}"/>
              </a:ext>
            </a:extLst>
          </p:cNvPr>
          <p:cNvPicPr>
            <a:picLocks noChangeAspect="1"/>
          </p:cNvPicPr>
          <p:nvPr/>
        </p:nvPicPr>
        <p:blipFill rotWithShape="1">
          <a:blip r:embed="rId2"/>
          <a:srcRect r="59947"/>
          <a:stretch/>
        </p:blipFill>
        <p:spPr>
          <a:xfrm>
            <a:off x="6599274" y="147637"/>
            <a:ext cx="2161010" cy="2459038"/>
          </a:xfrm>
          <a:prstGeom prst="rect">
            <a:avLst/>
          </a:prstGeom>
        </p:spPr>
      </p:pic>
      <p:pic>
        <p:nvPicPr>
          <p:cNvPr id="18" name="图片 17">
            <a:extLst>
              <a:ext uri="{FF2B5EF4-FFF2-40B4-BE49-F238E27FC236}">
                <a16:creationId xmlns:a16="http://schemas.microsoft.com/office/drawing/2014/main" id="{49142147-2FCE-4E6F-BA04-2D590A8D2A7B}"/>
              </a:ext>
            </a:extLst>
          </p:cNvPr>
          <p:cNvPicPr>
            <a:picLocks noChangeAspect="1"/>
          </p:cNvPicPr>
          <p:nvPr/>
        </p:nvPicPr>
        <p:blipFill>
          <a:blip r:embed="rId3"/>
          <a:stretch>
            <a:fillRect/>
          </a:stretch>
        </p:blipFill>
        <p:spPr>
          <a:xfrm>
            <a:off x="483781" y="5509233"/>
            <a:ext cx="8176437" cy="997930"/>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spTree>
    <p:extLst>
      <p:ext uri="{BB962C8B-B14F-4D97-AF65-F5344CB8AC3E}">
        <p14:creationId xmlns:p14="http://schemas.microsoft.com/office/powerpoint/2010/main" val="367824333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a:extLst>
              <a:ext uri="{FF2B5EF4-FFF2-40B4-BE49-F238E27FC236}">
                <a16:creationId xmlns:a16="http://schemas.microsoft.com/office/drawing/2014/main" id="{D9F9D5FC-61CB-4950-8644-8345E5B618DC}"/>
              </a:ext>
            </a:extLst>
          </p:cNvPr>
          <p:cNvSpPr>
            <a:spLocks noGrp="1" noChangeArrowheads="1"/>
          </p:cNvSpPr>
          <p:nvPr>
            <p:ph type="title"/>
          </p:nvPr>
        </p:nvSpPr>
        <p:spPr/>
        <p:txBody>
          <a:bodyPr/>
          <a:lstStyle/>
          <a:p>
            <a:pPr eaLnBrk="1" hangingPunct="1"/>
            <a:r>
              <a:rPr lang="zh-CN" altLang="en-US"/>
              <a:t>为什么称为</a:t>
            </a:r>
            <a:r>
              <a:rPr lang="zh-CN" altLang="en-US">
                <a:solidFill>
                  <a:srgbClr val="FF0000"/>
                </a:solidFill>
              </a:rPr>
              <a:t>位势</a:t>
            </a:r>
            <a:r>
              <a:rPr lang="zh-CN" altLang="en-US"/>
              <a:t>？</a:t>
            </a:r>
            <a:r>
              <a:rPr lang="zh-CN" altLang="en-US">
                <a:solidFill>
                  <a:srgbClr val="FF00FF"/>
                </a:solidFill>
              </a:rPr>
              <a:t>（个人见解）</a:t>
            </a:r>
          </a:p>
        </p:txBody>
      </p:sp>
      <p:sp>
        <p:nvSpPr>
          <p:cNvPr id="83971" name="Rectangle 3">
            <a:extLst>
              <a:ext uri="{FF2B5EF4-FFF2-40B4-BE49-F238E27FC236}">
                <a16:creationId xmlns:a16="http://schemas.microsoft.com/office/drawing/2014/main" id="{6A66D069-B18C-40EC-80D1-CA0082F964A6}"/>
              </a:ext>
            </a:extLst>
          </p:cNvPr>
          <p:cNvSpPr>
            <a:spLocks noGrp="1" noChangeArrowheads="1"/>
          </p:cNvSpPr>
          <p:nvPr>
            <p:ph type="body" idx="1"/>
          </p:nvPr>
        </p:nvSpPr>
        <p:spPr>
          <a:xfrm>
            <a:off x="457200" y="838200"/>
            <a:ext cx="8229600" cy="1981200"/>
          </a:xfrm>
        </p:spPr>
        <p:txBody>
          <a:bodyPr/>
          <a:lstStyle/>
          <a:p>
            <a:pPr eaLnBrk="1" hangingPunct="1">
              <a:lnSpc>
                <a:spcPct val="123000"/>
              </a:lnSpc>
            </a:pPr>
            <a:r>
              <a:rPr lang="zh-CN" altLang="en-US">
                <a:latin typeface="Times New Roman" panose="02020603050405020304" pitchFamily="18" charset="0"/>
              </a:rPr>
              <a:t>位势的百度百科解释（字面上的理解）</a:t>
            </a:r>
            <a:br>
              <a:rPr lang="zh-CN" altLang="en-US">
                <a:latin typeface="Times New Roman" panose="02020603050405020304" pitchFamily="18" charset="0"/>
              </a:rPr>
            </a:br>
            <a:r>
              <a:rPr lang="zh-CN" altLang="en-US" sz="2000"/>
              <a:t>位置的变化引起的势能。空气块在地球重力场下所具有的势能，在数值上等于单位质量空气从海平面高度上升到高度</a:t>
            </a:r>
            <a:r>
              <a:rPr lang="en-US" altLang="zh-CN" sz="2000"/>
              <a:t>Z</a:t>
            </a:r>
            <a:r>
              <a:rPr lang="zh-CN" altLang="en-US" sz="2000"/>
              <a:t>所做的功。</a:t>
            </a:r>
            <a:r>
              <a:rPr lang="zh-CN" altLang="en-US" sz="2000">
                <a:solidFill>
                  <a:srgbClr val="FF0000"/>
                </a:solidFill>
              </a:rPr>
              <a:t>技术系数矩阵</a:t>
            </a:r>
            <a:r>
              <a:rPr lang="en-US" altLang="zh-CN" sz="2000">
                <a:solidFill>
                  <a:srgbClr val="FF0000"/>
                </a:solidFill>
              </a:rPr>
              <a:t>P</a:t>
            </a:r>
            <a:r>
              <a:rPr lang="zh-CN" altLang="en-US" sz="2000">
                <a:solidFill>
                  <a:srgbClr val="FF0000"/>
                </a:solidFill>
              </a:rPr>
              <a:t>中对应的</a:t>
            </a:r>
            <a:r>
              <a:rPr lang="en-US" altLang="zh-CN" sz="2000">
                <a:solidFill>
                  <a:srgbClr val="FF0000"/>
                </a:solidFill>
              </a:rPr>
              <a:t>u</a:t>
            </a:r>
            <a:r>
              <a:rPr lang="en-US" altLang="zh-CN" sz="2000" baseline="-25000">
                <a:solidFill>
                  <a:srgbClr val="FF0000"/>
                </a:solidFill>
              </a:rPr>
              <a:t>i</a:t>
            </a:r>
            <a:r>
              <a:rPr lang="en-US" altLang="zh-CN" sz="2000">
                <a:solidFill>
                  <a:srgbClr val="FF0000"/>
                </a:solidFill>
              </a:rPr>
              <a:t>,v</a:t>
            </a:r>
            <a:r>
              <a:rPr lang="en-US" altLang="zh-CN" sz="2000" baseline="-25000">
                <a:solidFill>
                  <a:srgbClr val="FF0000"/>
                </a:solidFill>
              </a:rPr>
              <a:t>j</a:t>
            </a:r>
            <a:r>
              <a:rPr lang="zh-CN" altLang="en-US" sz="2000">
                <a:solidFill>
                  <a:srgbClr val="FF0000"/>
                </a:solidFill>
              </a:rPr>
              <a:t>元素位置的变化引起的“势能”。</a:t>
            </a:r>
            <a:endParaRPr lang="zh-CN" altLang="en-US" sz="2000">
              <a:solidFill>
                <a:srgbClr val="FF0000"/>
              </a:solidFill>
              <a:latin typeface="Times New Roman" panose="02020603050405020304" pitchFamily="18" charset="0"/>
              <a:cs typeface="Times New Roman" panose="02020603050405020304" pitchFamily="18" charset="0"/>
            </a:endParaRPr>
          </a:p>
        </p:txBody>
      </p:sp>
      <p:sp>
        <p:nvSpPr>
          <p:cNvPr id="83972" name="Rectangle 7">
            <a:extLst>
              <a:ext uri="{FF2B5EF4-FFF2-40B4-BE49-F238E27FC236}">
                <a16:creationId xmlns:a16="http://schemas.microsoft.com/office/drawing/2014/main" id="{DFB89E13-A6E1-4CE4-963F-9961167BD9E5}"/>
              </a:ext>
            </a:extLst>
          </p:cNvPr>
          <p:cNvSpPr>
            <a:spLocks noChangeArrowheads="1"/>
          </p:cNvSpPr>
          <p:nvPr/>
        </p:nvSpPr>
        <p:spPr bwMode="auto">
          <a:xfrm>
            <a:off x="381000" y="41402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83973" name="Object 6">
            <a:extLst>
              <a:ext uri="{FF2B5EF4-FFF2-40B4-BE49-F238E27FC236}">
                <a16:creationId xmlns:a16="http://schemas.microsoft.com/office/drawing/2014/main" id="{12147701-5AC2-4FB3-BDA2-0DEF156B727C}"/>
              </a:ext>
            </a:extLst>
          </p:cNvPr>
          <p:cNvGraphicFramePr>
            <a:graphicFrameLocks noChangeAspect="1"/>
          </p:cNvGraphicFramePr>
          <p:nvPr/>
        </p:nvGraphicFramePr>
        <p:xfrm>
          <a:off x="1143000" y="3182938"/>
          <a:ext cx="7924800" cy="3370262"/>
        </p:xfrm>
        <a:graphic>
          <a:graphicData uri="http://schemas.openxmlformats.org/presentationml/2006/ole">
            <mc:AlternateContent xmlns:mc="http://schemas.openxmlformats.org/markup-compatibility/2006">
              <mc:Choice xmlns:v="urn:schemas-microsoft-com:vml" Requires="v">
                <p:oleObj spid="_x0000_s83983" name="公式" r:id="rId3" imgW="4787900" imgH="2032000" progId="Equation.3">
                  <p:embed/>
                </p:oleObj>
              </mc:Choice>
              <mc:Fallback>
                <p:oleObj name="公式" r:id="rId3" imgW="4787900" imgH="203200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3182938"/>
                        <a:ext cx="7924800" cy="337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3974" name="Text Box 8">
            <a:extLst>
              <a:ext uri="{FF2B5EF4-FFF2-40B4-BE49-F238E27FC236}">
                <a16:creationId xmlns:a16="http://schemas.microsoft.com/office/drawing/2014/main" id="{A5273D25-8465-4D41-9B95-171A6A0DD49B}"/>
              </a:ext>
            </a:extLst>
          </p:cNvPr>
          <p:cNvSpPr txBox="1">
            <a:spLocks noChangeArrowheads="1"/>
          </p:cNvSpPr>
          <p:nvPr/>
        </p:nvSpPr>
        <p:spPr bwMode="auto">
          <a:xfrm>
            <a:off x="1143000" y="2649538"/>
            <a:ext cx="7391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x</a:t>
            </a:r>
            <a:r>
              <a:rPr lang="en-US" altLang="zh-CN" sz="2400" baseline="-25000">
                <a:latin typeface="Times New Roman" panose="02020603050405020304" pitchFamily="18" charset="0"/>
              </a:rPr>
              <a:t>11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12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1</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21  </a:t>
            </a:r>
            <a:r>
              <a:rPr lang="en-US" altLang="zh-CN" sz="2400" i="1">
                <a:latin typeface="Times New Roman" panose="02020603050405020304" pitchFamily="18" charset="0"/>
              </a:rPr>
              <a:t>x</a:t>
            </a:r>
            <a:r>
              <a:rPr lang="en-US" altLang="zh-CN" sz="2400" baseline="-25000">
                <a:latin typeface="Times New Roman" panose="02020603050405020304" pitchFamily="18" charset="0"/>
              </a:rPr>
              <a:t>22  </a:t>
            </a:r>
            <a:r>
              <a:rPr lang="en-US" altLang="zh-CN" sz="2400" i="1">
                <a:latin typeface="Times New Roman" panose="02020603050405020304" pitchFamily="18" charset="0"/>
              </a:rPr>
              <a:t>… x</a:t>
            </a:r>
            <a:r>
              <a:rPr lang="en-US" altLang="zh-CN" sz="2400" baseline="-25000">
                <a:latin typeface="Times New Roman" panose="02020603050405020304" pitchFamily="18" charset="0"/>
              </a:rPr>
              <a:t>2</a:t>
            </a:r>
            <a:r>
              <a:rPr lang="en-US" altLang="zh-CN" sz="2400" i="1" baseline="-25000">
                <a:latin typeface="Times New Roman" panose="02020603050405020304" pitchFamily="18" charset="0"/>
              </a:rPr>
              <a:t>n               </a:t>
            </a:r>
            <a:r>
              <a:rPr lang="en-US" altLang="zh-CN" sz="2400" i="1">
                <a:latin typeface="Times New Roman" panose="02020603050405020304" pitchFamily="18" charset="0"/>
              </a:rPr>
              <a:t>…             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1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a:t>
            </a:r>
            <a:r>
              <a:rPr lang="en-US" altLang="zh-CN" sz="2400" baseline="-25000">
                <a:latin typeface="Times New Roman" panose="02020603050405020304" pitchFamily="18" charset="0"/>
              </a:rPr>
              <a:t>2  </a:t>
            </a:r>
            <a:r>
              <a:rPr lang="en-US" altLang="zh-CN" sz="2400" i="1">
                <a:latin typeface="Times New Roman" panose="02020603050405020304" pitchFamily="18" charset="0"/>
              </a:rPr>
              <a:t>…x</a:t>
            </a:r>
            <a:r>
              <a:rPr lang="en-US" altLang="zh-CN" sz="2400" i="1" baseline="-25000">
                <a:latin typeface="Times New Roman" panose="02020603050405020304" pitchFamily="18" charset="0"/>
              </a:rPr>
              <a:t>mn</a:t>
            </a:r>
          </a:p>
        </p:txBody>
      </p:sp>
      <p:sp>
        <p:nvSpPr>
          <p:cNvPr id="83975" name="Text Box 8">
            <a:extLst>
              <a:ext uri="{FF2B5EF4-FFF2-40B4-BE49-F238E27FC236}">
                <a16:creationId xmlns:a16="http://schemas.microsoft.com/office/drawing/2014/main" id="{54D3E992-B18F-4C8A-9232-6187C86337C0}"/>
              </a:ext>
            </a:extLst>
          </p:cNvPr>
          <p:cNvSpPr txBox="1">
            <a:spLocks noChangeArrowheads="1"/>
          </p:cNvSpPr>
          <p:nvPr/>
        </p:nvSpPr>
        <p:spPr bwMode="auto">
          <a:xfrm>
            <a:off x="617538" y="3089275"/>
            <a:ext cx="5715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i="1">
                <a:latin typeface="Times New Roman" panose="02020603050405020304" pitchFamily="18" charset="0"/>
              </a:rPr>
              <a:t>u</a:t>
            </a:r>
            <a:r>
              <a:rPr lang="en-US" altLang="zh-CN" sz="2400" baseline="-25000">
                <a:latin typeface="Times New Roman" panose="02020603050405020304" pitchFamily="18" charset="0"/>
              </a:rPr>
              <a:t>1  </a:t>
            </a:r>
            <a:r>
              <a:rPr lang="en-US" altLang="zh-CN" sz="2400" i="1">
                <a:latin typeface="Times New Roman" panose="02020603050405020304" pitchFamily="18" charset="0"/>
              </a:rPr>
              <a:t>u</a:t>
            </a:r>
            <a:r>
              <a:rPr lang="en-US" altLang="zh-CN" sz="2400" baseline="-25000">
                <a:latin typeface="Times New Roman" panose="02020603050405020304" pitchFamily="18" charset="0"/>
              </a:rPr>
              <a:t>2  </a:t>
            </a:r>
            <a:r>
              <a:rPr lang="en-US" altLang="zh-CN" sz="2400" i="1">
                <a:latin typeface="Times New Roman" panose="02020603050405020304" pitchFamily="18" charset="0"/>
              </a:rPr>
              <a:t>…  u</a:t>
            </a:r>
            <a:r>
              <a:rPr lang="en-US" altLang="zh-CN" sz="2400" i="1" baseline="-25000">
                <a:latin typeface="Times New Roman" panose="02020603050405020304" pitchFamily="18" charset="0"/>
              </a:rPr>
              <a:t>m    </a:t>
            </a:r>
            <a:r>
              <a:rPr lang="en-US" altLang="zh-CN" sz="2400" i="1">
                <a:latin typeface="Times New Roman" panose="02020603050405020304" pitchFamily="18" charset="0"/>
              </a:rPr>
              <a:t>v</a:t>
            </a:r>
            <a:r>
              <a:rPr lang="en-US" altLang="zh-CN" sz="2400" baseline="-25000">
                <a:latin typeface="Times New Roman" panose="02020603050405020304" pitchFamily="18" charset="0"/>
              </a:rPr>
              <a:t>1  </a:t>
            </a:r>
            <a:r>
              <a:rPr lang="en-US" altLang="zh-CN" sz="2400" i="1">
                <a:latin typeface="Times New Roman" panose="02020603050405020304" pitchFamily="18" charset="0"/>
              </a:rPr>
              <a:t>v</a:t>
            </a:r>
            <a:r>
              <a:rPr lang="en-US" altLang="zh-CN" sz="2400" baseline="-25000">
                <a:latin typeface="Times New Roman" panose="02020603050405020304" pitchFamily="18" charset="0"/>
              </a:rPr>
              <a:t>2  </a:t>
            </a:r>
            <a:r>
              <a:rPr lang="en-US" altLang="zh-CN" sz="2400" i="1">
                <a:latin typeface="Times New Roman" panose="02020603050405020304" pitchFamily="18" charset="0"/>
              </a:rPr>
              <a:t>… v</a:t>
            </a:r>
            <a:r>
              <a:rPr lang="en-US" altLang="zh-CN" sz="2400" i="1" baseline="-25000">
                <a:latin typeface="Times New Roman" panose="02020603050405020304" pitchFamily="18" charset="0"/>
              </a:rPr>
              <a:t>n</a:t>
            </a:r>
          </a:p>
        </p:txBody>
      </p:sp>
      <p:sp>
        <p:nvSpPr>
          <p:cNvPr id="10" name="Rectangle 5">
            <a:extLst>
              <a:ext uri="{FF2B5EF4-FFF2-40B4-BE49-F238E27FC236}">
                <a16:creationId xmlns:a16="http://schemas.microsoft.com/office/drawing/2014/main" id="{B5E67C2B-3C24-4C3F-AE29-169ADC38C381}"/>
              </a:ext>
            </a:extLst>
          </p:cNvPr>
          <p:cNvSpPr>
            <a:spLocks noChangeArrowheads="1"/>
          </p:cNvSpPr>
          <p:nvPr/>
        </p:nvSpPr>
        <p:spPr bwMode="auto">
          <a:xfrm>
            <a:off x="1495425" y="4071938"/>
            <a:ext cx="6581775" cy="957262"/>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kumimoji="1" lang="zh-CN" altLang="en-US" sz="2000" b="1">
                <a:latin typeface="Times New Roman" panose="02020603050405020304" pitchFamily="18" charset="0"/>
              </a:rPr>
              <a:t>系数矩阵中对应 </a:t>
            </a:r>
            <a:r>
              <a:rPr lang="en-US" altLang="zh-CN" sz="2000" i="1">
                <a:latin typeface="Times New Roman" panose="02020603050405020304" pitchFamily="18" charset="0"/>
              </a:rPr>
              <a:t>x</a:t>
            </a:r>
            <a:r>
              <a:rPr lang="en-US" altLang="zh-CN" sz="2000" i="1" baseline="-25000">
                <a:latin typeface="Times New Roman" panose="02020603050405020304" pitchFamily="18" charset="0"/>
              </a:rPr>
              <a:t>ij</a:t>
            </a:r>
            <a:r>
              <a:rPr lang="en-US" altLang="zh-CN" sz="2000" baseline="-25000">
                <a:latin typeface="Times New Roman" panose="02020603050405020304" pitchFamily="18" charset="0"/>
              </a:rPr>
              <a:t> </a:t>
            </a:r>
            <a:r>
              <a:rPr lang="en-US" altLang="zh-CN" sz="2000">
                <a:latin typeface="Times New Roman" panose="02020603050405020304" pitchFamily="18" charset="0"/>
              </a:rPr>
              <a:t> </a:t>
            </a:r>
            <a:r>
              <a:rPr lang="zh-CN" altLang="en-US" sz="2000">
                <a:latin typeface="Times New Roman" panose="02020603050405020304" pitchFamily="18" charset="0"/>
              </a:rPr>
              <a:t>的系数向量</a:t>
            </a:r>
            <a:r>
              <a:rPr lang="en-US" altLang="zh-CN" sz="2000">
                <a:latin typeface="Times New Roman" panose="02020603050405020304" pitchFamily="18" charset="0"/>
              </a:rPr>
              <a:t>P</a:t>
            </a:r>
            <a:r>
              <a:rPr lang="en-US" altLang="zh-CN" sz="2000" i="1" baseline="-25000">
                <a:latin typeface="Times New Roman" panose="02020603050405020304" pitchFamily="18" charset="0"/>
              </a:rPr>
              <a:t>ij</a:t>
            </a:r>
            <a:r>
              <a:rPr lang="en-US" altLang="zh-CN" sz="2000" i="1">
                <a:latin typeface="Times New Roman" panose="02020603050405020304" pitchFamily="18" charset="0"/>
              </a:rPr>
              <a:t> </a:t>
            </a:r>
            <a:r>
              <a:rPr lang="en-US" altLang="zh-CN" sz="2000">
                <a:latin typeface="Times New Roman" panose="02020603050405020304" pitchFamily="18" charset="0"/>
              </a:rPr>
              <a:t>= (0</a:t>
            </a:r>
            <a:r>
              <a:rPr lang="en-US" altLang="zh-CN" sz="2000" i="1">
                <a:latin typeface="Times New Roman" panose="02020603050405020304" pitchFamily="18" charset="0"/>
              </a:rPr>
              <a:t> </a:t>
            </a:r>
            <a:r>
              <a:rPr lang="en-US" altLang="zh-CN" sz="2000">
                <a:latin typeface="Times New Roman" panose="02020603050405020304" pitchFamily="18" charset="0"/>
              </a:rPr>
              <a:t>…1…...0….1……)</a:t>
            </a:r>
            <a:r>
              <a:rPr lang="en-US" altLang="zh-CN" sz="2000" baseline="30000">
                <a:latin typeface="Times New Roman" panose="02020603050405020304" pitchFamily="18" charset="0"/>
              </a:rPr>
              <a:t>T</a:t>
            </a:r>
            <a:r>
              <a:rPr lang="en-US" altLang="zh-CN" sz="2000">
                <a:latin typeface="Times New Roman" panose="02020603050405020304" pitchFamily="18" charset="0"/>
              </a:rPr>
              <a:t> =e</a:t>
            </a:r>
            <a:r>
              <a:rPr lang="en-US" altLang="zh-CN" sz="2000" i="1" baseline="-25000">
                <a:latin typeface="Times New Roman" panose="02020603050405020304" pitchFamily="18" charset="0"/>
              </a:rPr>
              <a:t>i</a:t>
            </a:r>
            <a:r>
              <a:rPr lang="en-US" altLang="zh-CN" sz="2000">
                <a:latin typeface="Times New Roman" panose="02020603050405020304" pitchFamily="18" charset="0"/>
              </a:rPr>
              <a:t>+e</a:t>
            </a:r>
            <a:r>
              <a:rPr lang="en-US" altLang="zh-CN" sz="2000" i="1" baseline="-25000">
                <a:latin typeface="Times New Roman" panose="02020603050405020304" pitchFamily="18" charset="0"/>
              </a:rPr>
              <a:t>m+j</a:t>
            </a:r>
            <a:r>
              <a:rPr kumimoji="1" lang="zh-CN" altLang="en-US" sz="2000" b="1">
                <a:latin typeface="Times New Roman" panose="02020603050405020304" pitchFamily="18" charset="0"/>
              </a:rPr>
              <a:t>。</a:t>
            </a:r>
            <a:r>
              <a:rPr kumimoji="1" lang="en-US" altLang="zh-CN" sz="2000" b="1">
                <a:latin typeface="Times New Roman" panose="02020603050405020304" pitchFamily="18" charset="0"/>
              </a:rPr>
              <a:t>(</a:t>
            </a:r>
            <a:r>
              <a:rPr kumimoji="1" lang="zh-CN" altLang="en-US" sz="2000" b="1">
                <a:latin typeface="Times New Roman" panose="02020603050405020304" pitchFamily="18" charset="0"/>
              </a:rPr>
              <a:t>除了第</a:t>
            </a:r>
            <a:r>
              <a:rPr kumimoji="1" lang="en-US" altLang="zh-CN" sz="2000" b="1" i="1">
                <a:latin typeface="Times New Roman" panose="02020603050405020304" pitchFamily="18" charset="0"/>
              </a:rPr>
              <a:t>i</a:t>
            </a:r>
            <a:r>
              <a:rPr kumimoji="1" lang="zh-CN" altLang="en-US" sz="2000" b="1">
                <a:latin typeface="Times New Roman" panose="02020603050405020304" pitchFamily="18" charset="0"/>
              </a:rPr>
              <a:t>和第</a:t>
            </a:r>
            <a:r>
              <a:rPr kumimoji="1" lang="en-US" altLang="zh-CN" sz="2000" b="1" i="1">
                <a:latin typeface="Times New Roman" panose="02020603050405020304" pitchFamily="18" charset="0"/>
              </a:rPr>
              <a:t>m</a:t>
            </a:r>
            <a:r>
              <a:rPr kumimoji="1" lang="en-US" altLang="zh-CN" sz="2000" b="1">
                <a:latin typeface="Times New Roman" panose="02020603050405020304" pitchFamily="18" charset="0"/>
              </a:rPr>
              <a:t>+</a:t>
            </a:r>
            <a:r>
              <a:rPr kumimoji="1" lang="en-US" altLang="zh-CN" sz="2000" b="1" i="1">
                <a:latin typeface="Times New Roman" panose="02020603050405020304" pitchFamily="18" charset="0"/>
              </a:rPr>
              <a:t>j</a:t>
            </a:r>
            <a:r>
              <a:rPr kumimoji="1" lang="en-US" altLang="zh-CN" sz="2000" b="1">
                <a:latin typeface="Times New Roman" panose="02020603050405020304" pitchFamily="18" charset="0"/>
              </a:rPr>
              <a:t> </a:t>
            </a:r>
            <a:r>
              <a:rPr kumimoji="1" lang="zh-CN" altLang="en-US" sz="2000" b="1">
                <a:latin typeface="Times New Roman" panose="02020603050405020304" pitchFamily="18" charset="0"/>
              </a:rPr>
              <a:t>个为</a:t>
            </a:r>
            <a:r>
              <a:rPr kumimoji="1" lang="en-US" altLang="zh-CN" sz="2000" b="1">
                <a:latin typeface="Times New Roman" panose="02020603050405020304" pitchFamily="18" charset="0"/>
              </a:rPr>
              <a:t>1, </a:t>
            </a:r>
            <a:r>
              <a:rPr kumimoji="1" lang="zh-CN" altLang="en-US" sz="2000" b="1">
                <a:latin typeface="Times New Roman" panose="02020603050405020304" pitchFamily="18" charset="0"/>
              </a:rPr>
              <a:t>其余的都为</a:t>
            </a:r>
            <a:r>
              <a:rPr kumimoji="1" lang="en-US" altLang="zh-CN" sz="2000" b="1">
                <a:latin typeface="Times New Roman" panose="02020603050405020304" pitchFamily="18" charset="0"/>
              </a:rPr>
              <a:t>0)</a:t>
            </a:r>
            <a:endParaRPr kumimoji="1" lang="zh-CN" altLang="en-US" sz="20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a:extLst>
              <a:ext uri="{FF2B5EF4-FFF2-40B4-BE49-F238E27FC236}">
                <a16:creationId xmlns:a16="http://schemas.microsoft.com/office/drawing/2014/main" id="{6D1E6602-B6E4-4268-B3C3-A522341B6816}"/>
              </a:ext>
            </a:extLst>
          </p:cNvPr>
          <p:cNvSpPr>
            <a:spLocks noGrp="1" noChangeArrowheads="1"/>
          </p:cNvSpPr>
          <p:nvPr>
            <p:ph type="title"/>
          </p:nvPr>
        </p:nvSpPr>
        <p:spPr/>
        <p:txBody>
          <a:bodyPr/>
          <a:lstStyle/>
          <a:p>
            <a:pPr eaLnBrk="1" hangingPunct="1"/>
            <a:r>
              <a:rPr lang="zh-CN" altLang="en-US"/>
              <a:t>解的改进</a:t>
            </a:r>
            <a:r>
              <a:rPr lang="en-US" altLang="zh-CN">
                <a:latin typeface="Arial" panose="020B0604020202020204" pitchFamily="34" charset="0"/>
              </a:rPr>
              <a:t>—</a:t>
            </a:r>
            <a:r>
              <a:rPr lang="zh-CN" altLang="en-US"/>
              <a:t>闭回路调整法</a:t>
            </a:r>
          </a:p>
        </p:txBody>
      </p:sp>
      <p:sp>
        <p:nvSpPr>
          <p:cNvPr id="167939" name="Rectangle 3">
            <a:extLst>
              <a:ext uri="{FF2B5EF4-FFF2-40B4-BE49-F238E27FC236}">
                <a16:creationId xmlns:a16="http://schemas.microsoft.com/office/drawing/2014/main" id="{330E84B3-53F3-458E-BD86-6479914EF1E7}"/>
              </a:ext>
            </a:extLst>
          </p:cNvPr>
          <p:cNvSpPr>
            <a:spLocks noGrp="1" noChangeArrowheads="1"/>
          </p:cNvSpPr>
          <p:nvPr>
            <p:ph type="body" idx="1"/>
          </p:nvPr>
        </p:nvSpPr>
        <p:spPr>
          <a:xfrm>
            <a:off x="457200" y="990600"/>
            <a:ext cx="8229600" cy="5638800"/>
          </a:xfrm>
        </p:spPr>
        <p:txBody>
          <a:bodyPr/>
          <a:lstStyle/>
          <a:p>
            <a:pPr marL="533400" indent="-533400" algn="just" eaLnBrk="1" hangingPunct="1"/>
            <a:r>
              <a:rPr lang="zh-CN" altLang="en-US">
                <a:latin typeface="Times New Roman" panose="02020603050405020304" pitchFamily="18" charset="0"/>
              </a:rPr>
              <a:t>当存在</a:t>
            </a:r>
            <a:r>
              <a:rPr lang="zh-CN" altLang="en-US" sz="2800">
                <a:latin typeface="Times New Roman" panose="02020603050405020304" pitchFamily="18" charset="0"/>
                <a:sym typeface="Symbol" panose="05050102010706020507" pitchFamily="18" charset="2"/>
              </a:rPr>
              <a:t></a:t>
            </a:r>
            <a:r>
              <a:rPr lang="en-US" altLang="zh-CN" i="1" baseline="-25000">
                <a:latin typeface="Times New Roman" panose="02020603050405020304" pitchFamily="18" charset="0"/>
              </a:rPr>
              <a:t>ij</a:t>
            </a:r>
            <a:r>
              <a:rPr lang="zh-CN" altLang="en-US">
                <a:latin typeface="Times New Roman" panose="02020603050405020304" pitchFamily="18" charset="0"/>
              </a:rPr>
              <a:t>检验数为负时，当前非最优解，需要改进，改进步骤：</a:t>
            </a:r>
          </a:p>
          <a:p>
            <a:pPr marL="1087438" lvl="1" indent="-742950" algn="just" eaLnBrk="1" hangingPunct="1">
              <a:buFontTx/>
              <a:buAutoNum type="arabicPeriod"/>
            </a:pPr>
            <a:r>
              <a:rPr lang="zh-CN" altLang="en-US">
                <a:latin typeface="Times New Roman" panose="02020603050405020304" pitchFamily="18" charset="0"/>
              </a:rPr>
              <a:t>确定换入变量 </a:t>
            </a:r>
            <a:r>
              <a:rPr lang="zh-CN" altLang="en-US" sz="2400">
                <a:latin typeface="Times New Roman" panose="02020603050405020304" pitchFamily="18" charset="0"/>
                <a:sym typeface="Symbol" panose="05050102010706020507" pitchFamily="18" charset="2"/>
              </a:rPr>
              <a:t></a:t>
            </a:r>
            <a:r>
              <a:rPr lang="en-US" altLang="zh-CN" sz="3200" i="1" baseline="-25000">
                <a:latin typeface="Times New Roman" panose="02020603050405020304" pitchFamily="18" charset="0"/>
              </a:rPr>
              <a:t>kl</a:t>
            </a:r>
            <a:r>
              <a:rPr lang="en-US" altLang="zh-CN">
                <a:latin typeface="Times New Roman" panose="02020603050405020304" pitchFamily="18" charset="0"/>
              </a:rPr>
              <a:t>= min (</a:t>
            </a:r>
            <a:r>
              <a:rPr lang="en-US" altLang="zh-CN" sz="2400">
                <a:latin typeface="Times New Roman" panose="02020603050405020304" pitchFamily="18" charset="0"/>
                <a:sym typeface="Symbol" panose="05050102010706020507" pitchFamily="18" charset="2"/>
              </a:rPr>
              <a:t></a:t>
            </a:r>
            <a:r>
              <a:rPr lang="en-US" altLang="zh-CN" sz="3200" i="1" baseline="-25000">
                <a:latin typeface="Times New Roman" panose="02020603050405020304" pitchFamily="18" charset="0"/>
              </a:rPr>
              <a:t>ij</a:t>
            </a:r>
            <a:r>
              <a:rPr lang="en-US" altLang="zh-CN">
                <a:latin typeface="Times New Roman" panose="02020603050405020304" pitchFamily="18" charset="0"/>
              </a:rPr>
              <a:t>| </a:t>
            </a:r>
            <a:r>
              <a:rPr lang="en-US" altLang="zh-CN" sz="2400">
                <a:latin typeface="Times New Roman" panose="02020603050405020304" pitchFamily="18" charset="0"/>
                <a:sym typeface="Symbol" panose="05050102010706020507" pitchFamily="18" charset="2"/>
              </a:rPr>
              <a:t></a:t>
            </a:r>
            <a:r>
              <a:rPr lang="en-US" altLang="zh-CN" sz="3200" i="1" baseline="-25000">
                <a:latin typeface="Times New Roman" panose="02020603050405020304" pitchFamily="18" charset="0"/>
              </a:rPr>
              <a:t>ij</a:t>
            </a:r>
            <a:r>
              <a:rPr lang="en-US" altLang="zh-CN">
                <a:latin typeface="Times New Roman" panose="02020603050405020304" pitchFamily="18" charset="0"/>
              </a:rPr>
              <a:t>&lt;0)</a:t>
            </a:r>
            <a:r>
              <a:rPr lang="zh-CN" altLang="en-US">
                <a:latin typeface="Times New Roman" panose="02020603050405020304" pitchFamily="18" charset="0"/>
              </a:rPr>
              <a:t>，在表中对应一个空格</a:t>
            </a:r>
          </a:p>
          <a:p>
            <a:pPr marL="1087438" lvl="1" indent="-742950" algn="just" eaLnBrk="1" hangingPunct="1">
              <a:buFontTx/>
              <a:buAutoNum type="arabicPeriod"/>
            </a:pPr>
            <a:r>
              <a:rPr lang="zh-CN" altLang="en-US">
                <a:latin typeface="Times New Roman" panose="02020603050405020304" pitchFamily="18" charset="0"/>
              </a:rPr>
              <a:t>从该空格出发找到一个闭合回路，并从出发点依次为闭回路顶点标号“</a:t>
            </a:r>
            <a:r>
              <a:rPr lang="en-US" altLang="zh-CN">
                <a:latin typeface="Times New Roman" panose="02020603050405020304" pitchFamily="18" charset="0"/>
              </a:rPr>
              <a:t>+”“-”“+”“-”</a:t>
            </a:r>
            <a:r>
              <a:rPr lang="zh-CN" altLang="en-US">
                <a:latin typeface="Times New Roman" panose="02020603050405020304" pitchFamily="18" charset="0"/>
              </a:rPr>
              <a:t>相间</a:t>
            </a:r>
          </a:p>
          <a:p>
            <a:pPr marL="1087438" lvl="1" indent="-742950" algn="just" eaLnBrk="1" hangingPunct="1">
              <a:buFontTx/>
              <a:buAutoNum type="arabicPeriod"/>
            </a:pPr>
            <a:r>
              <a:rPr lang="zh-CN" altLang="en-US">
                <a:latin typeface="Times New Roman" panose="02020603050405020304" pitchFamily="18" charset="0"/>
              </a:rPr>
              <a:t>确定调整量</a:t>
            </a:r>
            <a:r>
              <a:rPr kumimoji="1" lang="en-US" altLang="zh-CN">
                <a:latin typeface="Times New Roman" panose="02020603050405020304" pitchFamily="18" charset="0"/>
                <a:ea typeface="华文细黑" panose="02010600040101010101" pitchFamily="2" charset="-122"/>
              </a:rPr>
              <a:t>θ</a:t>
            </a:r>
            <a:r>
              <a:rPr lang="zh-CN" altLang="en-US">
                <a:latin typeface="Times New Roman" panose="02020603050405020304" pitchFamily="18" charset="0"/>
              </a:rPr>
              <a:t>并进行调整</a:t>
            </a:r>
          </a:p>
          <a:p>
            <a:pPr marL="1476375" lvl="2" indent="-804863" algn="just" eaLnBrk="1" hangingPunct="1">
              <a:buFontTx/>
              <a:buChar char="–"/>
            </a:pPr>
            <a:r>
              <a:rPr kumimoji="1" lang="en-US" altLang="zh-CN">
                <a:latin typeface="Times New Roman" panose="02020603050405020304" pitchFamily="18" charset="0"/>
                <a:ea typeface="华文细黑" panose="02010600040101010101" pitchFamily="2" charset="-122"/>
              </a:rPr>
              <a:t>θ </a:t>
            </a:r>
            <a:r>
              <a:rPr lang="en-US" altLang="zh-CN">
                <a:latin typeface="Times New Roman" panose="02020603050405020304" pitchFamily="18" charset="0"/>
              </a:rPr>
              <a:t>= min{</a:t>
            </a:r>
            <a:r>
              <a:rPr lang="zh-CN" altLang="en-US">
                <a:latin typeface="Times New Roman" panose="02020603050405020304" pitchFamily="18" charset="0"/>
              </a:rPr>
              <a:t>闭回路中有负标号格的运量</a:t>
            </a:r>
            <a:r>
              <a:rPr lang="en-US" altLang="zh-CN">
                <a:latin typeface="Times New Roman" panose="02020603050405020304" pitchFamily="18" charset="0"/>
              </a:rPr>
              <a:t>}</a:t>
            </a:r>
          </a:p>
          <a:p>
            <a:pPr marL="1476375" lvl="2" indent="-804863" algn="just" eaLnBrk="1" hangingPunct="1">
              <a:buFontTx/>
              <a:buChar char="–"/>
            </a:pPr>
            <a:r>
              <a:rPr lang="zh-CN" altLang="en-US">
                <a:latin typeface="Times New Roman" panose="02020603050405020304" pitchFamily="18" charset="0"/>
              </a:rPr>
              <a:t>对“</a:t>
            </a:r>
            <a:r>
              <a:rPr lang="en-US" altLang="zh-CN">
                <a:latin typeface="Times New Roman" panose="02020603050405020304" pitchFamily="18" charset="0"/>
              </a:rPr>
              <a:t>+”</a:t>
            </a:r>
            <a:r>
              <a:rPr lang="zh-CN" altLang="en-US">
                <a:latin typeface="Times New Roman" panose="02020603050405020304" pitchFamily="18" charset="0"/>
              </a:rPr>
              <a:t>标号格</a:t>
            </a:r>
            <a:r>
              <a:rPr lang="en-US" altLang="zh-CN">
                <a:latin typeface="Times New Roman" panose="02020603050405020304" pitchFamily="18" charset="0"/>
              </a:rPr>
              <a:t>+</a:t>
            </a:r>
            <a:r>
              <a:rPr kumimoji="1" lang="en-US" altLang="zh-CN">
                <a:latin typeface="Times New Roman" panose="02020603050405020304" pitchFamily="18" charset="0"/>
                <a:ea typeface="华文细黑" panose="02010600040101010101" pitchFamily="2" charset="-122"/>
              </a:rPr>
              <a:t>θ</a:t>
            </a:r>
            <a:r>
              <a:rPr lang="zh-CN" altLang="en-US">
                <a:latin typeface="Times New Roman" panose="02020603050405020304" pitchFamily="18" charset="0"/>
              </a:rPr>
              <a:t>；对“</a:t>
            </a:r>
            <a:r>
              <a:rPr lang="en-US" altLang="zh-CN">
                <a:latin typeface="Times New Roman" panose="02020603050405020304" pitchFamily="18" charset="0"/>
              </a:rPr>
              <a:t>-”</a:t>
            </a:r>
            <a:r>
              <a:rPr lang="zh-CN" altLang="en-US">
                <a:latin typeface="Times New Roman" panose="02020603050405020304" pitchFamily="18" charset="0"/>
              </a:rPr>
              <a:t>标号格减去</a:t>
            </a:r>
            <a:r>
              <a:rPr kumimoji="1" lang="en-US" altLang="zh-CN">
                <a:latin typeface="Times New Roman" panose="02020603050405020304" pitchFamily="18" charset="0"/>
                <a:ea typeface="华文细黑" panose="02010600040101010101" pitchFamily="2" charset="-122"/>
              </a:rPr>
              <a:t>θ</a:t>
            </a:r>
            <a:r>
              <a:rPr lang="zh-CN" altLang="en-US">
                <a:latin typeface="Times New Roman" panose="02020603050405020304" pitchFamily="18" charset="0"/>
              </a:rPr>
              <a:t>，对为</a:t>
            </a:r>
            <a:r>
              <a:rPr lang="en-US" altLang="zh-CN">
                <a:latin typeface="Times New Roman" panose="02020603050405020304" pitchFamily="18" charset="0"/>
              </a:rPr>
              <a:t>0</a:t>
            </a:r>
            <a:r>
              <a:rPr lang="zh-CN" altLang="en-US">
                <a:latin typeface="Times New Roman" panose="02020603050405020304" pitchFamily="18" charset="0"/>
              </a:rPr>
              <a:t>格不填</a:t>
            </a:r>
            <a:r>
              <a:rPr lang="en-US" altLang="zh-CN">
                <a:latin typeface="Times New Roman" panose="02020603050405020304" pitchFamily="18" charset="0"/>
              </a:rPr>
              <a:t>0</a:t>
            </a:r>
          </a:p>
          <a:p>
            <a:pPr marL="1087438" lvl="1" indent="-742950" algn="just" eaLnBrk="1" hangingPunct="1">
              <a:buFontTx/>
              <a:buAutoNum type="arabicPeriod"/>
            </a:pPr>
            <a:r>
              <a:rPr lang="zh-CN" altLang="en-US">
                <a:latin typeface="Times New Roman" panose="02020603050405020304" pitchFamily="18" charset="0"/>
              </a:rPr>
              <a:t>检验得到的解是否为最优，如是最优，停止计算；否则，继续上述改进</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7939">
                                            <p:txEl>
                                              <p:pRg st="1" end="1"/>
                                            </p:txEl>
                                          </p:spTgt>
                                        </p:tgtEl>
                                        <p:attrNameLst>
                                          <p:attrName>style.visibility</p:attrName>
                                        </p:attrNameLst>
                                      </p:cBhvr>
                                      <p:to>
                                        <p:strVal val="visible"/>
                                      </p:to>
                                    </p:set>
                                    <p:animEffect transition="in" filter="blinds(horizontal)">
                                      <p:cBhvr>
                                        <p:cTn id="7" dur="500"/>
                                        <p:tgtEl>
                                          <p:spTgt spid="167939">
                                            <p:txEl>
                                              <p:pRg st="1" end="1"/>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67939">
                                            <p:txEl>
                                              <p:pRg st="2" end="2"/>
                                            </p:txEl>
                                          </p:spTgt>
                                        </p:tgtEl>
                                        <p:attrNameLst>
                                          <p:attrName>style.visibility</p:attrName>
                                        </p:attrNameLst>
                                      </p:cBhvr>
                                      <p:to>
                                        <p:strVal val="visible"/>
                                      </p:to>
                                    </p:set>
                                    <p:animEffect transition="in" filter="blinds(horizontal)">
                                      <p:cBhvr>
                                        <p:cTn id="12" dur="500"/>
                                        <p:tgtEl>
                                          <p:spTgt spid="167939">
                                            <p:txEl>
                                              <p:pRg st="2" end="2"/>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67939">
                                            <p:txEl>
                                              <p:pRg st="3" end="3"/>
                                            </p:txEl>
                                          </p:spTgt>
                                        </p:tgtEl>
                                        <p:attrNameLst>
                                          <p:attrName>style.visibility</p:attrName>
                                        </p:attrNameLst>
                                      </p:cBhvr>
                                      <p:to>
                                        <p:strVal val="visible"/>
                                      </p:to>
                                    </p:set>
                                    <p:animEffect transition="in" filter="blinds(horizontal)">
                                      <p:cBhvr>
                                        <p:cTn id="17" dur="500"/>
                                        <p:tgtEl>
                                          <p:spTgt spid="167939">
                                            <p:txEl>
                                              <p:pRg st="3" end="3"/>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67939">
                                            <p:txEl>
                                              <p:pRg st="4" end="4"/>
                                            </p:txEl>
                                          </p:spTgt>
                                        </p:tgtEl>
                                        <p:attrNameLst>
                                          <p:attrName>style.visibility</p:attrName>
                                        </p:attrNameLst>
                                      </p:cBhvr>
                                      <p:to>
                                        <p:strVal val="visible"/>
                                      </p:to>
                                    </p:set>
                                    <p:animEffect transition="in" filter="blinds(horizontal)">
                                      <p:cBhvr>
                                        <p:cTn id="22" dur="500"/>
                                        <p:tgtEl>
                                          <p:spTgt spid="167939">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67939">
                                            <p:txEl>
                                              <p:pRg st="5" end="5"/>
                                            </p:txEl>
                                          </p:spTgt>
                                        </p:tgtEl>
                                        <p:attrNameLst>
                                          <p:attrName>style.visibility</p:attrName>
                                        </p:attrNameLst>
                                      </p:cBhvr>
                                      <p:to>
                                        <p:strVal val="visible"/>
                                      </p:to>
                                    </p:set>
                                    <p:animEffect transition="in" filter="blinds(horizontal)">
                                      <p:cBhvr>
                                        <p:cTn id="27" dur="500"/>
                                        <p:tgtEl>
                                          <p:spTgt spid="167939">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167939">
                                            <p:txEl>
                                              <p:pRg st="6" end="6"/>
                                            </p:txEl>
                                          </p:spTgt>
                                        </p:tgtEl>
                                        <p:attrNameLst>
                                          <p:attrName>style.visibility</p:attrName>
                                        </p:attrNameLst>
                                      </p:cBhvr>
                                      <p:to>
                                        <p:strVal val="visible"/>
                                      </p:to>
                                    </p:set>
                                    <p:animEffect transition="in" filter="blinds(horizontal)">
                                      <p:cBhvr>
                                        <p:cTn id="32" dur="500"/>
                                        <p:tgtEl>
                                          <p:spTgt spid="167939">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939" grpId="0" build="p" bldLvl="3"/>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descr="Large confetti">
            <a:extLst>
              <a:ext uri="{FF2B5EF4-FFF2-40B4-BE49-F238E27FC236}">
                <a16:creationId xmlns:a16="http://schemas.microsoft.com/office/drawing/2014/main" id="{4F9A235D-47F9-43C2-9759-4825B11CDEF1}"/>
              </a:ext>
            </a:extLst>
          </p:cNvPr>
          <p:cNvSpPr>
            <a:spLocks noGrp="1" noChangeArrowheads="1"/>
          </p:cNvSpPr>
          <p:nvPr>
            <p:ph type="title"/>
          </p:nvPr>
        </p:nvSpPr>
        <p:spPr/>
        <p:txBody>
          <a:bodyPr/>
          <a:lstStyle/>
          <a:p>
            <a:pPr eaLnBrk="1" hangingPunct="1"/>
            <a:r>
              <a:rPr lang="zh-CN" altLang="en-US"/>
              <a:t>例子</a:t>
            </a:r>
            <a:r>
              <a:rPr lang="en-US" altLang="zh-CN"/>
              <a:t>-</a:t>
            </a:r>
            <a:r>
              <a:rPr lang="zh-CN" altLang="en-US"/>
              <a:t>位势法和闭回路法</a:t>
            </a:r>
          </a:p>
        </p:txBody>
      </p:sp>
      <p:sp>
        <p:nvSpPr>
          <p:cNvPr id="233475" name="Text Box 3">
            <a:extLst>
              <a:ext uri="{FF2B5EF4-FFF2-40B4-BE49-F238E27FC236}">
                <a16:creationId xmlns:a16="http://schemas.microsoft.com/office/drawing/2014/main" id="{0C6F8544-C2FA-4C0F-9E56-C03369963B77}"/>
              </a:ext>
            </a:extLst>
          </p:cNvPr>
          <p:cNvSpPr txBox="1">
            <a:spLocks noChangeArrowheads="1"/>
          </p:cNvSpPr>
          <p:nvPr/>
        </p:nvSpPr>
        <p:spPr bwMode="auto">
          <a:xfrm>
            <a:off x="1255713" y="5546725"/>
            <a:ext cx="5729287" cy="83026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用位势法对初始方案进行最优性检验</a:t>
            </a:r>
            <a:r>
              <a:rPr lang="en-US" altLang="zh-CN" dirty="0">
                <a:solidFill>
                  <a:schemeClr val="tx1"/>
                </a:solidFill>
                <a:latin typeface="+mn-ea"/>
                <a:ea typeface="+mn-ea"/>
              </a:rPr>
              <a:t>?</a:t>
            </a:r>
          </a:p>
          <a:p>
            <a:pPr eaLnBrk="1" hangingPunct="1">
              <a:defRPr/>
            </a:pPr>
            <a:r>
              <a:rPr lang="zh-CN" altLang="en-US" dirty="0">
                <a:solidFill>
                  <a:schemeClr val="tx1"/>
                </a:solidFill>
                <a:latin typeface="+mn-ea"/>
                <a:ea typeface="+mn-ea"/>
              </a:rPr>
              <a:t>若不是最优解，用闭回路法进行调整？</a:t>
            </a:r>
          </a:p>
        </p:txBody>
      </p:sp>
      <p:graphicFrame>
        <p:nvGraphicFramePr>
          <p:cNvPr id="43" name="Group 6">
            <a:extLst>
              <a:ext uri="{FF2B5EF4-FFF2-40B4-BE49-F238E27FC236}">
                <a16:creationId xmlns:a16="http://schemas.microsoft.com/office/drawing/2014/main" id="{425A7A38-8628-4EBD-8365-7ADBDE6E955C}"/>
              </a:ext>
            </a:extLst>
          </p:cNvPr>
          <p:cNvGraphicFramePr>
            <a:graphicFrameLocks noGrp="1"/>
          </p:cNvGraphicFramePr>
          <p:nvPr/>
        </p:nvGraphicFramePr>
        <p:xfrm>
          <a:off x="900113" y="1412875"/>
          <a:ext cx="6427787" cy="3357563"/>
        </p:xfrm>
        <a:graphic>
          <a:graphicData uri="http://schemas.openxmlformats.org/drawingml/2006/table">
            <a:tbl>
              <a:tblPr/>
              <a:tblGrid>
                <a:gridCol w="1119187">
                  <a:extLst>
                    <a:ext uri="{9D8B030D-6E8A-4147-A177-3AD203B41FA5}">
                      <a16:colId xmlns:a16="http://schemas.microsoft.com/office/drawing/2014/main" val="20000"/>
                    </a:ext>
                  </a:extLst>
                </a:gridCol>
                <a:gridCol w="1119188">
                  <a:extLst>
                    <a:ext uri="{9D8B030D-6E8A-4147-A177-3AD203B41FA5}">
                      <a16:colId xmlns:a16="http://schemas.microsoft.com/office/drawing/2014/main" val="20001"/>
                    </a:ext>
                  </a:extLst>
                </a:gridCol>
                <a:gridCol w="1119187">
                  <a:extLst>
                    <a:ext uri="{9D8B030D-6E8A-4147-A177-3AD203B41FA5}">
                      <a16:colId xmlns:a16="http://schemas.microsoft.com/office/drawing/2014/main" val="20002"/>
                    </a:ext>
                  </a:extLst>
                </a:gridCol>
                <a:gridCol w="1119188">
                  <a:extLst>
                    <a:ext uri="{9D8B030D-6E8A-4147-A177-3AD203B41FA5}">
                      <a16:colId xmlns:a16="http://schemas.microsoft.com/office/drawing/2014/main" val="20003"/>
                    </a:ext>
                  </a:extLst>
                </a:gridCol>
                <a:gridCol w="1119187">
                  <a:extLst>
                    <a:ext uri="{9D8B030D-6E8A-4147-A177-3AD203B41FA5}">
                      <a16:colId xmlns:a16="http://schemas.microsoft.com/office/drawing/2014/main" val="20004"/>
                    </a:ext>
                  </a:extLst>
                </a:gridCol>
                <a:gridCol w="831850">
                  <a:extLst>
                    <a:ext uri="{9D8B030D-6E8A-4147-A177-3AD203B41FA5}">
                      <a16:colId xmlns:a16="http://schemas.microsoft.com/office/drawing/2014/main" val="20005"/>
                    </a:ext>
                  </a:extLst>
                </a:gridCol>
              </a:tblGrid>
              <a:tr h="5461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2</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3</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4</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u</a:t>
                      </a:r>
                      <a:r>
                        <a:rPr kumimoji="1" lang="en-US" altLang="zh-CN" sz="2000" b="1" i="0" u="none" strike="noStrike" cap="none" normalizeH="0" baseline="-25000">
                          <a:ln>
                            <a:noFill/>
                          </a:ln>
                          <a:solidFill>
                            <a:srgbClr val="000000"/>
                          </a:solidFill>
                          <a:effectLst/>
                          <a:latin typeface="Times New Roman" panose="02020603050405020304" pitchFamily="18" charset="0"/>
                          <a:ea typeface="宋体" panose="02010600030101010101" pitchFamily="2" charset="-122"/>
                        </a:rPr>
                        <a:t>i</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50888">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20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620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36575">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v</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j</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86064" name="Rectangle 50">
            <a:extLst>
              <a:ext uri="{FF2B5EF4-FFF2-40B4-BE49-F238E27FC236}">
                <a16:creationId xmlns:a16="http://schemas.microsoft.com/office/drawing/2014/main" id="{D5CF239A-87F2-4679-8320-5A158B9A16E8}"/>
              </a:ext>
            </a:extLst>
          </p:cNvPr>
          <p:cNvSpPr>
            <a:spLocks noChangeArrowheads="1"/>
          </p:cNvSpPr>
          <p:nvPr/>
        </p:nvSpPr>
        <p:spPr bwMode="auto">
          <a:xfrm>
            <a:off x="2652713" y="2000250"/>
            <a:ext cx="498475" cy="471488"/>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86065" name="Rectangle 51">
            <a:extLst>
              <a:ext uri="{FF2B5EF4-FFF2-40B4-BE49-F238E27FC236}">
                <a16:creationId xmlns:a16="http://schemas.microsoft.com/office/drawing/2014/main" id="{8B8005E2-80CE-4A6F-B6BE-A3D83C91E0A2}"/>
              </a:ext>
            </a:extLst>
          </p:cNvPr>
          <p:cNvSpPr>
            <a:spLocks noChangeArrowheads="1"/>
          </p:cNvSpPr>
          <p:nvPr/>
        </p:nvSpPr>
        <p:spPr bwMode="auto">
          <a:xfrm>
            <a:off x="3771900" y="20002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11</a:t>
            </a:r>
          </a:p>
        </p:txBody>
      </p:sp>
      <p:sp>
        <p:nvSpPr>
          <p:cNvPr id="86066" name="Rectangle 52">
            <a:extLst>
              <a:ext uri="{FF2B5EF4-FFF2-40B4-BE49-F238E27FC236}">
                <a16:creationId xmlns:a16="http://schemas.microsoft.com/office/drawing/2014/main" id="{B35A7ABD-B430-4C9F-8045-06A336765F58}"/>
              </a:ext>
            </a:extLst>
          </p:cNvPr>
          <p:cNvSpPr>
            <a:spLocks noChangeArrowheads="1"/>
          </p:cNvSpPr>
          <p:nvPr/>
        </p:nvSpPr>
        <p:spPr bwMode="auto">
          <a:xfrm>
            <a:off x="4876800" y="20002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86067" name="Rectangle 53">
            <a:extLst>
              <a:ext uri="{FF2B5EF4-FFF2-40B4-BE49-F238E27FC236}">
                <a16:creationId xmlns:a16="http://schemas.microsoft.com/office/drawing/2014/main" id="{AC80797E-FED1-4FD6-8263-509945A0FB57}"/>
              </a:ext>
            </a:extLst>
          </p:cNvPr>
          <p:cNvSpPr>
            <a:spLocks noChangeArrowheads="1"/>
          </p:cNvSpPr>
          <p:nvPr/>
        </p:nvSpPr>
        <p:spPr bwMode="auto">
          <a:xfrm>
            <a:off x="6018213" y="198437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86068" name="Rectangle 54">
            <a:extLst>
              <a:ext uri="{FF2B5EF4-FFF2-40B4-BE49-F238E27FC236}">
                <a16:creationId xmlns:a16="http://schemas.microsoft.com/office/drawing/2014/main" id="{78A9DC43-1136-4C02-941C-2327E47C5A74}"/>
              </a:ext>
            </a:extLst>
          </p:cNvPr>
          <p:cNvSpPr>
            <a:spLocks noChangeArrowheads="1"/>
          </p:cNvSpPr>
          <p:nvPr/>
        </p:nvSpPr>
        <p:spPr bwMode="auto">
          <a:xfrm>
            <a:off x="2657475" y="27749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a:t>
            </a:r>
          </a:p>
        </p:txBody>
      </p:sp>
      <p:sp>
        <p:nvSpPr>
          <p:cNvPr id="86069" name="Rectangle 55">
            <a:extLst>
              <a:ext uri="{FF2B5EF4-FFF2-40B4-BE49-F238E27FC236}">
                <a16:creationId xmlns:a16="http://schemas.microsoft.com/office/drawing/2014/main" id="{BB1067FA-F49D-4F37-B90B-0EB775A6447C}"/>
              </a:ext>
            </a:extLst>
          </p:cNvPr>
          <p:cNvSpPr>
            <a:spLocks noChangeArrowheads="1"/>
          </p:cNvSpPr>
          <p:nvPr/>
        </p:nvSpPr>
        <p:spPr bwMode="auto">
          <a:xfrm>
            <a:off x="3787775" y="275907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9</a:t>
            </a:r>
          </a:p>
        </p:txBody>
      </p:sp>
      <p:sp>
        <p:nvSpPr>
          <p:cNvPr id="86070" name="Rectangle 56">
            <a:extLst>
              <a:ext uri="{FF2B5EF4-FFF2-40B4-BE49-F238E27FC236}">
                <a16:creationId xmlns:a16="http://schemas.microsoft.com/office/drawing/2014/main" id="{4653485B-8F44-4D1D-8DB6-82CD64FAC00F}"/>
              </a:ext>
            </a:extLst>
          </p:cNvPr>
          <p:cNvSpPr>
            <a:spLocks noChangeArrowheads="1"/>
          </p:cNvSpPr>
          <p:nvPr/>
        </p:nvSpPr>
        <p:spPr bwMode="auto">
          <a:xfrm>
            <a:off x="4899025" y="2792413"/>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2</a:t>
            </a:r>
          </a:p>
        </p:txBody>
      </p:sp>
      <p:sp>
        <p:nvSpPr>
          <p:cNvPr id="86071" name="Rectangle 57">
            <a:extLst>
              <a:ext uri="{FF2B5EF4-FFF2-40B4-BE49-F238E27FC236}">
                <a16:creationId xmlns:a16="http://schemas.microsoft.com/office/drawing/2014/main" id="{9469E392-25A2-43D2-B4F8-90C7F106B7FE}"/>
              </a:ext>
            </a:extLst>
          </p:cNvPr>
          <p:cNvSpPr>
            <a:spLocks noChangeArrowheads="1"/>
          </p:cNvSpPr>
          <p:nvPr/>
        </p:nvSpPr>
        <p:spPr bwMode="auto">
          <a:xfrm>
            <a:off x="2662238" y="353377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7</a:t>
            </a:r>
          </a:p>
        </p:txBody>
      </p:sp>
      <p:sp>
        <p:nvSpPr>
          <p:cNvPr id="86072" name="Rectangle 58">
            <a:extLst>
              <a:ext uri="{FF2B5EF4-FFF2-40B4-BE49-F238E27FC236}">
                <a16:creationId xmlns:a16="http://schemas.microsoft.com/office/drawing/2014/main" id="{1C1B68B4-BD4C-4328-A10A-DBE4591113BC}"/>
              </a:ext>
            </a:extLst>
          </p:cNvPr>
          <p:cNvSpPr>
            <a:spLocks noChangeArrowheads="1"/>
          </p:cNvSpPr>
          <p:nvPr/>
        </p:nvSpPr>
        <p:spPr bwMode="auto">
          <a:xfrm>
            <a:off x="3787775" y="3522663"/>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4</a:t>
            </a:r>
          </a:p>
        </p:txBody>
      </p:sp>
      <p:sp>
        <p:nvSpPr>
          <p:cNvPr id="86073" name="Rectangle 59">
            <a:extLst>
              <a:ext uri="{FF2B5EF4-FFF2-40B4-BE49-F238E27FC236}">
                <a16:creationId xmlns:a16="http://schemas.microsoft.com/office/drawing/2014/main" id="{C5BF3952-2A05-4AA9-B1B8-B64D3DC83C29}"/>
              </a:ext>
            </a:extLst>
          </p:cNvPr>
          <p:cNvSpPr>
            <a:spLocks noChangeArrowheads="1"/>
          </p:cNvSpPr>
          <p:nvPr/>
        </p:nvSpPr>
        <p:spPr bwMode="auto">
          <a:xfrm>
            <a:off x="4897438" y="352107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86074" name="Rectangle 60">
            <a:extLst>
              <a:ext uri="{FF2B5EF4-FFF2-40B4-BE49-F238E27FC236}">
                <a16:creationId xmlns:a16="http://schemas.microsoft.com/office/drawing/2014/main" id="{59E450AD-C6DA-44E0-A886-40006B9C29A8}"/>
              </a:ext>
            </a:extLst>
          </p:cNvPr>
          <p:cNvSpPr>
            <a:spLocks noChangeArrowheads="1"/>
          </p:cNvSpPr>
          <p:nvPr/>
        </p:nvSpPr>
        <p:spPr bwMode="auto">
          <a:xfrm>
            <a:off x="6010275" y="35242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5</a:t>
            </a:r>
          </a:p>
        </p:txBody>
      </p:sp>
      <p:sp>
        <p:nvSpPr>
          <p:cNvPr id="86075" name="Rectangle 61">
            <a:extLst>
              <a:ext uri="{FF2B5EF4-FFF2-40B4-BE49-F238E27FC236}">
                <a16:creationId xmlns:a16="http://schemas.microsoft.com/office/drawing/2014/main" id="{1A21A45F-0A7C-4414-9C5A-5DBD32A5EDAD}"/>
              </a:ext>
            </a:extLst>
          </p:cNvPr>
          <p:cNvSpPr>
            <a:spLocks noChangeArrowheads="1"/>
          </p:cNvSpPr>
          <p:nvPr/>
        </p:nvSpPr>
        <p:spPr bwMode="auto">
          <a:xfrm>
            <a:off x="6010275" y="275907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8</a:t>
            </a:r>
          </a:p>
        </p:txBody>
      </p:sp>
      <p:sp>
        <p:nvSpPr>
          <p:cNvPr id="56" name="Rectangle 68">
            <a:extLst>
              <a:ext uri="{FF2B5EF4-FFF2-40B4-BE49-F238E27FC236}">
                <a16:creationId xmlns:a16="http://schemas.microsoft.com/office/drawing/2014/main" id="{D20A1F85-DDBB-414C-997D-39ABD16EC820}"/>
              </a:ext>
            </a:extLst>
          </p:cNvPr>
          <p:cNvSpPr>
            <a:spLocks noChangeArrowheads="1"/>
          </p:cNvSpPr>
          <p:nvPr/>
        </p:nvSpPr>
        <p:spPr bwMode="auto">
          <a:xfrm>
            <a:off x="6516688" y="1973263"/>
            <a:ext cx="833437" cy="735012"/>
          </a:xfrm>
          <a:prstGeom prst="rect">
            <a:avLst/>
          </a:prstGeom>
          <a:solidFill>
            <a:srgbClr val="00FF00"/>
          </a:solidFill>
          <a:ln w="19050">
            <a:solidFill>
              <a:schemeClr val="tx1"/>
            </a:solidFill>
            <a:miter lim="800000"/>
            <a:headEnd/>
            <a:tailEnd/>
          </a:ln>
          <a:effectLst/>
        </p:spPr>
        <p:txBody>
          <a:bodyPr wrap="none" anchor="ctr"/>
          <a:lstStyle/>
          <a:p>
            <a:pPr>
              <a:defRPr/>
            </a:pPr>
            <a:r>
              <a:rPr kumimoji="1" lang="en-US" altLang="zh-CN" sz="2400">
                <a:solidFill>
                  <a:srgbClr val="3333FF"/>
                </a:solidFill>
                <a:effectLst>
                  <a:outerShdw blurRad="38100" dist="38100" dir="2700000" algn="tl">
                    <a:srgbClr val="000000"/>
                  </a:outerShdw>
                </a:effectLst>
              </a:rPr>
              <a:t>u</a:t>
            </a:r>
            <a:r>
              <a:rPr kumimoji="1" lang="en-US" altLang="zh-CN" sz="2400" baseline="-25000">
                <a:solidFill>
                  <a:srgbClr val="3333FF"/>
                </a:solidFill>
                <a:effectLst>
                  <a:outerShdw blurRad="38100" dist="38100" dir="2700000" algn="tl">
                    <a:srgbClr val="000000"/>
                  </a:outerShdw>
                </a:effectLst>
              </a:rPr>
              <a:t>1</a:t>
            </a:r>
          </a:p>
        </p:txBody>
      </p:sp>
      <p:sp>
        <p:nvSpPr>
          <p:cNvPr id="57" name="Rectangle 69">
            <a:extLst>
              <a:ext uri="{FF2B5EF4-FFF2-40B4-BE49-F238E27FC236}">
                <a16:creationId xmlns:a16="http://schemas.microsoft.com/office/drawing/2014/main" id="{30E0EC35-FA84-40D6-98E6-3411E02B2997}"/>
              </a:ext>
            </a:extLst>
          </p:cNvPr>
          <p:cNvSpPr>
            <a:spLocks noChangeArrowheads="1"/>
          </p:cNvSpPr>
          <p:nvPr/>
        </p:nvSpPr>
        <p:spPr bwMode="auto">
          <a:xfrm>
            <a:off x="6516688" y="2708275"/>
            <a:ext cx="833437" cy="752475"/>
          </a:xfrm>
          <a:prstGeom prst="rect">
            <a:avLst/>
          </a:prstGeom>
          <a:solidFill>
            <a:srgbClr val="00FF00"/>
          </a:solidFill>
          <a:ln w="19050" algn="ctr">
            <a:solidFill>
              <a:schemeClr val="tx1"/>
            </a:solidFill>
            <a:miter lim="800000"/>
            <a:headEnd/>
            <a:tailEnd/>
          </a:ln>
          <a:effectLst/>
        </p:spPr>
        <p:txBody>
          <a:bodyPr wrap="none" anchor="ctr"/>
          <a:lstStyle/>
          <a:p>
            <a:pPr>
              <a:defRPr/>
            </a:pPr>
            <a:r>
              <a:rPr kumimoji="1" lang="en-US" altLang="zh-CN" sz="2400">
                <a:solidFill>
                  <a:srgbClr val="3333FF"/>
                </a:solidFill>
                <a:effectLst>
                  <a:outerShdw blurRad="38100" dist="38100" dir="2700000" algn="tl">
                    <a:srgbClr val="000000"/>
                  </a:outerShdw>
                </a:effectLst>
              </a:rPr>
              <a:t>u</a:t>
            </a:r>
            <a:r>
              <a:rPr kumimoji="1" lang="en-US" altLang="zh-CN" sz="2400" baseline="-25000">
                <a:solidFill>
                  <a:srgbClr val="3333FF"/>
                </a:solidFill>
                <a:effectLst>
                  <a:outerShdw blurRad="38100" dist="38100" dir="2700000" algn="tl">
                    <a:srgbClr val="000000"/>
                  </a:outerShdw>
                </a:effectLst>
              </a:rPr>
              <a:t>2</a:t>
            </a:r>
          </a:p>
        </p:txBody>
      </p:sp>
      <p:sp>
        <p:nvSpPr>
          <p:cNvPr id="58" name="Rectangle 70">
            <a:extLst>
              <a:ext uri="{FF2B5EF4-FFF2-40B4-BE49-F238E27FC236}">
                <a16:creationId xmlns:a16="http://schemas.microsoft.com/office/drawing/2014/main" id="{848A35EC-FA48-44BF-85A8-82F720BFA946}"/>
              </a:ext>
            </a:extLst>
          </p:cNvPr>
          <p:cNvSpPr>
            <a:spLocks noChangeArrowheads="1"/>
          </p:cNvSpPr>
          <p:nvPr/>
        </p:nvSpPr>
        <p:spPr bwMode="auto">
          <a:xfrm>
            <a:off x="6516688" y="3486150"/>
            <a:ext cx="833437" cy="735013"/>
          </a:xfrm>
          <a:prstGeom prst="rect">
            <a:avLst/>
          </a:prstGeom>
          <a:solidFill>
            <a:srgbClr val="00FF00"/>
          </a:solidFill>
          <a:ln w="19050" algn="ctr">
            <a:solidFill>
              <a:schemeClr val="tx1"/>
            </a:solidFill>
            <a:miter lim="800000"/>
            <a:headEnd/>
            <a:tailEnd/>
          </a:ln>
          <a:effectLst/>
        </p:spPr>
        <p:txBody>
          <a:bodyPr wrap="none" anchor="ctr"/>
          <a:lstStyle/>
          <a:p>
            <a:pPr>
              <a:defRPr/>
            </a:pPr>
            <a:r>
              <a:rPr kumimoji="1" lang="en-US" altLang="zh-CN" sz="2400">
                <a:solidFill>
                  <a:srgbClr val="3333FF"/>
                </a:solidFill>
                <a:effectLst>
                  <a:outerShdw blurRad="38100" dist="38100" dir="2700000" algn="tl">
                    <a:srgbClr val="000000"/>
                  </a:outerShdw>
                </a:effectLst>
              </a:rPr>
              <a:t>u</a:t>
            </a:r>
            <a:r>
              <a:rPr kumimoji="1" lang="en-US" altLang="zh-CN" sz="2400" baseline="-25000">
                <a:solidFill>
                  <a:srgbClr val="3333FF"/>
                </a:solidFill>
                <a:effectLst>
                  <a:outerShdw blurRad="38100" dist="38100" dir="2700000" algn="tl">
                    <a:srgbClr val="000000"/>
                  </a:outerShdw>
                </a:effectLst>
              </a:rPr>
              <a:t>3</a:t>
            </a:r>
          </a:p>
        </p:txBody>
      </p:sp>
      <p:sp>
        <p:nvSpPr>
          <p:cNvPr id="59" name="Rectangle 71">
            <a:extLst>
              <a:ext uri="{FF2B5EF4-FFF2-40B4-BE49-F238E27FC236}">
                <a16:creationId xmlns:a16="http://schemas.microsoft.com/office/drawing/2014/main" id="{8CDB222B-5B99-43CC-992B-47B8B40CB18B}"/>
              </a:ext>
            </a:extLst>
          </p:cNvPr>
          <p:cNvSpPr>
            <a:spLocks noChangeArrowheads="1"/>
          </p:cNvSpPr>
          <p:nvPr/>
        </p:nvSpPr>
        <p:spPr bwMode="auto">
          <a:xfrm>
            <a:off x="4283075" y="4238625"/>
            <a:ext cx="1125538"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v</a:t>
            </a:r>
            <a:r>
              <a:rPr kumimoji="1" lang="en-US" altLang="zh-CN" sz="2000" baseline="-25000">
                <a:solidFill>
                  <a:srgbClr val="0000FF"/>
                </a:solidFill>
                <a:effectLst>
                  <a:outerShdw blurRad="38100" dist="38100" dir="2700000" algn="tl">
                    <a:srgbClr val="000000"/>
                  </a:outerShdw>
                </a:effectLst>
              </a:rPr>
              <a:t>3</a:t>
            </a:r>
          </a:p>
        </p:txBody>
      </p:sp>
      <p:sp>
        <p:nvSpPr>
          <p:cNvPr id="60" name="Rectangle 72">
            <a:extLst>
              <a:ext uri="{FF2B5EF4-FFF2-40B4-BE49-F238E27FC236}">
                <a16:creationId xmlns:a16="http://schemas.microsoft.com/office/drawing/2014/main" id="{066BFA32-7238-48E7-B461-FDA1522E4D72}"/>
              </a:ext>
            </a:extLst>
          </p:cNvPr>
          <p:cNvSpPr>
            <a:spLocks noChangeArrowheads="1"/>
          </p:cNvSpPr>
          <p:nvPr/>
        </p:nvSpPr>
        <p:spPr bwMode="auto">
          <a:xfrm>
            <a:off x="5391150" y="4237038"/>
            <a:ext cx="1125538"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v</a:t>
            </a:r>
            <a:r>
              <a:rPr kumimoji="1" lang="en-US" altLang="zh-CN" sz="2000" baseline="-25000">
                <a:solidFill>
                  <a:srgbClr val="0000FF"/>
                </a:solidFill>
                <a:effectLst>
                  <a:outerShdw blurRad="38100" dist="38100" dir="2700000" algn="tl">
                    <a:srgbClr val="000000"/>
                  </a:outerShdw>
                </a:effectLst>
              </a:rPr>
              <a:t>4</a:t>
            </a:r>
          </a:p>
        </p:txBody>
      </p:sp>
      <p:sp>
        <p:nvSpPr>
          <p:cNvPr id="61" name="Rectangle 73">
            <a:extLst>
              <a:ext uri="{FF2B5EF4-FFF2-40B4-BE49-F238E27FC236}">
                <a16:creationId xmlns:a16="http://schemas.microsoft.com/office/drawing/2014/main" id="{D1F16933-FDDD-4264-818D-2E65079C1924}"/>
              </a:ext>
            </a:extLst>
          </p:cNvPr>
          <p:cNvSpPr>
            <a:spLocks noChangeArrowheads="1"/>
          </p:cNvSpPr>
          <p:nvPr/>
        </p:nvSpPr>
        <p:spPr bwMode="auto">
          <a:xfrm>
            <a:off x="1979613" y="4221163"/>
            <a:ext cx="1125537"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v</a:t>
            </a:r>
            <a:r>
              <a:rPr kumimoji="1" lang="en-US" altLang="zh-CN" sz="2000" baseline="-25000">
                <a:solidFill>
                  <a:srgbClr val="0000FF"/>
                </a:solidFill>
                <a:effectLst>
                  <a:outerShdw blurRad="38100" dist="38100" dir="2700000" algn="tl">
                    <a:srgbClr val="000000"/>
                  </a:outerShdw>
                </a:effectLst>
              </a:rPr>
              <a:t>1</a:t>
            </a:r>
          </a:p>
        </p:txBody>
      </p:sp>
      <p:sp>
        <p:nvSpPr>
          <p:cNvPr id="62" name="Rectangle 74">
            <a:extLst>
              <a:ext uri="{FF2B5EF4-FFF2-40B4-BE49-F238E27FC236}">
                <a16:creationId xmlns:a16="http://schemas.microsoft.com/office/drawing/2014/main" id="{D0A06B33-CC38-4AE1-A8D3-AE59125DB76B}"/>
              </a:ext>
            </a:extLst>
          </p:cNvPr>
          <p:cNvSpPr>
            <a:spLocks noChangeArrowheads="1"/>
          </p:cNvSpPr>
          <p:nvPr/>
        </p:nvSpPr>
        <p:spPr bwMode="auto">
          <a:xfrm>
            <a:off x="3132138" y="4221163"/>
            <a:ext cx="1125537"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v</a:t>
            </a:r>
            <a:r>
              <a:rPr kumimoji="1" lang="en-US" altLang="zh-CN" sz="2000" baseline="-25000">
                <a:solidFill>
                  <a:srgbClr val="0000FF"/>
                </a:solidFill>
                <a:effectLst>
                  <a:outerShdw blurRad="38100" dist="38100" dir="2700000" algn="tl">
                    <a:srgbClr val="000000"/>
                  </a:outerShdw>
                </a:effectLst>
              </a:rPr>
              <a:t>2</a:t>
            </a:r>
          </a:p>
        </p:txBody>
      </p:sp>
      <p:sp>
        <p:nvSpPr>
          <p:cNvPr id="86083" name="Text Box 84">
            <a:extLst>
              <a:ext uri="{FF2B5EF4-FFF2-40B4-BE49-F238E27FC236}">
                <a16:creationId xmlns:a16="http://schemas.microsoft.com/office/drawing/2014/main" id="{E6CC720A-F210-4CFB-A59C-A7FA8861EA7A}"/>
              </a:ext>
            </a:extLst>
          </p:cNvPr>
          <p:cNvSpPr txBox="1">
            <a:spLocks noChangeArrowheads="1"/>
          </p:cNvSpPr>
          <p:nvPr/>
        </p:nvSpPr>
        <p:spPr bwMode="auto">
          <a:xfrm>
            <a:off x="4262438" y="2349500"/>
            <a:ext cx="3048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4</a:t>
            </a:r>
            <a:endParaRPr kumimoji="1" lang="en-US" altLang="zh-CN" sz="3200">
              <a:latin typeface="楷体_GB2312" pitchFamily="49" charset="-122"/>
              <a:ea typeface="楷体_GB2312" pitchFamily="49" charset="-122"/>
            </a:endParaRPr>
          </a:p>
        </p:txBody>
      </p:sp>
      <p:sp>
        <p:nvSpPr>
          <p:cNvPr id="86084" name="Text Box 85">
            <a:extLst>
              <a:ext uri="{FF2B5EF4-FFF2-40B4-BE49-F238E27FC236}">
                <a16:creationId xmlns:a16="http://schemas.microsoft.com/office/drawing/2014/main" id="{33A94D83-5E17-4603-AF18-7FF905620417}"/>
              </a:ext>
            </a:extLst>
          </p:cNvPr>
          <p:cNvSpPr txBox="1">
            <a:spLocks noChangeArrowheads="1"/>
          </p:cNvSpPr>
          <p:nvPr/>
        </p:nvSpPr>
        <p:spPr bwMode="auto">
          <a:xfrm>
            <a:off x="2081213" y="303212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86085" name="Text Box 86">
            <a:extLst>
              <a:ext uri="{FF2B5EF4-FFF2-40B4-BE49-F238E27FC236}">
                <a16:creationId xmlns:a16="http://schemas.microsoft.com/office/drawing/2014/main" id="{A9B6F247-975B-4B70-967B-0DC4802A538D}"/>
              </a:ext>
            </a:extLst>
          </p:cNvPr>
          <p:cNvSpPr txBox="1">
            <a:spLocks noChangeArrowheads="1"/>
          </p:cNvSpPr>
          <p:nvPr/>
        </p:nvSpPr>
        <p:spPr bwMode="auto">
          <a:xfrm>
            <a:off x="3181350" y="3824288"/>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6</a:t>
            </a:r>
            <a:endParaRPr kumimoji="1" lang="en-US" altLang="zh-CN" sz="3200">
              <a:latin typeface="楷体_GB2312" pitchFamily="49" charset="-122"/>
              <a:ea typeface="楷体_GB2312" pitchFamily="49" charset="-122"/>
            </a:endParaRPr>
          </a:p>
        </p:txBody>
      </p:sp>
      <p:sp>
        <p:nvSpPr>
          <p:cNvPr id="86086" name="Text Box 87">
            <a:extLst>
              <a:ext uri="{FF2B5EF4-FFF2-40B4-BE49-F238E27FC236}">
                <a16:creationId xmlns:a16="http://schemas.microsoft.com/office/drawing/2014/main" id="{A3462D80-4CEC-4849-BB38-55D5B91BD5AC}"/>
              </a:ext>
            </a:extLst>
          </p:cNvPr>
          <p:cNvSpPr txBox="1">
            <a:spLocks noChangeArrowheads="1"/>
          </p:cNvSpPr>
          <p:nvPr/>
        </p:nvSpPr>
        <p:spPr bwMode="auto">
          <a:xfrm>
            <a:off x="5414963" y="3824288"/>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86087" name="Text Box 88">
            <a:extLst>
              <a:ext uri="{FF2B5EF4-FFF2-40B4-BE49-F238E27FC236}">
                <a16:creationId xmlns:a16="http://schemas.microsoft.com/office/drawing/2014/main" id="{C88C111C-C984-4D82-8191-BCD5E1F44779}"/>
              </a:ext>
            </a:extLst>
          </p:cNvPr>
          <p:cNvSpPr txBox="1">
            <a:spLocks noChangeArrowheads="1"/>
          </p:cNvSpPr>
          <p:nvPr/>
        </p:nvSpPr>
        <p:spPr bwMode="auto">
          <a:xfrm>
            <a:off x="4241800" y="303212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1</a:t>
            </a:r>
            <a:endParaRPr kumimoji="1" lang="en-US" altLang="zh-CN" sz="3200">
              <a:latin typeface="楷体_GB2312" pitchFamily="49" charset="-122"/>
              <a:ea typeface="楷体_GB2312" pitchFamily="49" charset="-122"/>
            </a:endParaRPr>
          </a:p>
        </p:txBody>
      </p:sp>
      <p:sp>
        <p:nvSpPr>
          <p:cNvPr id="86088" name="Text Box 89">
            <a:extLst>
              <a:ext uri="{FF2B5EF4-FFF2-40B4-BE49-F238E27FC236}">
                <a16:creationId xmlns:a16="http://schemas.microsoft.com/office/drawing/2014/main" id="{9060A0DC-82AB-4215-9FBA-3AC6306D4AFB}"/>
              </a:ext>
            </a:extLst>
          </p:cNvPr>
          <p:cNvSpPr txBox="1">
            <a:spLocks noChangeArrowheads="1"/>
          </p:cNvSpPr>
          <p:nvPr/>
        </p:nvSpPr>
        <p:spPr bwMode="auto">
          <a:xfrm>
            <a:off x="5414963" y="2349500"/>
            <a:ext cx="3254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000">
                <a:solidFill>
                  <a:srgbClr val="A50021"/>
                </a:solidFill>
              </a:rPr>
              <a:t>3</a:t>
            </a:r>
          </a:p>
        </p:txBody>
      </p:sp>
      <p:sp>
        <p:nvSpPr>
          <p:cNvPr id="86089" name="矩形 38">
            <a:extLst>
              <a:ext uri="{FF2B5EF4-FFF2-40B4-BE49-F238E27FC236}">
                <a16:creationId xmlns:a16="http://schemas.microsoft.com/office/drawing/2014/main" id="{F6BD1C20-626C-484B-9724-E714AFAE4174}"/>
              </a:ext>
            </a:extLst>
          </p:cNvPr>
          <p:cNvSpPr>
            <a:spLocks noChangeArrowheads="1"/>
          </p:cNvSpPr>
          <p:nvPr/>
        </p:nvSpPr>
        <p:spPr bwMode="auto">
          <a:xfrm>
            <a:off x="6530975" y="1374775"/>
            <a:ext cx="8763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a:solidFill>
                  <a:srgbClr val="FF00FF"/>
                </a:solidFill>
                <a:latin typeface="Times New Roman" panose="02020603050405020304" pitchFamily="18" charset="0"/>
              </a:rPr>
              <a:t>行位势</a:t>
            </a:r>
            <a:endParaRPr lang="zh-CN" altLang="en-US" sz="1600">
              <a:solidFill>
                <a:srgbClr val="FF00FF"/>
              </a:solidFill>
            </a:endParaRPr>
          </a:p>
        </p:txBody>
      </p:sp>
      <p:sp>
        <p:nvSpPr>
          <p:cNvPr id="86090" name="矩形 38">
            <a:extLst>
              <a:ext uri="{FF2B5EF4-FFF2-40B4-BE49-F238E27FC236}">
                <a16:creationId xmlns:a16="http://schemas.microsoft.com/office/drawing/2014/main" id="{84EF1452-4DAA-4ABE-9B1E-82DF11AB1386}"/>
              </a:ext>
            </a:extLst>
          </p:cNvPr>
          <p:cNvSpPr>
            <a:spLocks noChangeArrowheads="1"/>
          </p:cNvSpPr>
          <p:nvPr/>
        </p:nvSpPr>
        <p:spPr bwMode="auto">
          <a:xfrm>
            <a:off x="1031875" y="4173538"/>
            <a:ext cx="8763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a:solidFill>
                  <a:srgbClr val="FF00FF"/>
                </a:solidFill>
                <a:latin typeface="Times New Roman" panose="02020603050405020304" pitchFamily="18" charset="0"/>
              </a:rPr>
              <a:t>列位势</a:t>
            </a:r>
            <a:endParaRPr lang="zh-CN" altLang="en-US" sz="1600">
              <a:solidFill>
                <a:srgbClr val="FF00FF"/>
              </a:solidFill>
            </a:endParaRPr>
          </a:p>
        </p:txBody>
      </p:sp>
      <p:sp>
        <p:nvSpPr>
          <p:cNvPr id="72" name="AutoShape 74">
            <a:extLst>
              <a:ext uri="{FF2B5EF4-FFF2-40B4-BE49-F238E27FC236}">
                <a16:creationId xmlns:a16="http://schemas.microsoft.com/office/drawing/2014/main" id="{58F59C7D-FD63-4F85-8878-58E5E8C9C4DD}"/>
              </a:ext>
            </a:extLst>
          </p:cNvPr>
          <p:cNvSpPr>
            <a:spLocks noChangeArrowheads="1"/>
          </p:cNvSpPr>
          <p:nvPr/>
        </p:nvSpPr>
        <p:spPr bwMode="auto">
          <a:xfrm>
            <a:off x="5032375" y="790575"/>
            <a:ext cx="1416050" cy="390525"/>
          </a:xfrm>
          <a:prstGeom prst="wedgeRectCallout">
            <a:avLst>
              <a:gd name="adj1" fmla="val -44991"/>
              <a:gd name="adj2" fmla="val 268639"/>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i="1">
                <a:solidFill>
                  <a:srgbClr val="FF00FF"/>
                </a:solidFill>
                <a:latin typeface="Times New Roman" panose="02020603050405020304" pitchFamily="18" charset="0"/>
                <a:cs typeface="Times New Roman" panose="02020603050405020304" pitchFamily="18" charset="0"/>
              </a:rPr>
              <a:t>c</a:t>
            </a:r>
            <a:r>
              <a:rPr kumimoji="1" lang="en-US" altLang="zh-CN" i="1" baseline="-25000">
                <a:solidFill>
                  <a:srgbClr val="FF00FF"/>
                </a:solidFill>
                <a:latin typeface="Times New Roman" panose="02020603050405020304" pitchFamily="18" charset="0"/>
                <a:cs typeface="Times New Roman" panose="02020603050405020304" pitchFamily="18" charset="0"/>
              </a:rPr>
              <a:t>ij</a:t>
            </a:r>
            <a:r>
              <a:rPr lang="en-US" altLang="zh-CN">
                <a:solidFill>
                  <a:srgbClr val="FF00FF"/>
                </a:solidFill>
                <a:latin typeface="Times New Roman" panose="02020603050405020304" pitchFamily="18" charset="0"/>
              </a:rPr>
              <a:t>: </a:t>
            </a:r>
            <a:r>
              <a:rPr lang="zh-CN" altLang="en-US">
                <a:solidFill>
                  <a:srgbClr val="FF00FF"/>
                </a:solidFill>
                <a:latin typeface="Times New Roman" panose="02020603050405020304" pitchFamily="18" charset="0"/>
              </a:rPr>
              <a:t>单位运价</a:t>
            </a:r>
            <a:endParaRPr lang="zh-CN" altLang="en-US">
              <a:solidFill>
                <a:srgbClr val="FF00FF"/>
              </a:solidFill>
            </a:endParaRPr>
          </a:p>
          <a:p>
            <a:pPr>
              <a:lnSpc>
                <a:spcPct val="120000"/>
              </a:lnSpc>
              <a:spcBef>
                <a:spcPct val="50000"/>
              </a:spcBef>
              <a:buSzPct val="85000"/>
            </a:pPr>
            <a:endParaRPr kumimoji="1" lang="en-US" altLang="zh-CN" i="1" baseline="-25000">
              <a:solidFill>
                <a:srgbClr val="FF0000"/>
              </a:solidFill>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2"/>
                                        </p:tgtEl>
                                        <p:attrNameLst>
                                          <p:attrName>style.visibility</p:attrName>
                                        </p:attrNameLst>
                                      </p:cBhvr>
                                      <p:to>
                                        <p:strVal val="visible"/>
                                      </p:to>
                                    </p:set>
                                  </p:childTnLst>
                                  <p:subTnLst>
                                    <p:set>
                                      <p:cBhvr override="childStyle">
                                        <p:cTn dur="1" fill="hold" display="0" masterRel="nextClick" afterEffect="1"/>
                                        <p:tgtEl>
                                          <p:spTgt spid="72"/>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descr="Large confetti">
            <a:extLst>
              <a:ext uri="{FF2B5EF4-FFF2-40B4-BE49-F238E27FC236}">
                <a16:creationId xmlns:a16="http://schemas.microsoft.com/office/drawing/2014/main" id="{5C959CF7-F9F1-47DA-AE30-3D9F6A79943C}"/>
              </a:ext>
            </a:extLst>
          </p:cNvPr>
          <p:cNvSpPr>
            <a:spLocks noGrp="1" noChangeArrowheads="1"/>
          </p:cNvSpPr>
          <p:nvPr>
            <p:ph type="title"/>
          </p:nvPr>
        </p:nvSpPr>
        <p:spPr/>
        <p:txBody>
          <a:bodyPr/>
          <a:lstStyle/>
          <a:p>
            <a:pPr eaLnBrk="1" hangingPunct="1"/>
            <a:r>
              <a:rPr lang="zh-CN" altLang="en-US"/>
              <a:t>例子</a:t>
            </a:r>
            <a:r>
              <a:rPr lang="en-US" altLang="zh-CN"/>
              <a:t>-</a:t>
            </a:r>
            <a:r>
              <a:rPr lang="zh-CN" altLang="en-US"/>
              <a:t>位势法和闭回路法</a:t>
            </a:r>
          </a:p>
        </p:txBody>
      </p:sp>
      <p:sp>
        <p:nvSpPr>
          <p:cNvPr id="233475" name="Text Box 3">
            <a:extLst>
              <a:ext uri="{FF2B5EF4-FFF2-40B4-BE49-F238E27FC236}">
                <a16:creationId xmlns:a16="http://schemas.microsoft.com/office/drawing/2014/main" id="{57EE30F5-BB3F-4073-BCE4-C615A009B05D}"/>
              </a:ext>
            </a:extLst>
          </p:cNvPr>
          <p:cNvSpPr txBox="1">
            <a:spLocks noChangeArrowheads="1"/>
          </p:cNvSpPr>
          <p:nvPr/>
        </p:nvSpPr>
        <p:spPr bwMode="auto">
          <a:xfrm>
            <a:off x="179388" y="981075"/>
            <a:ext cx="7200900" cy="46196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用位势法对初始方案进行最优性检验的方法：</a:t>
            </a:r>
          </a:p>
        </p:txBody>
      </p:sp>
      <p:sp>
        <p:nvSpPr>
          <p:cNvPr id="233476" name="Rectangle 103">
            <a:extLst>
              <a:ext uri="{FF2B5EF4-FFF2-40B4-BE49-F238E27FC236}">
                <a16:creationId xmlns:a16="http://schemas.microsoft.com/office/drawing/2014/main" id="{21635968-5C68-4FB8-90F7-31FCB3367CDD}"/>
              </a:ext>
            </a:extLst>
          </p:cNvPr>
          <p:cNvSpPr>
            <a:spLocks noChangeArrowheads="1"/>
          </p:cNvSpPr>
          <p:nvPr/>
        </p:nvSpPr>
        <p:spPr bwMode="auto">
          <a:xfrm>
            <a:off x="325438" y="1447800"/>
            <a:ext cx="8208962" cy="1016000"/>
          </a:xfrm>
          <a:prstGeom prst="rect">
            <a:avLst/>
          </a:prstGeom>
          <a:solidFill>
            <a:srgbClr val="FFFFCC"/>
          </a:solidFill>
          <a:ln>
            <a:noFill/>
          </a:ln>
        </p:spPr>
        <p:txBody>
          <a:bodyPr anchor="ct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en-US" altLang="zh-CN" sz="2000" dirty="0">
                <a:solidFill>
                  <a:schemeClr val="tx1"/>
                </a:solidFill>
                <a:ea typeface="+mn-ea"/>
                <a:cs typeface="Times New Roman" panose="02020603050405020304" pitchFamily="18" charset="0"/>
              </a:rPr>
              <a:t>1</a:t>
            </a:r>
            <a:r>
              <a:rPr lang="zh-CN" altLang="en-US" sz="2000" dirty="0">
                <a:solidFill>
                  <a:schemeClr val="tx1"/>
                </a:solidFill>
                <a:ea typeface="+mn-ea"/>
                <a:cs typeface="Times New Roman" panose="02020603050405020304" pitchFamily="18" charset="0"/>
              </a:rPr>
              <a:t>）对</a:t>
            </a:r>
            <a:r>
              <a:rPr lang="zh-CN" altLang="en-US" sz="2000" dirty="0">
                <a:solidFill>
                  <a:srgbClr val="FF0000"/>
                </a:solidFill>
                <a:ea typeface="+mn-ea"/>
                <a:cs typeface="Times New Roman" panose="02020603050405020304" pitchFamily="18" charset="0"/>
              </a:rPr>
              <a:t>基变量</a:t>
            </a:r>
            <a:r>
              <a:rPr lang="zh-CN" altLang="en-US" sz="2000" dirty="0">
                <a:solidFill>
                  <a:schemeClr val="tx1"/>
                </a:solidFill>
                <a:ea typeface="+mn-ea"/>
                <a:cs typeface="Times New Roman" panose="02020603050405020304" pitchFamily="18" charset="0"/>
              </a:rPr>
              <a:t>而言有</a:t>
            </a:r>
            <a:r>
              <a:rPr lang="zh-CN" altLang="en-US" sz="2000" dirty="0">
                <a:solidFill>
                  <a:schemeClr val="tx1"/>
                </a:solidFill>
                <a:ea typeface="+mn-ea"/>
                <a:cs typeface="Times New Roman" panose="02020603050405020304" pitchFamily="18" charset="0"/>
                <a:sym typeface="Symbol" panose="05050102010706020507" pitchFamily="18" charset="2"/>
              </a:rPr>
              <a:t></a:t>
            </a:r>
            <a:r>
              <a:rPr lang="en-US" altLang="zh-CN" sz="2000" i="1" baseline="-25000" dirty="0" err="1">
                <a:solidFill>
                  <a:schemeClr val="tx1"/>
                </a:solidFill>
                <a:ea typeface="+mn-ea"/>
                <a:cs typeface="Times New Roman" panose="02020603050405020304" pitchFamily="18" charset="0"/>
                <a:sym typeface="Symbol" panose="05050102010706020507" pitchFamily="18" charset="2"/>
              </a:rPr>
              <a:t>ij</a:t>
            </a:r>
            <a:r>
              <a:rPr lang="en-US" altLang="zh-CN" sz="2000" dirty="0">
                <a:solidFill>
                  <a:schemeClr val="tx1"/>
                </a:solidFill>
                <a:ea typeface="+mn-ea"/>
                <a:cs typeface="Times New Roman" panose="02020603050405020304" pitchFamily="18" charset="0"/>
                <a:sym typeface="Symbol" panose="05050102010706020507" pitchFamily="18" charset="2"/>
              </a:rPr>
              <a:t>=0</a:t>
            </a:r>
            <a:r>
              <a:rPr lang="en-US" altLang="zh-CN" sz="2000" dirty="0">
                <a:solidFill>
                  <a:schemeClr val="tx1"/>
                </a:solidFill>
                <a:cs typeface="Times New Roman" panose="02020603050405020304" pitchFamily="18" charset="0"/>
              </a:rPr>
              <a:t>, </a:t>
            </a:r>
            <a:r>
              <a:rPr lang="zh-CN" altLang="zh-CN" sz="2000" dirty="0">
                <a:solidFill>
                  <a:schemeClr val="tx1"/>
                </a:solidFill>
                <a:ea typeface="+mn-ea"/>
                <a:cs typeface="Times New Roman" panose="02020603050405020304" pitchFamily="18" charset="0"/>
                <a:sym typeface="Symbol" panose="05050102010706020507" pitchFamily="18" charset="2"/>
              </a:rPr>
              <a:t>即</a:t>
            </a:r>
            <a:r>
              <a:rPr lang="en-US" altLang="zh-CN" sz="2000" i="1" dirty="0" err="1">
                <a:solidFill>
                  <a:schemeClr val="tx1"/>
                </a:solidFill>
                <a:cs typeface="Times New Roman" panose="02020603050405020304" pitchFamily="18" charset="0"/>
                <a:sym typeface="Symbol" panose="05050102010706020507" pitchFamily="18" charset="2"/>
              </a:rPr>
              <a:t>c</a:t>
            </a:r>
            <a:r>
              <a:rPr lang="en-US" altLang="zh-CN" sz="2000" i="1" baseline="-25000" dirty="0" err="1">
                <a:solidFill>
                  <a:schemeClr val="tx1"/>
                </a:solidFill>
                <a:cs typeface="Times New Roman" panose="02020603050405020304" pitchFamily="18" charset="0"/>
                <a:sym typeface="Symbol" panose="05050102010706020507" pitchFamily="18" charset="2"/>
              </a:rPr>
              <a:t>ij</a:t>
            </a:r>
            <a:r>
              <a:rPr lang="en-US" altLang="zh-CN" sz="2000" dirty="0">
                <a:solidFill>
                  <a:schemeClr val="tx1"/>
                </a:solidFill>
                <a:cs typeface="Times New Roman" panose="02020603050405020304" pitchFamily="18" charset="0"/>
                <a:sym typeface="Symbol" panose="05050102010706020507" pitchFamily="18" charset="2"/>
              </a:rPr>
              <a:t>-(</a:t>
            </a:r>
            <a:r>
              <a:rPr lang="en-US" altLang="zh-CN" sz="2000" dirty="0" err="1">
                <a:solidFill>
                  <a:schemeClr val="tx1"/>
                </a:solidFill>
                <a:cs typeface="Times New Roman" panose="02020603050405020304" pitchFamily="18" charset="0"/>
              </a:rPr>
              <a:t>u</a:t>
            </a:r>
            <a:r>
              <a:rPr lang="en-US" altLang="zh-CN" sz="2000" i="1" baseline="-25000" dirty="0" err="1">
                <a:solidFill>
                  <a:schemeClr val="tx1"/>
                </a:solidFill>
                <a:cs typeface="Times New Roman" panose="02020603050405020304" pitchFamily="18" charset="0"/>
              </a:rPr>
              <a:t>i</a:t>
            </a:r>
            <a:r>
              <a:rPr lang="en-US" altLang="zh-CN" sz="2000" dirty="0" err="1">
                <a:solidFill>
                  <a:schemeClr val="tx1"/>
                </a:solidFill>
                <a:cs typeface="Times New Roman" panose="02020603050405020304" pitchFamily="18" charset="0"/>
              </a:rPr>
              <a:t>+v</a:t>
            </a:r>
            <a:r>
              <a:rPr lang="en-US" altLang="zh-CN" sz="2000" i="1" baseline="-25000" dirty="0" err="1">
                <a:solidFill>
                  <a:schemeClr val="tx1"/>
                </a:solidFill>
                <a:cs typeface="Times New Roman" panose="02020603050405020304" pitchFamily="18" charset="0"/>
              </a:rPr>
              <a:t>j</a:t>
            </a:r>
            <a:r>
              <a:rPr lang="en-US" altLang="zh-CN" sz="2000" dirty="0">
                <a:solidFill>
                  <a:schemeClr val="tx1"/>
                </a:solidFill>
                <a:cs typeface="Times New Roman" panose="02020603050405020304" pitchFamily="18" charset="0"/>
              </a:rPr>
              <a:t>)</a:t>
            </a:r>
            <a:r>
              <a:rPr lang="zh-CN" altLang="en-US" sz="2000" dirty="0">
                <a:solidFill>
                  <a:schemeClr val="tx1"/>
                </a:solidFill>
                <a:ea typeface="+mn-ea"/>
                <a:cs typeface="Times New Roman" panose="02020603050405020304" pitchFamily="18" charset="0"/>
              </a:rPr>
              <a:t> </a:t>
            </a:r>
            <a:r>
              <a:rPr lang="en-US" altLang="zh-CN" sz="2000" dirty="0">
                <a:solidFill>
                  <a:schemeClr val="tx1"/>
                </a:solidFill>
                <a:ea typeface="+mn-ea"/>
                <a:cs typeface="Times New Roman" panose="02020603050405020304" pitchFamily="18" charset="0"/>
              </a:rPr>
              <a:t>= 0</a:t>
            </a:r>
            <a:r>
              <a:rPr lang="zh-CN" altLang="en-US" sz="2000" dirty="0">
                <a:solidFill>
                  <a:schemeClr val="tx1"/>
                </a:solidFill>
                <a:ea typeface="+mn-ea"/>
                <a:cs typeface="Times New Roman" panose="02020603050405020304" pitchFamily="18" charset="0"/>
              </a:rPr>
              <a:t>，令</a:t>
            </a:r>
            <a:r>
              <a:rPr lang="en-US" altLang="zh-CN" sz="2000" dirty="0">
                <a:solidFill>
                  <a:schemeClr val="tx1"/>
                </a:solidFill>
                <a:ea typeface="+mn-ea"/>
                <a:cs typeface="Times New Roman" panose="02020603050405020304" pitchFamily="18" charset="0"/>
              </a:rPr>
              <a:t>u</a:t>
            </a:r>
            <a:r>
              <a:rPr lang="en-US" altLang="zh-CN" sz="2000" baseline="-25000" dirty="0">
                <a:solidFill>
                  <a:schemeClr val="tx1"/>
                </a:solidFill>
                <a:ea typeface="+mn-ea"/>
                <a:cs typeface="Times New Roman" panose="02020603050405020304" pitchFamily="18" charset="0"/>
              </a:rPr>
              <a:t>1</a:t>
            </a:r>
            <a:r>
              <a:rPr lang="en-US" altLang="zh-CN" sz="2000" dirty="0">
                <a:solidFill>
                  <a:schemeClr val="tx1"/>
                </a:solidFill>
                <a:ea typeface="+mn-ea"/>
                <a:cs typeface="Times New Roman" panose="02020603050405020304" pitchFamily="18" charset="0"/>
              </a:rPr>
              <a:t>=0, </a:t>
            </a:r>
            <a:r>
              <a:rPr lang="zh-CN" altLang="en-US" sz="2000" dirty="0">
                <a:solidFill>
                  <a:schemeClr val="tx1"/>
                </a:solidFill>
                <a:ea typeface="+mn-ea"/>
                <a:cs typeface="Times New Roman" panose="02020603050405020304" pitchFamily="18" charset="0"/>
              </a:rPr>
              <a:t>由基变量的</a:t>
            </a:r>
            <a:r>
              <a:rPr lang="en-US" altLang="zh-CN" sz="2000" dirty="0" err="1">
                <a:solidFill>
                  <a:schemeClr val="tx1"/>
                </a:solidFill>
                <a:ea typeface="+mn-ea"/>
                <a:cs typeface="Times New Roman" panose="02020603050405020304" pitchFamily="18" charset="0"/>
              </a:rPr>
              <a:t>c</a:t>
            </a:r>
            <a:r>
              <a:rPr lang="en-US" altLang="zh-CN" sz="2000" i="1" baseline="-25000" dirty="0" err="1">
                <a:solidFill>
                  <a:schemeClr val="tx1"/>
                </a:solidFill>
                <a:ea typeface="+mn-ea"/>
                <a:cs typeface="Times New Roman" panose="02020603050405020304" pitchFamily="18" charset="0"/>
              </a:rPr>
              <a:t>ij</a:t>
            </a:r>
            <a:r>
              <a:rPr lang="zh-CN" altLang="en-US" sz="2000" dirty="0">
                <a:solidFill>
                  <a:schemeClr val="tx1"/>
                </a:solidFill>
                <a:ea typeface="+mn-ea"/>
                <a:cs typeface="Times New Roman" panose="02020603050405020304" pitchFamily="18" charset="0"/>
              </a:rPr>
              <a:t>求出其余的</a:t>
            </a:r>
            <a:r>
              <a:rPr lang="en-US" altLang="zh-CN" sz="2000" dirty="0" err="1">
                <a:solidFill>
                  <a:schemeClr val="tx1"/>
                </a:solidFill>
                <a:ea typeface="+mn-ea"/>
                <a:cs typeface="Times New Roman" panose="02020603050405020304" pitchFamily="18" charset="0"/>
              </a:rPr>
              <a:t>u</a:t>
            </a:r>
            <a:r>
              <a:rPr lang="en-US" altLang="zh-CN" sz="2000" i="1" baseline="-25000" dirty="0" err="1">
                <a:solidFill>
                  <a:schemeClr val="tx1"/>
                </a:solidFill>
                <a:ea typeface="+mn-ea"/>
                <a:cs typeface="Times New Roman" panose="02020603050405020304" pitchFamily="18" charset="0"/>
              </a:rPr>
              <a:t>i</a:t>
            </a:r>
            <a:r>
              <a:rPr lang="zh-CN" altLang="en-US" sz="2000" dirty="0">
                <a:solidFill>
                  <a:schemeClr val="tx1"/>
                </a:solidFill>
                <a:ea typeface="+mn-ea"/>
                <a:cs typeface="Times New Roman" panose="02020603050405020304" pitchFamily="18" charset="0"/>
              </a:rPr>
              <a:t>与</a:t>
            </a:r>
            <a:r>
              <a:rPr lang="en-US" altLang="zh-CN" sz="2000" dirty="0" err="1">
                <a:solidFill>
                  <a:schemeClr val="tx1"/>
                </a:solidFill>
                <a:ea typeface="+mn-ea"/>
                <a:cs typeface="Times New Roman" panose="02020603050405020304" pitchFamily="18" charset="0"/>
              </a:rPr>
              <a:t>v</a:t>
            </a:r>
            <a:r>
              <a:rPr lang="en-US" altLang="zh-CN" sz="2000" i="1" baseline="-25000" dirty="0" err="1">
                <a:solidFill>
                  <a:schemeClr val="tx1"/>
                </a:solidFill>
                <a:ea typeface="+mn-ea"/>
                <a:cs typeface="Times New Roman" panose="02020603050405020304" pitchFamily="18" charset="0"/>
              </a:rPr>
              <a:t>j</a:t>
            </a:r>
            <a:endParaRPr lang="en-US" altLang="zh-CN" sz="2000" i="1" baseline="-25000" dirty="0">
              <a:solidFill>
                <a:schemeClr val="tx1"/>
              </a:solidFill>
              <a:ea typeface="+mn-ea"/>
              <a:cs typeface="Times New Roman" panose="02020603050405020304" pitchFamily="18" charset="0"/>
            </a:endParaRPr>
          </a:p>
          <a:p>
            <a:pPr eaLnBrk="1" hangingPunct="1">
              <a:defRPr/>
            </a:pPr>
            <a:r>
              <a:rPr lang="en-US" altLang="zh-CN" sz="2000" dirty="0">
                <a:solidFill>
                  <a:srgbClr val="000000"/>
                </a:solidFill>
                <a:ea typeface="+mn-ea"/>
                <a:cs typeface="Times New Roman" panose="02020603050405020304" pitchFamily="18" charset="0"/>
              </a:rPr>
              <a:t>2</a:t>
            </a:r>
            <a:r>
              <a:rPr lang="zh-CN" altLang="en-US" sz="2000" dirty="0">
                <a:solidFill>
                  <a:srgbClr val="000000"/>
                </a:solidFill>
                <a:ea typeface="+mn-ea"/>
                <a:cs typeface="Times New Roman" panose="02020603050405020304" pitchFamily="18" charset="0"/>
              </a:rPr>
              <a:t>）再由</a:t>
            </a:r>
            <a:r>
              <a:rPr lang="zh-CN" altLang="en-US" sz="2000" dirty="0">
                <a:solidFill>
                  <a:schemeClr val="tx1"/>
                </a:solidFill>
                <a:ea typeface="+mn-ea"/>
                <a:cs typeface="Times New Roman" panose="02020603050405020304" pitchFamily="18" charset="0"/>
                <a:sym typeface="Symbol" panose="05050102010706020507" pitchFamily="18" charset="2"/>
              </a:rPr>
              <a:t></a:t>
            </a:r>
            <a:r>
              <a:rPr lang="en-US" altLang="zh-CN" sz="2000" i="1" baseline="-25000" dirty="0" err="1">
                <a:solidFill>
                  <a:schemeClr val="tx1"/>
                </a:solidFill>
                <a:ea typeface="+mn-ea"/>
                <a:cs typeface="Times New Roman" panose="02020603050405020304" pitchFamily="18" charset="0"/>
                <a:sym typeface="Symbol" panose="05050102010706020507" pitchFamily="18" charset="2"/>
              </a:rPr>
              <a:t>ij</a:t>
            </a:r>
            <a:r>
              <a:rPr lang="en-US" altLang="zh-CN" sz="2000" dirty="0">
                <a:solidFill>
                  <a:schemeClr val="tx1"/>
                </a:solidFill>
                <a:ea typeface="+mn-ea"/>
                <a:cs typeface="Times New Roman" panose="02020603050405020304" pitchFamily="18" charset="0"/>
                <a:sym typeface="Symbol" panose="05050102010706020507" pitchFamily="18" charset="2"/>
              </a:rPr>
              <a:t>=</a:t>
            </a:r>
            <a:r>
              <a:rPr lang="en-US" altLang="zh-CN" sz="2000" i="1" dirty="0" err="1">
                <a:solidFill>
                  <a:schemeClr val="tx1"/>
                </a:solidFill>
                <a:ea typeface="+mn-ea"/>
                <a:cs typeface="Times New Roman" panose="02020603050405020304" pitchFamily="18" charset="0"/>
                <a:sym typeface="Symbol" panose="05050102010706020507" pitchFamily="18" charset="2"/>
              </a:rPr>
              <a:t>c</a:t>
            </a:r>
            <a:r>
              <a:rPr lang="en-US" altLang="zh-CN" sz="2000" i="1" baseline="-25000" dirty="0" err="1">
                <a:solidFill>
                  <a:schemeClr val="tx1"/>
                </a:solidFill>
                <a:ea typeface="+mn-ea"/>
                <a:cs typeface="Times New Roman" panose="02020603050405020304" pitchFamily="18" charset="0"/>
                <a:sym typeface="Symbol" panose="05050102010706020507" pitchFamily="18" charset="2"/>
              </a:rPr>
              <a:t>ij</a:t>
            </a:r>
            <a:r>
              <a:rPr lang="en-US" altLang="zh-CN" sz="2000" dirty="0">
                <a:solidFill>
                  <a:schemeClr val="tx1"/>
                </a:solidFill>
                <a:ea typeface="+mn-ea"/>
                <a:cs typeface="Times New Roman" panose="02020603050405020304" pitchFamily="18" charset="0"/>
                <a:sym typeface="Symbol" panose="05050102010706020507" pitchFamily="18" charset="2"/>
              </a:rPr>
              <a:t>-(</a:t>
            </a:r>
            <a:r>
              <a:rPr lang="en-US" altLang="zh-CN" sz="2000" dirty="0" err="1">
                <a:solidFill>
                  <a:schemeClr val="tx1"/>
                </a:solidFill>
                <a:ea typeface="+mn-ea"/>
                <a:cs typeface="Times New Roman" panose="02020603050405020304" pitchFamily="18" charset="0"/>
              </a:rPr>
              <a:t>u</a:t>
            </a:r>
            <a:r>
              <a:rPr lang="en-US" altLang="zh-CN" sz="2000" i="1" baseline="-25000" dirty="0" err="1">
                <a:solidFill>
                  <a:schemeClr val="tx1"/>
                </a:solidFill>
                <a:ea typeface="+mn-ea"/>
                <a:cs typeface="Times New Roman" panose="02020603050405020304" pitchFamily="18" charset="0"/>
              </a:rPr>
              <a:t>i</a:t>
            </a:r>
            <a:r>
              <a:rPr lang="en-US" altLang="zh-CN" sz="2000" dirty="0" err="1">
                <a:solidFill>
                  <a:schemeClr val="tx1"/>
                </a:solidFill>
                <a:ea typeface="+mn-ea"/>
                <a:cs typeface="Times New Roman" panose="02020603050405020304" pitchFamily="18" charset="0"/>
              </a:rPr>
              <a:t>+v</a:t>
            </a:r>
            <a:r>
              <a:rPr lang="en-US" altLang="zh-CN" sz="2000" i="1" baseline="-25000" dirty="0" err="1">
                <a:solidFill>
                  <a:schemeClr val="tx1"/>
                </a:solidFill>
                <a:ea typeface="+mn-ea"/>
                <a:cs typeface="Times New Roman" panose="02020603050405020304" pitchFamily="18" charset="0"/>
              </a:rPr>
              <a:t>j</a:t>
            </a:r>
            <a:r>
              <a:rPr lang="en-US" altLang="zh-CN" sz="2000" dirty="0">
                <a:solidFill>
                  <a:schemeClr val="tx1"/>
                </a:solidFill>
                <a:ea typeface="+mn-ea"/>
                <a:cs typeface="Times New Roman" panose="02020603050405020304" pitchFamily="18" charset="0"/>
              </a:rPr>
              <a:t>)</a:t>
            </a:r>
            <a:r>
              <a:rPr lang="zh-CN" altLang="en-US" sz="2000" dirty="0">
                <a:solidFill>
                  <a:srgbClr val="000000"/>
                </a:solidFill>
                <a:ea typeface="+mn-ea"/>
                <a:cs typeface="Times New Roman" panose="02020603050405020304" pitchFamily="18" charset="0"/>
              </a:rPr>
              <a:t>计算</a:t>
            </a:r>
            <a:r>
              <a:rPr lang="zh-CN" altLang="en-US" sz="2000" dirty="0">
                <a:solidFill>
                  <a:srgbClr val="FF0000"/>
                </a:solidFill>
                <a:ea typeface="+mn-ea"/>
                <a:cs typeface="Times New Roman" panose="02020603050405020304" pitchFamily="18" charset="0"/>
              </a:rPr>
              <a:t>非基变量</a:t>
            </a:r>
            <a:r>
              <a:rPr lang="zh-CN" altLang="en-US" sz="2000" dirty="0">
                <a:solidFill>
                  <a:srgbClr val="000000"/>
                </a:solidFill>
                <a:ea typeface="+mn-ea"/>
                <a:cs typeface="Times New Roman" panose="02020603050405020304" pitchFamily="18" charset="0"/>
              </a:rPr>
              <a:t>（空格）的检验数</a:t>
            </a:r>
            <a:r>
              <a:rPr lang="zh-CN" altLang="en-US" sz="2000" dirty="0">
                <a:solidFill>
                  <a:srgbClr val="000000"/>
                </a:solidFill>
                <a:ea typeface="+mn-ea"/>
                <a:cs typeface="Times New Roman" panose="02020603050405020304" pitchFamily="18" charset="0"/>
                <a:sym typeface="Symbol" panose="05050102010706020507" pitchFamily="18" charset="2"/>
              </a:rPr>
              <a:t></a:t>
            </a:r>
            <a:r>
              <a:rPr lang="en-US" altLang="zh-CN" sz="2000" i="1" baseline="-25000" dirty="0" err="1">
                <a:solidFill>
                  <a:srgbClr val="000000"/>
                </a:solidFill>
                <a:ea typeface="+mn-ea"/>
                <a:cs typeface="Times New Roman" panose="02020603050405020304" pitchFamily="18" charset="0"/>
                <a:sym typeface="Symbol" panose="05050102010706020507" pitchFamily="18" charset="2"/>
              </a:rPr>
              <a:t>ij</a:t>
            </a:r>
            <a:endParaRPr lang="en-US" altLang="zh-CN" sz="2000" i="1" baseline="-25000" dirty="0">
              <a:solidFill>
                <a:srgbClr val="000000"/>
              </a:solidFill>
              <a:ea typeface="+mn-ea"/>
              <a:cs typeface="Times New Roman" panose="02020603050405020304" pitchFamily="18" charset="0"/>
              <a:sym typeface="Symbol" panose="05050102010706020507" pitchFamily="18" charset="2"/>
            </a:endParaRPr>
          </a:p>
        </p:txBody>
      </p:sp>
      <p:graphicFrame>
        <p:nvGraphicFramePr>
          <p:cNvPr id="51" name="Group 3">
            <a:extLst>
              <a:ext uri="{FF2B5EF4-FFF2-40B4-BE49-F238E27FC236}">
                <a16:creationId xmlns:a16="http://schemas.microsoft.com/office/drawing/2014/main" id="{FC4E7F84-BAA7-4262-90D8-A882BAC9F7C5}"/>
              </a:ext>
            </a:extLst>
          </p:cNvPr>
          <p:cNvGraphicFramePr>
            <a:graphicFrameLocks noGrp="1"/>
          </p:cNvGraphicFramePr>
          <p:nvPr/>
        </p:nvGraphicFramePr>
        <p:xfrm>
          <a:off x="336550" y="2590800"/>
          <a:ext cx="6427787" cy="3357563"/>
        </p:xfrm>
        <a:graphic>
          <a:graphicData uri="http://schemas.openxmlformats.org/drawingml/2006/table">
            <a:tbl>
              <a:tblPr/>
              <a:tblGrid>
                <a:gridCol w="1119187">
                  <a:extLst>
                    <a:ext uri="{9D8B030D-6E8A-4147-A177-3AD203B41FA5}">
                      <a16:colId xmlns:a16="http://schemas.microsoft.com/office/drawing/2014/main" val="20000"/>
                    </a:ext>
                  </a:extLst>
                </a:gridCol>
                <a:gridCol w="1119188">
                  <a:extLst>
                    <a:ext uri="{9D8B030D-6E8A-4147-A177-3AD203B41FA5}">
                      <a16:colId xmlns:a16="http://schemas.microsoft.com/office/drawing/2014/main" val="20001"/>
                    </a:ext>
                  </a:extLst>
                </a:gridCol>
                <a:gridCol w="1119187">
                  <a:extLst>
                    <a:ext uri="{9D8B030D-6E8A-4147-A177-3AD203B41FA5}">
                      <a16:colId xmlns:a16="http://schemas.microsoft.com/office/drawing/2014/main" val="20002"/>
                    </a:ext>
                  </a:extLst>
                </a:gridCol>
                <a:gridCol w="1119188">
                  <a:extLst>
                    <a:ext uri="{9D8B030D-6E8A-4147-A177-3AD203B41FA5}">
                      <a16:colId xmlns:a16="http://schemas.microsoft.com/office/drawing/2014/main" val="20003"/>
                    </a:ext>
                  </a:extLst>
                </a:gridCol>
                <a:gridCol w="1119187">
                  <a:extLst>
                    <a:ext uri="{9D8B030D-6E8A-4147-A177-3AD203B41FA5}">
                      <a16:colId xmlns:a16="http://schemas.microsoft.com/office/drawing/2014/main" val="20004"/>
                    </a:ext>
                  </a:extLst>
                </a:gridCol>
                <a:gridCol w="831850">
                  <a:extLst>
                    <a:ext uri="{9D8B030D-6E8A-4147-A177-3AD203B41FA5}">
                      <a16:colId xmlns:a16="http://schemas.microsoft.com/office/drawing/2014/main" val="20005"/>
                    </a:ext>
                  </a:extLst>
                </a:gridCol>
              </a:tblGrid>
              <a:tr h="5461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2</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3</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4</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u</a:t>
                      </a:r>
                      <a:r>
                        <a:rPr kumimoji="1" lang="en-US" altLang="zh-CN" sz="2000" b="1" i="0" u="none" strike="noStrike" cap="none" normalizeH="0" baseline="-25000">
                          <a:ln>
                            <a:noFill/>
                          </a:ln>
                          <a:solidFill>
                            <a:srgbClr val="000000"/>
                          </a:solidFill>
                          <a:effectLst/>
                          <a:latin typeface="Times New Roman" panose="02020603050405020304" pitchFamily="18" charset="0"/>
                          <a:ea typeface="宋体" panose="02010600030101010101" pitchFamily="2" charset="-122"/>
                        </a:rPr>
                        <a:t>i</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50888">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20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620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36575">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v</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j</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87089" name="Rectangle 47">
            <a:extLst>
              <a:ext uri="{FF2B5EF4-FFF2-40B4-BE49-F238E27FC236}">
                <a16:creationId xmlns:a16="http://schemas.microsoft.com/office/drawing/2014/main" id="{5CD6A7F6-9BB9-40F3-B67F-AAE2E845E262}"/>
              </a:ext>
            </a:extLst>
          </p:cNvPr>
          <p:cNvSpPr>
            <a:spLocks noChangeArrowheads="1"/>
          </p:cNvSpPr>
          <p:nvPr/>
        </p:nvSpPr>
        <p:spPr bwMode="auto">
          <a:xfrm>
            <a:off x="2089150" y="311150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87090" name="Rectangle 48">
            <a:extLst>
              <a:ext uri="{FF2B5EF4-FFF2-40B4-BE49-F238E27FC236}">
                <a16:creationId xmlns:a16="http://schemas.microsoft.com/office/drawing/2014/main" id="{821C481E-B318-49B0-8F15-8AD3C035A572}"/>
              </a:ext>
            </a:extLst>
          </p:cNvPr>
          <p:cNvSpPr>
            <a:spLocks noChangeArrowheads="1"/>
          </p:cNvSpPr>
          <p:nvPr/>
        </p:nvSpPr>
        <p:spPr bwMode="auto">
          <a:xfrm>
            <a:off x="3208338" y="311150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11</a:t>
            </a:r>
          </a:p>
        </p:txBody>
      </p:sp>
      <p:sp>
        <p:nvSpPr>
          <p:cNvPr id="87091" name="Rectangle 49">
            <a:extLst>
              <a:ext uri="{FF2B5EF4-FFF2-40B4-BE49-F238E27FC236}">
                <a16:creationId xmlns:a16="http://schemas.microsoft.com/office/drawing/2014/main" id="{A06B467E-D617-4374-8B0B-29117F603900}"/>
              </a:ext>
            </a:extLst>
          </p:cNvPr>
          <p:cNvSpPr>
            <a:spLocks noChangeArrowheads="1"/>
          </p:cNvSpPr>
          <p:nvPr/>
        </p:nvSpPr>
        <p:spPr bwMode="auto">
          <a:xfrm>
            <a:off x="4313238" y="311150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87092" name="Rectangle 50">
            <a:extLst>
              <a:ext uri="{FF2B5EF4-FFF2-40B4-BE49-F238E27FC236}">
                <a16:creationId xmlns:a16="http://schemas.microsoft.com/office/drawing/2014/main" id="{313C28EA-3DF3-4773-9C20-DF17344ECFFD}"/>
              </a:ext>
            </a:extLst>
          </p:cNvPr>
          <p:cNvSpPr>
            <a:spLocks noChangeArrowheads="1"/>
          </p:cNvSpPr>
          <p:nvPr/>
        </p:nvSpPr>
        <p:spPr bwMode="auto">
          <a:xfrm>
            <a:off x="5454650" y="30956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87093" name="Rectangle 51">
            <a:extLst>
              <a:ext uri="{FF2B5EF4-FFF2-40B4-BE49-F238E27FC236}">
                <a16:creationId xmlns:a16="http://schemas.microsoft.com/office/drawing/2014/main" id="{8F6E6EDD-3661-4BE0-B84D-1B02601CE067}"/>
              </a:ext>
            </a:extLst>
          </p:cNvPr>
          <p:cNvSpPr>
            <a:spLocks noChangeArrowheads="1"/>
          </p:cNvSpPr>
          <p:nvPr/>
        </p:nvSpPr>
        <p:spPr bwMode="auto">
          <a:xfrm>
            <a:off x="2093913" y="388620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a:t>
            </a:r>
          </a:p>
        </p:txBody>
      </p:sp>
      <p:sp>
        <p:nvSpPr>
          <p:cNvPr id="87094" name="Rectangle 52">
            <a:extLst>
              <a:ext uri="{FF2B5EF4-FFF2-40B4-BE49-F238E27FC236}">
                <a16:creationId xmlns:a16="http://schemas.microsoft.com/office/drawing/2014/main" id="{43FC57D6-5EFD-456D-97A0-D4A223C20647}"/>
              </a:ext>
            </a:extLst>
          </p:cNvPr>
          <p:cNvSpPr>
            <a:spLocks noChangeArrowheads="1"/>
          </p:cNvSpPr>
          <p:nvPr/>
        </p:nvSpPr>
        <p:spPr bwMode="auto">
          <a:xfrm>
            <a:off x="3224213" y="3870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9</a:t>
            </a:r>
          </a:p>
        </p:txBody>
      </p:sp>
      <p:sp>
        <p:nvSpPr>
          <p:cNvPr id="87095" name="Rectangle 53">
            <a:extLst>
              <a:ext uri="{FF2B5EF4-FFF2-40B4-BE49-F238E27FC236}">
                <a16:creationId xmlns:a16="http://schemas.microsoft.com/office/drawing/2014/main" id="{FE2F80BF-C4B5-4A9E-A502-34A3E4B8D8B5}"/>
              </a:ext>
            </a:extLst>
          </p:cNvPr>
          <p:cNvSpPr>
            <a:spLocks noChangeArrowheads="1"/>
          </p:cNvSpPr>
          <p:nvPr/>
        </p:nvSpPr>
        <p:spPr bwMode="auto">
          <a:xfrm>
            <a:off x="4335463" y="3903663"/>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2</a:t>
            </a:r>
          </a:p>
        </p:txBody>
      </p:sp>
      <p:sp>
        <p:nvSpPr>
          <p:cNvPr id="87096" name="Rectangle 54">
            <a:extLst>
              <a:ext uri="{FF2B5EF4-FFF2-40B4-BE49-F238E27FC236}">
                <a16:creationId xmlns:a16="http://schemas.microsoft.com/office/drawing/2014/main" id="{025776B1-75F3-41A4-9280-BE3F7DD7D83B}"/>
              </a:ext>
            </a:extLst>
          </p:cNvPr>
          <p:cNvSpPr>
            <a:spLocks noChangeArrowheads="1"/>
          </p:cNvSpPr>
          <p:nvPr/>
        </p:nvSpPr>
        <p:spPr bwMode="auto">
          <a:xfrm>
            <a:off x="2098675" y="46450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7</a:t>
            </a:r>
          </a:p>
        </p:txBody>
      </p:sp>
      <p:sp>
        <p:nvSpPr>
          <p:cNvPr id="87097" name="Rectangle 55">
            <a:extLst>
              <a:ext uri="{FF2B5EF4-FFF2-40B4-BE49-F238E27FC236}">
                <a16:creationId xmlns:a16="http://schemas.microsoft.com/office/drawing/2014/main" id="{6D8767C2-B8AF-47BD-9E81-3F967AAA0420}"/>
              </a:ext>
            </a:extLst>
          </p:cNvPr>
          <p:cNvSpPr>
            <a:spLocks noChangeArrowheads="1"/>
          </p:cNvSpPr>
          <p:nvPr/>
        </p:nvSpPr>
        <p:spPr bwMode="auto">
          <a:xfrm>
            <a:off x="3224213" y="4633913"/>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4</a:t>
            </a:r>
          </a:p>
        </p:txBody>
      </p:sp>
      <p:sp>
        <p:nvSpPr>
          <p:cNvPr id="87098" name="Rectangle 56">
            <a:extLst>
              <a:ext uri="{FF2B5EF4-FFF2-40B4-BE49-F238E27FC236}">
                <a16:creationId xmlns:a16="http://schemas.microsoft.com/office/drawing/2014/main" id="{C20E148C-1778-4FC0-8A88-4CC0A2D473EB}"/>
              </a:ext>
            </a:extLst>
          </p:cNvPr>
          <p:cNvSpPr>
            <a:spLocks noChangeArrowheads="1"/>
          </p:cNvSpPr>
          <p:nvPr/>
        </p:nvSpPr>
        <p:spPr bwMode="auto">
          <a:xfrm>
            <a:off x="4333875" y="4632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87099" name="Rectangle 57">
            <a:extLst>
              <a:ext uri="{FF2B5EF4-FFF2-40B4-BE49-F238E27FC236}">
                <a16:creationId xmlns:a16="http://schemas.microsoft.com/office/drawing/2014/main" id="{8FA7D0AD-C6D1-402C-B056-02A8E91231D6}"/>
              </a:ext>
            </a:extLst>
          </p:cNvPr>
          <p:cNvSpPr>
            <a:spLocks noChangeArrowheads="1"/>
          </p:cNvSpPr>
          <p:nvPr/>
        </p:nvSpPr>
        <p:spPr bwMode="auto">
          <a:xfrm>
            <a:off x="5446713" y="463550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5</a:t>
            </a:r>
          </a:p>
        </p:txBody>
      </p:sp>
      <p:sp>
        <p:nvSpPr>
          <p:cNvPr id="87100" name="Rectangle 58">
            <a:extLst>
              <a:ext uri="{FF2B5EF4-FFF2-40B4-BE49-F238E27FC236}">
                <a16:creationId xmlns:a16="http://schemas.microsoft.com/office/drawing/2014/main" id="{D4608ACE-1E41-48AB-A2F5-8795E36428A3}"/>
              </a:ext>
            </a:extLst>
          </p:cNvPr>
          <p:cNvSpPr>
            <a:spLocks noChangeArrowheads="1"/>
          </p:cNvSpPr>
          <p:nvPr/>
        </p:nvSpPr>
        <p:spPr bwMode="auto">
          <a:xfrm>
            <a:off x="5446713" y="3870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8</a:t>
            </a:r>
          </a:p>
        </p:txBody>
      </p:sp>
      <p:sp>
        <p:nvSpPr>
          <p:cNvPr id="64" name="Rectangle 65">
            <a:extLst>
              <a:ext uri="{FF2B5EF4-FFF2-40B4-BE49-F238E27FC236}">
                <a16:creationId xmlns:a16="http://schemas.microsoft.com/office/drawing/2014/main" id="{BD844DCF-8046-4FA7-855D-062B95C48056}"/>
              </a:ext>
            </a:extLst>
          </p:cNvPr>
          <p:cNvSpPr>
            <a:spLocks noChangeArrowheads="1"/>
          </p:cNvSpPr>
          <p:nvPr/>
        </p:nvSpPr>
        <p:spPr bwMode="auto">
          <a:xfrm>
            <a:off x="5953125" y="3167063"/>
            <a:ext cx="833438" cy="735012"/>
          </a:xfrm>
          <a:prstGeom prst="rect">
            <a:avLst/>
          </a:prstGeom>
          <a:solidFill>
            <a:srgbClr val="FFFF99"/>
          </a:solidFill>
          <a:ln w="19050">
            <a:solidFill>
              <a:schemeClr val="tx1"/>
            </a:solidFill>
            <a:miter lim="800000"/>
            <a:headEnd/>
            <a:tailEnd/>
          </a:ln>
          <a:effectLst/>
        </p:spPr>
        <p:txBody>
          <a:bodyPr wrap="none" anchor="ctr"/>
          <a:lstStyle/>
          <a:p>
            <a:pPr>
              <a:defRPr/>
            </a:pPr>
            <a:r>
              <a:rPr kumimoji="1" lang="en-US" altLang="zh-CN" sz="2400">
                <a:solidFill>
                  <a:srgbClr val="3333FF"/>
                </a:solidFill>
                <a:effectLst>
                  <a:outerShdw blurRad="38100" dist="38100" dir="2700000" algn="tl">
                    <a:srgbClr val="000000"/>
                  </a:outerShdw>
                </a:effectLst>
              </a:rPr>
              <a:t>0</a:t>
            </a:r>
            <a:endParaRPr kumimoji="1" lang="en-US" altLang="zh-CN" sz="2400" baseline="-25000">
              <a:solidFill>
                <a:srgbClr val="3333FF"/>
              </a:solidFill>
              <a:effectLst>
                <a:outerShdw blurRad="38100" dist="38100" dir="2700000" algn="tl">
                  <a:srgbClr val="000000"/>
                </a:outerShdw>
              </a:effectLst>
            </a:endParaRPr>
          </a:p>
        </p:txBody>
      </p:sp>
      <p:sp>
        <p:nvSpPr>
          <p:cNvPr id="65" name="Rectangle 66">
            <a:extLst>
              <a:ext uri="{FF2B5EF4-FFF2-40B4-BE49-F238E27FC236}">
                <a16:creationId xmlns:a16="http://schemas.microsoft.com/office/drawing/2014/main" id="{81A20A4C-4E51-4BC6-A322-8A64E7BF18B0}"/>
              </a:ext>
            </a:extLst>
          </p:cNvPr>
          <p:cNvSpPr>
            <a:spLocks noChangeArrowheads="1"/>
          </p:cNvSpPr>
          <p:nvPr/>
        </p:nvSpPr>
        <p:spPr bwMode="auto">
          <a:xfrm>
            <a:off x="5953125" y="3886200"/>
            <a:ext cx="833438" cy="752475"/>
          </a:xfrm>
          <a:prstGeom prst="rect">
            <a:avLst/>
          </a:prstGeom>
          <a:solidFill>
            <a:srgbClr val="FFFF99"/>
          </a:solidFill>
          <a:ln w="19050">
            <a:solidFill>
              <a:schemeClr val="tx1"/>
            </a:solidFill>
            <a:miter lim="800000"/>
            <a:headEnd/>
            <a:tailEnd/>
          </a:ln>
          <a:effectLst/>
        </p:spPr>
        <p:txBody>
          <a:bodyPr wrap="none" anchor="ctr"/>
          <a:lstStyle/>
          <a:p>
            <a:pPr>
              <a:defRPr/>
            </a:pPr>
            <a:r>
              <a:rPr kumimoji="1" lang="en-US" altLang="zh-CN" sz="2400">
                <a:solidFill>
                  <a:srgbClr val="3333FF"/>
                </a:solidFill>
                <a:effectLst>
                  <a:outerShdw blurRad="38100" dist="38100" dir="2700000" algn="tl">
                    <a:srgbClr val="000000"/>
                  </a:outerShdw>
                </a:effectLst>
              </a:rPr>
              <a:t>-1</a:t>
            </a:r>
            <a:endParaRPr kumimoji="1" lang="en-US" altLang="zh-CN" sz="2400" baseline="-25000">
              <a:solidFill>
                <a:srgbClr val="3333FF"/>
              </a:solidFill>
              <a:effectLst>
                <a:outerShdw blurRad="38100" dist="38100" dir="2700000" algn="tl">
                  <a:srgbClr val="000000"/>
                </a:outerShdw>
              </a:effectLst>
            </a:endParaRPr>
          </a:p>
        </p:txBody>
      </p:sp>
      <p:sp>
        <p:nvSpPr>
          <p:cNvPr id="66" name="Rectangle 67">
            <a:extLst>
              <a:ext uri="{FF2B5EF4-FFF2-40B4-BE49-F238E27FC236}">
                <a16:creationId xmlns:a16="http://schemas.microsoft.com/office/drawing/2014/main" id="{A0C3FC1C-D7F1-4783-94F1-F8BF0D114CA0}"/>
              </a:ext>
            </a:extLst>
          </p:cNvPr>
          <p:cNvSpPr>
            <a:spLocks noChangeArrowheads="1"/>
          </p:cNvSpPr>
          <p:nvPr/>
        </p:nvSpPr>
        <p:spPr bwMode="auto">
          <a:xfrm>
            <a:off x="5953125" y="4664075"/>
            <a:ext cx="833438" cy="735013"/>
          </a:xfrm>
          <a:prstGeom prst="rect">
            <a:avLst/>
          </a:prstGeom>
          <a:solidFill>
            <a:srgbClr val="FFFF99"/>
          </a:solidFill>
          <a:ln w="19050">
            <a:solidFill>
              <a:schemeClr val="tx1"/>
            </a:solidFill>
            <a:miter lim="800000"/>
            <a:headEnd/>
            <a:tailEnd/>
          </a:ln>
          <a:effectLst/>
        </p:spPr>
        <p:txBody>
          <a:bodyPr wrap="none" anchor="ctr"/>
          <a:lstStyle/>
          <a:p>
            <a:pPr>
              <a:defRPr/>
            </a:pPr>
            <a:r>
              <a:rPr kumimoji="1" lang="en-US" altLang="zh-CN" sz="2400">
                <a:solidFill>
                  <a:srgbClr val="3333FF"/>
                </a:solidFill>
                <a:effectLst>
                  <a:outerShdw blurRad="38100" dist="38100" dir="2700000" algn="tl">
                    <a:srgbClr val="000000"/>
                  </a:outerShdw>
                </a:effectLst>
              </a:rPr>
              <a:t>-5</a:t>
            </a:r>
            <a:endParaRPr kumimoji="1" lang="en-US" altLang="zh-CN" sz="2400" baseline="-25000">
              <a:solidFill>
                <a:srgbClr val="3333FF"/>
              </a:solidFill>
              <a:effectLst>
                <a:outerShdw blurRad="38100" dist="38100" dir="2700000" algn="tl">
                  <a:srgbClr val="000000"/>
                </a:outerShdw>
              </a:effectLst>
            </a:endParaRPr>
          </a:p>
        </p:txBody>
      </p:sp>
      <p:sp>
        <p:nvSpPr>
          <p:cNvPr id="67" name="Rectangle 68">
            <a:extLst>
              <a:ext uri="{FF2B5EF4-FFF2-40B4-BE49-F238E27FC236}">
                <a16:creationId xmlns:a16="http://schemas.microsoft.com/office/drawing/2014/main" id="{5DB66B65-482E-486E-9A96-6BEFE7693615}"/>
              </a:ext>
            </a:extLst>
          </p:cNvPr>
          <p:cNvSpPr>
            <a:spLocks noChangeArrowheads="1"/>
          </p:cNvSpPr>
          <p:nvPr/>
        </p:nvSpPr>
        <p:spPr bwMode="auto">
          <a:xfrm>
            <a:off x="3719513" y="5416550"/>
            <a:ext cx="1125537"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3</a:t>
            </a:r>
            <a:endParaRPr kumimoji="1" lang="en-US" altLang="zh-CN" sz="2000" baseline="-25000">
              <a:solidFill>
                <a:srgbClr val="0000FF"/>
              </a:solidFill>
              <a:effectLst>
                <a:outerShdw blurRad="38100" dist="38100" dir="2700000" algn="tl">
                  <a:srgbClr val="000000"/>
                </a:outerShdw>
              </a:effectLst>
            </a:endParaRPr>
          </a:p>
        </p:txBody>
      </p:sp>
      <p:sp>
        <p:nvSpPr>
          <p:cNvPr id="68" name="Rectangle 69">
            <a:extLst>
              <a:ext uri="{FF2B5EF4-FFF2-40B4-BE49-F238E27FC236}">
                <a16:creationId xmlns:a16="http://schemas.microsoft.com/office/drawing/2014/main" id="{398DC17B-F6EB-4C85-A3FC-B0E2C68D4878}"/>
              </a:ext>
            </a:extLst>
          </p:cNvPr>
          <p:cNvSpPr>
            <a:spLocks noChangeArrowheads="1"/>
          </p:cNvSpPr>
          <p:nvPr/>
        </p:nvSpPr>
        <p:spPr bwMode="auto">
          <a:xfrm>
            <a:off x="4827588" y="5414963"/>
            <a:ext cx="1125537"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10</a:t>
            </a:r>
            <a:endParaRPr kumimoji="1" lang="en-US" altLang="zh-CN" sz="2000" baseline="-25000">
              <a:solidFill>
                <a:srgbClr val="0000FF"/>
              </a:solidFill>
              <a:effectLst>
                <a:outerShdw blurRad="38100" dist="38100" dir="2700000" algn="tl">
                  <a:srgbClr val="000000"/>
                </a:outerShdw>
              </a:effectLst>
            </a:endParaRPr>
          </a:p>
        </p:txBody>
      </p:sp>
      <p:sp>
        <p:nvSpPr>
          <p:cNvPr id="69" name="Rectangle 70">
            <a:extLst>
              <a:ext uri="{FF2B5EF4-FFF2-40B4-BE49-F238E27FC236}">
                <a16:creationId xmlns:a16="http://schemas.microsoft.com/office/drawing/2014/main" id="{78EDC5B9-389C-4F82-8361-EE0E11E5D01B}"/>
              </a:ext>
            </a:extLst>
          </p:cNvPr>
          <p:cNvSpPr>
            <a:spLocks noChangeArrowheads="1"/>
          </p:cNvSpPr>
          <p:nvPr/>
        </p:nvSpPr>
        <p:spPr bwMode="auto">
          <a:xfrm>
            <a:off x="1444625" y="5399088"/>
            <a:ext cx="1125538"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2</a:t>
            </a:r>
            <a:endParaRPr kumimoji="1" lang="en-US" altLang="zh-CN" sz="2000" baseline="-25000">
              <a:solidFill>
                <a:srgbClr val="0000FF"/>
              </a:solidFill>
              <a:effectLst>
                <a:outerShdw blurRad="38100" dist="38100" dir="2700000" algn="tl">
                  <a:srgbClr val="000000"/>
                </a:outerShdw>
              </a:effectLst>
            </a:endParaRPr>
          </a:p>
        </p:txBody>
      </p:sp>
      <p:sp>
        <p:nvSpPr>
          <p:cNvPr id="70" name="Rectangle 71">
            <a:extLst>
              <a:ext uri="{FF2B5EF4-FFF2-40B4-BE49-F238E27FC236}">
                <a16:creationId xmlns:a16="http://schemas.microsoft.com/office/drawing/2014/main" id="{06A5851A-7B90-420A-B334-E8E764E33F5E}"/>
              </a:ext>
            </a:extLst>
          </p:cNvPr>
          <p:cNvSpPr>
            <a:spLocks noChangeArrowheads="1"/>
          </p:cNvSpPr>
          <p:nvPr/>
        </p:nvSpPr>
        <p:spPr bwMode="auto">
          <a:xfrm>
            <a:off x="2568575" y="5399088"/>
            <a:ext cx="1125538" cy="520700"/>
          </a:xfrm>
          <a:prstGeom prst="rect">
            <a:avLst/>
          </a:prstGeom>
          <a:solidFill>
            <a:srgbClr val="FFFFCC"/>
          </a:solidFill>
          <a:ln w="19050">
            <a:solidFill>
              <a:schemeClr val="tx1"/>
            </a:solidFill>
            <a:miter lim="800000"/>
            <a:headEnd/>
            <a:tailEnd/>
          </a:ln>
          <a:effectLst/>
        </p:spPr>
        <p:txBody>
          <a:bodyPr wrap="none" anchor="ctr"/>
          <a:lstStyle/>
          <a:p>
            <a:pPr>
              <a:defRPr/>
            </a:pPr>
            <a:r>
              <a:rPr kumimoji="1" lang="en-US" altLang="zh-CN" sz="2000">
                <a:solidFill>
                  <a:srgbClr val="0000FF"/>
                </a:solidFill>
                <a:effectLst>
                  <a:outerShdw blurRad="38100" dist="38100" dir="2700000" algn="tl">
                    <a:srgbClr val="000000"/>
                  </a:outerShdw>
                </a:effectLst>
              </a:rPr>
              <a:t>9</a:t>
            </a:r>
            <a:endParaRPr kumimoji="1" lang="en-US" altLang="zh-CN" sz="2000" baseline="-25000">
              <a:solidFill>
                <a:srgbClr val="0000FF"/>
              </a:solidFill>
              <a:effectLst>
                <a:outerShdw blurRad="38100" dist="38100" dir="2700000" algn="tl">
                  <a:srgbClr val="000000"/>
                </a:outerShdw>
              </a:effectLst>
            </a:endParaRPr>
          </a:p>
        </p:txBody>
      </p:sp>
      <p:sp>
        <p:nvSpPr>
          <p:cNvPr id="71" name="AutoShape 74">
            <a:extLst>
              <a:ext uri="{FF2B5EF4-FFF2-40B4-BE49-F238E27FC236}">
                <a16:creationId xmlns:a16="http://schemas.microsoft.com/office/drawing/2014/main" id="{F23A4CAD-ED0C-48C3-B166-27F61FB596CF}"/>
              </a:ext>
            </a:extLst>
          </p:cNvPr>
          <p:cNvSpPr>
            <a:spLocks noChangeArrowheads="1"/>
          </p:cNvSpPr>
          <p:nvPr/>
        </p:nvSpPr>
        <p:spPr bwMode="auto">
          <a:xfrm>
            <a:off x="6838950" y="3114675"/>
            <a:ext cx="936625" cy="390525"/>
          </a:xfrm>
          <a:prstGeom prst="wedgeRectCallout">
            <a:avLst>
              <a:gd name="adj1" fmla="val -102148"/>
              <a:gd name="adj2" fmla="val 58616"/>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zh-CN" altLang="en-US">
                <a:solidFill>
                  <a:srgbClr val="FF0000"/>
                </a:solidFill>
                <a:latin typeface="Times New Roman" panose="02020603050405020304" pitchFamily="18" charset="0"/>
                <a:cs typeface="Times New Roman" panose="02020603050405020304" pitchFamily="18" charset="0"/>
              </a:rPr>
              <a:t>令</a:t>
            </a: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1</a:t>
            </a:r>
            <a:r>
              <a:rPr kumimoji="1" lang="en-US" altLang="zh-CN">
                <a:solidFill>
                  <a:srgbClr val="FF0000"/>
                </a:solidFill>
                <a:latin typeface="Times New Roman" panose="02020603050405020304" pitchFamily="18" charset="0"/>
                <a:cs typeface="Times New Roman" panose="02020603050405020304" pitchFamily="18" charset="0"/>
              </a:rPr>
              <a:t>=0</a:t>
            </a:r>
          </a:p>
        </p:txBody>
      </p:sp>
      <p:sp>
        <p:nvSpPr>
          <p:cNvPr id="72" name="AutoShape 75">
            <a:extLst>
              <a:ext uri="{FF2B5EF4-FFF2-40B4-BE49-F238E27FC236}">
                <a16:creationId xmlns:a16="http://schemas.microsoft.com/office/drawing/2014/main" id="{EB9997CA-CCD1-42D6-B1C8-179F57415DE8}"/>
              </a:ext>
            </a:extLst>
          </p:cNvPr>
          <p:cNvSpPr>
            <a:spLocks noChangeArrowheads="1"/>
          </p:cNvSpPr>
          <p:nvPr/>
        </p:nvSpPr>
        <p:spPr bwMode="auto">
          <a:xfrm flipH="1">
            <a:off x="3567113" y="6129338"/>
            <a:ext cx="1152525" cy="422275"/>
          </a:xfrm>
          <a:prstGeom prst="wedgeRectCallout">
            <a:avLst>
              <a:gd name="adj1" fmla="val -8042"/>
              <a:gd name="adj2" fmla="val -166852"/>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1</a:t>
            </a:r>
            <a:r>
              <a:rPr kumimoji="1" lang="en-US" altLang="zh-CN">
                <a:solidFill>
                  <a:srgbClr val="FF0000"/>
                </a:solidFill>
                <a:latin typeface="Times New Roman" panose="02020603050405020304" pitchFamily="18" charset="0"/>
                <a:cs typeface="Times New Roman" panose="02020603050405020304" pitchFamily="18" charset="0"/>
              </a:rPr>
              <a:t>+v</a:t>
            </a:r>
            <a:r>
              <a:rPr kumimoji="1" lang="en-US" altLang="zh-CN" baseline="-25000">
                <a:solidFill>
                  <a:srgbClr val="FF0000"/>
                </a:solidFill>
                <a:latin typeface="Times New Roman" panose="02020603050405020304" pitchFamily="18" charset="0"/>
                <a:cs typeface="Times New Roman" panose="02020603050405020304" pitchFamily="18" charset="0"/>
              </a:rPr>
              <a:t>3</a:t>
            </a:r>
            <a:r>
              <a:rPr kumimoji="1" lang="en-US" altLang="zh-CN">
                <a:solidFill>
                  <a:srgbClr val="FF0000"/>
                </a:solidFill>
                <a:latin typeface="Times New Roman" panose="02020603050405020304" pitchFamily="18" charset="0"/>
                <a:cs typeface="Times New Roman" panose="02020603050405020304" pitchFamily="18" charset="0"/>
              </a:rPr>
              <a:t>=3</a:t>
            </a:r>
          </a:p>
        </p:txBody>
      </p:sp>
      <p:sp>
        <p:nvSpPr>
          <p:cNvPr id="73" name="AutoShape 76">
            <a:extLst>
              <a:ext uri="{FF2B5EF4-FFF2-40B4-BE49-F238E27FC236}">
                <a16:creationId xmlns:a16="http://schemas.microsoft.com/office/drawing/2014/main" id="{08427A6E-958B-4032-AB49-E57F47D1A909}"/>
              </a:ext>
            </a:extLst>
          </p:cNvPr>
          <p:cNvSpPr>
            <a:spLocks noChangeArrowheads="1"/>
          </p:cNvSpPr>
          <p:nvPr/>
        </p:nvSpPr>
        <p:spPr bwMode="auto">
          <a:xfrm>
            <a:off x="5584825" y="6126163"/>
            <a:ext cx="1276350" cy="395287"/>
          </a:xfrm>
          <a:prstGeom prst="wedgeRectCallout">
            <a:avLst>
              <a:gd name="adj1" fmla="val -69102"/>
              <a:gd name="adj2" fmla="val -166190"/>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1</a:t>
            </a:r>
            <a:r>
              <a:rPr kumimoji="1" lang="en-US" altLang="zh-CN">
                <a:solidFill>
                  <a:srgbClr val="FF0000"/>
                </a:solidFill>
                <a:latin typeface="Times New Roman" panose="02020603050405020304" pitchFamily="18" charset="0"/>
                <a:cs typeface="Times New Roman" panose="02020603050405020304" pitchFamily="18" charset="0"/>
              </a:rPr>
              <a:t>+ v</a:t>
            </a:r>
            <a:r>
              <a:rPr kumimoji="1" lang="en-US" altLang="zh-CN" baseline="-25000">
                <a:solidFill>
                  <a:srgbClr val="FF0000"/>
                </a:solidFill>
                <a:latin typeface="Times New Roman" panose="02020603050405020304" pitchFamily="18" charset="0"/>
                <a:cs typeface="Times New Roman" panose="02020603050405020304" pitchFamily="18" charset="0"/>
              </a:rPr>
              <a:t>4 </a:t>
            </a:r>
            <a:r>
              <a:rPr kumimoji="1" lang="en-US" altLang="zh-CN">
                <a:solidFill>
                  <a:srgbClr val="FF0000"/>
                </a:solidFill>
                <a:latin typeface="Times New Roman" panose="02020603050405020304" pitchFamily="18" charset="0"/>
                <a:cs typeface="Times New Roman" panose="02020603050405020304" pitchFamily="18" charset="0"/>
              </a:rPr>
              <a:t>=10</a:t>
            </a:r>
          </a:p>
        </p:txBody>
      </p:sp>
      <p:sp>
        <p:nvSpPr>
          <p:cNvPr id="74" name="AutoShape 77">
            <a:extLst>
              <a:ext uri="{FF2B5EF4-FFF2-40B4-BE49-F238E27FC236}">
                <a16:creationId xmlns:a16="http://schemas.microsoft.com/office/drawing/2014/main" id="{7AE06040-54E7-4741-A81F-486E3C974C8C}"/>
              </a:ext>
            </a:extLst>
          </p:cNvPr>
          <p:cNvSpPr>
            <a:spLocks noChangeArrowheads="1"/>
          </p:cNvSpPr>
          <p:nvPr/>
        </p:nvSpPr>
        <p:spPr bwMode="auto">
          <a:xfrm>
            <a:off x="6853238" y="3814763"/>
            <a:ext cx="1071562" cy="376237"/>
          </a:xfrm>
          <a:prstGeom prst="wedgeRectCallout">
            <a:avLst>
              <a:gd name="adj1" fmla="val -94454"/>
              <a:gd name="adj2" fmla="val 71389"/>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2</a:t>
            </a:r>
            <a:r>
              <a:rPr kumimoji="1" lang="en-US" altLang="zh-CN">
                <a:solidFill>
                  <a:srgbClr val="FF0000"/>
                </a:solidFill>
                <a:latin typeface="Times New Roman" panose="02020603050405020304" pitchFamily="18" charset="0"/>
                <a:cs typeface="Times New Roman" panose="02020603050405020304" pitchFamily="18" charset="0"/>
              </a:rPr>
              <a:t>+ v</a:t>
            </a:r>
            <a:r>
              <a:rPr kumimoji="1" lang="en-US" altLang="zh-CN" baseline="-25000">
                <a:solidFill>
                  <a:srgbClr val="FF0000"/>
                </a:solidFill>
                <a:latin typeface="Times New Roman" panose="02020603050405020304" pitchFamily="18" charset="0"/>
                <a:cs typeface="Times New Roman" panose="02020603050405020304" pitchFamily="18" charset="0"/>
              </a:rPr>
              <a:t>3</a:t>
            </a:r>
            <a:r>
              <a:rPr kumimoji="1" lang="en-US" altLang="zh-CN">
                <a:solidFill>
                  <a:srgbClr val="FF0000"/>
                </a:solidFill>
                <a:latin typeface="Times New Roman" panose="02020603050405020304" pitchFamily="18" charset="0"/>
                <a:cs typeface="Times New Roman" panose="02020603050405020304" pitchFamily="18" charset="0"/>
              </a:rPr>
              <a:t>=2</a:t>
            </a:r>
          </a:p>
        </p:txBody>
      </p:sp>
      <p:sp>
        <p:nvSpPr>
          <p:cNvPr id="75" name="AutoShape 78">
            <a:extLst>
              <a:ext uri="{FF2B5EF4-FFF2-40B4-BE49-F238E27FC236}">
                <a16:creationId xmlns:a16="http://schemas.microsoft.com/office/drawing/2014/main" id="{29589A6C-D479-4A97-A97D-842BF26A4FC8}"/>
              </a:ext>
            </a:extLst>
          </p:cNvPr>
          <p:cNvSpPr>
            <a:spLocks noChangeArrowheads="1"/>
          </p:cNvSpPr>
          <p:nvPr/>
        </p:nvSpPr>
        <p:spPr bwMode="auto">
          <a:xfrm flipH="1">
            <a:off x="449263" y="6105525"/>
            <a:ext cx="1143000" cy="438150"/>
          </a:xfrm>
          <a:prstGeom prst="wedgeRectCallout">
            <a:avLst>
              <a:gd name="adj1" fmla="val -81972"/>
              <a:gd name="adj2" fmla="val -137968"/>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2</a:t>
            </a:r>
            <a:r>
              <a:rPr kumimoji="1" lang="en-US" altLang="zh-CN">
                <a:solidFill>
                  <a:srgbClr val="FF0000"/>
                </a:solidFill>
                <a:latin typeface="Times New Roman" panose="02020603050405020304" pitchFamily="18" charset="0"/>
                <a:cs typeface="Times New Roman" panose="02020603050405020304" pitchFamily="18" charset="0"/>
              </a:rPr>
              <a:t>+v</a:t>
            </a:r>
            <a:r>
              <a:rPr kumimoji="1" lang="en-US" altLang="zh-CN" baseline="-25000">
                <a:solidFill>
                  <a:srgbClr val="FF0000"/>
                </a:solidFill>
                <a:latin typeface="Times New Roman" panose="02020603050405020304" pitchFamily="18" charset="0"/>
                <a:cs typeface="Times New Roman" panose="02020603050405020304" pitchFamily="18" charset="0"/>
              </a:rPr>
              <a:t>1</a:t>
            </a:r>
            <a:r>
              <a:rPr kumimoji="1" lang="en-US" altLang="zh-CN">
                <a:solidFill>
                  <a:srgbClr val="FF0000"/>
                </a:solidFill>
                <a:latin typeface="Times New Roman" panose="02020603050405020304" pitchFamily="18" charset="0"/>
                <a:cs typeface="Times New Roman" panose="02020603050405020304" pitchFamily="18" charset="0"/>
              </a:rPr>
              <a:t>=1</a:t>
            </a:r>
          </a:p>
        </p:txBody>
      </p:sp>
      <p:sp>
        <p:nvSpPr>
          <p:cNvPr id="76" name="AutoShape 79">
            <a:extLst>
              <a:ext uri="{FF2B5EF4-FFF2-40B4-BE49-F238E27FC236}">
                <a16:creationId xmlns:a16="http://schemas.microsoft.com/office/drawing/2014/main" id="{553DAED6-6A53-47B7-AB73-FB069B863367}"/>
              </a:ext>
            </a:extLst>
          </p:cNvPr>
          <p:cNvSpPr>
            <a:spLocks noChangeArrowheads="1"/>
          </p:cNvSpPr>
          <p:nvPr/>
        </p:nvSpPr>
        <p:spPr bwMode="auto">
          <a:xfrm flipH="1">
            <a:off x="1868488" y="6097588"/>
            <a:ext cx="1019175" cy="454025"/>
          </a:xfrm>
          <a:prstGeom prst="wedgeRectCallout">
            <a:avLst>
              <a:gd name="adj1" fmla="val -69491"/>
              <a:gd name="adj2" fmla="val -137116"/>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3</a:t>
            </a:r>
            <a:r>
              <a:rPr kumimoji="1" lang="en-US" altLang="zh-CN">
                <a:solidFill>
                  <a:srgbClr val="FF0000"/>
                </a:solidFill>
                <a:latin typeface="Times New Roman" panose="02020603050405020304" pitchFamily="18" charset="0"/>
                <a:cs typeface="Times New Roman" panose="02020603050405020304" pitchFamily="18" charset="0"/>
              </a:rPr>
              <a:t>+v</a:t>
            </a:r>
            <a:r>
              <a:rPr kumimoji="1" lang="en-US" altLang="zh-CN" baseline="-25000">
                <a:solidFill>
                  <a:srgbClr val="FF0000"/>
                </a:solidFill>
                <a:latin typeface="Times New Roman" panose="02020603050405020304" pitchFamily="18" charset="0"/>
                <a:cs typeface="Times New Roman" panose="02020603050405020304" pitchFamily="18" charset="0"/>
              </a:rPr>
              <a:t>2</a:t>
            </a:r>
            <a:r>
              <a:rPr kumimoji="1" lang="en-US" altLang="zh-CN">
                <a:solidFill>
                  <a:srgbClr val="FF0000"/>
                </a:solidFill>
                <a:latin typeface="Times New Roman" panose="02020603050405020304" pitchFamily="18" charset="0"/>
                <a:cs typeface="Times New Roman" panose="02020603050405020304" pitchFamily="18" charset="0"/>
              </a:rPr>
              <a:t>=4</a:t>
            </a:r>
          </a:p>
        </p:txBody>
      </p:sp>
      <p:sp>
        <p:nvSpPr>
          <p:cNvPr id="77" name="AutoShape 80">
            <a:extLst>
              <a:ext uri="{FF2B5EF4-FFF2-40B4-BE49-F238E27FC236}">
                <a16:creationId xmlns:a16="http://schemas.microsoft.com/office/drawing/2014/main" id="{7FE7EBE2-EF4E-4EF7-BC7E-E4C71F264243}"/>
              </a:ext>
            </a:extLst>
          </p:cNvPr>
          <p:cNvSpPr>
            <a:spLocks noChangeArrowheads="1"/>
          </p:cNvSpPr>
          <p:nvPr/>
        </p:nvSpPr>
        <p:spPr bwMode="auto">
          <a:xfrm>
            <a:off x="6853238" y="4668838"/>
            <a:ext cx="1071562" cy="434975"/>
          </a:xfrm>
          <a:prstGeom prst="wedgeRectCallout">
            <a:avLst>
              <a:gd name="adj1" fmla="val -77940"/>
              <a:gd name="adj2" fmla="val 26310"/>
            </a:avLst>
          </a:prstGeom>
          <a:solidFill>
            <a:srgbClr val="FFFF00"/>
          </a:solidFill>
          <a:ln>
            <a:noFill/>
          </a:ln>
          <a:effectLst/>
          <a:extLst>
            <a:ext uri="{91240B29-F687-4F45-9708-019B960494DF}">
              <a14:hiddenLine xmlns:a14="http://schemas.microsoft.com/office/drawing/2010/main" w="28575" algn="ctr">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rgbClr val="FF0000"/>
                </a:solidFill>
                <a:latin typeface="Times New Roman" panose="02020603050405020304" pitchFamily="18" charset="0"/>
                <a:cs typeface="Times New Roman" panose="02020603050405020304" pitchFamily="18" charset="0"/>
              </a:rPr>
              <a:t>u</a:t>
            </a:r>
            <a:r>
              <a:rPr kumimoji="1" lang="en-US" altLang="zh-CN" baseline="-25000">
                <a:solidFill>
                  <a:srgbClr val="FF0000"/>
                </a:solidFill>
                <a:latin typeface="Times New Roman" panose="02020603050405020304" pitchFamily="18" charset="0"/>
                <a:cs typeface="Times New Roman" panose="02020603050405020304" pitchFamily="18" charset="0"/>
              </a:rPr>
              <a:t>3</a:t>
            </a:r>
            <a:r>
              <a:rPr kumimoji="1" lang="en-US" altLang="zh-CN">
                <a:solidFill>
                  <a:srgbClr val="FF0000"/>
                </a:solidFill>
                <a:latin typeface="Times New Roman" panose="02020603050405020304" pitchFamily="18" charset="0"/>
                <a:cs typeface="Times New Roman" panose="02020603050405020304" pitchFamily="18" charset="0"/>
              </a:rPr>
              <a:t>+ v</a:t>
            </a:r>
            <a:r>
              <a:rPr kumimoji="1" lang="en-US" altLang="zh-CN" baseline="-25000">
                <a:solidFill>
                  <a:srgbClr val="FF0000"/>
                </a:solidFill>
                <a:latin typeface="Times New Roman" panose="02020603050405020304" pitchFamily="18" charset="0"/>
                <a:cs typeface="Times New Roman" panose="02020603050405020304" pitchFamily="18" charset="0"/>
              </a:rPr>
              <a:t>4</a:t>
            </a:r>
            <a:r>
              <a:rPr kumimoji="1" lang="en-US" altLang="zh-CN">
                <a:solidFill>
                  <a:srgbClr val="FF0000"/>
                </a:solidFill>
                <a:latin typeface="Times New Roman" panose="02020603050405020304" pitchFamily="18" charset="0"/>
                <a:cs typeface="Times New Roman" panose="02020603050405020304" pitchFamily="18" charset="0"/>
              </a:rPr>
              <a:t>=5</a:t>
            </a:r>
          </a:p>
        </p:txBody>
      </p:sp>
      <p:sp>
        <p:nvSpPr>
          <p:cNvPr id="87115" name="Text Box 81">
            <a:extLst>
              <a:ext uri="{FF2B5EF4-FFF2-40B4-BE49-F238E27FC236}">
                <a16:creationId xmlns:a16="http://schemas.microsoft.com/office/drawing/2014/main" id="{E54BA916-7881-4C84-881F-4872687DD277}"/>
              </a:ext>
            </a:extLst>
          </p:cNvPr>
          <p:cNvSpPr txBox="1">
            <a:spLocks noChangeArrowheads="1"/>
          </p:cNvSpPr>
          <p:nvPr/>
        </p:nvSpPr>
        <p:spPr bwMode="auto">
          <a:xfrm>
            <a:off x="3668713" y="3600450"/>
            <a:ext cx="3048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4</a:t>
            </a:r>
            <a:endParaRPr kumimoji="1" lang="en-US" altLang="zh-CN" sz="3200">
              <a:latin typeface="楷体_GB2312" pitchFamily="49" charset="-122"/>
              <a:ea typeface="楷体_GB2312" pitchFamily="49" charset="-122"/>
            </a:endParaRPr>
          </a:p>
        </p:txBody>
      </p:sp>
      <p:sp>
        <p:nvSpPr>
          <p:cNvPr id="87116" name="Text Box 82">
            <a:extLst>
              <a:ext uri="{FF2B5EF4-FFF2-40B4-BE49-F238E27FC236}">
                <a16:creationId xmlns:a16="http://schemas.microsoft.com/office/drawing/2014/main" id="{52AA7077-77FC-4719-B5BA-DBA013B63B9A}"/>
              </a:ext>
            </a:extLst>
          </p:cNvPr>
          <p:cNvSpPr txBox="1">
            <a:spLocks noChangeArrowheads="1"/>
          </p:cNvSpPr>
          <p:nvPr/>
        </p:nvSpPr>
        <p:spPr bwMode="auto">
          <a:xfrm>
            <a:off x="1487488" y="428307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87117" name="Text Box 83">
            <a:extLst>
              <a:ext uri="{FF2B5EF4-FFF2-40B4-BE49-F238E27FC236}">
                <a16:creationId xmlns:a16="http://schemas.microsoft.com/office/drawing/2014/main" id="{2E6A6FA2-84E6-443A-8B23-EE887F70D499}"/>
              </a:ext>
            </a:extLst>
          </p:cNvPr>
          <p:cNvSpPr txBox="1">
            <a:spLocks noChangeArrowheads="1"/>
          </p:cNvSpPr>
          <p:nvPr/>
        </p:nvSpPr>
        <p:spPr bwMode="auto">
          <a:xfrm>
            <a:off x="2587625" y="5075238"/>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6</a:t>
            </a:r>
            <a:endParaRPr kumimoji="1" lang="en-US" altLang="zh-CN" sz="3200">
              <a:latin typeface="楷体_GB2312" pitchFamily="49" charset="-122"/>
              <a:ea typeface="楷体_GB2312" pitchFamily="49" charset="-122"/>
            </a:endParaRPr>
          </a:p>
        </p:txBody>
      </p:sp>
      <p:sp>
        <p:nvSpPr>
          <p:cNvPr id="87118" name="Text Box 84">
            <a:extLst>
              <a:ext uri="{FF2B5EF4-FFF2-40B4-BE49-F238E27FC236}">
                <a16:creationId xmlns:a16="http://schemas.microsoft.com/office/drawing/2014/main" id="{61BE5440-E7F8-44C0-A028-4B7340A2016D}"/>
              </a:ext>
            </a:extLst>
          </p:cNvPr>
          <p:cNvSpPr txBox="1">
            <a:spLocks noChangeArrowheads="1"/>
          </p:cNvSpPr>
          <p:nvPr/>
        </p:nvSpPr>
        <p:spPr bwMode="auto">
          <a:xfrm>
            <a:off x="4821238" y="5075238"/>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87119" name="Text Box 85">
            <a:extLst>
              <a:ext uri="{FF2B5EF4-FFF2-40B4-BE49-F238E27FC236}">
                <a16:creationId xmlns:a16="http://schemas.microsoft.com/office/drawing/2014/main" id="{22655E34-5478-4920-A85F-D04387F78662}"/>
              </a:ext>
            </a:extLst>
          </p:cNvPr>
          <p:cNvSpPr txBox="1">
            <a:spLocks noChangeArrowheads="1"/>
          </p:cNvSpPr>
          <p:nvPr/>
        </p:nvSpPr>
        <p:spPr bwMode="auto">
          <a:xfrm>
            <a:off x="3648075" y="428307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1</a:t>
            </a:r>
            <a:endParaRPr kumimoji="1" lang="en-US" altLang="zh-CN" sz="3200">
              <a:latin typeface="楷体_GB2312" pitchFamily="49" charset="-122"/>
              <a:ea typeface="楷体_GB2312" pitchFamily="49" charset="-122"/>
            </a:endParaRPr>
          </a:p>
        </p:txBody>
      </p:sp>
      <p:sp>
        <p:nvSpPr>
          <p:cNvPr id="87120" name="Text Box 86">
            <a:extLst>
              <a:ext uri="{FF2B5EF4-FFF2-40B4-BE49-F238E27FC236}">
                <a16:creationId xmlns:a16="http://schemas.microsoft.com/office/drawing/2014/main" id="{8A6EA57E-1874-4E5B-B1CE-DF45D2D5DDE2}"/>
              </a:ext>
            </a:extLst>
          </p:cNvPr>
          <p:cNvSpPr txBox="1">
            <a:spLocks noChangeArrowheads="1"/>
          </p:cNvSpPr>
          <p:nvPr/>
        </p:nvSpPr>
        <p:spPr bwMode="auto">
          <a:xfrm>
            <a:off x="4821238" y="3600450"/>
            <a:ext cx="3254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000">
                <a:solidFill>
                  <a:srgbClr val="A50021"/>
                </a:solidFill>
              </a:rPr>
              <a:t>3</a:t>
            </a:r>
          </a:p>
        </p:txBody>
      </p:sp>
      <p:sp>
        <p:nvSpPr>
          <p:cNvPr id="84" name="Rectangle 83">
            <a:extLst>
              <a:ext uri="{FF2B5EF4-FFF2-40B4-BE49-F238E27FC236}">
                <a16:creationId xmlns:a16="http://schemas.microsoft.com/office/drawing/2014/main" id="{3F35F71D-54A2-4C29-8EB2-72B41303EEA2}"/>
              </a:ext>
            </a:extLst>
          </p:cNvPr>
          <p:cNvSpPr>
            <a:spLocks noChangeArrowheads="1"/>
          </p:cNvSpPr>
          <p:nvPr/>
        </p:nvSpPr>
        <p:spPr bwMode="auto">
          <a:xfrm>
            <a:off x="6875463" y="5399088"/>
            <a:ext cx="1974850" cy="655637"/>
          </a:xfrm>
          <a:prstGeom prst="rect">
            <a:avLst/>
          </a:prstGeom>
          <a:noFill/>
          <a:ln w="28575" algn="ctr">
            <a:solidFill>
              <a:srgbClr val="CC33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20000"/>
              </a:spcBef>
              <a:buSzPct val="85000"/>
            </a:pPr>
            <a:r>
              <a:rPr kumimoji="1" lang="zh-CN" altLang="en-US" sz="1600">
                <a:solidFill>
                  <a:srgbClr val="FF0000"/>
                </a:solidFill>
                <a:latin typeface="Times New Roman" panose="02020603050405020304" pitchFamily="18" charset="0"/>
                <a:cs typeface="Times New Roman" panose="02020603050405020304" pitchFamily="18" charset="0"/>
              </a:rPr>
              <a:t>注意：基变量的检验数</a:t>
            </a:r>
            <a:r>
              <a:rPr kumimoji="1" lang="zh-CN" altLang="en-US"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i="1"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ij</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i="1">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i="1"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ij</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 –(</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i="1" baseline="-25000">
                <a:solidFill>
                  <a:srgbClr val="FF0000"/>
                </a:solidFill>
                <a:latin typeface="Times New Roman" panose="02020603050405020304" pitchFamily="18" charset="0"/>
                <a:cs typeface="Times New Roman" panose="02020603050405020304" pitchFamily="18" charset="0"/>
              </a:rPr>
              <a:t>i</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i="1" baseline="-25000">
                <a:solidFill>
                  <a:srgbClr val="FF0000"/>
                </a:solidFill>
                <a:latin typeface="Times New Roman" panose="02020603050405020304" pitchFamily="18" charset="0"/>
                <a:cs typeface="Times New Roman" panose="02020603050405020304" pitchFamily="18" charset="0"/>
              </a:rPr>
              <a:t>j</a:t>
            </a:r>
            <a:r>
              <a:rPr kumimoji="1" lang="en-US" altLang="zh-CN" sz="1600">
                <a:solidFill>
                  <a:srgbClr val="FF0000"/>
                </a:solidFill>
                <a:latin typeface="Times New Roman" panose="02020603050405020304" pitchFamily="18" charset="0"/>
                <a:cs typeface="Times New Roman" panose="02020603050405020304" pitchFamily="18" charset="0"/>
              </a:rPr>
              <a:t>)=0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
                                        </p:tgtEl>
                                        <p:attrNameLst>
                                          <p:attrName>style.visibility</p:attrName>
                                        </p:attrNameLst>
                                      </p:cBhvr>
                                      <p:to>
                                        <p:strVal val="visible"/>
                                      </p:to>
                                    </p:se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64"/>
                                        </p:tgtEl>
                                        <p:attrNameLst>
                                          <p:attrName>style.visibility</p:attrName>
                                        </p:attrNameLst>
                                      </p:cBhvr>
                                      <p:to>
                                        <p:strVal val="visible"/>
                                      </p:to>
                                    </p:set>
                                    <p:animEffect transition="in" filter="wipe(left)">
                                      <p:cBhvr>
                                        <p:cTn id="11" dur="500"/>
                                        <p:tgtEl>
                                          <p:spTgt spid="6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72"/>
                                        </p:tgtEl>
                                        <p:attrNameLst>
                                          <p:attrName>style.visibility</p:attrName>
                                        </p:attrNameLst>
                                      </p:cBhvr>
                                      <p:to>
                                        <p:strVal val="visible"/>
                                      </p:to>
                                    </p:set>
                                  </p:childTnLst>
                                  <p:subTnLst>
                                    <p:set>
                                      <p:cBhvr override="childStyle">
                                        <p:cTn dur="1" fill="hold" display="0" masterRel="nextClick" afterEffect="1"/>
                                        <p:tgtEl>
                                          <p:spTgt spid="72"/>
                                        </p:tgtEl>
                                        <p:attrNameLst>
                                          <p:attrName>style.visibility</p:attrName>
                                        </p:attrNameLst>
                                      </p:cBhvr>
                                      <p:to>
                                        <p:strVal val="hidden"/>
                                      </p:to>
                                    </p:set>
                                  </p:sub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67"/>
                                        </p:tgtEl>
                                        <p:attrNameLst>
                                          <p:attrName>style.visibility</p:attrName>
                                        </p:attrNameLst>
                                      </p:cBhvr>
                                      <p:to>
                                        <p:strVal val="visible"/>
                                      </p:to>
                                    </p:set>
                                    <p:animEffect transition="in" filter="wipe(left)">
                                      <p:cBhvr>
                                        <p:cTn id="20" dur="500"/>
                                        <p:tgtEl>
                                          <p:spTgt spid="67"/>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73"/>
                                        </p:tgtEl>
                                        <p:attrNameLst>
                                          <p:attrName>style.visibility</p:attrName>
                                        </p:attrNameLst>
                                      </p:cBhvr>
                                      <p:to>
                                        <p:strVal val="visible"/>
                                      </p:to>
                                    </p:se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68"/>
                                        </p:tgtEl>
                                        <p:attrNameLst>
                                          <p:attrName>style.visibility</p:attrName>
                                        </p:attrNameLst>
                                      </p:cBhvr>
                                      <p:to>
                                        <p:strVal val="visible"/>
                                      </p:to>
                                    </p:set>
                                    <p:animEffect transition="in" filter="wipe(left)">
                                      <p:cBhvr>
                                        <p:cTn id="29" dur="500"/>
                                        <p:tgtEl>
                                          <p:spTgt spid="6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74"/>
                                        </p:tgtEl>
                                        <p:attrNameLst>
                                          <p:attrName>style.visibility</p:attrName>
                                        </p:attrNameLst>
                                      </p:cBhvr>
                                      <p:to>
                                        <p:strVal val="visible"/>
                                      </p:to>
                                    </p:set>
                                  </p:childTnLst>
                                  <p:subTnLst>
                                    <p:set>
                                      <p:cBhvr override="childStyle">
                                        <p:cTn dur="1" fill="hold" display="0" masterRel="nextClick" afterEffect="1"/>
                                        <p:tgtEl>
                                          <p:spTgt spid="74"/>
                                        </p:tgtEl>
                                        <p:attrNameLst>
                                          <p:attrName>style.visibility</p:attrName>
                                        </p:attrNameLst>
                                      </p:cBhvr>
                                      <p:to>
                                        <p:strVal val="hidden"/>
                                      </p:to>
                                    </p:set>
                                  </p:sub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left)">
                                      <p:cBhvr>
                                        <p:cTn id="38" dur="500"/>
                                        <p:tgtEl>
                                          <p:spTgt spid="65"/>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77"/>
                                        </p:tgtEl>
                                        <p:attrNameLst>
                                          <p:attrName>style.visibility</p:attrName>
                                        </p:attrNameLst>
                                      </p:cBhvr>
                                      <p:to>
                                        <p:strVal val="visible"/>
                                      </p:to>
                                    </p:set>
                                  </p:childTnLst>
                                  <p:subTnLst>
                                    <p:set>
                                      <p:cBhvr override="childStyle">
                                        <p:cTn dur="1" fill="hold" display="0" masterRel="nextClick" afterEffect="1"/>
                                        <p:tgtEl>
                                          <p:spTgt spid="77"/>
                                        </p:tgtEl>
                                        <p:attrNameLst>
                                          <p:attrName>style.visibility</p:attrName>
                                        </p:attrNameLst>
                                      </p:cBhvr>
                                      <p:to>
                                        <p:strVal val="hidden"/>
                                      </p:to>
                                    </p:set>
                                  </p:sub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66"/>
                                        </p:tgtEl>
                                        <p:attrNameLst>
                                          <p:attrName>style.visibility</p:attrName>
                                        </p:attrNameLst>
                                      </p:cBhvr>
                                      <p:to>
                                        <p:strVal val="visible"/>
                                      </p:to>
                                    </p:set>
                                    <p:animEffect transition="in" filter="wipe(left)">
                                      <p:cBhvr>
                                        <p:cTn id="47" dur="500"/>
                                        <p:tgtEl>
                                          <p:spTgt spid="6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75"/>
                                        </p:tgtEl>
                                        <p:attrNameLst>
                                          <p:attrName>style.visibility</p:attrName>
                                        </p:attrNameLst>
                                      </p:cBhvr>
                                      <p:to>
                                        <p:strVal val="visible"/>
                                      </p:to>
                                    </p:se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69"/>
                                        </p:tgtEl>
                                        <p:attrNameLst>
                                          <p:attrName>style.visibility</p:attrName>
                                        </p:attrNameLst>
                                      </p:cBhvr>
                                      <p:to>
                                        <p:strVal val="visible"/>
                                      </p:to>
                                    </p:set>
                                    <p:animEffect transition="in" filter="wipe(left)">
                                      <p:cBhvr>
                                        <p:cTn id="56" dur="500"/>
                                        <p:tgtEl>
                                          <p:spTgt spid="69"/>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6"/>
                                        </p:tgtEl>
                                        <p:attrNameLst>
                                          <p:attrName>style.visibility</p:attrName>
                                        </p:attrNameLst>
                                      </p:cBhvr>
                                      <p:to>
                                        <p:strVal val="visible"/>
                                      </p:to>
                                    </p:set>
                                  </p:childTnLst>
                                  <p:subTnLst>
                                    <p:set>
                                      <p:cBhvr override="childStyle">
                                        <p:cTn dur="1" fill="hold" display="0" masterRel="nextClick" afterEffect="1"/>
                                        <p:tgtEl>
                                          <p:spTgt spid="76"/>
                                        </p:tgtEl>
                                        <p:attrNameLst>
                                          <p:attrName>style.visibility</p:attrName>
                                        </p:attrNameLst>
                                      </p:cBhvr>
                                      <p:to>
                                        <p:strVal val="hidden"/>
                                      </p:to>
                                    </p:set>
                                  </p:sub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70"/>
                                        </p:tgtEl>
                                        <p:attrNameLst>
                                          <p:attrName>style.visibility</p:attrName>
                                        </p:attrNameLst>
                                      </p:cBhvr>
                                      <p:to>
                                        <p:strVal val="visible"/>
                                      </p:to>
                                    </p:set>
                                    <p:animEffect transition="in" filter="wipe(left)">
                                      <p:cBhvr>
                                        <p:cTn id="65" dur="500"/>
                                        <p:tgtEl>
                                          <p:spTgt spid="70"/>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66" grpId="0" animBg="1"/>
      <p:bldP spid="67" grpId="0" animBg="1" autoUpdateAnimBg="0"/>
      <p:bldP spid="68" grpId="0" animBg="1" autoUpdateAnimBg="0"/>
      <p:bldP spid="69" grpId="0" animBg="1" autoUpdateAnimBg="0"/>
      <p:bldP spid="70" grpId="0" animBg="1" autoUpdateAnimBg="0"/>
      <p:bldP spid="71" grpId="0" animBg="1"/>
      <p:bldP spid="72" grpId="0" animBg="1"/>
      <p:bldP spid="73" grpId="0" animBg="1"/>
      <p:bldP spid="74" grpId="0" animBg="1"/>
      <p:bldP spid="75" grpId="0" animBg="1"/>
      <p:bldP spid="76" grpId="0" animBg="1"/>
      <p:bldP spid="77" grpId="0" animBg="1"/>
      <p:bldP spid="84"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descr="Large confetti">
            <a:extLst>
              <a:ext uri="{FF2B5EF4-FFF2-40B4-BE49-F238E27FC236}">
                <a16:creationId xmlns:a16="http://schemas.microsoft.com/office/drawing/2014/main" id="{21021E71-0635-437F-B5F7-9C9658C1CEF8}"/>
              </a:ext>
            </a:extLst>
          </p:cNvPr>
          <p:cNvSpPr>
            <a:spLocks noGrp="1" noChangeArrowheads="1"/>
          </p:cNvSpPr>
          <p:nvPr>
            <p:ph type="title"/>
          </p:nvPr>
        </p:nvSpPr>
        <p:spPr/>
        <p:txBody>
          <a:bodyPr/>
          <a:lstStyle/>
          <a:p>
            <a:pPr eaLnBrk="1" hangingPunct="1"/>
            <a:r>
              <a:rPr lang="zh-CN" altLang="en-US"/>
              <a:t>例子</a:t>
            </a:r>
            <a:r>
              <a:rPr lang="en-US" altLang="zh-CN"/>
              <a:t>-</a:t>
            </a:r>
            <a:r>
              <a:rPr lang="zh-CN" altLang="en-US"/>
              <a:t>位势法和闭回路法</a:t>
            </a:r>
          </a:p>
        </p:txBody>
      </p:sp>
      <p:sp>
        <p:nvSpPr>
          <p:cNvPr id="88067" name="Rectangle 8">
            <a:extLst>
              <a:ext uri="{FF2B5EF4-FFF2-40B4-BE49-F238E27FC236}">
                <a16:creationId xmlns:a16="http://schemas.microsoft.com/office/drawing/2014/main" id="{05413ED6-331E-468F-B157-C89585304478}"/>
              </a:ext>
            </a:extLst>
          </p:cNvPr>
          <p:cNvSpPr>
            <a:spLocks noChangeArrowheads="1"/>
          </p:cNvSpPr>
          <p:nvPr/>
        </p:nvSpPr>
        <p:spPr bwMode="auto">
          <a:xfrm>
            <a:off x="2019300" y="4297363"/>
            <a:ext cx="1119188"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2</a:t>
            </a:r>
          </a:p>
        </p:txBody>
      </p:sp>
      <p:grpSp>
        <p:nvGrpSpPr>
          <p:cNvPr id="88068" name="Group 84">
            <a:extLst>
              <a:ext uri="{FF2B5EF4-FFF2-40B4-BE49-F238E27FC236}">
                <a16:creationId xmlns:a16="http://schemas.microsoft.com/office/drawing/2014/main" id="{F59A9C97-E1D6-478D-880D-691EBD9DA228}"/>
              </a:ext>
            </a:extLst>
          </p:cNvPr>
          <p:cNvGrpSpPr>
            <a:grpSpLocks/>
          </p:cNvGrpSpPr>
          <p:nvPr/>
        </p:nvGrpSpPr>
        <p:grpSpPr bwMode="auto">
          <a:xfrm>
            <a:off x="900113" y="1476375"/>
            <a:ext cx="6427787" cy="3357563"/>
            <a:chOff x="567" y="709"/>
            <a:chExt cx="4049" cy="2115"/>
          </a:xfrm>
        </p:grpSpPr>
        <p:sp>
          <p:nvSpPr>
            <p:cNvPr id="88101" name="Rectangle 4">
              <a:extLst>
                <a:ext uri="{FF2B5EF4-FFF2-40B4-BE49-F238E27FC236}">
                  <a16:creationId xmlns:a16="http://schemas.microsoft.com/office/drawing/2014/main" id="{122FA761-A1C6-4001-89BB-0D581F522E32}"/>
                </a:ext>
              </a:extLst>
            </p:cNvPr>
            <p:cNvSpPr>
              <a:spLocks noChangeArrowheads="1"/>
            </p:cNvSpPr>
            <p:nvPr/>
          </p:nvSpPr>
          <p:spPr bwMode="auto">
            <a:xfrm>
              <a:off x="4092" y="2486"/>
              <a:ext cx="524"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02" name="Rectangle 5">
              <a:extLst>
                <a:ext uri="{FF2B5EF4-FFF2-40B4-BE49-F238E27FC236}">
                  <a16:creationId xmlns:a16="http://schemas.microsoft.com/office/drawing/2014/main" id="{BB0BFE0D-0DD5-421B-9FF0-2699C6511349}"/>
                </a:ext>
              </a:extLst>
            </p:cNvPr>
            <p:cNvSpPr>
              <a:spLocks noChangeArrowheads="1"/>
            </p:cNvSpPr>
            <p:nvPr/>
          </p:nvSpPr>
          <p:spPr bwMode="auto">
            <a:xfrm>
              <a:off x="3387"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10</a:t>
              </a:r>
            </a:p>
          </p:txBody>
        </p:sp>
        <p:sp>
          <p:nvSpPr>
            <p:cNvPr id="88103" name="Rectangle 6">
              <a:extLst>
                <a:ext uri="{FF2B5EF4-FFF2-40B4-BE49-F238E27FC236}">
                  <a16:creationId xmlns:a16="http://schemas.microsoft.com/office/drawing/2014/main" id="{D272A4A4-8676-40A3-9A1E-ED43B3D59783}"/>
                </a:ext>
              </a:extLst>
            </p:cNvPr>
            <p:cNvSpPr>
              <a:spLocks noChangeArrowheads="1"/>
            </p:cNvSpPr>
            <p:nvPr/>
          </p:nvSpPr>
          <p:spPr bwMode="auto">
            <a:xfrm>
              <a:off x="2682"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3</a:t>
              </a:r>
            </a:p>
          </p:txBody>
        </p:sp>
        <p:sp>
          <p:nvSpPr>
            <p:cNvPr id="88104" name="Rectangle 7">
              <a:extLst>
                <a:ext uri="{FF2B5EF4-FFF2-40B4-BE49-F238E27FC236}">
                  <a16:creationId xmlns:a16="http://schemas.microsoft.com/office/drawing/2014/main" id="{89AE93E1-FC70-4B30-9B99-E552E9B890DF}"/>
                </a:ext>
              </a:extLst>
            </p:cNvPr>
            <p:cNvSpPr>
              <a:spLocks noChangeArrowheads="1"/>
            </p:cNvSpPr>
            <p:nvPr/>
          </p:nvSpPr>
          <p:spPr bwMode="auto">
            <a:xfrm>
              <a:off x="1977"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9</a:t>
              </a:r>
            </a:p>
          </p:txBody>
        </p:sp>
        <p:sp>
          <p:nvSpPr>
            <p:cNvPr id="88105" name="Rectangle 9">
              <a:extLst>
                <a:ext uri="{FF2B5EF4-FFF2-40B4-BE49-F238E27FC236}">
                  <a16:creationId xmlns:a16="http://schemas.microsoft.com/office/drawing/2014/main" id="{ACDF89DD-28DE-4186-A6F6-45DFFA1B7B65}"/>
                </a:ext>
              </a:extLst>
            </p:cNvPr>
            <p:cNvSpPr>
              <a:spLocks noChangeArrowheads="1"/>
            </p:cNvSpPr>
            <p:nvPr/>
          </p:nvSpPr>
          <p:spPr bwMode="auto">
            <a:xfrm>
              <a:off x="567"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v</a:t>
              </a:r>
              <a:r>
                <a:rPr kumimoji="1" lang="en-US" altLang="zh-CN" sz="2000" b="1" baseline="-25000">
                  <a:solidFill>
                    <a:schemeClr val="bg2"/>
                  </a:solidFill>
                  <a:latin typeface="Times New Roman" panose="02020603050405020304" pitchFamily="18" charset="0"/>
                  <a:ea typeface="华文细黑" panose="02010600040101010101" pitchFamily="2" charset="-122"/>
                </a:rPr>
                <a:t>j</a:t>
              </a:r>
            </a:p>
          </p:txBody>
        </p:sp>
        <p:sp>
          <p:nvSpPr>
            <p:cNvPr id="88106" name="Rectangle 10">
              <a:extLst>
                <a:ext uri="{FF2B5EF4-FFF2-40B4-BE49-F238E27FC236}">
                  <a16:creationId xmlns:a16="http://schemas.microsoft.com/office/drawing/2014/main" id="{A94F5149-5982-44AD-B566-AE553B085897}"/>
                </a:ext>
              </a:extLst>
            </p:cNvPr>
            <p:cNvSpPr>
              <a:spLocks noChangeArrowheads="1"/>
            </p:cNvSpPr>
            <p:nvPr/>
          </p:nvSpPr>
          <p:spPr bwMode="auto">
            <a:xfrm>
              <a:off x="4092" y="2006"/>
              <a:ext cx="524"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-5</a:t>
              </a:r>
            </a:p>
          </p:txBody>
        </p:sp>
        <p:sp>
          <p:nvSpPr>
            <p:cNvPr id="88107" name="Rectangle 11">
              <a:extLst>
                <a:ext uri="{FF2B5EF4-FFF2-40B4-BE49-F238E27FC236}">
                  <a16:creationId xmlns:a16="http://schemas.microsoft.com/office/drawing/2014/main" id="{B8678E57-066F-4E28-96E2-921DE6B42A9D}"/>
                </a:ext>
              </a:extLst>
            </p:cNvPr>
            <p:cNvSpPr>
              <a:spLocks noChangeArrowheads="1"/>
            </p:cNvSpPr>
            <p:nvPr/>
          </p:nvSpPr>
          <p:spPr bwMode="auto">
            <a:xfrm>
              <a:off x="3387"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08" name="Rectangle 12">
              <a:extLst>
                <a:ext uri="{FF2B5EF4-FFF2-40B4-BE49-F238E27FC236}">
                  <a16:creationId xmlns:a16="http://schemas.microsoft.com/office/drawing/2014/main" id="{423F584F-8527-489C-A41C-8469D3A53704}"/>
                </a:ext>
              </a:extLst>
            </p:cNvPr>
            <p:cNvSpPr>
              <a:spLocks noChangeArrowheads="1"/>
            </p:cNvSpPr>
            <p:nvPr/>
          </p:nvSpPr>
          <p:spPr bwMode="auto">
            <a:xfrm>
              <a:off x="2682"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09" name="Rectangle 13">
              <a:extLst>
                <a:ext uri="{FF2B5EF4-FFF2-40B4-BE49-F238E27FC236}">
                  <a16:creationId xmlns:a16="http://schemas.microsoft.com/office/drawing/2014/main" id="{A6B4A5BB-B90E-4586-A081-01DCFA9471BC}"/>
                </a:ext>
              </a:extLst>
            </p:cNvPr>
            <p:cNvSpPr>
              <a:spLocks noChangeArrowheads="1"/>
            </p:cNvSpPr>
            <p:nvPr/>
          </p:nvSpPr>
          <p:spPr bwMode="auto">
            <a:xfrm>
              <a:off x="1977"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10" name="Rectangle 14">
              <a:extLst>
                <a:ext uri="{FF2B5EF4-FFF2-40B4-BE49-F238E27FC236}">
                  <a16:creationId xmlns:a16="http://schemas.microsoft.com/office/drawing/2014/main" id="{23B2F68C-5EC2-40AA-A284-5E91735930D6}"/>
                </a:ext>
              </a:extLst>
            </p:cNvPr>
            <p:cNvSpPr>
              <a:spLocks noChangeArrowheads="1"/>
            </p:cNvSpPr>
            <p:nvPr/>
          </p:nvSpPr>
          <p:spPr bwMode="auto">
            <a:xfrm>
              <a:off x="1272"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11" name="Rectangle 15">
              <a:extLst>
                <a:ext uri="{FF2B5EF4-FFF2-40B4-BE49-F238E27FC236}">
                  <a16:creationId xmlns:a16="http://schemas.microsoft.com/office/drawing/2014/main" id="{A41D2CF0-6A5E-4509-BE09-91B2E9466726}"/>
                </a:ext>
              </a:extLst>
            </p:cNvPr>
            <p:cNvSpPr>
              <a:spLocks noChangeArrowheads="1"/>
            </p:cNvSpPr>
            <p:nvPr/>
          </p:nvSpPr>
          <p:spPr bwMode="auto">
            <a:xfrm>
              <a:off x="567"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A</a:t>
              </a:r>
              <a:r>
                <a:rPr kumimoji="1" lang="en-US" altLang="zh-CN" sz="2000" b="1" baseline="-25000">
                  <a:solidFill>
                    <a:schemeClr val="bg2"/>
                  </a:solidFill>
                  <a:latin typeface="Times New Roman" panose="02020603050405020304" pitchFamily="18" charset="0"/>
                  <a:ea typeface="华文细黑" panose="02010600040101010101" pitchFamily="2" charset="-122"/>
                </a:rPr>
                <a:t>3</a:t>
              </a:r>
            </a:p>
          </p:txBody>
        </p:sp>
        <p:sp>
          <p:nvSpPr>
            <p:cNvPr id="88112" name="Rectangle 16">
              <a:extLst>
                <a:ext uri="{FF2B5EF4-FFF2-40B4-BE49-F238E27FC236}">
                  <a16:creationId xmlns:a16="http://schemas.microsoft.com/office/drawing/2014/main" id="{56868543-42C8-47AC-AC11-9AAD3EE96F75}"/>
                </a:ext>
              </a:extLst>
            </p:cNvPr>
            <p:cNvSpPr>
              <a:spLocks noChangeArrowheads="1"/>
            </p:cNvSpPr>
            <p:nvPr/>
          </p:nvSpPr>
          <p:spPr bwMode="auto">
            <a:xfrm>
              <a:off x="4092" y="1526"/>
              <a:ext cx="524"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-1</a:t>
              </a:r>
            </a:p>
          </p:txBody>
        </p:sp>
        <p:sp>
          <p:nvSpPr>
            <p:cNvPr id="88113" name="Rectangle 17">
              <a:extLst>
                <a:ext uri="{FF2B5EF4-FFF2-40B4-BE49-F238E27FC236}">
                  <a16:creationId xmlns:a16="http://schemas.microsoft.com/office/drawing/2014/main" id="{6055927F-157C-45D8-A314-CC6F785433B2}"/>
                </a:ext>
              </a:extLst>
            </p:cNvPr>
            <p:cNvSpPr>
              <a:spLocks noChangeArrowheads="1"/>
            </p:cNvSpPr>
            <p:nvPr/>
          </p:nvSpPr>
          <p:spPr bwMode="auto">
            <a:xfrm>
              <a:off x="3387"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14" name="Rectangle 18">
              <a:extLst>
                <a:ext uri="{FF2B5EF4-FFF2-40B4-BE49-F238E27FC236}">
                  <a16:creationId xmlns:a16="http://schemas.microsoft.com/office/drawing/2014/main" id="{9020ED7D-E001-4909-845D-235A9686876D}"/>
                </a:ext>
              </a:extLst>
            </p:cNvPr>
            <p:cNvSpPr>
              <a:spLocks noChangeArrowheads="1"/>
            </p:cNvSpPr>
            <p:nvPr/>
          </p:nvSpPr>
          <p:spPr bwMode="auto">
            <a:xfrm>
              <a:off x="2682"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15" name="Rectangle 19">
              <a:extLst>
                <a:ext uri="{FF2B5EF4-FFF2-40B4-BE49-F238E27FC236}">
                  <a16:creationId xmlns:a16="http://schemas.microsoft.com/office/drawing/2014/main" id="{C6593309-B683-4C6C-9405-B48A98CEFBFC}"/>
                </a:ext>
              </a:extLst>
            </p:cNvPr>
            <p:cNvSpPr>
              <a:spLocks noChangeArrowheads="1"/>
            </p:cNvSpPr>
            <p:nvPr/>
          </p:nvSpPr>
          <p:spPr bwMode="auto">
            <a:xfrm>
              <a:off x="1977"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16" name="Rectangle 20">
              <a:extLst>
                <a:ext uri="{FF2B5EF4-FFF2-40B4-BE49-F238E27FC236}">
                  <a16:creationId xmlns:a16="http://schemas.microsoft.com/office/drawing/2014/main" id="{02492EE8-8255-4868-AD3E-219727F030A3}"/>
                </a:ext>
              </a:extLst>
            </p:cNvPr>
            <p:cNvSpPr>
              <a:spLocks noChangeArrowheads="1"/>
            </p:cNvSpPr>
            <p:nvPr/>
          </p:nvSpPr>
          <p:spPr bwMode="auto">
            <a:xfrm>
              <a:off x="1272"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17" name="Rectangle 21">
              <a:extLst>
                <a:ext uri="{FF2B5EF4-FFF2-40B4-BE49-F238E27FC236}">
                  <a16:creationId xmlns:a16="http://schemas.microsoft.com/office/drawing/2014/main" id="{86D613EC-6EB3-4848-A971-3E9742C7FE7D}"/>
                </a:ext>
              </a:extLst>
            </p:cNvPr>
            <p:cNvSpPr>
              <a:spLocks noChangeArrowheads="1"/>
            </p:cNvSpPr>
            <p:nvPr/>
          </p:nvSpPr>
          <p:spPr bwMode="auto">
            <a:xfrm>
              <a:off x="567"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A</a:t>
              </a:r>
              <a:r>
                <a:rPr kumimoji="1" lang="en-US" altLang="zh-CN" sz="2000" b="1" baseline="-25000">
                  <a:solidFill>
                    <a:schemeClr val="bg2"/>
                  </a:solidFill>
                  <a:latin typeface="Times New Roman" panose="02020603050405020304" pitchFamily="18" charset="0"/>
                  <a:ea typeface="华文细黑" panose="02010600040101010101" pitchFamily="2" charset="-122"/>
                </a:rPr>
                <a:t>2</a:t>
              </a:r>
            </a:p>
          </p:txBody>
        </p:sp>
        <p:sp>
          <p:nvSpPr>
            <p:cNvPr id="88118" name="Rectangle 22">
              <a:extLst>
                <a:ext uri="{FF2B5EF4-FFF2-40B4-BE49-F238E27FC236}">
                  <a16:creationId xmlns:a16="http://schemas.microsoft.com/office/drawing/2014/main" id="{D59E7618-EC1D-4FBA-8B47-71CA897F4331}"/>
                </a:ext>
              </a:extLst>
            </p:cNvPr>
            <p:cNvSpPr>
              <a:spLocks noChangeArrowheads="1"/>
            </p:cNvSpPr>
            <p:nvPr/>
          </p:nvSpPr>
          <p:spPr bwMode="auto">
            <a:xfrm>
              <a:off x="4092" y="1053"/>
              <a:ext cx="524"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FF0000"/>
                  </a:solidFill>
                  <a:latin typeface="Times New Roman" panose="02020603050405020304" pitchFamily="18" charset="0"/>
                  <a:ea typeface="华文细黑" panose="02010600040101010101" pitchFamily="2" charset="-122"/>
                </a:rPr>
                <a:t>0</a:t>
              </a:r>
            </a:p>
          </p:txBody>
        </p:sp>
        <p:sp>
          <p:nvSpPr>
            <p:cNvPr id="88119" name="Rectangle 23">
              <a:extLst>
                <a:ext uri="{FF2B5EF4-FFF2-40B4-BE49-F238E27FC236}">
                  <a16:creationId xmlns:a16="http://schemas.microsoft.com/office/drawing/2014/main" id="{A266D85A-D26B-4018-8448-3454A7D245D1}"/>
                </a:ext>
              </a:extLst>
            </p:cNvPr>
            <p:cNvSpPr>
              <a:spLocks noChangeArrowheads="1"/>
            </p:cNvSpPr>
            <p:nvPr/>
          </p:nvSpPr>
          <p:spPr bwMode="auto">
            <a:xfrm>
              <a:off x="3387"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20" name="Rectangle 24">
              <a:extLst>
                <a:ext uri="{FF2B5EF4-FFF2-40B4-BE49-F238E27FC236}">
                  <a16:creationId xmlns:a16="http://schemas.microsoft.com/office/drawing/2014/main" id="{B8A26F6D-6FD4-4DC0-B096-DB87A594C69B}"/>
                </a:ext>
              </a:extLst>
            </p:cNvPr>
            <p:cNvSpPr>
              <a:spLocks noChangeArrowheads="1"/>
            </p:cNvSpPr>
            <p:nvPr/>
          </p:nvSpPr>
          <p:spPr bwMode="auto">
            <a:xfrm>
              <a:off x="2682"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21" name="Rectangle 25">
              <a:extLst>
                <a:ext uri="{FF2B5EF4-FFF2-40B4-BE49-F238E27FC236}">
                  <a16:creationId xmlns:a16="http://schemas.microsoft.com/office/drawing/2014/main" id="{6DD828F0-40DD-4970-858E-122D280E54AB}"/>
                </a:ext>
              </a:extLst>
            </p:cNvPr>
            <p:cNvSpPr>
              <a:spLocks noChangeArrowheads="1"/>
            </p:cNvSpPr>
            <p:nvPr/>
          </p:nvSpPr>
          <p:spPr bwMode="auto">
            <a:xfrm>
              <a:off x="1977"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22" name="Rectangle 26">
              <a:extLst>
                <a:ext uri="{FF2B5EF4-FFF2-40B4-BE49-F238E27FC236}">
                  <a16:creationId xmlns:a16="http://schemas.microsoft.com/office/drawing/2014/main" id="{2BAF4B62-3022-4853-A958-B006854D1A87}"/>
                </a:ext>
              </a:extLst>
            </p:cNvPr>
            <p:cNvSpPr>
              <a:spLocks noChangeArrowheads="1"/>
            </p:cNvSpPr>
            <p:nvPr/>
          </p:nvSpPr>
          <p:spPr bwMode="auto">
            <a:xfrm>
              <a:off x="1272"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23" name="Rectangle 27">
              <a:extLst>
                <a:ext uri="{FF2B5EF4-FFF2-40B4-BE49-F238E27FC236}">
                  <a16:creationId xmlns:a16="http://schemas.microsoft.com/office/drawing/2014/main" id="{0D7D6D8C-04C7-44E6-AF2F-838B9E2342C8}"/>
                </a:ext>
              </a:extLst>
            </p:cNvPr>
            <p:cNvSpPr>
              <a:spLocks noChangeArrowheads="1"/>
            </p:cNvSpPr>
            <p:nvPr/>
          </p:nvSpPr>
          <p:spPr bwMode="auto">
            <a:xfrm>
              <a:off x="567"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A</a:t>
              </a:r>
              <a:r>
                <a:rPr kumimoji="1" lang="en-US" altLang="zh-CN" sz="2000" b="1" baseline="-25000">
                  <a:solidFill>
                    <a:schemeClr val="bg2"/>
                  </a:solidFill>
                  <a:latin typeface="Times New Roman" panose="02020603050405020304" pitchFamily="18" charset="0"/>
                  <a:ea typeface="华文细黑" panose="02010600040101010101" pitchFamily="2" charset="-122"/>
                </a:rPr>
                <a:t>1</a:t>
              </a:r>
            </a:p>
          </p:txBody>
        </p:sp>
        <p:sp>
          <p:nvSpPr>
            <p:cNvPr id="88124" name="Rectangle 28">
              <a:extLst>
                <a:ext uri="{FF2B5EF4-FFF2-40B4-BE49-F238E27FC236}">
                  <a16:creationId xmlns:a16="http://schemas.microsoft.com/office/drawing/2014/main" id="{DA6FA263-9CB5-4AD3-A400-E9AD0F8BE292}"/>
                </a:ext>
              </a:extLst>
            </p:cNvPr>
            <p:cNvSpPr>
              <a:spLocks noChangeArrowheads="1"/>
            </p:cNvSpPr>
            <p:nvPr/>
          </p:nvSpPr>
          <p:spPr bwMode="auto">
            <a:xfrm>
              <a:off x="4092" y="709"/>
              <a:ext cx="524"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rPr>
                <a:t>u</a:t>
              </a:r>
              <a:r>
                <a:rPr kumimoji="1" lang="en-US" altLang="zh-CN" sz="2000" b="1" baseline="-25000">
                  <a:solidFill>
                    <a:srgbClr val="000000"/>
                  </a:solidFill>
                  <a:latin typeface="Times New Roman" panose="02020603050405020304" pitchFamily="18" charset="0"/>
                </a:rPr>
                <a:t>i</a:t>
              </a:r>
            </a:p>
          </p:txBody>
        </p:sp>
        <p:sp>
          <p:nvSpPr>
            <p:cNvPr id="88125" name="Rectangle 29">
              <a:extLst>
                <a:ext uri="{FF2B5EF4-FFF2-40B4-BE49-F238E27FC236}">
                  <a16:creationId xmlns:a16="http://schemas.microsoft.com/office/drawing/2014/main" id="{B212CB38-FB97-4A29-BD8E-E590655E6EF8}"/>
                </a:ext>
              </a:extLst>
            </p:cNvPr>
            <p:cNvSpPr>
              <a:spLocks noChangeArrowheads="1"/>
            </p:cNvSpPr>
            <p:nvPr/>
          </p:nvSpPr>
          <p:spPr bwMode="auto">
            <a:xfrm>
              <a:off x="3387"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4</a:t>
              </a: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88126" name="Rectangle 30">
              <a:extLst>
                <a:ext uri="{FF2B5EF4-FFF2-40B4-BE49-F238E27FC236}">
                  <a16:creationId xmlns:a16="http://schemas.microsoft.com/office/drawing/2014/main" id="{E77132AA-07DC-4A2A-B4C7-3B22B17DF2CA}"/>
                </a:ext>
              </a:extLst>
            </p:cNvPr>
            <p:cNvSpPr>
              <a:spLocks noChangeArrowheads="1"/>
            </p:cNvSpPr>
            <p:nvPr/>
          </p:nvSpPr>
          <p:spPr bwMode="auto">
            <a:xfrm>
              <a:off x="2682"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3</a:t>
              </a: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88127" name="Rectangle 31">
              <a:extLst>
                <a:ext uri="{FF2B5EF4-FFF2-40B4-BE49-F238E27FC236}">
                  <a16:creationId xmlns:a16="http://schemas.microsoft.com/office/drawing/2014/main" id="{326330FA-1D03-4A71-8911-53EDA1A73780}"/>
                </a:ext>
              </a:extLst>
            </p:cNvPr>
            <p:cNvSpPr>
              <a:spLocks noChangeArrowheads="1"/>
            </p:cNvSpPr>
            <p:nvPr/>
          </p:nvSpPr>
          <p:spPr bwMode="auto">
            <a:xfrm>
              <a:off x="1977"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2</a:t>
              </a: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88128" name="Rectangle 32">
              <a:extLst>
                <a:ext uri="{FF2B5EF4-FFF2-40B4-BE49-F238E27FC236}">
                  <a16:creationId xmlns:a16="http://schemas.microsoft.com/office/drawing/2014/main" id="{7F104726-8865-41EE-91CC-E6D5591FAD23}"/>
                </a:ext>
              </a:extLst>
            </p:cNvPr>
            <p:cNvSpPr>
              <a:spLocks noChangeArrowheads="1"/>
            </p:cNvSpPr>
            <p:nvPr/>
          </p:nvSpPr>
          <p:spPr bwMode="auto">
            <a:xfrm>
              <a:off x="1272"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1</a:t>
              </a:r>
            </a:p>
          </p:txBody>
        </p:sp>
        <p:sp>
          <p:nvSpPr>
            <p:cNvPr id="88129" name="Rectangle 33">
              <a:extLst>
                <a:ext uri="{FF2B5EF4-FFF2-40B4-BE49-F238E27FC236}">
                  <a16:creationId xmlns:a16="http://schemas.microsoft.com/office/drawing/2014/main" id="{AA42EB87-99C5-473A-9AF0-4E8E10E5B1E1}"/>
                </a:ext>
              </a:extLst>
            </p:cNvPr>
            <p:cNvSpPr>
              <a:spLocks noChangeArrowheads="1"/>
            </p:cNvSpPr>
            <p:nvPr/>
          </p:nvSpPr>
          <p:spPr bwMode="auto">
            <a:xfrm>
              <a:off x="567"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88130" name="Line 34">
              <a:extLst>
                <a:ext uri="{FF2B5EF4-FFF2-40B4-BE49-F238E27FC236}">
                  <a16:creationId xmlns:a16="http://schemas.microsoft.com/office/drawing/2014/main" id="{1BD83579-0266-43AA-AA13-498429E20A1A}"/>
                </a:ext>
              </a:extLst>
            </p:cNvPr>
            <p:cNvSpPr>
              <a:spLocks noChangeShapeType="1"/>
            </p:cNvSpPr>
            <p:nvPr/>
          </p:nvSpPr>
          <p:spPr bwMode="auto">
            <a:xfrm>
              <a:off x="567" y="709"/>
              <a:ext cx="4049"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1" name="Line 35">
              <a:extLst>
                <a:ext uri="{FF2B5EF4-FFF2-40B4-BE49-F238E27FC236}">
                  <a16:creationId xmlns:a16="http://schemas.microsoft.com/office/drawing/2014/main" id="{39FFCDE1-D062-4FD8-B050-045106D5E62D}"/>
                </a:ext>
              </a:extLst>
            </p:cNvPr>
            <p:cNvSpPr>
              <a:spLocks noChangeShapeType="1"/>
            </p:cNvSpPr>
            <p:nvPr/>
          </p:nvSpPr>
          <p:spPr bwMode="auto">
            <a:xfrm>
              <a:off x="567" y="1053"/>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2" name="Line 36">
              <a:extLst>
                <a:ext uri="{FF2B5EF4-FFF2-40B4-BE49-F238E27FC236}">
                  <a16:creationId xmlns:a16="http://schemas.microsoft.com/office/drawing/2014/main" id="{2B5EE3D9-CE7A-44DD-BF31-7423747AAAC8}"/>
                </a:ext>
              </a:extLst>
            </p:cNvPr>
            <p:cNvSpPr>
              <a:spLocks noChangeShapeType="1"/>
            </p:cNvSpPr>
            <p:nvPr/>
          </p:nvSpPr>
          <p:spPr bwMode="auto">
            <a:xfrm>
              <a:off x="567" y="2824"/>
              <a:ext cx="4049"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3" name="Line 37">
              <a:extLst>
                <a:ext uri="{FF2B5EF4-FFF2-40B4-BE49-F238E27FC236}">
                  <a16:creationId xmlns:a16="http://schemas.microsoft.com/office/drawing/2014/main" id="{0203FA41-17A5-4189-A58B-EBD8FFA163E5}"/>
                </a:ext>
              </a:extLst>
            </p:cNvPr>
            <p:cNvSpPr>
              <a:spLocks noChangeShapeType="1"/>
            </p:cNvSpPr>
            <p:nvPr/>
          </p:nvSpPr>
          <p:spPr bwMode="auto">
            <a:xfrm>
              <a:off x="567" y="709"/>
              <a:ext cx="0" cy="211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4" name="Line 38">
              <a:extLst>
                <a:ext uri="{FF2B5EF4-FFF2-40B4-BE49-F238E27FC236}">
                  <a16:creationId xmlns:a16="http://schemas.microsoft.com/office/drawing/2014/main" id="{9FDE8F5B-F5CA-46FD-8DC5-8E4033F6EC85}"/>
                </a:ext>
              </a:extLst>
            </p:cNvPr>
            <p:cNvSpPr>
              <a:spLocks noChangeShapeType="1"/>
            </p:cNvSpPr>
            <p:nvPr/>
          </p:nvSpPr>
          <p:spPr bwMode="auto">
            <a:xfrm>
              <a:off x="1272"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5" name="Line 39">
              <a:extLst>
                <a:ext uri="{FF2B5EF4-FFF2-40B4-BE49-F238E27FC236}">
                  <a16:creationId xmlns:a16="http://schemas.microsoft.com/office/drawing/2014/main" id="{8BD26EE8-4107-4134-B793-F544382C7A5B}"/>
                </a:ext>
              </a:extLst>
            </p:cNvPr>
            <p:cNvSpPr>
              <a:spLocks noChangeShapeType="1"/>
            </p:cNvSpPr>
            <p:nvPr/>
          </p:nvSpPr>
          <p:spPr bwMode="auto">
            <a:xfrm>
              <a:off x="1977"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6" name="Line 40">
              <a:extLst>
                <a:ext uri="{FF2B5EF4-FFF2-40B4-BE49-F238E27FC236}">
                  <a16:creationId xmlns:a16="http://schemas.microsoft.com/office/drawing/2014/main" id="{949A493C-EA92-4324-ADB8-AE32FAFD02D7}"/>
                </a:ext>
              </a:extLst>
            </p:cNvPr>
            <p:cNvSpPr>
              <a:spLocks noChangeShapeType="1"/>
            </p:cNvSpPr>
            <p:nvPr/>
          </p:nvSpPr>
          <p:spPr bwMode="auto">
            <a:xfrm>
              <a:off x="2682"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7" name="Line 41">
              <a:extLst>
                <a:ext uri="{FF2B5EF4-FFF2-40B4-BE49-F238E27FC236}">
                  <a16:creationId xmlns:a16="http://schemas.microsoft.com/office/drawing/2014/main" id="{A2ADC007-9054-4E2B-A8AA-39B95321B805}"/>
                </a:ext>
              </a:extLst>
            </p:cNvPr>
            <p:cNvSpPr>
              <a:spLocks noChangeShapeType="1"/>
            </p:cNvSpPr>
            <p:nvPr/>
          </p:nvSpPr>
          <p:spPr bwMode="auto">
            <a:xfrm>
              <a:off x="3387"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8" name="Line 42">
              <a:extLst>
                <a:ext uri="{FF2B5EF4-FFF2-40B4-BE49-F238E27FC236}">
                  <a16:creationId xmlns:a16="http://schemas.microsoft.com/office/drawing/2014/main" id="{43F7C075-A1A1-4687-86DF-78D321C1BD8F}"/>
                </a:ext>
              </a:extLst>
            </p:cNvPr>
            <p:cNvSpPr>
              <a:spLocks noChangeShapeType="1"/>
            </p:cNvSpPr>
            <p:nvPr/>
          </p:nvSpPr>
          <p:spPr bwMode="auto">
            <a:xfrm>
              <a:off x="4092"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39" name="Line 43">
              <a:extLst>
                <a:ext uri="{FF2B5EF4-FFF2-40B4-BE49-F238E27FC236}">
                  <a16:creationId xmlns:a16="http://schemas.microsoft.com/office/drawing/2014/main" id="{93AADC82-3B3B-49FB-9565-3478DACB2B08}"/>
                </a:ext>
              </a:extLst>
            </p:cNvPr>
            <p:cNvSpPr>
              <a:spLocks noChangeShapeType="1"/>
            </p:cNvSpPr>
            <p:nvPr/>
          </p:nvSpPr>
          <p:spPr bwMode="auto">
            <a:xfrm>
              <a:off x="4616" y="709"/>
              <a:ext cx="0" cy="211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40" name="Line 44">
              <a:extLst>
                <a:ext uri="{FF2B5EF4-FFF2-40B4-BE49-F238E27FC236}">
                  <a16:creationId xmlns:a16="http://schemas.microsoft.com/office/drawing/2014/main" id="{C9F489F4-2682-4439-B2AA-EDC0788A47BF}"/>
                </a:ext>
              </a:extLst>
            </p:cNvPr>
            <p:cNvSpPr>
              <a:spLocks noChangeShapeType="1"/>
            </p:cNvSpPr>
            <p:nvPr/>
          </p:nvSpPr>
          <p:spPr bwMode="auto">
            <a:xfrm>
              <a:off x="567" y="1526"/>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41" name="Line 45">
              <a:extLst>
                <a:ext uri="{FF2B5EF4-FFF2-40B4-BE49-F238E27FC236}">
                  <a16:creationId xmlns:a16="http://schemas.microsoft.com/office/drawing/2014/main" id="{A0BF8F07-15CE-4984-A54D-1B3588EE0B47}"/>
                </a:ext>
              </a:extLst>
            </p:cNvPr>
            <p:cNvSpPr>
              <a:spLocks noChangeShapeType="1"/>
            </p:cNvSpPr>
            <p:nvPr/>
          </p:nvSpPr>
          <p:spPr bwMode="auto">
            <a:xfrm>
              <a:off x="567" y="2006"/>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88142" name="Line 46">
              <a:extLst>
                <a:ext uri="{FF2B5EF4-FFF2-40B4-BE49-F238E27FC236}">
                  <a16:creationId xmlns:a16="http://schemas.microsoft.com/office/drawing/2014/main" id="{1BC79343-B903-40E6-A2D4-1E3716E5284F}"/>
                </a:ext>
              </a:extLst>
            </p:cNvPr>
            <p:cNvSpPr>
              <a:spLocks noChangeShapeType="1"/>
            </p:cNvSpPr>
            <p:nvPr/>
          </p:nvSpPr>
          <p:spPr bwMode="auto">
            <a:xfrm>
              <a:off x="567" y="2486"/>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grpSp>
      <p:sp>
        <p:nvSpPr>
          <p:cNvPr id="88069" name="Text Box 59">
            <a:extLst>
              <a:ext uri="{FF2B5EF4-FFF2-40B4-BE49-F238E27FC236}">
                <a16:creationId xmlns:a16="http://schemas.microsoft.com/office/drawing/2014/main" id="{A2573376-B287-4E9A-B942-6ED3046DC55A}"/>
              </a:ext>
            </a:extLst>
          </p:cNvPr>
          <p:cNvSpPr txBox="1">
            <a:spLocks noChangeArrowheads="1"/>
          </p:cNvSpPr>
          <p:nvPr/>
        </p:nvSpPr>
        <p:spPr bwMode="auto">
          <a:xfrm>
            <a:off x="4284663" y="2447925"/>
            <a:ext cx="3048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4</a:t>
            </a:r>
            <a:endParaRPr kumimoji="1" lang="en-US" altLang="zh-CN" sz="3200">
              <a:latin typeface="楷体_GB2312" pitchFamily="49" charset="-122"/>
              <a:ea typeface="楷体_GB2312" pitchFamily="49" charset="-122"/>
            </a:endParaRPr>
          </a:p>
        </p:txBody>
      </p:sp>
      <p:sp>
        <p:nvSpPr>
          <p:cNvPr id="88070" name="Text Box 60">
            <a:extLst>
              <a:ext uri="{FF2B5EF4-FFF2-40B4-BE49-F238E27FC236}">
                <a16:creationId xmlns:a16="http://schemas.microsoft.com/office/drawing/2014/main" id="{C08216B7-E78A-4FCD-93B4-2A3F6CC946BE}"/>
              </a:ext>
            </a:extLst>
          </p:cNvPr>
          <p:cNvSpPr txBox="1">
            <a:spLocks noChangeArrowheads="1"/>
          </p:cNvSpPr>
          <p:nvPr/>
        </p:nvSpPr>
        <p:spPr bwMode="auto">
          <a:xfrm>
            <a:off x="2124075" y="3205163"/>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88071" name="Text Box 61">
            <a:extLst>
              <a:ext uri="{FF2B5EF4-FFF2-40B4-BE49-F238E27FC236}">
                <a16:creationId xmlns:a16="http://schemas.microsoft.com/office/drawing/2014/main" id="{27A83509-0039-4AFC-915D-0E94E8DB94AD}"/>
              </a:ext>
            </a:extLst>
          </p:cNvPr>
          <p:cNvSpPr txBox="1">
            <a:spLocks noChangeArrowheads="1"/>
          </p:cNvSpPr>
          <p:nvPr/>
        </p:nvSpPr>
        <p:spPr bwMode="auto">
          <a:xfrm>
            <a:off x="3203575" y="399732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6</a:t>
            </a:r>
            <a:endParaRPr kumimoji="1" lang="en-US" altLang="zh-CN" sz="3200">
              <a:latin typeface="楷体_GB2312" pitchFamily="49" charset="-122"/>
              <a:ea typeface="楷体_GB2312" pitchFamily="49" charset="-122"/>
            </a:endParaRPr>
          </a:p>
        </p:txBody>
      </p:sp>
      <p:sp>
        <p:nvSpPr>
          <p:cNvPr id="88072" name="Text Box 62">
            <a:extLst>
              <a:ext uri="{FF2B5EF4-FFF2-40B4-BE49-F238E27FC236}">
                <a16:creationId xmlns:a16="http://schemas.microsoft.com/office/drawing/2014/main" id="{2A96653E-500E-4FF3-A250-DC41EAE29538}"/>
              </a:ext>
            </a:extLst>
          </p:cNvPr>
          <p:cNvSpPr txBox="1">
            <a:spLocks noChangeArrowheads="1"/>
          </p:cNvSpPr>
          <p:nvPr/>
        </p:nvSpPr>
        <p:spPr bwMode="auto">
          <a:xfrm>
            <a:off x="5343525" y="395922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88073" name="Text Box 63">
            <a:extLst>
              <a:ext uri="{FF2B5EF4-FFF2-40B4-BE49-F238E27FC236}">
                <a16:creationId xmlns:a16="http://schemas.microsoft.com/office/drawing/2014/main" id="{B649EB79-3212-4988-A36D-2C51AB0C1358}"/>
              </a:ext>
            </a:extLst>
          </p:cNvPr>
          <p:cNvSpPr txBox="1">
            <a:spLocks noChangeArrowheads="1"/>
          </p:cNvSpPr>
          <p:nvPr/>
        </p:nvSpPr>
        <p:spPr bwMode="auto">
          <a:xfrm>
            <a:off x="4284663" y="3167063"/>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1</a:t>
            </a:r>
            <a:endParaRPr kumimoji="1" lang="en-US" altLang="zh-CN" sz="3200">
              <a:latin typeface="楷体_GB2312" pitchFamily="49" charset="-122"/>
              <a:ea typeface="楷体_GB2312" pitchFamily="49" charset="-122"/>
            </a:endParaRPr>
          </a:p>
        </p:txBody>
      </p:sp>
      <p:sp>
        <p:nvSpPr>
          <p:cNvPr id="88074" name="Text Box 64">
            <a:extLst>
              <a:ext uri="{FF2B5EF4-FFF2-40B4-BE49-F238E27FC236}">
                <a16:creationId xmlns:a16="http://schemas.microsoft.com/office/drawing/2014/main" id="{0000B18D-D120-41E7-888E-51813E9E1CD6}"/>
              </a:ext>
            </a:extLst>
          </p:cNvPr>
          <p:cNvSpPr txBox="1">
            <a:spLocks noChangeArrowheads="1"/>
          </p:cNvSpPr>
          <p:nvPr/>
        </p:nvSpPr>
        <p:spPr bwMode="auto">
          <a:xfrm>
            <a:off x="5435600" y="2447925"/>
            <a:ext cx="3254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000">
                <a:solidFill>
                  <a:srgbClr val="A50021"/>
                </a:solidFill>
              </a:rPr>
              <a:t>3</a:t>
            </a:r>
          </a:p>
        </p:txBody>
      </p:sp>
      <p:sp>
        <p:nvSpPr>
          <p:cNvPr id="122" name="Rectangle 72">
            <a:extLst>
              <a:ext uri="{FF2B5EF4-FFF2-40B4-BE49-F238E27FC236}">
                <a16:creationId xmlns:a16="http://schemas.microsoft.com/office/drawing/2014/main" id="{4A997A81-44C6-45BD-8617-C088E5E95C91}"/>
              </a:ext>
            </a:extLst>
          </p:cNvPr>
          <p:cNvSpPr>
            <a:spLocks noChangeArrowheads="1"/>
          </p:cNvSpPr>
          <p:nvPr/>
        </p:nvSpPr>
        <p:spPr bwMode="auto">
          <a:xfrm>
            <a:off x="1979613" y="2373313"/>
            <a:ext cx="498475" cy="471487"/>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a:t>
            </a:r>
            <a:r>
              <a:rPr kumimoji="1" lang="zh-CN" altLang="en-US" sz="2000">
                <a:solidFill>
                  <a:srgbClr val="3333FF"/>
                </a:solidFill>
                <a:effectLst>
                  <a:outerShdw blurRad="38100" dist="38100" dir="2700000" algn="tl">
                    <a:srgbClr val="000000"/>
                  </a:outerShdw>
                </a:effectLst>
              </a:rPr>
              <a:t>）</a:t>
            </a:r>
          </a:p>
        </p:txBody>
      </p:sp>
      <p:sp>
        <p:nvSpPr>
          <p:cNvPr id="123" name="Rectangle 73">
            <a:extLst>
              <a:ext uri="{FF2B5EF4-FFF2-40B4-BE49-F238E27FC236}">
                <a16:creationId xmlns:a16="http://schemas.microsoft.com/office/drawing/2014/main" id="{20FB0BD8-E39E-48AB-B646-19DC8A1E383A}"/>
              </a:ext>
            </a:extLst>
          </p:cNvPr>
          <p:cNvSpPr>
            <a:spLocks noChangeArrowheads="1"/>
          </p:cNvSpPr>
          <p:nvPr/>
        </p:nvSpPr>
        <p:spPr bwMode="auto">
          <a:xfrm>
            <a:off x="3059113" y="2373313"/>
            <a:ext cx="498475" cy="471487"/>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2</a:t>
            </a:r>
            <a:r>
              <a:rPr kumimoji="1" lang="zh-CN" altLang="en-US" sz="2000">
                <a:solidFill>
                  <a:srgbClr val="3333FF"/>
                </a:solidFill>
                <a:effectLst>
                  <a:outerShdw blurRad="38100" dist="38100" dir="2700000" algn="tl">
                    <a:srgbClr val="000000"/>
                  </a:outerShdw>
                </a:effectLst>
              </a:rPr>
              <a:t>）</a:t>
            </a:r>
          </a:p>
        </p:txBody>
      </p:sp>
      <p:sp>
        <p:nvSpPr>
          <p:cNvPr id="124" name="Rectangle 74">
            <a:extLst>
              <a:ext uri="{FF2B5EF4-FFF2-40B4-BE49-F238E27FC236}">
                <a16:creationId xmlns:a16="http://schemas.microsoft.com/office/drawing/2014/main" id="{BA0E7422-1320-4D5B-8343-F448B136BCC6}"/>
              </a:ext>
            </a:extLst>
          </p:cNvPr>
          <p:cNvSpPr>
            <a:spLocks noChangeArrowheads="1"/>
          </p:cNvSpPr>
          <p:nvPr/>
        </p:nvSpPr>
        <p:spPr bwMode="auto">
          <a:xfrm>
            <a:off x="3059113" y="3165475"/>
            <a:ext cx="498475" cy="471488"/>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a:t>
            </a:r>
            <a:r>
              <a:rPr kumimoji="1" lang="zh-CN" altLang="en-US" sz="2000">
                <a:solidFill>
                  <a:srgbClr val="3333FF"/>
                </a:solidFill>
                <a:effectLst>
                  <a:outerShdw blurRad="38100" dist="38100" dir="2700000" algn="tl">
                    <a:srgbClr val="000000"/>
                  </a:outerShdw>
                </a:effectLst>
              </a:rPr>
              <a:t>）</a:t>
            </a:r>
          </a:p>
        </p:txBody>
      </p:sp>
      <p:sp>
        <p:nvSpPr>
          <p:cNvPr id="125" name="Rectangle 75">
            <a:extLst>
              <a:ext uri="{FF2B5EF4-FFF2-40B4-BE49-F238E27FC236}">
                <a16:creationId xmlns:a16="http://schemas.microsoft.com/office/drawing/2014/main" id="{37761B1D-83A3-4935-9236-F63896F355D0}"/>
              </a:ext>
            </a:extLst>
          </p:cNvPr>
          <p:cNvSpPr>
            <a:spLocks noChangeArrowheads="1"/>
          </p:cNvSpPr>
          <p:nvPr/>
        </p:nvSpPr>
        <p:spPr bwMode="auto">
          <a:xfrm>
            <a:off x="5364163" y="3165475"/>
            <a:ext cx="498475" cy="471488"/>
          </a:xfrm>
          <a:prstGeom prst="rect">
            <a:avLst/>
          </a:prstGeom>
          <a:noFill/>
          <a:ln>
            <a:noFill/>
          </a:ln>
          <a:effectLst/>
        </p:spPr>
        <p:txBody>
          <a:bodyPr wrap="none" anchor="ctr"/>
          <a:lstStyle/>
          <a:p>
            <a:pPr>
              <a:defRPr/>
            </a:pPr>
            <a:r>
              <a:rPr kumimoji="1" lang="zh-CN" altLang="en-US" sz="2000" dirty="0">
                <a:solidFill>
                  <a:srgbClr val="3333FF"/>
                </a:solidFill>
                <a:effectLst>
                  <a:outerShdw blurRad="38100" dist="38100" dir="2700000" algn="tl">
                    <a:srgbClr val="000000"/>
                  </a:outerShdw>
                </a:effectLst>
              </a:rPr>
              <a:t>（</a:t>
            </a:r>
            <a:r>
              <a:rPr kumimoji="1" lang="en-US" altLang="zh-CN" sz="2000" dirty="0">
                <a:solidFill>
                  <a:srgbClr val="3333FF"/>
                </a:solidFill>
                <a:effectLst>
                  <a:outerShdw blurRad="38100" dist="38100" dir="2700000" algn="tl">
                    <a:srgbClr val="000000"/>
                  </a:outerShdw>
                </a:effectLst>
              </a:rPr>
              <a:t>-1</a:t>
            </a:r>
            <a:r>
              <a:rPr kumimoji="1" lang="zh-CN" altLang="en-US" sz="2000" dirty="0">
                <a:solidFill>
                  <a:srgbClr val="3333FF"/>
                </a:solidFill>
                <a:effectLst>
                  <a:outerShdw blurRad="38100" dist="38100" dir="2700000" algn="tl">
                    <a:srgbClr val="000000"/>
                  </a:outerShdw>
                </a:effectLst>
              </a:rPr>
              <a:t>）</a:t>
            </a:r>
          </a:p>
        </p:txBody>
      </p:sp>
      <p:sp>
        <p:nvSpPr>
          <p:cNvPr id="126" name="Rectangle 76">
            <a:extLst>
              <a:ext uri="{FF2B5EF4-FFF2-40B4-BE49-F238E27FC236}">
                <a16:creationId xmlns:a16="http://schemas.microsoft.com/office/drawing/2014/main" id="{F95C99BD-24E8-46C0-99C5-40DF3507FB2E}"/>
              </a:ext>
            </a:extLst>
          </p:cNvPr>
          <p:cNvSpPr>
            <a:spLocks noChangeArrowheads="1"/>
          </p:cNvSpPr>
          <p:nvPr/>
        </p:nvSpPr>
        <p:spPr bwMode="auto">
          <a:xfrm>
            <a:off x="2057400" y="3957638"/>
            <a:ext cx="498475" cy="471487"/>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10</a:t>
            </a:r>
            <a:r>
              <a:rPr kumimoji="1" lang="zh-CN" altLang="en-US" sz="2000">
                <a:solidFill>
                  <a:srgbClr val="3333FF"/>
                </a:solidFill>
                <a:effectLst>
                  <a:outerShdw blurRad="38100" dist="38100" dir="2700000" algn="tl">
                    <a:srgbClr val="000000"/>
                  </a:outerShdw>
                </a:effectLst>
              </a:rPr>
              <a:t>）</a:t>
            </a:r>
          </a:p>
        </p:txBody>
      </p:sp>
      <p:sp>
        <p:nvSpPr>
          <p:cNvPr id="127" name="Rectangle 77">
            <a:extLst>
              <a:ext uri="{FF2B5EF4-FFF2-40B4-BE49-F238E27FC236}">
                <a16:creationId xmlns:a16="http://schemas.microsoft.com/office/drawing/2014/main" id="{449B8B65-078B-4C30-BA4E-45C0CD40E910}"/>
              </a:ext>
            </a:extLst>
          </p:cNvPr>
          <p:cNvSpPr>
            <a:spLocks noChangeArrowheads="1"/>
          </p:cNvSpPr>
          <p:nvPr/>
        </p:nvSpPr>
        <p:spPr bwMode="auto">
          <a:xfrm>
            <a:off x="4284663" y="3957638"/>
            <a:ext cx="498475" cy="471487"/>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12</a:t>
            </a:r>
            <a:r>
              <a:rPr kumimoji="1" lang="zh-CN" altLang="en-US" sz="2000">
                <a:solidFill>
                  <a:srgbClr val="3333FF"/>
                </a:solidFill>
                <a:effectLst>
                  <a:outerShdw blurRad="38100" dist="38100" dir="2700000" algn="tl">
                    <a:srgbClr val="000000"/>
                  </a:outerShdw>
                </a:effectLst>
              </a:rPr>
              <a:t>）</a:t>
            </a:r>
          </a:p>
        </p:txBody>
      </p:sp>
      <p:sp>
        <p:nvSpPr>
          <p:cNvPr id="129" name="Rectangle 82">
            <a:extLst>
              <a:ext uri="{FF2B5EF4-FFF2-40B4-BE49-F238E27FC236}">
                <a16:creationId xmlns:a16="http://schemas.microsoft.com/office/drawing/2014/main" id="{76B8545D-AE41-4568-B3CA-BA1BCB37FED7}"/>
              </a:ext>
            </a:extLst>
          </p:cNvPr>
          <p:cNvSpPr>
            <a:spLocks noChangeArrowheads="1"/>
          </p:cNvSpPr>
          <p:nvPr/>
        </p:nvSpPr>
        <p:spPr bwMode="auto">
          <a:xfrm>
            <a:off x="1185863" y="5092700"/>
            <a:ext cx="6696075"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20000"/>
              </a:spcBef>
              <a:buSzPct val="85000"/>
            </a:pPr>
            <a:r>
              <a:rPr kumimoji="1" lang="zh-CN" altLang="en-US" sz="2400">
                <a:latin typeface="Times New Roman" panose="02020603050405020304" pitchFamily="18" charset="0"/>
                <a:cs typeface="Times New Roman" panose="02020603050405020304" pitchFamily="18" charset="0"/>
              </a:rPr>
              <a:t>注意：非基变量的检验数</a:t>
            </a:r>
            <a:r>
              <a:rPr kumimoji="1" lang="zh-CN" altLang="en-US" sz="2400">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2400" i="1" baseline="-25000">
                <a:latin typeface="Times New Roman" panose="02020603050405020304" pitchFamily="18" charset="0"/>
                <a:cs typeface="Times New Roman" panose="02020603050405020304" pitchFamily="18" charset="0"/>
                <a:sym typeface="Symbol" panose="05050102010706020507" pitchFamily="18" charset="2"/>
              </a:rPr>
              <a:t>ij</a:t>
            </a:r>
            <a:r>
              <a:rPr kumimoji="1" lang="en-US" altLang="zh-CN" sz="2400">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2400" i="1">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2400" i="1" baseline="-25000">
                <a:latin typeface="Times New Roman" panose="02020603050405020304" pitchFamily="18" charset="0"/>
                <a:cs typeface="Times New Roman" panose="02020603050405020304" pitchFamily="18" charset="0"/>
                <a:sym typeface="Symbol" panose="05050102010706020507" pitchFamily="18" charset="2"/>
              </a:rPr>
              <a:t>ij</a:t>
            </a:r>
            <a:r>
              <a:rPr kumimoji="1" lang="en-US" altLang="zh-CN" sz="2400">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2400" i="1">
                <a:latin typeface="Times New Roman" panose="02020603050405020304" pitchFamily="18" charset="0"/>
                <a:cs typeface="Times New Roman" panose="02020603050405020304" pitchFamily="18" charset="0"/>
              </a:rPr>
              <a:t>u</a:t>
            </a:r>
            <a:r>
              <a:rPr kumimoji="1" lang="en-US" altLang="zh-CN" sz="2400" i="1" baseline="-25000">
                <a:latin typeface="Times New Roman" panose="02020603050405020304" pitchFamily="18" charset="0"/>
                <a:cs typeface="Times New Roman" panose="02020603050405020304" pitchFamily="18" charset="0"/>
              </a:rPr>
              <a:t>i</a:t>
            </a:r>
            <a:r>
              <a:rPr kumimoji="1" lang="en-US" altLang="zh-CN" sz="2400">
                <a:latin typeface="Times New Roman" panose="02020603050405020304" pitchFamily="18" charset="0"/>
                <a:cs typeface="Times New Roman" panose="02020603050405020304" pitchFamily="18" charset="0"/>
              </a:rPr>
              <a:t>+</a:t>
            </a:r>
            <a:r>
              <a:rPr kumimoji="1" lang="en-US" altLang="zh-CN" sz="2400" i="1">
                <a:latin typeface="Times New Roman" panose="02020603050405020304" pitchFamily="18" charset="0"/>
                <a:cs typeface="Times New Roman" panose="02020603050405020304" pitchFamily="18" charset="0"/>
              </a:rPr>
              <a:t>v</a:t>
            </a:r>
            <a:r>
              <a:rPr kumimoji="1" lang="en-US" altLang="zh-CN" sz="2400" i="1" baseline="-25000">
                <a:latin typeface="Times New Roman" panose="02020603050405020304" pitchFamily="18" charset="0"/>
                <a:cs typeface="Times New Roman" panose="02020603050405020304" pitchFamily="18" charset="0"/>
              </a:rPr>
              <a:t>j</a:t>
            </a:r>
            <a:r>
              <a:rPr kumimoji="1" lang="en-US" altLang="zh-CN" sz="2400">
                <a:latin typeface="Times New Roman" panose="02020603050405020304" pitchFamily="18" charset="0"/>
                <a:cs typeface="Times New Roman" panose="02020603050405020304" pitchFamily="18" charset="0"/>
                <a:sym typeface="Symbol" panose="05050102010706020507" pitchFamily="18" charset="2"/>
              </a:rPr>
              <a:t>)</a:t>
            </a:r>
            <a:endParaRPr kumimoji="1" lang="zh-CN" altLang="en-US" sz="2400">
              <a:latin typeface="Times New Roman" panose="02020603050405020304" pitchFamily="18" charset="0"/>
              <a:cs typeface="Times New Roman" panose="02020603050405020304" pitchFamily="18" charset="0"/>
            </a:endParaRPr>
          </a:p>
        </p:txBody>
      </p:sp>
      <p:sp>
        <p:nvSpPr>
          <p:cNvPr id="130" name="AutoShape 85">
            <a:extLst>
              <a:ext uri="{FF2B5EF4-FFF2-40B4-BE49-F238E27FC236}">
                <a16:creationId xmlns:a16="http://schemas.microsoft.com/office/drawing/2014/main" id="{F0FA3484-6E66-4629-9364-A6F6E38174F9}"/>
              </a:ext>
            </a:extLst>
          </p:cNvPr>
          <p:cNvSpPr>
            <a:spLocks noChangeArrowheads="1"/>
          </p:cNvSpPr>
          <p:nvPr/>
        </p:nvSpPr>
        <p:spPr bwMode="auto">
          <a:xfrm flipH="1">
            <a:off x="39688" y="985838"/>
            <a:ext cx="2438400" cy="400050"/>
          </a:xfrm>
          <a:prstGeom prst="wedgeRectCallout">
            <a:avLst>
              <a:gd name="adj1" fmla="val -36769"/>
              <a:gd name="adj2" fmla="val 326750"/>
            </a:avLst>
          </a:prstGeom>
          <a:solidFill>
            <a:srgbClr val="FFFF00"/>
          </a:solidFill>
          <a:ln w="2857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11</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11</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baseline="-25000">
                <a:solidFill>
                  <a:srgbClr val="FF0000"/>
                </a:solidFill>
                <a:latin typeface="Times New Roman" panose="02020603050405020304" pitchFamily="18" charset="0"/>
                <a:cs typeface="Times New Roman" panose="02020603050405020304" pitchFamily="18" charset="0"/>
              </a:rPr>
              <a:t>1</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baseline="-25000">
                <a:solidFill>
                  <a:srgbClr val="FF0000"/>
                </a:solidFill>
                <a:latin typeface="Times New Roman" panose="02020603050405020304" pitchFamily="18" charset="0"/>
                <a:cs typeface="Times New Roman" panose="02020603050405020304" pitchFamily="18" charset="0"/>
              </a:rPr>
              <a:t>1</a:t>
            </a:r>
            <a:r>
              <a:rPr kumimoji="1" lang="en-US" altLang="zh-CN" sz="1600">
                <a:solidFill>
                  <a:srgbClr val="FF0000"/>
                </a:solidFill>
                <a:latin typeface="Times New Roman" panose="02020603050405020304" pitchFamily="18" charset="0"/>
                <a:cs typeface="Times New Roman" panose="02020603050405020304" pitchFamily="18" charset="0"/>
              </a:rPr>
              <a:t>)=3-(0+2)=1</a:t>
            </a:r>
          </a:p>
        </p:txBody>
      </p:sp>
      <p:sp>
        <p:nvSpPr>
          <p:cNvPr id="131" name="AutoShape 86">
            <a:extLst>
              <a:ext uri="{FF2B5EF4-FFF2-40B4-BE49-F238E27FC236}">
                <a16:creationId xmlns:a16="http://schemas.microsoft.com/office/drawing/2014/main" id="{3913F69E-47DA-4CB0-BE83-8137D934EE07}"/>
              </a:ext>
            </a:extLst>
          </p:cNvPr>
          <p:cNvSpPr>
            <a:spLocks noChangeArrowheads="1"/>
          </p:cNvSpPr>
          <p:nvPr/>
        </p:nvSpPr>
        <p:spPr bwMode="auto">
          <a:xfrm flipH="1">
            <a:off x="152400" y="4829175"/>
            <a:ext cx="2662238" cy="379413"/>
          </a:xfrm>
          <a:prstGeom prst="wedgeRectCallout">
            <a:avLst>
              <a:gd name="adj1" fmla="val -35468"/>
              <a:gd name="adj2" fmla="val -208481"/>
            </a:avLst>
          </a:prstGeom>
          <a:solidFill>
            <a:srgbClr val="FFFF00"/>
          </a:solidFill>
          <a:ln w="2857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31</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31</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baseline="-25000">
                <a:solidFill>
                  <a:srgbClr val="FF0000"/>
                </a:solidFill>
                <a:latin typeface="Times New Roman" panose="02020603050405020304" pitchFamily="18" charset="0"/>
                <a:cs typeface="Times New Roman" panose="02020603050405020304" pitchFamily="18" charset="0"/>
              </a:rPr>
              <a:t>3</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baseline="-25000">
                <a:solidFill>
                  <a:srgbClr val="FF0000"/>
                </a:solidFill>
                <a:latin typeface="Times New Roman" panose="02020603050405020304" pitchFamily="18" charset="0"/>
                <a:cs typeface="Times New Roman" panose="02020603050405020304" pitchFamily="18" charset="0"/>
              </a:rPr>
              <a:t>1</a:t>
            </a:r>
            <a:r>
              <a:rPr kumimoji="1" lang="en-US" altLang="zh-CN" sz="1600">
                <a:solidFill>
                  <a:srgbClr val="FF0000"/>
                </a:solidFill>
                <a:latin typeface="Times New Roman" panose="02020603050405020304" pitchFamily="18" charset="0"/>
                <a:cs typeface="Times New Roman" panose="02020603050405020304" pitchFamily="18" charset="0"/>
              </a:rPr>
              <a:t>)=7-(2-5)=10</a:t>
            </a:r>
          </a:p>
        </p:txBody>
      </p:sp>
      <p:sp>
        <p:nvSpPr>
          <p:cNvPr id="132" name="AutoShape 87">
            <a:extLst>
              <a:ext uri="{FF2B5EF4-FFF2-40B4-BE49-F238E27FC236}">
                <a16:creationId xmlns:a16="http://schemas.microsoft.com/office/drawing/2014/main" id="{A2CC9DC7-61F8-4201-B2EF-F9C90779FF2A}"/>
              </a:ext>
            </a:extLst>
          </p:cNvPr>
          <p:cNvSpPr>
            <a:spLocks noChangeArrowheads="1"/>
          </p:cNvSpPr>
          <p:nvPr/>
        </p:nvSpPr>
        <p:spPr bwMode="auto">
          <a:xfrm flipH="1">
            <a:off x="6369050" y="2544763"/>
            <a:ext cx="2671763" cy="349250"/>
          </a:xfrm>
          <a:prstGeom prst="wedgeRectCallout">
            <a:avLst>
              <a:gd name="adj1" fmla="val 58065"/>
              <a:gd name="adj2" fmla="val 170537"/>
            </a:avLst>
          </a:prstGeom>
          <a:solidFill>
            <a:srgbClr val="FFFF00"/>
          </a:solidFill>
          <a:ln w="2857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24</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24</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 - (</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baseline="-25000">
                <a:solidFill>
                  <a:srgbClr val="FF0000"/>
                </a:solidFill>
                <a:latin typeface="Times New Roman" panose="02020603050405020304" pitchFamily="18" charset="0"/>
                <a:cs typeface="Times New Roman" panose="02020603050405020304" pitchFamily="18" charset="0"/>
              </a:rPr>
              <a:t>2</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baseline="-25000">
                <a:solidFill>
                  <a:srgbClr val="FF0000"/>
                </a:solidFill>
                <a:latin typeface="Times New Roman" panose="02020603050405020304" pitchFamily="18" charset="0"/>
                <a:cs typeface="Times New Roman" panose="02020603050405020304" pitchFamily="18" charset="0"/>
              </a:rPr>
              <a:t>4</a:t>
            </a:r>
            <a:r>
              <a:rPr kumimoji="1" lang="en-US" altLang="zh-CN" sz="1600">
                <a:solidFill>
                  <a:srgbClr val="FF0000"/>
                </a:solidFill>
                <a:latin typeface="Times New Roman" panose="02020603050405020304" pitchFamily="18" charset="0"/>
                <a:cs typeface="Times New Roman" panose="02020603050405020304" pitchFamily="18" charset="0"/>
              </a:rPr>
              <a:t>)=8-(10-1)=-1</a:t>
            </a:r>
          </a:p>
        </p:txBody>
      </p:sp>
      <p:sp>
        <p:nvSpPr>
          <p:cNvPr id="133" name="AutoShape 88">
            <a:extLst>
              <a:ext uri="{FF2B5EF4-FFF2-40B4-BE49-F238E27FC236}">
                <a16:creationId xmlns:a16="http://schemas.microsoft.com/office/drawing/2014/main" id="{9A7C51D0-0FDB-4887-A199-0274BE611505}"/>
              </a:ext>
            </a:extLst>
          </p:cNvPr>
          <p:cNvSpPr>
            <a:spLocks noChangeArrowheads="1"/>
          </p:cNvSpPr>
          <p:nvPr/>
        </p:nvSpPr>
        <p:spPr bwMode="auto">
          <a:xfrm flipH="1">
            <a:off x="96838" y="2801938"/>
            <a:ext cx="2517775" cy="411162"/>
          </a:xfrm>
          <a:prstGeom prst="wedgeRectCallout">
            <a:avLst>
              <a:gd name="adj1" fmla="val -71731"/>
              <a:gd name="adj2" fmla="val 82028"/>
            </a:avLst>
          </a:prstGeom>
          <a:solidFill>
            <a:srgbClr val="FFFF00"/>
          </a:solidFill>
          <a:ln w="2857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22</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22</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baseline="-25000">
                <a:solidFill>
                  <a:srgbClr val="FF0000"/>
                </a:solidFill>
                <a:latin typeface="Times New Roman" panose="02020603050405020304" pitchFamily="18" charset="0"/>
                <a:cs typeface="Times New Roman" panose="02020603050405020304" pitchFamily="18" charset="0"/>
              </a:rPr>
              <a:t>2</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baseline="-25000">
                <a:solidFill>
                  <a:srgbClr val="FF0000"/>
                </a:solidFill>
                <a:latin typeface="Times New Roman" panose="02020603050405020304" pitchFamily="18" charset="0"/>
                <a:cs typeface="Times New Roman" panose="02020603050405020304" pitchFamily="18" charset="0"/>
              </a:rPr>
              <a:t>2</a:t>
            </a:r>
            <a:r>
              <a:rPr kumimoji="1" lang="en-US" altLang="zh-CN" sz="1600">
                <a:solidFill>
                  <a:srgbClr val="FF0000"/>
                </a:solidFill>
                <a:latin typeface="Times New Roman" panose="02020603050405020304" pitchFamily="18" charset="0"/>
                <a:cs typeface="Times New Roman" panose="02020603050405020304" pitchFamily="18" charset="0"/>
              </a:rPr>
              <a:t>)=9-(9-1)=1</a:t>
            </a:r>
          </a:p>
        </p:txBody>
      </p:sp>
      <p:sp>
        <p:nvSpPr>
          <p:cNvPr id="134" name="AutoShape 89">
            <a:extLst>
              <a:ext uri="{FF2B5EF4-FFF2-40B4-BE49-F238E27FC236}">
                <a16:creationId xmlns:a16="http://schemas.microsoft.com/office/drawing/2014/main" id="{1B5CF438-208E-4A3B-8DFA-FD7E3B14A9C1}"/>
              </a:ext>
            </a:extLst>
          </p:cNvPr>
          <p:cNvSpPr>
            <a:spLocks noChangeArrowheads="1"/>
          </p:cNvSpPr>
          <p:nvPr/>
        </p:nvSpPr>
        <p:spPr bwMode="auto">
          <a:xfrm flipH="1">
            <a:off x="3160713" y="973138"/>
            <a:ext cx="2701925" cy="436562"/>
          </a:xfrm>
          <a:prstGeom prst="wedgeRectCallout">
            <a:avLst>
              <a:gd name="adj1" fmla="val 34231"/>
              <a:gd name="adj2" fmla="val 288042"/>
            </a:avLst>
          </a:prstGeom>
          <a:solidFill>
            <a:srgbClr val="FFFF00"/>
          </a:solidFill>
          <a:ln w="2857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12</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12</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baseline="-25000">
                <a:solidFill>
                  <a:srgbClr val="FF0000"/>
                </a:solidFill>
                <a:latin typeface="Times New Roman" panose="02020603050405020304" pitchFamily="18" charset="0"/>
                <a:cs typeface="Times New Roman" panose="02020603050405020304" pitchFamily="18" charset="0"/>
              </a:rPr>
              <a:t>1</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baseline="-25000">
                <a:solidFill>
                  <a:srgbClr val="FF0000"/>
                </a:solidFill>
                <a:latin typeface="Times New Roman" panose="02020603050405020304" pitchFamily="18" charset="0"/>
                <a:cs typeface="Times New Roman" panose="02020603050405020304" pitchFamily="18" charset="0"/>
              </a:rPr>
              <a:t>2</a:t>
            </a:r>
            <a:r>
              <a:rPr kumimoji="1" lang="en-US" altLang="zh-CN" sz="1600">
                <a:solidFill>
                  <a:srgbClr val="FF0000"/>
                </a:solidFill>
                <a:latin typeface="Times New Roman" panose="02020603050405020304" pitchFamily="18" charset="0"/>
                <a:cs typeface="Times New Roman" panose="02020603050405020304" pitchFamily="18" charset="0"/>
              </a:rPr>
              <a:t>)=11-(0+9)=2</a:t>
            </a:r>
          </a:p>
        </p:txBody>
      </p:sp>
      <p:sp>
        <p:nvSpPr>
          <p:cNvPr id="135" name="AutoShape 90">
            <a:extLst>
              <a:ext uri="{FF2B5EF4-FFF2-40B4-BE49-F238E27FC236}">
                <a16:creationId xmlns:a16="http://schemas.microsoft.com/office/drawing/2014/main" id="{C73B422E-86A7-4566-B104-3C7D03A1F4B4}"/>
              </a:ext>
            </a:extLst>
          </p:cNvPr>
          <p:cNvSpPr>
            <a:spLocks noChangeArrowheads="1"/>
          </p:cNvSpPr>
          <p:nvPr/>
        </p:nvSpPr>
        <p:spPr bwMode="auto">
          <a:xfrm flipH="1">
            <a:off x="4778375" y="4902200"/>
            <a:ext cx="2722563" cy="374650"/>
          </a:xfrm>
          <a:prstGeom prst="wedgeRectCallout">
            <a:avLst>
              <a:gd name="adj1" fmla="val 47722"/>
              <a:gd name="adj2" fmla="val -245472"/>
            </a:avLst>
          </a:prstGeom>
          <a:solidFill>
            <a:srgbClr val="FFFF00"/>
          </a:solidFill>
          <a:ln w="2857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33</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=c</a:t>
            </a:r>
            <a:r>
              <a:rPr kumimoji="1" lang="en-US" altLang="zh-CN" sz="1600" baseline="-250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33</a:t>
            </a:r>
            <a:r>
              <a:rPr kumimoji="1" lang="en-US" altLang="zh-CN" sz="1600">
                <a:solidFill>
                  <a:srgbClr val="FF0000"/>
                </a:solidFill>
                <a:latin typeface="Times New Roman" panose="02020603050405020304" pitchFamily="18" charset="0"/>
                <a:cs typeface="Times New Roman" panose="02020603050405020304" pitchFamily="18" charset="0"/>
                <a:sym typeface="Symbol" panose="05050102010706020507" pitchFamily="18" charset="2"/>
              </a:rPr>
              <a:t>-(</a:t>
            </a:r>
            <a:r>
              <a:rPr kumimoji="1" lang="en-US" altLang="zh-CN" sz="1600">
                <a:solidFill>
                  <a:srgbClr val="FF0000"/>
                </a:solidFill>
                <a:latin typeface="Times New Roman" panose="02020603050405020304" pitchFamily="18" charset="0"/>
                <a:cs typeface="Times New Roman" panose="02020603050405020304" pitchFamily="18" charset="0"/>
              </a:rPr>
              <a:t>u</a:t>
            </a:r>
            <a:r>
              <a:rPr kumimoji="1" lang="en-US" altLang="zh-CN" sz="1600" baseline="-25000">
                <a:solidFill>
                  <a:srgbClr val="FF0000"/>
                </a:solidFill>
                <a:latin typeface="Times New Roman" panose="02020603050405020304" pitchFamily="18" charset="0"/>
                <a:cs typeface="Times New Roman" panose="02020603050405020304" pitchFamily="18" charset="0"/>
              </a:rPr>
              <a:t>3</a:t>
            </a:r>
            <a:r>
              <a:rPr kumimoji="1" lang="en-US" altLang="zh-CN" sz="1600">
                <a:solidFill>
                  <a:srgbClr val="FF0000"/>
                </a:solidFill>
                <a:latin typeface="Times New Roman" panose="02020603050405020304" pitchFamily="18" charset="0"/>
                <a:cs typeface="Times New Roman" panose="02020603050405020304" pitchFamily="18" charset="0"/>
              </a:rPr>
              <a:t>+v</a:t>
            </a:r>
            <a:r>
              <a:rPr kumimoji="1" lang="en-US" altLang="zh-CN" sz="1600" baseline="-25000">
                <a:solidFill>
                  <a:srgbClr val="FF0000"/>
                </a:solidFill>
                <a:latin typeface="Times New Roman" panose="02020603050405020304" pitchFamily="18" charset="0"/>
                <a:cs typeface="Times New Roman" panose="02020603050405020304" pitchFamily="18" charset="0"/>
              </a:rPr>
              <a:t>3</a:t>
            </a:r>
            <a:r>
              <a:rPr kumimoji="1" lang="en-US" altLang="zh-CN" sz="1600">
                <a:solidFill>
                  <a:srgbClr val="FF0000"/>
                </a:solidFill>
                <a:latin typeface="Times New Roman" panose="02020603050405020304" pitchFamily="18" charset="0"/>
                <a:cs typeface="Times New Roman" panose="02020603050405020304" pitchFamily="18" charset="0"/>
              </a:rPr>
              <a:t>)=10-(3-5)=12</a:t>
            </a:r>
          </a:p>
        </p:txBody>
      </p:sp>
      <p:sp>
        <p:nvSpPr>
          <p:cNvPr id="88088" name="Rectangle 91">
            <a:extLst>
              <a:ext uri="{FF2B5EF4-FFF2-40B4-BE49-F238E27FC236}">
                <a16:creationId xmlns:a16="http://schemas.microsoft.com/office/drawing/2014/main" id="{073E4965-E79B-4901-BE37-64FFCD23087A}"/>
              </a:ext>
            </a:extLst>
          </p:cNvPr>
          <p:cNvSpPr>
            <a:spLocks noChangeArrowheads="1"/>
          </p:cNvSpPr>
          <p:nvPr/>
        </p:nvSpPr>
        <p:spPr bwMode="auto">
          <a:xfrm>
            <a:off x="2652713" y="19907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88089" name="Rectangle 92">
            <a:extLst>
              <a:ext uri="{FF2B5EF4-FFF2-40B4-BE49-F238E27FC236}">
                <a16:creationId xmlns:a16="http://schemas.microsoft.com/office/drawing/2014/main" id="{5FB86E0D-C447-4EDE-AA90-A40E73F82D22}"/>
              </a:ext>
            </a:extLst>
          </p:cNvPr>
          <p:cNvSpPr>
            <a:spLocks noChangeArrowheads="1"/>
          </p:cNvSpPr>
          <p:nvPr/>
        </p:nvSpPr>
        <p:spPr bwMode="auto">
          <a:xfrm>
            <a:off x="3771900" y="19907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11</a:t>
            </a:r>
          </a:p>
        </p:txBody>
      </p:sp>
      <p:sp>
        <p:nvSpPr>
          <p:cNvPr id="88090" name="Rectangle 93">
            <a:extLst>
              <a:ext uri="{FF2B5EF4-FFF2-40B4-BE49-F238E27FC236}">
                <a16:creationId xmlns:a16="http://schemas.microsoft.com/office/drawing/2014/main" id="{744B7B9A-3F31-4CC8-959D-B564A4850E59}"/>
              </a:ext>
            </a:extLst>
          </p:cNvPr>
          <p:cNvSpPr>
            <a:spLocks noChangeArrowheads="1"/>
          </p:cNvSpPr>
          <p:nvPr/>
        </p:nvSpPr>
        <p:spPr bwMode="auto">
          <a:xfrm>
            <a:off x="4876800" y="19907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88091" name="Rectangle 94">
            <a:extLst>
              <a:ext uri="{FF2B5EF4-FFF2-40B4-BE49-F238E27FC236}">
                <a16:creationId xmlns:a16="http://schemas.microsoft.com/office/drawing/2014/main" id="{D4BA63AF-3FCF-443D-BCAD-E5573BF769C6}"/>
              </a:ext>
            </a:extLst>
          </p:cNvPr>
          <p:cNvSpPr>
            <a:spLocks noChangeArrowheads="1"/>
          </p:cNvSpPr>
          <p:nvPr/>
        </p:nvSpPr>
        <p:spPr bwMode="auto">
          <a:xfrm>
            <a:off x="6018213" y="19748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88092" name="Rectangle 95">
            <a:extLst>
              <a:ext uri="{FF2B5EF4-FFF2-40B4-BE49-F238E27FC236}">
                <a16:creationId xmlns:a16="http://schemas.microsoft.com/office/drawing/2014/main" id="{E682AC9C-A68B-473D-BD7E-470FC8F70318}"/>
              </a:ext>
            </a:extLst>
          </p:cNvPr>
          <p:cNvSpPr>
            <a:spLocks noChangeArrowheads="1"/>
          </p:cNvSpPr>
          <p:nvPr/>
        </p:nvSpPr>
        <p:spPr bwMode="auto">
          <a:xfrm>
            <a:off x="2657475" y="27654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a:t>
            </a:r>
          </a:p>
        </p:txBody>
      </p:sp>
      <p:sp>
        <p:nvSpPr>
          <p:cNvPr id="88093" name="Rectangle 96">
            <a:extLst>
              <a:ext uri="{FF2B5EF4-FFF2-40B4-BE49-F238E27FC236}">
                <a16:creationId xmlns:a16="http://schemas.microsoft.com/office/drawing/2014/main" id="{9488FEE5-A179-4BA5-AA9E-46F161F21C64}"/>
              </a:ext>
            </a:extLst>
          </p:cNvPr>
          <p:cNvSpPr>
            <a:spLocks noChangeArrowheads="1"/>
          </p:cNvSpPr>
          <p:nvPr/>
        </p:nvSpPr>
        <p:spPr bwMode="auto">
          <a:xfrm>
            <a:off x="3787775" y="27495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9</a:t>
            </a:r>
          </a:p>
        </p:txBody>
      </p:sp>
      <p:sp>
        <p:nvSpPr>
          <p:cNvPr id="88094" name="Rectangle 97">
            <a:extLst>
              <a:ext uri="{FF2B5EF4-FFF2-40B4-BE49-F238E27FC236}">
                <a16:creationId xmlns:a16="http://schemas.microsoft.com/office/drawing/2014/main" id="{02E4E53C-2DBA-4AC8-93EE-0147483AAD7E}"/>
              </a:ext>
            </a:extLst>
          </p:cNvPr>
          <p:cNvSpPr>
            <a:spLocks noChangeArrowheads="1"/>
          </p:cNvSpPr>
          <p:nvPr/>
        </p:nvSpPr>
        <p:spPr bwMode="auto">
          <a:xfrm>
            <a:off x="4899025" y="2782888"/>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2</a:t>
            </a:r>
          </a:p>
        </p:txBody>
      </p:sp>
      <p:sp>
        <p:nvSpPr>
          <p:cNvPr id="88095" name="Rectangle 98">
            <a:extLst>
              <a:ext uri="{FF2B5EF4-FFF2-40B4-BE49-F238E27FC236}">
                <a16:creationId xmlns:a16="http://schemas.microsoft.com/office/drawing/2014/main" id="{403B82E0-7E11-4381-80A4-8162945832F3}"/>
              </a:ext>
            </a:extLst>
          </p:cNvPr>
          <p:cNvSpPr>
            <a:spLocks noChangeArrowheads="1"/>
          </p:cNvSpPr>
          <p:nvPr/>
        </p:nvSpPr>
        <p:spPr bwMode="auto">
          <a:xfrm>
            <a:off x="2662238" y="35242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7</a:t>
            </a:r>
          </a:p>
        </p:txBody>
      </p:sp>
      <p:sp>
        <p:nvSpPr>
          <p:cNvPr id="88096" name="Rectangle 99">
            <a:extLst>
              <a:ext uri="{FF2B5EF4-FFF2-40B4-BE49-F238E27FC236}">
                <a16:creationId xmlns:a16="http://schemas.microsoft.com/office/drawing/2014/main" id="{EB0E004A-4A39-4D2F-BA8C-1F8E9A9FCF86}"/>
              </a:ext>
            </a:extLst>
          </p:cNvPr>
          <p:cNvSpPr>
            <a:spLocks noChangeArrowheads="1"/>
          </p:cNvSpPr>
          <p:nvPr/>
        </p:nvSpPr>
        <p:spPr bwMode="auto">
          <a:xfrm>
            <a:off x="3787775" y="3513138"/>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4</a:t>
            </a:r>
          </a:p>
        </p:txBody>
      </p:sp>
      <p:sp>
        <p:nvSpPr>
          <p:cNvPr id="88097" name="Rectangle 100">
            <a:extLst>
              <a:ext uri="{FF2B5EF4-FFF2-40B4-BE49-F238E27FC236}">
                <a16:creationId xmlns:a16="http://schemas.microsoft.com/office/drawing/2014/main" id="{534C4D6E-7374-4581-81A5-8E40554597DE}"/>
              </a:ext>
            </a:extLst>
          </p:cNvPr>
          <p:cNvSpPr>
            <a:spLocks noChangeArrowheads="1"/>
          </p:cNvSpPr>
          <p:nvPr/>
        </p:nvSpPr>
        <p:spPr bwMode="auto">
          <a:xfrm>
            <a:off x="4897438" y="35115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88098" name="Rectangle 101">
            <a:extLst>
              <a:ext uri="{FF2B5EF4-FFF2-40B4-BE49-F238E27FC236}">
                <a16:creationId xmlns:a16="http://schemas.microsoft.com/office/drawing/2014/main" id="{D219B58A-B372-462A-80D6-56C91FB605CB}"/>
              </a:ext>
            </a:extLst>
          </p:cNvPr>
          <p:cNvSpPr>
            <a:spLocks noChangeArrowheads="1"/>
          </p:cNvSpPr>
          <p:nvPr/>
        </p:nvSpPr>
        <p:spPr bwMode="auto">
          <a:xfrm>
            <a:off x="6010275" y="35147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5</a:t>
            </a:r>
          </a:p>
        </p:txBody>
      </p:sp>
      <p:sp>
        <p:nvSpPr>
          <p:cNvPr id="88099" name="Rectangle 102">
            <a:extLst>
              <a:ext uri="{FF2B5EF4-FFF2-40B4-BE49-F238E27FC236}">
                <a16:creationId xmlns:a16="http://schemas.microsoft.com/office/drawing/2014/main" id="{39ACBBB5-FCB5-4E3C-9289-6105630B0E55}"/>
              </a:ext>
            </a:extLst>
          </p:cNvPr>
          <p:cNvSpPr>
            <a:spLocks noChangeArrowheads="1"/>
          </p:cNvSpPr>
          <p:nvPr/>
        </p:nvSpPr>
        <p:spPr bwMode="auto">
          <a:xfrm>
            <a:off x="6010275" y="27495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8</a:t>
            </a:r>
          </a:p>
        </p:txBody>
      </p:sp>
      <p:sp>
        <p:nvSpPr>
          <p:cNvPr id="148" name="Rectangle 212">
            <a:extLst>
              <a:ext uri="{FF2B5EF4-FFF2-40B4-BE49-F238E27FC236}">
                <a16:creationId xmlns:a16="http://schemas.microsoft.com/office/drawing/2014/main" id="{A6022DC4-28CE-4E72-B95D-3D7ABFB1D7A7}"/>
              </a:ext>
            </a:extLst>
          </p:cNvPr>
          <p:cNvSpPr>
            <a:spLocks noChangeArrowheads="1"/>
          </p:cNvSpPr>
          <p:nvPr/>
        </p:nvSpPr>
        <p:spPr bwMode="auto">
          <a:xfrm>
            <a:off x="533400" y="5702300"/>
            <a:ext cx="8077200" cy="831850"/>
          </a:xfrm>
          <a:prstGeom prst="rect">
            <a:avLst/>
          </a:prstGeom>
          <a:solidFill>
            <a:schemeClr val="folHlink"/>
          </a:solidFill>
          <a:ln w="28575">
            <a:solidFill>
              <a:schemeClr val="tx1"/>
            </a:solidFill>
            <a:miter lim="800000"/>
            <a:headEnd/>
            <a:tailEnd/>
          </a:ln>
        </p:spPr>
        <p:txBody>
          <a:bodyPr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2400" b="1">
                <a:latin typeface="Times New Roman" panose="02020603050405020304" pitchFamily="18" charset="0"/>
                <a:ea typeface="华文细黑" panose="02010600040101010101" pitchFamily="2" charset="-122"/>
              </a:rPr>
              <a:t>当所有非基变量的检验数</a:t>
            </a:r>
            <a:r>
              <a:rPr kumimoji="1" lang="zh-CN" altLang="en-US" sz="2400" b="1">
                <a:latin typeface="Times New Roman" panose="02020603050405020304" pitchFamily="18" charset="0"/>
                <a:ea typeface="华文细黑" panose="02010600040101010101" pitchFamily="2" charset="-122"/>
                <a:sym typeface="Symbol" panose="05050102010706020507" pitchFamily="18" charset="2"/>
              </a:rPr>
              <a:t></a:t>
            </a:r>
            <a:r>
              <a:rPr kumimoji="1" lang="en-US" altLang="zh-CN" sz="2400" b="1" i="1" baseline="-25000">
                <a:latin typeface="Times New Roman" panose="02020603050405020304" pitchFamily="18" charset="0"/>
                <a:ea typeface="华文细黑" panose="02010600040101010101" pitchFamily="2" charset="-122"/>
                <a:sym typeface="Symbol" panose="05050102010706020507" pitchFamily="18" charset="2"/>
              </a:rPr>
              <a:t>ij</a:t>
            </a:r>
            <a:r>
              <a:rPr kumimoji="1" lang="en-US" altLang="zh-CN" sz="2400" b="1">
                <a:latin typeface="Times New Roman" panose="02020603050405020304" pitchFamily="18" charset="0"/>
                <a:ea typeface="华文细黑" panose="02010600040101010101" pitchFamily="2" charset="-122"/>
                <a:sym typeface="Symbol" panose="05050102010706020507" pitchFamily="18" charset="2"/>
              </a:rPr>
              <a:t> </a:t>
            </a:r>
            <a:r>
              <a:rPr kumimoji="1" lang="en-US" altLang="en-US" sz="2400" b="1">
                <a:latin typeface="Times New Roman" panose="02020603050405020304" pitchFamily="18" charset="0"/>
                <a:ea typeface="华文细黑" panose="02010600040101010101" pitchFamily="2" charset="-122"/>
                <a:sym typeface="Symbol" panose="05050102010706020507" pitchFamily="18" charset="2"/>
              </a:rPr>
              <a:t>≥</a:t>
            </a:r>
            <a:r>
              <a:rPr kumimoji="1" lang="en-US" altLang="zh-CN" sz="2400" b="1">
                <a:latin typeface="Times New Roman" panose="02020603050405020304" pitchFamily="18" charset="0"/>
                <a:ea typeface="华文细黑" panose="02010600040101010101" pitchFamily="2" charset="-122"/>
                <a:sym typeface="Symbol" panose="05050102010706020507" pitchFamily="18" charset="2"/>
              </a:rPr>
              <a:t>0</a:t>
            </a:r>
            <a:r>
              <a:rPr kumimoji="1" lang="zh-CN" altLang="en-US" sz="2400" b="1">
                <a:latin typeface="Times New Roman" panose="02020603050405020304" pitchFamily="18" charset="0"/>
                <a:ea typeface="华文细黑" panose="02010600040101010101" pitchFamily="2" charset="-122"/>
                <a:sym typeface="Symbol" panose="05050102010706020507" pitchFamily="18" charset="2"/>
              </a:rPr>
              <a:t>，说明现行方案为最优方案，否则目标成本还可以进一步减小。</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0"/>
                                        </p:tgtEl>
                                        <p:attrNameLst>
                                          <p:attrName>style.visibility</p:attrName>
                                        </p:attrNameLst>
                                      </p:cBhvr>
                                      <p:to>
                                        <p:strVal val="visible"/>
                                      </p:to>
                                    </p:set>
                                  </p:childTnLst>
                                  <p:subTnLst>
                                    <p:set>
                                      <p:cBhvr override="childStyle">
                                        <p:cTn dur="1" fill="hold" display="0" masterRel="nextClick" afterEffect="1"/>
                                        <p:tgtEl>
                                          <p:spTgt spid="130"/>
                                        </p:tgtEl>
                                        <p:attrNameLst>
                                          <p:attrName>style.visibility</p:attrName>
                                        </p:attrNameLst>
                                      </p:cBhvr>
                                      <p:to>
                                        <p:strVal val="hidden"/>
                                      </p:to>
                                    </p:set>
                                  </p:sub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wipe(down)">
                                      <p:cBhvr>
                                        <p:cTn id="15" dur="500"/>
                                        <p:tgtEl>
                                          <p:spTgt spid="12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34"/>
                                        </p:tgtEl>
                                        <p:attrNameLst>
                                          <p:attrName>style.visibility</p:attrName>
                                        </p:attrNameLst>
                                      </p:cBhvr>
                                      <p:to>
                                        <p:strVal val="visible"/>
                                      </p:to>
                                    </p:set>
                                  </p:childTnLst>
                                  <p:subTnLst>
                                    <p:set>
                                      <p:cBhvr override="childStyle">
                                        <p:cTn dur="1" fill="hold" display="0" masterRel="nextClick" afterEffect="1"/>
                                        <p:tgtEl>
                                          <p:spTgt spid="134"/>
                                        </p:tgtEl>
                                        <p:attrNameLst>
                                          <p:attrName>style.visibility</p:attrName>
                                        </p:attrNameLst>
                                      </p:cBhvr>
                                      <p:to>
                                        <p:strVal val="hidden"/>
                                      </p:to>
                                    </p:set>
                                  </p:sub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123"/>
                                        </p:tgtEl>
                                        <p:attrNameLst>
                                          <p:attrName>style.visibility</p:attrName>
                                        </p:attrNameLst>
                                      </p:cBhvr>
                                      <p:to>
                                        <p:strVal val="visible"/>
                                      </p:to>
                                    </p:set>
                                    <p:animEffect transition="in" filter="wipe(down)">
                                      <p:cBhvr>
                                        <p:cTn id="24" dur="500"/>
                                        <p:tgtEl>
                                          <p:spTgt spid="123"/>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33"/>
                                        </p:tgtEl>
                                        <p:attrNameLst>
                                          <p:attrName>style.visibility</p:attrName>
                                        </p:attrNameLst>
                                      </p:cBhvr>
                                      <p:to>
                                        <p:strVal val="visible"/>
                                      </p:to>
                                    </p:set>
                                  </p:childTnLst>
                                  <p:subTnLst>
                                    <p:set>
                                      <p:cBhvr override="childStyle">
                                        <p:cTn dur="1" fill="hold" display="0" masterRel="nextClick" afterEffect="1"/>
                                        <p:tgtEl>
                                          <p:spTgt spid="133"/>
                                        </p:tgtEl>
                                        <p:attrNameLst>
                                          <p:attrName>style.visibility</p:attrName>
                                        </p:attrNameLst>
                                      </p:cBhvr>
                                      <p:to>
                                        <p:strVal val="hidden"/>
                                      </p:to>
                                    </p:set>
                                  </p:sub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24"/>
                                        </p:tgtEl>
                                        <p:attrNameLst>
                                          <p:attrName>style.visibility</p:attrName>
                                        </p:attrNameLst>
                                      </p:cBhvr>
                                      <p:to>
                                        <p:strVal val="visible"/>
                                      </p:to>
                                    </p:set>
                                    <p:animEffect transition="in" filter="wipe(down)">
                                      <p:cBhvr>
                                        <p:cTn id="33" dur="500"/>
                                        <p:tgtEl>
                                          <p:spTgt spid="12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childTnLst>
                                  <p:subTnLst>
                                    <p:set>
                                      <p:cBhvr override="childStyle">
                                        <p:cTn dur="1" fill="hold" display="0" masterRel="nextClick" afterEffect="1"/>
                                        <p:tgtEl>
                                          <p:spTgt spid="132"/>
                                        </p:tgtEl>
                                        <p:attrNameLst>
                                          <p:attrName>style.visibility</p:attrName>
                                        </p:attrNameLst>
                                      </p:cBhvr>
                                      <p:to>
                                        <p:strVal val="hidden"/>
                                      </p:to>
                                    </p:set>
                                  </p:sub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5"/>
                                        </p:tgtEl>
                                        <p:attrNameLst>
                                          <p:attrName>style.visibility</p:attrName>
                                        </p:attrNameLst>
                                      </p:cBhvr>
                                      <p:to>
                                        <p:strVal val="visible"/>
                                      </p:to>
                                    </p:set>
                                    <p:animEffect transition="in" filter="wipe(down)">
                                      <p:cBhvr>
                                        <p:cTn id="42" dur="500"/>
                                        <p:tgtEl>
                                          <p:spTgt spid="12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31"/>
                                        </p:tgtEl>
                                        <p:attrNameLst>
                                          <p:attrName>style.visibility</p:attrName>
                                        </p:attrNameLst>
                                      </p:cBhvr>
                                      <p:to>
                                        <p:strVal val="visible"/>
                                      </p:to>
                                    </p:set>
                                  </p:childTnLst>
                                  <p:subTnLst>
                                    <p:set>
                                      <p:cBhvr override="childStyle">
                                        <p:cTn dur="1" fill="hold" display="0" masterRel="nextClick" afterEffect="1"/>
                                        <p:tgtEl>
                                          <p:spTgt spid="131"/>
                                        </p:tgtEl>
                                        <p:attrNameLst>
                                          <p:attrName>style.visibility</p:attrName>
                                        </p:attrNameLst>
                                      </p:cBhvr>
                                      <p:to>
                                        <p:strVal val="hidden"/>
                                      </p:to>
                                    </p:set>
                                  </p:sub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4"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wipe(down)">
                                      <p:cBhvr>
                                        <p:cTn id="51" dur="500"/>
                                        <p:tgtEl>
                                          <p:spTgt spid="126"/>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135"/>
                                        </p:tgtEl>
                                        <p:attrNameLst>
                                          <p:attrName>style.visibility</p:attrName>
                                        </p:attrNameLst>
                                      </p:cBhvr>
                                      <p:to>
                                        <p:strVal val="visible"/>
                                      </p:to>
                                    </p:set>
                                  </p:childTnLst>
                                  <p:subTnLst>
                                    <p:set>
                                      <p:cBhvr override="childStyle">
                                        <p:cTn dur="1" fill="hold" display="0" masterRel="nextClick" afterEffect="1"/>
                                        <p:tgtEl>
                                          <p:spTgt spid="135"/>
                                        </p:tgtEl>
                                        <p:attrNameLst>
                                          <p:attrName>style.visibility</p:attrName>
                                        </p:attrNameLst>
                                      </p:cBhvr>
                                      <p:to>
                                        <p:strVal val="hidden"/>
                                      </p:to>
                                    </p:set>
                                  </p:sub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127"/>
                                        </p:tgtEl>
                                        <p:attrNameLst>
                                          <p:attrName>style.visibility</p:attrName>
                                        </p:attrNameLst>
                                      </p:cBhvr>
                                      <p:to>
                                        <p:strVal val="visible"/>
                                      </p:to>
                                    </p:set>
                                    <p:animEffect transition="in" filter="wipe(down)">
                                      <p:cBhvr>
                                        <p:cTn id="60" dur="500"/>
                                        <p:tgtEl>
                                          <p:spTgt spid="127"/>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148"/>
                                        </p:tgtEl>
                                        <p:attrNameLst>
                                          <p:attrName>style.visibility</p:attrName>
                                        </p:attrNameLst>
                                      </p:cBhvr>
                                      <p:to>
                                        <p:strVal val="visible"/>
                                      </p:to>
                                    </p:set>
                                    <p:animEffect transition="in" filter="wipe(left)">
                                      <p:cBhvr>
                                        <p:cTn id="6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23" grpId="0"/>
      <p:bldP spid="124" grpId="0"/>
      <p:bldP spid="125" grpId="0"/>
      <p:bldP spid="126" grpId="0"/>
      <p:bldP spid="127" grpId="0"/>
      <p:bldP spid="129" grpId="0"/>
      <p:bldP spid="130" grpId="0" animBg="1"/>
      <p:bldP spid="131" grpId="0" animBg="1"/>
      <p:bldP spid="132" grpId="0" animBg="1"/>
      <p:bldP spid="133" grpId="0" animBg="1"/>
      <p:bldP spid="134" grpId="0" animBg="1"/>
      <p:bldP spid="135" grpId="0" animBg="1"/>
      <p:bldP spid="148" grpId="0" animBg="1" autoUpdateAnimBg="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descr="Large confetti">
            <a:extLst>
              <a:ext uri="{FF2B5EF4-FFF2-40B4-BE49-F238E27FC236}">
                <a16:creationId xmlns:a16="http://schemas.microsoft.com/office/drawing/2014/main" id="{87781463-7DA1-472E-A91A-4D5DC4F81AAF}"/>
              </a:ext>
            </a:extLst>
          </p:cNvPr>
          <p:cNvSpPr>
            <a:spLocks noGrp="1" noChangeArrowheads="1"/>
          </p:cNvSpPr>
          <p:nvPr>
            <p:ph type="title"/>
          </p:nvPr>
        </p:nvSpPr>
        <p:spPr/>
        <p:txBody>
          <a:bodyPr/>
          <a:lstStyle/>
          <a:p>
            <a:r>
              <a:rPr lang="zh-CN" altLang="en-US"/>
              <a:t>解的改进</a:t>
            </a:r>
            <a:r>
              <a:rPr lang="en-US" altLang="zh-CN"/>
              <a:t>-</a:t>
            </a:r>
            <a:r>
              <a:rPr lang="zh-CN" altLang="en-US"/>
              <a:t>闭回路法</a:t>
            </a:r>
          </a:p>
        </p:txBody>
      </p:sp>
      <p:sp>
        <p:nvSpPr>
          <p:cNvPr id="89091" name="Text Box 4">
            <a:extLst>
              <a:ext uri="{FF2B5EF4-FFF2-40B4-BE49-F238E27FC236}">
                <a16:creationId xmlns:a16="http://schemas.microsoft.com/office/drawing/2014/main" id="{75CE194C-FA1C-4474-B148-9B74115ED2A3}"/>
              </a:ext>
            </a:extLst>
          </p:cNvPr>
          <p:cNvSpPr txBox="1">
            <a:spLocks noChangeArrowheads="1"/>
          </p:cNvSpPr>
          <p:nvPr/>
        </p:nvSpPr>
        <p:spPr bwMode="auto">
          <a:xfrm>
            <a:off x="179388" y="1263650"/>
            <a:ext cx="6840537"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endParaRPr kumimoji="1" lang="zh-CN" altLang="zh-CN" sz="2400">
              <a:solidFill>
                <a:schemeClr val="bg2"/>
              </a:solidFill>
            </a:endParaRPr>
          </a:p>
        </p:txBody>
      </p:sp>
      <p:sp>
        <p:nvSpPr>
          <p:cNvPr id="728090" name="Rectangle 26">
            <a:extLst>
              <a:ext uri="{FF2B5EF4-FFF2-40B4-BE49-F238E27FC236}">
                <a16:creationId xmlns:a16="http://schemas.microsoft.com/office/drawing/2014/main" id="{D5A48B16-D232-4F0F-B21B-64C9517006F6}"/>
              </a:ext>
            </a:extLst>
          </p:cNvPr>
          <p:cNvSpPr>
            <a:spLocks noChangeArrowheads="1"/>
          </p:cNvSpPr>
          <p:nvPr/>
        </p:nvSpPr>
        <p:spPr bwMode="auto">
          <a:xfrm>
            <a:off x="338138" y="1160463"/>
            <a:ext cx="8272462" cy="2324100"/>
          </a:xfrm>
          <a:prstGeom prst="rect">
            <a:avLst/>
          </a:prstGeom>
          <a:noFill/>
          <a:ln>
            <a:noFill/>
          </a:ln>
          <a:effectLst/>
        </p:spPr>
        <p:txBody>
          <a:bodyPr>
            <a:spAutoFit/>
          </a:bodyPr>
          <a:lstStyle>
            <a:lvl1pPr algn="l">
              <a:lnSpc>
                <a:spcPct val="120000"/>
              </a:lnSpc>
              <a:spcBef>
                <a:spcPct val="15000"/>
              </a:spcBef>
              <a:buSzPct val="85000"/>
              <a:defRPr kumimoji="1" sz="2400" b="1">
                <a:solidFill>
                  <a:schemeClr val="bg2"/>
                </a:solidFill>
                <a:latin typeface="Times New Roman" panose="02020603050405020304" pitchFamily="18" charset="0"/>
                <a:ea typeface="华文细黑" panose="02010600040101010101" pitchFamily="2" charset="-122"/>
              </a:defRPr>
            </a:lvl1pPr>
            <a:lvl2pPr algn="l">
              <a:spcBef>
                <a:spcPct val="20000"/>
              </a:spcBef>
              <a:buClr>
                <a:schemeClr val="bg2"/>
              </a:buClr>
              <a:buSzPct val="70000"/>
              <a:buFont typeface="Wingdings" panose="05000000000000000000" pitchFamily="2" charset="2"/>
              <a:buChar char="n"/>
              <a:defRPr kumimoji="1" sz="26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algn="l">
              <a:spcBef>
                <a:spcPct val="20000"/>
              </a:spcBef>
              <a:buSzPct val="70000"/>
              <a:buFont typeface="Wingdings" panose="05000000000000000000" pitchFamily="2" charset="2"/>
              <a:defRPr kumimoji="1" sz="24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algn="l">
              <a:spcBef>
                <a:spcPct val="20000"/>
              </a:spcBef>
              <a:buSzPct val="70000"/>
              <a:buFont typeface="Wingdings" panose="05000000000000000000" pitchFamily="2" charset="2"/>
              <a:buChar char="n"/>
              <a:defRPr kumimoji="1" sz="2000">
                <a:solidFill>
                  <a:schemeClr val="tx1"/>
                </a:solidFill>
                <a:latin typeface="Times New Roman" panose="02020603050405020304" pitchFamily="18" charset="0"/>
                <a:ea typeface="宋体" panose="02010600030101010101" pitchFamily="2" charset="-122"/>
              </a:defRPr>
            </a:lvl4pPr>
            <a:lvl5pPr algn="l">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20000"/>
              </a:spcBef>
              <a:defRPr/>
            </a:pPr>
            <a:r>
              <a:rPr lang="en-US" altLang="zh-CN" dirty="0">
                <a:solidFill>
                  <a:srgbClr val="000000"/>
                </a:solidFill>
              </a:rPr>
              <a:t>        </a:t>
            </a:r>
            <a:r>
              <a:rPr lang="zh-CN" altLang="en-US" dirty="0">
                <a:solidFill>
                  <a:srgbClr val="000000"/>
                </a:solidFill>
                <a:latin typeface="+mn-ea"/>
                <a:ea typeface="+mn-ea"/>
              </a:rPr>
              <a:t>当在表中空格处出现</a:t>
            </a:r>
            <a:r>
              <a:rPr lang="zh-CN" altLang="en-US" dirty="0">
                <a:solidFill>
                  <a:srgbClr val="FF0000"/>
                </a:solidFill>
                <a:latin typeface="+mn-ea"/>
                <a:ea typeface="+mn-ea"/>
              </a:rPr>
              <a:t>负检验数</a:t>
            </a:r>
            <a:r>
              <a:rPr lang="zh-CN" altLang="en-US" dirty="0">
                <a:solidFill>
                  <a:srgbClr val="000000"/>
                </a:solidFill>
                <a:latin typeface="+mn-ea"/>
                <a:ea typeface="+mn-ea"/>
              </a:rPr>
              <a:t>时，表明未得最优解。若有两个或两个以上的负检验数时，一般选用其中最小的负检验数，以它对应的空格为调入格，即以它对应的非基变量为换入变量。做一闭合回路，闭回路法的具体步骤：</a:t>
            </a:r>
          </a:p>
          <a:p>
            <a:pPr>
              <a:spcBef>
                <a:spcPct val="20000"/>
              </a:spcBef>
              <a:defRPr/>
            </a:pPr>
            <a:endParaRPr lang="zh-CN" altLang="en-US" dirty="0">
              <a:solidFill>
                <a:srgbClr val="000000"/>
              </a:solidFill>
              <a:latin typeface="+mn-ea"/>
              <a:ea typeface="+mn-ea"/>
            </a:endParaRPr>
          </a:p>
        </p:txBody>
      </p:sp>
      <p:grpSp>
        <p:nvGrpSpPr>
          <p:cNvPr id="2" name="组合 1">
            <a:extLst>
              <a:ext uri="{FF2B5EF4-FFF2-40B4-BE49-F238E27FC236}">
                <a16:creationId xmlns:a16="http://schemas.microsoft.com/office/drawing/2014/main" id="{EA60D052-FFB3-469F-B0FE-0069F30035B4}"/>
              </a:ext>
            </a:extLst>
          </p:cNvPr>
          <p:cNvGrpSpPr>
            <a:grpSpLocks/>
          </p:cNvGrpSpPr>
          <p:nvPr/>
        </p:nvGrpSpPr>
        <p:grpSpPr bwMode="auto">
          <a:xfrm>
            <a:off x="320675" y="3178175"/>
            <a:ext cx="8137525" cy="1549400"/>
            <a:chOff x="304800" y="2895600"/>
            <a:chExt cx="8137525" cy="1549400"/>
          </a:xfrm>
        </p:grpSpPr>
        <p:sp>
          <p:nvSpPr>
            <p:cNvPr id="30" name="Rectangle 5">
              <a:extLst>
                <a:ext uri="{FF2B5EF4-FFF2-40B4-BE49-F238E27FC236}">
                  <a16:creationId xmlns:a16="http://schemas.microsoft.com/office/drawing/2014/main" id="{3BAC653A-125E-42BE-AE0B-521511E48BA6}"/>
                </a:ext>
              </a:extLst>
            </p:cNvPr>
            <p:cNvSpPr txBox="1">
              <a:spLocks noChangeArrowheads="1"/>
            </p:cNvSpPr>
            <p:nvPr/>
          </p:nvSpPr>
          <p:spPr bwMode="auto">
            <a:xfrm>
              <a:off x="306388" y="3581400"/>
              <a:ext cx="8135937" cy="863600"/>
            </a:xfrm>
            <a:prstGeom prst="rect">
              <a:avLst/>
            </a:prstGeom>
            <a:solidFill>
              <a:srgbClr val="66FFFF"/>
            </a:solidFill>
            <a:ln w="28575">
              <a:solidFill>
                <a:srgbClr val="000000"/>
              </a:solidFill>
              <a:miter lim="800000"/>
              <a:headEnd/>
              <a:tailEnd/>
            </a:ln>
          </p:spPr>
          <p:txBody>
            <a:bodyPr/>
            <a:lst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3200" b="1">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800" b="1">
                  <a:solidFill>
                    <a:schemeClr val="tx1"/>
                  </a:solidFill>
                  <a:latin typeface="+mn-lt"/>
                  <a:ea typeface="+mn-ea"/>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400" b="1">
                  <a:solidFill>
                    <a:schemeClr val="tx1"/>
                  </a:solidFill>
                  <a:latin typeface="+mn-lt"/>
                  <a:ea typeface="+mn-ea"/>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mn-ea"/>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ea typeface="+mn-ea"/>
                </a:defRPr>
              </a:lvl9pPr>
            </a:lstStyle>
            <a:p>
              <a:pPr marL="0" indent="0" eaLnBrk="1" hangingPunct="1">
                <a:spcBef>
                  <a:spcPct val="0"/>
                </a:spcBef>
                <a:buSzTx/>
                <a:buFont typeface="Wingdings" panose="05000000000000000000" pitchFamily="2" charset="2"/>
                <a:buNone/>
                <a:defRPr/>
              </a:pPr>
              <a:r>
                <a:rPr lang="zh-CN" altLang="en-US" sz="2400" kern="0" dirty="0">
                  <a:solidFill>
                    <a:srgbClr val="000000"/>
                  </a:solidFill>
                  <a:latin typeface="Times New Roman" panose="02020603050405020304" pitchFamily="18" charset="0"/>
                  <a:cs typeface="Times New Roman" panose="02020603050405020304" pitchFamily="18" charset="0"/>
                </a:rPr>
                <a:t>当存在非基变量的检验数</a:t>
              </a:r>
              <a:r>
                <a:rPr lang="zh-CN" altLang="en-US"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a:t>
              </a:r>
              <a:r>
                <a:rPr lang="en-US" altLang="zh-CN" sz="2400" i="1" kern="0" baseline="-2500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kl</a:t>
              </a:r>
              <a:r>
                <a:rPr lang="en-US" altLang="zh-CN"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 &lt; 0 </a:t>
              </a:r>
              <a:r>
                <a:rPr lang="zh-CN" altLang="zh-CN"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且</a:t>
              </a:r>
              <a:r>
                <a:rPr lang="zh-CN" altLang="en-US"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a:t>
              </a:r>
              <a:r>
                <a:rPr lang="en-US" altLang="zh-CN" sz="2400" i="1" kern="0" baseline="-2500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kl</a:t>
              </a:r>
              <a:r>
                <a:rPr lang="en-US" altLang="zh-CN"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 =min{</a:t>
              </a:r>
              <a:r>
                <a:rPr lang="en-US" altLang="zh-CN" sz="2400" i="1" kern="0" baseline="-25000" dirty="0" err="1">
                  <a:solidFill>
                    <a:srgbClr val="000000"/>
                  </a:solidFill>
                  <a:latin typeface="Times New Roman" panose="02020603050405020304" pitchFamily="18" charset="0"/>
                  <a:cs typeface="Times New Roman" panose="02020603050405020304" pitchFamily="18" charset="0"/>
                  <a:sym typeface="Symbol" panose="05050102010706020507" pitchFamily="18" charset="2"/>
                </a:rPr>
                <a:t>ij</a:t>
              </a:r>
              <a:r>
                <a:rPr lang="en-US" altLang="zh-CN"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a:t>
              </a:r>
              <a:r>
                <a:rPr lang="zh-CN" altLang="zh-CN"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时，令</a:t>
              </a:r>
              <a:r>
                <a:rPr lang="en-US" altLang="zh-CN" sz="2400" i="1" kern="0" dirty="0" err="1">
                  <a:solidFill>
                    <a:srgbClr val="000000"/>
                  </a:solidFill>
                  <a:latin typeface="Times New Roman" panose="02020603050405020304" pitchFamily="18" charset="0"/>
                  <a:cs typeface="Times New Roman" panose="02020603050405020304" pitchFamily="18" charset="0"/>
                  <a:sym typeface="Symbol" panose="05050102010706020507" pitchFamily="18" charset="2"/>
                </a:rPr>
                <a:t>x</a:t>
              </a:r>
              <a:r>
                <a:rPr lang="en-US" altLang="zh-CN" sz="2400" i="1" kern="0" baseline="-25000" dirty="0" err="1">
                  <a:solidFill>
                    <a:srgbClr val="000000"/>
                  </a:solidFill>
                  <a:latin typeface="Times New Roman" panose="02020603050405020304" pitchFamily="18" charset="0"/>
                  <a:cs typeface="Times New Roman" panose="02020603050405020304" pitchFamily="18" charset="0"/>
                  <a:sym typeface="Symbol" panose="05050102010706020507" pitchFamily="18" charset="2"/>
                </a:rPr>
                <a:t>kl</a:t>
              </a:r>
              <a:r>
                <a:rPr lang="en-US" altLang="zh-CN" sz="2400" i="1" kern="0" baseline="-2500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 </a:t>
              </a:r>
              <a:r>
                <a:rPr lang="zh-CN" altLang="zh-CN"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rPr>
                <a:t>进基。</a:t>
              </a:r>
              <a:endParaRPr lang="zh-CN" altLang="en-US" sz="2400" kern="0" dirty="0">
                <a:solidFill>
                  <a:srgbClr val="000000"/>
                </a:solidFill>
                <a:latin typeface="Times New Roman" panose="02020603050405020304" pitchFamily="18" charset="0"/>
                <a:cs typeface="Times New Roman" panose="02020603050405020304" pitchFamily="18" charset="0"/>
                <a:sym typeface="Symbol" panose="05050102010706020507" pitchFamily="18" charset="2"/>
              </a:endParaRPr>
            </a:p>
          </p:txBody>
        </p:sp>
        <p:sp>
          <p:nvSpPr>
            <p:cNvPr id="31" name="Text Box 7">
              <a:extLst>
                <a:ext uri="{FF2B5EF4-FFF2-40B4-BE49-F238E27FC236}">
                  <a16:creationId xmlns:a16="http://schemas.microsoft.com/office/drawing/2014/main" id="{207F53AD-BD0B-41A9-8E38-781FFB6850FC}"/>
                </a:ext>
              </a:extLst>
            </p:cNvPr>
            <p:cNvSpPr txBox="1">
              <a:spLocks noChangeArrowheads="1"/>
            </p:cNvSpPr>
            <p:nvPr/>
          </p:nvSpPr>
          <p:spPr bwMode="auto">
            <a:xfrm>
              <a:off x="304800" y="2895600"/>
              <a:ext cx="5472113" cy="46196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第</a:t>
              </a:r>
              <a:r>
                <a:rPr lang="en-US" altLang="zh-CN" dirty="0">
                  <a:solidFill>
                    <a:schemeClr val="tx1"/>
                  </a:solidFill>
                  <a:latin typeface="+mn-ea"/>
                  <a:ea typeface="+mn-ea"/>
                </a:rPr>
                <a:t>1</a:t>
              </a:r>
              <a:r>
                <a:rPr lang="zh-CN" altLang="en-US" dirty="0">
                  <a:solidFill>
                    <a:schemeClr val="tx1"/>
                  </a:solidFill>
                  <a:latin typeface="+mn-ea"/>
                  <a:ea typeface="+mn-ea"/>
                </a:rPr>
                <a:t>步 确定换入基的变量</a:t>
              </a:r>
            </a:p>
          </p:txBody>
        </p:sp>
      </p:grpSp>
      <p:graphicFrame>
        <p:nvGraphicFramePr>
          <p:cNvPr id="4" name="对象 3">
            <a:extLst>
              <a:ext uri="{FF2B5EF4-FFF2-40B4-BE49-F238E27FC236}">
                <a16:creationId xmlns:a16="http://schemas.microsoft.com/office/drawing/2014/main" id="{82D0BB31-7D05-4EC0-A888-6F16FDD5B939}"/>
              </a:ext>
            </a:extLst>
          </p:cNvPr>
          <p:cNvGraphicFramePr>
            <a:graphicFrameLocks noChangeAspect="1"/>
          </p:cNvGraphicFramePr>
          <p:nvPr/>
        </p:nvGraphicFramePr>
        <p:xfrm>
          <a:off x="1430338" y="5257800"/>
          <a:ext cx="5919787" cy="708025"/>
        </p:xfrm>
        <a:graphic>
          <a:graphicData uri="http://schemas.openxmlformats.org/presentationml/2006/ole">
            <mc:AlternateContent xmlns:mc="http://schemas.openxmlformats.org/markup-compatibility/2006">
              <mc:Choice xmlns:v="urn:schemas-microsoft-com:vml" Requires="v">
                <p:oleObj spid="_x0000_s89103" name="Equation" r:id="rId3" imgW="2654300" imgH="317500" progId="Equation.DSMT4">
                  <p:embed/>
                </p:oleObj>
              </mc:Choice>
              <mc:Fallback>
                <p:oleObj name="Equation" r:id="rId3" imgW="2654300" imgH="317500" progId="Equation.DSMT4">
                  <p:embed/>
                  <p:pic>
                    <p:nvPicPr>
                      <p:cNvPr id="0"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30338" y="5257800"/>
                        <a:ext cx="59197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28090"/>
                                        </p:tgtEl>
                                        <p:attrNameLst>
                                          <p:attrName>style.visibility</p:attrName>
                                        </p:attrNameLst>
                                      </p:cBhvr>
                                      <p:to>
                                        <p:strVal val="visible"/>
                                      </p:to>
                                    </p:set>
                                    <p:animEffect transition="in" filter="blinds(horizontal)">
                                      <p:cBhvr>
                                        <p:cTn id="7" dur="500"/>
                                        <p:tgtEl>
                                          <p:spTgt spid="7280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4" presetClass="entr" presetSubtype="1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randombar(horizontal)">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809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descr="Large confetti">
            <a:extLst>
              <a:ext uri="{FF2B5EF4-FFF2-40B4-BE49-F238E27FC236}">
                <a16:creationId xmlns:a16="http://schemas.microsoft.com/office/drawing/2014/main" id="{0B808A44-AF99-469C-BAED-778379EDB6BD}"/>
              </a:ext>
            </a:extLst>
          </p:cNvPr>
          <p:cNvSpPr>
            <a:spLocks noGrp="1" noChangeArrowheads="1"/>
          </p:cNvSpPr>
          <p:nvPr>
            <p:ph type="title"/>
          </p:nvPr>
        </p:nvSpPr>
        <p:spPr/>
        <p:txBody>
          <a:bodyPr/>
          <a:lstStyle/>
          <a:p>
            <a:r>
              <a:rPr lang="zh-CN" altLang="en-US"/>
              <a:t>表上作业法</a:t>
            </a:r>
          </a:p>
        </p:txBody>
      </p:sp>
      <p:sp>
        <p:nvSpPr>
          <p:cNvPr id="90115" name="Rectangle 3">
            <a:extLst>
              <a:ext uri="{FF2B5EF4-FFF2-40B4-BE49-F238E27FC236}">
                <a16:creationId xmlns:a16="http://schemas.microsoft.com/office/drawing/2014/main" id="{FC4FBEB9-CD58-4F77-A524-E50FE7970252}"/>
              </a:ext>
            </a:extLst>
          </p:cNvPr>
          <p:cNvSpPr>
            <a:spLocks noChangeArrowheads="1"/>
          </p:cNvSpPr>
          <p:nvPr/>
        </p:nvSpPr>
        <p:spPr bwMode="auto">
          <a:xfrm>
            <a:off x="2019300" y="3946525"/>
            <a:ext cx="1119188"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2</a:t>
            </a:r>
          </a:p>
        </p:txBody>
      </p:sp>
      <p:grpSp>
        <p:nvGrpSpPr>
          <p:cNvPr id="90116" name="Group 4">
            <a:extLst>
              <a:ext uri="{FF2B5EF4-FFF2-40B4-BE49-F238E27FC236}">
                <a16:creationId xmlns:a16="http://schemas.microsoft.com/office/drawing/2014/main" id="{5E85E650-9366-47B5-82C6-DFA95EA0722D}"/>
              </a:ext>
            </a:extLst>
          </p:cNvPr>
          <p:cNvGrpSpPr>
            <a:grpSpLocks/>
          </p:cNvGrpSpPr>
          <p:nvPr/>
        </p:nvGrpSpPr>
        <p:grpSpPr bwMode="auto">
          <a:xfrm>
            <a:off x="900113" y="1125538"/>
            <a:ext cx="6427787" cy="3357562"/>
            <a:chOff x="567" y="709"/>
            <a:chExt cx="4049" cy="2115"/>
          </a:xfrm>
        </p:grpSpPr>
        <p:sp>
          <p:nvSpPr>
            <p:cNvPr id="90153" name="Rectangle 5">
              <a:extLst>
                <a:ext uri="{FF2B5EF4-FFF2-40B4-BE49-F238E27FC236}">
                  <a16:creationId xmlns:a16="http://schemas.microsoft.com/office/drawing/2014/main" id="{ED6C706C-9154-4D93-B672-9025782BB6C6}"/>
                </a:ext>
              </a:extLst>
            </p:cNvPr>
            <p:cNvSpPr>
              <a:spLocks noChangeArrowheads="1"/>
            </p:cNvSpPr>
            <p:nvPr/>
          </p:nvSpPr>
          <p:spPr bwMode="auto">
            <a:xfrm>
              <a:off x="4092" y="2486"/>
              <a:ext cx="524"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54" name="Rectangle 6">
              <a:extLst>
                <a:ext uri="{FF2B5EF4-FFF2-40B4-BE49-F238E27FC236}">
                  <a16:creationId xmlns:a16="http://schemas.microsoft.com/office/drawing/2014/main" id="{65283E4A-129E-465C-84A9-7E626F5D0B8D}"/>
                </a:ext>
              </a:extLst>
            </p:cNvPr>
            <p:cNvSpPr>
              <a:spLocks noChangeArrowheads="1"/>
            </p:cNvSpPr>
            <p:nvPr/>
          </p:nvSpPr>
          <p:spPr bwMode="auto">
            <a:xfrm>
              <a:off x="3387"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10</a:t>
              </a:r>
            </a:p>
          </p:txBody>
        </p:sp>
        <p:sp>
          <p:nvSpPr>
            <p:cNvPr id="90155" name="Rectangle 7">
              <a:extLst>
                <a:ext uri="{FF2B5EF4-FFF2-40B4-BE49-F238E27FC236}">
                  <a16:creationId xmlns:a16="http://schemas.microsoft.com/office/drawing/2014/main" id="{B8F3AB76-D13E-4840-A091-A4A1015C573C}"/>
                </a:ext>
              </a:extLst>
            </p:cNvPr>
            <p:cNvSpPr>
              <a:spLocks noChangeArrowheads="1"/>
            </p:cNvSpPr>
            <p:nvPr/>
          </p:nvSpPr>
          <p:spPr bwMode="auto">
            <a:xfrm>
              <a:off x="2682"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3</a:t>
              </a:r>
            </a:p>
          </p:txBody>
        </p:sp>
        <p:sp>
          <p:nvSpPr>
            <p:cNvPr id="90156" name="Rectangle 8">
              <a:extLst>
                <a:ext uri="{FF2B5EF4-FFF2-40B4-BE49-F238E27FC236}">
                  <a16:creationId xmlns:a16="http://schemas.microsoft.com/office/drawing/2014/main" id="{BFD78FC1-5587-45BA-AE19-EB1864C417FC}"/>
                </a:ext>
              </a:extLst>
            </p:cNvPr>
            <p:cNvSpPr>
              <a:spLocks noChangeArrowheads="1"/>
            </p:cNvSpPr>
            <p:nvPr/>
          </p:nvSpPr>
          <p:spPr bwMode="auto">
            <a:xfrm>
              <a:off x="1977"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9</a:t>
              </a:r>
            </a:p>
          </p:txBody>
        </p:sp>
        <p:sp>
          <p:nvSpPr>
            <p:cNvPr id="90157" name="Rectangle 9">
              <a:extLst>
                <a:ext uri="{FF2B5EF4-FFF2-40B4-BE49-F238E27FC236}">
                  <a16:creationId xmlns:a16="http://schemas.microsoft.com/office/drawing/2014/main" id="{D24A5029-A7AC-47E6-931D-D80FBBA86C5B}"/>
                </a:ext>
              </a:extLst>
            </p:cNvPr>
            <p:cNvSpPr>
              <a:spLocks noChangeArrowheads="1"/>
            </p:cNvSpPr>
            <p:nvPr/>
          </p:nvSpPr>
          <p:spPr bwMode="auto">
            <a:xfrm>
              <a:off x="567" y="2486"/>
              <a:ext cx="705" cy="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v</a:t>
              </a:r>
              <a:r>
                <a:rPr kumimoji="1" lang="en-US" altLang="zh-CN" sz="2000" b="1" baseline="-25000">
                  <a:solidFill>
                    <a:schemeClr val="bg2"/>
                  </a:solidFill>
                  <a:latin typeface="Times New Roman" panose="02020603050405020304" pitchFamily="18" charset="0"/>
                  <a:ea typeface="华文细黑" panose="02010600040101010101" pitchFamily="2" charset="-122"/>
                </a:rPr>
                <a:t>j</a:t>
              </a:r>
            </a:p>
          </p:txBody>
        </p:sp>
        <p:sp>
          <p:nvSpPr>
            <p:cNvPr id="90158" name="Rectangle 10">
              <a:extLst>
                <a:ext uri="{FF2B5EF4-FFF2-40B4-BE49-F238E27FC236}">
                  <a16:creationId xmlns:a16="http://schemas.microsoft.com/office/drawing/2014/main" id="{4D1174B6-0D66-472A-9FFC-F9EE6CB93019}"/>
                </a:ext>
              </a:extLst>
            </p:cNvPr>
            <p:cNvSpPr>
              <a:spLocks noChangeArrowheads="1"/>
            </p:cNvSpPr>
            <p:nvPr/>
          </p:nvSpPr>
          <p:spPr bwMode="auto">
            <a:xfrm>
              <a:off x="4092" y="2006"/>
              <a:ext cx="524"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-5</a:t>
              </a:r>
            </a:p>
          </p:txBody>
        </p:sp>
        <p:sp>
          <p:nvSpPr>
            <p:cNvPr id="90159" name="Rectangle 11">
              <a:extLst>
                <a:ext uri="{FF2B5EF4-FFF2-40B4-BE49-F238E27FC236}">
                  <a16:creationId xmlns:a16="http://schemas.microsoft.com/office/drawing/2014/main" id="{53806005-321A-4551-A3E1-033F46129917}"/>
                </a:ext>
              </a:extLst>
            </p:cNvPr>
            <p:cNvSpPr>
              <a:spLocks noChangeArrowheads="1"/>
            </p:cNvSpPr>
            <p:nvPr/>
          </p:nvSpPr>
          <p:spPr bwMode="auto">
            <a:xfrm>
              <a:off x="3387"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0" name="Rectangle 12">
              <a:extLst>
                <a:ext uri="{FF2B5EF4-FFF2-40B4-BE49-F238E27FC236}">
                  <a16:creationId xmlns:a16="http://schemas.microsoft.com/office/drawing/2014/main" id="{8AA215E4-589A-485B-B9A0-9A64B3329941}"/>
                </a:ext>
              </a:extLst>
            </p:cNvPr>
            <p:cNvSpPr>
              <a:spLocks noChangeArrowheads="1"/>
            </p:cNvSpPr>
            <p:nvPr/>
          </p:nvSpPr>
          <p:spPr bwMode="auto">
            <a:xfrm>
              <a:off x="2682"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1" name="Rectangle 13">
              <a:extLst>
                <a:ext uri="{FF2B5EF4-FFF2-40B4-BE49-F238E27FC236}">
                  <a16:creationId xmlns:a16="http://schemas.microsoft.com/office/drawing/2014/main" id="{B5633695-3FBE-4DBF-ABCF-80002021E9BA}"/>
                </a:ext>
              </a:extLst>
            </p:cNvPr>
            <p:cNvSpPr>
              <a:spLocks noChangeArrowheads="1"/>
            </p:cNvSpPr>
            <p:nvPr/>
          </p:nvSpPr>
          <p:spPr bwMode="auto">
            <a:xfrm>
              <a:off x="1977"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2" name="Rectangle 14">
              <a:extLst>
                <a:ext uri="{FF2B5EF4-FFF2-40B4-BE49-F238E27FC236}">
                  <a16:creationId xmlns:a16="http://schemas.microsoft.com/office/drawing/2014/main" id="{D1525DBE-8B1F-4BB5-9089-26D074F2B236}"/>
                </a:ext>
              </a:extLst>
            </p:cNvPr>
            <p:cNvSpPr>
              <a:spLocks noChangeArrowheads="1"/>
            </p:cNvSpPr>
            <p:nvPr/>
          </p:nvSpPr>
          <p:spPr bwMode="auto">
            <a:xfrm>
              <a:off x="1272"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3" name="Rectangle 15">
              <a:extLst>
                <a:ext uri="{FF2B5EF4-FFF2-40B4-BE49-F238E27FC236}">
                  <a16:creationId xmlns:a16="http://schemas.microsoft.com/office/drawing/2014/main" id="{81970AF9-9274-48A1-AE1F-6388045FE8F8}"/>
                </a:ext>
              </a:extLst>
            </p:cNvPr>
            <p:cNvSpPr>
              <a:spLocks noChangeArrowheads="1"/>
            </p:cNvSpPr>
            <p:nvPr/>
          </p:nvSpPr>
          <p:spPr bwMode="auto">
            <a:xfrm>
              <a:off x="567" y="200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A</a:t>
              </a:r>
              <a:r>
                <a:rPr kumimoji="1" lang="en-US" altLang="zh-CN" sz="2000" b="1" baseline="-25000">
                  <a:solidFill>
                    <a:schemeClr val="bg2"/>
                  </a:solidFill>
                  <a:latin typeface="Times New Roman" panose="02020603050405020304" pitchFamily="18" charset="0"/>
                  <a:ea typeface="华文细黑" panose="02010600040101010101" pitchFamily="2" charset="-122"/>
                </a:rPr>
                <a:t>3</a:t>
              </a:r>
            </a:p>
          </p:txBody>
        </p:sp>
        <p:sp>
          <p:nvSpPr>
            <p:cNvPr id="90164" name="Rectangle 16">
              <a:extLst>
                <a:ext uri="{FF2B5EF4-FFF2-40B4-BE49-F238E27FC236}">
                  <a16:creationId xmlns:a16="http://schemas.microsoft.com/office/drawing/2014/main" id="{4D26500F-CB77-49F1-87CA-036371DC8881}"/>
                </a:ext>
              </a:extLst>
            </p:cNvPr>
            <p:cNvSpPr>
              <a:spLocks noChangeArrowheads="1"/>
            </p:cNvSpPr>
            <p:nvPr/>
          </p:nvSpPr>
          <p:spPr bwMode="auto">
            <a:xfrm>
              <a:off x="4092" y="1526"/>
              <a:ext cx="524"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-1</a:t>
              </a:r>
            </a:p>
          </p:txBody>
        </p:sp>
        <p:sp>
          <p:nvSpPr>
            <p:cNvPr id="90165" name="Rectangle 17">
              <a:extLst>
                <a:ext uri="{FF2B5EF4-FFF2-40B4-BE49-F238E27FC236}">
                  <a16:creationId xmlns:a16="http://schemas.microsoft.com/office/drawing/2014/main" id="{1D7C4A9E-258D-4671-9D0E-C4FFED1B7460}"/>
                </a:ext>
              </a:extLst>
            </p:cNvPr>
            <p:cNvSpPr>
              <a:spLocks noChangeArrowheads="1"/>
            </p:cNvSpPr>
            <p:nvPr/>
          </p:nvSpPr>
          <p:spPr bwMode="auto">
            <a:xfrm>
              <a:off x="3387"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6" name="Rectangle 18">
              <a:extLst>
                <a:ext uri="{FF2B5EF4-FFF2-40B4-BE49-F238E27FC236}">
                  <a16:creationId xmlns:a16="http://schemas.microsoft.com/office/drawing/2014/main" id="{E7CBF594-663C-4519-B887-2AD0CB3B6A64}"/>
                </a:ext>
              </a:extLst>
            </p:cNvPr>
            <p:cNvSpPr>
              <a:spLocks noChangeArrowheads="1"/>
            </p:cNvSpPr>
            <p:nvPr/>
          </p:nvSpPr>
          <p:spPr bwMode="auto">
            <a:xfrm>
              <a:off x="2682"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7" name="Rectangle 19">
              <a:extLst>
                <a:ext uri="{FF2B5EF4-FFF2-40B4-BE49-F238E27FC236}">
                  <a16:creationId xmlns:a16="http://schemas.microsoft.com/office/drawing/2014/main" id="{D2F0DB9B-0D5B-4354-867A-D73832BA3853}"/>
                </a:ext>
              </a:extLst>
            </p:cNvPr>
            <p:cNvSpPr>
              <a:spLocks noChangeArrowheads="1"/>
            </p:cNvSpPr>
            <p:nvPr/>
          </p:nvSpPr>
          <p:spPr bwMode="auto">
            <a:xfrm>
              <a:off x="1977"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8" name="Rectangle 20">
              <a:extLst>
                <a:ext uri="{FF2B5EF4-FFF2-40B4-BE49-F238E27FC236}">
                  <a16:creationId xmlns:a16="http://schemas.microsoft.com/office/drawing/2014/main" id="{910D6E6B-6DEE-4ED0-B5F7-32D60D7466CD}"/>
                </a:ext>
              </a:extLst>
            </p:cNvPr>
            <p:cNvSpPr>
              <a:spLocks noChangeArrowheads="1"/>
            </p:cNvSpPr>
            <p:nvPr/>
          </p:nvSpPr>
          <p:spPr bwMode="auto">
            <a:xfrm>
              <a:off x="1272"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69" name="Rectangle 21">
              <a:extLst>
                <a:ext uri="{FF2B5EF4-FFF2-40B4-BE49-F238E27FC236}">
                  <a16:creationId xmlns:a16="http://schemas.microsoft.com/office/drawing/2014/main" id="{5E34C883-0334-43BF-9691-525249939277}"/>
                </a:ext>
              </a:extLst>
            </p:cNvPr>
            <p:cNvSpPr>
              <a:spLocks noChangeArrowheads="1"/>
            </p:cNvSpPr>
            <p:nvPr/>
          </p:nvSpPr>
          <p:spPr bwMode="auto">
            <a:xfrm>
              <a:off x="567" y="1526"/>
              <a:ext cx="705"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A</a:t>
              </a:r>
              <a:r>
                <a:rPr kumimoji="1" lang="en-US" altLang="zh-CN" sz="2000" b="1" baseline="-25000">
                  <a:solidFill>
                    <a:schemeClr val="bg2"/>
                  </a:solidFill>
                  <a:latin typeface="Times New Roman" panose="02020603050405020304" pitchFamily="18" charset="0"/>
                  <a:ea typeface="华文细黑" panose="02010600040101010101" pitchFamily="2" charset="-122"/>
                </a:rPr>
                <a:t>2</a:t>
              </a:r>
            </a:p>
          </p:txBody>
        </p:sp>
        <p:sp>
          <p:nvSpPr>
            <p:cNvPr id="90170" name="Rectangle 22">
              <a:extLst>
                <a:ext uri="{FF2B5EF4-FFF2-40B4-BE49-F238E27FC236}">
                  <a16:creationId xmlns:a16="http://schemas.microsoft.com/office/drawing/2014/main" id="{959C9497-5712-4A29-A533-630897EBE0DA}"/>
                </a:ext>
              </a:extLst>
            </p:cNvPr>
            <p:cNvSpPr>
              <a:spLocks noChangeArrowheads="1"/>
            </p:cNvSpPr>
            <p:nvPr/>
          </p:nvSpPr>
          <p:spPr bwMode="auto">
            <a:xfrm>
              <a:off x="4092" y="1053"/>
              <a:ext cx="524"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ea typeface="华文细黑" panose="02010600040101010101" pitchFamily="2" charset="-122"/>
                </a:rPr>
                <a:t>0</a:t>
              </a:r>
            </a:p>
          </p:txBody>
        </p:sp>
        <p:sp>
          <p:nvSpPr>
            <p:cNvPr id="90171" name="Rectangle 23">
              <a:extLst>
                <a:ext uri="{FF2B5EF4-FFF2-40B4-BE49-F238E27FC236}">
                  <a16:creationId xmlns:a16="http://schemas.microsoft.com/office/drawing/2014/main" id="{1692C782-5B79-44B6-A157-798676ADBCB4}"/>
                </a:ext>
              </a:extLst>
            </p:cNvPr>
            <p:cNvSpPr>
              <a:spLocks noChangeArrowheads="1"/>
            </p:cNvSpPr>
            <p:nvPr/>
          </p:nvSpPr>
          <p:spPr bwMode="auto">
            <a:xfrm>
              <a:off x="3387"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72" name="Rectangle 24">
              <a:extLst>
                <a:ext uri="{FF2B5EF4-FFF2-40B4-BE49-F238E27FC236}">
                  <a16:creationId xmlns:a16="http://schemas.microsoft.com/office/drawing/2014/main" id="{222A1513-D0E1-4F73-AB66-68CA85B7E781}"/>
                </a:ext>
              </a:extLst>
            </p:cNvPr>
            <p:cNvSpPr>
              <a:spLocks noChangeArrowheads="1"/>
            </p:cNvSpPr>
            <p:nvPr/>
          </p:nvSpPr>
          <p:spPr bwMode="auto">
            <a:xfrm>
              <a:off x="2682"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73" name="Rectangle 25">
              <a:extLst>
                <a:ext uri="{FF2B5EF4-FFF2-40B4-BE49-F238E27FC236}">
                  <a16:creationId xmlns:a16="http://schemas.microsoft.com/office/drawing/2014/main" id="{86E9D023-CEC8-4995-BCDC-F1F750441622}"/>
                </a:ext>
              </a:extLst>
            </p:cNvPr>
            <p:cNvSpPr>
              <a:spLocks noChangeArrowheads="1"/>
            </p:cNvSpPr>
            <p:nvPr/>
          </p:nvSpPr>
          <p:spPr bwMode="auto">
            <a:xfrm>
              <a:off x="1977"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74" name="Rectangle 26">
              <a:extLst>
                <a:ext uri="{FF2B5EF4-FFF2-40B4-BE49-F238E27FC236}">
                  <a16:creationId xmlns:a16="http://schemas.microsoft.com/office/drawing/2014/main" id="{D2ACEA15-600F-4581-A7C6-C806D49FB2E4}"/>
                </a:ext>
              </a:extLst>
            </p:cNvPr>
            <p:cNvSpPr>
              <a:spLocks noChangeArrowheads="1"/>
            </p:cNvSpPr>
            <p:nvPr/>
          </p:nvSpPr>
          <p:spPr bwMode="auto">
            <a:xfrm>
              <a:off x="1272"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75" name="Rectangle 27">
              <a:extLst>
                <a:ext uri="{FF2B5EF4-FFF2-40B4-BE49-F238E27FC236}">
                  <a16:creationId xmlns:a16="http://schemas.microsoft.com/office/drawing/2014/main" id="{30BAEBDD-5541-4546-8DFF-9EF2054CA65E}"/>
                </a:ext>
              </a:extLst>
            </p:cNvPr>
            <p:cNvSpPr>
              <a:spLocks noChangeArrowheads="1"/>
            </p:cNvSpPr>
            <p:nvPr/>
          </p:nvSpPr>
          <p:spPr bwMode="auto">
            <a:xfrm>
              <a:off x="567" y="1053"/>
              <a:ext cx="705" cy="4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A</a:t>
              </a:r>
              <a:r>
                <a:rPr kumimoji="1" lang="en-US" altLang="zh-CN" sz="2000" b="1" baseline="-25000">
                  <a:solidFill>
                    <a:schemeClr val="bg2"/>
                  </a:solidFill>
                  <a:latin typeface="Times New Roman" panose="02020603050405020304" pitchFamily="18" charset="0"/>
                  <a:ea typeface="华文细黑" panose="02010600040101010101" pitchFamily="2" charset="-122"/>
                </a:rPr>
                <a:t>1</a:t>
              </a:r>
            </a:p>
          </p:txBody>
        </p:sp>
        <p:sp>
          <p:nvSpPr>
            <p:cNvPr id="90176" name="Rectangle 28">
              <a:extLst>
                <a:ext uri="{FF2B5EF4-FFF2-40B4-BE49-F238E27FC236}">
                  <a16:creationId xmlns:a16="http://schemas.microsoft.com/office/drawing/2014/main" id="{277C5CBC-9B02-4B7A-9CED-064B1F7A611E}"/>
                </a:ext>
              </a:extLst>
            </p:cNvPr>
            <p:cNvSpPr>
              <a:spLocks noChangeArrowheads="1"/>
            </p:cNvSpPr>
            <p:nvPr/>
          </p:nvSpPr>
          <p:spPr bwMode="auto">
            <a:xfrm>
              <a:off x="4092" y="709"/>
              <a:ext cx="524"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20000"/>
                </a:lnSpc>
                <a:spcBef>
                  <a:spcPct val="15000"/>
                </a:spcBef>
                <a:buSzPct val="85000"/>
              </a:pPr>
              <a:r>
                <a:rPr kumimoji="1" lang="en-US" altLang="zh-CN" sz="2000" b="1">
                  <a:solidFill>
                    <a:srgbClr val="000000"/>
                  </a:solidFill>
                  <a:latin typeface="Times New Roman" panose="02020603050405020304" pitchFamily="18" charset="0"/>
                </a:rPr>
                <a:t>u</a:t>
              </a:r>
              <a:r>
                <a:rPr kumimoji="1" lang="en-US" altLang="zh-CN" sz="2000" b="1" baseline="-25000">
                  <a:solidFill>
                    <a:srgbClr val="000000"/>
                  </a:solidFill>
                  <a:latin typeface="Times New Roman" panose="02020603050405020304" pitchFamily="18" charset="0"/>
                </a:rPr>
                <a:t>i</a:t>
              </a:r>
            </a:p>
          </p:txBody>
        </p:sp>
        <p:sp>
          <p:nvSpPr>
            <p:cNvPr id="90177" name="Rectangle 29">
              <a:extLst>
                <a:ext uri="{FF2B5EF4-FFF2-40B4-BE49-F238E27FC236}">
                  <a16:creationId xmlns:a16="http://schemas.microsoft.com/office/drawing/2014/main" id="{38019606-2E69-49EB-BC52-FFFA7FCEDE93}"/>
                </a:ext>
              </a:extLst>
            </p:cNvPr>
            <p:cNvSpPr>
              <a:spLocks noChangeArrowheads="1"/>
            </p:cNvSpPr>
            <p:nvPr/>
          </p:nvSpPr>
          <p:spPr bwMode="auto">
            <a:xfrm>
              <a:off x="3387"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4</a:t>
              </a: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90178" name="Rectangle 30">
              <a:extLst>
                <a:ext uri="{FF2B5EF4-FFF2-40B4-BE49-F238E27FC236}">
                  <a16:creationId xmlns:a16="http://schemas.microsoft.com/office/drawing/2014/main" id="{7C46B08D-26E8-4FBC-8446-A5922AA551DE}"/>
                </a:ext>
              </a:extLst>
            </p:cNvPr>
            <p:cNvSpPr>
              <a:spLocks noChangeArrowheads="1"/>
            </p:cNvSpPr>
            <p:nvPr/>
          </p:nvSpPr>
          <p:spPr bwMode="auto">
            <a:xfrm>
              <a:off x="2682"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3</a:t>
              </a: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90179" name="Rectangle 31">
              <a:extLst>
                <a:ext uri="{FF2B5EF4-FFF2-40B4-BE49-F238E27FC236}">
                  <a16:creationId xmlns:a16="http://schemas.microsoft.com/office/drawing/2014/main" id="{4840B106-FF21-4B60-BDA9-52C1A89FE9AC}"/>
                </a:ext>
              </a:extLst>
            </p:cNvPr>
            <p:cNvSpPr>
              <a:spLocks noChangeArrowheads="1"/>
            </p:cNvSpPr>
            <p:nvPr/>
          </p:nvSpPr>
          <p:spPr bwMode="auto">
            <a:xfrm>
              <a:off x="1977"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2</a:t>
              </a:r>
              <a:endParaRPr kumimoji="1" lang="en-US" altLang="zh-CN" sz="2000" b="1">
                <a:solidFill>
                  <a:schemeClr val="bg2"/>
                </a:solidFill>
                <a:latin typeface="Times New Roman" panose="02020603050405020304" pitchFamily="18" charset="0"/>
                <a:ea typeface="华文细黑" panose="02010600040101010101" pitchFamily="2" charset="-122"/>
              </a:endParaRPr>
            </a:p>
          </p:txBody>
        </p:sp>
        <p:sp>
          <p:nvSpPr>
            <p:cNvPr id="90180" name="Rectangle 32">
              <a:extLst>
                <a:ext uri="{FF2B5EF4-FFF2-40B4-BE49-F238E27FC236}">
                  <a16:creationId xmlns:a16="http://schemas.microsoft.com/office/drawing/2014/main" id="{5A086349-0273-42EF-A818-37C264ECF03C}"/>
                </a:ext>
              </a:extLst>
            </p:cNvPr>
            <p:cNvSpPr>
              <a:spLocks noChangeArrowheads="1"/>
            </p:cNvSpPr>
            <p:nvPr/>
          </p:nvSpPr>
          <p:spPr bwMode="auto">
            <a:xfrm>
              <a:off x="1272"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r>
                <a:rPr kumimoji="1" lang="en-US" altLang="zh-CN" sz="2000" b="1">
                  <a:solidFill>
                    <a:schemeClr val="bg2"/>
                  </a:solidFill>
                  <a:latin typeface="Times New Roman" panose="02020603050405020304" pitchFamily="18" charset="0"/>
                  <a:ea typeface="华文细黑" panose="02010600040101010101" pitchFamily="2" charset="-122"/>
                </a:rPr>
                <a:t>B</a:t>
              </a:r>
              <a:r>
                <a:rPr kumimoji="1" lang="en-US" altLang="zh-CN" sz="2000" b="1" baseline="-25000">
                  <a:solidFill>
                    <a:schemeClr val="bg2"/>
                  </a:solidFill>
                  <a:latin typeface="Times New Roman" panose="02020603050405020304" pitchFamily="18" charset="0"/>
                  <a:ea typeface="华文细黑" panose="02010600040101010101" pitchFamily="2" charset="-122"/>
                </a:rPr>
                <a:t>1</a:t>
              </a:r>
            </a:p>
          </p:txBody>
        </p:sp>
        <p:sp>
          <p:nvSpPr>
            <p:cNvPr id="90181" name="Rectangle 33">
              <a:extLst>
                <a:ext uri="{FF2B5EF4-FFF2-40B4-BE49-F238E27FC236}">
                  <a16:creationId xmlns:a16="http://schemas.microsoft.com/office/drawing/2014/main" id="{9BC0D36D-6969-427B-9690-6C268384E47E}"/>
                </a:ext>
              </a:extLst>
            </p:cNvPr>
            <p:cNvSpPr>
              <a:spLocks noChangeArrowheads="1"/>
            </p:cNvSpPr>
            <p:nvPr/>
          </p:nvSpPr>
          <p:spPr bwMode="auto">
            <a:xfrm>
              <a:off x="567" y="709"/>
              <a:ext cx="705" cy="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15000"/>
                </a:spcBef>
                <a:buSzPct val="85000"/>
              </a:pPr>
              <a:endParaRPr kumimoji="1" lang="zh-CN" altLang="zh-CN" sz="2000" b="1">
                <a:solidFill>
                  <a:schemeClr val="bg2"/>
                </a:solidFill>
                <a:latin typeface="Times New Roman" panose="02020603050405020304" pitchFamily="18" charset="0"/>
                <a:ea typeface="华文细黑" panose="02010600040101010101" pitchFamily="2" charset="-122"/>
              </a:endParaRPr>
            </a:p>
          </p:txBody>
        </p:sp>
        <p:sp>
          <p:nvSpPr>
            <p:cNvPr id="90182" name="Line 34">
              <a:extLst>
                <a:ext uri="{FF2B5EF4-FFF2-40B4-BE49-F238E27FC236}">
                  <a16:creationId xmlns:a16="http://schemas.microsoft.com/office/drawing/2014/main" id="{5E6C4879-AEC5-4718-9D2F-4FF7D6B05981}"/>
                </a:ext>
              </a:extLst>
            </p:cNvPr>
            <p:cNvSpPr>
              <a:spLocks noChangeShapeType="1"/>
            </p:cNvSpPr>
            <p:nvPr/>
          </p:nvSpPr>
          <p:spPr bwMode="auto">
            <a:xfrm>
              <a:off x="567" y="709"/>
              <a:ext cx="4049"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3" name="Line 35">
              <a:extLst>
                <a:ext uri="{FF2B5EF4-FFF2-40B4-BE49-F238E27FC236}">
                  <a16:creationId xmlns:a16="http://schemas.microsoft.com/office/drawing/2014/main" id="{9419E818-C11F-4E12-AEB1-5E315C636BF3}"/>
                </a:ext>
              </a:extLst>
            </p:cNvPr>
            <p:cNvSpPr>
              <a:spLocks noChangeShapeType="1"/>
            </p:cNvSpPr>
            <p:nvPr/>
          </p:nvSpPr>
          <p:spPr bwMode="auto">
            <a:xfrm>
              <a:off x="567" y="1053"/>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4" name="Line 36">
              <a:extLst>
                <a:ext uri="{FF2B5EF4-FFF2-40B4-BE49-F238E27FC236}">
                  <a16:creationId xmlns:a16="http://schemas.microsoft.com/office/drawing/2014/main" id="{44152C45-5922-4B33-9277-2D8435B187CE}"/>
                </a:ext>
              </a:extLst>
            </p:cNvPr>
            <p:cNvSpPr>
              <a:spLocks noChangeShapeType="1"/>
            </p:cNvSpPr>
            <p:nvPr/>
          </p:nvSpPr>
          <p:spPr bwMode="auto">
            <a:xfrm>
              <a:off x="567" y="2824"/>
              <a:ext cx="4049"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5" name="Line 37">
              <a:extLst>
                <a:ext uri="{FF2B5EF4-FFF2-40B4-BE49-F238E27FC236}">
                  <a16:creationId xmlns:a16="http://schemas.microsoft.com/office/drawing/2014/main" id="{77596E43-111F-48E3-9980-35C412A31E71}"/>
                </a:ext>
              </a:extLst>
            </p:cNvPr>
            <p:cNvSpPr>
              <a:spLocks noChangeShapeType="1"/>
            </p:cNvSpPr>
            <p:nvPr/>
          </p:nvSpPr>
          <p:spPr bwMode="auto">
            <a:xfrm>
              <a:off x="567" y="709"/>
              <a:ext cx="0" cy="211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6" name="Line 38">
              <a:extLst>
                <a:ext uri="{FF2B5EF4-FFF2-40B4-BE49-F238E27FC236}">
                  <a16:creationId xmlns:a16="http://schemas.microsoft.com/office/drawing/2014/main" id="{14E3F027-C37C-4D5C-BC89-EAAF4831C123}"/>
                </a:ext>
              </a:extLst>
            </p:cNvPr>
            <p:cNvSpPr>
              <a:spLocks noChangeShapeType="1"/>
            </p:cNvSpPr>
            <p:nvPr/>
          </p:nvSpPr>
          <p:spPr bwMode="auto">
            <a:xfrm>
              <a:off x="1272"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7" name="Line 39">
              <a:extLst>
                <a:ext uri="{FF2B5EF4-FFF2-40B4-BE49-F238E27FC236}">
                  <a16:creationId xmlns:a16="http://schemas.microsoft.com/office/drawing/2014/main" id="{9B99E200-B3D8-4832-9F76-DB7EFF016028}"/>
                </a:ext>
              </a:extLst>
            </p:cNvPr>
            <p:cNvSpPr>
              <a:spLocks noChangeShapeType="1"/>
            </p:cNvSpPr>
            <p:nvPr/>
          </p:nvSpPr>
          <p:spPr bwMode="auto">
            <a:xfrm>
              <a:off x="1977"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8" name="Line 40">
              <a:extLst>
                <a:ext uri="{FF2B5EF4-FFF2-40B4-BE49-F238E27FC236}">
                  <a16:creationId xmlns:a16="http://schemas.microsoft.com/office/drawing/2014/main" id="{2EC84B1E-142E-49B2-A0D6-C71B0E47FF9D}"/>
                </a:ext>
              </a:extLst>
            </p:cNvPr>
            <p:cNvSpPr>
              <a:spLocks noChangeShapeType="1"/>
            </p:cNvSpPr>
            <p:nvPr/>
          </p:nvSpPr>
          <p:spPr bwMode="auto">
            <a:xfrm>
              <a:off x="2682"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89" name="Line 41">
              <a:extLst>
                <a:ext uri="{FF2B5EF4-FFF2-40B4-BE49-F238E27FC236}">
                  <a16:creationId xmlns:a16="http://schemas.microsoft.com/office/drawing/2014/main" id="{3CF370B9-A312-47C4-A3D5-A8D8E696B90F}"/>
                </a:ext>
              </a:extLst>
            </p:cNvPr>
            <p:cNvSpPr>
              <a:spLocks noChangeShapeType="1"/>
            </p:cNvSpPr>
            <p:nvPr/>
          </p:nvSpPr>
          <p:spPr bwMode="auto">
            <a:xfrm>
              <a:off x="3387"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90" name="Line 42">
              <a:extLst>
                <a:ext uri="{FF2B5EF4-FFF2-40B4-BE49-F238E27FC236}">
                  <a16:creationId xmlns:a16="http://schemas.microsoft.com/office/drawing/2014/main" id="{F7C1BEE0-569E-4785-A6F1-4074765B0163}"/>
                </a:ext>
              </a:extLst>
            </p:cNvPr>
            <p:cNvSpPr>
              <a:spLocks noChangeShapeType="1"/>
            </p:cNvSpPr>
            <p:nvPr/>
          </p:nvSpPr>
          <p:spPr bwMode="auto">
            <a:xfrm>
              <a:off x="4092" y="709"/>
              <a:ext cx="0" cy="21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91" name="Line 43">
              <a:extLst>
                <a:ext uri="{FF2B5EF4-FFF2-40B4-BE49-F238E27FC236}">
                  <a16:creationId xmlns:a16="http://schemas.microsoft.com/office/drawing/2014/main" id="{312CAA55-C020-476D-8E91-F6AB9470A3A7}"/>
                </a:ext>
              </a:extLst>
            </p:cNvPr>
            <p:cNvSpPr>
              <a:spLocks noChangeShapeType="1"/>
            </p:cNvSpPr>
            <p:nvPr/>
          </p:nvSpPr>
          <p:spPr bwMode="auto">
            <a:xfrm>
              <a:off x="4616" y="709"/>
              <a:ext cx="0" cy="211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92" name="Line 44">
              <a:extLst>
                <a:ext uri="{FF2B5EF4-FFF2-40B4-BE49-F238E27FC236}">
                  <a16:creationId xmlns:a16="http://schemas.microsoft.com/office/drawing/2014/main" id="{F3B3CFDD-556B-4AA3-BB9B-1747A217829E}"/>
                </a:ext>
              </a:extLst>
            </p:cNvPr>
            <p:cNvSpPr>
              <a:spLocks noChangeShapeType="1"/>
            </p:cNvSpPr>
            <p:nvPr/>
          </p:nvSpPr>
          <p:spPr bwMode="auto">
            <a:xfrm>
              <a:off x="567" y="1526"/>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93" name="Line 45">
              <a:extLst>
                <a:ext uri="{FF2B5EF4-FFF2-40B4-BE49-F238E27FC236}">
                  <a16:creationId xmlns:a16="http://schemas.microsoft.com/office/drawing/2014/main" id="{2FA28417-FC01-4AD4-AC27-E02F1FF0F67A}"/>
                </a:ext>
              </a:extLst>
            </p:cNvPr>
            <p:cNvSpPr>
              <a:spLocks noChangeShapeType="1"/>
            </p:cNvSpPr>
            <p:nvPr/>
          </p:nvSpPr>
          <p:spPr bwMode="auto">
            <a:xfrm>
              <a:off x="567" y="2006"/>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94" name="Line 46">
              <a:extLst>
                <a:ext uri="{FF2B5EF4-FFF2-40B4-BE49-F238E27FC236}">
                  <a16:creationId xmlns:a16="http://schemas.microsoft.com/office/drawing/2014/main" id="{A61AD298-69F3-4869-8686-C707E7BDFA0D}"/>
                </a:ext>
              </a:extLst>
            </p:cNvPr>
            <p:cNvSpPr>
              <a:spLocks noChangeShapeType="1"/>
            </p:cNvSpPr>
            <p:nvPr/>
          </p:nvSpPr>
          <p:spPr bwMode="auto">
            <a:xfrm>
              <a:off x="567" y="2486"/>
              <a:ext cx="4049"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grpSp>
      <p:sp>
        <p:nvSpPr>
          <p:cNvPr id="90117" name="Text Box 47">
            <a:extLst>
              <a:ext uri="{FF2B5EF4-FFF2-40B4-BE49-F238E27FC236}">
                <a16:creationId xmlns:a16="http://schemas.microsoft.com/office/drawing/2014/main" id="{92DD1CA9-6B49-4FBB-9209-3248BF5B74A2}"/>
              </a:ext>
            </a:extLst>
          </p:cNvPr>
          <p:cNvSpPr txBox="1">
            <a:spLocks noChangeArrowheads="1"/>
          </p:cNvSpPr>
          <p:nvPr/>
        </p:nvSpPr>
        <p:spPr bwMode="auto">
          <a:xfrm>
            <a:off x="4284663" y="2097088"/>
            <a:ext cx="3048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4</a:t>
            </a:r>
            <a:endParaRPr kumimoji="1" lang="en-US" altLang="zh-CN" sz="3200">
              <a:latin typeface="楷体_GB2312" pitchFamily="49" charset="-122"/>
              <a:ea typeface="楷体_GB2312" pitchFamily="49" charset="-122"/>
            </a:endParaRPr>
          </a:p>
        </p:txBody>
      </p:sp>
      <p:sp>
        <p:nvSpPr>
          <p:cNvPr id="90118" name="Text Box 48">
            <a:extLst>
              <a:ext uri="{FF2B5EF4-FFF2-40B4-BE49-F238E27FC236}">
                <a16:creationId xmlns:a16="http://schemas.microsoft.com/office/drawing/2014/main" id="{25ED642B-A381-4EC3-8CB9-2A93792FC9F6}"/>
              </a:ext>
            </a:extLst>
          </p:cNvPr>
          <p:cNvSpPr txBox="1">
            <a:spLocks noChangeArrowheads="1"/>
          </p:cNvSpPr>
          <p:nvPr/>
        </p:nvSpPr>
        <p:spPr bwMode="auto">
          <a:xfrm>
            <a:off x="2124075" y="285432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90119" name="Text Box 49">
            <a:extLst>
              <a:ext uri="{FF2B5EF4-FFF2-40B4-BE49-F238E27FC236}">
                <a16:creationId xmlns:a16="http://schemas.microsoft.com/office/drawing/2014/main" id="{6B039D27-AF12-405E-9C94-7FC274084A26}"/>
              </a:ext>
            </a:extLst>
          </p:cNvPr>
          <p:cNvSpPr txBox="1">
            <a:spLocks noChangeArrowheads="1"/>
          </p:cNvSpPr>
          <p:nvPr/>
        </p:nvSpPr>
        <p:spPr bwMode="auto">
          <a:xfrm>
            <a:off x="3203575" y="3646488"/>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6</a:t>
            </a:r>
            <a:endParaRPr kumimoji="1" lang="en-US" altLang="zh-CN" sz="3200">
              <a:latin typeface="楷体_GB2312" pitchFamily="49" charset="-122"/>
              <a:ea typeface="楷体_GB2312" pitchFamily="49" charset="-122"/>
            </a:endParaRPr>
          </a:p>
        </p:txBody>
      </p:sp>
      <p:sp>
        <p:nvSpPr>
          <p:cNvPr id="90120" name="Text Box 50">
            <a:extLst>
              <a:ext uri="{FF2B5EF4-FFF2-40B4-BE49-F238E27FC236}">
                <a16:creationId xmlns:a16="http://schemas.microsoft.com/office/drawing/2014/main" id="{423BA8A1-7103-4D9D-B27E-E318A52A6FCA}"/>
              </a:ext>
            </a:extLst>
          </p:cNvPr>
          <p:cNvSpPr txBox="1">
            <a:spLocks noChangeArrowheads="1"/>
          </p:cNvSpPr>
          <p:nvPr/>
        </p:nvSpPr>
        <p:spPr bwMode="auto">
          <a:xfrm>
            <a:off x="5343525" y="3608388"/>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3</a:t>
            </a:r>
            <a:endParaRPr kumimoji="1" lang="en-US" altLang="zh-CN" sz="3200">
              <a:latin typeface="楷体_GB2312" pitchFamily="49" charset="-122"/>
              <a:ea typeface="楷体_GB2312" pitchFamily="49" charset="-122"/>
            </a:endParaRPr>
          </a:p>
        </p:txBody>
      </p:sp>
      <p:sp>
        <p:nvSpPr>
          <p:cNvPr id="90121" name="Text Box 51">
            <a:extLst>
              <a:ext uri="{FF2B5EF4-FFF2-40B4-BE49-F238E27FC236}">
                <a16:creationId xmlns:a16="http://schemas.microsoft.com/office/drawing/2014/main" id="{7D086BC8-E4AD-425A-8305-116EE9F2CAD2}"/>
              </a:ext>
            </a:extLst>
          </p:cNvPr>
          <p:cNvSpPr txBox="1">
            <a:spLocks noChangeArrowheads="1"/>
          </p:cNvSpPr>
          <p:nvPr/>
        </p:nvSpPr>
        <p:spPr bwMode="auto">
          <a:xfrm>
            <a:off x="4284663" y="2816225"/>
            <a:ext cx="381000" cy="396875"/>
          </a:xfrm>
          <a:prstGeom prst="rect">
            <a:avLst/>
          </a:prstGeom>
          <a:noFill/>
          <a:ln>
            <a:noFill/>
          </a:ln>
          <a:effectLst/>
          <a:extLst>
            <a:ext uri="{909E8E84-426E-40DD-AFC4-6F175D3DCCD1}">
              <a14:hiddenFill xmlns:a14="http://schemas.microsoft.com/office/drawing/2010/main">
                <a:solidFill>
                  <a:srgbClr val="0099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buClr>
                <a:schemeClr val="accent1"/>
              </a:buClr>
              <a:buSzPct val="80000"/>
              <a:buFont typeface="Wingdings" panose="05000000000000000000" pitchFamily="2" charset="2"/>
              <a:buNone/>
            </a:pPr>
            <a:r>
              <a:rPr kumimoji="1" lang="en-US" altLang="zh-CN" sz="2000">
                <a:solidFill>
                  <a:srgbClr val="A50021"/>
                </a:solidFill>
              </a:rPr>
              <a:t>1</a:t>
            </a:r>
            <a:endParaRPr kumimoji="1" lang="en-US" altLang="zh-CN" sz="3200">
              <a:latin typeface="楷体_GB2312" pitchFamily="49" charset="-122"/>
              <a:ea typeface="楷体_GB2312" pitchFamily="49" charset="-122"/>
            </a:endParaRPr>
          </a:p>
        </p:txBody>
      </p:sp>
      <p:sp>
        <p:nvSpPr>
          <p:cNvPr id="90122" name="Text Box 52">
            <a:extLst>
              <a:ext uri="{FF2B5EF4-FFF2-40B4-BE49-F238E27FC236}">
                <a16:creationId xmlns:a16="http://schemas.microsoft.com/office/drawing/2014/main" id="{B7E2459C-E45F-426D-A5CC-C1DF839603EF}"/>
              </a:ext>
            </a:extLst>
          </p:cNvPr>
          <p:cNvSpPr txBox="1">
            <a:spLocks noChangeArrowheads="1"/>
          </p:cNvSpPr>
          <p:nvPr/>
        </p:nvSpPr>
        <p:spPr bwMode="auto">
          <a:xfrm>
            <a:off x="5435600" y="2097088"/>
            <a:ext cx="3254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000">
                <a:solidFill>
                  <a:srgbClr val="A50021"/>
                </a:solidFill>
              </a:rPr>
              <a:t>3</a:t>
            </a:r>
          </a:p>
        </p:txBody>
      </p:sp>
      <p:sp>
        <p:nvSpPr>
          <p:cNvPr id="738357" name="Line 53">
            <a:extLst>
              <a:ext uri="{FF2B5EF4-FFF2-40B4-BE49-F238E27FC236}">
                <a16:creationId xmlns:a16="http://schemas.microsoft.com/office/drawing/2014/main" id="{B2AC8A36-5D68-44AE-B64D-1EDEE88D18FA}"/>
              </a:ext>
            </a:extLst>
          </p:cNvPr>
          <p:cNvSpPr>
            <a:spLocks noChangeShapeType="1"/>
          </p:cNvSpPr>
          <p:nvPr/>
        </p:nvSpPr>
        <p:spPr bwMode="auto">
          <a:xfrm flipV="1">
            <a:off x="5486400" y="2185988"/>
            <a:ext cx="0" cy="788987"/>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738358" name="Line 54">
            <a:extLst>
              <a:ext uri="{FF2B5EF4-FFF2-40B4-BE49-F238E27FC236}">
                <a16:creationId xmlns:a16="http://schemas.microsoft.com/office/drawing/2014/main" id="{9E758A83-1477-4F94-8ABE-71B24A52B7F1}"/>
              </a:ext>
            </a:extLst>
          </p:cNvPr>
          <p:cNvSpPr>
            <a:spLocks noChangeShapeType="1"/>
          </p:cNvSpPr>
          <p:nvPr/>
        </p:nvSpPr>
        <p:spPr bwMode="auto">
          <a:xfrm flipH="1">
            <a:off x="4391025" y="2182813"/>
            <a:ext cx="12239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738359" name="Line 55">
            <a:extLst>
              <a:ext uri="{FF2B5EF4-FFF2-40B4-BE49-F238E27FC236}">
                <a16:creationId xmlns:a16="http://schemas.microsoft.com/office/drawing/2014/main" id="{BE015245-E9EB-4F35-9C89-C4E7CC48C377}"/>
              </a:ext>
            </a:extLst>
          </p:cNvPr>
          <p:cNvSpPr>
            <a:spLocks noChangeShapeType="1"/>
          </p:cNvSpPr>
          <p:nvPr/>
        </p:nvSpPr>
        <p:spPr bwMode="auto">
          <a:xfrm flipH="1">
            <a:off x="4538663" y="2224088"/>
            <a:ext cx="7937" cy="78105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738360" name="Line 56">
            <a:extLst>
              <a:ext uri="{FF2B5EF4-FFF2-40B4-BE49-F238E27FC236}">
                <a16:creationId xmlns:a16="http://schemas.microsoft.com/office/drawing/2014/main" id="{939CE2F9-A527-4688-AC87-97493A040ABE}"/>
              </a:ext>
            </a:extLst>
          </p:cNvPr>
          <p:cNvSpPr>
            <a:spLocks noChangeShapeType="1"/>
          </p:cNvSpPr>
          <p:nvPr/>
        </p:nvSpPr>
        <p:spPr bwMode="auto">
          <a:xfrm>
            <a:off x="4532313" y="2965450"/>
            <a:ext cx="1147762" cy="1111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0127" name="Rectangle 57">
            <a:extLst>
              <a:ext uri="{FF2B5EF4-FFF2-40B4-BE49-F238E27FC236}">
                <a16:creationId xmlns:a16="http://schemas.microsoft.com/office/drawing/2014/main" id="{91D45230-5C77-4532-82D5-3D7EBF78BF0A}"/>
              </a:ext>
            </a:extLst>
          </p:cNvPr>
          <p:cNvSpPr>
            <a:spLocks noChangeArrowheads="1"/>
          </p:cNvSpPr>
          <p:nvPr/>
        </p:nvSpPr>
        <p:spPr bwMode="auto">
          <a:xfrm>
            <a:off x="2652713" y="1711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90128" name="Rectangle 58">
            <a:extLst>
              <a:ext uri="{FF2B5EF4-FFF2-40B4-BE49-F238E27FC236}">
                <a16:creationId xmlns:a16="http://schemas.microsoft.com/office/drawing/2014/main" id="{A5CC414D-30B7-4A06-A552-992EB6FF2DCC}"/>
              </a:ext>
            </a:extLst>
          </p:cNvPr>
          <p:cNvSpPr>
            <a:spLocks noChangeArrowheads="1"/>
          </p:cNvSpPr>
          <p:nvPr/>
        </p:nvSpPr>
        <p:spPr bwMode="auto">
          <a:xfrm>
            <a:off x="3771900" y="1711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11</a:t>
            </a:r>
          </a:p>
        </p:txBody>
      </p:sp>
      <p:sp>
        <p:nvSpPr>
          <p:cNvPr id="90129" name="Rectangle 59">
            <a:extLst>
              <a:ext uri="{FF2B5EF4-FFF2-40B4-BE49-F238E27FC236}">
                <a16:creationId xmlns:a16="http://schemas.microsoft.com/office/drawing/2014/main" id="{3BFC0070-0F68-4301-9894-36CE3FB48B11}"/>
              </a:ext>
            </a:extLst>
          </p:cNvPr>
          <p:cNvSpPr>
            <a:spLocks noChangeArrowheads="1"/>
          </p:cNvSpPr>
          <p:nvPr/>
        </p:nvSpPr>
        <p:spPr bwMode="auto">
          <a:xfrm>
            <a:off x="4876800" y="1711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3</a:t>
            </a:r>
          </a:p>
        </p:txBody>
      </p:sp>
      <p:sp>
        <p:nvSpPr>
          <p:cNvPr id="90130" name="Rectangle 60">
            <a:extLst>
              <a:ext uri="{FF2B5EF4-FFF2-40B4-BE49-F238E27FC236}">
                <a16:creationId xmlns:a16="http://schemas.microsoft.com/office/drawing/2014/main" id="{D2B50AB2-E41B-4C38-8F3B-2905A466E503}"/>
              </a:ext>
            </a:extLst>
          </p:cNvPr>
          <p:cNvSpPr>
            <a:spLocks noChangeArrowheads="1"/>
          </p:cNvSpPr>
          <p:nvPr/>
        </p:nvSpPr>
        <p:spPr bwMode="auto">
          <a:xfrm>
            <a:off x="6018213" y="16954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90131" name="Rectangle 61">
            <a:extLst>
              <a:ext uri="{FF2B5EF4-FFF2-40B4-BE49-F238E27FC236}">
                <a16:creationId xmlns:a16="http://schemas.microsoft.com/office/drawing/2014/main" id="{0B6D133E-FA21-47C6-BB16-91DDE2E8BCE8}"/>
              </a:ext>
            </a:extLst>
          </p:cNvPr>
          <p:cNvSpPr>
            <a:spLocks noChangeArrowheads="1"/>
          </p:cNvSpPr>
          <p:nvPr/>
        </p:nvSpPr>
        <p:spPr bwMode="auto">
          <a:xfrm>
            <a:off x="2657475" y="24860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a:t>
            </a:r>
          </a:p>
        </p:txBody>
      </p:sp>
      <p:sp>
        <p:nvSpPr>
          <p:cNvPr id="90132" name="Rectangle 62">
            <a:extLst>
              <a:ext uri="{FF2B5EF4-FFF2-40B4-BE49-F238E27FC236}">
                <a16:creationId xmlns:a16="http://schemas.microsoft.com/office/drawing/2014/main" id="{84690131-8EB2-42C9-A78B-A42C05CE3958}"/>
              </a:ext>
            </a:extLst>
          </p:cNvPr>
          <p:cNvSpPr>
            <a:spLocks noChangeArrowheads="1"/>
          </p:cNvSpPr>
          <p:nvPr/>
        </p:nvSpPr>
        <p:spPr bwMode="auto">
          <a:xfrm>
            <a:off x="3787775" y="24701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9</a:t>
            </a:r>
          </a:p>
        </p:txBody>
      </p:sp>
      <p:sp>
        <p:nvSpPr>
          <p:cNvPr id="90133" name="Rectangle 63">
            <a:extLst>
              <a:ext uri="{FF2B5EF4-FFF2-40B4-BE49-F238E27FC236}">
                <a16:creationId xmlns:a16="http://schemas.microsoft.com/office/drawing/2014/main" id="{866FB73D-8F86-4DDD-A4F3-0C697323A67E}"/>
              </a:ext>
            </a:extLst>
          </p:cNvPr>
          <p:cNvSpPr>
            <a:spLocks noChangeArrowheads="1"/>
          </p:cNvSpPr>
          <p:nvPr/>
        </p:nvSpPr>
        <p:spPr bwMode="auto">
          <a:xfrm>
            <a:off x="4829175" y="245427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2</a:t>
            </a:r>
          </a:p>
        </p:txBody>
      </p:sp>
      <p:sp>
        <p:nvSpPr>
          <p:cNvPr id="90134" name="Rectangle 64">
            <a:extLst>
              <a:ext uri="{FF2B5EF4-FFF2-40B4-BE49-F238E27FC236}">
                <a16:creationId xmlns:a16="http://schemas.microsoft.com/office/drawing/2014/main" id="{2D375DDC-E6B2-425B-96B8-FBACE9B94346}"/>
              </a:ext>
            </a:extLst>
          </p:cNvPr>
          <p:cNvSpPr>
            <a:spLocks noChangeArrowheads="1"/>
          </p:cNvSpPr>
          <p:nvPr/>
        </p:nvSpPr>
        <p:spPr bwMode="auto">
          <a:xfrm>
            <a:off x="2662238" y="32448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7</a:t>
            </a:r>
          </a:p>
        </p:txBody>
      </p:sp>
      <p:sp>
        <p:nvSpPr>
          <p:cNvPr id="90135" name="Rectangle 65">
            <a:extLst>
              <a:ext uri="{FF2B5EF4-FFF2-40B4-BE49-F238E27FC236}">
                <a16:creationId xmlns:a16="http://schemas.microsoft.com/office/drawing/2014/main" id="{BED27D98-1961-4971-926F-D1D69AF11CBE}"/>
              </a:ext>
            </a:extLst>
          </p:cNvPr>
          <p:cNvSpPr>
            <a:spLocks noChangeArrowheads="1"/>
          </p:cNvSpPr>
          <p:nvPr/>
        </p:nvSpPr>
        <p:spPr bwMode="auto">
          <a:xfrm>
            <a:off x="3787775" y="3233738"/>
            <a:ext cx="498475" cy="471487"/>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4</a:t>
            </a:r>
          </a:p>
        </p:txBody>
      </p:sp>
      <p:sp>
        <p:nvSpPr>
          <p:cNvPr id="90136" name="Rectangle 66">
            <a:extLst>
              <a:ext uri="{FF2B5EF4-FFF2-40B4-BE49-F238E27FC236}">
                <a16:creationId xmlns:a16="http://schemas.microsoft.com/office/drawing/2014/main" id="{54342C06-8FF2-4945-B108-3B10E75E0E1D}"/>
              </a:ext>
            </a:extLst>
          </p:cNvPr>
          <p:cNvSpPr>
            <a:spLocks noChangeArrowheads="1"/>
          </p:cNvSpPr>
          <p:nvPr/>
        </p:nvSpPr>
        <p:spPr bwMode="auto">
          <a:xfrm>
            <a:off x="4897438" y="32321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10</a:t>
            </a:r>
          </a:p>
        </p:txBody>
      </p:sp>
      <p:sp>
        <p:nvSpPr>
          <p:cNvPr id="90137" name="Rectangle 67">
            <a:extLst>
              <a:ext uri="{FF2B5EF4-FFF2-40B4-BE49-F238E27FC236}">
                <a16:creationId xmlns:a16="http://schemas.microsoft.com/office/drawing/2014/main" id="{A54179CA-00A5-4993-8EEB-41AAAC6622C7}"/>
              </a:ext>
            </a:extLst>
          </p:cNvPr>
          <p:cNvSpPr>
            <a:spLocks noChangeArrowheads="1"/>
          </p:cNvSpPr>
          <p:nvPr/>
        </p:nvSpPr>
        <p:spPr bwMode="auto">
          <a:xfrm>
            <a:off x="6010275" y="3235325"/>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5</a:t>
            </a:r>
          </a:p>
        </p:txBody>
      </p:sp>
      <p:sp>
        <p:nvSpPr>
          <p:cNvPr id="90138" name="Rectangle 68">
            <a:extLst>
              <a:ext uri="{FF2B5EF4-FFF2-40B4-BE49-F238E27FC236}">
                <a16:creationId xmlns:a16="http://schemas.microsoft.com/office/drawing/2014/main" id="{741C520E-28B1-4930-A7B3-2648A86F7A11}"/>
              </a:ext>
            </a:extLst>
          </p:cNvPr>
          <p:cNvSpPr>
            <a:spLocks noChangeArrowheads="1"/>
          </p:cNvSpPr>
          <p:nvPr/>
        </p:nvSpPr>
        <p:spPr bwMode="auto">
          <a:xfrm>
            <a:off x="6010275" y="2470150"/>
            <a:ext cx="498475" cy="471488"/>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en-US" altLang="zh-CN" sz="2400"/>
              <a:t>8</a:t>
            </a:r>
          </a:p>
        </p:txBody>
      </p:sp>
      <p:sp>
        <p:nvSpPr>
          <p:cNvPr id="738373" name="Rectangle 69">
            <a:extLst>
              <a:ext uri="{FF2B5EF4-FFF2-40B4-BE49-F238E27FC236}">
                <a16:creationId xmlns:a16="http://schemas.microsoft.com/office/drawing/2014/main" id="{8A0C5BB9-9ECB-4E5D-9C3F-2E1141D71C00}"/>
              </a:ext>
            </a:extLst>
          </p:cNvPr>
          <p:cNvSpPr>
            <a:spLocks noChangeArrowheads="1"/>
          </p:cNvSpPr>
          <p:nvPr/>
        </p:nvSpPr>
        <p:spPr bwMode="auto">
          <a:xfrm>
            <a:off x="1979613" y="2022475"/>
            <a:ext cx="498475" cy="471488"/>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a:t>
            </a:r>
            <a:r>
              <a:rPr kumimoji="1" lang="zh-CN" altLang="en-US" sz="2000">
                <a:solidFill>
                  <a:srgbClr val="3333FF"/>
                </a:solidFill>
                <a:effectLst>
                  <a:outerShdw blurRad="38100" dist="38100" dir="2700000" algn="tl">
                    <a:srgbClr val="000000"/>
                  </a:outerShdw>
                </a:effectLst>
              </a:rPr>
              <a:t>）</a:t>
            </a:r>
          </a:p>
        </p:txBody>
      </p:sp>
      <p:sp>
        <p:nvSpPr>
          <p:cNvPr id="738374" name="Rectangle 70">
            <a:extLst>
              <a:ext uri="{FF2B5EF4-FFF2-40B4-BE49-F238E27FC236}">
                <a16:creationId xmlns:a16="http://schemas.microsoft.com/office/drawing/2014/main" id="{CED0A6C8-A8E3-403E-AAF5-585D3F2FD935}"/>
              </a:ext>
            </a:extLst>
          </p:cNvPr>
          <p:cNvSpPr>
            <a:spLocks noChangeArrowheads="1"/>
          </p:cNvSpPr>
          <p:nvPr/>
        </p:nvSpPr>
        <p:spPr bwMode="auto">
          <a:xfrm>
            <a:off x="3059113" y="2022475"/>
            <a:ext cx="498475" cy="471488"/>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2</a:t>
            </a:r>
            <a:r>
              <a:rPr kumimoji="1" lang="zh-CN" altLang="en-US" sz="2000">
                <a:solidFill>
                  <a:srgbClr val="3333FF"/>
                </a:solidFill>
                <a:effectLst>
                  <a:outerShdw blurRad="38100" dist="38100" dir="2700000" algn="tl">
                    <a:srgbClr val="000000"/>
                  </a:outerShdw>
                </a:effectLst>
              </a:rPr>
              <a:t>）</a:t>
            </a:r>
          </a:p>
        </p:txBody>
      </p:sp>
      <p:sp>
        <p:nvSpPr>
          <p:cNvPr id="738375" name="Rectangle 71">
            <a:extLst>
              <a:ext uri="{FF2B5EF4-FFF2-40B4-BE49-F238E27FC236}">
                <a16:creationId xmlns:a16="http://schemas.microsoft.com/office/drawing/2014/main" id="{6F796E05-223D-4291-A001-A280ECDC10A0}"/>
              </a:ext>
            </a:extLst>
          </p:cNvPr>
          <p:cNvSpPr>
            <a:spLocks noChangeArrowheads="1"/>
          </p:cNvSpPr>
          <p:nvPr/>
        </p:nvSpPr>
        <p:spPr bwMode="auto">
          <a:xfrm>
            <a:off x="3059113" y="2814638"/>
            <a:ext cx="498475" cy="471487"/>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a:t>
            </a:r>
            <a:r>
              <a:rPr kumimoji="1" lang="zh-CN" altLang="en-US" sz="2000">
                <a:solidFill>
                  <a:srgbClr val="3333FF"/>
                </a:solidFill>
                <a:effectLst>
                  <a:outerShdw blurRad="38100" dist="38100" dir="2700000" algn="tl">
                    <a:srgbClr val="000000"/>
                  </a:outerShdw>
                </a:effectLst>
              </a:rPr>
              <a:t>）</a:t>
            </a:r>
          </a:p>
        </p:txBody>
      </p:sp>
      <p:sp>
        <p:nvSpPr>
          <p:cNvPr id="738376" name="Rectangle 72">
            <a:extLst>
              <a:ext uri="{FF2B5EF4-FFF2-40B4-BE49-F238E27FC236}">
                <a16:creationId xmlns:a16="http://schemas.microsoft.com/office/drawing/2014/main" id="{D3B5DDF7-E1B8-4FB1-9FF3-1DCA4A86517A}"/>
              </a:ext>
            </a:extLst>
          </p:cNvPr>
          <p:cNvSpPr>
            <a:spLocks noChangeArrowheads="1"/>
          </p:cNvSpPr>
          <p:nvPr/>
        </p:nvSpPr>
        <p:spPr bwMode="auto">
          <a:xfrm>
            <a:off x="5364163" y="2814638"/>
            <a:ext cx="498475" cy="471487"/>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a:t>
            </a:r>
            <a:r>
              <a:rPr kumimoji="1" lang="zh-CN" altLang="en-US" sz="2000">
                <a:solidFill>
                  <a:srgbClr val="3333FF"/>
                </a:solidFill>
                <a:effectLst>
                  <a:outerShdw blurRad="38100" dist="38100" dir="2700000" algn="tl">
                    <a:srgbClr val="000000"/>
                  </a:outerShdw>
                </a:effectLst>
              </a:rPr>
              <a:t>）</a:t>
            </a:r>
          </a:p>
        </p:txBody>
      </p:sp>
      <p:sp>
        <p:nvSpPr>
          <p:cNvPr id="738377" name="Rectangle 73">
            <a:extLst>
              <a:ext uri="{FF2B5EF4-FFF2-40B4-BE49-F238E27FC236}">
                <a16:creationId xmlns:a16="http://schemas.microsoft.com/office/drawing/2014/main" id="{813352A2-96FA-4B6C-A62C-B8A3B7CF5C44}"/>
              </a:ext>
            </a:extLst>
          </p:cNvPr>
          <p:cNvSpPr>
            <a:spLocks noChangeArrowheads="1"/>
          </p:cNvSpPr>
          <p:nvPr/>
        </p:nvSpPr>
        <p:spPr bwMode="auto">
          <a:xfrm>
            <a:off x="2057400" y="3606800"/>
            <a:ext cx="498475" cy="471488"/>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10</a:t>
            </a:r>
            <a:r>
              <a:rPr kumimoji="1" lang="zh-CN" altLang="en-US" sz="2000">
                <a:solidFill>
                  <a:srgbClr val="3333FF"/>
                </a:solidFill>
                <a:effectLst>
                  <a:outerShdw blurRad="38100" dist="38100" dir="2700000" algn="tl">
                    <a:srgbClr val="000000"/>
                  </a:outerShdw>
                </a:effectLst>
              </a:rPr>
              <a:t>）</a:t>
            </a:r>
          </a:p>
        </p:txBody>
      </p:sp>
      <p:sp>
        <p:nvSpPr>
          <p:cNvPr id="738378" name="Rectangle 74">
            <a:extLst>
              <a:ext uri="{FF2B5EF4-FFF2-40B4-BE49-F238E27FC236}">
                <a16:creationId xmlns:a16="http://schemas.microsoft.com/office/drawing/2014/main" id="{BECCCE6E-E62F-442F-9D26-B60A01149025}"/>
              </a:ext>
            </a:extLst>
          </p:cNvPr>
          <p:cNvSpPr>
            <a:spLocks noChangeArrowheads="1"/>
          </p:cNvSpPr>
          <p:nvPr/>
        </p:nvSpPr>
        <p:spPr bwMode="auto">
          <a:xfrm>
            <a:off x="4284663" y="3606800"/>
            <a:ext cx="498475" cy="471488"/>
          </a:xfrm>
          <a:prstGeom prst="rect">
            <a:avLst/>
          </a:prstGeom>
          <a:noFill/>
          <a:ln>
            <a:noFill/>
          </a:ln>
          <a:effectLst/>
        </p:spPr>
        <p:txBody>
          <a:bodyPr wrap="none" anchor="ctr"/>
          <a:lstStyle/>
          <a:p>
            <a:pPr>
              <a:defRPr/>
            </a:pPr>
            <a:r>
              <a:rPr kumimoji="1" lang="zh-CN" altLang="en-US" sz="2000">
                <a:solidFill>
                  <a:srgbClr val="3333FF"/>
                </a:solidFill>
                <a:effectLst>
                  <a:outerShdw blurRad="38100" dist="38100" dir="2700000" algn="tl">
                    <a:srgbClr val="000000"/>
                  </a:outerShdw>
                </a:effectLst>
              </a:rPr>
              <a:t>（</a:t>
            </a:r>
            <a:r>
              <a:rPr kumimoji="1" lang="en-US" altLang="zh-CN" sz="2000">
                <a:solidFill>
                  <a:srgbClr val="3333FF"/>
                </a:solidFill>
                <a:effectLst>
                  <a:outerShdw blurRad="38100" dist="38100" dir="2700000" algn="tl">
                    <a:srgbClr val="000000"/>
                  </a:outerShdw>
                </a:effectLst>
              </a:rPr>
              <a:t>12</a:t>
            </a:r>
            <a:r>
              <a:rPr kumimoji="1" lang="zh-CN" altLang="en-US" sz="2000">
                <a:solidFill>
                  <a:srgbClr val="3333FF"/>
                </a:solidFill>
                <a:effectLst>
                  <a:outerShdw blurRad="38100" dist="38100" dir="2700000" algn="tl">
                    <a:srgbClr val="000000"/>
                  </a:outerShdw>
                </a:effectLst>
              </a:rPr>
              <a:t>）</a:t>
            </a:r>
          </a:p>
        </p:txBody>
      </p:sp>
      <p:sp>
        <p:nvSpPr>
          <p:cNvPr id="738380" name="Oval 76">
            <a:extLst>
              <a:ext uri="{FF2B5EF4-FFF2-40B4-BE49-F238E27FC236}">
                <a16:creationId xmlns:a16="http://schemas.microsoft.com/office/drawing/2014/main" id="{31B109A5-74F4-4DAC-90E0-44016C4D9280}"/>
              </a:ext>
            </a:extLst>
          </p:cNvPr>
          <p:cNvSpPr>
            <a:spLocks noChangeArrowheads="1"/>
          </p:cNvSpPr>
          <p:nvPr/>
        </p:nvSpPr>
        <p:spPr bwMode="auto">
          <a:xfrm>
            <a:off x="5680075" y="2557463"/>
            <a:ext cx="309563" cy="322262"/>
          </a:xfrm>
          <a:prstGeom prst="ellipse">
            <a:avLst/>
          </a:prstGeom>
          <a:solidFill>
            <a:srgbClr val="CCFFCC"/>
          </a:solidFill>
          <a:ln w="28575" algn="ctr">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t>1</a:t>
            </a:r>
          </a:p>
        </p:txBody>
      </p:sp>
      <p:sp>
        <p:nvSpPr>
          <p:cNvPr id="738381" name="Oval 77">
            <a:extLst>
              <a:ext uri="{FF2B5EF4-FFF2-40B4-BE49-F238E27FC236}">
                <a16:creationId xmlns:a16="http://schemas.microsoft.com/office/drawing/2014/main" id="{BFDB6B3C-7BC1-4C5E-A78D-DDF535210691}"/>
              </a:ext>
            </a:extLst>
          </p:cNvPr>
          <p:cNvSpPr>
            <a:spLocks noChangeArrowheads="1"/>
          </p:cNvSpPr>
          <p:nvPr/>
        </p:nvSpPr>
        <p:spPr bwMode="auto">
          <a:xfrm>
            <a:off x="4284663" y="1773238"/>
            <a:ext cx="334962" cy="338137"/>
          </a:xfrm>
          <a:prstGeom prst="ellipse">
            <a:avLst/>
          </a:prstGeom>
          <a:solidFill>
            <a:srgbClr val="CCFFCC"/>
          </a:solidFill>
          <a:ln w="28575" algn="ctr">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t>3</a:t>
            </a:r>
          </a:p>
        </p:txBody>
      </p:sp>
      <p:sp>
        <p:nvSpPr>
          <p:cNvPr id="738382" name="Oval 78">
            <a:extLst>
              <a:ext uri="{FF2B5EF4-FFF2-40B4-BE49-F238E27FC236}">
                <a16:creationId xmlns:a16="http://schemas.microsoft.com/office/drawing/2014/main" id="{4A72F304-AA83-4F4C-BEB3-AC46FB4A9882}"/>
              </a:ext>
            </a:extLst>
          </p:cNvPr>
          <p:cNvSpPr>
            <a:spLocks noChangeArrowheads="1"/>
          </p:cNvSpPr>
          <p:nvPr/>
        </p:nvSpPr>
        <p:spPr bwMode="auto">
          <a:xfrm>
            <a:off x="5594350" y="1765300"/>
            <a:ext cx="266700" cy="271463"/>
          </a:xfrm>
          <a:prstGeom prst="ellipse">
            <a:avLst/>
          </a:prstGeom>
          <a:solidFill>
            <a:srgbClr val="CCFFCC"/>
          </a:solidFill>
          <a:ln w="28575" algn="ctr">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t>2</a:t>
            </a:r>
          </a:p>
        </p:txBody>
      </p:sp>
      <p:sp>
        <p:nvSpPr>
          <p:cNvPr id="738383" name="Oval 79">
            <a:extLst>
              <a:ext uri="{FF2B5EF4-FFF2-40B4-BE49-F238E27FC236}">
                <a16:creationId xmlns:a16="http://schemas.microsoft.com/office/drawing/2014/main" id="{BD03DB1B-8FCD-4995-88D7-A3BA3D72FC7A}"/>
              </a:ext>
            </a:extLst>
          </p:cNvPr>
          <p:cNvSpPr>
            <a:spLocks noChangeArrowheads="1"/>
          </p:cNvSpPr>
          <p:nvPr/>
        </p:nvSpPr>
        <p:spPr bwMode="auto">
          <a:xfrm>
            <a:off x="4051300" y="2867025"/>
            <a:ext cx="331788" cy="296863"/>
          </a:xfrm>
          <a:prstGeom prst="ellipse">
            <a:avLst/>
          </a:prstGeom>
          <a:solidFill>
            <a:srgbClr val="CCFFCC"/>
          </a:solidFill>
          <a:ln w="28575" algn="ctr">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t>4</a:t>
            </a:r>
          </a:p>
        </p:txBody>
      </p:sp>
      <p:grpSp>
        <p:nvGrpSpPr>
          <p:cNvPr id="82" name="组合 81">
            <a:extLst>
              <a:ext uri="{FF2B5EF4-FFF2-40B4-BE49-F238E27FC236}">
                <a16:creationId xmlns:a16="http://schemas.microsoft.com/office/drawing/2014/main" id="{D425B77B-8F49-4F2B-B73D-3E6E25655B85}"/>
              </a:ext>
            </a:extLst>
          </p:cNvPr>
          <p:cNvGrpSpPr>
            <a:grpSpLocks/>
          </p:cNvGrpSpPr>
          <p:nvPr/>
        </p:nvGrpSpPr>
        <p:grpSpPr bwMode="auto">
          <a:xfrm>
            <a:off x="500063" y="4813300"/>
            <a:ext cx="8137525" cy="1447800"/>
            <a:chOff x="304800" y="4643438"/>
            <a:chExt cx="8137525" cy="1448534"/>
          </a:xfrm>
        </p:grpSpPr>
        <p:sp>
          <p:nvSpPr>
            <p:cNvPr id="83" name="Text Box 83">
              <a:extLst>
                <a:ext uri="{FF2B5EF4-FFF2-40B4-BE49-F238E27FC236}">
                  <a16:creationId xmlns:a16="http://schemas.microsoft.com/office/drawing/2014/main" id="{5B1E9B6B-0015-42B8-B6B4-2FB6358AE265}"/>
                </a:ext>
              </a:extLst>
            </p:cNvPr>
            <p:cNvSpPr txBox="1">
              <a:spLocks noChangeArrowheads="1"/>
            </p:cNvSpPr>
            <p:nvPr/>
          </p:nvSpPr>
          <p:spPr bwMode="auto">
            <a:xfrm>
              <a:off x="304800" y="4643438"/>
              <a:ext cx="5472112" cy="462197"/>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第</a:t>
              </a:r>
              <a:r>
                <a:rPr lang="en-US" altLang="zh-CN" dirty="0">
                  <a:solidFill>
                    <a:schemeClr val="tx1"/>
                  </a:solidFill>
                  <a:latin typeface="+mn-ea"/>
                  <a:ea typeface="+mn-ea"/>
                </a:rPr>
                <a:t>2</a:t>
              </a:r>
              <a:r>
                <a:rPr lang="zh-CN" altLang="en-US" dirty="0">
                  <a:solidFill>
                    <a:schemeClr val="tx1"/>
                  </a:solidFill>
                  <a:latin typeface="+mn-ea"/>
                  <a:ea typeface="+mn-ea"/>
                </a:rPr>
                <a:t>步 顶点编号</a:t>
              </a:r>
            </a:p>
          </p:txBody>
        </p:sp>
        <p:sp>
          <p:nvSpPr>
            <p:cNvPr id="90152" name="Text Box 84">
              <a:extLst>
                <a:ext uri="{FF2B5EF4-FFF2-40B4-BE49-F238E27FC236}">
                  <a16:creationId xmlns:a16="http://schemas.microsoft.com/office/drawing/2014/main" id="{C344CAD8-0C65-4143-A3E3-FDE68C04842C}"/>
                </a:ext>
              </a:extLst>
            </p:cNvPr>
            <p:cNvSpPr txBox="1">
              <a:spLocks noChangeArrowheads="1"/>
            </p:cNvSpPr>
            <p:nvPr/>
          </p:nvSpPr>
          <p:spPr bwMode="auto">
            <a:xfrm>
              <a:off x="304800" y="5260975"/>
              <a:ext cx="8137525" cy="830997"/>
            </a:xfrm>
            <a:prstGeom prst="rect">
              <a:avLst/>
            </a:prstGeom>
            <a:solidFill>
              <a:srgbClr val="66FFFF"/>
            </a:solidFill>
            <a:ln w="28575" algn="ctr">
              <a:solidFill>
                <a:schemeClr val="bg2"/>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zh-CN" altLang="en-US" sz="2400" b="1">
                  <a:latin typeface="Times New Roman" panose="02020603050405020304" pitchFamily="18" charset="0"/>
                  <a:ea typeface="华文细黑" panose="02010600040101010101" pitchFamily="2" charset="-122"/>
                  <a:cs typeface="Times New Roman" panose="02020603050405020304" pitchFamily="18" charset="0"/>
                </a:rPr>
                <a:t>以空格</a:t>
              </a:r>
              <a:r>
                <a:rPr kumimoji="1" lang="en-US" altLang="zh-CN" sz="2400" b="1">
                  <a:latin typeface="Times New Roman" panose="02020603050405020304" pitchFamily="18" charset="0"/>
                  <a:ea typeface="华文细黑" panose="02010600040101010101" pitchFamily="2" charset="-122"/>
                  <a:cs typeface="Times New Roman" panose="02020603050405020304" pitchFamily="18" charset="0"/>
                </a:rPr>
                <a:t>(</a:t>
              </a:r>
              <a:r>
                <a:rPr kumimoji="1" lang="en-US" altLang="zh-CN" sz="2400" b="1" i="1">
                  <a:latin typeface="Times New Roman" panose="02020603050405020304" pitchFamily="18" charset="0"/>
                  <a:ea typeface="华文细黑" panose="02010600040101010101" pitchFamily="2" charset="-122"/>
                  <a:cs typeface="Times New Roman" panose="02020603050405020304" pitchFamily="18" charset="0"/>
                </a:rPr>
                <a:t>A</a:t>
              </a:r>
              <a:r>
                <a:rPr kumimoji="1" lang="en-US" altLang="zh-CN" sz="2400" b="1" i="1" baseline="-25000">
                  <a:latin typeface="Times New Roman" panose="02020603050405020304" pitchFamily="18" charset="0"/>
                  <a:ea typeface="华文细黑" panose="02010600040101010101" pitchFamily="2" charset="-122"/>
                  <a:cs typeface="Times New Roman" panose="02020603050405020304" pitchFamily="18" charset="0"/>
                </a:rPr>
                <a:t>k</a:t>
              </a:r>
              <a:r>
                <a:rPr kumimoji="1" lang="en-US" altLang="zh-CN" sz="2400" b="1">
                  <a:latin typeface="Times New Roman" panose="02020603050405020304" pitchFamily="18" charset="0"/>
                  <a:ea typeface="华文细黑" panose="02010600040101010101" pitchFamily="2" charset="-122"/>
                  <a:cs typeface="Times New Roman" panose="02020603050405020304" pitchFamily="18" charset="0"/>
                </a:rPr>
                <a:t>,</a:t>
              </a:r>
              <a:r>
                <a:rPr kumimoji="1" lang="en-US" altLang="zh-CN" sz="2400" b="1" i="1">
                  <a:latin typeface="Times New Roman" panose="02020603050405020304" pitchFamily="18" charset="0"/>
                  <a:ea typeface="华文细黑" panose="02010600040101010101" pitchFamily="2" charset="-122"/>
                  <a:cs typeface="Times New Roman" panose="02020603050405020304" pitchFamily="18" charset="0"/>
                </a:rPr>
                <a:t>B</a:t>
              </a:r>
              <a:r>
                <a:rPr kumimoji="1" lang="en-US" altLang="zh-CN" sz="2400" b="1" i="1" baseline="-25000">
                  <a:latin typeface="Times New Roman" panose="02020603050405020304" pitchFamily="18" charset="0"/>
                  <a:ea typeface="华文细黑" panose="02010600040101010101" pitchFamily="2" charset="-122"/>
                  <a:cs typeface="Times New Roman" panose="02020603050405020304" pitchFamily="18" charset="0"/>
                </a:rPr>
                <a:t>l</a:t>
              </a:r>
              <a:r>
                <a:rPr kumimoji="1" lang="en-US" altLang="zh-CN" sz="2400" b="1">
                  <a:latin typeface="Times New Roman" panose="02020603050405020304" pitchFamily="18" charset="0"/>
                  <a:ea typeface="华文细黑" panose="02010600040101010101" pitchFamily="2" charset="-122"/>
                  <a:cs typeface="Times New Roman" panose="02020603050405020304" pitchFamily="18" charset="0"/>
                </a:rPr>
                <a:t>)(</a:t>
              </a:r>
              <a:r>
                <a:rPr kumimoji="1" lang="zh-CN" altLang="en-US" sz="2400" b="1">
                  <a:latin typeface="Times New Roman" panose="02020603050405020304" pitchFamily="18" charset="0"/>
                  <a:ea typeface="华文细黑" panose="02010600040101010101" pitchFamily="2" charset="-122"/>
                  <a:cs typeface="Times New Roman" panose="02020603050405020304" pitchFamily="18" charset="0"/>
                </a:rPr>
                <a:t>或进基变量</a:t>
              </a:r>
              <a:r>
                <a:rPr kumimoji="1" lang="en-US" altLang="zh-CN" sz="2400" b="1" i="1">
                  <a:latin typeface="Times New Roman" panose="02020603050405020304" pitchFamily="18" charset="0"/>
                  <a:ea typeface="华文细黑" panose="02010600040101010101" pitchFamily="2" charset="-122"/>
                  <a:cs typeface="Times New Roman" panose="02020603050405020304" pitchFamily="18" charset="0"/>
                </a:rPr>
                <a:t>x</a:t>
              </a:r>
              <a:r>
                <a:rPr kumimoji="1" lang="en-US" altLang="zh-CN" sz="2400" b="1" i="1" baseline="-25000">
                  <a:latin typeface="Times New Roman" panose="02020603050405020304" pitchFamily="18" charset="0"/>
                  <a:ea typeface="华文细黑" panose="02010600040101010101" pitchFamily="2" charset="-122"/>
                  <a:cs typeface="Times New Roman" panose="02020603050405020304" pitchFamily="18" charset="0"/>
                </a:rPr>
                <a:t>kl</a:t>
              </a:r>
              <a:r>
                <a:rPr kumimoji="1" lang="zh-CN" altLang="en-US" sz="2400" b="1">
                  <a:latin typeface="Times New Roman" panose="02020603050405020304" pitchFamily="18" charset="0"/>
                  <a:ea typeface="华文细黑" panose="02010600040101010101" pitchFamily="2" charset="-122"/>
                  <a:cs typeface="Times New Roman" panose="02020603050405020304" pitchFamily="18" charset="0"/>
                </a:rPr>
                <a:t>）为第一个奇数顶点，沿闭回路的顺（或逆）时针方向前进，对闭回路上的顶点依次编号</a:t>
              </a:r>
              <a:r>
                <a:rPr kumimoji="1" lang="zh-CN" altLang="en-US" sz="2400" b="1">
                  <a:latin typeface="华文细黑" panose="02010600040101010101" pitchFamily="2" charset="-122"/>
                  <a:ea typeface="华文细黑" panose="02010600040101010101" pitchFamily="2" charset="-122"/>
                  <a:cs typeface="Times New Roman" panose="02020603050405020304" pitchFamily="18" charset="0"/>
                </a:rPr>
                <a:t>。</a:t>
              </a:r>
              <a:endParaRPr kumimoji="1" lang="zh-CN" altLang="en-US" sz="2400" b="1">
                <a:latin typeface="Times New Roman" panose="02020603050405020304" pitchFamily="18" charset="0"/>
                <a:ea typeface="华文细黑" panose="02010600040101010101" pitchFamily="2" charset="-122"/>
                <a:cs typeface="Times New Roman" panose="02020603050405020304" pitchFamily="18" charset="0"/>
              </a:endParaRPr>
            </a:p>
          </p:txBody>
        </p:sp>
      </p:grpSp>
      <p:graphicFrame>
        <p:nvGraphicFramePr>
          <p:cNvPr id="85" name="对象 84">
            <a:extLst>
              <a:ext uri="{FF2B5EF4-FFF2-40B4-BE49-F238E27FC236}">
                <a16:creationId xmlns:a16="http://schemas.microsoft.com/office/drawing/2014/main" id="{D56D86EA-397E-48B7-B019-121029BCD14B}"/>
              </a:ext>
            </a:extLst>
          </p:cNvPr>
          <p:cNvGraphicFramePr>
            <a:graphicFrameLocks noChangeAspect="1"/>
          </p:cNvGraphicFramePr>
          <p:nvPr/>
        </p:nvGraphicFramePr>
        <p:xfrm>
          <a:off x="965200" y="315913"/>
          <a:ext cx="6172200" cy="566737"/>
        </p:xfrm>
        <a:graphic>
          <a:graphicData uri="http://schemas.openxmlformats.org/presentationml/2006/ole">
            <mc:AlternateContent xmlns:mc="http://schemas.openxmlformats.org/markup-compatibility/2006">
              <mc:Choice xmlns:v="urn:schemas-microsoft-com:vml" Requires="v">
                <p:oleObj spid="_x0000_s90201" name="Equation" r:id="rId3" imgW="2768600" imgH="254000" progId="Equation.DSMT4">
                  <p:embed/>
                </p:oleObj>
              </mc:Choice>
              <mc:Fallback>
                <p:oleObj name="Equation" r:id="rId3" imgW="2768600" imgH="254000" progId="Equation.DSMT4">
                  <p:embed/>
                  <p:pic>
                    <p:nvPicPr>
                      <p:cNvPr id="0" name="对象 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5200" y="315913"/>
                        <a:ext cx="6172200" cy="566737"/>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738357"/>
                                        </p:tgtEl>
                                        <p:attrNameLst>
                                          <p:attrName>style.visibility</p:attrName>
                                        </p:attrNameLst>
                                      </p:cBhvr>
                                      <p:to>
                                        <p:strVal val="visible"/>
                                      </p:to>
                                    </p:set>
                                    <p:animEffect transition="in" filter="wipe(down)">
                                      <p:cBhvr>
                                        <p:cTn id="7" dur="500"/>
                                        <p:tgtEl>
                                          <p:spTgt spid="73835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738358"/>
                                        </p:tgtEl>
                                        <p:attrNameLst>
                                          <p:attrName>style.visibility</p:attrName>
                                        </p:attrNameLst>
                                      </p:cBhvr>
                                      <p:to>
                                        <p:strVal val="visible"/>
                                      </p:to>
                                    </p:set>
                                    <p:animEffect transition="in" filter="wipe(down)">
                                      <p:cBhvr>
                                        <p:cTn id="12" dur="500"/>
                                        <p:tgtEl>
                                          <p:spTgt spid="7383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738359"/>
                                        </p:tgtEl>
                                        <p:attrNameLst>
                                          <p:attrName>style.visibility</p:attrName>
                                        </p:attrNameLst>
                                      </p:cBhvr>
                                      <p:to>
                                        <p:strVal val="visible"/>
                                      </p:to>
                                    </p:set>
                                    <p:animEffect transition="in" filter="wipe(down)">
                                      <p:cBhvr>
                                        <p:cTn id="17" dur="500"/>
                                        <p:tgtEl>
                                          <p:spTgt spid="73835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738360"/>
                                        </p:tgtEl>
                                        <p:attrNameLst>
                                          <p:attrName>style.visibility</p:attrName>
                                        </p:attrNameLst>
                                      </p:cBhvr>
                                      <p:to>
                                        <p:strVal val="visible"/>
                                      </p:to>
                                    </p:set>
                                    <p:animEffect transition="in" filter="wipe(down)">
                                      <p:cBhvr>
                                        <p:cTn id="22" dur="500"/>
                                        <p:tgtEl>
                                          <p:spTgt spid="7383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85"/>
                                        </p:tgtEl>
                                        <p:attrNameLst>
                                          <p:attrName>style.visibility</p:attrName>
                                        </p:attrNameLst>
                                      </p:cBhvr>
                                      <p:to>
                                        <p:strVal val="visible"/>
                                      </p:to>
                                    </p:set>
                                    <p:animEffect transition="in" filter="randombar(horizontal)">
                                      <p:cBhvr>
                                        <p:cTn id="27" dur="500"/>
                                        <p:tgtEl>
                                          <p:spTgt spid="8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0"/>
                                          </p:stCondLst>
                                        </p:cTn>
                                        <p:tgtEl>
                                          <p:spTgt spid="82"/>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38380"/>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38382"/>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38381"/>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7383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8380" grpId="0" animBg="1"/>
      <p:bldP spid="738381" grpId="0" animBg="1"/>
      <p:bldP spid="738382" grpId="0" animBg="1"/>
      <p:bldP spid="738383"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descr="Large confetti">
            <a:extLst>
              <a:ext uri="{FF2B5EF4-FFF2-40B4-BE49-F238E27FC236}">
                <a16:creationId xmlns:a16="http://schemas.microsoft.com/office/drawing/2014/main" id="{F860FC92-3B68-4430-8757-7711988D8086}"/>
              </a:ext>
            </a:extLst>
          </p:cNvPr>
          <p:cNvSpPr>
            <a:spLocks noGrp="1" noChangeArrowheads="1"/>
          </p:cNvSpPr>
          <p:nvPr>
            <p:ph type="title"/>
          </p:nvPr>
        </p:nvSpPr>
        <p:spPr/>
        <p:txBody>
          <a:bodyPr/>
          <a:lstStyle/>
          <a:p>
            <a:r>
              <a:rPr lang="zh-CN" altLang="en-US"/>
              <a:t>解的改进</a:t>
            </a:r>
            <a:r>
              <a:rPr lang="en-US" altLang="zh-CN"/>
              <a:t>-</a:t>
            </a:r>
            <a:r>
              <a:rPr lang="zh-CN" altLang="en-US"/>
              <a:t>闭回路法</a:t>
            </a:r>
          </a:p>
        </p:txBody>
      </p:sp>
      <p:grpSp>
        <p:nvGrpSpPr>
          <p:cNvPr id="3" name="组合 2">
            <a:extLst>
              <a:ext uri="{FF2B5EF4-FFF2-40B4-BE49-F238E27FC236}">
                <a16:creationId xmlns:a16="http://schemas.microsoft.com/office/drawing/2014/main" id="{4DC68D9C-2510-433C-B6E6-B4AB85CAF5A4}"/>
              </a:ext>
            </a:extLst>
          </p:cNvPr>
          <p:cNvGrpSpPr>
            <a:grpSpLocks/>
          </p:cNvGrpSpPr>
          <p:nvPr/>
        </p:nvGrpSpPr>
        <p:grpSpPr bwMode="auto">
          <a:xfrm>
            <a:off x="304800" y="1241425"/>
            <a:ext cx="8137525" cy="1447800"/>
            <a:chOff x="304800" y="4643438"/>
            <a:chExt cx="8137525" cy="1448534"/>
          </a:xfrm>
        </p:grpSpPr>
        <p:sp>
          <p:nvSpPr>
            <p:cNvPr id="32" name="Text Box 83">
              <a:extLst>
                <a:ext uri="{FF2B5EF4-FFF2-40B4-BE49-F238E27FC236}">
                  <a16:creationId xmlns:a16="http://schemas.microsoft.com/office/drawing/2014/main" id="{A3186C1A-81FA-4BB3-A953-A9CBE71B17B9}"/>
                </a:ext>
              </a:extLst>
            </p:cNvPr>
            <p:cNvSpPr txBox="1">
              <a:spLocks noChangeArrowheads="1"/>
            </p:cNvSpPr>
            <p:nvPr/>
          </p:nvSpPr>
          <p:spPr bwMode="auto">
            <a:xfrm>
              <a:off x="304800" y="4643438"/>
              <a:ext cx="5472113" cy="462197"/>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第</a:t>
              </a:r>
              <a:r>
                <a:rPr lang="en-US" altLang="zh-CN" dirty="0">
                  <a:solidFill>
                    <a:schemeClr val="tx1"/>
                  </a:solidFill>
                  <a:latin typeface="+mn-ea"/>
                  <a:ea typeface="+mn-ea"/>
                </a:rPr>
                <a:t>3</a:t>
              </a:r>
              <a:r>
                <a:rPr lang="zh-CN" altLang="en-US" dirty="0">
                  <a:solidFill>
                    <a:schemeClr val="tx1"/>
                  </a:solidFill>
                  <a:latin typeface="+mn-ea"/>
                  <a:ea typeface="+mn-ea"/>
                </a:rPr>
                <a:t>步 确定换出基的变量</a:t>
              </a:r>
            </a:p>
          </p:txBody>
        </p:sp>
        <p:sp>
          <p:nvSpPr>
            <p:cNvPr id="91145" name="Text Box 84">
              <a:extLst>
                <a:ext uri="{FF2B5EF4-FFF2-40B4-BE49-F238E27FC236}">
                  <a16:creationId xmlns:a16="http://schemas.microsoft.com/office/drawing/2014/main" id="{FB2B5533-2D06-405B-8BC9-BABFA774352F}"/>
                </a:ext>
              </a:extLst>
            </p:cNvPr>
            <p:cNvSpPr txBox="1">
              <a:spLocks noChangeArrowheads="1"/>
            </p:cNvSpPr>
            <p:nvPr/>
          </p:nvSpPr>
          <p:spPr bwMode="auto">
            <a:xfrm>
              <a:off x="304800" y="5260975"/>
              <a:ext cx="8137525" cy="830997"/>
            </a:xfrm>
            <a:prstGeom prst="rect">
              <a:avLst/>
            </a:prstGeom>
            <a:solidFill>
              <a:srgbClr val="66FFFF"/>
            </a:solidFill>
            <a:ln w="28575" algn="ctr">
              <a:solidFill>
                <a:schemeClr val="bg2"/>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zh-CN" altLang="en-US" sz="2400" b="1">
                  <a:latin typeface="Times New Roman" panose="02020603050405020304" pitchFamily="18" charset="0"/>
                  <a:ea typeface="华文细黑" panose="02010600040101010101" pitchFamily="2" charset="-122"/>
                </a:rPr>
                <a:t>以进基变量</a:t>
              </a:r>
              <a:r>
                <a:rPr kumimoji="1" lang="en-US" altLang="zh-CN" sz="2400" b="1" i="1">
                  <a:latin typeface="Times New Roman" panose="02020603050405020304" pitchFamily="18" charset="0"/>
                  <a:ea typeface="华文细黑" panose="02010600040101010101" pitchFamily="2" charset="-122"/>
                </a:rPr>
                <a:t>x</a:t>
              </a:r>
              <a:r>
                <a:rPr kumimoji="1" lang="en-US" altLang="zh-CN" sz="2400" b="1" i="1" baseline="-30000">
                  <a:latin typeface="Times New Roman" panose="02020603050405020304" pitchFamily="18" charset="0"/>
                  <a:ea typeface="华文细黑" panose="02010600040101010101" pitchFamily="2" charset="-122"/>
                </a:rPr>
                <a:t>kl</a:t>
              </a:r>
              <a:r>
                <a:rPr kumimoji="1" lang="zh-CN" altLang="en-US" sz="2400" b="1">
                  <a:latin typeface="Times New Roman" panose="02020603050405020304" pitchFamily="18" charset="0"/>
                  <a:ea typeface="华文细黑" panose="02010600040101010101" pitchFamily="2" charset="-122"/>
                </a:rPr>
                <a:t>为起点的闭回路中，标有负号的最小运量作为调整量</a:t>
              </a:r>
              <a:r>
                <a:rPr kumimoji="1" lang="en-US" altLang="zh-CN" sz="2400" b="1" i="1">
                  <a:latin typeface="Times New Roman" panose="02020603050405020304" pitchFamily="18" charset="0"/>
                  <a:ea typeface="华文细黑" panose="02010600040101010101" pitchFamily="2" charset="-122"/>
                </a:rPr>
                <a:t>θ</a:t>
              </a:r>
              <a:r>
                <a:rPr kumimoji="1" lang="zh-CN" altLang="en-US" sz="2400" b="1">
                  <a:latin typeface="Times New Roman" panose="02020603050405020304" pitchFamily="18" charset="0"/>
                  <a:ea typeface="华文细黑" panose="02010600040101010101" pitchFamily="2" charset="-122"/>
                </a:rPr>
                <a:t>，</a:t>
              </a:r>
              <a:r>
                <a:rPr kumimoji="1" lang="en-US" altLang="zh-CN" sz="2400" b="1" i="1">
                  <a:latin typeface="Times New Roman" panose="02020603050405020304" pitchFamily="18" charset="0"/>
                  <a:ea typeface="华文细黑" panose="02010600040101010101" pitchFamily="2" charset="-122"/>
                </a:rPr>
                <a:t>θ</a:t>
              </a:r>
              <a:r>
                <a:rPr kumimoji="1" lang="zh-CN" altLang="en-US" sz="2400" b="1">
                  <a:latin typeface="Times New Roman" panose="02020603050405020304" pitchFamily="18" charset="0"/>
                  <a:ea typeface="华文细黑" panose="02010600040101010101" pitchFamily="2" charset="-122"/>
                </a:rPr>
                <a:t>对应的基变量为出基变量。</a:t>
              </a:r>
            </a:p>
          </p:txBody>
        </p:sp>
      </p:grpSp>
      <p:grpSp>
        <p:nvGrpSpPr>
          <p:cNvPr id="13" name="组合 12">
            <a:extLst>
              <a:ext uri="{FF2B5EF4-FFF2-40B4-BE49-F238E27FC236}">
                <a16:creationId xmlns:a16="http://schemas.microsoft.com/office/drawing/2014/main" id="{24B7F957-7284-4593-8BB1-3D6079A9E554}"/>
              </a:ext>
            </a:extLst>
          </p:cNvPr>
          <p:cNvGrpSpPr>
            <a:grpSpLocks/>
          </p:cNvGrpSpPr>
          <p:nvPr/>
        </p:nvGrpSpPr>
        <p:grpSpPr bwMode="auto">
          <a:xfrm>
            <a:off x="320675" y="2917825"/>
            <a:ext cx="8137525" cy="2187575"/>
            <a:chOff x="304800" y="4643438"/>
            <a:chExt cx="8137525" cy="2187197"/>
          </a:xfrm>
        </p:grpSpPr>
        <p:sp>
          <p:nvSpPr>
            <p:cNvPr id="14" name="Text Box 83">
              <a:extLst>
                <a:ext uri="{FF2B5EF4-FFF2-40B4-BE49-F238E27FC236}">
                  <a16:creationId xmlns:a16="http://schemas.microsoft.com/office/drawing/2014/main" id="{9DCB0B6D-3485-4677-B804-7F2A7A34C6AF}"/>
                </a:ext>
              </a:extLst>
            </p:cNvPr>
            <p:cNvSpPr txBox="1">
              <a:spLocks noChangeArrowheads="1"/>
            </p:cNvSpPr>
            <p:nvPr/>
          </p:nvSpPr>
          <p:spPr bwMode="auto">
            <a:xfrm>
              <a:off x="304800" y="4643438"/>
              <a:ext cx="5472113" cy="46188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第</a:t>
              </a:r>
              <a:r>
                <a:rPr lang="en-US" altLang="zh-CN" dirty="0">
                  <a:solidFill>
                    <a:schemeClr val="tx1"/>
                  </a:solidFill>
                  <a:latin typeface="+mn-ea"/>
                  <a:ea typeface="+mn-ea"/>
                </a:rPr>
                <a:t>4</a:t>
              </a:r>
              <a:r>
                <a:rPr lang="zh-CN" altLang="en-US" dirty="0">
                  <a:solidFill>
                    <a:schemeClr val="tx1"/>
                  </a:solidFill>
                  <a:latin typeface="+mn-ea"/>
                  <a:ea typeface="+mn-ea"/>
                </a:rPr>
                <a:t>步 确定新的运输方案</a:t>
              </a:r>
            </a:p>
          </p:txBody>
        </p:sp>
        <p:sp>
          <p:nvSpPr>
            <p:cNvPr id="91143" name="Text Box 84">
              <a:extLst>
                <a:ext uri="{FF2B5EF4-FFF2-40B4-BE49-F238E27FC236}">
                  <a16:creationId xmlns:a16="http://schemas.microsoft.com/office/drawing/2014/main" id="{00D1972C-3887-4CE9-A662-AA1016E11E03}"/>
                </a:ext>
              </a:extLst>
            </p:cNvPr>
            <p:cNvSpPr txBox="1">
              <a:spLocks noChangeArrowheads="1"/>
            </p:cNvSpPr>
            <p:nvPr/>
          </p:nvSpPr>
          <p:spPr bwMode="auto">
            <a:xfrm>
              <a:off x="304800" y="5260975"/>
              <a:ext cx="8137525" cy="1569660"/>
            </a:xfrm>
            <a:prstGeom prst="rect">
              <a:avLst/>
            </a:prstGeom>
            <a:solidFill>
              <a:srgbClr val="66FFFF"/>
            </a:solidFill>
            <a:ln w="28575" algn="ctr">
              <a:solidFill>
                <a:schemeClr val="bg2"/>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zh-CN" altLang="en-US" sz="2400" b="1">
                  <a:latin typeface="Times New Roman" panose="02020603050405020304" pitchFamily="18" charset="0"/>
                  <a:ea typeface="华文细黑" panose="02010600040101010101" pitchFamily="2" charset="-122"/>
                </a:rPr>
                <a:t>以换出变量的运输量为调整量</a:t>
              </a:r>
              <a:r>
                <a:rPr kumimoji="1" lang="en-US" altLang="zh-CN" sz="2400" b="1">
                  <a:latin typeface="Times New Roman" panose="02020603050405020304" pitchFamily="18" charset="0"/>
                  <a:ea typeface="华文细黑" panose="02010600040101010101" pitchFamily="2" charset="-122"/>
                </a:rPr>
                <a:t>θ </a:t>
              </a:r>
              <a:r>
                <a:rPr kumimoji="1" lang="zh-CN" altLang="en-US" sz="2400" b="1">
                  <a:latin typeface="Times New Roman" panose="02020603050405020304" pitchFamily="18" charset="0"/>
                  <a:ea typeface="华文细黑" panose="02010600040101010101" pitchFamily="2" charset="-122"/>
                </a:rPr>
                <a:t>，将该闭回路上所有奇数号格的调运量加上调整量 </a:t>
              </a:r>
              <a:r>
                <a:rPr kumimoji="1" lang="en-US" altLang="zh-CN" sz="2400" b="1">
                  <a:latin typeface="Times New Roman" panose="02020603050405020304" pitchFamily="18" charset="0"/>
                  <a:ea typeface="华文细黑" panose="02010600040101010101" pitchFamily="2" charset="-122"/>
                </a:rPr>
                <a:t>θ </a:t>
              </a:r>
              <a:r>
                <a:rPr kumimoji="1" lang="zh-CN" altLang="en-US" sz="2400" b="1">
                  <a:latin typeface="Times New Roman" panose="02020603050405020304" pitchFamily="18" charset="0"/>
                  <a:ea typeface="华文细黑" panose="02010600040101010101" pitchFamily="2" charset="-122"/>
                </a:rPr>
                <a:t>，所有偶数号格的调运量减去 </a:t>
              </a:r>
              <a:r>
                <a:rPr kumimoji="1" lang="en-US" altLang="zh-CN" sz="2400" b="1">
                  <a:latin typeface="Times New Roman" panose="02020603050405020304" pitchFamily="18" charset="0"/>
                  <a:ea typeface="华文细黑" panose="02010600040101010101" pitchFamily="2" charset="-122"/>
                </a:rPr>
                <a:t>θ </a:t>
              </a:r>
              <a:r>
                <a:rPr kumimoji="1" lang="zh-CN" altLang="en-US" sz="2400" b="1">
                  <a:latin typeface="Times New Roman" panose="02020603050405020304" pitchFamily="18" charset="0"/>
                  <a:ea typeface="华文细黑" panose="02010600040101010101" pitchFamily="2" charset="-122"/>
                </a:rPr>
                <a:t>，其余的不变，这样就得到一个新的调运方案。该运输方案的总运费比原运输方案减少，改变量等于换出变量的检验数。</a:t>
              </a:r>
            </a:p>
          </p:txBody>
        </p:sp>
      </p:grpSp>
      <p:sp>
        <p:nvSpPr>
          <p:cNvPr id="18" name="Text Box 84">
            <a:extLst>
              <a:ext uri="{FF2B5EF4-FFF2-40B4-BE49-F238E27FC236}">
                <a16:creationId xmlns:a16="http://schemas.microsoft.com/office/drawing/2014/main" id="{66FCA502-E118-49D4-922F-C1C495CBD068}"/>
              </a:ext>
            </a:extLst>
          </p:cNvPr>
          <p:cNvSpPr txBox="1">
            <a:spLocks noChangeArrowheads="1"/>
          </p:cNvSpPr>
          <p:nvPr/>
        </p:nvSpPr>
        <p:spPr bwMode="auto">
          <a:xfrm>
            <a:off x="381000" y="5486400"/>
            <a:ext cx="81375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zh-CN" altLang="en-US" sz="2400" b="1">
                <a:latin typeface="Times New Roman" panose="02020603050405020304" pitchFamily="18" charset="0"/>
                <a:ea typeface="华文细黑" panose="02010600040101010101" pitchFamily="2" charset="-122"/>
              </a:rPr>
              <a:t>然后，再对得到的新解进行最优性检验，如不是最优解，就重复以上步骤继续进行调整，一直到得出最优解为止。</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4" presetClass="entr" presetSubtype="1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randombar(horizontal)">
                                      <p:cBhvr>
                                        <p:cTn id="1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descr="Large confetti">
            <a:extLst>
              <a:ext uri="{FF2B5EF4-FFF2-40B4-BE49-F238E27FC236}">
                <a16:creationId xmlns:a16="http://schemas.microsoft.com/office/drawing/2014/main" id="{098AF8F2-525E-48D2-B7D6-0769002FA4BA}"/>
              </a:ext>
            </a:extLst>
          </p:cNvPr>
          <p:cNvSpPr>
            <a:spLocks noGrp="1" noChangeArrowheads="1"/>
          </p:cNvSpPr>
          <p:nvPr>
            <p:ph type="title"/>
          </p:nvPr>
        </p:nvSpPr>
        <p:spPr/>
        <p:txBody>
          <a:bodyPr/>
          <a:lstStyle/>
          <a:p>
            <a:pPr eaLnBrk="1" hangingPunct="1"/>
            <a:r>
              <a:rPr lang="zh-CN" altLang="en-US"/>
              <a:t>闭回路调整法</a:t>
            </a:r>
          </a:p>
        </p:txBody>
      </p:sp>
      <p:graphicFrame>
        <p:nvGraphicFramePr>
          <p:cNvPr id="203865" name="Group 89">
            <a:extLst>
              <a:ext uri="{FF2B5EF4-FFF2-40B4-BE49-F238E27FC236}">
                <a16:creationId xmlns:a16="http://schemas.microsoft.com/office/drawing/2014/main" id="{5F2E6915-1434-4C4C-AE92-FB10E187CC15}"/>
              </a:ext>
            </a:extLst>
          </p:cNvPr>
          <p:cNvGraphicFramePr>
            <a:graphicFrameLocks noGrp="1"/>
          </p:cNvGraphicFramePr>
          <p:nvPr/>
        </p:nvGraphicFramePr>
        <p:xfrm>
          <a:off x="1116013" y="1143000"/>
          <a:ext cx="6427787" cy="3357563"/>
        </p:xfrm>
        <a:graphic>
          <a:graphicData uri="http://schemas.openxmlformats.org/drawingml/2006/table">
            <a:tbl>
              <a:tblPr/>
              <a:tblGrid>
                <a:gridCol w="1119187">
                  <a:extLst>
                    <a:ext uri="{9D8B030D-6E8A-4147-A177-3AD203B41FA5}">
                      <a16:colId xmlns:a16="http://schemas.microsoft.com/office/drawing/2014/main" val="20000"/>
                    </a:ext>
                  </a:extLst>
                </a:gridCol>
                <a:gridCol w="1119188">
                  <a:extLst>
                    <a:ext uri="{9D8B030D-6E8A-4147-A177-3AD203B41FA5}">
                      <a16:colId xmlns:a16="http://schemas.microsoft.com/office/drawing/2014/main" val="20001"/>
                    </a:ext>
                  </a:extLst>
                </a:gridCol>
                <a:gridCol w="1119187">
                  <a:extLst>
                    <a:ext uri="{9D8B030D-6E8A-4147-A177-3AD203B41FA5}">
                      <a16:colId xmlns:a16="http://schemas.microsoft.com/office/drawing/2014/main" val="20002"/>
                    </a:ext>
                  </a:extLst>
                </a:gridCol>
                <a:gridCol w="1119188">
                  <a:extLst>
                    <a:ext uri="{9D8B030D-6E8A-4147-A177-3AD203B41FA5}">
                      <a16:colId xmlns:a16="http://schemas.microsoft.com/office/drawing/2014/main" val="20003"/>
                    </a:ext>
                  </a:extLst>
                </a:gridCol>
                <a:gridCol w="1119187">
                  <a:extLst>
                    <a:ext uri="{9D8B030D-6E8A-4147-A177-3AD203B41FA5}">
                      <a16:colId xmlns:a16="http://schemas.microsoft.com/office/drawing/2014/main" val="20004"/>
                    </a:ext>
                  </a:extLst>
                </a:gridCol>
                <a:gridCol w="831850">
                  <a:extLst>
                    <a:ext uri="{9D8B030D-6E8A-4147-A177-3AD203B41FA5}">
                      <a16:colId xmlns:a16="http://schemas.microsoft.com/office/drawing/2014/main" val="20005"/>
                    </a:ext>
                  </a:extLst>
                </a:gridCol>
              </a:tblGrid>
              <a:tr h="546100">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4</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rgbClr val="000000"/>
                          </a:solidFill>
                          <a:effectLst/>
                          <a:latin typeface="Times New Roman" pitchFamily="18" charset="0"/>
                          <a:ea typeface="宋体" pitchFamily="2" charset="-122"/>
                        </a:rPr>
                        <a:t>u</a:t>
                      </a:r>
                      <a:r>
                        <a:rPr kumimoji="1" lang="en-US" altLang="zh-CN" sz="2000" b="1" i="1" u="none" strike="noStrike" cap="none" normalizeH="0" baseline="-25000" dirty="0" err="1">
                          <a:ln>
                            <a:noFill/>
                          </a:ln>
                          <a:solidFill>
                            <a:srgbClr val="000000"/>
                          </a:solidFill>
                          <a:effectLst/>
                          <a:latin typeface="Times New Roman" pitchFamily="18" charset="0"/>
                          <a:ea typeface="宋体" pitchFamily="2" charset="-122"/>
                        </a:rPr>
                        <a:t>i</a:t>
                      </a:r>
                      <a:endParaRPr kumimoji="1" lang="en-US" altLang="zh-CN" sz="2000" b="1" i="1" u="none" strike="noStrike" cap="none" normalizeH="0" baseline="-25000" dirty="0">
                        <a:ln>
                          <a:noFill/>
                        </a:ln>
                        <a:solidFill>
                          <a:srgbClr val="000000"/>
                        </a:solidFill>
                        <a:effectLst/>
                        <a:latin typeface="Times New Roman" pitchFamily="18" charset="0"/>
                        <a:ea typeface="宋体"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0"/>
                  </a:ext>
                </a:extLst>
              </a:tr>
              <a:tr h="75088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3657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chemeClr val="bg2"/>
                          </a:solidFill>
                          <a:effectLst/>
                          <a:latin typeface="Times New Roman" pitchFamily="18" charset="0"/>
                          <a:ea typeface="华文细黑" pitchFamily="2" charset="-122"/>
                        </a:rPr>
                        <a:t>v</a:t>
                      </a:r>
                      <a:r>
                        <a:rPr kumimoji="1" lang="en-US" altLang="zh-CN" sz="2000" b="1" i="1" u="none" strike="noStrike" cap="none" normalizeH="0" baseline="-25000" dirty="0" err="1">
                          <a:ln>
                            <a:noFill/>
                          </a:ln>
                          <a:solidFill>
                            <a:schemeClr val="bg2"/>
                          </a:solidFill>
                          <a:effectLst/>
                          <a:latin typeface="Times New Roman" pitchFamily="18" charset="0"/>
                          <a:ea typeface="华文细黑" pitchFamily="2" charset="-122"/>
                        </a:rPr>
                        <a:t>j</a:t>
                      </a:r>
                      <a:endParaRPr kumimoji="1" lang="en-US" altLang="zh-CN" sz="2000" b="1" i="1" u="none" strike="noStrike" cap="none" normalizeH="0" baseline="-25000" dirty="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92207" name="Rectangle 48">
            <a:extLst>
              <a:ext uri="{FF2B5EF4-FFF2-40B4-BE49-F238E27FC236}">
                <a16:creationId xmlns:a16="http://schemas.microsoft.com/office/drawing/2014/main" id="{D13296C2-0F20-449D-9CDF-E8FACE446F0D}"/>
              </a:ext>
            </a:extLst>
          </p:cNvPr>
          <p:cNvSpPr>
            <a:spLocks noChangeArrowheads="1"/>
          </p:cNvSpPr>
          <p:nvPr/>
        </p:nvSpPr>
        <p:spPr bwMode="auto">
          <a:xfrm>
            <a:off x="2814638" y="1733550"/>
            <a:ext cx="498475" cy="4699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2208" name="Rectangle 49">
            <a:extLst>
              <a:ext uri="{FF2B5EF4-FFF2-40B4-BE49-F238E27FC236}">
                <a16:creationId xmlns:a16="http://schemas.microsoft.com/office/drawing/2014/main" id="{E04A084D-EB6A-4B9C-9E58-A1932286F04B}"/>
              </a:ext>
            </a:extLst>
          </p:cNvPr>
          <p:cNvSpPr>
            <a:spLocks noChangeArrowheads="1"/>
          </p:cNvSpPr>
          <p:nvPr/>
        </p:nvSpPr>
        <p:spPr bwMode="auto">
          <a:xfrm>
            <a:off x="3938588" y="17335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11</a:t>
            </a:r>
          </a:p>
        </p:txBody>
      </p:sp>
      <p:sp>
        <p:nvSpPr>
          <p:cNvPr id="203826" name="Rectangle 50">
            <a:extLst>
              <a:ext uri="{FF2B5EF4-FFF2-40B4-BE49-F238E27FC236}">
                <a16:creationId xmlns:a16="http://schemas.microsoft.com/office/drawing/2014/main" id="{9FB67DED-63F4-4ACD-ACBC-DB5FE6522390}"/>
              </a:ext>
            </a:extLst>
          </p:cNvPr>
          <p:cNvSpPr>
            <a:spLocks noChangeArrowheads="1"/>
          </p:cNvSpPr>
          <p:nvPr/>
        </p:nvSpPr>
        <p:spPr bwMode="auto">
          <a:xfrm>
            <a:off x="5105400" y="1671638"/>
            <a:ext cx="498475" cy="471487"/>
          </a:xfrm>
          <a:prstGeom prst="rect">
            <a:avLst/>
          </a:prstGeom>
          <a:solidFill>
            <a:schemeClr val="folHlink"/>
          </a:solidFill>
          <a:ln w="9525">
            <a:no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dirty="0">
                <a:solidFill>
                  <a:srgbClr val="FFFF00"/>
                </a:solidFill>
                <a:effectLst>
                  <a:outerShdw blurRad="38100" dist="38100" dir="2700000" algn="tl">
                    <a:srgbClr val="000000"/>
                  </a:outerShdw>
                </a:effectLst>
                <a:ea typeface="宋体" panose="02010600030101010101" pitchFamily="2" charset="-122"/>
              </a:rPr>
              <a:t>3</a:t>
            </a:r>
          </a:p>
        </p:txBody>
      </p:sp>
      <p:sp>
        <p:nvSpPr>
          <p:cNvPr id="203827" name="Rectangle 51">
            <a:extLst>
              <a:ext uri="{FF2B5EF4-FFF2-40B4-BE49-F238E27FC236}">
                <a16:creationId xmlns:a16="http://schemas.microsoft.com/office/drawing/2014/main" id="{2DD6FF1A-89B4-4826-A687-9151F66E196E}"/>
              </a:ext>
            </a:extLst>
          </p:cNvPr>
          <p:cNvSpPr>
            <a:spLocks noChangeArrowheads="1"/>
          </p:cNvSpPr>
          <p:nvPr/>
        </p:nvSpPr>
        <p:spPr bwMode="auto">
          <a:xfrm>
            <a:off x="6207125" y="1671638"/>
            <a:ext cx="498475" cy="471487"/>
          </a:xfrm>
          <a:prstGeom prst="rect">
            <a:avLst/>
          </a:prstGeom>
          <a:solidFill>
            <a:schemeClr val="folHlink"/>
          </a:solidFill>
          <a:ln w="9525">
            <a:noFill/>
            <a:miter lim="800000"/>
            <a:headEnd/>
            <a:tailEnd/>
          </a:ln>
          <a:effectLst/>
        </p:spPr>
        <p:txBody>
          <a:bodyPr wrap="none" anchor="ctr"/>
          <a:lstStyle/>
          <a:p>
            <a:pPr algn="ctr" eaLnBrk="1" hangingPunct="1">
              <a:defRPr/>
            </a:pPr>
            <a:r>
              <a:rPr lang="en-US" altLang="zh-CN" dirty="0">
                <a:solidFill>
                  <a:srgbClr val="FFFF00"/>
                </a:solidFill>
                <a:effectLst>
                  <a:outerShdw blurRad="38100" dist="38100" dir="2700000" algn="tl">
                    <a:srgbClr val="000000"/>
                  </a:outerShdw>
                </a:effectLst>
              </a:rPr>
              <a:t>10</a:t>
            </a:r>
          </a:p>
        </p:txBody>
      </p:sp>
      <p:sp>
        <p:nvSpPr>
          <p:cNvPr id="92211" name="Rectangle 52">
            <a:extLst>
              <a:ext uri="{FF2B5EF4-FFF2-40B4-BE49-F238E27FC236}">
                <a16:creationId xmlns:a16="http://schemas.microsoft.com/office/drawing/2014/main" id="{4A1499DB-6179-46F6-9E8C-D704A921837E}"/>
              </a:ext>
            </a:extLst>
          </p:cNvPr>
          <p:cNvSpPr>
            <a:spLocks noChangeArrowheads="1"/>
          </p:cNvSpPr>
          <p:nvPr/>
        </p:nvSpPr>
        <p:spPr bwMode="auto">
          <a:xfrm>
            <a:off x="2828925" y="245427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a:t>
            </a:r>
          </a:p>
        </p:txBody>
      </p:sp>
      <p:sp>
        <p:nvSpPr>
          <p:cNvPr id="92212" name="Rectangle 53">
            <a:extLst>
              <a:ext uri="{FF2B5EF4-FFF2-40B4-BE49-F238E27FC236}">
                <a16:creationId xmlns:a16="http://schemas.microsoft.com/office/drawing/2014/main" id="{2563D110-5249-4298-82D8-445B0DF245F5}"/>
              </a:ext>
            </a:extLst>
          </p:cNvPr>
          <p:cNvSpPr>
            <a:spLocks noChangeArrowheads="1"/>
          </p:cNvSpPr>
          <p:nvPr/>
        </p:nvSpPr>
        <p:spPr bwMode="auto">
          <a:xfrm>
            <a:off x="3910013" y="245427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9</a:t>
            </a:r>
          </a:p>
        </p:txBody>
      </p:sp>
      <p:sp>
        <p:nvSpPr>
          <p:cNvPr id="203830" name="Rectangle 54">
            <a:extLst>
              <a:ext uri="{FF2B5EF4-FFF2-40B4-BE49-F238E27FC236}">
                <a16:creationId xmlns:a16="http://schemas.microsoft.com/office/drawing/2014/main" id="{FEFC0C9C-28F9-44A7-9D7F-F800C57C1D56}"/>
              </a:ext>
            </a:extLst>
          </p:cNvPr>
          <p:cNvSpPr>
            <a:spLocks noChangeArrowheads="1"/>
          </p:cNvSpPr>
          <p:nvPr/>
        </p:nvSpPr>
        <p:spPr bwMode="auto">
          <a:xfrm>
            <a:off x="5105400" y="2433638"/>
            <a:ext cx="498475" cy="471487"/>
          </a:xfrm>
          <a:prstGeom prst="rect">
            <a:avLst/>
          </a:prstGeom>
          <a:solidFill>
            <a:schemeClr val="folHlink"/>
          </a:solidFill>
          <a:ln w="9525">
            <a:no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a:solidFill>
                  <a:srgbClr val="FFFF00"/>
                </a:solidFill>
                <a:effectLst>
                  <a:outerShdw blurRad="38100" dist="38100" dir="2700000" algn="tl">
                    <a:srgbClr val="000000"/>
                  </a:outerShdw>
                </a:effectLst>
                <a:ea typeface="宋体" panose="02010600030101010101" pitchFamily="2" charset="-122"/>
              </a:rPr>
              <a:t>2</a:t>
            </a:r>
          </a:p>
        </p:txBody>
      </p:sp>
      <p:sp>
        <p:nvSpPr>
          <p:cNvPr id="92214" name="Rectangle 55">
            <a:extLst>
              <a:ext uri="{FF2B5EF4-FFF2-40B4-BE49-F238E27FC236}">
                <a16:creationId xmlns:a16="http://schemas.microsoft.com/office/drawing/2014/main" id="{D54D31FB-07A3-4B9C-95B2-930DF64557DA}"/>
              </a:ext>
            </a:extLst>
          </p:cNvPr>
          <p:cNvSpPr>
            <a:spLocks noChangeArrowheads="1"/>
          </p:cNvSpPr>
          <p:nvPr/>
        </p:nvSpPr>
        <p:spPr bwMode="auto">
          <a:xfrm>
            <a:off x="2836863" y="322897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7</a:t>
            </a:r>
          </a:p>
        </p:txBody>
      </p:sp>
      <p:sp>
        <p:nvSpPr>
          <p:cNvPr id="92215" name="Rectangle 56">
            <a:extLst>
              <a:ext uri="{FF2B5EF4-FFF2-40B4-BE49-F238E27FC236}">
                <a16:creationId xmlns:a16="http://schemas.microsoft.com/office/drawing/2014/main" id="{4DD94E7F-681B-4EE2-B80B-DF7AADD71BCA}"/>
              </a:ext>
            </a:extLst>
          </p:cNvPr>
          <p:cNvSpPr>
            <a:spLocks noChangeArrowheads="1"/>
          </p:cNvSpPr>
          <p:nvPr/>
        </p:nvSpPr>
        <p:spPr bwMode="auto">
          <a:xfrm>
            <a:off x="3946525" y="3246438"/>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4</a:t>
            </a:r>
          </a:p>
        </p:txBody>
      </p:sp>
      <p:sp>
        <p:nvSpPr>
          <p:cNvPr id="203833" name="Rectangle 57">
            <a:extLst>
              <a:ext uri="{FF2B5EF4-FFF2-40B4-BE49-F238E27FC236}">
                <a16:creationId xmlns:a16="http://schemas.microsoft.com/office/drawing/2014/main" id="{AF6E601F-33D2-44A0-81A6-5608DE69A4A6}"/>
              </a:ext>
            </a:extLst>
          </p:cNvPr>
          <p:cNvSpPr>
            <a:spLocks noChangeArrowheads="1"/>
          </p:cNvSpPr>
          <p:nvPr/>
        </p:nvSpPr>
        <p:spPr bwMode="auto">
          <a:xfrm>
            <a:off x="5105400" y="3195638"/>
            <a:ext cx="498475" cy="471487"/>
          </a:xfrm>
          <a:prstGeom prst="rect">
            <a:avLst/>
          </a:prstGeom>
          <a:solidFill>
            <a:schemeClr val="folHlink"/>
          </a:solidFill>
          <a:ln w="9525">
            <a:noFill/>
            <a:miter lim="800000"/>
            <a:headEnd/>
            <a:tailEnd/>
          </a:ln>
          <a:effectLst/>
        </p:spPr>
        <p:txBody>
          <a:bodyPr wrap="none" anchor="ctr"/>
          <a:lstStyle/>
          <a:p>
            <a:pPr algn="ctr" eaLnBrk="1" hangingPunct="1">
              <a:defRPr/>
            </a:pPr>
            <a:r>
              <a:rPr lang="en-US" altLang="zh-CN" dirty="0">
                <a:solidFill>
                  <a:srgbClr val="FFFF00"/>
                </a:solidFill>
                <a:effectLst>
                  <a:outerShdw blurRad="38100" dist="38100" dir="2700000" algn="tl">
                    <a:srgbClr val="000000"/>
                  </a:outerShdw>
                </a:effectLst>
              </a:rPr>
              <a:t>10</a:t>
            </a:r>
          </a:p>
        </p:txBody>
      </p:sp>
      <p:sp>
        <p:nvSpPr>
          <p:cNvPr id="203834" name="Rectangle 58">
            <a:extLst>
              <a:ext uri="{FF2B5EF4-FFF2-40B4-BE49-F238E27FC236}">
                <a16:creationId xmlns:a16="http://schemas.microsoft.com/office/drawing/2014/main" id="{59BD2C22-57E8-488E-A894-B5CC0E6DBDF8}"/>
              </a:ext>
            </a:extLst>
          </p:cNvPr>
          <p:cNvSpPr>
            <a:spLocks noChangeArrowheads="1"/>
          </p:cNvSpPr>
          <p:nvPr/>
        </p:nvSpPr>
        <p:spPr bwMode="auto">
          <a:xfrm>
            <a:off x="6207125" y="3195638"/>
            <a:ext cx="498475" cy="471487"/>
          </a:xfrm>
          <a:prstGeom prst="rect">
            <a:avLst/>
          </a:prstGeom>
          <a:solidFill>
            <a:schemeClr val="folHlink"/>
          </a:solidFill>
          <a:ln w="9525">
            <a:no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dirty="0">
                <a:solidFill>
                  <a:srgbClr val="FFFF00"/>
                </a:solidFill>
                <a:effectLst>
                  <a:outerShdw blurRad="38100" dist="38100" dir="2700000" algn="tl">
                    <a:srgbClr val="000000"/>
                  </a:outerShdw>
                </a:effectLst>
                <a:ea typeface="宋体" panose="02010600030101010101" pitchFamily="2" charset="-122"/>
              </a:rPr>
              <a:t>5</a:t>
            </a:r>
          </a:p>
        </p:txBody>
      </p:sp>
      <p:sp>
        <p:nvSpPr>
          <p:cNvPr id="203835" name="Rectangle 59">
            <a:extLst>
              <a:ext uri="{FF2B5EF4-FFF2-40B4-BE49-F238E27FC236}">
                <a16:creationId xmlns:a16="http://schemas.microsoft.com/office/drawing/2014/main" id="{B9921107-691E-4898-93EF-9093BC3DAD92}"/>
              </a:ext>
            </a:extLst>
          </p:cNvPr>
          <p:cNvSpPr>
            <a:spLocks noChangeArrowheads="1"/>
          </p:cNvSpPr>
          <p:nvPr/>
        </p:nvSpPr>
        <p:spPr bwMode="auto">
          <a:xfrm>
            <a:off x="6207125" y="2433638"/>
            <a:ext cx="498475" cy="471487"/>
          </a:xfrm>
          <a:prstGeom prst="rect">
            <a:avLst/>
          </a:prstGeom>
          <a:solidFill>
            <a:schemeClr val="folHlink"/>
          </a:solidFill>
          <a:ln w="9525">
            <a:no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dirty="0">
                <a:solidFill>
                  <a:srgbClr val="FFFF00"/>
                </a:solidFill>
                <a:effectLst>
                  <a:outerShdw blurRad="38100" dist="38100" dir="2700000" algn="tl">
                    <a:srgbClr val="000000"/>
                  </a:outerShdw>
                </a:effectLst>
                <a:ea typeface="宋体" panose="02010600030101010101" pitchFamily="2" charset="-122"/>
              </a:rPr>
              <a:t>8</a:t>
            </a:r>
          </a:p>
        </p:txBody>
      </p:sp>
      <p:sp>
        <p:nvSpPr>
          <p:cNvPr id="203836" name="Text Box 60">
            <a:extLst>
              <a:ext uri="{FF2B5EF4-FFF2-40B4-BE49-F238E27FC236}">
                <a16:creationId xmlns:a16="http://schemas.microsoft.com/office/drawing/2014/main" id="{8980D4B5-2E2F-4591-BF97-085597D96FB0}"/>
              </a:ext>
            </a:extLst>
          </p:cNvPr>
          <p:cNvSpPr txBox="1">
            <a:spLocks noChangeArrowheads="1"/>
          </p:cNvSpPr>
          <p:nvPr/>
        </p:nvSpPr>
        <p:spPr bwMode="auto">
          <a:xfrm>
            <a:off x="4673600" y="1931988"/>
            <a:ext cx="304800" cy="396875"/>
          </a:xfrm>
          <a:prstGeom prst="rect">
            <a:avLst/>
          </a:prstGeom>
          <a:noFill/>
          <a:ln w="9525">
            <a:noFill/>
            <a:miter lim="800000"/>
            <a:headEnd/>
            <a:tailEnd/>
          </a:ln>
          <a:effectLst/>
        </p:spPr>
        <p:txBody>
          <a:bodyPr>
            <a:spAutoFit/>
          </a:bodyPr>
          <a:lstStyle/>
          <a:p>
            <a:pPr eaLnBrk="1" hangingPunct="1">
              <a:buClr>
                <a:schemeClr val="accent1"/>
              </a:buClr>
              <a:buSzPct val="80000"/>
              <a:buFont typeface="Wingdings" pitchFamily="2" charset="2"/>
              <a:buNone/>
              <a:defRPr/>
            </a:pPr>
            <a:r>
              <a:rPr lang="en-US" altLang="zh-CN" sz="2000">
                <a:solidFill>
                  <a:srgbClr val="A50021"/>
                </a:solidFill>
                <a:effectLst>
                  <a:outerShdw blurRad="38100" dist="38100" dir="2700000" algn="tl">
                    <a:srgbClr val="000000"/>
                  </a:outerShdw>
                </a:effectLst>
              </a:rPr>
              <a:t>4</a:t>
            </a:r>
            <a:endParaRPr lang="en-US" altLang="zh-CN" sz="3200">
              <a:solidFill>
                <a:srgbClr val="000000"/>
              </a:solidFill>
              <a:effectLst>
                <a:outerShdw blurRad="38100" dist="38100" dir="2700000" algn="tl">
                  <a:srgbClr val="FFFFFF"/>
                </a:outerShdw>
              </a:effectLst>
              <a:latin typeface="楷体_GB2312" pitchFamily="49" charset="-122"/>
              <a:ea typeface="楷体_GB2312" pitchFamily="49" charset="-122"/>
            </a:endParaRPr>
          </a:p>
        </p:txBody>
      </p:sp>
      <p:sp>
        <p:nvSpPr>
          <p:cNvPr id="92220" name="Text Box 61">
            <a:extLst>
              <a:ext uri="{FF2B5EF4-FFF2-40B4-BE49-F238E27FC236}">
                <a16:creationId xmlns:a16="http://schemas.microsoft.com/office/drawing/2014/main" id="{22232B13-0C06-4E58-A20A-64834DF23DC9}"/>
              </a:ext>
            </a:extLst>
          </p:cNvPr>
          <p:cNvSpPr txBox="1">
            <a:spLocks noChangeArrowheads="1"/>
          </p:cNvSpPr>
          <p:nvPr/>
        </p:nvSpPr>
        <p:spPr bwMode="auto">
          <a:xfrm>
            <a:off x="2293938" y="2801938"/>
            <a:ext cx="381000" cy="396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92221" name="Text Box 62">
            <a:extLst>
              <a:ext uri="{FF2B5EF4-FFF2-40B4-BE49-F238E27FC236}">
                <a16:creationId xmlns:a16="http://schemas.microsoft.com/office/drawing/2014/main" id="{75064D9D-6D77-4153-A447-83489C754FEE}"/>
              </a:ext>
            </a:extLst>
          </p:cNvPr>
          <p:cNvSpPr txBox="1">
            <a:spLocks noChangeArrowheads="1"/>
          </p:cNvSpPr>
          <p:nvPr/>
        </p:nvSpPr>
        <p:spPr bwMode="auto">
          <a:xfrm>
            <a:off x="3376613" y="3519488"/>
            <a:ext cx="381000" cy="396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Clr>
                <a:schemeClr val="accent1"/>
              </a:buClr>
              <a:buSzPct val="80000"/>
              <a:buFont typeface="Wingdings" panose="05000000000000000000" pitchFamily="2" charset="2"/>
              <a:buNone/>
            </a:pPr>
            <a:r>
              <a:rPr kumimoji="1" lang="en-US" altLang="zh-CN" sz="2000" b="1">
                <a:solidFill>
                  <a:srgbClr val="A50021"/>
                </a:solidFill>
              </a:rPr>
              <a:t>6</a:t>
            </a:r>
            <a:endParaRPr kumimoji="1" lang="en-US" altLang="zh-CN" sz="3200" b="1">
              <a:solidFill>
                <a:srgbClr val="000000"/>
              </a:solidFill>
              <a:latin typeface="楷体_GB2312" pitchFamily="49" charset="-122"/>
              <a:ea typeface="楷体_GB2312" pitchFamily="49" charset="-122"/>
            </a:endParaRPr>
          </a:p>
        </p:txBody>
      </p:sp>
      <p:sp>
        <p:nvSpPr>
          <p:cNvPr id="203839" name="Text Box 63">
            <a:extLst>
              <a:ext uri="{FF2B5EF4-FFF2-40B4-BE49-F238E27FC236}">
                <a16:creationId xmlns:a16="http://schemas.microsoft.com/office/drawing/2014/main" id="{8415A36E-945F-4CC5-86E6-1909B3DD1793}"/>
              </a:ext>
            </a:extLst>
          </p:cNvPr>
          <p:cNvSpPr txBox="1">
            <a:spLocks noChangeArrowheads="1"/>
          </p:cNvSpPr>
          <p:nvPr/>
        </p:nvSpPr>
        <p:spPr bwMode="auto">
          <a:xfrm>
            <a:off x="5667375" y="3467100"/>
            <a:ext cx="504825" cy="396875"/>
          </a:xfrm>
          <a:prstGeom prst="rect">
            <a:avLst/>
          </a:prstGeom>
          <a:solidFill>
            <a:schemeClr val="bg1"/>
          </a:solidFill>
          <a:ln w="9525">
            <a:noFill/>
            <a:miter lim="800000"/>
            <a:headEnd/>
            <a:tailEnd/>
          </a:ln>
          <a:effectLst/>
        </p:spPr>
        <p:txBody>
          <a:bodyPr>
            <a:spAutoFit/>
          </a:bodyPr>
          <a:lstStyle/>
          <a:p>
            <a:pPr algn="ctr" eaLnBrk="1" hangingPunct="1">
              <a:buClr>
                <a:schemeClr val="accent1"/>
              </a:buClr>
              <a:buSzPct val="80000"/>
              <a:buFont typeface="Wingdings" pitchFamily="2" charset="2"/>
              <a:buNone/>
              <a:defRPr/>
            </a:pPr>
            <a:r>
              <a:rPr lang="en-US" altLang="zh-CN" sz="2000" dirty="0">
                <a:solidFill>
                  <a:srgbClr val="A50021"/>
                </a:solidFill>
                <a:effectLst>
                  <a:outerShdw blurRad="38100" dist="38100" dir="2700000" algn="tl">
                    <a:srgbClr val="000000"/>
                  </a:outerShdw>
                </a:effectLst>
              </a:rPr>
              <a:t>3</a:t>
            </a:r>
            <a:endParaRPr lang="en-US" altLang="zh-CN" sz="3200" dirty="0">
              <a:solidFill>
                <a:srgbClr val="000000"/>
              </a:solidFill>
              <a:effectLst>
                <a:outerShdw blurRad="38100" dist="38100" dir="2700000" algn="tl">
                  <a:srgbClr val="FFFFFF"/>
                </a:outerShdw>
              </a:effectLst>
              <a:latin typeface="楷体_GB2312" pitchFamily="49" charset="-122"/>
              <a:ea typeface="楷体_GB2312" pitchFamily="49" charset="-122"/>
            </a:endParaRPr>
          </a:p>
        </p:txBody>
      </p:sp>
      <p:sp>
        <p:nvSpPr>
          <p:cNvPr id="203840" name="Text Box 64">
            <a:extLst>
              <a:ext uri="{FF2B5EF4-FFF2-40B4-BE49-F238E27FC236}">
                <a16:creationId xmlns:a16="http://schemas.microsoft.com/office/drawing/2014/main" id="{A23EC5D8-FE3E-4D01-83A8-725EA03BAB38}"/>
              </a:ext>
            </a:extLst>
          </p:cNvPr>
          <p:cNvSpPr txBox="1">
            <a:spLocks noChangeArrowheads="1"/>
          </p:cNvSpPr>
          <p:nvPr/>
        </p:nvSpPr>
        <p:spPr bwMode="auto">
          <a:xfrm>
            <a:off x="4724400" y="2678113"/>
            <a:ext cx="381000" cy="396875"/>
          </a:xfrm>
          <a:prstGeom prst="rect">
            <a:avLst/>
          </a:prstGeom>
          <a:noFill/>
          <a:ln w="9525">
            <a:noFill/>
            <a:miter lim="800000"/>
            <a:headEnd/>
            <a:tailEnd/>
          </a:ln>
          <a:effectLst/>
        </p:spPr>
        <p:txBody>
          <a:bodyPr>
            <a:spAutoFit/>
          </a:bodyPr>
          <a:lstStyle/>
          <a:p>
            <a:pPr eaLnBrk="1" hangingPunct="1">
              <a:buClr>
                <a:schemeClr val="accent1"/>
              </a:buClr>
              <a:buSzPct val="80000"/>
              <a:buFont typeface="Wingdings" pitchFamily="2" charset="2"/>
              <a:buNone/>
              <a:defRPr/>
            </a:pPr>
            <a:r>
              <a:rPr lang="en-US" altLang="zh-CN" sz="2000">
                <a:solidFill>
                  <a:srgbClr val="A50021"/>
                </a:solidFill>
                <a:effectLst>
                  <a:outerShdw blurRad="38100" dist="38100" dir="2700000" algn="tl">
                    <a:srgbClr val="000000"/>
                  </a:outerShdw>
                </a:effectLst>
              </a:rPr>
              <a:t>1</a:t>
            </a:r>
            <a:endParaRPr lang="en-US" altLang="zh-CN" sz="3200">
              <a:solidFill>
                <a:srgbClr val="000000"/>
              </a:solidFill>
              <a:effectLst>
                <a:outerShdw blurRad="38100" dist="38100" dir="2700000" algn="tl">
                  <a:srgbClr val="FFFFFF"/>
                </a:outerShdw>
              </a:effectLst>
              <a:latin typeface="楷体_GB2312" pitchFamily="49" charset="-122"/>
              <a:ea typeface="楷体_GB2312" pitchFamily="49" charset="-122"/>
            </a:endParaRPr>
          </a:p>
        </p:txBody>
      </p:sp>
      <p:sp>
        <p:nvSpPr>
          <p:cNvPr id="203841" name="Text Box 65">
            <a:extLst>
              <a:ext uri="{FF2B5EF4-FFF2-40B4-BE49-F238E27FC236}">
                <a16:creationId xmlns:a16="http://schemas.microsoft.com/office/drawing/2014/main" id="{80DE8642-3283-48F1-8561-6AEA7C6E5630}"/>
              </a:ext>
            </a:extLst>
          </p:cNvPr>
          <p:cNvSpPr txBox="1">
            <a:spLocks noChangeArrowheads="1"/>
          </p:cNvSpPr>
          <p:nvPr/>
        </p:nvSpPr>
        <p:spPr bwMode="auto">
          <a:xfrm>
            <a:off x="5897563" y="1931988"/>
            <a:ext cx="325437" cy="396875"/>
          </a:xfrm>
          <a:prstGeom prst="rect">
            <a:avLst/>
          </a:prstGeom>
          <a:noFill/>
          <a:ln w="9525">
            <a:noFill/>
            <a:miter lim="800000"/>
            <a:headEnd/>
            <a:tailEnd/>
          </a:ln>
          <a:effectLst/>
        </p:spPr>
        <p:txBody>
          <a:bodyPr wrap="none">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en-US" altLang="zh-CN" sz="2000">
                <a:solidFill>
                  <a:srgbClr val="A50021"/>
                </a:solidFill>
                <a:effectLst>
                  <a:outerShdw blurRad="38100" dist="38100" dir="2700000" algn="tl">
                    <a:srgbClr val="000000"/>
                  </a:outerShdw>
                </a:effectLst>
                <a:latin typeface="Arial" panose="020B0604020202020204" pitchFamily="34" charset="0"/>
                <a:ea typeface="宋体" panose="02010600030101010101" pitchFamily="2" charset="-122"/>
              </a:rPr>
              <a:t>3</a:t>
            </a:r>
          </a:p>
        </p:txBody>
      </p:sp>
      <p:sp>
        <p:nvSpPr>
          <p:cNvPr id="203855" name="Line 79">
            <a:extLst>
              <a:ext uri="{FF2B5EF4-FFF2-40B4-BE49-F238E27FC236}">
                <a16:creationId xmlns:a16="http://schemas.microsoft.com/office/drawing/2014/main" id="{D93D797C-C6F9-4AB9-8775-8ED57558AEFA}"/>
              </a:ext>
            </a:extLst>
          </p:cNvPr>
          <p:cNvSpPr>
            <a:spLocks noChangeShapeType="1"/>
          </p:cNvSpPr>
          <p:nvPr/>
        </p:nvSpPr>
        <p:spPr bwMode="auto">
          <a:xfrm flipV="1">
            <a:off x="5826125" y="2284413"/>
            <a:ext cx="0" cy="788987"/>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3856" name="Line 80">
            <a:extLst>
              <a:ext uri="{FF2B5EF4-FFF2-40B4-BE49-F238E27FC236}">
                <a16:creationId xmlns:a16="http://schemas.microsoft.com/office/drawing/2014/main" id="{385DF952-67D0-4E00-A3CE-DAC4CAB97E66}"/>
              </a:ext>
            </a:extLst>
          </p:cNvPr>
          <p:cNvSpPr>
            <a:spLocks noChangeShapeType="1"/>
          </p:cNvSpPr>
          <p:nvPr/>
        </p:nvSpPr>
        <p:spPr bwMode="auto">
          <a:xfrm flipH="1">
            <a:off x="4602163" y="2284413"/>
            <a:ext cx="1223962" cy="0"/>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3857" name="Line 81">
            <a:extLst>
              <a:ext uri="{FF2B5EF4-FFF2-40B4-BE49-F238E27FC236}">
                <a16:creationId xmlns:a16="http://schemas.microsoft.com/office/drawing/2014/main" id="{30890C33-1DD2-4ACD-A1A5-C3F469A6092F}"/>
              </a:ext>
            </a:extLst>
          </p:cNvPr>
          <p:cNvSpPr>
            <a:spLocks noChangeShapeType="1"/>
          </p:cNvSpPr>
          <p:nvPr/>
        </p:nvSpPr>
        <p:spPr bwMode="auto">
          <a:xfrm flipH="1">
            <a:off x="4586288" y="2284413"/>
            <a:ext cx="7937" cy="781050"/>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3858" name="Line 82">
            <a:extLst>
              <a:ext uri="{FF2B5EF4-FFF2-40B4-BE49-F238E27FC236}">
                <a16:creationId xmlns:a16="http://schemas.microsoft.com/office/drawing/2014/main" id="{5DB4E49B-3982-450F-85F5-C0A5EB7430B0}"/>
              </a:ext>
            </a:extLst>
          </p:cNvPr>
          <p:cNvSpPr>
            <a:spLocks noChangeShapeType="1"/>
          </p:cNvSpPr>
          <p:nvPr/>
        </p:nvSpPr>
        <p:spPr bwMode="auto">
          <a:xfrm>
            <a:off x="4602163" y="3076575"/>
            <a:ext cx="1223962" cy="0"/>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203859" name="Text Box 83">
            <a:extLst>
              <a:ext uri="{FF2B5EF4-FFF2-40B4-BE49-F238E27FC236}">
                <a16:creationId xmlns:a16="http://schemas.microsoft.com/office/drawing/2014/main" id="{A7BD018B-4116-42DF-BA6B-CBC4CF3BA787}"/>
              </a:ext>
            </a:extLst>
          </p:cNvPr>
          <p:cNvSpPr txBox="1">
            <a:spLocks noChangeArrowheads="1"/>
          </p:cNvSpPr>
          <p:nvPr/>
        </p:nvSpPr>
        <p:spPr bwMode="auto">
          <a:xfrm>
            <a:off x="5753100" y="2760663"/>
            <a:ext cx="762000" cy="304800"/>
          </a:xfrm>
          <a:prstGeom prst="rect">
            <a:avLst/>
          </a:prstGeom>
          <a:noFill/>
          <a:ln w="9525">
            <a:noFill/>
            <a:miter lim="800000"/>
            <a:headEnd/>
            <a:tailEnd/>
          </a:ln>
          <a:effectLst/>
        </p:spPr>
        <p:txBody>
          <a:bodyPr>
            <a:spAutoFit/>
          </a:bodyPr>
          <a:lstStyle/>
          <a:p>
            <a:pPr eaLnBrk="1" hangingPunct="1">
              <a:defRPr/>
            </a:pPr>
            <a:r>
              <a:rPr lang="en-US" altLang="zh-CN" sz="1400">
                <a:effectLst>
                  <a:outerShdw blurRad="38100" dist="38100" dir="2700000" algn="tl">
                    <a:srgbClr val="000000"/>
                  </a:outerShdw>
                </a:effectLst>
              </a:rPr>
              <a:t>(</a:t>
            </a:r>
            <a:r>
              <a:rPr lang="zh-CN" altLang="en-US" sz="1400">
                <a:effectLst>
                  <a:outerShdw blurRad="38100" dist="38100" dir="2700000" algn="tl">
                    <a:srgbClr val="000000"/>
                  </a:outerShdw>
                </a:effectLst>
              </a:rPr>
              <a:t>＋</a:t>
            </a:r>
            <a:r>
              <a:rPr lang="en-US" altLang="zh-CN" sz="1400">
                <a:effectLst>
                  <a:outerShdw blurRad="38100" dist="38100" dir="2700000" algn="tl">
                    <a:srgbClr val="000000"/>
                  </a:outerShdw>
                </a:effectLst>
              </a:rPr>
              <a:t>)</a:t>
            </a:r>
          </a:p>
        </p:txBody>
      </p:sp>
      <p:sp>
        <p:nvSpPr>
          <p:cNvPr id="203860" name="Text Box 84">
            <a:extLst>
              <a:ext uri="{FF2B5EF4-FFF2-40B4-BE49-F238E27FC236}">
                <a16:creationId xmlns:a16="http://schemas.microsoft.com/office/drawing/2014/main" id="{2A5A77A8-8D67-43D2-8571-2588F100AA61}"/>
              </a:ext>
            </a:extLst>
          </p:cNvPr>
          <p:cNvSpPr txBox="1">
            <a:spLocks noChangeArrowheads="1"/>
          </p:cNvSpPr>
          <p:nvPr/>
        </p:nvSpPr>
        <p:spPr bwMode="auto">
          <a:xfrm>
            <a:off x="5567363" y="1952625"/>
            <a:ext cx="762000" cy="304800"/>
          </a:xfrm>
          <a:prstGeom prst="rect">
            <a:avLst/>
          </a:prstGeom>
          <a:noFill/>
          <a:ln w="9525">
            <a:noFill/>
            <a:miter lim="800000"/>
            <a:headEnd/>
            <a:tailEnd/>
          </a:ln>
          <a:effectLst/>
        </p:spPr>
        <p:txBody>
          <a:bodyPr>
            <a:spAutoFit/>
          </a:bodyPr>
          <a:lstStyle/>
          <a:p>
            <a:pPr eaLnBrk="1" hangingPunct="1">
              <a:defRPr/>
            </a:pPr>
            <a:r>
              <a:rPr lang="en-US" altLang="zh-CN" sz="1400">
                <a:effectLst>
                  <a:outerShdw blurRad="38100" dist="38100" dir="2700000" algn="tl">
                    <a:srgbClr val="000000"/>
                  </a:outerShdw>
                </a:effectLst>
              </a:rPr>
              <a:t>(</a:t>
            </a:r>
            <a:r>
              <a:rPr lang="zh-CN" altLang="en-US" sz="1400">
                <a:effectLst>
                  <a:outerShdw blurRad="38100" dist="38100" dir="2700000" algn="tl">
                    <a:srgbClr val="000000"/>
                  </a:outerShdw>
                </a:effectLst>
              </a:rPr>
              <a:t>－</a:t>
            </a:r>
            <a:r>
              <a:rPr lang="en-US" altLang="zh-CN" sz="1400">
                <a:effectLst>
                  <a:outerShdw blurRad="38100" dist="38100" dir="2700000" algn="tl">
                    <a:srgbClr val="000000"/>
                  </a:outerShdw>
                </a:effectLst>
              </a:rPr>
              <a:t>)</a:t>
            </a:r>
          </a:p>
        </p:txBody>
      </p:sp>
      <p:sp>
        <p:nvSpPr>
          <p:cNvPr id="203861" name="Text Box 85">
            <a:extLst>
              <a:ext uri="{FF2B5EF4-FFF2-40B4-BE49-F238E27FC236}">
                <a16:creationId xmlns:a16="http://schemas.microsoft.com/office/drawing/2014/main" id="{E18CF3BF-A7A4-4D82-A4A5-6D847F3F0B0A}"/>
              </a:ext>
            </a:extLst>
          </p:cNvPr>
          <p:cNvSpPr txBox="1">
            <a:spLocks noChangeArrowheads="1"/>
          </p:cNvSpPr>
          <p:nvPr/>
        </p:nvSpPr>
        <p:spPr bwMode="auto">
          <a:xfrm>
            <a:off x="4343400" y="1952625"/>
            <a:ext cx="762000" cy="304800"/>
          </a:xfrm>
          <a:prstGeom prst="rect">
            <a:avLst/>
          </a:prstGeom>
          <a:noFill/>
          <a:ln w="9525">
            <a:noFill/>
            <a:miter lim="800000"/>
            <a:headEnd/>
            <a:tailEnd/>
          </a:ln>
          <a:effectLst/>
        </p:spPr>
        <p:txBody>
          <a:bodyPr>
            <a:spAutoFit/>
          </a:bodyPr>
          <a:lstStyle/>
          <a:p>
            <a:pPr eaLnBrk="1" hangingPunct="1">
              <a:defRPr/>
            </a:pPr>
            <a:r>
              <a:rPr lang="en-US" altLang="zh-CN" sz="1400">
                <a:effectLst>
                  <a:outerShdw blurRad="38100" dist="38100" dir="2700000" algn="tl">
                    <a:srgbClr val="000000"/>
                  </a:outerShdw>
                </a:effectLst>
              </a:rPr>
              <a:t>(</a:t>
            </a:r>
            <a:r>
              <a:rPr lang="zh-CN" altLang="en-US" sz="1400">
                <a:effectLst>
                  <a:outerShdw blurRad="38100" dist="38100" dir="2700000" algn="tl">
                    <a:srgbClr val="000000"/>
                  </a:outerShdw>
                </a:effectLst>
              </a:rPr>
              <a:t>＋</a:t>
            </a:r>
            <a:r>
              <a:rPr lang="en-US" altLang="zh-CN" sz="1400">
                <a:effectLst>
                  <a:outerShdw blurRad="38100" dist="38100" dir="2700000" algn="tl">
                    <a:srgbClr val="000000"/>
                  </a:outerShdw>
                </a:effectLst>
              </a:rPr>
              <a:t>)</a:t>
            </a:r>
          </a:p>
        </p:txBody>
      </p:sp>
      <p:sp>
        <p:nvSpPr>
          <p:cNvPr id="203862" name="Text Box 86">
            <a:extLst>
              <a:ext uri="{FF2B5EF4-FFF2-40B4-BE49-F238E27FC236}">
                <a16:creationId xmlns:a16="http://schemas.microsoft.com/office/drawing/2014/main" id="{91F8DC11-CEE9-4E66-8E45-B898AF09649A}"/>
              </a:ext>
            </a:extLst>
          </p:cNvPr>
          <p:cNvSpPr txBox="1">
            <a:spLocks noChangeArrowheads="1"/>
          </p:cNvSpPr>
          <p:nvPr/>
        </p:nvSpPr>
        <p:spPr bwMode="auto">
          <a:xfrm>
            <a:off x="4384675" y="2689225"/>
            <a:ext cx="762000" cy="304800"/>
          </a:xfrm>
          <a:prstGeom prst="rect">
            <a:avLst/>
          </a:prstGeom>
          <a:noFill/>
          <a:ln w="9525">
            <a:noFill/>
            <a:miter lim="800000"/>
            <a:headEnd/>
            <a:tailEnd/>
          </a:ln>
          <a:effectLst/>
        </p:spPr>
        <p:txBody>
          <a:bodyPr>
            <a:spAutoFit/>
          </a:bodyPr>
          <a:lstStyle/>
          <a:p>
            <a:pPr eaLnBrk="1" hangingPunct="1">
              <a:defRPr/>
            </a:pPr>
            <a:r>
              <a:rPr lang="en-US" altLang="zh-CN" sz="1400">
                <a:effectLst>
                  <a:outerShdw blurRad="38100" dist="38100" dir="2700000" algn="tl">
                    <a:srgbClr val="000000"/>
                  </a:outerShdw>
                </a:effectLst>
              </a:rPr>
              <a:t>(</a:t>
            </a:r>
            <a:r>
              <a:rPr lang="zh-CN" altLang="en-US" sz="1400">
                <a:effectLst>
                  <a:outerShdw blurRad="38100" dist="38100" dir="2700000" algn="tl">
                    <a:srgbClr val="000000"/>
                  </a:outerShdw>
                </a:effectLst>
              </a:rPr>
              <a:t>－</a:t>
            </a:r>
            <a:r>
              <a:rPr lang="en-US" altLang="zh-CN" sz="1400">
                <a:effectLst>
                  <a:outerShdw blurRad="38100" dist="38100" dir="2700000" algn="tl">
                    <a:srgbClr val="000000"/>
                  </a:outerShdw>
                </a:effectLst>
              </a:rPr>
              <a:t>)</a:t>
            </a:r>
          </a:p>
        </p:txBody>
      </p:sp>
      <p:sp>
        <p:nvSpPr>
          <p:cNvPr id="203869" name="Text Box 93">
            <a:extLst>
              <a:ext uri="{FF2B5EF4-FFF2-40B4-BE49-F238E27FC236}">
                <a16:creationId xmlns:a16="http://schemas.microsoft.com/office/drawing/2014/main" id="{903AA1C2-7ADE-46EA-AA14-CB6401B3E234}"/>
              </a:ext>
            </a:extLst>
          </p:cNvPr>
          <p:cNvSpPr txBox="1">
            <a:spLocks noChangeArrowheads="1"/>
          </p:cNvSpPr>
          <p:nvPr/>
        </p:nvSpPr>
        <p:spPr bwMode="auto">
          <a:xfrm>
            <a:off x="5681663" y="2689225"/>
            <a:ext cx="504825" cy="396875"/>
          </a:xfrm>
          <a:prstGeom prst="rect">
            <a:avLst/>
          </a:prstGeom>
          <a:solidFill>
            <a:schemeClr val="bg1"/>
          </a:solidFill>
          <a:ln w="9525">
            <a:noFill/>
            <a:miter lim="800000"/>
            <a:headEnd/>
            <a:tailEnd/>
          </a:ln>
          <a:effectLst/>
        </p:spPr>
        <p:txBody>
          <a:bodyPr>
            <a:spAutoFit/>
          </a:bodyPr>
          <a:lstStyle/>
          <a:p>
            <a:pPr algn="ctr" eaLnBrk="1" hangingPunct="1">
              <a:buClr>
                <a:schemeClr val="accent1"/>
              </a:buClr>
              <a:buSzPct val="80000"/>
              <a:buFont typeface="Wingdings" pitchFamily="2" charset="2"/>
              <a:buNone/>
              <a:defRPr/>
            </a:pPr>
            <a:r>
              <a:rPr lang="en-US" altLang="zh-CN" sz="2000">
                <a:solidFill>
                  <a:srgbClr val="A50021"/>
                </a:solidFill>
                <a:effectLst>
                  <a:outerShdw blurRad="38100" dist="38100" dir="2700000" algn="tl">
                    <a:srgbClr val="000000"/>
                  </a:outerShdw>
                </a:effectLst>
              </a:rPr>
              <a:t>1</a:t>
            </a:r>
            <a:endParaRPr lang="en-US" altLang="zh-CN" sz="3200">
              <a:solidFill>
                <a:srgbClr val="000000"/>
              </a:solidFill>
              <a:effectLst>
                <a:outerShdw blurRad="38100" dist="38100" dir="2700000" algn="tl">
                  <a:srgbClr val="FFFFFF"/>
                </a:outerShdw>
              </a:effectLst>
              <a:latin typeface="楷体_GB2312" pitchFamily="49" charset="-122"/>
              <a:ea typeface="楷体_GB2312" pitchFamily="49" charset="-122"/>
            </a:endParaRPr>
          </a:p>
        </p:txBody>
      </p:sp>
      <p:sp>
        <p:nvSpPr>
          <p:cNvPr id="203871" name="Text Box 95">
            <a:extLst>
              <a:ext uri="{FF2B5EF4-FFF2-40B4-BE49-F238E27FC236}">
                <a16:creationId xmlns:a16="http://schemas.microsoft.com/office/drawing/2014/main" id="{89A8D088-1077-42AA-B2C9-A9B4B9FC1605}"/>
              </a:ext>
            </a:extLst>
          </p:cNvPr>
          <p:cNvSpPr txBox="1">
            <a:spLocks noChangeArrowheads="1"/>
          </p:cNvSpPr>
          <p:nvPr/>
        </p:nvSpPr>
        <p:spPr bwMode="auto">
          <a:xfrm>
            <a:off x="5683250" y="1931988"/>
            <a:ext cx="504825" cy="396875"/>
          </a:xfrm>
          <a:prstGeom prst="rect">
            <a:avLst/>
          </a:prstGeom>
          <a:solidFill>
            <a:schemeClr val="bg1"/>
          </a:solidFill>
          <a:ln w="9525">
            <a:noFill/>
            <a:miter lim="800000"/>
            <a:headEnd/>
            <a:tailEnd/>
          </a:ln>
          <a:effectLst/>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buClr>
                <a:schemeClr val="accent1"/>
              </a:buClr>
              <a:buSzPct val="80000"/>
              <a:buFont typeface="Wingdings" panose="05000000000000000000" pitchFamily="2" charset="2"/>
              <a:buNone/>
              <a:defRPr/>
            </a:pPr>
            <a:r>
              <a:rPr lang="en-US" altLang="zh-CN" sz="2000">
                <a:solidFill>
                  <a:srgbClr val="CC3300"/>
                </a:solidFill>
                <a:effectLst>
                  <a:outerShdw blurRad="38100" dist="38100" dir="2700000" algn="tl">
                    <a:srgbClr val="000000"/>
                  </a:outerShdw>
                </a:effectLst>
                <a:latin typeface="Arial" panose="020B0604020202020204" pitchFamily="34" charset="0"/>
                <a:ea typeface="楷体_GB2312" pitchFamily="49" charset="-122"/>
              </a:rPr>
              <a:t>2</a:t>
            </a:r>
          </a:p>
        </p:txBody>
      </p:sp>
      <p:sp>
        <p:nvSpPr>
          <p:cNvPr id="203872" name="Text Box 96">
            <a:extLst>
              <a:ext uri="{FF2B5EF4-FFF2-40B4-BE49-F238E27FC236}">
                <a16:creationId xmlns:a16="http://schemas.microsoft.com/office/drawing/2014/main" id="{C582C842-B7F5-478A-97FF-A637D9D04C4E}"/>
              </a:ext>
            </a:extLst>
          </p:cNvPr>
          <p:cNvSpPr txBox="1">
            <a:spLocks noChangeArrowheads="1"/>
          </p:cNvSpPr>
          <p:nvPr/>
        </p:nvSpPr>
        <p:spPr bwMode="auto">
          <a:xfrm>
            <a:off x="4457700" y="1897063"/>
            <a:ext cx="504825" cy="396875"/>
          </a:xfrm>
          <a:prstGeom prst="rect">
            <a:avLst/>
          </a:prstGeom>
          <a:solidFill>
            <a:schemeClr val="bg1"/>
          </a:solidFill>
          <a:ln w="9525">
            <a:noFill/>
            <a:miter lim="800000"/>
            <a:headEnd/>
            <a:tailEnd/>
          </a:ln>
          <a:effectLst/>
        </p:spPr>
        <p:txBody>
          <a:bodyPr>
            <a:spAutoFit/>
          </a:bodyPr>
          <a:lstStyle/>
          <a:p>
            <a:pPr algn="ctr" eaLnBrk="1" hangingPunct="1">
              <a:buClr>
                <a:schemeClr val="accent1"/>
              </a:buClr>
              <a:buSzPct val="80000"/>
              <a:buFont typeface="Wingdings" pitchFamily="2" charset="2"/>
              <a:buNone/>
              <a:defRPr/>
            </a:pPr>
            <a:r>
              <a:rPr lang="en-US" altLang="zh-CN" sz="2000">
                <a:solidFill>
                  <a:srgbClr val="A50021"/>
                </a:solidFill>
                <a:effectLst>
                  <a:outerShdw blurRad="38100" dist="38100" dir="2700000" algn="tl">
                    <a:srgbClr val="000000"/>
                  </a:outerShdw>
                </a:effectLst>
              </a:rPr>
              <a:t>5</a:t>
            </a:r>
            <a:endParaRPr lang="en-US" altLang="zh-CN" sz="3200">
              <a:solidFill>
                <a:srgbClr val="000000"/>
              </a:solidFill>
              <a:effectLst>
                <a:outerShdw blurRad="38100" dist="38100" dir="2700000" algn="tl">
                  <a:srgbClr val="FFFFFF"/>
                </a:outerShdw>
              </a:effectLst>
              <a:latin typeface="楷体_GB2312" pitchFamily="49" charset="-122"/>
              <a:ea typeface="楷体_GB2312" pitchFamily="49" charset="-122"/>
            </a:endParaRPr>
          </a:p>
        </p:txBody>
      </p:sp>
      <p:sp>
        <p:nvSpPr>
          <p:cNvPr id="203873" name="Text Box 97">
            <a:extLst>
              <a:ext uri="{FF2B5EF4-FFF2-40B4-BE49-F238E27FC236}">
                <a16:creationId xmlns:a16="http://schemas.microsoft.com/office/drawing/2014/main" id="{E1006A3A-F4E8-4E5D-9615-A417E4717E33}"/>
              </a:ext>
            </a:extLst>
          </p:cNvPr>
          <p:cNvSpPr txBox="1">
            <a:spLocks noChangeArrowheads="1"/>
          </p:cNvSpPr>
          <p:nvPr/>
        </p:nvSpPr>
        <p:spPr bwMode="auto">
          <a:xfrm>
            <a:off x="4457700" y="2689225"/>
            <a:ext cx="504825" cy="396875"/>
          </a:xfrm>
          <a:prstGeom prst="rect">
            <a:avLst/>
          </a:prstGeom>
          <a:solidFill>
            <a:schemeClr val="bg1"/>
          </a:solidFill>
          <a:ln w="9525">
            <a:noFill/>
            <a:miter lim="800000"/>
            <a:headEnd/>
            <a:tailEnd/>
          </a:ln>
          <a:effectLst/>
        </p:spPr>
        <p:txBody>
          <a:bodyPr>
            <a:spAutoFit/>
          </a:bodyPr>
          <a:lstStyle/>
          <a:p>
            <a:pPr algn="ctr" eaLnBrk="1" hangingPunct="1">
              <a:buClr>
                <a:schemeClr val="accent1"/>
              </a:buClr>
              <a:buSzPct val="80000"/>
              <a:buFont typeface="Wingdings" pitchFamily="2" charset="2"/>
              <a:buNone/>
              <a:defRPr/>
            </a:pPr>
            <a:endParaRPr lang="zh-CN" altLang="zh-CN" sz="2000">
              <a:solidFill>
                <a:srgbClr val="000000"/>
              </a:solidFill>
              <a:effectLst>
                <a:outerShdw blurRad="38100" dist="38100" dir="2700000" algn="tl">
                  <a:srgbClr val="FFFFFF"/>
                </a:outerShdw>
              </a:effectLst>
              <a:latin typeface="楷体_GB2312" pitchFamily="49" charset="-122"/>
              <a:ea typeface="楷体_GB2312" pitchFamily="49" charset="-122"/>
            </a:endParaRPr>
          </a:p>
        </p:txBody>
      </p:sp>
      <p:graphicFrame>
        <p:nvGraphicFramePr>
          <p:cNvPr id="92237" name="对象 1">
            <a:extLst>
              <a:ext uri="{FF2B5EF4-FFF2-40B4-BE49-F238E27FC236}">
                <a16:creationId xmlns:a16="http://schemas.microsoft.com/office/drawing/2014/main" id="{E721BB9C-2A2C-4CAF-A3D5-F84302AF4028}"/>
              </a:ext>
            </a:extLst>
          </p:cNvPr>
          <p:cNvGraphicFramePr>
            <a:graphicFrameLocks noChangeAspect="1"/>
          </p:cNvGraphicFramePr>
          <p:nvPr/>
        </p:nvGraphicFramePr>
        <p:xfrm>
          <a:off x="2581275" y="4733925"/>
          <a:ext cx="4116388" cy="554038"/>
        </p:xfrm>
        <a:graphic>
          <a:graphicData uri="http://schemas.openxmlformats.org/presentationml/2006/ole">
            <mc:AlternateContent xmlns:mc="http://schemas.openxmlformats.org/markup-compatibility/2006">
              <mc:Choice xmlns:v="urn:schemas-microsoft-com:vml" Requires="v">
                <p:oleObj spid="_x0000_s92245" name="Equation" r:id="rId3" imgW="1320227" imgH="177723" progId="Equation.DSMT4">
                  <p:embed/>
                </p:oleObj>
              </mc:Choice>
              <mc:Fallback>
                <p:oleObj name="Equation" r:id="rId3" imgW="1320227" imgH="177723" progId="Equation.DSMT4">
                  <p:embed/>
                  <p:pic>
                    <p:nvPicPr>
                      <p:cNvPr id="0" name="对象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1275" y="4733925"/>
                        <a:ext cx="4116388"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5" name="矩形 34">
            <a:extLst>
              <a:ext uri="{FF2B5EF4-FFF2-40B4-BE49-F238E27FC236}">
                <a16:creationId xmlns:a16="http://schemas.microsoft.com/office/drawing/2014/main" id="{B3B6CEE5-0C4B-4A1A-A838-BCFF53E68C5D}"/>
              </a:ext>
            </a:extLst>
          </p:cNvPr>
          <p:cNvSpPr>
            <a:spLocks noChangeArrowheads="1"/>
          </p:cNvSpPr>
          <p:nvPr/>
        </p:nvSpPr>
        <p:spPr bwMode="auto">
          <a:xfrm>
            <a:off x="887413" y="5672138"/>
            <a:ext cx="7140575" cy="369887"/>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a:solidFill>
                  <a:srgbClr val="FF0000"/>
                </a:solidFill>
              </a:rPr>
              <a:t>用于解的改进</a:t>
            </a:r>
            <a:r>
              <a:rPr lang="en-US" altLang="zh-CN" b="1">
                <a:solidFill>
                  <a:srgbClr val="FF0000"/>
                </a:solidFill>
              </a:rPr>
              <a:t>(</a:t>
            </a:r>
            <a:r>
              <a:rPr lang="zh-CN" altLang="en-US" b="1">
                <a:solidFill>
                  <a:srgbClr val="FF0000"/>
                </a:solidFill>
              </a:rPr>
              <a:t>运输方案调整</a:t>
            </a:r>
            <a:r>
              <a:rPr lang="en-US" altLang="zh-CN" b="1">
                <a:solidFill>
                  <a:srgbClr val="FF0000"/>
                </a:solidFill>
              </a:rPr>
              <a:t>)</a:t>
            </a:r>
            <a:r>
              <a:rPr lang="zh-CN" altLang="en-US" b="1">
                <a:solidFill>
                  <a:srgbClr val="FF0000"/>
                </a:solidFill>
              </a:rPr>
              <a:t> 的闭回路调整法作用在</a:t>
            </a:r>
            <a:r>
              <a:rPr lang="zh-CN" altLang="en-US" b="1" i="1">
                <a:solidFill>
                  <a:srgbClr val="FF0000"/>
                </a:solidFill>
              </a:rPr>
              <a:t>运量</a:t>
            </a:r>
            <a:r>
              <a:rPr lang="zh-CN" altLang="en-US" b="1">
                <a:solidFill>
                  <a:srgbClr val="FF0000"/>
                </a:solidFill>
              </a:rPr>
              <a:t>上！！！</a:t>
            </a:r>
            <a:endParaRPr lang="zh-CN"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203855"/>
                                        </p:tgtEl>
                                        <p:attrNameLst>
                                          <p:attrName>style.visibility</p:attrName>
                                        </p:attrNameLst>
                                      </p:cBhvr>
                                      <p:to>
                                        <p:strVal val="visible"/>
                                      </p:to>
                                    </p:set>
                                    <p:animEffect transition="in" filter="wipe(down)">
                                      <p:cBhvr>
                                        <p:cTn id="7" dur="500"/>
                                        <p:tgtEl>
                                          <p:spTgt spid="20385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203856"/>
                                        </p:tgtEl>
                                        <p:attrNameLst>
                                          <p:attrName>style.visibility</p:attrName>
                                        </p:attrNameLst>
                                      </p:cBhvr>
                                      <p:to>
                                        <p:strVal val="visible"/>
                                      </p:to>
                                    </p:set>
                                    <p:animEffect transition="in" filter="wipe(down)">
                                      <p:cBhvr>
                                        <p:cTn id="12" dur="500"/>
                                        <p:tgtEl>
                                          <p:spTgt spid="20385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203857"/>
                                        </p:tgtEl>
                                        <p:attrNameLst>
                                          <p:attrName>style.visibility</p:attrName>
                                        </p:attrNameLst>
                                      </p:cBhvr>
                                      <p:to>
                                        <p:strVal val="visible"/>
                                      </p:to>
                                    </p:set>
                                    <p:animEffect transition="in" filter="wipe(down)">
                                      <p:cBhvr>
                                        <p:cTn id="17" dur="500"/>
                                        <p:tgtEl>
                                          <p:spTgt spid="20385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203858"/>
                                        </p:tgtEl>
                                        <p:attrNameLst>
                                          <p:attrName>style.visibility</p:attrName>
                                        </p:attrNameLst>
                                      </p:cBhvr>
                                      <p:to>
                                        <p:strVal val="visible"/>
                                      </p:to>
                                    </p:set>
                                    <p:animEffect transition="in" filter="wipe(down)">
                                      <p:cBhvr>
                                        <p:cTn id="22" dur="500"/>
                                        <p:tgtEl>
                                          <p:spTgt spid="203858"/>
                                        </p:tgtEl>
                                      </p:cBhvr>
                                    </p:animEffect>
                                  </p:childTnLst>
                                </p:cTn>
                              </p:par>
                            </p:childTnLst>
                          </p:cTn>
                        </p:par>
                        <p:par>
                          <p:cTn id="23" fill="hold" nodeType="afterGroup">
                            <p:stCondLst>
                              <p:cond delay="500"/>
                            </p:stCondLst>
                            <p:childTnLst>
                              <p:par>
                                <p:cTn id="24" presetID="3" presetClass="entr" presetSubtype="10" fill="hold" grpId="0" nodeType="afterEffect">
                                  <p:stCondLst>
                                    <p:cond delay="0"/>
                                  </p:stCondLst>
                                  <p:childTnLst>
                                    <p:set>
                                      <p:cBhvr>
                                        <p:cTn id="25" dur="1" fill="hold">
                                          <p:stCondLst>
                                            <p:cond delay="0"/>
                                          </p:stCondLst>
                                        </p:cTn>
                                        <p:tgtEl>
                                          <p:spTgt spid="203859"/>
                                        </p:tgtEl>
                                        <p:attrNameLst>
                                          <p:attrName>style.visibility</p:attrName>
                                        </p:attrNameLst>
                                      </p:cBhvr>
                                      <p:to>
                                        <p:strVal val="visible"/>
                                      </p:to>
                                    </p:set>
                                    <p:animEffect transition="in" filter="blinds(horizontal)">
                                      <p:cBhvr>
                                        <p:cTn id="26" dur="1000"/>
                                        <p:tgtEl>
                                          <p:spTgt spid="203859"/>
                                        </p:tgtEl>
                                      </p:cBhvr>
                                    </p:animEffect>
                                  </p:childTnLst>
                                </p:cTn>
                              </p:par>
                            </p:childTnLst>
                          </p:cTn>
                        </p:par>
                        <p:par>
                          <p:cTn id="27" fill="hold" nodeType="afterGroup">
                            <p:stCondLst>
                              <p:cond delay="1500"/>
                            </p:stCondLst>
                            <p:childTnLst>
                              <p:par>
                                <p:cTn id="28" presetID="3" presetClass="entr" presetSubtype="10" fill="hold" grpId="0" nodeType="afterEffect">
                                  <p:stCondLst>
                                    <p:cond delay="0"/>
                                  </p:stCondLst>
                                  <p:childTnLst>
                                    <p:set>
                                      <p:cBhvr>
                                        <p:cTn id="29" dur="1" fill="hold">
                                          <p:stCondLst>
                                            <p:cond delay="0"/>
                                          </p:stCondLst>
                                        </p:cTn>
                                        <p:tgtEl>
                                          <p:spTgt spid="203860"/>
                                        </p:tgtEl>
                                        <p:attrNameLst>
                                          <p:attrName>style.visibility</p:attrName>
                                        </p:attrNameLst>
                                      </p:cBhvr>
                                      <p:to>
                                        <p:strVal val="visible"/>
                                      </p:to>
                                    </p:set>
                                    <p:animEffect transition="in" filter="blinds(horizontal)">
                                      <p:cBhvr>
                                        <p:cTn id="30" dur="1000"/>
                                        <p:tgtEl>
                                          <p:spTgt spid="203860"/>
                                        </p:tgtEl>
                                      </p:cBhvr>
                                    </p:animEffect>
                                  </p:childTnLst>
                                </p:cTn>
                              </p:par>
                            </p:childTnLst>
                          </p:cTn>
                        </p:par>
                        <p:par>
                          <p:cTn id="31" fill="hold" nodeType="afterGroup">
                            <p:stCondLst>
                              <p:cond delay="2500"/>
                            </p:stCondLst>
                            <p:childTnLst>
                              <p:par>
                                <p:cTn id="32" presetID="3" presetClass="entr" presetSubtype="10" fill="hold" grpId="0" nodeType="afterEffect">
                                  <p:stCondLst>
                                    <p:cond delay="0"/>
                                  </p:stCondLst>
                                  <p:childTnLst>
                                    <p:set>
                                      <p:cBhvr>
                                        <p:cTn id="33" dur="1" fill="hold">
                                          <p:stCondLst>
                                            <p:cond delay="0"/>
                                          </p:stCondLst>
                                        </p:cTn>
                                        <p:tgtEl>
                                          <p:spTgt spid="203861"/>
                                        </p:tgtEl>
                                        <p:attrNameLst>
                                          <p:attrName>style.visibility</p:attrName>
                                        </p:attrNameLst>
                                      </p:cBhvr>
                                      <p:to>
                                        <p:strVal val="visible"/>
                                      </p:to>
                                    </p:set>
                                    <p:animEffect transition="in" filter="blinds(horizontal)">
                                      <p:cBhvr>
                                        <p:cTn id="34" dur="1000"/>
                                        <p:tgtEl>
                                          <p:spTgt spid="203861"/>
                                        </p:tgtEl>
                                      </p:cBhvr>
                                    </p:animEffect>
                                  </p:childTnLst>
                                </p:cTn>
                              </p:par>
                            </p:childTnLst>
                          </p:cTn>
                        </p:par>
                        <p:par>
                          <p:cTn id="35" fill="hold" nodeType="afterGroup">
                            <p:stCondLst>
                              <p:cond delay="3500"/>
                            </p:stCondLst>
                            <p:childTnLst>
                              <p:par>
                                <p:cTn id="36" presetID="3" presetClass="entr" presetSubtype="10" fill="hold" grpId="0" nodeType="afterEffect">
                                  <p:stCondLst>
                                    <p:cond delay="0"/>
                                  </p:stCondLst>
                                  <p:childTnLst>
                                    <p:set>
                                      <p:cBhvr>
                                        <p:cTn id="37" dur="1" fill="hold">
                                          <p:stCondLst>
                                            <p:cond delay="0"/>
                                          </p:stCondLst>
                                        </p:cTn>
                                        <p:tgtEl>
                                          <p:spTgt spid="203862"/>
                                        </p:tgtEl>
                                        <p:attrNameLst>
                                          <p:attrName>style.visibility</p:attrName>
                                        </p:attrNameLst>
                                      </p:cBhvr>
                                      <p:to>
                                        <p:strVal val="visible"/>
                                      </p:to>
                                    </p:set>
                                    <p:animEffect transition="in" filter="blinds(horizontal)">
                                      <p:cBhvr>
                                        <p:cTn id="38" dur="1000"/>
                                        <p:tgtEl>
                                          <p:spTgt spid="20386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4" fill="hold" grpId="0" nodeType="clickEffect">
                                  <p:stCondLst>
                                    <p:cond delay="0"/>
                                  </p:stCondLst>
                                  <p:childTnLst>
                                    <p:set>
                                      <p:cBhvr>
                                        <p:cTn id="42" dur="1" fill="hold">
                                          <p:stCondLst>
                                            <p:cond delay="0"/>
                                          </p:stCondLst>
                                        </p:cTn>
                                        <p:tgtEl>
                                          <p:spTgt spid="203869"/>
                                        </p:tgtEl>
                                        <p:attrNameLst>
                                          <p:attrName>style.visibility</p:attrName>
                                        </p:attrNameLst>
                                      </p:cBhvr>
                                      <p:to>
                                        <p:strVal val="visible"/>
                                      </p:to>
                                    </p:set>
                                    <p:animEffect transition="in" filter="wipe(down)">
                                      <p:cBhvr>
                                        <p:cTn id="43" dur="500"/>
                                        <p:tgtEl>
                                          <p:spTgt spid="203869"/>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203871"/>
                                        </p:tgtEl>
                                        <p:attrNameLst>
                                          <p:attrName>style.visibility</p:attrName>
                                        </p:attrNameLst>
                                      </p:cBhvr>
                                      <p:to>
                                        <p:strVal val="visible"/>
                                      </p:to>
                                    </p:set>
                                    <p:animEffect transition="in" filter="wipe(down)">
                                      <p:cBhvr>
                                        <p:cTn id="48" dur="500"/>
                                        <p:tgtEl>
                                          <p:spTgt spid="203871"/>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4" fill="hold" grpId="0" nodeType="clickEffect">
                                  <p:stCondLst>
                                    <p:cond delay="0"/>
                                  </p:stCondLst>
                                  <p:childTnLst>
                                    <p:set>
                                      <p:cBhvr>
                                        <p:cTn id="52" dur="1" fill="hold">
                                          <p:stCondLst>
                                            <p:cond delay="0"/>
                                          </p:stCondLst>
                                        </p:cTn>
                                        <p:tgtEl>
                                          <p:spTgt spid="203872"/>
                                        </p:tgtEl>
                                        <p:attrNameLst>
                                          <p:attrName>style.visibility</p:attrName>
                                        </p:attrNameLst>
                                      </p:cBhvr>
                                      <p:to>
                                        <p:strVal val="visible"/>
                                      </p:to>
                                    </p:set>
                                    <p:animEffect transition="in" filter="wipe(down)">
                                      <p:cBhvr>
                                        <p:cTn id="53" dur="500"/>
                                        <p:tgtEl>
                                          <p:spTgt spid="203872"/>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4" fill="hold" grpId="0" nodeType="clickEffect">
                                  <p:stCondLst>
                                    <p:cond delay="0"/>
                                  </p:stCondLst>
                                  <p:childTnLst>
                                    <p:set>
                                      <p:cBhvr>
                                        <p:cTn id="57" dur="1" fill="hold">
                                          <p:stCondLst>
                                            <p:cond delay="0"/>
                                          </p:stCondLst>
                                        </p:cTn>
                                        <p:tgtEl>
                                          <p:spTgt spid="203873"/>
                                        </p:tgtEl>
                                        <p:attrNameLst>
                                          <p:attrName>style.visibility</p:attrName>
                                        </p:attrNameLst>
                                      </p:cBhvr>
                                      <p:to>
                                        <p:strVal val="visible"/>
                                      </p:to>
                                    </p:set>
                                    <p:animEffect transition="in" filter="wipe(down)">
                                      <p:cBhvr>
                                        <p:cTn id="58" dur="500"/>
                                        <p:tgtEl>
                                          <p:spTgt spid="203873"/>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4" presetClass="entr" presetSubtype="10" fill="hold" grpId="0" nodeType="clickEffect">
                                  <p:stCondLst>
                                    <p:cond delay="0"/>
                                  </p:stCondLst>
                                  <p:childTnLst>
                                    <p:set>
                                      <p:cBhvr>
                                        <p:cTn id="62" dur="1" fill="hold">
                                          <p:stCondLst>
                                            <p:cond delay="0"/>
                                          </p:stCondLst>
                                        </p:cTn>
                                        <p:tgtEl>
                                          <p:spTgt spid="35"/>
                                        </p:tgtEl>
                                        <p:attrNameLst>
                                          <p:attrName>style.visibility</p:attrName>
                                        </p:attrNameLst>
                                      </p:cBhvr>
                                      <p:to>
                                        <p:strVal val="visible"/>
                                      </p:to>
                                    </p:set>
                                    <p:animEffect transition="in" filter="randombar(horizontal)">
                                      <p:cBhvr>
                                        <p:cTn id="63"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859" grpId="0" autoUpdateAnimBg="0"/>
      <p:bldP spid="203860" grpId="0" autoUpdateAnimBg="0"/>
      <p:bldP spid="203861" grpId="0" autoUpdateAnimBg="0"/>
      <p:bldP spid="203862" grpId="0" autoUpdateAnimBg="0"/>
      <p:bldP spid="203869" grpId="0" animBg="1"/>
      <p:bldP spid="203871" grpId="0" animBg="1"/>
      <p:bldP spid="203872" grpId="0" animBg="1"/>
      <p:bldP spid="203873" grpId="0" animBg="1"/>
      <p:bldP spid="35"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descr="Large confetti">
            <a:extLst>
              <a:ext uri="{FF2B5EF4-FFF2-40B4-BE49-F238E27FC236}">
                <a16:creationId xmlns:a16="http://schemas.microsoft.com/office/drawing/2014/main" id="{36A7147F-8644-47E9-A493-D3A7BB384C6F}"/>
              </a:ext>
            </a:extLst>
          </p:cNvPr>
          <p:cNvSpPr>
            <a:spLocks noGrp="1" noChangeArrowheads="1"/>
          </p:cNvSpPr>
          <p:nvPr>
            <p:ph type="title"/>
          </p:nvPr>
        </p:nvSpPr>
        <p:spPr/>
        <p:txBody>
          <a:bodyPr/>
          <a:lstStyle/>
          <a:p>
            <a:pPr eaLnBrk="1" hangingPunct="1"/>
            <a:r>
              <a:rPr lang="zh-CN" altLang="en-US"/>
              <a:t>闭回路调整法</a:t>
            </a:r>
          </a:p>
        </p:txBody>
      </p:sp>
      <p:sp>
        <p:nvSpPr>
          <p:cNvPr id="235523" name="Rectangle 3">
            <a:extLst>
              <a:ext uri="{FF2B5EF4-FFF2-40B4-BE49-F238E27FC236}">
                <a16:creationId xmlns:a16="http://schemas.microsoft.com/office/drawing/2014/main" id="{332376CE-4087-4170-9962-B3F9769FEB9A}"/>
              </a:ext>
            </a:extLst>
          </p:cNvPr>
          <p:cNvSpPr>
            <a:spLocks noChangeArrowheads="1"/>
          </p:cNvSpPr>
          <p:nvPr/>
        </p:nvSpPr>
        <p:spPr bwMode="auto">
          <a:xfrm>
            <a:off x="457200" y="4973638"/>
            <a:ext cx="8353425" cy="1255712"/>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spcBef>
                <a:spcPct val="15000"/>
              </a:spcBef>
              <a:defRPr/>
            </a:pPr>
            <a:r>
              <a:rPr lang="zh-CN" altLang="en-US" dirty="0">
                <a:solidFill>
                  <a:schemeClr val="tx1"/>
                </a:solidFill>
                <a:ea typeface="+mn-ea"/>
                <a:cs typeface="Times New Roman" panose="02020603050405020304" pitchFamily="18" charset="0"/>
              </a:rPr>
              <a:t>当所有非基变量的检验数均非负时，则当前调运方案即为最优方案，如表此时最小总运费：</a:t>
            </a:r>
          </a:p>
          <a:p>
            <a:pPr eaLnBrk="1" hangingPunct="1">
              <a:spcBef>
                <a:spcPct val="15000"/>
              </a:spcBef>
              <a:defRPr/>
            </a:pPr>
            <a:r>
              <a:rPr lang="en-US" altLang="zh-CN" dirty="0">
                <a:solidFill>
                  <a:schemeClr val="tx1"/>
                </a:solidFill>
                <a:ea typeface="+mn-ea"/>
                <a:cs typeface="Times New Roman" panose="02020603050405020304" pitchFamily="18" charset="0"/>
              </a:rPr>
              <a:t>z =</a:t>
            </a:r>
            <a:r>
              <a:rPr lang="en-US" altLang="en-US" dirty="0">
                <a:solidFill>
                  <a:schemeClr val="tx1"/>
                </a:solidFill>
                <a:ea typeface="+mn-ea"/>
                <a:cs typeface="Times New Roman" panose="02020603050405020304" pitchFamily="18" charset="0"/>
              </a:rPr>
              <a:t>(1×3)＋(4×6)＋(3×5)＋(2×10)＋(1×8)＋(3×5)＝85元</a:t>
            </a:r>
          </a:p>
        </p:txBody>
      </p:sp>
      <p:graphicFrame>
        <p:nvGraphicFramePr>
          <p:cNvPr id="189444" name="Group 4">
            <a:extLst>
              <a:ext uri="{FF2B5EF4-FFF2-40B4-BE49-F238E27FC236}">
                <a16:creationId xmlns:a16="http://schemas.microsoft.com/office/drawing/2014/main" id="{3AA51E36-055A-44CE-BAE4-B81DD17A9C81}"/>
              </a:ext>
            </a:extLst>
          </p:cNvPr>
          <p:cNvGraphicFramePr>
            <a:graphicFrameLocks noGrp="1"/>
          </p:cNvGraphicFramePr>
          <p:nvPr/>
        </p:nvGraphicFramePr>
        <p:xfrm>
          <a:off x="1187450" y="1366838"/>
          <a:ext cx="6427788" cy="3357563"/>
        </p:xfrm>
        <a:graphic>
          <a:graphicData uri="http://schemas.openxmlformats.org/drawingml/2006/table">
            <a:tbl>
              <a:tblPr/>
              <a:tblGrid>
                <a:gridCol w="1119188">
                  <a:extLst>
                    <a:ext uri="{9D8B030D-6E8A-4147-A177-3AD203B41FA5}">
                      <a16:colId xmlns:a16="http://schemas.microsoft.com/office/drawing/2014/main" val="20000"/>
                    </a:ext>
                  </a:extLst>
                </a:gridCol>
                <a:gridCol w="1119187">
                  <a:extLst>
                    <a:ext uri="{9D8B030D-6E8A-4147-A177-3AD203B41FA5}">
                      <a16:colId xmlns:a16="http://schemas.microsoft.com/office/drawing/2014/main" val="20001"/>
                    </a:ext>
                  </a:extLst>
                </a:gridCol>
                <a:gridCol w="1119188">
                  <a:extLst>
                    <a:ext uri="{9D8B030D-6E8A-4147-A177-3AD203B41FA5}">
                      <a16:colId xmlns:a16="http://schemas.microsoft.com/office/drawing/2014/main" val="20002"/>
                    </a:ext>
                  </a:extLst>
                </a:gridCol>
                <a:gridCol w="1119187">
                  <a:extLst>
                    <a:ext uri="{9D8B030D-6E8A-4147-A177-3AD203B41FA5}">
                      <a16:colId xmlns:a16="http://schemas.microsoft.com/office/drawing/2014/main" val="20003"/>
                    </a:ext>
                  </a:extLst>
                </a:gridCol>
                <a:gridCol w="1119188">
                  <a:extLst>
                    <a:ext uri="{9D8B030D-6E8A-4147-A177-3AD203B41FA5}">
                      <a16:colId xmlns:a16="http://schemas.microsoft.com/office/drawing/2014/main" val="20004"/>
                    </a:ext>
                  </a:extLst>
                </a:gridCol>
                <a:gridCol w="831850">
                  <a:extLst>
                    <a:ext uri="{9D8B030D-6E8A-4147-A177-3AD203B41FA5}">
                      <a16:colId xmlns:a16="http://schemas.microsoft.com/office/drawing/2014/main" val="20005"/>
                    </a:ext>
                  </a:extLst>
                </a:gridCol>
              </a:tblGrid>
              <a:tr h="546100">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4</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rgbClr val="000000"/>
                          </a:solidFill>
                          <a:effectLst/>
                          <a:latin typeface="Times New Roman" pitchFamily="18" charset="0"/>
                          <a:ea typeface="宋体" pitchFamily="2" charset="-122"/>
                        </a:rPr>
                        <a:t>u</a:t>
                      </a:r>
                      <a:r>
                        <a:rPr kumimoji="1" lang="en-US" altLang="zh-CN" sz="2000" b="1" i="1" u="none" strike="noStrike" cap="none" normalizeH="0" baseline="-25000" dirty="0" err="1">
                          <a:ln>
                            <a:noFill/>
                          </a:ln>
                          <a:solidFill>
                            <a:srgbClr val="000000"/>
                          </a:solidFill>
                          <a:effectLst/>
                          <a:latin typeface="Times New Roman" pitchFamily="18" charset="0"/>
                          <a:ea typeface="宋体" pitchFamily="2" charset="-122"/>
                        </a:rPr>
                        <a:t>i</a:t>
                      </a:r>
                      <a:endParaRPr kumimoji="1" lang="en-US" altLang="zh-CN" sz="2000" b="1" i="1" u="none" strike="noStrike" cap="none" normalizeH="0" baseline="-25000" dirty="0">
                        <a:ln>
                          <a:noFill/>
                        </a:ln>
                        <a:solidFill>
                          <a:srgbClr val="000000"/>
                        </a:solidFill>
                        <a:effectLst/>
                        <a:latin typeface="Times New Roman" pitchFamily="18" charset="0"/>
                        <a:ea typeface="宋体"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5088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3657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chemeClr val="bg2"/>
                          </a:solidFill>
                          <a:effectLst/>
                          <a:latin typeface="Times New Roman" pitchFamily="18" charset="0"/>
                          <a:ea typeface="华文细黑" pitchFamily="2" charset="-122"/>
                        </a:rPr>
                        <a:t>v</a:t>
                      </a:r>
                      <a:r>
                        <a:rPr kumimoji="1" lang="en-US" altLang="zh-CN" sz="2000" b="1" i="1" u="none" strike="noStrike" cap="none" normalizeH="0" baseline="-25000" dirty="0" err="1">
                          <a:ln>
                            <a:noFill/>
                          </a:ln>
                          <a:solidFill>
                            <a:schemeClr val="bg2"/>
                          </a:solidFill>
                          <a:effectLst/>
                          <a:latin typeface="Times New Roman" pitchFamily="18" charset="0"/>
                          <a:ea typeface="华文细黑" pitchFamily="2" charset="-122"/>
                        </a:rPr>
                        <a:t>j</a:t>
                      </a:r>
                      <a:endParaRPr kumimoji="1" lang="en-US" altLang="zh-CN" sz="2000" b="1" i="1" u="none" strike="noStrike" cap="none" normalizeH="0" baseline="-25000" dirty="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93232" name="Rectangle 48">
            <a:extLst>
              <a:ext uri="{FF2B5EF4-FFF2-40B4-BE49-F238E27FC236}">
                <a16:creationId xmlns:a16="http://schemas.microsoft.com/office/drawing/2014/main" id="{5F760273-25B5-4C31-BE22-F54D0E8A6B62}"/>
              </a:ext>
            </a:extLst>
          </p:cNvPr>
          <p:cNvSpPr>
            <a:spLocks noChangeArrowheads="1"/>
          </p:cNvSpPr>
          <p:nvPr/>
        </p:nvSpPr>
        <p:spPr bwMode="auto">
          <a:xfrm>
            <a:off x="2897188" y="1941513"/>
            <a:ext cx="498475" cy="4699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3233" name="Rectangle 49">
            <a:extLst>
              <a:ext uri="{FF2B5EF4-FFF2-40B4-BE49-F238E27FC236}">
                <a16:creationId xmlns:a16="http://schemas.microsoft.com/office/drawing/2014/main" id="{7FBE3F23-2CDE-4F69-9611-30FF483F54F3}"/>
              </a:ext>
            </a:extLst>
          </p:cNvPr>
          <p:cNvSpPr>
            <a:spLocks noChangeArrowheads="1"/>
          </p:cNvSpPr>
          <p:nvPr/>
        </p:nvSpPr>
        <p:spPr bwMode="auto">
          <a:xfrm>
            <a:off x="4025900" y="19272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11</a:t>
            </a:r>
          </a:p>
        </p:txBody>
      </p:sp>
      <p:sp>
        <p:nvSpPr>
          <p:cNvPr id="93234" name="Rectangle 50">
            <a:extLst>
              <a:ext uri="{FF2B5EF4-FFF2-40B4-BE49-F238E27FC236}">
                <a16:creationId xmlns:a16="http://schemas.microsoft.com/office/drawing/2014/main" id="{4001F341-3413-401C-AC34-EF1BB482F720}"/>
              </a:ext>
            </a:extLst>
          </p:cNvPr>
          <p:cNvSpPr>
            <a:spLocks noChangeArrowheads="1"/>
          </p:cNvSpPr>
          <p:nvPr/>
        </p:nvSpPr>
        <p:spPr bwMode="auto">
          <a:xfrm>
            <a:off x="5138738" y="1941513"/>
            <a:ext cx="498475" cy="4699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3235" name="Rectangle 51">
            <a:extLst>
              <a:ext uri="{FF2B5EF4-FFF2-40B4-BE49-F238E27FC236}">
                <a16:creationId xmlns:a16="http://schemas.microsoft.com/office/drawing/2014/main" id="{970643CD-1747-4986-8592-2FBA8014ABB7}"/>
              </a:ext>
            </a:extLst>
          </p:cNvPr>
          <p:cNvSpPr>
            <a:spLocks noChangeArrowheads="1"/>
          </p:cNvSpPr>
          <p:nvPr/>
        </p:nvSpPr>
        <p:spPr bwMode="auto">
          <a:xfrm>
            <a:off x="6251575" y="19272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10</a:t>
            </a:r>
          </a:p>
        </p:txBody>
      </p:sp>
      <p:sp>
        <p:nvSpPr>
          <p:cNvPr id="93236" name="Rectangle 52">
            <a:extLst>
              <a:ext uri="{FF2B5EF4-FFF2-40B4-BE49-F238E27FC236}">
                <a16:creationId xmlns:a16="http://schemas.microsoft.com/office/drawing/2014/main" id="{7241E115-50EC-44DB-ABBC-D4F72D5F2710}"/>
              </a:ext>
            </a:extLst>
          </p:cNvPr>
          <p:cNvSpPr>
            <a:spLocks noChangeArrowheads="1"/>
          </p:cNvSpPr>
          <p:nvPr/>
        </p:nvSpPr>
        <p:spPr bwMode="auto">
          <a:xfrm>
            <a:off x="2873375" y="2693988"/>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a:t>
            </a:r>
          </a:p>
        </p:txBody>
      </p:sp>
      <p:sp>
        <p:nvSpPr>
          <p:cNvPr id="93237" name="Rectangle 53">
            <a:extLst>
              <a:ext uri="{FF2B5EF4-FFF2-40B4-BE49-F238E27FC236}">
                <a16:creationId xmlns:a16="http://schemas.microsoft.com/office/drawing/2014/main" id="{28603C13-FF13-4535-AB2D-7B67DD609F41}"/>
              </a:ext>
            </a:extLst>
          </p:cNvPr>
          <p:cNvSpPr>
            <a:spLocks noChangeArrowheads="1"/>
          </p:cNvSpPr>
          <p:nvPr/>
        </p:nvSpPr>
        <p:spPr bwMode="auto">
          <a:xfrm>
            <a:off x="4022725" y="26765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9</a:t>
            </a:r>
          </a:p>
        </p:txBody>
      </p:sp>
      <p:sp>
        <p:nvSpPr>
          <p:cNvPr id="93238" name="Rectangle 54">
            <a:extLst>
              <a:ext uri="{FF2B5EF4-FFF2-40B4-BE49-F238E27FC236}">
                <a16:creationId xmlns:a16="http://schemas.microsoft.com/office/drawing/2014/main" id="{364746D9-65B2-4688-9AFE-96622F401B97}"/>
              </a:ext>
            </a:extLst>
          </p:cNvPr>
          <p:cNvSpPr>
            <a:spLocks noChangeArrowheads="1"/>
          </p:cNvSpPr>
          <p:nvPr/>
        </p:nvSpPr>
        <p:spPr bwMode="auto">
          <a:xfrm>
            <a:off x="5126038" y="268287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2</a:t>
            </a:r>
          </a:p>
        </p:txBody>
      </p:sp>
      <p:sp>
        <p:nvSpPr>
          <p:cNvPr id="93239" name="Rectangle 55">
            <a:extLst>
              <a:ext uri="{FF2B5EF4-FFF2-40B4-BE49-F238E27FC236}">
                <a16:creationId xmlns:a16="http://schemas.microsoft.com/office/drawing/2014/main" id="{DC5D5568-02CB-44F3-8DEA-FBE97E63CAD4}"/>
              </a:ext>
            </a:extLst>
          </p:cNvPr>
          <p:cNvSpPr>
            <a:spLocks noChangeArrowheads="1"/>
          </p:cNvSpPr>
          <p:nvPr/>
        </p:nvSpPr>
        <p:spPr bwMode="auto">
          <a:xfrm>
            <a:off x="2900363" y="34607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7</a:t>
            </a:r>
          </a:p>
        </p:txBody>
      </p:sp>
      <p:sp>
        <p:nvSpPr>
          <p:cNvPr id="93240" name="Rectangle 56">
            <a:extLst>
              <a:ext uri="{FF2B5EF4-FFF2-40B4-BE49-F238E27FC236}">
                <a16:creationId xmlns:a16="http://schemas.microsoft.com/office/drawing/2014/main" id="{75EE2D2B-A6B7-467B-B94B-01AFEBB2B0C9}"/>
              </a:ext>
            </a:extLst>
          </p:cNvPr>
          <p:cNvSpPr>
            <a:spLocks noChangeArrowheads="1"/>
          </p:cNvSpPr>
          <p:nvPr/>
        </p:nvSpPr>
        <p:spPr bwMode="auto">
          <a:xfrm>
            <a:off x="4016375" y="34480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4</a:t>
            </a:r>
          </a:p>
        </p:txBody>
      </p:sp>
      <p:sp>
        <p:nvSpPr>
          <p:cNvPr id="93241" name="Rectangle 57">
            <a:extLst>
              <a:ext uri="{FF2B5EF4-FFF2-40B4-BE49-F238E27FC236}">
                <a16:creationId xmlns:a16="http://schemas.microsoft.com/office/drawing/2014/main" id="{7FBF528A-DA52-4ED2-BA20-2F41E6F52961}"/>
              </a:ext>
            </a:extLst>
          </p:cNvPr>
          <p:cNvSpPr>
            <a:spLocks noChangeArrowheads="1"/>
          </p:cNvSpPr>
          <p:nvPr/>
        </p:nvSpPr>
        <p:spPr bwMode="auto">
          <a:xfrm>
            <a:off x="5143500" y="3440113"/>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10</a:t>
            </a:r>
          </a:p>
        </p:txBody>
      </p:sp>
      <p:sp>
        <p:nvSpPr>
          <p:cNvPr id="93242" name="Rectangle 58">
            <a:extLst>
              <a:ext uri="{FF2B5EF4-FFF2-40B4-BE49-F238E27FC236}">
                <a16:creationId xmlns:a16="http://schemas.microsoft.com/office/drawing/2014/main" id="{8F9C2ABF-90F8-41DB-9CFF-C606D9D9AD13}"/>
              </a:ext>
            </a:extLst>
          </p:cNvPr>
          <p:cNvSpPr>
            <a:spLocks noChangeArrowheads="1"/>
          </p:cNvSpPr>
          <p:nvPr/>
        </p:nvSpPr>
        <p:spPr bwMode="auto">
          <a:xfrm>
            <a:off x="6251575" y="34480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5</a:t>
            </a:r>
          </a:p>
        </p:txBody>
      </p:sp>
      <p:sp>
        <p:nvSpPr>
          <p:cNvPr id="93243" name="Rectangle 59">
            <a:extLst>
              <a:ext uri="{FF2B5EF4-FFF2-40B4-BE49-F238E27FC236}">
                <a16:creationId xmlns:a16="http://schemas.microsoft.com/office/drawing/2014/main" id="{BA5BF423-B012-4877-841E-1B3EDE26FC2E}"/>
              </a:ext>
            </a:extLst>
          </p:cNvPr>
          <p:cNvSpPr>
            <a:spLocks noChangeArrowheads="1"/>
          </p:cNvSpPr>
          <p:nvPr/>
        </p:nvSpPr>
        <p:spPr bwMode="auto">
          <a:xfrm>
            <a:off x="6251575" y="26860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8</a:t>
            </a:r>
          </a:p>
        </p:txBody>
      </p:sp>
      <p:sp>
        <p:nvSpPr>
          <p:cNvPr id="93244" name="Text Box 60">
            <a:extLst>
              <a:ext uri="{FF2B5EF4-FFF2-40B4-BE49-F238E27FC236}">
                <a16:creationId xmlns:a16="http://schemas.microsoft.com/office/drawing/2014/main" id="{B616EE0A-B688-4057-8CAE-BBA88B3C0A6A}"/>
              </a:ext>
            </a:extLst>
          </p:cNvPr>
          <p:cNvSpPr txBox="1">
            <a:spLocks noChangeArrowheads="1"/>
          </p:cNvSpPr>
          <p:nvPr/>
        </p:nvSpPr>
        <p:spPr bwMode="auto">
          <a:xfrm>
            <a:off x="4552950" y="230187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5</a:t>
            </a:r>
            <a:endParaRPr kumimoji="1" lang="en-US" altLang="zh-CN" sz="3200" b="1">
              <a:solidFill>
                <a:srgbClr val="000000"/>
              </a:solidFill>
              <a:latin typeface="楷体_GB2312" pitchFamily="49" charset="-122"/>
              <a:ea typeface="楷体_GB2312" pitchFamily="49" charset="-122"/>
            </a:endParaRPr>
          </a:p>
        </p:txBody>
      </p:sp>
      <p:sp>
        <p:nvSpPr>
          <p:cNvPr id="93245" name="Text Box 61">
            <a:extLst>
              <a:ext uri="{FF2B5EF4-FFF2-40B4-BE49-F238E27FC236}">
                <a16:creationId xmlns:a16="http://schemas.microsoft.com/office/drawing/2014/main" id="{CF450B24-9D2B-497E-B481-390C08BC5765}"/>
              </a:ext>
            </a:extLst>
          </p:cNvPr>
          <p:cNvSpPr txBox="1">
            <a:spLocks noChangeArrowheads="1"/>
          </p:cNvSpPr>
          <p:nvPr/>
        </p:nvSpPr>
        <p:spPr bwMode="auto">
          <a:xfrm>
            <a:off x="2297113" y="307181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93246" name="Text Box 62">
            <a:extLst>
              <a:ext uri="{FF2B5EF4-FFF2-40B4-BE49-F238E27FC236}">
                <a16:creationId xmlns:a16="http://schemas.microsoft.com/office/drawing/2014/main" id="{8F9CC059-6849-4E1B-B90F-B15330EAD5BD}"/>
              </a:ext>
            </a:extLst>
          </p:cNvPr>
          <p:cNvSpPr txBox="1">
            <a:spLocks noChangeArrowheads="1"/>
          </p:cNvSpPr>
          <p:nvPr/>
        </p:nvSpPr>
        <p:spPr bwMode="auto">
          <a:xfrm>
            <a:off x="3397250" y="3862388"/>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6</a:t>
            </a:r>
            <a:endParaRPr kumimoji="1" lang="en-US" altLang="zh-CN" sz="3200" b="1">
              <a:solidFill>
                <a:srgbClr val="000000"/>
              </a:solidFill>
              <a:latin typeface="楷体_GB2312" pitchFamily="49" charset="-122"/>
              <a:ea typeface="楷体_GB2312" pitchFamily="49" charset="-122"/>
            </a:endParaRPr>
          </a:p>
        </p:txBody>
      </p:sp>
      <p:sp>
        <p:nvSpPr>
          <p:cNvPr id="93247" name="Text Box 63">
            <a:extLst>
              <a:ext uri="{FF2B5EF4-FFF2-40B4-BE49-F238E27FC236}">
                <a16:creationId xmlns:a16="http://schemas.microsoft.com/office/drawing/2014/main" id="{DC263F66-3456-4AEF-93CC-661895530863}"/>
              </a:ext>
            </a:extLst>
          </p:cNvPr>
          <p:cNvSpPr txBox="1">
            <a:spLocks noChangeArrowheads="1"/>
          </p:cNvSpPr>
          <p:nvPr/>
        </p:nvSpPr>
        <p:spPr bwMode="auto">
          <a:xfrm>
            <a:off x="5654675" y="38655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93248" name="Text Box 64">
            <a:extLst>
              <a:ext uri="{FF2B5EF4-FFF2-40B4-BE49-F238E27FC236}">
                <a16:creationId xmlns:a16="http://schemas.microsoft.com/office/drawing/2014/main" id="{CCCA80B4-CC8E-4688-AA94-867CA9998090}"/>
              </a:ext>
            </a:extLst>
          </p:cNvPr>
          <p:cNvSpPr txBox="1">
            <a:spLocks noChangeArrowheads="1"/>
          </p:cNvSpPr>
          <p:nvPr/>
        </p:nvSpPr>
        <p:spPr bwMode="auto">
          <a:xfrm>
            <a:off x="5657850" y="308292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1</a:t>
            </a:r>
            <a:endParaRPr kumimoji="1" lang="en-US" altLang="zh-CN" sz="3200" b="1">
              <a:solidFill>
                <a:srgbClr val="000000"/>
              </a:solidFill>
              <a:latin typeface="楷体_GB2312" pitchFamily="49" charset="-122"/>
              <a:ea typeface="楷体_GB2312" pitchFamily="49" charset="-122"/>
            </a:endParaRPr>
          </a:p>
        </p:txBody>
      </p:sp>
      <p:sp>
        <p:nvSpPr>
          <p:cNvPr id="93249" name="Text Box 65">
            <a:extLst>
              <a:ext uri="{FF2B5EF4-FFF2-40B4-BE49-F238E27FC236}">
                <a16:creationId xmlns:a16="http://schemas.microsoft.com/office/drawing/2014/main" id="{89962FFA-EFF0-43A4-8441-26C969997AD3}"/>
              </a:ext>
            </a:extLst>
          </p:cNvPr>
          <p:cNvSpPr txBox="1">
            <a:spLocks noChangeArrowheads="1"/>
          </p:cNvSpPr>
          <p:nvPr/>
        </p:nvSpPr>
        <p:spPr bwMode="auto">
          <a:xfrm>
            <a:off x="5646738" y="2325688"/>
            <a:ext cx="3254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2000" b="1">
                <a:solidFill>
                  <a:srgbClr val="A50021"/>
                </a:solidFill>
              </a:rPr>
              <a:t>2</a:t>
            </a:r>
          </a:p>
        </p:txBody>
      </p:sp>
      <p:sp>
        <p:nvSpPr>
          <p:cNvPr id="189506" name="Rectangle 66">
            <a:extLst>
              <a:ext uri="{FF2B5EF4-FFF2-40B4-BE49-F238E27FC236}">
                <a16:creationId xmlns:a16="http://schemas.microsoft.com/office/drawing/2014/main" id="{6981AFDF-9882-40CC-8B1D-2DE544A9212B}"/>
              </a:ext>
            </a:extLst>
          </p:cNvPr>
          <p:cNvSpPr>
            <a:spLocks noChangeArrowheads="1"/>
          </p:cNvSpPr>
          <p:nvPr/>
        </p:nvSpPr>
        <p:spPr bwMode="auto">
          <a:xfrm>
            <a:off x="6781800" y="1927225"/>
            <a:ext cx="833438" cy="735013"/>
          </a:xfrm>
          <a:prstGeom prst="rect">
            <a:avLst/>
          </a:prstGeom>
          <a:solidFill>
            <a:srgbClr val="FFFF99"/>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a:solidFill>
                  <a:srgbClr val="3333FF"/>
                </a:solidFill>
                <a:effectLst>
                  <a:outerShdw blurRad="38100" dist="38100" dir="2700000" algn="tl">
                    <a:srgbClr val="000000"/>
                  </a:outerShdw>
                </a:effectLst>
                <a:ea typeface="宋体" panose="02010600030101010101" pitchFamily="2" charset="-122"/>
              </a:rPr>
              <a:t>0</a:t>
            </a:r>
          </a:p>
        </p:txBody>
      </p:sp>
      <p:sp>
        <p:nvSpPr>
          <p:cNvPr id="189507" name="Rectangle 67">
            <a:extLst>
              <a:ext uri="{FF2B5EF4-FFF2-40B4-BE49-F238E27FC236}">
                <a16:creationId xmlns:a16="http://schemas.microsoft.com/office/drawing/2014/main" id="{7F12DFDB-ACAE-42A5-952E-96655041DB5B}"/>
              </a:ext>
            </a:extLst>
          </p:cNvPr>
          <p:cNvSpPr>
            <a:spLocks noChangeArrowheads="1"/>
          </p:cNvSpPr>
          <p:nvPr/>
        </p:nvSpPr>
        <p:spPr bwMode="auto">
          <a:xfrm>
            <a:off x="6781800" y="2662238"/>
            <a:ext cx="833438" cy="752475"/>
          </a:xfrm>
          <a:prstGeom prst="rect">
            <a:avLst/>
          </a:prstGeom>
          <a:solidFill>
            <a:srgbClr val="FFFF99"/>
          </a:solidFill>
          <a:ln w="19050">
            <a:solidFill>
              <a:schemeClr val="tx1"/>
            </a:solidFill>
            <a:miter lim="800000"/>
            <a:headEnd/>
            <a:tailEnd/>
          </a:ln>
          <a:effectLst/>
        </p:spPr>
        <p:txBody>
          <a:bodyPr wrap="none" anchor="ctr"/>
          <a:lstStyle/>
          <a:p>
            <a:pPr algn="ctr" eaLnBrk="1" hangingPunct="1">
              <a:defRPr/>
            </a:pPr>
            <a:r>
              <a:rPr lang="en-US" altLang="zh-CN">
                <a:solidFill>
                  <a:srgbClr val="3333FF"/>
                </a:solidFill>
                <a:effectLst>
                  <a:outerShdw blurRad="38100" dist="38100" dir="2700000" algn="tl">
                    <a:srgbClr val="000000"/>
                  </a:outerShdw>
                </a:effectLst>
              </a:rPr>
              <a:t>-2</a:t>
            </a:r>
          </a:p>
        </p:txBody>
      </p:sp>
      <p:sp>
        <p:nvSpPr>
          <p:cNvPr id="189508" name="Rectangle 68">
            <a:extLst>
              <a:ext uri="{FF2B5EF4-FFF2-40B4-BE49-F238E27FC236}">
                <a16:creationId xmlns:a16="http://schemas.microsoft.com/office/drawing/2014/main" id="{E0C1D557-BDAF-4C36-A2F7-3A5E0351242A}"/>
              </a:ext>
            </a:extLst>
          </p:cNvPr>
          <p:cNvSpPr>
            <a:spLocks noChangeArrowheads="1"/>
          </p:cNvSpPr>
          <p:nvPr/>
        </p:nvSpPr>
        <p:spPr bwMode="auto">
          <a:xfrm>
            <a:off x="6781800" y="3440113"/>
            <a:ext cx="833438" cy="735012"/>
          </a:xfrm>
          <a:prstGeom prst="rect">
            <a:avLst/>
          </a:prstGeom>
          <a:solidFill>
            <a:srgbClr val="FFFF99"/>
          </a:solidFill>
          <a:ln w="19050">
            <a:solidFill>
              <a:schemeClr val="tx1"/>
            </a:solidFill>
            <a:miter lim="800000"/>
            <a:headEnd/>
            <a:tailEnd/>
          </a:ln>
          <a:effectLst/>
        </p:spPr>
        <p:txBody>
          <a:bodyPr wrap="none" anchor="ctr"/>
          <a:lstStyle/>
          <a:p>
            <a:pPr algn="ctr" eaLnBrk="1" hangingPunct="1">
              <a:defRPr/>
            </a:pPr>
            <a:r>
              <a:rPr lang="en-US" altLang="zh-CN">
                <a:solidFill>
                  <a:srgbClr val="3333FF"/>
                </a:solidFill>
                <a:effectLst>
                  <a:outerShdw blurRad="38100" dist="38100" dir="2700000" algn="tl">
                    <a:srgbClr val="000000"/>
                  </a:outerShdw>
                </a:effectLst>
              </a:rPr>
              <a:t>-5</a:t>
            </a:r>
          </a:p>
        </p:txBody>
      </p:sp>
      <p:sp>
        <p:nvSpPr>
          <p:cNvPr id="189509" name="Rectangle 69">
            <a:extLst>
              <a:ext uri="{FF2B5EF4-FFF2-40B4-BE49-F238E27FC236}">
                <a16:creationId xmlns:a16="http://schemas.microsoft.com/office/drawing/2014/main" id="{4F1449D3-5971-4E4B-91B2-7AE0262F7BB7}"/>
              </a:ext>
            </a:extLst>
          </p:cNvPr>
          <p:cNvSpPr>
            <a:spLocks noChangeArrowheads="1"/>
          </p:cNvSpPr>
          <p:nvPr/>
        </p:nvSpPr>
        <p:spPr bwMode="auto">
          <a:xfrm>
            <a:off x="4541838" y="4192588"/>
            <a:ext cx="1125537"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3</a:t>
            </a:r>
          </a:p>
        </p:txBody>
      </p:sp>
      <p:sp>
        <p:nvSpPr>
          <p:cNvPr id="189510" name="Rectangle 70">
            <a:extLst>
              <a:ext uri="{FF2B5EF4-FFF2-40B4-BE49-F238E27FC236}">
                <a16:creationId xmlns:a16="http://schemas.microsoft.com/office/drawing/2014/main" id="{E22D2BEE-7410-42CD-B510-93FC486F9AC3}"/>
              </a:ext>
            </a:extLst>
          </p:cNvPr>
          <p:cNvSpPr>
            <a:spLocks noChangeArrowheads="1"/>
          </p:cNvSpPr>
          <p:nvPr/>
        </p:nvSpPr>
        <p:spPr bwMode="auto">
          <a:xfrm>
            <a:off x="5649913" y="4191000"/>
            <a:ext cx="1125537" cy="520700"/>
          </a:xfrm>
          <a:prstGeom prst="rect">
            <a:avLst/>
          </a:prstGeom>
          <a:solidFill>
            <a:srgbClr val="FFFFCC"/>
          </a:solidFill>
          <a:ln w="19050">
            <a:solidFill>
              <a:schemeClr val="tx1"/>
            </a:solidFill>
            <a:miter lim="800000"/>
            <a:headEnd/>
            <a:tailEnd/>
          </a:ln>
          <a:effectLst/>
        </p:spPr>
        <p:txBody>
          <a:bodyPr wrap="none" anchor="ctr"/>
          <a:lstStyle/>
          <a:p>
            <a:pPr algn="ctr" eaLnBrk="1" hangingPunct="1">
              <a:defRPr/>
            </a:pPr>
            <a:r>
              <a:rPr lang="en-US" altLang="zh-CN" sz="2000">
                <a:solidFill>
                  <a:srgbClr val="0000FF"/>
                </a:solidFill>
                <a:effectLst>
                  <a:outerShdw blurRad="38100" dist="38100" dir="2700000" algn="tl">
                    <a:srgbClr val="000000"/>
                  </a:outerShdw>
                </a:effectLst>
              </a:rPr>
              <a:t>10</a:t>
            </a:r>
          </a:p>
        </p:txBody>
      </p:sp>
      <p:sp>
        <p:nvSpPr>
          <p:cNvPr id="189511" name="Rectangle 71">
            <a:extLst>
              <a:ext uri="{FF2B5EF4-FFF2-40B4-BE49-F238E27FC236}">
                <a16:creationId xmlns:a16="http://schemas.microsoft.com/office/drawing/2014/main" id="{72C98AA0-24D7-4FC9-9255-FD99343631EE}"/>
              </a:ext>
            </a:extLst>
          </p:cNvPr>
          <p:cNvSpPr>
            <a:spLocks noChangeArrowheads="1"/>
          </p:cNvSpPr>
          <p:nvPr/>
        </p:nvSpPr>
        <p:spPr bwMode="auto">
          <a:xfrm>
            <a:off x="2301875" y="4191000"/>
            <a:ext cx="1125538"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3</a:t>
            </a:r>
          </a:p>
        </p:txBody>
      </p:sp>
      <p:sp>
        <p:nvSpPr>
          <p:cNvPr id="189512" name="Rectangle 72">
            <a:extLst>
              <a:ext uri="{FF2B5EF4-FFF2-40B4-BE49-F238E27FC236}">
                <a16:creationId xmlns:a16="http://schemas.microsoft.com/office/drawing/2014/main" id="{D90B84AF-2059-4246-932F-7EF054F015F0}"/>
              </a:ext>
            </a:extLst>
          </p:cNvPr>
          <p:cNvSpPr>
            <a:spLocks noChangeArrowheads="1"/>
          </p:cNvSpPr>
          <p:nvPr/>
        </p:nvSpPr>
        <p:spPr bwMode="auto">
          <a:xfrm>
            <a:off x="3424238" y="4202113"/>
            <a:ext cx="1125537"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9</a:t>
            </a:r>
          </a:p>
        </p:txBody>
      </p:sp>
      <p:sp>
        <p:nvSpPr>
          <p:cNvPr id="189513" name="Rectangle 73">
            <a:extLst>
              <a:ext uri="{FF2B5EF4-FFF2-40B4-BE49-F238E27FC236}">
                <a16:creationId xmlns:a16="http://schemas.microsoft.com/office/drawing/2014/main" id="{480FA867-F006-4BEC-BBC6-D53BFB6CD3F7}"/>
              </a:ext>
            </a:extLst>
          </p:cNvPr>
          <p:cNvSpPr>
            <a:spLocks noChangeArrowheads="1"/>
          </p:cNvSpPr>
          <p:nvPr/>
        </p:nvSpPr>
        <p:spPr bwMode="auto">
          <a:xfrm>
            <a:off x="2297113" y="22558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0</a:t>
            </a:r>
            <a:r>
              <a:rPr lang="zh-CN" altLang="en-US" sz="2000" dirty="0">
                <a:solidFill>
                  <a:srgbClr val="3333FF"/>
                </a:solidFill>
                <a:effectLst>
                  <a:outerShdw blurRad="38100" dist="38100" dir="2700000" algn="tl">
                    <a:srgbClr val="000000"/>
                  </a:outerShdw>
                </a:effectLst>
              </a:rPr>
              <a:t>）</a:t>
            </a:r>
          </a:p>
        </p:txBody>
      </p:sp>
      <p:sp>
        <p:nvSpPr>
          <p:cNvPr id="189514" name="Rectangle 74">
            <a:extLst>
              <a:ext uri="{FF2B5EF4-FFF2-40B4-BE49-F238E27FC236}">
                <a16:creationId xmlns:a16="http://schemas.microsoft.com/office/drawing/2014/main" id="{1B91C604-1838-4C1A-B6F2-BE0DA20C3E23}"/>
              </a:ext>
            </a:extLst>
          </p:cNvPr>
          <p:cNvSpPr>
            <a:spLocks noChangeArrowheads="1"/>
          </p:cNvSpPr>
          <p:nvPr/>
        </p:nvSpPr>
        <p:spPr bwMode="auto">
          <a:xfrm>
            <a:off x="3400425" y="2265363"/>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sp>
        <p:nvSpPr>
          <p:cNvPr id="189515" name="Rectangle 75">
            <a:extLst>
              <a:ext uri="{FF2B5EF4-FFF2-40B4-BE49-F238E27FC236}">
                <a16:creationId xmlns:a16="http://schemas.microsoft.com/office/drawing/2014/main" id="{9A48B0E8-C31F-41E8-B41B-075BDF02AC23}"/>
              </a:ext>
            </a:extLst>
          </p:cNvPr>
          <p:cNvSpPr>
            <a:spLocks noChangeArrowheads="1"/>
          </p:cNvSpPr>
          <p:nvPr/>
        </p:nvSpPr>
        <p:spPr bwMode="auto">
          <a:xfrm>
            <a:off x="3382963" y="30178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sp>
        <p:nvSpPr>
          <p:cNvPr id="189516" name="Rectangle 76">
            <a:extLst>
              <a:ext uri="{FF2B5EF4-FFF2-40B4-BE49-F238E27FC236}">
                <a16:creationId xmlns:a16="http://schemas.microsoft.com/office/drawing/2014/main" id="{31979827-5E14-4CD0-9640-20966BEA801A}"/>
              </a:ext>
            </a:extLst>
          </p:cNvPr>
          <p:cNvSpPr>
            <a:spLocks noChangeArrowheads="1"/>
          </p:cNvSpPr>
          <p:nvPr/>
        </p:nvSpPr>
        <p:spPr bwMode="auto">
          <a:xfrm>
            <a:off x="4516438" y="303688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a:t>
            </a:r>
            <a:r>
              <a:rPr lang="zh-CN" altLang="en-US" sz="2000" dirty="0">
                <a:solidFill>
                  <a:srgbClr val="3333FF"/>
                </a:solidFill>
                <a:effectLst>
                  <a:outerShdw blurRad="38100" dist="38100" dir="2700000" algn="tl">
                    <a:srgbClr val="000000"/>
                  </a:outerShdw>
                </a:effectLst>
              </a:rPr>
              <a:t>）</a:t>
            </a:r>
          </a:p>
        </p:txBody>
      </p:sp>
      <p:sp>
        <p:nvSpPr>
          <p:cNvPr id="189517" name="Rectangle 77">
            <a:extLst>
              <a:ext uri="{FF2B5EF4-FFF2-40B4-BE49-F238E27FC236}">
                <a16:creationId xmlns:a16="http://schemas.microsoft.com/office/drawing/2014/main" id="{7830A1F5-FAD5-497D-B07D-830AEE0EB012}"/>
              </a:ext>
            </a:extLst>
          </p:cNvPr>
          <p:cNvSpPr>
            <a:spLocks noChangeArrowheads="1"/>
          </p:cNvSpPr>
          <p:nvPr/>
        </p:nvSpPr>
        <p:spPr bwMode="auto">
          <a:xfrm>
            <a:off x="4587875" y="3810000"/>
            <a:ext cx="498475" cy="471488"/>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12</a:t>
            </a:r>
            <a:r>
              <a:rPr lang="zh-CN" altLang="en-US" sz="2000" dirty="0">
                <a:solidFill>
                  <a:srgbClr val="3333FF"/>
                </a:solidFill>
                <a:effectLst>
                  <a:outerShdw blurRad="38100" dist="38100" dir="2700000" algn="tl">
                    <a:srgbClr val="000000"/>
                  </a:outerShdw>
                </a:effectLst>
              </a:rPr>
              <a:t>）</a:t>
            </a:r>
          </a:p>
        </p:txBody>
      </p:sp>
      <p:sp>
        <p:nvSpPr>
          <p:cNvPr id="189518" name="Rectangle 78">
            <a:extLst>
              <a:ext uri="{FF2B5EF4-FFF2-40B4-BE49-F238E27FC236}">
                <a16:creationId xmlns:a16="http://schemas.microsoft.com/office/drawing/2014/main" id="{8EF07E92-75D4-433C-AC23-CC4FCE073B78}"/>
              </a:ext>
            </a:extLst>
          </p:cNvPr>
          <p:cNvSpPr>
            <a:spLocks noChangeArrowheads="1"/>
          </p:cNvSpPr>
          <p:nvPr/>
        </p:nvSpPr>
        <p:spPr bwMode="auto">
          <a:xfrm>
            <a:off x="2263775" y="37798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9</a:t>
            </a:r>
            <a:r>
              <a:rPr lang="zh-CN" altLang="en-US" sz="2000" dirty="0">
                <a:solidFill>
                  <a:srgbClr val="3333FF"/>
                </a:solidFill>
                <a:effectLst>
                  <a:outerShdw blurRad="38100" dist="38100" dir="2700000" algn="tl">
                    <a:srgbClr val="000000"/>
                  </a:outerShdw>
                </a:effectLst>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9506"/>
                                        </p:tgtEl>
                                        <p:attrNameLst>
                                          <p:attrName>style.visibility</p:attrName>
                                        </p:attrNameLst>
                                      </p:cBhvr>
                                      <p:to>
                                        <p:strVal val="visible"/>
                                      </p:to>
                                    </p:set>
                                    <p:animEffect transition="in" filter="wipe(left)">
                                      <p:cBhvr>
                                        <p:cTn id="7" dur="500"/>
                                        <p:tgtEl>
                                          <p:spTgt spid="1895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89509"/>
                                        </p:tgtEl>
                                        <p:attrNameLst>
                                          <p:attrName>style.visibility</p:attrName>
                                        </p:attrNameLst>
                                      </p:cBhvr>
                                      <p:to>
                                        <p:strVal val="visible"/>
                                      </p:to>
                                    </p:set>
                                    <p:animEffect transition="in" filter="wipe(left)">
                                      <p:cBhvr>
                                        <p:cTn id="12" dur="500"/>
                                        <p:tgtEl>
                                          <p:spTgt spid="18950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89510"/>
                                        </p:tgtEl>
                                        <p:attrNameLst>
                                          <p:attrName>style.visibility</p:attrName>
                                        </p:attrNameLst>
                                      </p:cBhvr>
                                      <p:to>
                                        <p:strVal val="visible"/>
                                      </p:to>
                                    </p:set>
                                    <p:animEffect transition="in" filter="wipe(left)">
                                      <p:cBhvr>
                                        <p:cTn id="17" dur="500"/>
                                        <p:tgtEl>
                                          <p:spTgt spid="1895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89507"/>
                                        </p:tgtEl>
                                        <p:attrNameLst>
                                          <p:attrName>style.visibility</p:attrName>
                                        </p:attrNameLst>
                                      </p:cBhvr>
                                      <p:to>
                                        <p:strVal val="visible"/>
                                      </p:to>
                                    </p:set>
                                    <p:animEffect transition="in" filter="wipe(left)">
                                      <p:cBhvr>
                                        <p:cTn id="22" dur="500"/>
                                        <p:tgtEl>
                                          <p:spTgt spid="18950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89511"/>
                                        </p:tgtEl>
                                        <p:attrNameLst>
                                          <p:attrName>style.visibility</p:attrName>
                                        </p:attrNameLst>
                                      </p:cBhvr>
                                      <p:to>
                                        <p:strVal val="visible"/>
                                      </p:to>
                                    </p:set>
                                    <p:animEffect transition="in" filter="wipe(left)">
                                      <p:cBhvr>
                                        <p:cTn id="27" dur="500"/>
                                        <p:tgtEl>
                                          <p:spTgt spid="18951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89508"/>
                                        </p:tgtEl>
                                        <p:attrNameLst>
                                          <p:attrName>style.visibility</p:attrName>
                                        </p:attrNameLst>
                                      </p:cBhvr>
                                      <p:to>
                                        <p:strVal val="visible"/>
                                      </p:to>
                                    </p:set>
                                    <p:animEffect transition="in" filter="wipe(left)">
                                      <p:cBhvr>
                                        <p:cTn id="32" dur="500"/>
                                        <p:tgtEl>
                                          <p:spTgt spid="18950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89512"/>
                                        </p:tgtEl>
                                        <p:attrNameLst>
                                          <p:attrName>style.visibility</p:attrName>
                                        </p:attrNameLst>
                                      </p:cBhvr>
                                      <p:to>
                                        <p:strVal val="visible"/>
                                      </p:to>
                                    </p:set>
                                    <p:animEffect transition="in" filter="wipe(left)">
                                      <p:cBhvr>
                                        <p:cTn id="37" dur="500"/>
                                        <p:tgtEl>
                                          <p:spTgt spid="18951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89513"/>
                                        </p:tgtEl>
                                        <p:attrNameLst>
                                          <p:attrName>style.visibility</p:attrName>
                                        </p:attrNameLst>
                                      </p:cBhvr>
                                      <p:to>
                                        <p:strVal val="visible"/>
                                      </p:to>
                                    </p:set>
                                    <p:animEffect transition="in" filter="wipe(down)">
                                      <p:cBhvr>
                                        <p:cTn id="42" dur="500"/>
                                        <p:tgtEl>
                                          <p:spTgt spid="18951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189514"/>
                                        </p:tgtEl>
                                        <p:attrNameLst>
                                          <p:attrName>style.visibility</p:attrName>
                                        </p:attrNameLst>
                                      </p:cBhvr>
                                      <p:to>
                                        <p:strVal val="visible"/>
                                      </p:to>
                                    </p:set>
                                    <p:animEffect transition="in" filter="wipe(down)">
                                      <p:cBhvr>
                                        <p:cTn id="47" dur="500"/>
                                        <p:tgtEl>
                                          <p:spTgt spid="18951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189515"/>
                                        </p:tgtEl>
                                        <p:attrNameLst>
                                          <p:attrName>style.visibility</p:attrName>
                                        </p:attrNameLst>
                                      </p:cBhvr>
                                      <p:to>
                                        <p:strVal val="visible"/>
                                      </p:to>
                                    </p:set>
                                    <p:animEffect transition="in" filter="wipe(down)">
                                      <p:cBhvr>
                                        <p:cTn id="52" dur="500"/>
                                        <p:tgtEl>
                                          <p:spTgt spid="18951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4" fill="hold" grpId="0" nodeType="clickEffect">
                                  <p:stCondLst>
                                    <p:cond delay="0"/>
                                  </p:stCondLst>
                                  <p:childTnLst>
                                    <p:set>
                                      <p:cBhvr>
                                        <p:cTn id="56" dur="1" fill="hold">
                                          <p:stCondLst>
                                            <p:cond delay="0"/>
                                          </p:stCondLst>
                                        </p:cTn>
                                        <p:tgtEl>
                                          <p:spTgt spid="189516"/>
                                        </p:tgtEl>
                                        <p:attrNameLst>
                                          <p:attrName>style.visibility</p:attrName>
                                        </p:attrNameLst>
                                      </p:cBhvr>
                                      <p:to>
                                        <p:strVal val="visible"/>
                                      </p:to>
                                    </p:set>
                                    <p:animEffect transition="in" filter="wipe(down)">
                                      <p:cBhvr>
                                        <p:cTn id="57" dur="500"/>
                                        <p:tgtEl>
                                          <p:spTgt spid="18951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4" fill="hold" grpId="0" nodeType="clickEffect">
                                  <p:stCondLst>
                                    <p:cond delay="0"/>
                                  </p:stCondLst>
                                  <p:childTnLst>
                                    <p:set>
                                      <p:cBhvr>
                                        <p:cTn id="61" dur="1" fill="hold">
                                          <p:stCondLst>
                                            <p:cond delay="0"/>
                                          </p:stCondLst>
                                        </p:cTn>
                                        <p:tgtEl>
                                          <p:spTgt spid="189518"/>
                                        </p:tgtEl>
                                        <p:attrNameLst>
                                          <p:attrName>style.visibility</p:attrName>
                                        </p:attrNameLst>
                                      </p:cBhvr>
                                      <p:to>
                                        <p:strVal val="visible"/>
                                      </p:to>
                                    </p:set>
                                    <p:animEffect transition="in" filter="wipe(down)">
                                      <p:cBhvr>
                                        <p:cTn id="62" dur="500"/>
                                        <p:tgtEl>
                                          <p:spTgt spid="18951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4" fill="hold" grpId="0" nodeType="clickEffect">
                                  <p:stCondLst>
                                    <p:cond delay="0"/>
                                  </p:stCondLst>
                                  <p:childTnLst>
                                    <p:set>
                                      <p:cBhvr>
                                        <p:cTn id="66" dur="1" fill="hold">
                                          <p:stCondLst>
                                            <p:cond delay="0"/>
                                          </p:stCondLst>
                                        </p:cTn>
                                        <p:tgtEl>
                                          <p:spTgt spid="189517"/>
                                        </p:tgtEl>
                                        <p:attrNameLst>
                                          <p:attrName>style.visibility</p:attrName>
                                        </p:attrNameLst>
                                      </p:cBhvr>
                                      <p:to>
                                        <p:strVal val="visible"/>
                                      </p:to>
                                    </p:set>
                                    <p:animEffect transition="in" filter="wipe(down)">
                                      <p:cBhvr>
                                        <p:cTn id="67" dur="500"/>
                                        <p:tgtEl>
                                          <p:spTgt spid="189517"/>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14" presetClass="entr" presetSubtype="10" fill="hold" grpId="0" nodeType="clickEffect">
                                  <p:stCondLst>
                                    <p:cond delay="0"/>
                                  </p:stCondLst>
                                  <p:childTnLst>
                                    <p:set>
                                      <p:cBhvr>
                                        <p:cTn id="71" dur="1" fill="hold">
                                          <p:stCondLst>
                                            <p:cond delay="0"/>
                                          </p:stCondLst>
                                        </p:cTn>
                                        <p:tgtEl>
                                          <p:spTgt spid="235523"/>
                                        </p:tgtEl>
                                        <p:attrNameLst>
                                          <p:attrName>style.visibility</p:attrName>
                                        </p:attrNameLst>
                                      </p:cBhvr>
                                      <p:to>
                                        <p:strVal val="visible"/>
                                      </p:to>
                                    </p:set>
                                    <p:animEffect transition="in" filter="randombar(horizontal)">
                                      <p:cBhvr>
                                        <p:cTn id="72" dur="500"/>
                                        <p:tgtEl>
                                          <p:spTgt spid="2355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3" grpId="0"/>
      <p:bldP spid="189506" grpId="0" animBg="1"/>
      <p:bldP spid="189507" grpId="0" animBg="1"/>
      <p:bldP spid="189508" grpId="0" animBg="1"/>
      <p:bldP spid="189509" grpId="0" animBg="1" autoUpdateAnimBg="0"/>
      <p:bldP spid="189510" grpId="0" animBg="1" autoUpdateAnimBg="0"/>
      <p:bldP spid="189511" grpId="0" animBg="1" autoUpdateAnimBg="0"/>
      <p:bldP spid="189512" grpId="0" animBg="1" autoUpdateAnimBg="0"/>
      <p:bldP spid="189513" grpId="0"/>
      <p:bldP spid="189514" grpId="0"/>
      <p:bldP spid="189515" grpId="0"/>
      <p:bldP spid="189516" grpId="0"/>
      <p:bldP spid="189517" grpId="0"/>
      <p:bldP spid="18951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descr="Large confetti">
            <a:extLst>
              <a:ext uri="{FF2B5EF4-FFF2-40B4-BE49-F238E27FC236}">
                <a16:creationId xmlns:a16="http://schemas.microsoft.com/office/drawing/2014/main" id="{9FB3C3D2-D6D4-4ED8-97CC-A77B525E16A6}"/>
              </a:ext>
            </a:extLst>
          </p:cNvPr>
          <p:cNvSpPr>
            <a:spLocks noGrp="1" noChangeArrowheads="1"/>
          </p:cNvSpPr>
          <p:nvPr>
            <p:ph type="title"/>
          </p:nvPr>
        </p:nvSpPr>
        <p:spPr/>
        <p:txBody>
          <a:bodyPr/>
          <a:lstStyle/>
          <a:p>
            <a:pPr eaLnBrk="1" hangingPunct="1"/>
            <a:r>
              <a:rPr lang="zh-CN" altLang="en-US" sz="4000"/>
              <a:t>让最小元素法不再遗憾</a:t>
            </a:r>
          </a:p>
        </p:txBody>
      </p:sp>
      <p:sp>
        <p:nvSpPr>
          <p:cNvPr id="94211" name="矩形 1">
            <a:extLst>
              <a:ext uri="{FF2B5EF4-FFF2-40B4-BE49-F238E27FC236}">
                <a16:creationId xmlns:a16="http://schemas.microsoft.com/office/drawing/2014/main" id="{87AB21F7-CCE0-45FF-9EC9-3DC2A8514A5A}"/>
              </a:ext>
            </a:extLst>
          </p:cNvPr>
          <p:cNvSpPr>
            <a:spLocks noChangeArrowheads="1"/>
          </p:cNvSpPr>
          <p:nvPr/>
        </p:nvSpPr>
        <p:spPr bwMode="auto">
          <a:xfrm>
            <a:off x="76200" y="2492375"/>
            <a:ext cx="1524000" cy="708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solidFill>
                  <a:srgbClr val="FF0000"/>
                </a:solidFill>
              </a:rPr>
              <a:t>可能的问题有哪些呢？</a:t>
            </a:r>
          </a:p>
        </p:txBody>
      </p:sp>
      <p:grpSp>
        <p:nvGrpSpPr>
          <p:cNvPr id="94212" name="组合 10">
            <a:extLst>
              <a:ext uri="{FF2B5EF4-FFF2-40B4-BE49-F238E27FC236}">
                <a16:creationId xmlns:a16="http://schemas.microsoft.com/office/drawing/2014/main" id="{B1365D51-382D-4105-8C0A-2663F0347162}"/>
              </a:ext>
            </a:extLst>
          </p:cNvPr>
          <p:cNvGrpSpPr>
            <a:grpSpLocks/>
          </p:cNvGrpSpPr>
          <p:nvPr/>
        </p:nvGrpSpPr>
        <p:grpSpPr bwMode="auto">
          <a:xfrm>
            <a:off x="1981200" y="1371600"/>
            <a:ext cx="3886200" cy="1447800"/>
            <a:chOff x="2209800" y="1676400"/>
            <a:chExt cx="3886200" cy="1447800"/>
          </a:xfrm>
        </p:grpSpPr>
        <p:sp>
          <p:nvSpPr>
            <p:cNvPr id="94227" name="矩形 18">
              <a:extLst>
                <a:ext uri="{FF2B5EF4-FFF2-40B4-BE49-F238E27FC236}">
                  <a16:creationId xmlns:a16="http://schemas.microsoft.com/office/drawing/2014/main" id="{CB59C1A5-4082-485D-8E63-4987F13F0D4D}"/>
                </a:ext>
              </a:extLst>
            </p:cNvPr>
            <p:cNvSpPr>
              <a:spLocks noChangeArrowheads="1"/>
            </p:cNvSpPr>
            <p:nvPr/>
          </p:nvSpPr>
          <p:spPr bwMode="auto">
            <a:xfrm>
              <a:off x="2590800" y="1676400"/>
              <a:ext cx="35052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a:t>
              </a:r>
              <a:r>
                <a:rPr lang="zh-CN" altLang="en-US" sz="2000">
                  <a:solidFill>
                    <a:srgbClr val="FF0000"/>
                  </a:solidFill>
                </a:rPr>
                <a:t>不是最优的算法</a:t>
              </a:r>
              <a:r>
                <a:rPr lang="zh-CN" altLang="en-US" sz="2000"/>
                <a:t>？可能有更优的算法？</a:t>
              </a:r>
            </a:p>
          </p:txBody>
        </p:sp>
        <p:cxnSp>
          <p:nvCxnSpPr>
            <p:cNvPr id="5" name="直接箭头连接符 4">
              <a:extLst>
                <a:ext uri="{FF2B5EF4-FFF2-40B4-BE49-F238E27FC236}">
                  <a16:creationId xmlns:a16="http://schemas.microsoft.com/office/drawing/2014/main" id="{93158ED1-B07F-4098-86F6-256EA3114C63}"/>
                </a:ext>
              </a:extLst>
            </p:cNvPr>
            <p:cNvCxnSpPr/>
            <p:nvPr/>
          </p:nvCxnSpPr>
          <p:spPr>
            <a:xfrm>
              <a:off x="2209800" y="2030413"/>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781CB332-DF90-4977-96A4-66C71FD3DF2E}"/>
                </a:ext>
              </a:extLst>
            </p:cNvPr>
            <p:cNvCxnSpPr>
              <a:cxnSpLocks/>
            </p:cNvCxnSpPr>
            <p:nvPr/>
          </p:nvCxnSpPr>
          <p:spPr>
            <a:xfrm>
              <a:off x="2209800" y="2030413"/>
              <a:ext cx="0" cy="1093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直接箭头连接符 26">
            <a:extLst>
              <a:ext uri="{FF2B5EF4-FFF2-40B4-BE49-F238E27FC236}">
                <a16:creationId xmlns:a16="http://schemas.microsoft.com/office/drawing/2014/main" id="{64084C28-052B-4594-AA88-9DEF571956D9}"/>
              </a:ext>
            </a:extLst>
          </p:cNvPr>
          <p:cNvCxnSpPr/>
          <p:nvPr/>
        </p:nvCxnSpPr>
        <p:spPr>
          <a:xfrm>
            <a:off x="1600200" y="2819400"/>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4214" name="组合 11">
            <a:extLst>
              <a:ext uri="{FF2B5EF4-FFF2-40B4-BE49-F238E27FC236}">
                <a16:creationId xmlns:a16="http://schemas.microsoft.com/office/drawing/2014/main" id="{C3236C75-7975-41FF-B8E0-28A852214911}"/>
              </a:ext>
            </a:extLst>
          </p:cNvPr>
          <p:cNvGrpSpPr>
            <a:grpSpLocks/>
          </p:cNvGrpSpPr>
          <p:nvPr/>
        </p:nvGrpSpPr>
        <p:grpSpPr bwMode="auto">
          <a:xfrm>
            <a:off x="1981200" y="2819400"/>
            <a:ext cx="3886200" cy="1692275"/>
            <a:chOff x="2209800" y="3124200"/>
            <a:chExt cx="3886200" cy="1692859"/>
          </a:xfrm>
        </p:grpSpPr>
        <p:sp>
          <p:nvSpPr>
            <p:cNvPr id="94224" name="矩形 19">
              <a:extLst>
                <a:ext uri="{FF2B5EF4-FFF2-40B4-BE49-F238E27FC236}">
                  <a16:creationId xmlns:a16="http://schemas.microsoft.com/office/drawing/2014/main" id="{46351DA6-CA65-4F92-A274-54618DF92281}"/>
                </a:ext>
              </a:extLst>
            </p:cNvPr>
            <p:cNvSpPr>
              <a:spLocks noChangeArrowheads="1"/>
            </p:cNvSpPr>
            <p:nvPr/>
          </p:nvSpPr>
          <p:spPr bwMode="auto">
            <a:xfrm>
              <a:off x="2590800" y="4109173"/>
              <a:ext cx="3505200" cy="7078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t>最小元素法只是第一步？</a:t>
              </a:r>
              <a:endParaRPr lang="en-US" altLang="zh-CN" sz="2000"/>
            </a:p>
            <a:p>
              <a:r>
                <a:rPr lang="zh-CN" altLang="en-US" sz="2000"/>
                <a:t>可能</a:t>
              </a:r>
              <a:r>
                <a:rPr lang="zh-CN" altLang="en-US" sz="2000">
                  <a:solidFill>
                    <a:srgbClr val="FF0000"/>
                  </a:solidFill>
                </a:rPr>
                <a:t>还有后续优化算法</a:t>
              </a:r>
              <a:r>
                <a:rPr lang="zh-CN" altLang="en-US" sz="2000"/>
                <a:t>？</a:t>
              </a:r>
            </a:p>
          </p:txBody>
        </p:sp>
        <p:cxnSp>
          <p:nvCxnSpPr>
            <p:cNvPr id="23" name="直接箭头连接符 22">
              <a:extLst>
                <a:ext uri="{FF2B5EF4-FFF2-40B4-BE49-F238E27FC236}">
                  <a16:creationId xmlns:a16="http://schemas.microsoft.com/office/drawing/2014/main" id="{F2C29A41-7CBF-47FD-9749-908554E263E1}"/>
                </a:ext>
              </a:extLst>
            </p:cNvPr>
            <p:cNvCxnSpPr/>
            <p:nvPr/>
          </p:nvCxnSpPr>
          <p:spPr>
            <a:xfrm>
              <a:off x="2209800" y="4462925"/>
              <a:ext cx="3810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41DD13CE-34B6-45A9-91D8-B7F4ECFADF2A}"/>
                </a:ext>
              </a:extLst>
            </p:cNvPr>
            <p:cNvCxnSpPr>
              <a:cxnSpLocks/>
            </p:cNvCxnSpPr>
            <p:nvPr/>
          </p:nvCxnSpPr>
          <p:spPr>
            <a:xfrm>
              <a:off x="2209800" y="3124200"/>
              <a:ext cx="0" cy="1338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4215" name="矩形 32">
            <a:extLst>
              <a:ext uri="{FF2B5EF4-FFF2-40B4-BE49-F238E27FC236}">
                <a16:creationId xmlns:a16="http://schemas.microsoft.com/office/drawing/2014/main" id="{9D4AF188-6BD2-4D19-89FF-5EA7DABC2C42}"/>
              </a:ext>
            </a:extLst>
          </p:cNvPr>
          <p:cNvSpPr>
            <a:spLocks noChangeArrowheads="1"/>
          </p:cNvSpPr>
          <p:nvPr/>
        </p:nvSpPr>
        <p:spPr bwMode="auto">
          <a:xfrm>
            <a:off x="2743200" y="971550"/>
            <a:ext cx="2819400"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rPr>
              <a:t>还没有得到最优结果</a:t>
            </a:r>
          </a:p>
        </p:txBody>
      </p:sp>
      <p:sp>
        <p:nvSpPr>
          <p:cNvPr id="94216" name="矩形 33">
            <a:extLst>
              <a:ext uri="{FF2B5EF4-FFF2-40B4-BE49-F238E27FC236}">
                <a16:creationId xmlns:a16="http://schemas.microsoft.com/office/drawing/2014/main" id="{92F3659A-2808-4EA5-A602-BCDC5227DFA9}"/>
              </a:ext>
            </a:extLst>
          </p:cNvPr>
          <p:cNvSpPr>
            <a:spLocks noChangeArrowheads="1"/>
          </p:cNvSpPr>
          <p:nvPr/>
        </p:nvSpPr>
        <p:spPr bwMode="auto">
          <a:xfrm>
            <a:off x="2705100" y="4595813"/>
            <a:ext cx="2819400" cy="4000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rPr>
              <a:t>靠近最优结果</a:t>
            </a:r>
          </a:p>
        </p:txBody>
      </p:sp>
      <p:sp>
        <p:nvSpPr>
          <p:cNvPr id="94217" name="Text Box 89">
            <a:extLst>
              <a:ext uri="{FF2B5EF4-FFF2-40B4-BE49-F238E27FC236}">
                <a16:creationId xmlns:a16="http://schemas.microsoft.com/office/drawing/2014/main" id="{0CD09B2A-8401-44E7-8D09-4075F873990E}"/>
              </a:ext>
            </a:extLst>
          </p:cNvPr>
          <p:cNvSpPr txBox="1">
            <a:spLocks noChangeArrowheads="1"/>
          </p:cNvSpPr>
          <p:nvPr/>
        </p:nvSpPr>
        <p:spPr bwMode="auto">
          <a:xfrm>
            <a:off x="3592513" y="2519363"/>
            <a:ext cx="528637"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4400" b="1">
                <a:solidFill>
                  <a:srgbClr val="FF0000"/>
                </a:solidFill>
              </a:rPr>
              <a:t>?</a:t>
            </a:r>
          </a:p>
        </p:txBody>
      </p:sp>
      <p:grpSp>
        <p:nvGrpSpPr>
          <p:cNvPr id="3" name="组合 2">
            <a:extLst>
              <a:ext uri="{FF2B5EF4-FFF2-40B4-BE49-F238E27FC236}">
                <a16:creationId xmlns:a16="http://schemas.microsoft.com/office/drawing/2014/main" id="{B70A6512-77A5-4C1C-AFA7-8CA90209E887}"/>
              </a:ext>
            </a:extLst>
          </p:cNvPr>
          <p:cNvGrpSpPr>
            <a:grpSpLocks/>
          </p:cNvGrpSpPr>
          <p:nvPr/>
        </p:nvGrpSpPr>
        <p:grpSpPr bwMode="auto">
          <a:xfrm>
            <a:off x="5943600" y="1392238"/>
            <a:ext cx="2362200" cy="708025"/>
            <a:chOff x="5943600" y="1392238"/>
            <a:chExt cx="2362200" cy="708025"/>
          </a:xfrm>
        </p:grpSpPr>
        <p:sp>
          <p:nvSpPr>
            <p:cNvPr id="94222" name="矩形 15">
              <a:extLst>
                <a:ext uri="{FF2B5EF4-FFF2-40B4-BE49-F238E27FC236}">
                  <a16:creationId xmlns:a16="http://schemas.microsoft.com/office/drawing/2014/main" id="{E45A180C-835F-4F1C-BC65-F60873397689}"/>
                </a:ext>
              </a:extLst>
            </p:cNvPr>
            <p:cNvSpPr>
              <a:spLocks noChangeArrowheads="1"/>
            </p:cNvSpPr>
            <p:nvPr/>
          </p:nvSpPr>
          <p:spPr bwMode="auto">
            <a:xfrm>
              <a:off x="6629400" y="1392238"/>
              <a:ext cx="1676400" cy="708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FF00FF"/>
                  </a:solidFill>
                </a:rPr>
                <a:t>伏格尔法</a:t>
              </a:r>
              <a:endParaRPr lang="en-US" altLang="zh-CN" sz="2000">
                <a:solidFill>
                  <a:srgbClr val="FF00FF"/>
                </a:solidFill>
              </a:endParaRPr>
            </a:p>
            <a:p>
              <a:r>
                <a:rPr lang="zh-CN" altLang="en-US" sz="2000">
                  <a:solidFill>
                    <a:srgbClr val="FF00FF"/>
                  </a:solidFill>
                </a:rPr>
                <a:t>（</a:t>
              </a:r>
              <a:r>
                <a:rPr lang="en-US" altLang="zh-CN" sz="2000">
                  <a:solidFill>
                    <a:srgbClr val="FF00FF"/>
                  </a:solidFill>
                </a:rPr>
                <a:t> Vogel</a:t>
              </a:r>
              <a:r>
                <a:rPr lang="zh-CN" altLang="en-US" sz="2000">
                  <a:solidFill>
                    <a:srgbClr val="FF00FF"/>
                  </a:solidFill>
                </a:rPr>
                <a:t>）</a:t>
              </a:r>
            </a:p>
          </p:txBody>
        </p:sp>
        <p:sp>
          <p:nvSpPr>
            <p:cNvPr id="2" name="箭头: 右 1">
              <a:extLst>
                <a:ext uri="{FF2B5EF4-FFF2-40B4-BE49-F238E27FC236}">
                  <a16:creationId xmlns:a16="http://schemas.microsoft.com/office/drawing/2014/main" id="{26A9FA73-474C-4556-BA63-A39AB647CA70}"/>
                </a:ext>
              </a:extLst>
            </p:cNvPr>
            <p:cNvSpPr/>
            <p:nvPr/>
          </p:nvSpPr>
          <p:spPr>
            <a:xfrm>
              <a:off x="5943600" y="1600200"/>
              <a:ext cx="68580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grpSp>
        <p:nvGrpSpPr>
          <p:cNvPr id="4" name="组合 3">
            <a:extLst>
              <a:ext uri="{FF2B5EF4-FFF2-40B4-BE49-F238E27FC236}">
                <a16:creationId xmlns:a16="http://schemas.microsoft.com/office/drawing/2014/main" id="{E7F522D0-C310-45E4-878E-C8AF1B5F1AEB}"/>
              </a:ext>
            </a:extLst>
          </p:cNvPr>
          <p:cNvGrpSpPr>
            <a:grpSpLocks/>
          </p:cNvGrpSpPr>
          <p:nvPr/>
        </p:nvGrpSpPr>
        <p:grpSpPr bwMode="auto">
          <a:xfrm>
            <a:off x="5942013" y="3803650"/>
            <a:ext cx="2516187" cy="708025"/>
            <a:chOff x="5942639" y="3803650"/>
            <a:chExt cx="2515561" cy="708025"/>
          </a:xfrm>
        </p:grpSpPr>
        <p:sp>
          <p:nvSpPr>
            <p:cNvPr id="94220" name="矩形 16">
              <a:extLst>
                <a:ext uri="{FF2B5EF4-FFF2-40B4-BE49-F238E27FC236}">
                  <a16:creationId xmlns:a16="http://schemas.microsoft.com/office/drawing/2014/main" id="{1100FB9A-709C-4C43-A5B0-2506A4F15185}"/>
                </a:ext>
              </a:extLst>
            </p:cNvPr>
            <p:cNvSpPr>
              <a:spLocks noChangeArrowheads="1"/>
            </p:cNvSpPr>
            <p:nvPr/>
          </p:nvSpPr>
          <p:spPr bwMode="auto">
            <a:xfrm>
              <a:off x="6629400" y="3803650"/>
              <a:ext cx="1828800" cy="708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a:solidFill>
                    <a:srgbClr val="FF00FF"/>
                  </a:solidFill>
                </a:rPr>
                <a:t>位势法</a:t>
              </a:r>
            </a:p>
            <a:p>
              <a:r>
                <a:rPr lang="zh-CN" altLang="en-US" sz="2000">
                  <a:solidFill>
                    <a:srgbClr val="FF00FF"/>
                  </a:solidFill>
                </a:rPr>
                <a:t>闭回路法</a:t>
              </a:r>
              <a:endParaRPr lang="en-US" altLang="zh-CN" sz="2000">
                <a:solidFill>
                  <a:srgbClr val="FF00FF"/>
                </a:solidFill>
              </a:endParaRPr>
            </a:p>
          </p:txBody>
        </p:sp>
        <p:sp>
          <p:nvSpPr>
            <p:cNvPr id="19" name="箭头: 右 18">
              <a:extLst>
                <a:ext uri="{FF2B5EF4-FFF2-40B4-BE49-F238E27FC236}">
                  <a16:creationId xmlns:a16="http://schemas.microsoft.com/office/drawing/2014/main" id="{F965FE3B-C033-4238-8D8F-900C8F4666A1}"/>
                </a:ext>
              </a:extLst>
            </p:cNvPr>
            <p:cNvSpPr/>
            <p:nvPr/>
          </p:nvSpPr>
          <p:spPr>
            <a:xfrm>
              <a:off x="5942639" y="4005263"/>
              <a:ext cx="685629"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randombar(horizontal)">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descr="Large confetti">
            <a:extLst>
              <a:ext uri="{FF2B5EF4-FFF2-40B4-BE49-F238E27FC236}">
                <a16:creationId xmlns:a16="http://schemas.microsoft.com/office/drawing/2014/main" id="{BDF3F228-0B66-4811-A035-0B3C81164A04}"/>
              </a:ext>
            </a:extLst>
          </p:cNvPr>
          <p:cNvSpPr>
            <a:spLocks noGrp="1" noChangeArrowheads="1"/>
          </p:cNvSpPr>
          <p:nvPr>
            <p:ph type="title"/>
          </p:nvPr>
        </p:nvSpPr>
        <p:spPr/>
        <p:txBody>
          <a:bodyPr/>
          <a:lstStyle/>
          <a:p>
            <a:pPr eaLnBrk="1" hangingPunct="1"/>
            <a:r>
              <a:rPr lang="zh-CN" altLang="en-US"/>
              <a:t>表上作业法计算步骤</a:t>
            </a:r>
          </a:p>
        </p:txBody>
      </p:sp>
      <p:sp>
        <p:nvSpPr>
          <p:cNvPr id="95235" name="Rectangle 3">
            <a:extLst>
              <a:ext uri="{FF2B5EF4-FFF2-40B4-BE49-F238E27FC236}">
                <a16:creationId xmlns:a16="http://schemas.microsoft.com/office/drawing/2014/main" id="{33BBFC62-55BE-465B-BDCC-0B52BA8CFD48}"/>
              </a:ext>
            </a:extLst>
          </p:cNvPr>
          <p:cNvSpPr>
            <a:spLocks noGrp="1" noChangeArrowheads="1"/>
          </p:cNvSpPr>
          <p:nvPr>
            <p:ph type="body" idx="1"/>
          </p:nvPr>
        </p:nvSpPr>
        <p:spPr>
          <a:xfrm>
            <a:off x="180975" y="838200"/>
            <a:ext cx="8135938" cy="574675"/>
          </a:xfrm>
        </p:spPr>
        <p:txBody>
          <a:bodyPr/>
          <a:lstStyle/>
          <a:p>
            <a:pPr eaLnBrk="1" hangingPunct="1"/>
            <a:r>
              <a:rPr lang="zh-CN" altLang="en-US"/>
              <a:t>表上作业法的计算步骤：</a:t>
            </a:r>
          </a:p>
        </p:txBody>
      </p:sp>
      <p:grpSp>
        <p:nvGrpSpPr>
          <p:cNvPr id="95236" name="Group 25">
            <a:extLst>
              <a:ext uri="{FF2B5EF4-FFF2-40B4-BE49-F238E27FC236}">
                <a16:creationId xmlns:a16="http://schemas.microsoft.com/office/drawing/2014/main" id="{E87DF2AE-5866-4EE9-B97E-1F9482B10983}"/>
              </a:ext>
            </a:extLst>
          </p:cNvPr>
          <p:cNvGrpSpPr>
            <a:grpSpLocks/>
          </p:cNvGrpSpPr>
          <p:nvPr/>
        </p:nvGrpSpPr>
        <p:grpSpPr bwMode="auto">
          <a:xfrm>
            <a:off x="457200" y="1600200"/>
            <a:ext cx="6202363" cy="4913313"/>
            <a:chOff x="1331" y="1026"/>
            <a:chExt cx="3907" cy="3095"/>
          </a:xfrm>
        </p:grpSpPr>
        <p:sp>
          <p:nvSpPr>
            <p:cNvPr id="95253" name="Text Box 4">
              <a:extLst>
                <a:ext uri="{FF2B5EF4-FFF2-40B4-BE49-F238E27FC236}">
                  <a16:creationId xmlns:a16="http://schemas.microsoft.com/office/drawing/2014/main" id="{3EC20CE3-917B-483E-86DC-635ED6ADF5B4}"/>
                </a:ext>
              </a:extLst>
            </p:cNvPr>
            <p:cNvSpPr txBox="1">
              <a:spLocks noChangeArrowheads="1"/>
            </p:cNvSpPr>
            <p:nvPr/>
          </p:nvSpPr>
          <p:spPr bwMode="auto">
            <a:xfrm>
              <a:off x="1655" y="1026"/>
              <a:ext cx="1768"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分析实际问题列出产销平衡表及单位运价表</a:t>
              </a:r>
            </a:p>
          </p:txBody>
        </p:sp>
        <p:sp>
          <p:nvSpPr>
            <p:cNvPr id="95254" name="Text Box 6">
              <a:extLst>
                <a:ext uri="{FF2B5EF4-FFF2-40B4-BE49-F238E27FC236}">
                  <a16:creationId xmlns:a16="http://schemas.microsoft.com/office/drawing/2014/main" id="{DB6A2A0C-E3D6-45B1-9C1A-41C7617ECC59}"/>
                </a:ext>
              </a:extLst>
            </p:cNvPr>
            <p:cNvSpPr txBox="1">
              <a:spLocks noChangeArrowheads="1"/>
            </p:cNvSpPr>
            <p:nvPr/>
          </p:nvSpPr>
          <p:spPr bwMode="auto">
            <a:xfrm>
              <a:off x="1655" y="1751"/>
              <a:ext cx="1768"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确定初始调运方案（最小元素法或</a:t>
              </a:r>
              <a:r>
                <a:rPr kumimoji="1" lang="zh-CN" altLang="zh-CN" b="1">
                  <a:latin typeface="Times New Roman" panose="02020603050405020304" pitchFamily="18" charset="0"/>
                  <a:ea typeface="华文细黑" panose="02010600040101010101" pitchFamily="2" charset="-122"/>
                </a:rPr>
                <a:t>伏格尔</a:t>
              </a:r>
              <a:r>
                <a:rPr kumimoji="1" lang="en-US" altLang="zh-CN" b="1">
                  <a:latin typeface="Times New Roman" panose="02020603050405020304" pitchFamily="18" charset="0"/>
                  <a:ea typeface="华文细黑" panose="02010600040101010101" pitchFamily="2" charset="-122"/>
                </a:rPr>
                <a:t>Vogel</a:t>
              </a:r>
              <a:r>
                <a:rPr kumimoji="1" lang="zh-CN" altLang="en-US" b="1">
                  <a:latin typeface="Times New Roman" panose="02020603050405020304" pitchFamily="18" charset="0"/>
                  <a:ea typeface="华文细黑" panose="02010600040101010101" pitchFamily="2" charset="-122"/>
                </a:rPr>
                <a:t>法）</a:t>
              </a:r>
            </a:p>
          </p:txBody>
        </p:sp>
        <p:sp>
          <p:nvSpPr>
            <p:cNvPr id="95255" name="Text Box 8">
              <a:extLst>
                <a:ext uri="{FF2B5EF4-FFF2-40B4-BE49-F238E27FC236}">
                  <a16:creationId xmlns:a16="http://schemas.microsoft.com/office/drawing/2014/main" id="{39CCE0F9-DA48-45B8-AAE0-5FCC071D7D5B}"/>
                </a:ext>
              </a:extLst>
            </p:cNvPr>
            <p:cNvSpPr txBox="1">
              <a:spLocks noChangeArrowheads="1"/>
            </p:cNvSpPr>
            <p:nvPr/>
          </p:nvSpPr>
          <p:spPr bwMode="auto">
            <a:xfrm>
              <a:off x="1655" y="2484"/>
              <a:ext cx="1768" cy="233"/>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b="1">
                  <a:latin typeface="Times New Roman" panose="02020603050405020304" pitchFamily="18" charset="0"/>
                  <a:ea typeface="华文细黑" panose="02010600040101010101" pitchFamily="2" charset="-122"/>
                </a:rPr>
                <a:t>求检验数（位势法）</a:t>
              </a:r>
            </a:p>
          </p:txBody>
        </p:sp>
        <p:sp>
          <p:nvSpPr>
            <p:cNvPr id="95256" name="AutoShape 9">
              <a:extLst>
                <a:ext uri="{FF2B5EF4-FFF2-40B4-BE49-F238E27FC236}">
                  <a16:creationId xmlns:a16="http://schemas.microsoft.com/office/drawing/2014/main" id="{854A2D40-06D2-4FA3-B282-A58E48DDEFE9}"/>
                </a:ext>
              </a:extLst>
            </p:cNvPr>
            <p:cNvSpPr>
              <a:spLocks noChangeArrowheads="1"/>
            </p:cNvSpPr>
            <p:nvPr/>
          </p:nvSpPr>
          <p:spPr bwMode="auto">
            <a:xfrm>
              <a:off x="1475" y="2991"/>
              <a:ext cx="2114" cy="462"/>
            </a:xfrm>
            <a:prstGeom prst="flowChartDecision">
              <a:avLst/>
            </a:prstGeom>
            <a:solidFill>
              <a:schemeClr val="folHlink"/>
            </a:solidFill>
            <a:ln w="28575" algn="ctr">
              <a:solidFill>
                <a:srgbClr val="A50021"/>
              </a:solidFill>
              <a:miter lim="800000"/>
              <a:headEnd/>
              <a:tailEnd/>
            </a:ln>
          </p:spPr>
          <p:txBody>
            <a:bodyPr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20000"/>
                </a:spcBef>
              </a:pPr>
              <a:r>
                <a:rPr kumimoji="1" lang="zh-CN" altLang="en-US" b="1">
                  <a:latin typeface="Times New Roman" panose="02020603050405020304" pitchFamily="18" charset="0"/>
                  <a:ea typeface="华文细黑" panose="02010600040101010101" pitchFamily="2" charset="-122"/>
                </a:rPr>
                <a:t>所有检验数≥</a:t>
              </a:r>
              <a:r>
                <a:rPr kumimoji="1" lang="en-US" altLang="zh-CN" b="1">
                  <a:latin typeface="Times New Roman" panose="02020603050405020304" pitchFamily="18" charset="0"/>
                  <a:ea typeface="华文细黑" panose="02010600040101010101" pitchFamily="2" charset="-122"/>
                </a:rPr>
                <a:t>0</a:t>
              </a:r>
            </a:p>
          </p:txBody>
        </p:sp>
        <p:sp>
          <p:nvSpPr>
            <p:cNvPr id="95257" name="Text Box 12">
              <a:extLst>
                <a:ext uri="{FF2B5EF4-FFF2-40B4-BE49-F238E27FC236}">
                  <a16:creationId xmlns:a16="http://schemas.microsoft.com/office/drawing/2014/main" id="{7BE0853B-666D-4AA4-984E-E95DBE0394D6}"/>
                </a:ext>
              </a:extLst>
            </p:cNvPr>
            <p:cNvSpPr txBox="1">
              <a:spLocks noChangeArrowheads="1"/>
            </p:cNvSpPr>
            <p:nvPr/>
          </p:nvSpPr>
          <p:spPr bwMode="auto">
            <a:xfrm>
              <a:off x="1331" y="3714"/>
              <a:ext cx="2448"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找出绝对值最大的负检验数，用闭回路法调整，得到新的调运方案</a:t>
              </a:r>
            </a:p>
          </p:txBody>
        </p:sp>
        <p:cxnSp>
          <p:nvCxnSpPr>
            <p:cNvPr id="95258" name="AutoShape 14">
              <a:extLst>
                <a:ext uri="{FF2B5EF4-FFF2-40B4-BE49-F238E27FC236}">
                  <a16:creationId xmlns:a16="http://schemas.microsoft.com/office/drawing/2014/main" id="{B34C7E35-C9F3-40E6-BE41-D512C7006D9E}"/>
                </a:ext>
              </a:extLst>
            </p:cNvPr>
            <p:cNvCxnSpPr>
              <a:cxnSpLocks noChangeShapeType="1"/>
              <a:stCxn id="95257" idx="1"/>
              <a:endCxn id="95254" idx="1"/>
            </p:cNvCxnSpPr>
            <p:nvPr/>
          </p:nvCxnSpPr>
          <p:spPr bwMode="auto">
            <a:xfrm rot="10800000" flipH="1">
              <a:off x="1331" y="1955"/>
              <a:ext cx="324" cy="1963"/>
            </a:xfrm>
            <a:prstGeom prst="bentConnector3">
              <a:avLst>
                <a:gd name="adj1" fmla="val -44444"/>
              </a:avLst>
            </a:prstGeom>
            <a:noFill/>
            <a:ln w="28575">
              <a:solidFill>
                <a:srgbClr val="A50021"/>
              </a:solidFill>
              <a:miter lim="800000"/>
              <a:headEnd/>
              <a:tailEnd type="triangle" w="med" len="med"/>
            </a:ln>
            <a:extLst>
              <a:ext uri="{909E8E84-426E-40DD-AFC4-6F175D3DCCD1}">
                <a14:hiddenFill xmlns:a14="http://schemas.microsoft.com/office/drawing/2010/main">
                  <a:noFill/>
                </a14:hiddenFill>
              </a:ext>
            </a:extLst>
          </p:spPr>
        </p:cxnSp>
        <p:sp>
          <p:nvSpPr>
            <p:cNvPr id="95259" name="Text Box 15">
              <a:extLst>
                <a:ext uri="{FF2B5EF4-FFF2-40B4-BE49-F238E27FC236}">
                  <a16:creationId xmlns:a16="http://schemas.microsoft.com/office/drawing/2014/main" id="{F6A1EC76-D9FD-445F-B2E1-13886F62BF7B}"/>
                </a:ext>
              </a:extLst>
            </p:cNvPr>
            <p:cNvSpPr txBox="1">
              <a:spLocks noChangeArrowheads="1"/>
            </p:cNvSpPr>
            <p:nvPr/>
          </p:nvSpPr>
          <p:spPr bwMode="auto">
            <a:xfrm>
              <a:off x="4014" y="3019"/>
              <a:ext cx="1224"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得到最优方案，算出总运价</a:t>
              </a:r>
            </a:p>
          </p:txBody>
        </p:sp>
        <p:cxnSp>
          <p:nvCxnSpPr>
            <p:cNvPr id="95260" name="AutoShape 16">
              <a:extLst>
                <a:ext uri="{FF2B5EF4-FFF2-40B4-BE49-F238E27FC236}">
                  <a16:creationId xmlns:a16="http://schemas.microsoft.com/office/drawing/2014/main" id="{07E5C615-456F-4F3F-8B95-329048722A5E}"/>
                </a:ext>
              </a:extLst>
            </p:cNvPr>
            <p:cNvCxnSpPr>
              <a:cxnSpLocks noChangeShapeType="1"/>
              <a:stCxn id="95256" idx="3"/>
              <a:endCxn id="95259" idx="1"/>
            </p:cNvCxnSpPr>
            <p:nvPr/>
          </p:nvCxnSpPr>
          <p:spPr bwMode="auto">
            <a:xfrm>
              <a:off x="3589" y="3222"/>
              <a:ext cx="425" cy="1"/>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95261" name="AutoShape 17">
              <a:extLst>
                <a:ext uri="{FF2B5EF4-FFF2-40B4-BE49-F238E27FC236}">
                  <a16:creationId xmlns:a16="http://schemas.microsoft.com/office/drawing/2014/main" id="{01849B08-C438-41AE-AF4D-19B14DBA70F4}"/>
                </a:ext>
              </a:extLst>
            </p:cNvPr>
            <p:cNvCxnSpPr>
              <a:cxnSpLocks noChangeShapeType="1"/>
              <a:stCxn id="95253" idx="2"/>
              <a:endCxn id="95254" idx="0"/>
            </p:cNvCxnSpPr>
            <p:nvPr/>
          </p:nvCxnSpPr>
          <p:spPr bwMode="auto">
            <a:xfrm>
              <a:off x="2539" y="1433"/>
              <a:ext cx="0" cy="318"/>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95262" name="AutoShape 20">
              <a:extLst>
                <a:ext uri="{FF2B5EF4-FFF2-40B4-BE49-F238E27FC236}">
                  <a16:creationId xmlns:a16="http://schemas.microsoft.com/office/drawing/2014/main" id="{43CAEEA9-46BA-4A86-9A98-BAA9D100D721}"/>
                </a:ext>
              </a:extLst>
            </p:cNvPr>
            <p:cNvCxnSpPr>
              <a:cxnSpLocks noChangeShapeType="1"/>
              <a:stCxn id="95254" idx="2"/>
              <a:endCxn id="95255" idx="0"/>
            </p:cNvCxnSpPr>
            <p:nvPr/>
          </p:nvCxnSpPr>
          <p:spPr bwMode="auto">
            <a:xfrm>
              <a:off x="2539" y="2158"/>
              <a:ext cx="0" cy="326"/>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95263" name="AutoShape 21">
              <a:extLst>
                <a:ext uri="{FF2B5EF4-FFF2-40B4-BE49-F238E27FC236}">
                  <a16:creationId xmlns:a16="http://schemas.microsoft.com/office/drawing/2014/main" id="{7309E3A6-80C5-4123-930B-85773ECD922D}"/>
                </a:ext>
              </a:extLst>
            </p:cNvPr>
            <p:cNvCxnSpPr>
              <a:cxnSpLocks noChangeShapeType="1"/>
              <a:stCxn id="95255" idx="2"/>
              <a:endCxn id="95256" idx="0"/>
            </p:cNvCxnSpPr>
            <p:nvPr/>
          </p:nvCxnSpPr>
          <p:spPr bwMode="auto">
            <a:xfrm flipH="1">
              <a:off x="2532" y="2717"/>
              <a:ext cx="7" cy="274"/>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95264" name="AutoShape 23">
              <a:extLst>
                <a:ext uri="{FF2B5EF4-FFF2-40B4-BE49-F238E27FC236}">
                  <a16:creationId xmlns:a16="http://schemas.microsoft.com/office/drawing/2014/main" id="{9F21DD13-1731-4F67-B7DC-D6991467ED6D}"/>
                </a:ext>
              </a:extLst>
            </p:cNvPr>
            <p:cNvCxnSpPr>
              <a:cxnSpLocks noChangeShapeType="1"/>
              <a:stCxn id="95256" idx="2"/>
              <a:endCxn id="95257" idx="2"/>
            </p:cNvCxnSpPr>
            <p:nvPr/>
          </p:nvCxnSpPr>
          <p:spPr bwMode="auto">
            <a:xfrm>
              <a:off x="2532" y="3453"/>
              <a:ext cx="23" cy="668"/>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headEnd/>
                  <a:tailEnd type="triangle" w="med" len="med"/>
                </a14:hiddenLine>
              </a:ext>
            </a:extLst>
          </p:spPr>
        </p:cxnSp>
        <p:cxnSp>
          <p:nvCxnSpPr>
            <p:cNvPr id="95265" name="AutoShape 24">
              <a:extLst>
                <a:ext uri="{FF2B5EF4-FFF2-40B4-BE49-F238E27FC236}">
                  <a16:creationId xmlns:a16="http://schemas.microsoft.com/office/drawing/2014/main" id="{F0BC24B2-3E4A-4450-B849-FBF6351C9508}"/>
                </a:ext>
              </a:extLst>
            </p:cNvPr>
            <p:cNvCxnSpPr>
              <a:cxnSpLocks noChangeShapeType="1"/>
              <a:stCxn id="95256" idx="2"/>
            </p:cNvCxnSpPr>
            <p:nvPr/>
          </p:nvCxnSpPr>
          <p:spPr bwMode="auto">
            <a:xfrm flipH="1">
              <a:off x="2532" y="3453"/>
              <a:ext cx="0" cy="213"/>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grpSp>
      <p:grpSp>
        <p:nvGrpSpPr>
          <p:cNvPr id="2" name="组合 1">
            <a:extLst>
              <a:ext uri="{FF2B5EF4-FFF2-40B4-BE49-F238E27FC236}">
                <a16:creationId xmlns:a16="http://schemas.microsoft.com/office/drawing/2014/main" id="{6BA94B72-A458-4EDD-B1EF-64C0277CA968}"/>
              </a:ext>
            </a:extLst>
          </p:cNvPr>
          <p:cNvGrpSpPr>
            <a:grpSpLocks/>
          </p:cNvGrpSpPr>
          <p:nvPr/>
        </p:nvGrpSpPr>
        <p:grpSpPr bwMode="auto">
          <a:xfrm>
            <a:off x="5118100" y="990600"/>
            <a:ext cx="3830638" cy="2924175"/>
            <a:chOff x="5117853" y="990600"/>
            <a:chExt cx="3831127" cy="2924174"/>
          </a:xfrm>
        </p:grpSpPr>
        <p:sp>
          <p:nvSpPr>
            <p:cNvPr id="18" name="Rectangle 4">
              <a:extLst>
                <a:ext uri="{FF2B5EF4-FFF2-40B4-BE49-F238E27FC236}">
                  <a16:creationId xmlns:a16="http://schemas.microsoft.com/office/drawing/2014/main" id="{25E6054A-4D5C-4925-A0D2-3CD12F4024EC}"/>
                </a:ext>
              </a:extLst>
            </p:cNvPr>
            <p:cNvSpPr>
              <a:spLocks noChangeArrowheads="1"/>
            </p:cNvSpPr>
            <p:nvPr/>
          </p:nvSpPr>
          <p:spPr bwMode="auto">
            <a:xfrm>
              <a:off x="5508428" y="990600"/>
              <a:ext cx="2664165" cy="533400"/>
            </a:xfrm>
            <a:prstGeom prst="rect">
              <a:avLst/>
            </a:prstGeom>
            <a:solidFill>
              <a:srgbClr val="FFFF66"/>
            </a:solidFill>
            <a:ln w="9525">
              <a:solidFill>
                <a:srgbClr val="008000"/>
              </a:solidFill>
              <a:miter lim="800000"/>
              <a:headEnd/>
              <a:tailEnd/>
            </a:ln>
            <a:effectLst/>
          </p:spPr>
          <p:txBody>
            <a:bodyPr wrap="none" anchor="ctr"/>
            <a:lstStyle/>
            <a:p>
              <a:pPr>
                <a:defRPr/>
              </a:pPr>
              <a:r>
                <a:rPr kumimoji="1" lang="zh-CN" altLang="en-US" dirty="0">
                  <a:solidFill>
                    <a:schemeClr val="tx2"/>
                  </a:solidFill>
                  <a:effectLst>
                    <a:outerShdw blurRad="38100" dist="38100" dir="2700000" algn="tl">
                      <a:srgbClr val="000000"/>
                    </a:outerShdw>
                  </a:effectLst>
                  <a:ea typeface="楷体_GB2312" pitchFamily="49" charset="-122"/>
                </a:rPr>
                <a:t>找出一个</a:t>
              </a:r>
              <a:r>
                <a:rPr kumimoji="1" lang="zh-CN" altLang="en-US" dirty="0">
                  <a:solidFill>
                    <a:srgbClr val="FF00FF"/>
                  </a:solidFill>
                  <a:effectLst>
                    <a:outerShdw blurRad="38100" dist="38100" dir="2700000" algn="tl">
                      <a:srgbClr val="000000"/>
                    </a:outerShdw>
                  </a:effectLst>
                  <a:ea typeface="楷体_GB2312" pitchFamily="49" charset="-122"/>
                </a:rPr>
                <a:t>初始基本可行解</a:t>
              </a:r>
            </a:p>
          </p:txBody>
        </p:sp>
        <p:sp>
          <p:nvSpPr>
            <p:cNvPr id="19" name="AutoShape 5">
              <a:extLst>
                <a:ext uri="{FF2B5EF4-FFF2-40B4-BE49-F238E27FC236}">
                  <a16:creationId xmlns:a16="http://schemas.microsoft.com/office/drawing/2014/main" id="{17448DA0-6CA1-478F-A60D-851F7BEE4A4B}"/>
                </a:ext>
              </a:extLst>
            </p:cNvPr>
            <p:cNvSpPr>
              <a:spLocks noChangeArrowheads="1"/>
            </p:cNvSpPr>
            <p:nvPr/>
          </p:nvSpPr>
          <p:spPr bwMode="auto">
            <a:xfrm>
              <a:off x="5867249" y="1836738"/>
              <a:ext cx="1829033" cy="906462"/>
            </a:xfrm>
            <a:prstGeom prst="diamond">
              <a:avLst/>
            </a:prstGeom>
            <a:solidFill>
              <a:srgbClr val="FFFF66"/>
            </a:solidFill>
            <a:ln w="9525" algn="ctr">
              <a:solidFill>
                <a:srgbClr val="008000"/>
              </a:solidFill>
              <a:miter lim="800000"/>
              <a:headEnd/>
              <a:tailEnd/>
            </a:ln>
            <a:effectLst/>
          </p:spPr>
          <p:txBody>
            <a:bodyPr wrap="none" anchor="ctr"/>
            <a:lstStyle/>
            <a:p>
              <a:pPr>
                <a:defRPr/>
              </a:pPr>
              <a:r>
                <a:rPr kumimoji="1" lang="zh-CN" altLang="en-US" dirty="0">
                  <a:solidFill>
                    <a:srgbClr val="FF00FF"/>
                  </a:solidFill>
                  <a:effectLst>
                    <a:outerShdw blurRad="38100" dist="38100" dir="2700000" algn="tl">
                      <a:srgbClr val="000000"/>
                    </a:outerShdw>
                  </a:effectLst>
                  <a:ea typeface="楷体_GB2312" pitchFamily="49" charset="-122"/>
                </a:rPr>
                <a:t>是否最优</a:t>
              </a:r>
            </a:p>
          </p:txBody>
        </p:sp>
        <p:sp>
          <p:nvSpPr>
            <p:cNvPr id="20" name="Rectangle 6">
              <a:extLst>
                <a:ext uri="{FF2B5EF4-FFF2-40B4-BE49-F238E27FC236}">
                  <a16:creationId xmlns:a16="http://schemas.microsoft.com/office/drawing/2014/main" id="{70A630DB-E194-4CC1-B87A-64E4A19FCA83}"/>
                </a:ext>
              </a:extLst>
            </p:cNvPr>
            <p:cNvSpPr>
              <a:spLocks noChangeArrowheads="1"/>
            </p:cNvSpPr>
            <p:nvPr/>
          </p:nvSpPr>
          <p:spPr bwMode="auto">
            <a:xfrm>
              <a:off x="5333781" y="3235324"/>
              <a:ext cx="2838812" cy="679450"/>
            </a:xfrm>
            <a:prstGeom prst="rect">
              <a:avLst/>
            </a:prstGeom>
            <a:solidFill>
              <a:srgbClr val="FFFF66"/>
            </a:solidFill>
            <a:ln w="9525" algn="ctr">
              <a:solidFill>
                <a:srgbClr val="008000"/>
              </a:solidFill>
              <a:miter lim="800000"/>
              <a:headEnd/>
              <a:tailEnd/>
            </a:ln>
            <a:effectLst/>
          </p:spPr>
          <p:txBody>
            <a:bodyPr wrap="none" anchor="ctr"/>
            <a:lstStyle/>
            <a:p>
              <a:pPr>
                <a:defRPr/>
              </a:pPr>
              <a:r>
                <a:rPr kumimoji="1" lang="zh-CN" altLang="en-US" dirty="0">
                  <a:solidFill>
                    <a:srgbClr val="FF00FF"/>
                  </a:solidFill>
                  <a:effectLst>
                    <a:outerShdw blurRad="38100" dist="38100" dir="2700000" algn="tl">
                      <a:srgbClr val="000000"/>
                    </a:outerShdw>
                  </a:effectLst>
                  <a:ea typeface="楷体_GB2312" pitchFamily="49" charset="-122"/>
                </a:rPr>
                <a:t>转移</a:t>
              </a:r>
              <a:r>
                <a:rPr kumimoji="1" lang="zh-CN" altLang="en-US" dirty="0">
                  <a:solidFill>
                    <a:schemeClr val="tx2"/>
                  </a:solidFill>
                  <a:effectLst>
                    <a:outerShdw blurRad="38100" dist="38100" dir="2700000" algn="tl">
                      <a:srgbClr val="000000"/>
                    </a:outerShdw>
                  </a:effectLst>
                  <a:ea typeface="楷体_GB2312" pitchFamily="49" charset="-122"/>
                </a:rPr>
                <a:t>到另一个基本可行解</a:t>
              </a:r>
            </a:p>
            <a:p>
              <a:pPr>
                <a:defRPr/>
              </a:pPr>
              <a:r>
                <a:rPr kumimoji="1" lang="zh-CN" altLang="en-US" dirty="0">
                  <a:solidFill>
                    <a:schemeClr val="tx2"/>
                  </a:solidFill>
                  <a:effectLst>
                    <a:outerShdw blurRad="38100" dist="38100" dir="2700000" algn="tl">
                      <a:srgbClr val="000000"/>
                    </a:outerShdw>
                  </a:effectLst>
                  <a:ea typeface="楷体_GB2312" pitchFamily="49" charset="-122"/>
                </a:rPr>
                <a:t>（找出更大的目标函数值）</a:t>
              </a:r>
            </a:p>
          </p:txBody>
        </p:sp>
        <p:sp>
          <p:nvSpPr>
            <p:cNvPr id="21" name="Rectangle 7">
              <a:extLst>
                <a:ext uri="{FF2B5EF4-FFF2-40B4-BE49-F238E27FC236}">
                  <a16:creationId xmlns:a16="http://schemas.microsoft.com/office/drawing/2014/main" id="{C20D8506-3043-46A7-A122-D4A587791FA8}"/>
                </a:ext>
              </a:extLst>
            </p:cNvPr>
            <p:cNvSpPr>
              <a:spLocks noChangeArrowheads="1"/>
            </p:cNvSpPr>
            <p:nvPr/>
          </p:nvSpPr>
          <p:spPr bwMode="auto">
            <a:xfrm>
              <a:off x="8056691" y="2095500"/>
              <a:ext cx="892289" cy="344488"/>
            </a:xfrm>
            <a:prstGeom prst="rect">
              <a:avLst/>
            </a:prstGeom>
            <a:solidFill>
              <a:srgbClr val="FFFF66"/>
            </a:solidFill>
            <a:ln w="9525" algn="ctr">
              <a:solidFill>
                <a:srgbClr val="008000"/>
              </a:solidFill>
              <a:miter lim="800000"/>
              <a:headEnd/>
              <a:tailEnd/>
            </a:ln>
            <a:effectLst/>
          </p:spPr>
          <p:txBody>
            <a:bodyPr wrap="none" anchor="ctr"/>
            <a:lstStyle/>
            <a:p>
              <a:pPr>
                <a:defRPr/>
              </a:pPr>
              <a:r>
                <a:rPr kumimoji="1" lang="zh-CN" altLang="en-US" dirty="0">
                  <a:solidFill>
                    <a:schemeClr val="tx2"/>
                  </a:solidFill>
                  <a:effectLst>
                    <a:outerShdw blurRad="38100" dist="38100" dir="2700000" algn="tl">
                      <a:srgbClr val="000000"/>
                    </a:outerShdw>
                  </a:effectLst>
                  <a:ea typeface="楷体_GB2312" pitchFamily="49" charset="-122"/>
                </a:rPr>
                <a:t>最优解</a:t>
              </a:r>
            </a:p>
          </p:txBody>
        </p:sp>
        <p:sp>
          <p:nvSpPr>
            <p:cNvPr id="95242" name="Line 8">
              <a:extLst>
                <a:ext uri="{FF2B5EF4-FFF2-40B4-BE49-F238E27FC236}">
                  <a16:creationId xmlns:a16="http://schemas.microsoft.com/office/drawing/2014/main" id="{2D059DB2-FBE2-449A-A286-815B6FBE25F9}"/>
                </a:ext>
              </a:extLst>
            </p:cNvPr>
            <p:cNvSpPr>
              <a:spLocks noChangeShapeType="1"/>
            </p:cNvSpPr>
            <p:nvPr/>
          </p:nvSpPr>
          <p:spPr bwMode="auto">
            <a:xfrm>
              <a:off x="6806651" y="1558924"/>
              <a:ext cx="1" cy="277814"/>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243" name="Line 9">
              <a:extLst>
                <a:ext uri="{FF2B5EF4-FFF2-40B4-BE49-F238E27FC236}">
                  <a16:creationId xmlns:a16="http://schemas.microsoft.com/office/drawing/2014/main" id="{A9DFC422-E22E-4F1E-A9B6-18A3915981C2}"/>
                </a:ext>
              </a:extLst>
            </p:cNvPr>
            <p:cNvSpPr>
              <a:spLocks noChangeShapeType="1"/>
            </p:cNvSpPr>
            <p:nvPr/>
          </p:nvSpPr>
          <p:spPr bwMode="auto">
            <a:xfrm>
              <a:off x="6806653" y="2743200"/>
              <a:ext cx="0" cy="4921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244" name="Line 10">
              <a:extLst>
                <a:ext uri="{FF2B5EF4-FFF2-40B4-BE49-F238E27FC236}">
                  <a16:creationId xmlns:a16="http://schemas.microsoft.com/office/drawing/2014/main" id="{FAD33950-2D3A-405D-8BE3-22BD13BC97D1}"/>
                </a:ext>
              </a:extLst>
            </p:cNvPr>
            <p:cNvSpPr>
              <a:spLocks noChangeShapeType="1"/>
            </p:cNvSpPr>
            <p:nvPr/>
          </p:nvSpPr>
          <p:spPr bwMode="auto">
            <a:xfrm>
              <a:off x="7696197" y="2285999"/>
              <a:ext cx="360609" cy="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245" name="Line 11">
              <a:extLst>
                <a:ext uri="{FF2B5EF4-FFF2-40B4-BE49-F238E27FC236}">
                  <a16:creationId xmlns:a16="http://schemas.microsoft.com/office/drawing/2014/main" id="{E5F609A1-AC9B-46B4-9FBE-34EB12533F6E}"/>
                </a:ext>
              </a:extLst>
            </p:cNvPr>
            <p:cNvSpPr>
              <a:spLocks noChangeShapeType="1"/>
            </p:cNvSpPr>
            <p:nvPr/>
          </p:nvSpPr>
          <p:spPr bwMode="auto">
            <a:xfrm>
              <a:off x="5181600" y="2285999"/>
              <a:ext cx="685800" cy="1"/>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246" name="Line 12">
              <a:extLst>
                <a:ext uri="{FF2B5EF4-FFF2-40B4-BE49-F238E27FC236}">
                  <a16:creationId xmlns:a16="http://schemas.microsoft.com/office/drawing/2014/main" id="{DF646A0F-E0ED-469E-8537-A4329872E9A9}"/>
                </a:ext>
              </a:extLst>
            </p:cNvPr>
            <p:cNvSpPr>
              <a:spLocks noChangeShapeType="1"/>
            </p:cNvSpPr>
            <p:nvPr/>
          </p:nvSpPr>
          <p:spPr bwMode="auto">
            <a:xfrm>
              <a:off x="5181600" y="2286000"/>
              <a:ext cx="0" cy="1370012"/>
            </a:xfrm>
            <a:prstGeom prst="line">
              <a:avLst/>
            </a:prstGeom>
            <a:noFill/>
            <a:ln w="2857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247" name="Line 13">
              <a:extLst>
                <a:ext uri="{FF2B5EF4-FFF2-40B4-BE49-F238E27FC236}">
                  <a16:creationId xmlns:a16="http://schemas.microsoft.com/office/drawing/2014/main" id="{EF3B4DCA-BA3A-40DC-BC9A-B01AEE26C059}"/>
                </a:ext>
              </a:extLst>
            </p:cNvPr>
            <p:cNvSpPr>
              <a:spLocks noChangeShapeType="1"/>
            </p:cNvSpPr>
            <p:nvPr/>
          </p:nvSpPr>
          <p:spPr bwMode="auto">
            <a:xfrm>
              <a:off x="5181600" y="3656012"/>
              <a:ext cx="152400" cy="0"/>
            </a:xfrm>
            <a:prstGeom prst="line">
              <a:avLst/>
            </a:prstGeom>
            <a:noFill/>
            <a:ln w="2857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8" name="Text Box 14">
              <a:extLst>
                <a:ext uri="{FF2B5EF4-FFF2-40B4-BE49-F238E27FC236}">
                  <a16:creationId xmlns:a16="http://schemas.microsoft.com/office/drawing/2014/main" id="{C98579DC-94B7-4596-9A14-DC497FA6ED57}"/>
                </a:ext>
              </a:extLst>
            </p:cNvPr>
            <p:cNvSpPr txBox="1">
              <a:spLocks noChangeArrowheads="1"/>
            </p:cNvSpPr>
            <p:nvPr/>
          </p:nvSpPr>
          <p:spPr bwMode="auto">
            <a:xfrm>
              <a:off x="7620072" y="1931988"/>
              <a:ext cx="388988" cy="336550"/>
            </a:xfrm>
            <a:prstGeom prst="rect">
              <a:avLst/>
            </a:prstGeom>
            <a:noFill/>
            <a:ln>
              <a:noFill/>
            </a:ln>
            <a:effectLst/>
          </p:spPr>
          <p:txBody>
            <a:bodyPr wrap="none">
              <a:spAutoFit/>
            </a:bodyPr>
            <a:lstStyle/>
            <a:p>
              <a:pPr>
                <a:defRPr/>
              </a:pPr>
              <a:r>
                <a:rPr kumimoji="1" lang="zh-CN" altLang="en-US" sz="1600" dirty="0">
                  <a:solidFill>
                    <a:srgbClr val="CC0000"/>
                  </a:solidFill>
                  <a:effectLst>
                    <a:outerShdw blurRad="38100" dist="38100" dir="2700000" algn="tl">
                      <a:srgbClr val="000000"/>
                    </a:outerShdw>
                  </a:effectLst>
                  <a:ea typeface="楷体_GB2312" pitchFamily="49" charset="-122"/>
                </a:rPr>
                <a:t>是</a:t>
              </a:r>
            </a:p>
          </p:txBody>
        </p:sp>
        <p:sp>
          <p:nvSpPr>
            <p:cNvPr id="29" name="Text Box 15">
              <a:extLst>
                <a:ext uri="{FF2B5EF4-FFF2-40B4-BE49-F238E27FC236}">
                  <a16:creationId xmlns:a16="http://schemas.microsoft.com/office/drawing/2014/main" id="{B85A0748-9575-4E90-8DFB-1E02975361C1}"/>
                </a:ext>
              </a:extLst>
            </p:cNvPr>
            <p:cNvSpPr txBox="1">
              <a:spLocks noChangeArrowheads="1"/>
            </p:cNvSpPr>
            <p:nvPr/>
          </p:nvSpPr>
          <p:spPr bwMode="auto">
            <a:xfrm>
              <a:off x="6730959" y="2830512"/>
              <a:ext cx="388988" cy="336550"/>
            </a:xfrm>
            <a:prstGeom prst="rect">
              <a:avLst/>
            </a:prstGeom>
            <a:noFill/>
            <a:ln>
              <a:noFill/>
            </a:ln>
            <a:effectLst/>
          </p:spPr>
          <p:txBody>
            <a:bodyPr wrap="none">
              <a:spAutoFit/>
            </a:bodyPr>
            <a:lstStyle/>
            <a:p>
              <a:pPr>
                <a:defRPr/>
              </a:pPr>
              <a:r>
                <a:rPr kumimoji="1" lang="zh-CN" altLang="en-US" sz="1600" dirty="0">
                  <a:solidFill>
                    <a:srgbClr val="CC0000"/>
                  </a:solidFill>
                  <a:effectLst>
                    <a:outerShdw blurRad="38100" dist="38100" dir="2700000" algn="tl">
                      <a:srgbClr val="000000"/>
                    </a:outerShdw>
                  </a:effectLst>
                  <a:ea typeface="楷体_GB2312" pitchFamily="49" charset="-122"/>
                </a:rPr>
                <a:t>否</a:t>
              </a:r>
            </a:p>
          </p:txBody>
        </p:sp>
        <p:sp>
          <p:nvSpPr>
            <p:cNvPr id="30" name="Text Box 16">
              <a:extLst>
                <a:ext uri="{FF2B5EF4-FFF2-40B4-BE49-F238E27FC236}">
                  <a16:creationId xmlns:a16="http://schemas.microsoft.com/office/drawing/2014/main" id="{DD97EDA1-A6E9-40F9-B3B3-F7C23A3E83CC}"/>
                </a:ext>
              </a:extLst>
            </p:cNvPr>
            <p:cNvSpPr txBox="1">
              <a:spLocks noChangeArrowheads="1"/>
            </p:cNvSpPr>
            <p:nvPr/>
          </p:nvSpPr>
          <p:spPr bwMode="auto">
            <a:xfrm>
              <a:off x="5117853" y="2452687"/>
              <a:ext cx="388988" cy="581025"/>
            </a:xfrm>
            <a:prstGeom prst="rect">
              <a:avLst/>
            </a:prstGeom>
            <a:noFill/>
            <a:ln>
              <a:noFill/>
            </a:ln>
            <a:effectLst/>
          </p:spPr>
          <p:txBody>
            <a:bodyPr wrap="none">
              <a:spAutoFit/>
            </a:bodyPr>
            <a:lstStyle/>
            <a:p>
              <a:pPr>
                <a:defRPr/>
              </a:pPr>
              <a:r>
                <a:rPr kumimoji="1" lang="zh-CN" altLang="en-US" sz="1600" dirty="0">
                  <a:solidFill>
                    <a:srgbClr val="CC0000"/>
                  </a:solidFill>
                  <a:effectLst>
                    <a:outerShdw blurRad="38100" dist="38100" dir="2700000" algn="tl">
                      <a:srgbClr val="000000"/>
                    </a:outerShdw>
                  </a:effectLst>
                  <a:ea typeface="楷体_GB2312" pitchFamily="49" charset="-122"/>
                </a:rPr>
                <a:t>循</a:t>
              </a:r>
            </a:p>
            <a:p>
              <a:pPr>
                <a:defRPr/>
              </a:pPr>
              <a:r>
                <a:rPr kumimoji="1" lang="zh-CN" altLang="en-US" sz="1600" dirty="0">
                  <a:solidFill>
                    <a:srgbClr val="CC0000"/>
                  </a:solidFill>
                  <a:effectLst>
                    <a:outerShdw blurRad="38100" dist="38100" dir="2700000" algn="tl">
                      <a:srgbClr val="000000"/>
                    </a:outerShdw>
                  </a:effectLst>
                  <a:ea typeface="楷体_GB2312" pitchFamily="49" charset="-122"/>
                </a:rPr>
                <a:t>环</a:t>
              </a:r>
            </a:p>
          </p:txBody>
        </p:sp>
        <p:sp>
          <p:nvSpPr>
            <p:cNvPr id="95251" name="Line 18">
              <a:extLst>
                <a:ext uri="{FF2B5EF4-FFF2-40B4-BE49-F238E27FC236}">
                  <a16:creationId xmlns:a16="http://schemas.microsoft.com/office/drawing/2014/main" id="{13DFF560-644C-436D-94A2-9AAEAD5BF253}"/>
                </a:ext>
              </a:extLst>
            </p:cNvPr>
            <p:cNvSpPr>
              <a:spLocks noChangeShapeType="1"/>
            </p:cNvSpPr>
            <p:nvPr/>
          </p:nvSpPr>
          <p:spPr bwMode="auto">
            <a:xfrm>
              <a:off x="8534400" y="2451894"/>
              <a:ext cx="0" cy="215106"/>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 name="AutoShape 20">
              <a:extLst>
                <a:ext uri="{FF2B5EF4-FFF2-40B4-BE49-F238E27FC236}">
                  <a16:creationId xmlns:a16="http://schemas.microsoft.com/office/drawing/2014/main" id="{E852243B-E0F5-4B8D-98BB-247598017CAF}"/>
                </a:ext>
              </a:extLst>
            </p:cNvPr>
            <p:cNvSpPr>
              <a:spLocks noChangeArrowheads="1"/>
            </p:cNvSpPr>
            <p:nvPr/>
          </p:nvSpPr>
          <p:spPr bwMode="auto">
            <a:xfrm>
              <a:off x="8190058" y="2657474"/>
              <a:ext cx="695414" cy="457200"/>
            </a:xfrm>
            <a:prstGeom prst="flowChartTerminator">
              <a:avLst/>
            </a:prstGeom>
            <a:solidFill>
              <a:srgbClr val="FFFF66"/>
            </a:solidFill>
            <a:ln w="9525" algn="ctr">
              <a:solidFill>
                <a:srgbClr val="008000"/>
              </a:solidFill>
              <a:miter lim="800000"/>
              <a:headEnd/>
              <a:tailEnd/>
            </a:ln>
            <a:effectLst/>
          </p:spPr>
          <p:txBody>
            <a:bodyPr wrap="none" anchor="ctr"/>
            <a:lstStyle/>
            <a:p>
              <a:pPr>
                <a:defRPr/>
              </a:pPr>
              <a:r>
                <a:rPr kumimoji="1" lang="zh-CN" altLang="en-US" dirty="0">
                  <a:solidFill>
                    <a:schemeClr val="tx2"/>
                  </a:solidFill>
                  <a:effectLst>
                    <a:outerShdw blurRad="38100" dist="38100" dir="2700000" algn="tl">
                      <a:srgbClr val="000000"/>
                    </a:outerShdw>
                  </a:effectLst>
                  <a:ea typeface="楷体_GB2312" pitchFamily="49" charset="-122"/>
                </a:rPr>
                <a:t>结束</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a:extLst>
              <a:ext uri="{FF2B5EF4-FFF2-40B4-BE49-F238E27FC236}">
                <a16:creationId xmlns:a16="http://schemas.microsoft.com/office/drawing/2014/main" id="{568945A9-1456-481E-8489-29A55EB0A9E1}"/>
              </a:ext>
            </a:extLst>
          </p:cNvPr>
          <p:cNvSpPr>
            <a:spLocks noGrp="1" noChangeArrowheads="1"/>
          </p:cNvSpPr>
          <p:nvPr>
            <p:ph type="title"/>
          </p:nvPr>
        </p:nvSpPr>
        <p:spPr/>
        <p:txBody>
          <a:bodyPr/>
          <a:lstStyle/>
          <a:p>
            <a:pPr eaLnBrk="1" hangingPunct="1"/>
            <a:r>
              <a:rPr lang="zh-CN" altLang="en-US"/>
              <a:t>表上作业法计算中的问题说明</a:t>
            </a:r>
          </a:p>
        </p:txBody>
      </p:sp>
      <p:sp>
        <p:nvSpPr>
          <p:cNvPr id="168963" name="Rectangle 3">
            <a:extLst>
              <a:ext uri="{FF2B5EF4-FFF2-40B4-BE49-F238E27FC236}">
                <a16:creationId xmlns:a16="http://schemas.microsoft.com/office/drawing/2014/main" id="{B88E84AB-3661-4D24-A0CE-0156A0A7949F}"/>
              </a:ext>
            </a:extLst>
          </p:cNvPr>
          <p:cNvSpPr>
            <a:spLocks noGrp="1" noChangeArrowheads="1"/>
          </p:cNvSpPr>
          <p:nvPr>
            <p:ph type="body" idx="1"/>
          </p:nvPr>
        </p:nvSpPr>
        <p:spPr>
          <a:xfrm>
            <a:off x="457200" y="990600"/>
            <a:ext cx="8229600" cy="1143000"/>
          </a:xfrm>
        </p:spPr>
        <p:txBody>
          <a:bodyPr/>
          <a:lstStyle/>
          <a:p>
            <a:pPr eaLnBrk="1" hangingPunct="1"/>
            <a:r>
              <a:rPr lang="zh-CN" altLang="en-US"/>
              <a:t>无穷多最优解</a:t>
            </a:r>
          </a:p>
          <a:p>
            <a:pPr lvl="1" eaLnBrk="1" hangingPunct="1"/>
            <a:r>
              <a:rPr lang="zh-CN" altLang="en-US"/>
              <a:t>非基变量</a:t>
            </a:r>
            <a:r>
              <a:rPr lang="en-US" altLang="zh-CN"/>
              <a:t>(</a:t>
            </a:r>
            <a:r>
              <a:rPr lang="zh-CN" altLang="en-US"/>
              <a:t>空格</a:t>
            </a:r>
            <a:r>
              <a:rPr lang="en-US" altLang="zh-CN"/>
              <a:t>)</a:t>
            </a:r>
            <a:r>
              <a:rPr lang="zh-CN" altLang="en-US"/>
              <a:t>检验数等于 </a:t>
            </a:r>
            <a:r>
              <a:rPr lang="en-US" altLang="zh-CN"/>
              <a:t>0</a:t>
            </a:r>
          </a:p>
        </p:txBody>
      </p:sp>
      <p:graphicFrame>
        <p:nvGraphicFramePr>
          <p:cNvPr id="4" name="Group 4">
            <a:extLst>
              <a:ext uri="{FF2B5EF4-FFF2-40B4-BE49-F238E27FC236}">
                <a16:creationId xmlns:a16="http://schemas.microsoft.com/office/drawing/2014/main" id="{D76C64F1-74E1-4F64-8DA1-67FD84C26600}"/>
              </a:ext>
            </a:extLst>
          </p:cNvPr>
          <p:cNvGraphicFramePr>
            <a:graphicFrameLocks noGrp="1"/>
          </p:cNvGraphicFramePr>
          <p:nvPr/>
        </p:nvGraphicFramePr>
        <p:xfrm>
          <a:off x="1192213" y="2433638"/>
          <a:ext cx="6427788" cy="3357563"/>
        </p:xfrm>
        <a:graphic>
          <a:graphicData uri="http://schemas.openxmlformats.org/drawingml/2006/table">
            <a:tbl>
              <a:tblPr/>
              <a:tblGrid>
                <a:gridCol w="1119188">
                  <a:extLst>
                    <a:ext uri="{9D8B030D-6E8A-4147-A177-3AD203B41FA5}">
                      <a16:colId xmlns:a16="http://schemas.microsoft.com/office/drawing/2014/main" val="20000"/>
                    </a:ext>
                  </a:extLst>
                </a:gridCol>
                <a:gridCol w="1119187">
                  <a:extLst>
                    <a:ext uri="{9D8B030D-6E8A-4147-A177-3AD203B41FA5}">
                      <a16:colId xmlns:a16="http://schemas.microsoft.com/office/drawing/2014/main" val="20001"/>
                    </a:ext>
                  </a:extLst>
                </a:gridCol>
                <a:gridCol w="1119188">
                  <a:extLst>
                    <a:ext uri="{9D8B030D-6E8A-4147-A177-3AD203B41FA5}">
                      <a16:colId xmlns:a16="http://schemas.microsoft.com/office/drawing/2014/main" val="20002"/>
                    </a:ext>
                  </a:extLst>
                </a:gridCol>
                <a:gridCol w="1119187">
                  <a:extLst>
                    <a:ext uri="{9D8B030D-6E8A-4147-A177-3AD203B41FA5}">
                      <a16:colId xmlns:a16="http://schemas.microsoft.com/office/drawing/2014/main" val="20003"/>
                    </a:ext>
                  </a:extLst>
                </a:gridCol>
                <a:gridCol w="1119188">
                  <a:extLst>
                    <a:ext uri="{9D8B030D-6E8A-4147-A177-3AD203B41FA5}">
                      <a16:colId xmlns:a16="http://schemas.microsoft.com/office/drawing/2014/main" val="20004"/>
                    </a:ext>
                  </a:extLst>
                </a:gridCol>
                <a:gridCol w="831850">
                  <a:extLst>
                    <a:ext uri="{9D8B030D-6E8A-4147-A177-3AD203B41FA5}">
                      <a16:colId xmlns:a16="http://schemas.microsoft.com/office/drawing/2014/main" val="20005"/>
                    </a:ext>
                  </a:extLst>
                </a:gridCol>
              </a:tblGrid>
              <a:tr h="546100">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4</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rgbClr val="000000"/>
                          </a:solidFill>
                          <a:effectLst/>
                          <a:latin typeface="Times New Roman" pitchFamily="18" charset="0"/>
                          <a:ea typeface="宋体" pitchFamily="2" charset="-122"/>
                        </a:rPr>
                        <a:t>u</a:t>
                      </a:r>
                      <a:r>
                        <a:rPr kumimoji="1" lang="en-US" altLang="zh-CN" sz="2000" b="1" i="1" u="none" strike="noStrike" cap="none" normalizeH="0" baseline="-25000" dirty="0" err="1">
                          <a:ln>
                            <a:noFill/>
                          </a:ln>
                          <a:solidFill>
                            <a:srgbClr val="000000"/>
                          </a:solidFill>
                          <a:effectLst/>
                          <a:latin typeface="Times New Roman" pitchFamily="18" charset="0"/>
                          <a:ea typeface="宋体" pitchFamily="2" charset="-122"/>
                        </a:rPr>
                        <a:t>i</a:t>
                      </a:r>
                      <a:endParaRPr kumimoji="1" lang="en-US" altLang="zh-CN" sz="2000" b="1" i="1" u="none" strike="noStrike" cap="none" normalizeH="0" baseline="-25000" dirty="0">
                        <a:ln>
                          <a:noFill/>
                        </a:ln>
                        <a:solidFill>
                          <a:srgbClr val="000000"/>
                        </a:solidFill>
                        <a:effectLst/>
                        <a:latin typeface="Times New Roman" pitchFamily="18" charset="0"/>
                        <a:ea typeface="宋体"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5088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3657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chemeClr val="bg2"/>
                          </a:solidFill>
                          <a:effectLst/>
                          <a:latin typeface="Times New Roman" pitchFamily="18" charset="0"/>
                          <a:ea typeface="华文细黑" pitchFamily="2" charset="-122"/>
                        </a:rPr>
                        <a:t>v</a:t>
                      </a:r>
                      <a:r>
                        <a:rPr kumimoji="1" lang="en-US" altLang="zh-CN" sz="2000" b="1" i="1" u="none" strike="noStrike" cap="none" normalizeH="0" baseline="-25000" dirty="0" err="1">
                          <a:ln>
                            <a:noFill/>
                          </a:ln>
                          <a:solidFill>
                            <a:schemeClr val="bg2"/>
                          </a:solidFill>
                          <a:effectLst/>
                          <a:latin typeface="Times New Roman" pitchFamily="18" charset="0"/>
                          <a:ea typeface="华文细黑" pitchFamily="2" charset="-122"/>
                        </a:rPr>
                        <a:t>j</a:t>
                      </a:r>
                      <a:endParaRPr kumimoji="1" lang="en-US" altLang="zh-CN" sz="2000" b="1" i="1" u="none" strike="noStrike" cap="none" normalizeH="0" baseline="-25000" dirty="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96304" name="Rectangle 48">
            <a:extLst>
              <a:ext uri="{FF2B5EF4-FFF2-40B4-BE49-F238E27FC236}">
                <a16:creationId xmlns:a16="http://schemas.microsoft.com/office/drawing/2014/main" id="{0F814B24-64B5-425F-AE61-33A7F5C5742B}"/>
              </a:ext>
            </a:extLst>
          </p:cNvPr>
          <p:cNvSpPr>
            <a:spLocks noChangeArrowheads="1"/>
          </p:cNvSpPr>
          <p:nvPr/>
        </p:nvSpPr>
        <p:spPr bwMode="auto">
          <a:xfrm>
            <a:off x="2901950" y="30067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6305" name="Rectangle 49">
            <a:extLst>
              <a:ext uri="{FF2B5EF4-FFF2-40B4-BE49-F238E27FC236}">
                <a16:creationId xmlns:a16="http://schemas.microsoft.com/office/drawing/2014/main" id="{79705E57-6DBD-4F51-A29D-5CEB16B7231A}"/>
              </a:ext>
            </a:extLst>
          </p:cNvPr>
          <p:cNvSpPr>
            <a:spLocks noChangeArrowheads="1"/>
          </p:cNvSpPr>
          <p:nvPr/>
        </p:nvSpPr>
        <p:spPr bwMode="auto">
          <a:xfrm>
            <a:off x="4030663" y="29940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11</a:t>
            </a:r>
          </a:p>
        </p:txBody>
      </p:sp>
      <p:sp>
        <p:nvSpPr>
          <p:cNvPr id="96306" name="Rectangle 50">
            <a:extLst>
              <a:ext uri="{FF2B5EF4-FFF2-40B4-BE49-F238E27FC236}">
                <a16:creationId xmlns:a16="http://schemas.microsoft.com/office/drawing/2014/main" id="{B9C601E5-120E-4E49-B4D4-3E6E85469D02}"/>
              </a:ext>
            </a:extLst>
          </p:cNvPr>
          <p:cNvSpPr>
            <a:spLocks noChangeArrowheads="1"/>
          </p:cNvSpPr>
          <p:nvPr/>
        </p:nvSpPr>
        <p:spPr bwMode="auto">
          <a:xfrm>
            <a:off x="5143500" y="30067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6307" name="Rectangle 51">
            <a:extLst>
              <a:ext uri="{FF2B5EF4-FFF2-40B4-BE49-F238E27FC236}">
                <a16:creationId xmlns:a16="http://schemas.microsoft.com/office/drawing/2014/main" id="{E1120CD5-2EE6-40FE-92A9-9BE664C4AB62}"/>
              </a:ext>
            </a:extLst>
          </p:cNvPr>
          <p:cNvSpPr>
            <a:spLocks noChangeArrowheads="1"/>
          </p:cNvSpPr>
          <p:nvPr/>
        </p:nvSpPr>
        <p:spPr bwMode="auto">
          <a:xfrm>
            <a:off x="6256338" y="29940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10</a:t>
            </a:r>
          </a:p>
        </p:txBody>
      </p:sp>
      <p:sp>
        <p:nvSpPr>
          <p:cNvPr id="96308" name="Rectangle 52">
            <a:extLst>
              <a:ext uri="{FF2B5EF4-FFF2-40B4-BE49-F238E27FC236}">
                <a16:creationId xmlns:a16="http://schemas.microsoft.com/office/drawing/2014/main" id="{F72A5944-A6BC-4865-8CD1-F464BC70D3DA}"/>
              </a:ext>
            </a:extLst>
          </p:cNvPr>
          <p:cNvSpPr>
            <a:spLocks noChangeArrowheads="1"/>
          </p:cNvSpPr>
          <p:nvPr/>
        </p:nvSpPr>
        <p:spPr bwMode="auto">
          <a:xfrm>
            <a:off x="2878138" y="3760788"/>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a:t>
            </a:r>
          </a:p>
        </p:txBody>
      </p:sp>
      <p:sp>
        <p:nvSpPr>
          <p:cNvPr id="96309" name="Rectangle 53">
            <a:extLst>
              <a:ext uri="{FF2B5EF4-FFF2-40B4-BE49-F238E27FC236}">
                <a16:creationId xmlns:a16="http://schemas.microsoft.com/office/drawing/2014/main" id="{9C4FAFA0-7121-4C92-AD71-55655BA16A08}"/>
              </a:ext>
            </a:extLst>
          </p:cNvPr>
          <p:cNvSpPr>
            <a:spLocks noChangeArrowheads="1"/>
          </p:cNvSpPr>
          <p:nvPr/>
        </p:nvSpPr>
        <p:spPr bwMode="auto">
          <a:xfrm>
            <a:off x="4027488" y="37433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9</a:t>
            </a:r>
          </a:p>
        </p:txBody>
      </p:sp>
      <p:sp>
        <p:nvSpPr>
          <p:cNvPr id="96310" name="Rectangle 54">
            <a:extLst>
              <a:ext uri="{FF2B5EF4-FFF2-40B4-BE49-F238E27FC236}">
                <a16:creationId xmlns:a16="http://schemas.microsoft.com/office/drawing/2014/main" id="{F6ABDD19-F83C-4798-9BD8-0F0DC5FC039D}"/>
              </a:ext>
            </a:extLst>
          </p:cNvPr>
          <p:cNvSpPr>
            <a:spLocks noChangeArrowheads="1"/>
          </p:cNvSpPr>
          <p:nvPr/>
        </p:nvSpPr>
        <p:spPr bwMode="auto">
          <a:xfrm>
            <a:off x="5130800" y="374967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2</a:t>
            </a:r>
          </a:p>
        </p:txBody>
      </p:sp>
      <p:sp>
        <p:nvSpPr>
          <p:cNvPr id="96311" name="Rectangle 55">
            <a:extLst>
              <a:ext uri="{FF2B5EF4-FFF2-40B4-BE49-F238E27FC236}">
                <a16:creationId xmlns:a16="http://schemas.microsoft.com/office/drawing/2014/main" id="{4F67DC16-F62A-4D98-9BCA-B237D7836DCD}"/>
              </a:ext>
            </a:extLst>
          </p:cNvPr>
          <p:cNvSpPr>
            <a:spLocks noChangeArrowheads="1"/>
          </p:cNvSpPr>
          <p:nvPr/>
        </p:nvSpPr>
        <p:spPr bwMode="auto">
          <a:xfrm>
            <a:off x="2905125" y="4525963"/>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7</a:t>
            </a:r>
          </a:p>
        </p:txBody>
      </p:sp>
      <p:sp>
        <p:nvSpPr>
          <p:cNvPr id="96312" name="Rectangle 56">
            <a:extLst>
              <a:ext uri="{FF2B5EF4-FFF2-40B4-BE49-F238E27FC236}">
                <a16:creationId xmlns:a16="http://schemas.microsoft.com/office/drawing/2014/main" id="{EF1E3114-E716-4E38-9658-8F78C78E93B9}"/>
              </a:ext>
            </a:extLst>
          </p:cNvPr>
          <p:cNvSpPr>
            <a:spLocks noChangeArrowheads="1"/>
          </p:cNvSpPr>
          <p:nvPr/>
        </p:nvSpPr>
        <p:spPr bwMode="auto">
          <a:xfrm>
            <a:off x="4021138" y="45148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4</a:t>
            </a:r>
          </a:p>
        </p:txBody>
      </p:sp>
      <p:sp>
        <p:nvSpPr>
          <p:cNvPr id="96313" name="Rectangle 57">
            <a:extLst>
              <a:ext uri="{FF2B5EF4-FFF2-40B4-BE49-F238E27FC236}">
                <a16:creationId xmlns:a16="http://schemas.microsoft.com/office/drawing/2014/main" id="{7DC24C94-3A7D-4BBD-B678-E6EA24254A19}"/>
              </a:ext>
            </a:extLst>
          </p:cNvPr>
          <p:cNvSpPr>
            <a:spLocks noChangeArrowheads="1"/>
          </p:cNvSpPr>
          <p:nvPr/>
        </p:nvSpPr>
        <p:spPr bwMode="auto">
          <a:xfrm>
            <a:off x="5148263" y="4506913"/>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10</a:t>
            </a:r>
          </a:p>
        </p:txBody>
      </p:sp>
      <p:sp>
        <p:nvSpPr>
          <p:cNvPr id="96314" name="Rectangle 58">
            <a:extLst>
              <a:ext uri="{FF2B5EF4-FFF2-40B4-BE49-F238E27FC236}">
                <a16:creationId xmlns:a16="http://schemas.microsoft.com/office/drawing/2014/main" id="{7998ED27-D2B7-47D4-8E27-4C2835503832}"/>
              </a:ext>
            </a:extLst>
          </p:cNvPr>
          <p:cNvSpPr>
            <a:spLocks noChangeArrowheads="1"/>
          </p:cNvSpPr>
          <p:nvPr/>
        </p:nvSpPr>
        <p:spPr bwMode="auto">
          <a:xfrm>
            <a:off x="6256338" y="45148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5</a:t>
            </a:r>
          </a:p>
        </p:txBody>
      </p:sp>
      <p:sp>
        <p:nvSpPr>
          <p:cNvPr id="96315" name="Rectangle 59">
            <a:extLst>
              <a:ext uri="{FF2B5EF4-FFF2-40B4-BE49-F238E27FC236}">
                <a16:creationId xmlns:a16="http://schemas.microsoft.com/office/drawing/2014/main" id="{2A4C85D8-2541-468C-AE23-670B6E653694}"/>
              </a:ext>
            </a:extLst>
          </p:cNvPr>
          <p:cNvSpPr>
            <a:spLocks noChangeArrowheads="1"/>
          </p:cNvSpPr>
          <p:nvPr/>
        </p:nvSpPr>
        <p:spPr bwMode="auto">
          <a:xfrm>
            <a:off x="6256338" y="37528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8</a:t>
            </a:r>
          </a:p>
        </p:txBody>
      </p:sp>
      <p:sp>
        <p:nvSpPr>
          <p:cNvPr id="96316" name="Text Box 60">
            <a:extLst>
              <a:ext uri="{FF2B5EF4-FFF2-40B4-BE49-F238E27FC236}">
                <a16:creationId xmlns:a16="http://schemas.microsoft.com/office/drawing/2014/main" id="{51CF8AAB-AC43-483E-81E0-536A277AADF3}"/>
              </a:ext>
            </a:extLst>
          </p:cNvPr>
          <p:cNvSpPr txBox="1">
            <a:spLocks noChangeArrowheads="1"/>
          </p:cNvSpPr>
          <p:nvPr/>
        </p:nvSpPr>
        <p:spPr bwMode="auto">
          <a:xfrm>
            <a:off x="4557713" y="336867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5</a:t>
            </a:r>
            <a:endParaRPr kumimoji="1" lang="en-US" altLang="zh-CN" sz="3200" b="1">
              <a:solidFill>
                <a:srgbClr val="000000"/>
              </a:solidFill>
              <a:latin typeface="楷体_GB2312" pitchFamily="49" charset="-122"/>
              <a:ea typeface="楷体_GB2312" pitchFamily="49" charset="-122"/>
            </a:endParaRPr>
          </a:p>
        </p:txBody>
      </p:sp>
      <p:sp>
        <p:nvSpPr>
          <p:cNvPr id="96317" name="Text Box 61">
            <a:extLst>
              <a:ext uri="{FF2B5EF4-FFF2-40B4-BE49-F238E27FC236}">
                <a16:creationId xmlns:a16="http://schemas.microsoft.com/office/drawing/2014/main" id="{C65076C7-BC90-4D61-B630-C7694952A44D}"/>
              </a:ext>
            </a:extLst>
          </p:cNvPr>
          <p:cNvSpPr txBox="1">
            <a:spLocks noChangeArrowheads="1"/>
          </p:cNvSpPr>
          <p:nvPr/>
        </p:nvSpPr>
        <p:spPr bwMode="auto">
          <a:xfrm>
            <a:off x="2301875" y="413861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96318" name="Text Box 62">
            <a:extLst>
              <a:ext uri="{FF2B5EF4-FFF2-40B4-BE49-F238E27FC236}">
                <a16:creationId xmlns:a16="http://schemas.microsoft.com/office/drawing/2014/main" id="{A062387F-FECD-4F3A-AAE8-3B2ABFF68A78}"/>
              </a:ext>
            </a:extLst>
          </p:cNvPr>
          <p:cNvSpPr txBox="1">
            <a:spLocks noChangeArrowheads="1"/>
          </p:cNvSpPr>
          <p:nvPr/>
        </p:nvSpPr>
        <p:spPr bwMode="auto">
          <a:xfrm>
            <a:off x="3402013" y="4929188"/>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6</a:t>
            </a:r>
            <a:endParaRPr kumimoji="1" lang="en-US" altLang="zh-CN" sz="3200" b="1">
              <a:solidFill>
                <a:srgbClr val="000000"/>
              </a:solidFill>
              <a:latin typeface="楷体_GB2312" pitchFamily="49" charset="-122"/>
              <a:ea typeface="楷体_GB2312" pitchFamily="49" charset="-122"/>
            </a:endParaRPr>
          </a:p>
        </p:txBody>
      </p:sp>
      <p:sp>
        <p:nvSpPr>
          <p:cNvPr id="96319" name="Text Box 63">
            <a:extLst>
              <a:ext uri="{FF2B5EF4-FFF2-40B4-BE49-F238E27FC236}">
                <a16:creationId xmlns:a16="http://schemas.microsoft.com/office/drawing/2014/main" id="{4AD720BE-D184-48BA-BF92-D7BCF0EC3185}"/>
              </a:ext>
            </a:extLst>
          </p:cNvPr>
          <p:cNvSpPr txBox="1">
            <a:spLocks noChangeArrowheads="1"/>
          </p:cNvSpPr>
          <p:nvPr/>
        </p:nvSpPr>
        <p:spPr bwMode="auto">
          <a:xfrm>
            <a:off x="5659438" y="49323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96320" name="Text Box 64">
            <a:extLst>
              <a:ext uri="{FF2B5EF4-FFF2-40B4-BE49-F238E27FC236}">
                <a16:creationId xmlns:a16="http://schemas.microsoft.com/office/drawing/2014/main" id="{029270E5-0C5B-41DB-9DA6-0D500C3D7EDE}"/>
              </a:ext>
            </a:extLst>
          </p:cNvPr>
          <p:cNvSpPr txBox="1">
            <a:spLocks noChangeArrowheads="1"/>
          </p:cNvSpPr>
          <p:nvPr/>
        </p:nvSpPr>
        <p:spPr bwMode="auto">
          <a:xfrm>
            <a:off x="5662613" y="4149725"/>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1</a:t>
            </a:r>
            <a:endParaRPr kumimoji="1" lang="en-US" altLang="zh-CN" sz="3200" b="1">
              <a:solidFill>
                <a:srgbClr val="000000"/>
              </a:solidFill>
              <a:latin typeface="楷体_GB2312" pitchFamily="49" charset="-122"/>
              <a:ea typeface="楷体_GB2312" pitchFamily="49" charset="-122"/>
            </a:endParaRPr>
          </a:p>
        </p:txBody>
      </p:sp>
      <p:sp>
        <p:nvSpPr>
          <p:cNvPr id="96321" name="Text Box 65">
            <a:extLst>
              <a:ext uri="{FF2B5EF4-FFF2-40B4-BE49-F238E27FC236}">
                <a16:creationId xmlns:a16="http://schemas.microsoft.com/office/drawing/2014/main" id="{0082A48F-1D14-4505-B4B7-F25936BE6B76}"/>
              </a:ext>
            </a:extLst>
          </p:cNvPr>
          <p:cNvSpPr txBox="1">
            <a:spLocks noChangeArrowheads="1"/>
          </p:cNvSpPr>
          <p:nvPr/>
        </p:nvSpPr>
        <p:spPr bwMode="auto">
          <a:xfrm>
            <a:off x="5651500" y="3392488"/>
            <a:ext cx="325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2000" b="1">
                <a:solidFill>
                  <a:srgbClr val="A50021"/>
                </a:solidFill>
              </a:rPr>
              <a:t>2</a:t>
            </a:r>
          </a:p>
        </p:txBody>
      </p:sp>
      <p:sp>
        <p:nvSpPr>
          <p:cNvPr id="23" name="Rectangle 66">
            <a:extLst>
              <a:ext uri="{FF2B5EF4-FFF2-40B4-BE49-F238E27FC236}">
                <a16:creationId xmlns:a16="http://schemas.microsoft.com/office/drawing/2014/main" id="{53E5AC56-D11A-4F45-86CF-9F9EE424D10E}"/>
              </a:ext>
            </a:extLst>
          </p:cNvPr>
          <p:cNvSpPr>
            <a:spLocks noChangeArrowheads="1"/>
          </p:cNvSpPr>
          <p:nvPr/>
        </p:nvSpPr>
        <p:spPr bwMode="auto">
          <a:xfrm>
            <a:off x="6786563" y="2994025"/>
            <a:ext cx="833437" cy="735013"/>
          </a:xfrm>
          <a:prstGeom prst="rect">
            <a:avLst/>
          </a:prstGeom>
          <a:solidFill>
            <a:srgbClr val="FFFF99"/>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a:solidFill>
                  <a:srgbClr val="3333FF"/>
                </a:solidFill>
                <a:effectLst>
                  <a:outerShdw blurRad="38100" dist="38100" dir="2700000" algn="tl">
                    <a:srgbClr val="000000"/>
                  </a:outerShdw>
                </a:effectLst>
                <a:ea typeface="宋体" panose="02010600030101010101" pitchFamily="2" charset="-122"/>
              </a:rPr>
              <a:t>0</a:t>
            </a:r>
          </a:p>
        </p:txBody>
      </p:sp>
      <p:sp>
        <p:nvSpPr>
          <p:cNvPr id="24" name="Rectangle 67">
            <a:extLst>
              <a:ext uri="{FF2B5EF4-FFF2-40B4-BE49-F238E27FC236}">
                <a16:creationId xmlns:a16="http://schemas.microsoft.com/office/drawing/2014/main" id="{BB4DBCA9-16F0-436C-8C47-8FEE8267C32D}"/>
              </a:ext>
            </a:extLst>
          </p:cNvPr>
          <p:cNvSpPr>
            <a:spLocks noChangeArrowheads="1"/>
          </p:cNvSpPr>
          <p:nvPr/>
        </p:nvSpPr>
        <p:spPr bwMode="auto">
          <a:xfrm>
            <a:off x="6786563" y="3729038"/>
            <a:ext cx="833437" cy="752475"/>
          </a:xfrm>
          <a:prstGeom prst="rect">
            <a:avLst/>
          </a:prstGeom>
          <a:solidFill>
            <a:srgbClr val="FFFF99"/>
          </a:solidFill>
          <a:ln w="19050">
            <a:solidFill>
              <a:schemeClr val="tx1"/>
            </a:solidFill>
            <a:miter lim="800000"/>
            <a:headEnd/>
            <a:tailEnd/>
          </a:ln>
          <a:effectLst/>
        </p:spPr>
        <p:txBody>
          <a:bodyPr wrap="none" anchor="ctr"/>
          <a:lstStyle/>
          <a:p>
            <a:pPr algn="ctr" eaLnBrk="1" hangingPunct="1">
              <a:defRPr/>
            </a:pPr>
            <a:r>
              <a:rPr lang="en-US" altLang="zh-CN">
                <a:solidFill>
                  <a:srgbClr val="3333FF"/>
                </a:solidFill>
                <a:effectLst>
                  <a:outerShdw blurRad="38100" dist="38100" dir="2700000" algn="tl">
                    <a:srgbClr val="000000"/>
                  </a:outerShdw>
                </a:effectLst>
              </a:rPr>
              <a:t>-2</a:t>
            </a:r>
          </a:p>
        </p:txBody>
      </p:sp>
      <p:sp>
        <p:nvSpPr>
          <p:cNvPr id="25" name="Rectangle 68">
            <a:extLst>
              <a:ext uri="{FF2B5EF4-FFF2-40B4-BE49-F238E27FC236}">
                <a16:creationId xmlns:a16="http://schemas.microsoft.com/office/drawing/2014/main" id="{0E96C4B3-0C58-4376-88D7-A41878392029}"/>
              </a:ext>
            </a:extLst>
          </p:cNvPr>
          <p:cNvSpPr>
            <a:spLocks noChangeArrowheads="1"/>
          </p:cNvSpPr>
          <p:nvPr/>
        </p:nvSpPr>
        <p:spPr bwMode="auto">
          <a:xfrm>
            <a:off x="6786563" y="4506913"/>
            <a:ext cx="833437" cy="735012"/>
          </a:xfrm>
          <a:prstGeom prst="rect">
            <a:avLst/>
          </a:prstGeom>
          <a:solidFill>
            <a:srgbClr val="FFFF99"/>
          </a:solidFill>
          <a:ln w="19050">
            <a:solidFill>
              <a:schemeClr val="tx1"/>
            </a:solidFill>
            <a:miter lim="800000"/>
            <a:headEnd/>
            <a:tailEnd/>
          </a:ln>
          <a:effectLst/>
        </p:spPr>
        <p:txBody>
          <a:bodyPr wrap="none" anchor="ctr"/>
          <a:lstStyle/>
          <a:p>
            <a:pPr algn="ctr" eaLnBrk="1" hangingPunct="1">
              <a:defRPr/>
            </a:pPr>
            <a:r>
              <a:rPr lang="en-US" altLang="zh-CN">
                <a:solidFill>
                  <a:srgbClr val="3333FF"/>
                </a:solidFill>
                <a:effectLst>
                  <a:outerShdw blurRad="38100" dist="38100" dir="2700000" algn="tl">
                    <a:srgbClr val="000000"/>
                  </a:outerShdw>
                </a:effectLst>
              </a:rPr>
              <a:t>-5</a:t>
            </a:r>
          </a:p>
        </p:txBody>
      </p:sp>
      <p:sp>
        <p:nvSpPr>
          <p:cNvPr id="26" name="Rectangle 69">
            <a:extLst>
              <a:ext uri="{FF2B5EF4-FFF2-40B4-BE49-F238E27FC236}">
                <a16:creationId xmlns:a16="http://schemas.microsoft.com/office/drawing/2014/main" id="{FF7BDD18-9F6A-48BF-91E2-1ABE8AA6575E}"/>
              </a:ext>
            </a:extLst>
          </p:cNvPr>
          <p:cNvSpPr>
            <a:spLocks noChangeArrowheads="1"/>
          </p:cNvSpPr>
          <p:nvPr/>
        </p:nvSpPr>
        <p:spPr bwMode="auto">
          <a:xfrm>
            <a:off x="4546600" y="5259388"/>
            <a:ext cx="1125538"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3</a:t>
            </a:r>
          </a:p>
        </p:txBody>
      </p:sp>
      <p:sp>
        <p:nvSpPr>
          <p:cNvPr id="27" name="Rectangle 70">
            <a:extLst>
              <a:ext uri="{FF2B5EF4-FFF2-40B4-BE49-F238E27FC236}">
                <a16:creationId xmlns:a16="http://schemas.microsoft.com/office/drawing/2014/main" id="{E44082D2-7405-47DA-82A8-0390577837FD}"/>
              </a:ext>
            </a:extLst>
          </p:cNvPr>
          <p:cNvSpPr>
            <a:spLocks noChangeArrowheads="1"/>
          </p:cNvSpPr>
          <p:nvPr/>
        </p:nvSpPr>
        <p:spPr bwMode="auto">
          <a:xfrm>
            <a:off x="5654675" y="5257800"/>
            <a:ext cx="1125538" cy="520700"/>
          </a:xfrm>
          <a:prstGeom prst="rect">
            <a:avLst/>
          </a:prstGeom>
          <a:solidFill>
            <a:srgbClr val="FFFFCC"/>
          </a:solidFill>
          <a:ln w="19050">
            <a:solidFill>
              <a:schemeClr val="tx1"/>
            </a:solidFill>
            <a:miter lim="800000"/>
            <a:headEnd/>
            <a:tailEnd/>
          </a:ln>
          <a:effectLst/>
        </p:spPr>
        <p:txBody>
          <a:bodyPr wrap="none" anchor="ctr"/>
          <a:lstStyle/>
          <a:p>
            <a:pPr algn="ctr" eaLnBrk="1" hangingPunct="1">
              <a:defRPr/>
            </a:pPr>
            <a:r>
              <a:rPr lang="en-US" altLang="zh-CN" sz="2000">
                <a:solidFill>
                  <a:srgbClr val="0000FF"/>
                </a:solidFill>
                <a:effectLst>
                  <a:outerShdw blurRad="38100" dist="38100" dir="2700000" algn="tl">
                    <a:srgbClr val="000000"/>
                  </a:outerShdw>
                </a:effectLst>
              </a:rPr>
              <a:t>10</a:t>
            </a:r>
          </a:p>
        </p:txBody>
      </p:sp>
      <p:sp>
        <p:nvSpPr>
          <p:cNvPr id="28" name="Rectangle 71">
            <a:extLst>
              <a:ext uri="{FF2B5EF4-FFF2-40B4-BE49-F238E27FC236}">
                <a16:creationId xmlns:a16="http://schemas.microsoft.com/office/drawing/2014/main" id="{9314150C-18E6-41C1-9D45-3DAF5F7AAE15}"/>
              </a:ext>
            </a:extLst>
          </p:cNvPr>
          <p:cNvSpPr>
            <a:spLocks noChangeArrowheads="1"/>
          </p:cNvSpPr>
          <p:nvPr/>
        </p:nvSpPr>
        <p:spPr bwMode="auto">
          <a:xfrm>
            <a:off x="2306638" y="5257800"/>
            <a:ext cx="1125537"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3</a:t>
            </a:r>
          </a:p>
        </p:txBody>
      </p:sp>
      <p:sp>
        <p:nvSpPr>
          <p:cNvPr id="29" name="Rectangle 72">
            <a:extLst>
              <a:ext uri="{FF2B5EF4-FFF2-40B4-BE49-F238E27FC236}">
                <a16:creationId xmlns:a16="http://schemas.microsoft.com/office/drawing/2014/main" id="{05B0DC99-0701-42F7-994C-7BF1F4945119}"/>
              </a:ext>
            </a:extLst>
          </p:cNvPr>
          <p:cNvSpPr>
            <a:spLocks noChangeArrowheads="1"/>
          </p:cNvSpPr>
          <p:nvPr/>
        </p:nvSpPr>
        <p:spPr bwMode="auto">
          <a:xfrm>
            <a:off x="3429000" y="5268913"/>
            <a:ext cx="1125538"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9</a:t>
            </a:r>
          </a:p>
        </p:txBody>
      </p:sp>
      <p:sp>
        <p:nvSpPr>
          <p:cNvPr id="30" name="Rectangle 73">
            <a:extLst>
              <a:ext uri="{FF2B5EF4-FFF2-40B4-BE49-F238E27FC236}">
                <a16:creationId xmlns:a16="http://schemas.microsoft.com/office/drawing/2014/main" id="{EDFEC166-2EFC-4015-86BE-64CAA0EAC101}"/>
              </a:ext>
            </a:extLst>
          </p:cNvPr>
          <p:cNvSpPr>
            <a:spLocks noChangeArrowheads="1"/>
          </p:cNvSpPr>
          <p:nvPr/>
        </p:nvSpPr>
        <p:spPr bwMode="auto">
          <a:xfrm>
            <a:off x="2301875" y="33226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FF00FF"/>
                </a:solidFill>
                <a:effectLst>
                  <a:outerShdw blurRad="38100" dist="38100" dir="2700000" algn="tl">
                    <a:srgbClr val="000000"/>
                  </a:outerShdw>
                </a:effectLst>
              </a:rPr>
              <a:t>（</a:t>
            </a:r>
            <a:r>
              <a:rPr lang="en-US" altLang="zh-CN" sz="2000" dirty="0">
                <a:solidFill>
                  <a:srgbClr val="FF00FF"/>
                </a:solidFill>
                <a:effectLst>
                  <a:outerShdw blurRad="38100" dist="38100" dir="2700000" algn="tl">
                    <a:srgbClr val="000000"/>
                  </a:outerShdw>
                </a:effectLst>
              </a:rPr>
              <a:t>0</a:t>
            </a:r>
            <a:r>
              <a:rPr lang="zh-CN" altLang="en-US" sz="2000" dirty="0">
                <a:solidFill>
                  <a:srgbClr val="FF00FF"/>
                </a:solidFill>
                <a:effectLst>
                  <a:outerShdw blurRad="38100" dist="38100" dir="2700000" algn="tl">
                    <a:srgbClr val="000000"/>
                  </a:outerShdw>
                </a:effectLst>
              </a:rPr>
              <a:t>）</a:t>
            </a:r>
          </a:p>
        </p:txBody>
      </p:sp>
      <p:sp>
        <p:nvSpPr>
          <p:cNvPr id="31" name="Rectangle 74">
            <a:extLst>
              <a:ext uri="{FF2B5EF4-FFF2-40B4-BE49-F238E27FC236}">
                <a16:creationId xmlns:a16="http://schemas.microsoft.com/office/drawing/2014/main" id="{DA82B597-21EF-4A6C-A6F0-BBB8D8587BBB}"/>
              </a:ext>
            </a:extLst>
          </p:cNvPr>
          <p:cNvSpPr>
            <a:spLocks noChangeArrowheads="1"/>
          </p:cNvSpPr>
          <p:nvPr/>
        </p:nvSpPr>
        <p:spPr bwMode="auto">
          <a:xfrm>
            <a:off x="3405188" y="3332163"/>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sp>
        <p:nvSpPr>
          <p:cNvPr id="32" name="Rectangle 75">
            <a:extLst>
              <a:ext uri="{FF2B5EF4-FFF2-40B4-BE49-F238E27FC236}">
                <a16:creationId xmlns:a16="http://schemas.microsoft.com/office/drawing/2014/main" id="{B3D97DC1-421F-433A-A485-B0D5450F7395}"/>
              </a:ext>
            </a:extLst>
          </p:cNvPr>
          <p:cNvSpPr>
            <a:spLocks noChangeArrowheads="1"/>
          </p:cNvSpPr>
          <p:nvPr/>
        </p:nvSpPr>
        <p:spPr bwMode="auto">
          <a:xfrm>
            <a:off x="3387725" y="40846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sp>
        <p:nvSpPr>
          <p:cNvPr id="33" name="Rectangle 76">
            <a:extLst>
              <a:ext uri="{FF2B5EF4-FFF2-40B4-BE49-F238E27FC236}">
                <a16:creationId xmlns:a16="http://schemas.microsoft.com/office/drawing/2014/main" id="{D6C77F22-6DC9-4D85-8CE3-2BC17849501D}"/>
              </a:ext>
            </a:extLst>
          </p:cNvPr>
          <p:cNvSpPr>
            <a:spLocks noChangeArrowheads="1"/>
          </p:cNvSpPr>
          <p:nvPr/>
        </p:nvSpPr>
        <p:spPr bwMode="auto">
          <a:xfrm>
            <a:off x="4521200" y="410368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a:t>
            </a:r>
            <a:r>
              <a:rPr lang="zh-CN" altLang="en-US" sz="2000" dirty="0">
                <a:solidFill>
                  <a:srgbClr val="3333FF"/>
                </a:solidFill>
                <a:effectLst>
                  <a:outerShdw blurRad="38100" dist="38100" dir="2700000" algn="tl">
                    <a:srgbClr val="000000"/>
                  </a:outerShdw>
                </a:effectLst>
              </a:rPr>
              <a:t>）</a:t>
            </a:r>
          </a:p>
        </p:txBody>
      </p:sp>
      <p:sp>
        <p:nvSpPr>
          <p:cNvPr id="34" name="Rectangle 77">
            <a:extLst>
              <a:ext uri="{FF2B5EF4-FFF2-40B4-BE49-F238E27FC236}">
                <a16:creationId xmlns:a16="http://schemas.microsoft.com/office/drawing/2014/main" id="{BBF21BE2-416B-45D5-8831-71350097A7CE}"/>
              </a:ext>
            </a:extLst>
          </p:cNvPr>
          <p:cNvSpPr>
            <a:spLocks noChangeArrowheads="1"/>
          </p:cNvSpPr>
          <p:nvPr/>
        </p:nvSpPr>
        <p:spPr bwMode="auto">
          <a:xfrm>
            <a:off x="4592638" y="4876800"/>
            <a:ext cx="498475" cy="471488"/>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12</a:t>
            </a:r>
            <a:r>
              <a:rPr lang="zh-CN" altLang="en-US" sz="2000" dirty="0">
                <a:solidFill>
                  <a:srgbClr val="3333FF"/>
                </a:solidFill>
                <a:effectLst>
                  <a:outerShdw blurRad="38100" dist="38100" dir="2700000" algn="tl">
                    <a:srgbClr val="000000"/>
                  </a:outerShdw>
                </a:effectLst>
              </a:rPr>
              <a:t>）</a:t>
            </a:r>
          </a:p>
        </p:txBody>
      </p:sp>
      <p:sp>
        <p:nvSpPr>
          <p:cNvPr id="35" name="Rectangle 78">
            <a:extLst>
              <a:ext uri="{FF2B5EF4-FFF2-40B4-BE49-F238E27FC236}">
                <a16:creationId xmlns:a16="http://schemas.microsoft.com/office/drawing/2014/main" id="{5C6B31D6-C737-4949-A9AF-AE1C69749DAF}"/>
              </a:ext>
            </a:extLst>
          </p:cNvPr>
          <p:cNvSpPr>
            <a:spLocks noChangeArrowheads="1"/>
          </p:cNvSpPr>
          <p:nvPr/>
        </p:nvSpPr>
        <p:spPr bwMode="auto">
          <a:xfrm>
            <a:off x="2268538" y="48466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9</a:t>
            </a:r>
            <a:r>
              <a:rPr lang="zh-CN" altLang="en-US" sz="2000" dirty="0">
                <a:solidFill>
                  <a:srgbClr val="3333FF"/>
                </a:solidFill>
                <a:effectLst>
                  <a:outerShdw blurRad="38100" dist="38100" dir="2700000" algn="tl">
                    <a:srgbClr val="000000"/>
                  </a:outerShdw>
                </a:effectLst>
              </a:rPr>
              <a:t>）</a:t>
            </a:r>
          </a:p>
        </p:txBody>
      </p:sp>
      <p:sp>
        <p:nvSpPr>
          <p:cNvPr id="36" name="Line 80">
            <a:extLst>
              <a:ext uri="{FF2B5EF4-FFF2-40B4-BE49-F238E27FC236}">
                <a16:creationId xmlns:a16="http://schemas.microsoft.com/office/drawing/2014/main" id="{4CAEEC33-8326-48EE-B016-CE7BB7AA0E3E}"/>
              </a:ext>
            </a:extLst>
          </p:cNvPr>
          <p:cNvSpPr>
            <a:spLocks noChangeShapeType="1"/>
          </p:cNvSpPr>
          <p:nvPr/>
        </p:nvSpPr>
        <p:spPr bwMode="auto">
          <a:xfrm>
            <a:off x="2787650" y="3319463"/>
            <a:ext cx="3189288" cy="9525"/>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7" name="Line 80">
            <a:extLst>
              <a:ext uri="{FF2B5EF4-FFF2-40B4-BE49-F238E27FC236}">
                <a16:creationId xmlns:a16="http://schemas.microsoft.com/office/drawing/2014/main" id="{C8E57C60-BCC4-4921-9CD7-B6057B27E10C}"/>
              </a:ext>
            </a:extLst>
          </p:cNvPr>
          <p:cNvSpPr>
            <a:spLocks noChangeShapeType="1"/>
          </p:cNvSpPr>
          <p:nvPr/>
        </p:nvSpPr>
        <p:spPr bwMode="auto">
          <a:xfrm flipH="1">
            <a:off x="5976938" y="3330575"/>
            <a:ext cx="0" cy="884238"/>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8" name="Line 80">
            <a:extLst>
              <a:ext uri="{FF2B5EF4-FFF2-40B4-BE49-F238E27FC236}">
                <a16:creationId xmlns:a16="http://schemas.microsoft.com/office/drawing/2014/main" id="{6DA125FE-0789-4113-9358-7B77DBF10A39}"/>
              </a:ext>
            </a:extLst>
          </p:cNvPr>
          <p:cNvSpPr>
            <a:spLocks noChangeShapeType="1"/>
          </p:cNvSpPr>
          <p:nvPr/>
        </p:nvSpPr>
        <p:spPr bwMode="auto">
          <a:xfrm flipH="1">
            <a:off x="2800350" y="4186238"/>
            <a:ext cx="3051175" cy="46037"/>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39" name="Line 80">
            <a:extLst>
              <a:ext uri="{FF2B5EF4-FFF2-40B4-BE49-F238E27FC236}">
                <a16:creationId xmlns:a16="http://schemas.microsoft.com/office/drawing/2014/main" id="{7B963BE2-2316-4941-AC5F-6D150B5BC3B4}"/>
              </a:ext>
            </a:extLst>
          </p:cNvPr>
          <p:cNvSpPr>
            <a:spLocks noChangeShapeType="1"/>
          </p:cNvSpPr>
          <p:nvPr/>
        </p:nvSpPr>
        <p:spPr bwMode="auto">
          <a:xfrm flipH="1" flipV="1">
            <a:off x="2797175" y="3319463"/>
            <a:ext cx="0" cy="912812"/>
          </a:xfrm>
          <a:prstGeom prst="line">
            <a:avLst/>
          </a:prstGeom>
          <a:noFill/>
          <a:ln w="28575">
            <a:solidFill>
              <a:srgbClr val="CC3300"/>
            </a:solidFill>
            <a:prstDash val="dash"/>
            <a:round/>
            <a:headEnd/>
            <a:tailEnd type="triangle" w="med" len="med"/>
          </a:ln>
          <a:extLst>
            <a:ext uri="{909E8E84-426E-40DD-AFC4-6F175D3DCCD1}">
              <a14:hiddenFill xmlns:a14="http://schemas.microsoft.com/office/drawing/2010/main">
                <a:noFill/>
              </a14:hiddenFill>
            </a:ext>
          </a:extLst>
        </p:spPr>
        <p:txBody>
          <a:bodyPr>
            <a:spAutoFit/>
          </a:bodyPr>
          <a:lstStyle/>
          <a:p>
            <a:endParaRPr lang="zh-CN" altLang="en-US"/>
          </a:p>
        </p:txBody>
      </p:sp>
      <p:sp>
        <p:nvSpPr>
          <p:cNvPr id="40" name="Text Box 209">
            <a:extLst>
              <a:ext uri="{FF2B5EF4-FFF2-40B4-BE49-F238E27FC236}">
                <a16:creationId xmlns:a16="http://schemas.microsoft.com/office/drawing/2014/main" id="{D7FBA7FC-6B7D-4A38-8D9A-0122138E6588}"/>
              </a:ext>
            </a:extLst>
          </p:cNvPr>
          <p:cNvSpPr txBox="1">
            <a:spLocks noChangeArrowheads="1"/>
          </p:cNvSpPr>
          <p:nvPr/>
        </p:nvSpPr>
        <p:spPr bwMode="auto">
          <a:xfrm>
            <a:off x="2544763" y="3030538"/>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sp>
        <p:nvSpPr>
          <p:cNvPr id="41" name="Text Box 209">
            <a:extLst>
              <a:ext uri="{FF2B5EF4-FFF2-40B4-BE49-F238E27FC236}">
                <a16:creationId xmlns:a16="http://schemas.microsoft.com/office/drawing/2014/main" id="{3A608F45-A790-4BE8-A208-B7B7C20711B9}"/>
              </a:ext>
            </a:extLst>
          </p:cNvPr>
          <p:cNvSpPr txBox="1">
            <a:spLocks noChangeArrowheads="1"/>
          </p:cNvSpPr>
          <p:nvPr/>
        </p:nvSpPr>
        <p:spPr bwMode="auto">
          <a:xfrm>
            <a:off x="5881688" y="3044825"/>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sp>
        <p:nvSpPr>
          <p:cNvPr id="42" name="Text Box 209">
            <a:extLst>
              <a:ext uri="{FF2B5EF4-FFF2-40B4-BE49-F238E27FC236}">
                <a16:creationId xmlns:a16="http://schemas.microsoft.com/office/drawing/2014/main" id="{C1FD2EAC-9FBE-452A-A52C-BD3291BBD979}"/>
              </a:ext>
            </a:extLst>
          </p:cNvPr>
          <p:cNvSpPr txBox="1">
            <a:spLocks noChangeArrowheads="1"/>
          </p:cNvSpPr>
          <p:nvPr/>
        </p:nvSpPr>
        <p:spPr bwMode="auto">
          <a:xfrm>
            <a:off x="5868988" y="4076700"/>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sp>
        <p:nvSpPr>
          <p:cNvPr id="43" name="Text Box 209">
            <a:extLst>
              <a:ext uri="{FF2B5EF4-FFF2-40B4-BE49-F238E27FC236}">
                <a16:creationId xmlns:a16="http://schemas.microsoft.com/office/drawing/2014/main" id="{66DF6456-6178-4BAA-8098-0110806907FB}"/>
              </a:ext>
            </a:extLst>
          </p:cNvPr>
          <p:cNvSpPr txBox="1">
            <a:spLocks noChangeArrowheads="1"/>
          </p:cNvSpPr>
          <p:nvPr/>
        </p:nvSpPr>
        <p:spPr bwMode="auto">
          <a:xfrm>
            <a:off x="2611438" y="4065588"/>
            <a:ext cx="457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a:solidFill>
                  <a:srgbClr val="FF3300"/>
                </a:solidFill>
              </a:rPr>
              <a:t>-</a:t>
            </a:r>
          </a:p>
        </p:txBody>
      </p:sp>
      <p:pic>
        <p:nvPicPr>
          <p:cNvPr id="44" name="图片 43">
            <a:extLst>
              <a:ext uri="{FF2B5EF4-FFF2-40B4-BE49-F238E27FC236}">
                <a16:creationId xmlns:a16="http://schemas.microsoft.com/office/drawing/2014/main" id="{2FB7A863-CEE2-4030-9741-017D5F77C41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811838" y="95250"/>
            <a:ext cx="3332162" cy="21891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96344" name="矩形 1">
            <a:extLst>
              <a:ext uri="{FF2B5EF4-FFF2-40B4-BE49-F238E27FC236}">
                <a16:creationId xmlns:a16="http://schemas.microsoft.com/office/drawing/2014/main" id="{C1EBF7BF-AED8-48A5-AD5C-C063DC26DC3A}"/>
              </a:ext>
            </a:extLst>
          </p:cNvPr>
          <p:cNvSpPr>
            <a:spLocks noChangeArrowheads="1"/>
          </p:cNvSpPr>
          <p:nvPr/>
        </p:nvSpPr>
        <p:spPr bwMode="auto">
          <a:xfrm>
            <a:off x="1058863" y="6094413"/>
            <a:ext cx="74215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en-US" altLang="zh-CN">
                <a:cs typeface="Times New Roman" panose="02020603050405020304" pitchFamily="18" charset="0"/>
              </a:rPr>
              <a:t>z =</a:t>
            </a:r>
            <a:r>
              <a:rPr lang="en-US" altLang="en-US">
                <a:cs typeface="Times New Roman" panose="02020603050405020304" pitchFamily="18" charset="0"/>
              </a:rPr>
              <a:t>(1×3)＋(4×6)＋(3×5)＋(2×10)＋(1×8)＋(3×5)＝85元</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8963">
                                            <p:txEl>
                                              <p:pRg st="0" end="0"/>
                                            </p:txEl>
                                          </p:spTgt>
                                        </p:tgtEl>
                                        <p:attrNameLst>
                                          <p:attrName>style.visibility</p:attrName>
                                        </p:attrNameLst>
                                      </p:cBhvr>
                                      <p:to>
                                        <p:strVal val="visible"/>
                                      </p:to>
                                    </p:set>
                                    <p:animEffect transition="in" filter="blinds(horizontal)">
                                      <p:cBhvr>
                                        <p:cTn id="7" dur="500"/>
                                        <p:tgtEl>
                                          <p:spTgt spid="168963">
                                            <p:txEl>
                                              <p:pRg st="0" end="0"/>
                                            </p:txEl>
                                          </p:spTgt>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68963">
                                            <p:txEl>
                                              <p:pRg st="1" end="1"/>
                                            </p:txEl>
                                          </p:spTgt>
                                        </p:tgtEl>
                                        <p:attrNameLst>
                                          <p:attrName>style.visibility</p:attrName>
                                        </p:attrNameLst>
                                      </p:cBhvr>
                                      <p:to>
                                        <p:strVal val="visible"/>
                                      </p:to>
                                    </p:set>
                                    <p:animEffect transition="in" filter="blinds(horizontal)">
                                      <p:cBhvr>
                                        <p:cTn id="10" dur="500"/>
                                        <p:tgtEl>
                                          <p:spTgt spid="168963">
                                            <p:txEl>
                                              <p:pRg st="1" end="1"/>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4" presetClass="entr" presetSubtype="10" fill="hold"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randombar(horizontal)">
                                      <p:cBhvr>
                                        <p:cTn id="15" dur="500"/>
                                        <p:tgtEl>
                                          <p:spTgt spid="44"/>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4" fill="hold" nodeType="click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wipe(down)">
                                      <p:cBhvr>
                                        <p:cTn id="20" dur="500"/>
                                        <p:tgtEl>
                                          <p:spTgt spid="3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4" fill="hold" nodeType="click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wipe(down)">
                                      <p:cBhvr>
                                        <p:cTn id="25" dur="500"/>
                                        <p:tgtEl>
                                          <p:spTgt spid="3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4" fill="hold" nodeType="click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wipe(down)">
                                      <p:cBhvr>
                                        <p:cTn id="30" dur="500"/>
                                        <p:tgtEl>
                                          <p:spTgt spid="3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4" fill="hold"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down)">
                                      <p:cBhvr>
                                        <p:cTn id="35" dur="500"/>
                                        <p:tgtEl>
                                          <p:spTgt spid="39"/>
                                        </p:tgtEl>
                                      </p:cBhvr>
                                    </p:animEffect>
                                  </p:childTnLst>
                                </p:cTn>
                              </p:par>
                              <p:par>
                                <p:cTn id="36" presetID="1" presetClass="entr" presetSubtype="0" fill="hold" grpId="0" nodeType="withEffect">
                                  <p:stCondLst>
                                    <p:cond delay="0"/>
                                  </p:stCondLst>
                                  <p:childTnLst>
                                    <p:set>
                                      <p:cBhvr>
                                        <p:cTn id="37" dur="1" fill="hold">
                                          <p:stCondLst>
                                            <p:cond delay="0"/>
                                          </p:stCondLst>
                                        </p:cTn>
                                        <p:tgtEl>
                                          <p:spTgt spid="40"/>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4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4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build="p" bldLvl="3"/>
      <p:bldP spid="40" grpId="0"/>
      <p:bldP spid="41" grpId="0"/>
      <p:bldP spid="42" grpId="0"/>
      <p:bldP spid="43"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a:extLst>
              <a:ext uri="{FF2B5EF4-FFF2-40B4-BE49-F238E27FC236}">
                <a16:creationId xmlns:a16="http://schemas.microsoft.com/office/drawing/2014/main" id="{6D03CC77-BFC2-4BE9-8526-995427C13AFF}"/>
              </a:ext>
            </a:extLst>
          </p:cNvPr>
          <p:cNvSpPr>
            <a:spLocks noGrp="1" noChangeArrowheads="1"/>
          </p:cNvSpPr>
          <p:nvPr>
            <p:ph type="title"/>
          </p:nvPr>
        </p:nvSpPr>
        <p:spPr/>
        <p:txBody>
          <a:bodyPr/>
          <a:lstStyle/>
          <a:p>
            <a:pPr eaLnBrk="1" hangingPunct="1"/>
            <a:r>
              <a:rPr lang="zh-CN" altLang="en-US"/>
              <a:t>表上作业法计算中的问题说明</a:t>
            </a:r>
          </a:p>
        </p:txBody>
      </p:sp>
      <p:sp>
        <p:nvSpPr>
          <p:cNvPr id="97283" name="Rectangle 3">
            <a:extLst>
              <a:ext uri="{FF2B5EF4-FFF2-40B4-BE49-F238E27FC236}">
                <a16:creationId xmlns:a16="http://schemas.microsoft.com/office/drawing/2014/main" id="{756C9346-176B-46CA-BBE7-985BEDFB2126}"/>
              </a:ext>
            </a:extLst>
          </p:cNvPr>
          <p:cNvSpPr>
            <a:spLocks noGrp="1" noChangeArrowheads="1"/>
          </p:cNvSpPr>
          <p:nvPr>
            <p:ph type="body" idx="1"/>
          </p:nvPr>
        </p:nvSpPr>
        <p:spPr>
          <a:xfrm>
            <a:off x="457200" y="990600"/>
            <a:ext cx="8229600" cy="1143000"/>
          </a:xfrm>
        </p:spPr>
        <p:txBody>
          <a:bodyPr/>
          <a:lstStyle/>
          <a:p>
            <a:pPr eaLnBrk="1" hangingPunct="1"/>
            <a:r>
              <a:rPr lang="zh-CN" altLang="en-US"/>
              <a:t>无穷多最优解</a:t>
            </a:r>
          </a:p>
          <a:p>
            <a:pPr lvl="1" eaLnBrk="1" hangingPunct="1"/>
            <a:r>
              <a:rPr lang="zh-CN" altLang="en-US"/>
              <a:t>非基变量</a:t>
            </a:r>
            <a:r>
              <a:rPr lang="en-US" altLang="zh-CN"/>
              <a:t>(</a:t>
            </a:r>
            <a:r>
              <a:rPr lang="zh-CN" altLang="en-US"/>
              <a:t>空格</a:t>
            </a:r>
            <a:r>
              <a:rPr lang="en-US" altLang="zh-CN"/>
              <a:t>)</a:t>
            </a:r>
            <a:r>
              <a:rPr lang="zh-CN" altLang="en-US"/>
              <a:t>检验数等于 </a:t>
            </a:r>
            <a:r>
              <a:rPr lang="en-US" altLang="zh-CN"/>
              <a:t>0</a:t>
            </a:r>
          </a:p>
        </p:txBody>
      </p:sp>
      <p:graphicFrame>
        <p:nvGraphicFramePr>
          <p:cNvPr id="44" name="Group 4">
            <a:extLst>
              <a:ext uri="{FF2B5EF4-FFF2-40B4-BE49-F238E27FC236}">
                <a16:creationId xmlns:a16="http://schemas.microsoft.com/office/drawing/2014/main" id="{727DD437-1161-447D-A880-45964DC0247D}"/>
              </a:ext>
            </a:extLst>
          </p:cNvPr>
          <p:cNvGraphicFramePr>
            <a:graphicFrameLocks noGrp="1"/>
          </p:cNvGraphicFramePr>
          <p:nvPr/>
        </p:nvGraphicFramePr>
        <p:xfrm>
          <a:off x="1192213" y="2433638"/>
          <a:ext cx="6427788" cy="3357563"/>
        </p:xfrm>
        <a:graphic>
          <a:graphicData uri="http://schemas.openxmlformats.org/drawingml/2006/table">
            <a:tbl>
              <a:tblPr/>
              <a:tblGrid>
                <a:gridCol w="1119188">
                  <a:extLst>
                    <a:ext uri="{9D8B030D-6E8A-4147-A177-3AD203B41FA5}">
                      <a16:colId xmlns:a16="http://schemas.microsoft.com/office/drawing/2014/main" val="20000"/>
                    </a:ext>
                  </a:extLst>
                </a:gridCol>
                <a:gridCol w="1119187">
                  <a:extLst>
                    <a:ext uri="{9D8B030D-6E8A-4147-A177-3AD203B41FA5}">
                      <a16:colId xmlns:a16="http://schemas.microsoft.com/office/drawing/2014/main" val="20001"/>
                    </a:ext>
                  </a:extLst>
                </a:gridCol>
                <a:gridCol w="1119188">
                  <a:extLst>
                    <a:ext uri="{9D8B030D-6E8A-4147-A177-3AD203B41FA5}">
                      <a16:colId xmlns:a16="http://schemas.microsoft.com/office/drawing/2014/main" val="20002"/>
                    </a:ext>
                  </a:extLst>
                </a:gridCol>
                <a:gridCol w="1119187">
                  <a:extLst>
                    <a:ext uri="{9D8B030D-6E8A-4147-A177-3AD203B41FA5}">
                      <a16:colId xmlns:a16="http://schemas.microsoft.com/office/drawing/2014/main" val="20003"/>
                    </a:ext>
                  </a:extLst>
                </a:gridCol>
                <a:gridCol w="1119188">
                  <a:extLst>
                    <a:ext uri="{9D8B030D-6E8A-4147-A177-3AD203B41FA5}">
                      <a16:colId xmlns:a16="http://schemas.microsoft.com/office/drawing/2014/main" val="20004"/>
                    </a:ext>
                  </a:extLst>
                </a:gridCol>
                <a:gridCol w="831850">
                  <a:extLst>
                    <a:ext uri="{9D8B030D-6E8A-4147-A177-3AD203B41FA5}">
                      <a16:colId xmlns:a16="http://schemas.microsoft.com/office/drawing/2014/main" val="20005"/>
                    </a:ext>
                  </a:extLst>
                </a:gridCol>
              </a:tblGrid>
              <a:tr h="546100">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B</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4</a:t>
                      </a:r>
                      <a:endParaRPr kumimoji="1" lang="en-US"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rgbClr val="000000"/>
                          </a:solidFill>
                          <a:effectLst/>
                          <a:latin typeface="Times New Roman" pitchFamily="18" charset="0"/>
                          <a:ea typeface="宋体" pitchFamily="2" charset="-122"/>
                        </a:rPr>
                        <a:t>u</a:t>
                      </a:r>
                      <a:r>
                        <a:rPr kumimoji="1" lang="en-US" altLang="zh-CN" sz="2000" b="1" i="1" u="none" strike="noStrike" cap="none" normalizeH="0" baseline="-25000" dirty="0" err="1">
                          <a:ln>
                            <a:noFill/>
                          </a:ln>
                          <a:solidFill>
                            <a:srgbClr val="000000"/>
                          </a:solidFill>
                          <a:effectLst/>
                          <a:latin typeface="Times New Roman" pitchFamily="18" charset="0"/>
                          <a:ea typeface="宋体" pitchFamily="2" charset="-122"/>
                        </a:rPr>
                        <a:t>i</a:t>
                      </a:r>
                      <a:endParaRPr kumimoji="1" lang="en-US" altLang="zh-CN" sz="2000" b="1" i="1" u="none" strike="noStrike" cap="none" normalizeH="0" baseline="-25000" dirty="0">
                        <a:ln>
                          <a:noFill/>
                        </a:ln>
                        <a:solidFill>
                          <a:srgbClr val="000000"/>
                        </a:solidFill>
                        <a:effectLst/>
                        <a:latin typeface="Times New Roman" pitchFamily="18" charset="0"/>
                        <a:ea typeface="宋体"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50888">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62000">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itchFamily="18" charset="0"/>
                          <a:ea typeface="华文细黑" pitchFamily="2" charset="-122"/>
                        </a:rPr>
                        <a:t>A</a:t>
                      </a:r>
                      <a:r>
                        <a:rPr kumimoji="1" lang="en-US" altLang="zh-CN" sz="2000" b="1" i="0" u="none" strike="noStrike" cap="none" normalizeH="0" baseline="-25000">
                          <a:ln>
                            <a:noFill/>
                          </a:ln>
                          <a:solidFill>
                            <a:schemeClr val="bg2"/>
                          </a:solidFill>
                          <a:effectLst/>
                          <a:latin typeface="Times New Roman" pitchFamily="18" charset="0"/>
                          <a:ea typeface="华文细黑"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3657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dirty="0" err="1">
                          <a:ln>
                            <a:noFill/>
                          </a:ln>
                          <a:solidFill>
                            <a:schemeClr val="bg2"/>
                          </a:solidFill>
                          <a:effectLst/>
                          <a:latin typeface="Times New Roman" pitchFamily="18" charset="0"/>
                          <a:ea typeface="华文细黑" pitchFamily="2" charset="-122"/>
                        </a:rPr>
                        <a:t>v</a:t>
                      </a:r>
                      <a:r>
                        <a:rPr kumimoji="1" lang="en-US" altLang="zh-CN" sz="2000" b="1" i="1" u="none" strike="noStrike" cap="none" normalizeH="0" baseline="-25000" dirty="0" err="1">
                          <a:ln>
                            <a:noFill/>
                          </a:ln>
                          <a:solidFill>
                            <a:schemeClr val="bg2"/>
                          </a:solidFill>
                          <a:effectLst/>
                          <a:latin typeface="Times New Roman" pitchFamily="18" charset="0"/>
                          <a:ea typeface="华文细黑" pitchFamily="2" charset="-122"/>
                        </a:rPr>
                        <a:t>j</a:t>
                      </a:r>
                      <a:endParaRPr kumimoji="1" lang="en-US" altLang="zh-CN" sz="2000" b="1" i="1" u="none" strike="noStrike" cap="none" normalizeH="0" baseline="-25000" dirty="0">
                        <a:ln>
                          <a:noFill/>
                        </a:ln>
                        <a:solidFill>
                          <a:schemeClr val="bg2"/>
                        </a:solidFill>
                        <a:effectLst/>
                        <a:latin typeface="Times New Roman" pitchFamily="18" charset="0"/>
                        <a:ea typeface="华文细黑"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dirty="0">
                        <a:ln>
                          <a:noFill/>
                        </a:ln>
                        <a:solidFill>
                          <a:schemeClr val="bg2"/>
                        </a:solidFill>
                        <a:effectLst/>
                        <a:latin typeface="Times New Roman" pitchFamily="18" charset="0"/>
                        <a:ea typeface="华文细黑"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97328" name="Rectangle 48">
            <a:extLst>
              <a:ext uri="{FF2B5EF4-FFF2-40B4-BE49-F238E27FC236}">
                <a16:creationId xmlns:a16="http://schemas.microsoft.com/office/drawing/2014/main" id="{9990B653-3240-4DD7-87FF-0F5EC05A53C1}"/>
              </a:ext>
            </a:extLst>
          </p:cNvPr>
          <p:cNvSpPr>
            <a:spLocks noChangeArrowheads="1"/>
          </p:cNvSpPr>
          <p:nvPr/>
        </p:nvSpPr>
        <p:spPr bwMode="auto">
          <a:xfrm>
            <a:off x="2901950" y="30067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7329" name="Rectangle 49">
            <a:extLst>
              <a:ext uri="{FF2B5EF4-FFF2-40B4-BE49-F238E27FC236}">
                <a16:creationId xmlns:a16="http://schemas.microsoft.com/office/drawing/2014/main" id="{79F46584-C681-4123-AB10-F4E392CCAF54}"/>
              </a:ext>
            </a:extLst>
          </p:cNvPr>
          <p:cNvSpPr>
            <a:spLocks noChangeArrowheads="1"/>
          </p:cNvSpPr>
          <p:nvPr/>
        </p:nvSpPr>
        <p:spPr bwMode="auto">
          <a:xfrm>
            <a:off x="4030663" y="29940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11</a:t>
            </a:r>
          </a:p>
        </p:txBody>
      </p:sp>
      <p:sp>
        <p:nvSpPr>
          <p:cNvPr id="97330" name="Rectangle 50">
            <a:extLst>
              <a:ext uri="{FF2B5EF4-FFF2-40B4-BE49-F238E27FC236}">
                <a16:creationId xmlns:a16="http://schemas.microsoft.com/office/drawing/2014/main" id="{1B136C73-AA64-459F-99E6-519B3982D563}"/>
              </a:ext>
            </a:extLst>
          </p:cNvPr>
          <p:cNvSpPr>
            <a:spLocks noChangeArrowheads="1"/>
          </p:cNvSpPr>
          <p:nvPr/>
        </p:nvSpPr>
        <p:spPr bwMode="auto">
          <a:xfrm>
            <a:off x="5143500" y="30067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3</a:t>
            </a:r>
          </a:p>
        </p:txBody>
      </p:sp>
      <p:sp>
        <p:nvSpPr>
          <p:cNvPr id="97331" name="Rectangle 51">
            <a:extLst>
              <a:ext uri="{FF2B5EF4-FFF2-40B4-BE49-F238E27FC236}">
                <a16:creationId xmlns:a16="http://schemas.microsoft.com/office/drawing/2014/main" id="{840EB56C-AEE1-448D-8C9F-768B41E5F5CE}"/>
              </a:ext>
            </a:extLst>
          </p:cNvPr>
          <p:cNvSpPr>
            <a:spLocks noChangeArrowheads="1"/>
          </p:cNvSpPr>
          <p:nvPr/>
        </p:nvSpPr>
        <p:spPr bwMode="auto">
          <a:xfrm>
            <a:off x="6256338" y="29940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10</a:t>
            </a:r>
          </a:p>
        </p:txBody>
      </p:sp>
      <p:sp>
        <p:nvSpPr>
          <p:cNvPr id="97332" name="Rectangle 52">
            <a:extLst>
              <a:ext uri="{FF2B5EF4-FFF2-40B4-BE49-F238E27FC236}">
                <a16:creationId xmlns:a16="http://schemas.microsoft.com/office/drawing/2014/main" id="{41E7506D-9760-4389-8283-8C994BE38214}"/>
              </a:ext>
            </a:extLst>
          </p:cNvPr>
          <p:cNvSpPr>
            <a:spLocks noChangeArrowheads="1"/>
          </p:cNvSpPr>
          <p:nvPr/>
        </p:nvSpPr>
        <p:spPr bwMode="auto">
          <a:xfrm>
            <a:off x="2878138" y="3760788"/>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a:t>
            </a:r>
          </a:p>
        </p:txBody>
      </p:sp>
      <p:sp>
        <p:nvSpPr>
          <p:cNvPr id="97333" name="Rectangle 53">
            <a:extLst>
              <a:ext uri="{FF2B5EF4-FFF2-40B4-BE49-F238E27FC236}">
                <a16:creationId xmlns:a16="http://schemas.microsoft.com/office/drawing/2014/main" id="{EE0D5351-178D-4268-8E37-C75BEE2FF94D}"/>
              </a:ext>
            </a:extLst>
          </p:cNvPr>
          <p:cNvSpPr>
            <a:spLocks noChangeArrowheads="1"/>
          </p:cNvSpPr>
          <p:nvPr/>
        </p:nvSpPr>
        <p:spPr bwMode="auto">
          <a:xfrm>
            <a:off x="4027488" y="374332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9</a:t>
            </a:r>
          </a:p>
        </p:txBody>
      </p:sp>
      <p:sp>
        <p:nvSpPr>
          <p:cNvPr id="97334" name="Rectangle 54">
            <a:extLst>
              <a:ext uri="{FF2B5EF4-FFF2-40B4-BE49-F238E27FC236}">
                <a16:creationId xmlns:a16="http://schemas.microsoft.com/office/drawing/2014/main" id="{8404C768-019A-4733-AEA8-0E2C1EB4990C}"/>
              </a:ext>
            </a:extLst>
          </p:cNvPr>
          <p:cNvSpPr>
            <a:spLocks noChangeArrowheads="1"/>
          </p:cNvSpPr>
          <p:nvPr/>
        </p:nvSpPr>
        <p:spPr bwMode="auto">
          <a:xfrm>
            <a:off x="5130800" y="3749675"/>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2</a:t>
            </a:r>
          </a:p>
        </p:txBody>
      </p:sp>
      <p:sp>
        <p:nvSpPr>
          <p:cNvPr id="97335" name="Rectangle 55">
            <a:extLst>
              <a:ext uri="{FF2B5EF4-FFF2-40B4-BE49-F238E27FC236}">
                <a16:creationId xmlns:a16="http://schemas.microsoft.com/office/drawing/2014/main" id="{ACA4A46D-15F5-43BF-8EC4-2FAC72604BB0}"/>
              </a:ext>
            </a:extLst>
          </p:cNvPr>
          <p:cNvSpPr>
            <a:spLocks noChangeArrowheads="1"/>
          </p:cNvSpPr>
          <p:nvPr/>
        </p:nvSpPr>
        <p:spPr bwMode="auto">
          <a:xfrm>
            <a:off x="2905125" y="4525963"/>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7</a:t>
            </a:r>
          </a:p>
        </p:txBody>
      </p:sp>
      <p:sp>
        <p:nvSpPr>
          <p:cNvPr id="97336" name="Rectangle 56">
            <a:extLst>
              <a:ext uri="{FF2B5EF4-FFF2-40B4-BE49-F238E27FC236}">
                <a16:creationId xmlns:a16="http://schemas.microsoft.com/office/drawing/2014/main" id="{348F0C89-5DB0-46B6-A2A2-A22FA92003CB}"/>
              </a:ext>
            </a:extLst>
          </p:cNvPr>
          <p:cNvSpPr>
            <a:spLocks noChangeArrowheads="1"/>
          </p:cNvSpPr>
          <p:nvPr/>
        </p:nvSpPr>
        <p:spPr bwMode="auto">
          <a:xfrm>
            <a:off x="4021138" y="45148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4</a:t>
            </a:r>
          </a:p>
        </p:txBody>
      </p:sp>
      <p:sp>
        <p:nvSpPr>
          <p:cNvPr id="97337" name="Rectangle 57">
            <a:extLst>
              <a:ext uri="{FF2B5EF4-FFF2-40B4-BE49-F238E27FC236}">
                <a16:creationId xmlns:a16="http://schemas.microsoft.com/office/drawing/2014/main" id="{9125183F-BF80-4E47-8A93-B58BD0BD6FEE}"/>
              </a:ext>
            </a:extLst>
          </p:cNvPr>
          <p:cNvSpPr>
            <a:spLocks noChangeArrowheads="1"/>
          </p:cNvSpPr>
          <p:nvPr/>
        </p:nvSpPr>
        <p:spPr bwMode="auto">
          <a:xfrm>
            <a:off x="5148263" y="4506913"/>
            <a:ext cx="498475" cy="471487"/>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10</a:t>
            </a:r>
          </a:p>
        </p:txBody>
      </p:sp>
      <p:sp>
        <p:nvSpPr>
          <p:cNvPr id="97338" name="Rectangle 58">
            <a:extLst>
              <a:ext uri="{FF2B5EF4-FFF2-40B4-BE49-F238E27FC236}">
                <a16:creationId xmlns:a16="http://schemas.microsoft.com/office/drawing/2014/main" id="{F059E708-7AFA-4EA0-8C5F-C553322527E8}"/>
              </a:ext>
            </a:extLst>
          </p:cNvPr>
          <p:cNvSpPr>
            <a:spLocks noChangeArrowheads="1"/>
          </p:cNvSpPr>
          <p:nvPr/>
        </p:nvSpPr>
        <p:spPr bwMode="auto">
          <a:xfrm>
            <a:off x="6256338" y="45148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5</a:t>
            </a:r>
          </a:p>
        </p:txBody>
      </p:sp>
      <p:sp>
        <p:nvSpPr>
          <p:cNvPr id="97339" name="Rectangle 59">
            <a:extLst>
              <a:ext uri="{FF2B5EF4-FFF2-40B4-BE49-F238E27FC236}">
                <a16:creationId xmlns:a16="http://schemas.microsoft.com/office/drawing/2014/main" id="{310DE694-88EA-4852-8E64-9E10FB18B7D7}"/>
              </a:ext>
            </a:extLst>
          </p:cNvPr>
          <p:cNvSpPr>
            <a:spLocks noChangeArrowheads="1"/>
          </p:cNvSpPr>
          <p:nvPr/>
        </p:nvSpPr>
        <p:spPr bwMode="auto">
          <a:xfrm>
            <a:off x="6256338" y="3752850"/>
            <a:ext cx="498475" cy="471488"/>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400" b="1">
                <a:solidFill>
                  <a:srgbClr val="FFFF00"/>
                </a:solidFill>
                <a:latin typeface="Times New Roman" panose="02020603050405020304" pitchFamily="18" charset="0"/>
              </a:rPr>
              <a:t>8</a:t>
            </a:r>
          </a:p>
        </p:txBody>
      </p:sp>
      <p:sp>
        <p:nvSpPr>
          <p:cNvPr id="97340" name="Text Box 60">
            <a:extLst>
              <a:ext uri="{FF2B5EF4-FFF2-40B4-BE49-F238E27FC236}">
                <a16:creationId xmlns:a16="http://schemas.microsoft.com/office/drawing/2014/main" id="{72476740-7BE4-4452-B90F-0E47DDFFF2F9}"/>
              </a:ext>
            </a:extLst>
          </p:cNvPr>
          <p:cNvSpPr txBox="1">
            <a:spLocks noChangeArrowheads="1"/>
          </p:cNvSpPr>
          <p:nvPr/>
        </p:nvSpPr>
        <p:spPr bwMode="auto">
          <a:xfrm>
            <a:off x="4557713" y="3368675"/>
            <a:ext cx="304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5</a:t>
            </a:r>
            <a:endParaRPr kumimoji="1" lang="en-US" altLang="zh-CN" sz="3200" b="1">
              <a:solidFill>
                <a:srgbClr val="000000"/>
              </a:solidFill>
              <a:latin typeface="楷体_GB2312" pitchFamily="49" charset="-122"/>
              <a:ea typeface="楷体_GB2312" pitchFamily="49" charset="-122"/>
            </a:endParaRPr>
          </a:p>
        </p:txBody>
      </p:sp>
      <p:sp>
        <p:nvSpPr>
          <p:cNvPr id="97341" name="Text Box 61">
            <a:extLst>
              <a:ext uri="{FF2B5EF4-FFF2-40B4-BE49-F238E27FC236}">
                <a16:creationId xmlns:a16="http://schemas.microsoft.com/office/drawing/2014/main" id="{D70EA618-75A6-4560-92FD-51B353847DDF}"/>
              </a:ext>
            </a:extLst>
          </p:cNvPr>
          <p:cNvSpPr txBox="1">
            <a:spLocks noChangeArrowheads="1"/>
          </p:cNvSpPr>
          <p:nvPr/>
        </p:nvSpPr>
        <p:spPr bwMode="auto">
          <a:xfrm>
            <a:off x="2301875" y="413861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1</a:t>
            </a:r>
            <a:endParaRPr kumimoji="1" lang="en-US" altLang="zh-CN" sz="3200" b="1">
              <a:solidFill>
                <a:srgbClr val="000000"/>
              </a:solidFill>
              <a:latin typeface="楷体_GB2312" pitchFamily="49" charset="-122"/>
              <a:ea typeface="楷体_GB2312" pitchFamily="49" charset="-122"/>
            </a:endParaRPr>
          </a:p>
        </p:txBody>
      </p:sp>
      <p:sp>
        <p:nvSpPr>
          <p:cNvPr id="97342" name="Text Box 62">
            <a:extLst>
              <a:ext uri="{FF2B5EF4-FFF2-40B4-BE49-F238E27FC236}">
                <a16:creationId xmlns:a16="http://schemas.microsoft.com/office/drawing/2014/main" id="{B3E8E38D-41C8-4A95-A462-23BF2815ED9E}"/>
              </a:ext>
            </a:extLst>
          </p:cNvPr>
          <p:cNvSpPr txBox="1">
            <a:spLocks noChangeArrowheads="1"/>
          </p:cNvSpPr>
          <p:nvPr/>
        </p:nvSpPr>
        <p:spPr bwMode="auto">
          <a:xfrm>
            <a:off x="3402013" y="4929188"/>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6</a:t>
            </a:r>
            <a:endParaRPr kumimoji="1" lang="en-US" altLang="zh-CN" sz="3200" b="1">
              <a:solidFill>
                <a:srgbClr val="000000"/>
              </a:solidFill>
              <a:latin typeface="楷体_GB2312" pitchFamily="49" charset="-122"/>
              <a:ea typeface="楷体_GB2312" pitchFamily="49" charset="-122"/>
            </a:endParaRPr>
          </a:p>
        </p:txBody>
      </p:sp>
      <p:sp>
        <p:nvSpPr>
          <p:cNvPr id="97343" name="Text Box 63">
            <a:extLst>
              <a:ext uri="{FF2B5EF4-FFF2-40B4-BE49-F238E27FC236}">
                <a16:creationId xmlns:a16="http://schemas.microsoft.com/office/drawing/2014/main" id="{3430597A-98D4-4773-B9A5-157CC7D87C7C}"/>
              </a:ext>
            </a:extLst>
          </p:cNvPr>
          <p:cNvSpPr txBox="1">
            <a:spLocks noChangeArrowheads="1"/>
          </p:cNvSpPr>
          <p:nvPr/>
        </p:nvSpPr>
        <p:spPr bwMode="auto">
          <a:xfrm>
            <a:off x="5659438" y="4932363"/>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63" name="Rectangle 66">
            <a:extLst>
              <a:ext uri="{FF2B5EF4-FFF2-40B4-BE49-F238E27FC236}">
                <a16:creationId xmlns:a16="http://schemas.microsoft.com/office/drawing/2014/main" id="{4ED20A80-B1EF-4C27-B7BE-F3212C95F8E4}"/>
              </a:ext>
            </a:extLst>
          </p:cNvPr>
          <p:cNvSpPr>
            <a:spLocks noChangeArrowheads="1"/>
          </p:cNvSpPr>
          <p:nvPr/>
        </p:nvSpPr>
        <p:spPr bwMode="auto">
          <a:xfrm>
            <a:off x="6786563" y="2994025"/>
            <a:ext cx="833437" cy="735013"/>
          </a:xfrm>
          <a:prstGeom prst="rect">
            <a:avLst/>
          </a:prstGeom>
          <a:solidFill>
            <a:srgbClr val="FFFF99"/>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a:solidFill>
                  <a:srgbClr val="3333FF"/>
                </a:solidFill>
                <a:effectLst>
                  <a:outerShdw blurRad="38100" dist="38100" dir="2700000" algn="tl">
                    <a:srgbClr val="000000"/>
                  </a:outerShdw>
                </a:effectLst>
                <a:ea typeface="宋体" panose="02010600030101010101" pitchFamily="2" charset="-122"/>
              </a:rPr>
              <a:t>0</a:t>
            </a:r>
          </a:p>
        </p:txBody>
      </p:sp>
      <p:sp>
        <p:nvSpPr>
          <p:cNvPr id="64" name="Rectangle 67">
            <a:extLst>
              <a:ext uri="{FF2B5EF4-FFF2-40B4-BE49-F238E27FC236}">
                <a16:creationId xmlns:a16="http://schemas.microsoft.com/office/drawing/2014/main" id="{797A21EC-0281-4628-B577-80CF032344C9}"/>
              </a:ext>
            </a:extLst>
          </p:cNvPr>
          <p:cNvSpPr>
            <a:spLocks noChangeArrowheads="1"/>
          </p:cNvSpPr>
          <p:nvPr/>
        </p:nvSpPr>
        <p:spPr bwMode="auto">
          <a:xfrm>
            <a:off x="6786563" y="3729038"/>
            <a:ext cx="833437" cy="752475"/>
          </a:xfrm>
          <a:prstGeom prst="rect">
            <a:avLst/>
          </a:prstGeom>
          <a:solidFill>
            <a:srgbClr val="FFFF99"/>
          </a:solidFill>
          <a:ln w="19050">
            <a:solidFill>
              <a:schemeClr val="tx1"/>
            </a:solidFill>
            <a:miter lim="800000"/>
            <a:headEnd/>
            <a:tailEnd/>
          </a:ln>
          <a:effectLst/>
        </p:spPr>
        <p:txBody>
          <a:bodyPr wrap="none" anchor="ctr"/>
          <a:lstStyle/>
          <a:p>
            <a:pPr algn="ctr" eaLnBrk="1" hangingPunct="1">
              <a:defRPr/>
            </a:pPr>
            <a:r>
              <a:rPr lang="en-US" altLang="zh-CN">
                <a:solidFill>
                  <a:srgbClr val="3333FF"/>
                </a:solidFill>
                <a:effectLst>
                  <a:outerShdw blurRad="38100" dist="38100" dir="2700000" algn="tl">
                    <a:srgbClr val="000000"/>
                  </a:outerShdw>
                </a:effectLst>
              </a:rPr>
              <a:t>-2</a:t>
            </a:r>
          </a:p>
        </p:txBody>
      </p:sp>
      <p:sp>
        <p:nvSpPr>
          <p:cNvPr id="65" name="Rectangle 68">
            <a:extLst>
              <a:ext uri="{FF2B5EF4-FFF2-40B4-BE49-F238E27FC236}">
                <a16:creationId xmlns:a16="http://schemas.microsoft.com/office/drawing/2014/main" id="{2644C0F2-0BE1-4812-B7C1-D9EE5C214311}"/>
              </a:ext>
            </a:extLst>
          </p:cNvPr>
          <p:cNvSpPr>
            <a:spLocks noChangeArrowheads="1"/>
          </p:cNvSpPr>
          <p:nvPr/>
        </p:nvSpPr>
        <p:spPr bwMode="auto">
          <a:xfrm>
            <a:off x="6786563" y="4506913"/>
            <a:ext cx="833437" cy="735012"/>
          </a:xfrm>
          <a:prstGeom prst="rect">
            <a:avLst/>
          </a:prstGeom>
          <a:solidFill>
            <a:srgbClr val="FFFF99"/>
          </a:solidFill>
          <a:ln w="19050">
            <a:solidFill>
              <a:schemeClr val="tx1"/>
            </a:solidFill>
            <a:miter lim="800000"/>
            <a:headEnd/>
            <a:tailEnd/>
          </a:ln>
          <a:effectLst/>
        </p:spPr>
        <p:txBody>
          <a:bodyPr wrap="none" anchor="ctr"/>
          <a:lstStyle/>
          <a:p>
            <a:pPr algn="ctr" eaLnBrk="1" hangingPunct="1">
              <a:defRPr/>
            </a:pPr>
            <a:r>
              <a:rPr lang="en-US" altLang="zh-CN">
                <a:solidFill>
                  <a:srgbClr val="3333FF"/>
                </a:solidFill>
                <a:effectLst>
                  <a:outerShdw blurRad="38100" dist="38100" dir="2700000" algn="tl">
                    <a:srgbClr val="000000"/>
                  </a:outerShdw>
                </a:effectLst>
              </a:rPr>
              <a:t>-5</a:t>
            </a:r>
          </a:p>
        </p:txBody>
      </p:sp>
      <p:sp>
        <p:nvSpPr>
          <p:cNvPr id="66" name="Rectangle 69">
            <a:extLst>
              <a:ext uri="{FF2B5EF4-FFF2-40B4-BE49-F238E27FC236}">
                <a16:creationId xmlns:a16="http://schemas.microsoft.com/office/drawing/2014/main" id="{DF6364D6-B511-4106-A387-8D10C4579B28}"/>
              </a:ext>
            </a:extLst>
          </p:cNvPr>
          <p:cNvSpPr>
            <a:spLocks noChangeArrowheads="1"/>
          </p:cNvSpPr>
          <p:nvPr/>
        </p:nvSpPr>
        <p:spPr bwMode="auto">
          <a:xfrm>
            <a:off x="4546600" y="5259388"/>
            <a:ext cx="1125538"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3</a:t>
            </a:r>
          </a:p>
        </p:txBody>
      </p:sp>
      <p:sp>
        <p:nvSpPr>
          <p:cNvPr id="67" name="Rectangle 70">
            <a:extLst>
              <a:ext uri="{FF2B5EF4-FFF2-40B4-BE49-F238E27FC236}">
                <a16:creationId xmlns:a16="http://schemas.microsoft.com/office/drawing/2014/main" id="{CE61D185-118F-41D1-A597-A7386AB01192}"/>
              </a:ext>
            </a:extLst>
          </p:cNvPr>
          <p:cNvSpPr>
            <a:spLocks noChangeArrowheads="1"/>
          </p:cNvSpPr>
          <p:nvPr/>
        </p:nvSpPr>
        <p:spPr bwMode="auto">
          <a:xfrm>
            <a:off x="5654675" y="5257800"/>
            <a:ext cx="1125538" cy="520700"/>
          </a:xfrm>
          <a:prstGeom prst="rect">
            <a:avLst/>
          </a:prstGeom>
          <a:solidFill>
            <a:srgbClr val="FFFFCC"/>
          </a:solidFill>
          <a:ln w="19050">
            <a:solidFill>
              <a:schemeClr val="tx1"/>
            </a:solidFill>
            <a:miter lim="800000"/>
            <a:headEnd/>
            <a:tailEnd/>
          </a:ln>
          <a:effectLst/>
        </p:spPr>
        <p:txBody>
          <a:bodyPr wrap="none" anchor="ctr"/>
          <a:lstStyle/>
          <a:p>
            <a:pPr algn="ctr" eaLnBrk="1" hangingPunct="1">
              <a:defRPr/>
            </a:pPr>
            <a:r>
              <a:rPr lang="en-US" altLang="zh-CN" sz="2000">
                <a:solidFill>
                  <a:srgbClr val="0000FF"/>
                </a:solidFill>
                <a:effectLst>
                  <a:outerShdw blurRad="38100" dist="38100" dir="2700000" algn="tl">
                    <a:srgbClr val="000000"/>
                  </a:outerShdw>
                </a:effectLst>
              </a:rPr>
              <a:t>10</a:t>
            </a:r>
          </a:p>
        </p:txBody>
      </p:sp>
      <p:sp>
        <p:nvSpPr>
          <p:cNvPr id="68" name="Rectangle 71">
            <a:extLst>
              <a:ext uri="{FF2B5EF4-FFF2-40B4-BE49-F238E27FC236}">
                <a16:creationId xmlns:a16="http://schemas.microsoft.com/office/drawing/2014/main" id="{B8C8BF2F-3D46-4996-A32E-4C19FEE3D00F}"/>
              </a:ext>
            </a:extLst>
          </p:cNvPr>
          <p:cNvSpPr>
            <a:spLocks noChangeArrowheads="1"/>
          </p:cNvSpPr>
          <p:nvPr/>
        </p:nvSpPr>
        <p:spPr bwMode="auto">
          <a:xfrm>
            <a:off x="2306638" y="5257800"/>
            <a:ext cx="1125537"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3</a:t>
            </a:r>
          </a:p>
        </p:txBody>
      </p:sp>
      <p:sp>
        <p:nvSpPr>
          <p:cNvPr id="69" name="Rectangle 72">
            <a:extLst>
              <a:ext uri="{FF2B5EF4-FFF2-40B4-BE49-F238E27FC236}">
                <a16:creationId xmlns:a16="http://schemas.microsoft.com/office/drawing/2014/main" id="{799A3C7D-934D-41DA-8602-8EA341D4C00D}"/>
              </a:ext>
            </a:extLst>
          </p:cNvPr>
          <p:cNvSpPr>
            <a:spLocks noChangeArrowheads="1"/>
          </p:cNvSpPr>
          <p:nvPr/>
        </p:nvSpPr>
        <p:spPr bwMode="auto">
          <a:xfrm>
            <a:off x="3429000" y="5268913"/>
            <a:ext cx="1125538" cy="520700"/>
          </a:xfrm>
          <a:prstGeom prst="rect">
            <a:avLst/>
          </a:prstGeom>
          <a:solidFill>
            <a:srgbClr val="FFFFCC"/>
          </a:solidFill>
          <a:ln w="19050">
            <a:solidFill>
              <a:schemeClr val="tx1"/>
            </a:solidFill>
            <a:miter lim="800000"/>
            <a:headEnd/>
            <a:tailEnd/>
          </a:ln>
          <a:effectLst/>
        </p:spPr>
        <p:txBody>
          <a:bodyPr wrap="none" anchor="ct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ctr" eaLnBrk="1" hangingPunct="1">
              <a:defRPr/>
            </a:pPr>
            <a:r>
              <a:rPr lang="en-US" altLang="zh-CN" sz="2000">
                <a:solidFill>
                  <a:srgbClr val="0000FF"/>
                </a:solidFill>
                <a:effectLst>
                  <a:outerShdw blurRad="38100" dist="38100" dir="2700000" algn="tl">
                    <a:srgbClr val="000000"/>
                  </a:outerShdw>
                </a:effectLst>
                <a:ea typeface="宋体" panose="02010600030101010101" pitchFamily="2" charset="-122"/>
              </a:rPr>
              <a:t>9</a:t>
            </a:r>
          </a:p>
        </p:txBody>
      </p:sp>
      <p:sp>
        <p:nvSpPr>
          <p:cNvPr id="70" name="Rectangle 73">
            <a:extLst>
              <a:ext uri="{FF2B5EF4-FFF2-40B4-BE49-F238E27FC236}">
                <a16:creationId xmlns:a16="http://schemas.microsoft.com/office/drawing/2014/main" id="{6CB56789-1CD3-4889-AA56-8B3A018C854B}"/>
              </a:ext>
            </a:extLst>
          </p:cNvPr>
          <p:cNvSpPr>
            <a:spLocks noChangeArrowheads="1"/>
          </p:cNvSpPr>
          <p:nvPr/>
        </p:nvSpPr>
        <p:spPr bwMode="auto">
          <a:xfrm>
            <a:off x="5708650" y="330358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FF00FF"/>
                </a:solidFill>
                <a:effectLst>
                  <a:outerShdw blurRad="38100" dist="38100" dir="2700000" algn="tl">
                    <a:srgbClr val="000000"/>
                  </a:outerShdw>
                </a:effectLst>
              </a:rPr>
              <a:t>（</a:t>
            </a:r>
            <a:r>
              <a:rPr lang="en-US" altLang="zh-CN" sz="2000" dirty="0">
                <a:solidFill>
                  <a:srgbClr val="FF00FF"/>
                </a:solidFill>
                <a:effectLst>
                  <a:outerShdw blurRad="38100" dist="38100" dir="2700000" algn="tl">
                    <a:srgbClr val="000000"/>
                  </a:outerShdw>
                </a:effectLst>
              </a:rPr>
              <a:t>0</a:t>
            </a:r>
            <a:r>
              <a:rPr lang="zh-CN" altLang="en-US" sz="2000" dirty="0">
                <a:solidFill>
                  <a:srgbClr val="FF00FF"/>
                </a:solidFill>
                <a:effectLst>
                  <a:outerShdw blurRad="38100" dist="38100" dir="2700000" algn="tl">
                    <a:srgbClr val="000000"/>
                  </a:outerShdw>
                </a:effectLst>
              </a:rPr>
              <a:t>）</a:t>
            </a:r>
          </a:p>
        </p:txBody>
      </p:sp>
      <p:sp>
        <p:nvSpPr>
          <p:cNvPr id="71" name="Rectangle 74">
            <a:extLst>
              <a:ext uri="{FF2B5EF4-FFF2-40B4-BE49-F238E27FC236}">
                <a16:creationId xmlns:a16="http://schemas.microsoft.com/office/drawing/2014/main" id="{8FC31D09-44C0-457F-A895-7C496C31758D}"/>
              </a:ext>
            </a:extLst>
          </p:cNvPr>
          <p:cNvSpPr>
            <a:spLocks noChangeArrowheads="1"/>
          </p:cNvSpPr>
          <p:nvPr/>
        </p:nvSpPr>
        <p:spPr bwMode="auto">
          <a:xfrm>
            <a:off x="3405188" y="3332163"/>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sp>
        <p:nvSpPr>
          <p:cNvPr id="72" name="Rectangle 75">
            <a:extLst>
              <a:ext uri="{FF2B5EF4-FFF2-40B4-BE49-F238E27FC236}">
                <a16:creationId xmlns:a16="http://schemas.microsoft.com/office/drawing/2014/main" id="{F082F508-77CC-41CC-AC0C-2C4D9C793875}"/>
              </a:ext>
            </a:extLst>
          </p:cNvPr>
          <p:cNvSpPr>
            <a:spLocks noChangeArrowheads="1"/>
          </p:cNvSpPr>
          <p:nvPr/>
        </p:nvSpPr>
        <p:spPr bwMode="auto">
          <a:xfrm>
            <a:off x="3387725" y="40846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sp>
        <p:nvSpPr>
          <p:cNvPr id="73" name="Rectangle 76">
            <a:extLst>
              <a:ext uri="{FF2B5EF4-FFF2-40B4-BE49-F238E27FC236}">
                <a16:creationId xmlns:a16="http://schemas.microsoft.com/office/drawing/2014/main" id="{BB39529D-2A49-433F-9FE0-A9EE603400D9}"/>
              </a:ext>
            </a:extLst>
          </p:cNvPr>
          <p:cNvSpPr>
            <a:spLocks noChangeArrowheads="1"/>
          </p:cNvSpPr>
          <p:nvPr/>
        </p:nvSpPr>
        <p:spPr bwMode="auto">
          <a:xfrm>
            <a:off x="4521200" y="410368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a:t>
            </a:r>
            <a:r>
              <a:rPr lang="zh-CN" altLang="en-US" sz="2000" dirty="0">
                <a:solidFill>
                  <a:srgbClr val="3333FF"/>
                </a:solidFill>
                <a:effectLst>
                  <a:outerShdw blurRad="38100" dist="38100" dir="2700000" algn="tl">
                    <a:srgbClr val="000000"/>
                  </a:outerShdw>
                </a:effectLst>
              </a:rPr>
              <a:t>）</a:t>
            </a:r>
          </a:p>
        </p:txBody>
      </p:sp>
      <p:sp>
        <p:nvSpPr>
          <p:cNvPr id="74" name="Rectangle 77">
            <a:extLst>
              <a:ext uri="{FF2B5EF4-FFF2-40B4-BE49-F238E27FC236}">
                <a16:creationId xmlns:a16="http://schemas.microsoft.com/office/drawing/2014/main" id="{E6972946-5F2E-4C39-B4A3-4F9B2AF6AC68}"/>
              </a:ext>
            </a:extLst>
          </p:cNvPr>
          <p:cNvSpPr>
            <a:spLocks noChangeArrowheads="1"/>
          </p:cNvSpPr>
          <p:nvPr/>
        </p:nvSpPr>
        <p:spPr bwMode="auto">
          <a:xfrm>
            <a:off x="4592638" y="4876800"/>
            <a:ext cx="498475" cy="471488"/>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12</a:t>
            </a:r>
            <a:r>
              <a:rPr lang="zh-CN" altLang="en-US" sz="2000" dirty="0">
                <a:solidFill>
                  <a:srgbClr val="3333FF"/>
                </a:solidFill>
                <a:effectLst>
                  <a:outerShdw blurRad="38100" dist="38100" dir="2700000" algn="tl">
                    <a:srgbClr val="000000"/>
                  </a:outerShdw>
                </a:effectLst>
              </a:rPr>
              <a:t>）</a:t>
            </a:r>
          </a:p>
        </p:txBody>
      </p:sp>
      <p:sp>
        <p:nvSpPr>
          <p:cNvPr id="75" name="Rectangle 78">
            <a:extLst>
              <a:ext uri="{FF2B5EF4-FFF2-40B4-BE49-F238E27FC236}">
                <a16:creationId xmlns:a16="http://schemas.microsoft.com/office/drawing/2014/main" id="{BBB951F3-55E9-4809-AAA9-F07748E040B1}"/>
              </a:ext>
            </a:extLst>
          </p:cNvPr>
          <p:cNvSpPr>
            <a:spLocks noChangeArrowheads="1"/>
          </p:cNvSpPr>
          <p:nvPr/>
        </p:nvSpPr>
        <p:spPr bwMode="auto">
          <a:xfrm>
            <a:off x="2268538" y="4846638"/>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9</a:t>
            </a:r>
            <a:r>
              <a:rPr lang="zh-CN" altLang="en-US" sz="2000" dirty="0">
                <a:solidFill>
                  <a:srgbClr val="3333FF"/>
                </a:solidFill>
                <a:effectLst>
                  <a:outerShdw blurRad="38100" dist="38100" dir="2700000" algn="tl">
                    <a:srgbClr val="000000"/>
                  </a:outerShdw>
                </a:effectLst>
              </a:rPr>
              <a:t>）</a:t>
            </a:r>
          </a:p>
        </p:txBody>
      </p:sp>
      <p:sp>
        <p:nvSpPr>
          <p:cNvPr id="97357" name="Text Box 61">
            <a:extLst>
              <a:ext uri="{FF2B5EF4-FFF2-40B4-BE49-F238E27FC236}">
                <a16:creationId xmlns:a16="http://schemas.microsoft.com/office/drawing/2014/main" id="{DDFE7AF7-E1A4-4E49-B2FF-20FC741F5E61}"/>
              </a:ext>
            </a:extLst>
          </p:cNvPr>
          <p:cNvSpPr txBox="1">
            <a:spLocks noChangeArrowheads="1"/>
          </p:cNvSpPr>
          <p:nvPr/>
        </p:nvSpPr>
        <p:spPr bwMode="auto">
          <a:xfrm>
            <a:off x="2286000" y="3352800"/>
            <a:ext cx="381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2</a:t>
            </a:r>
            <a:endParaRPr kumimoji="1" lang="en-US" altLang="zh-CN" sz="3200" b="1">
              <a:solidFill>
                <a:srgbClr val="000000"/>
              </a:solidFill>
              <a:latin typeface="楷体_GB2312" pitchFamily="49" charset="-122"/>
              <a:ea typeface="楷体_GB2312" pitchFamily="49" charset="-122"/>
            </a:endParaRPr>
          </a:p>
        </p:txBody>
      </p:sp>
      <p:sp>
        <p:nvSpPr>
          <p:cNvPr id="97358" name="Text Box 61">
            <a:extLst>
              <a:ext uri="{FF2B5EF4-FFF2-40B4-BE49-F238E27FC236}">
                <a16:creationId xmlns:a16="http://schemas.microsoft.com/office/drawing/2014/main" id="{AABA750D-9216-4A32-B3BA-EF1542779F64}"/>
              </a:ext>
            </a:extLst>
          </p:cNvPr>
          <p:cNvSpPr txBox="1">
            <a:spLocks noChangeArrowheads="1"/>
          </p:cNvSpPr>
          <p:nvPr/>
        </p:nvSpPr>
        <p:spPr bwMode="auto">
          <a:xfrm>
            <a:off x="5680075" y="4129088"/>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SzPct val="80000"/>
              <a:buFont typeface="Wingdings" panose="05000000000000000000" pitchFamily="2" charset="2"/>
              <a:buNone/>
            </a:pPr>
            <a:r>
              <a:rPr kumimoji="1" lang="en-US" altLang="zh-CN" sz="2000" b="1">
                <a:solidFill>
                  <a:srgbClr val="A50021"/>
                </a:solidFill>
              </a:rPr>
              <a:t>3</a:t>
            </a:r>
            <a:endParaRPr kumimoji="1" lang="en-US" altLang="zh-CN" sz="3200" b="1">
              <a:solidFill>
                <a:srgbClr val="000000"/>
              </a:solidFill>
              <a:latin typeface="楷体_GB2312" pitchFamily="49" charset="-122"/>
              <a:ea typeface="楷体_GB2312" pitchFamily="49" charset="-122"/>
            </a:endParaRPr>
          </a:p>
        </p:txBody>
      </p:sp>
      <p:sp>
        <p:nvSpPr>
          <p:cNvPr id="97359" name="矩形 1">
            <a:extLst>
              <a:ext uri="{FF2B5EF4-FFF2-40B4-BE49-F238E27FC236}">
                <a16:creationId xmlns:a16="http://schemas.microsoft.com/office/drawing/2014/main" id="{564D6EFE-966A-44BA-9FD7-DF145BA43FEE}"/>
              </a:ext>
            </a:extLst>
          </p:cNvPr>
          <p:cNvSpPr>
            <a:spLocks noChangeArrowheads="1"/>
          </p:cNvSpPr>
          <p:nvPr/>
        </p:nvSpPr>
        <p:spPr bwMode="auto">
          <a:xfrm>
            <a:off x="1027113" y="6100763"/>
            <a:ext cx="67579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15000"/>
              </a:spcBef>
            </a:pPr>
            <a:r>
              <a:rPr lang="en-US" altLang="zh-CN">
                <a:cs typeface="Times New Roman" panose="02020603050405020304" pitchFamily="18" charset="0"/>
              </a:rPr>
              <a:t>z =</a:t>
            </a:r>
            <a:r>
              <a:rPr lang="en-US" altLang="en-US">
                <a:cs typeface="Times New Roman" panose="02020603050405020304" pitchFamily="18" charset="0"/>
              </a:rPr>
              <a:t>(2×3)＋(1×1)＋(6×4)＋(5×3)＋(3×8)＋(3×5)＝85元</a:t>
            </a:r>
          </a:p>
        </p:txBody>
      </p:sp>
      <p:pic>
        <p:nvPicPr>
          <p:cNvPr id="97360" name="图片 36">
            <a:extLst>
              <a:ext uri="{FF2B5EF4-FFF2-40B4-BE49-F238E27FC236}">
                <a16:creationId xmlns:a16="http://schemas.microsoft.com/office/drawing/2014/main" id="{F94438C9-0E20-45DD-A8CB-A3EEED9A4B8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811838" y="95250"/>
            <a:ext cx="3332162" cy="21891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a:extLst>
              <a:ext uri="{FF2B5EF4-FFF2-40B4-BE49-F238E27FC236}">
                <a16:creationId xmlns:a16="http://schemas.microsoft.com/office/drawing/2014/main" id="{244D546C-A8EA-409F-9965-49352D7C25C4}"/>
              </a:ext>
            </a:extLst>
          </p:cNvPr>
          <p:cNvSpPr>
            <a:spLocks noGrp="1" noChangeArrowheads="1"/>
          </p:cNvSpPr>
          <p:nvPr>
            <p:ph type="title"/>
          </p:nvPr>
        </p:nvSpPr>
        <p:spPr/>
        <p:txBody>
          <a:bodyPr/>
          <a:lstStyle/>
          <a:p>
            <a:pPr eaLnBrk="1" hangingPunct="1"/>
            <a:r>
              <a:rPr lang="zh-CN" altLang="en-US"/>
              <a:t>表上作业法计算中的问题说明</a:t>
            </a:r>
          </a:p>
        </p:txBody>
      </p:sp>
      <p:sp>
        <p:nvSpPr>
          <p:cNvPr id="168963" name="Rectangle 3">
            <a:extLst>
              <a:ext uri="{FF2B5EF4-FFF2-40B4-BE49-F238E27FC236}">
                <a16:creationId xmlns:a16="http://schemas.microsoft.com/office/drawing/2014/main" id="{E6F220B4-42DB-46B4-9961-924A8D7E0D7B}"/>
              </a:ext>
            </a:extLst>
          </p:cNvPr>
          <p:cNvSpPr>
            <a:spLocks noGrp="1" noChangeArrowheads="1"/>
          </p:cNvSpPr>
          <p:nvPr>
            <p:ph type="body" idx="1"/>
          </p:nvPr>
        </p:nvSpPr>
        <p:spPr>
          <a:xfrm>
            <a:off x="263525" y="735013"/>
            <a:ext cx="8229600" cy="1939925"/>
          </a:xfrm>
        </p:spPr>
        <p:txBody>
          <a:bodyPr/>
          <a:lstStyle/>
          <a:p>
            <a:pPr eaLnBrk="1" hangingPunct="1"/>
            <a:r>
              <a:rPr lang="zh-CN" altLang="en-US"/>
              <a:t>退化</a:t>
            </a:r>
          </a:p>
          <a:p>
            <a:pPr lvl="1" algn="just" eaLnBrk="1" hangingPunct="1"/>
            <a:r>
              <a:rPr lang="zh-CN" altLang="en-US"/>
              <a:t>确定初始基解时，出现同时划去一行和一列</a:t>
            </a:r>
          </a:p>
          <a:p>
            <a:pPr lvl="2" algn="just" eaLnBrk="1" hangingPunct="1"/>
            <a:r>
              <a:rPr lang="zh-CN" altLang="en-US"/>
              <a:t>需要添一个“</a:t>
            </a:r>
            <a:r>
              <a:rPr lang="en-US" altLang="zh-CN"/>
              <a:t>0”</a:t>
            </a:r>
            <a:r>
              <a:rPr lang="zh-CN" altLang="en-US"/>
              <a:t>，可在划去的行（列）上任一空格处填写</a:t>
            </a:r>
          </a:p>
          <a:p>
            <a:pPr lvl="1" algn="just" eaLnBrk="1" hangingPunct="1"/>
            <a:endParaRPr lang="en-US" altLang="zh-CN"/>
          </a:p>
        </p:txBody>
      </p:sp>
      <p:graphicFrame>
        <p:nvGraphicFramePr>
          <p:cNvPr id="21" name="Group 74">
            <a:extLst>
              <a:ext uri="{FF2B5EF4-FFF2-40B4-BE49-F238E27FC236}">
                <a16:creationId xmlns:a16="http://schemas.microsoft.com/office/drawing/2014/main" id="{1D10D6DA-705C-4511-9E6B-202DF2C86978}"/>
              </a:ext>
            </a:extLst>
          </p:cNvPr>
          <p:cNvGraphicFramePr>
            <a:graphicFrameLocks noGrp="1"/>
          </p:cNvGraphicFramePr>
          <p:nvPr/>
        </p:nvGraphicFramePr>
        <p:xfrm>
          <a:off x="1371600" y="2590800"/>
          <a:ext cx="7345362" cy="3455989"/>
        </p:xfrm>
        <a:graphic>
          <a:graphicData uri="http://schemas.openxmlformats.org/drawingml/2006/table">
            <a:tbl>
              <a:tblPr/>
              <a:tblGrid>
                <a:gridCol w="1223962">
                  <a:extLst>
                    <a:ext uri="{9D8B030D-6E8A-4147-A177-3AD203B41FA5}">
                      <a16:colId xmlns:a16="http://schemas.microsoft.com/office/drawing/2014/main" val="20000"/>
                    </a:ext>
                  </a:extLst>
                </a:gridCol>
                <a:gridCol w="1223963">
                  <a:extLst>
                    <a:ext uri="{9D8B030D-6E8A-4147-A177-3AD203B41FA5}">
                      <a16:colId xmlns:a16="http://schemas.microsoft.com/office/drawing/2014/main" val="20001"/>
                    </a:ext>
                  </a:extLst>
                </a:gridCol>
                <a:gridCol w="1225550">
                  <a:extLst>
                    <a:ext uri="{9D8B030D-6E8A-4147-A177-3AD203B41FA5}">
                      <a16:colId xmlns:a16="http://schemas.microsoft.com/office/drawing/2014/main" val="20002"/>
                    </a:ext>
                  </a:extLst>
                </a:gridCol>
                <a:gridCol w="1223962">
                  <a:extLst>
                    <a:ext uri="{9D8B030D-6E8A-4147-A177-3AD203B41FA5}">
                      <a16:colId xmlns:a16="http://schemas.microsoft.com/office/drawing/2014/main" val="20003"/>
                    </a:ext>
                  </a:extLst>
                </a:gridCol>
                <a:gridCol w="1223963">
                  <a:extLst>
                    <a:ext uri="{9D8B030D-6E8A-4147-A177-3AD203B41FA5}">
                      <a16:colId xmlns:a16="http://schemas.microsoft.com/office/drawing/2014/main" val="20004"/>
                    </a:ext>
                  </a:extLst>
                </a:gridCol>
                <a:gridCol w="1223962">
                  <a:extLst>
                    <a:ext uri="{9D8B030D-6E8A-4147-A177-3AD203B41FA5}">
                      <a16:colId xmlns:a16="http://schemas.microsoft.com/office/drawing/2014/main" val="20005"/>
                    </a:ext>
                  </a:extLst>
                </a:gridCol>
              </a:tblGrid>
              <a:tr h="1114425">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        </a:t>
                      </a: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销地</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产地</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2</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3</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B</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4</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产量</a:t>
                      </a:r>
                      <a:endParaRPr kumimoji="1" lang="zh-CN" altLang="en-US" sz="2000" b="1" i="0" u="none" strike="noStrike" cap="none" normalizeH="0" baseline="-25000">
                        <a:ln>
                          <a:noFill/>
                        </a:ln>
                        <a:solidFill>
                          <a:srgbClr val="000000"/>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0"/>
                  </a:ext>
                </a:extLst>
              </a:tr>
              <a:tr h="585788">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7</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4200">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4</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5788">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A</a:t>
                      </a:r>
                      <a:r>
                        <a:rPr kumimoji="1" lang="en-US" altLang="zh-CN" sz="2000" b="1" i="0" u="none" strike="noStrike" cap="none" normalizeH="0" baseline="-25000">
                          <a:ln>
                            <a:noFill/>
                          </a:ln>
                          <a:solidFill>
                            <a:schemeClr val="bg2"/>
                          </a:solidFill>
                          <a:effectLst/>
                          <a:latin typeface="Times New Roman" panose="02020603050405020304" pitchFamily="18" charset="0"/>
                          <a:ea typeface="华文细黑" panose="02010600040101010101" pitchFamily="2" charset="-122"/>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zh-CN"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9</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5788">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20000"/>
                        </a:lnSpc>
                        <a:spcBef>
                          <a:spcPct val="15000"/>
                        </a:spcBef>
                        <a:buSzPct val="85000"/>
                        <a:defRPr kumimoji="1" sz="2000" b="1">
                          <a:solidFill>
                            <a:schemeClr val="bg2"/>
                          </a:solidFill>
                          <a:latin typeface="Times New Roman" panose="02020603050405020304" pitchFamily="18" charset="0"/>
                          <a:ea typeface="华文细黑" panose="02010600040101010101" pitchFamily="2" charset="-122"/>
                        </a:defRPr>
                      </a:lvl1pPr>
                      <a:lvl2pPr marL="544513" algn="l">
                        <a:spcBef>
                          <a:spcPct val="20000"/>
                        </a:spcBef>
                        <a:buClr>
                          <a:schemeClr val="bg2"/>
                        </a:buClr>
                        <a:buSzPct val="70000"/>
                        <a:buFont typeface="Wingdings" panose="05000000000000000000" pitchFamily="2" charset="2"/>
                        <a:defRPr kumimoji="1" sz="22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2pPr>
                      <a:lvl3pPr marL="1009650" algn="l">
                        <a:spcBef>
                          <a:spcPct val="20000"/>
                        </a:spcBef>
                        <a:buSzPct val="70000"/>
                        <a:buFont typeface="Wingdings" panose="05000000000000000000" pitchFamily="2" charset="2"/>
                        <a:defRPr kumimoji="1" sz="2000" b="1">
                          <a:solidFill>
                            <a:srgbClr val="003300"/>
                          </a:solidFill>
                          <a:effectLst>
                            <a:outerShdw blurRad="38100" dist="38100" dir="2700000" algn="tl">
                              <a:srgbClr val="000000"/>
                            </a:outerShdw>
                          </a:effectLst>
                          <a:latin typeface="Times New Roman" panose="02020603050405020304" pitchFamily="18" charset="0"/>
                          <a:ea typeface="华文细黑" panose="02010600040101010101" pitchFamily="2" charset="-122"/>
                        </a:defRPr>
                      </a:lvl3pPr>
                      <a:lvl4pPr marL="1417638" algn="l">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algn="l">
                        <a:spcBef>
                          <a:spcPct val="20000"/>
                        </a:spcBef>
                        <a:defRPr kumimoji="1">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20</a:t>
                      </a:r>
                      <a:endParaRPr kumimoji="1" lang="en-US" altLang="zh-CN" sz="20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98352" name="Line 47">
            <a:extLst>
              <a:ext uri="{FF2B5EF4-FFF2-40B4-BE49-F238E27FC236}">
                <a16:creationId xmlns:a16="http://schemas.microsoft.com/office/drawing/2014/main" id="{DF4E3EA0-1434-4237-A2CD-7026DF52F7D3}"/>
              </a:ext>
            </a:extLst>
          </p:cNvPr>
          <p:cNvSpPr>
            <a:spLocks noChangeShapeType="1"/>
          </p:cNvSpPr>
          <p:nvPr/>
        </p:nvSpPr>
        <p:spPr bwMode="auto">
          <a:xfrm>
            <a:off x="1371600" y="2590800"/>
            <a:ext cx="1223963" cy="10795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98353" name="Text Box 48">
            <a:extLst>
              <a:ext uri="{FF2B5EF4-FFF2-40B4-BE49-F238E27FC236}">
                <a16:creationId xmlns:a16="http://schemas.microsoft.com/office/drawing/2014/main" id="{CAB0F97D-C259-4632-8345-1B991064F46C}"/>
              </a:ext>
            </a:extLst>
          </p:cNvPr>
          <p:cNvSpPr txBox="1">
            <a:spLocks noChangeArrowheads="1"/>
          </p:cNvSpPr>
          <p:nvPr/>
        </p:nvSpPr>
        <p:spPr bwMode="auto">
          <a:xfrm>
            <a:off x="4418013" y="3749675"/>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11</a:t>
            </a:r>
          </a:p>
        </p:txBody>
      </p:sp>
      <p:sp>
        <p:nvSpPr>
          <p:cNvPr id="98354" name="Text Box 49">
            <a:extLst>
              <a:ext uri="{FF2B5EF4-FFF2-40B4-BE49-F238E27FC236}">
                <a16:creationId xmlns:a16="http://schemas.microsoft.com/office/drawing/2014/main" id="{B22C2BC8-18B4-467E-B15B-E4FE68F07EDA}"/>
              </a:ext>
            </a:extLst>
          </p:cNvPr>
          <p:cNvSpPr txBox="1">
            <a:spLocks noChangeArrowheads="1"/>
          </p:cNvSpPr>
          <p:nvPr/>
        </p:nvSpPr>
        <p:spPr bwMode="auto">
          <a:xfrm>
            <a:off x="5637213" y="3749675"/>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4</a:t>
            </a:r>
          </a:p>
        </p:txBody>
      </p:sp>
      <p:sp>
        <p:nvSpPr>
          <p:cNvPr id="98355" name="Text Box 50">
            <a:extLst>
              <a:ext uri="{FF2B5EF4-FFF2-40B4-BE49-F238E27FC236}">
                <a16:creationId xmlns:a16="http://schemas.microsoft.com/office/drawing/2014/main" id="{8DE0A109-A70A-460D-942F-D886A39C099B}"/>
              </a:ext>
            </a:extLst>
          </p:cNvPr>
          <p:cNvSpPr txBox="1">
            <a:spLocks noChangeArrowheads="1"/>
          </p:cNvSpPr>
          <p:nvPr/>
        </p:nvSpPr>
        <p:spPr bwMode="auto">
          <a:xfrm>
            <a:off x="6856413" y="3749675"/>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4</a:t>
            </a:r>
          </a:p>
        </p:txBody>
      </p:sp>
      <p:sp>
        <p:nvSpPr>
          <p:cNvPr id="98356" name="Text Box 51">
            <a:extLst>
              <a:ext uri="{FF2B5EF4-FFF2-40B4-BE49-F238E27FC236}">
                <a16:creationId xmlns:a16="http://schemas.microsoft.com/office/drawing/2014/main" id="{FCF0B998-6FFD-4D67-AB46-2176FF18A370}"/>
              </a:ext>
            </a:extLst>
          </p:cNvPr>
          <p:cNvSpPr txBox="1">
            <a:spLocks noChangeArrowheads="1"/>
          </p:cNvSpPr>
          <p:nvPr/>
        </p:nvSpPr>
        <p:spPr bwMode="auto">
          <a:xfrm>
            <a:off x="3200400" y="3760788"/>
            <a:ext cx="611188"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3</a:t>
            </a:r>
          </a:p>
        </p:txBody>
      </p:sp>
      <p:sp>
        <p:nvSpPr>
          <p:cNvPr id="98357" name="Text Box 52">
            <a:extLst>
              <a:ext uri="{FF2B5EF4-FFF2-40B4-BE49-F238E27FC236}">
                <a16:creationId xmlns:a16="http://schemas.microsoft.com/office/drawing/2014/main" id="{7C93A7BD-8BFF-4A13-AD3F-6F529EB3FFD6}"/>
              </a:ext>
            </a:extLst>
          </p:cNvPr>
          <p:cNvSpPr txBox="1">
            <a:spLocks noChangeArrowheads="1"/>
          </p:cNvSpPr>
          <p:nvPr/>
        </p:nvSpPr>
        <p:spPr bwMode="auto">
          <a:xfrm>
            <a:off x="3200400" y="4940300"/>
            <a:ext cx="611188"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1</a:t>
            </a:r>
          </a:p>
        </p:txBody>
      </p:sp>
      <p:sp>
        <p:nvSpPr>
          <p:cNvPr id="98358" name="Text Box 53">
            <a:extLst>
              <a:ext uri="{FF2B5EF4-FFF2-40B4-BE49-F238E27FC236}">
                <a16:creationId xmlns:a16="http://schemas.microsoft.com/office/drawing/2014/main" id="{CE512457-D6D8-4D95-9386-F20551093B59}"/>
              </a:ext>
            </a:extLst>
          </p:cNvPr>
          <p:cNvSpPr txBox="1">
            <a:spLocks noChangeArrowheads="1"/>
          </p:cNvSpPr>
          <p:nvPr/>
        </p:nvSpPr>
        <p:spPr bwMode="auto">
          <a:xfrm>
            <a:off x="5637213" y="4335463"/>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3</a:t>
            </a:r>
          </a:p>
        </p:txBody>
      </p:sp>
      <p:sp>
        <p:nvSpPr>
          <p:cNvPr id="98359" name="Text Box 54">
            <a:extLst>
              <a:ext uri="{FF2B5EF4-FFF2-40B4-BE49-F238E27FC236}">
                <a16:creationId xmlns:a16="http://schemas.microsoft.com/office/drawing/2014/main" id="{957562B6-A188-49A2-A1AA-A13CCE16E388}"/>
              </a:ext>
            </a:extLst>
          </p:cNvPr>
          <p:cNvSpPr txBox="1">
            <a:spLocks noChangeArrowheads="1"/>
          </p:cNvSpPr>
          <p:nvPr/>
        </p:nvSpPr>
        <p:spPr bwMode="auto">
          <a:xfrm>
            <a:off x="4418013" y="4343400"/>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7</a:t>
            </a:r>
          </a:p>
        </p:txBody>
      </p:sp>
      <p:sp>
        <p:nvSpPr>
          <p:cNvPr id="98360" name="Text Box 55">
            <a:extLst>
              <a:ext uri="{FF2B5EF4-FFF2-40B4-BE49-F238E27FC236}">
                <a16:creationId xmlns:a16="http://schemas.microsoft.com/office/drawing/2014/main" id="{124BCE42-0455-40B9-96BF-BCED5C8DE9BE}"/>
              </a:ext>
            </a:extLst>
          </p:cNvPr>
          <p:cNvSpPr txBox="1">
            <a:spLocks noChangeArrowheads="1"/>
          </p:cNvSpPr>
          <p:nvPr/>
        </p:nvSpPr>
        <p:spPr bwMode="auto">
          <a:xfrm>
            <a:off x="3200400" y="4337050"/>
            <a:ext cx="611188"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7</a:t>
            </a:r>
          </a:p>
        </p:txBody>
      </p:sp>
      <p:sp>
        <p:nvSpPr>
          <p:cNvPr id="98361" name="Text Box 56">
            <a:extLst>
              <a:ext uri="{FF2B5EF4-FFF2-40B4-BE49-F238E27FC236}">
                <a16:creationId xmlns:a16="http://schemas.microsoft.com/office/drawing/2014/main" id="{382573EC-DA7A-4BA8-BD3F-2435B3023916}"/>
              </a:ext>
            </a:extLst>
          </p:cNvPr>
          <p:cNvSpPr txBox="1">
            <a:spLocks noChangeArrowheads="1"/>
          </p:cNvSpPr>
          <p:nvPr/>
        </p:nvSpPr>
        <p:spPr bwMode="auto">
          <a:xfrm>
            <a:off x="6856413" y="4324350"/>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8</a:t>
            </a:r>
          </a:p>
        </p:txBody>
      </p:sp>
      <p:sp>
        <p:nvSpPr>
          <p:cNvPr id="98362" name="Text Box 57">
            <a:extLst>
              <a:ext uri="{FF2B5EF4-FFF2-40B4-BE49-F238E27FC236}">
                <a16:creationId xmlns:a16="http://schemas.microsoft.com/office/drawing/2014/main" id="{B772AFA9-C659-499E-9A77-40F21DC01567}"/>
              </a:ext>
            </a:extLst>
          </p:cNvPr>
          <p:cNvSpPr txBox="1">
            <a:spLocks noChangeArrowheads="1"/>
          </p:cNvSpPr>
          <p:nvPr/>
        </p:nvSpPr>
        <p:spPr bwMode="auto">
          <a:xfrm>
            <a:off x="4418013" y="4918075"/>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2</a:t>
            </a:r>
          </a:p>
        </p:txBody>
      </p:sp>
      <p:sp>
        <p:nvSpPr>
          <p:cNvPr id="98363" name="Text Box 58">
            <a:extLst>
              <a:ext uri="{FF2B5EF4-FFF2-40B4-BE49-F238E27FC236}">
                <a16:creationId xmlns:a16="http://schemas.microsoft.com/office/drawing/2014/main" id="{1C95ACE1-8E86-4E21-AF0D-11F8BB66CDE6}"/>
              </a:ext>
            </a:extLst>
          </p:cNvPr>
          <p:cNvSpPr txBox="1">
            <a:spLocks noChangeArrowheads="1"/>
          </p:cNvSpPr>
          <p:nvPr/>
        </p:nvSpPr>
        <p:spPr bwMode="auto">
          <a:xfrm>
            <a:off x="5637213" y="4918075"/>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10</a:t>
            </a:r>
          </a:p>
        </p:txBody>
      </p:sp>
      <p:sp>
        <p:nvSpPr>
          <p:cNvPr id="98364" name="Text Box 59">
            <a:extLst>
              <a:ext uri="{FF2B5EF4-FFF2-40B4-BE49-F238E27FC236}">
                <a16:creationId xmlns:a16="http://schemas.microsoft.com/office/drawing/2014/main" id="{8C353862-69E1-4638-AB18-BA91FEBAEFB3}"/>
              </a:ext>
            </a:extLst>
          </p:cNvPr>
          <p:cNvSpPr txBox="1">
            <a:spLocks noChangeArrowheads="1"/>
          </p:cNvSpPr>
          <p:nvPr/>
        </p:nvSpPr>
        <p:spPr bwMode="auto">
          <a:xfrm>
            <a:off x="6856413" y="4918075"/>
            <a:ext cx="611187" cy="301625"/>
          </a:xfrm>
          <a:prstGeom prst="rect">
            <a:avLst/>
          </a:prstGeom>
          <a:noFill/>
          <a:ln w="317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a:solidFill>
                  <a:schemeClr val="bg2"/>
                </a:solidFill>
              </a:rPr>
              <a:t>    6</a:t>
            </a:r>
          </a:p>
        </p:txBody>
      </p:sp>
      <p:sp>
        <p:nvSpPr>
          <p:cNvPr id="35" name="Text Box 61">
            <a:extLst>
              <a:ext uri="{FF2B5EF4-FFF2-40B4-BE49-F238E27FC236}">
                <a16:creationId xmlns:a16="http://schemas.microsoft.com/office/drawing/2014/main" id="{3CADBE02-7032-4E5E-AC94-46AF009DA9F4}"/>
              </a:ext>
            </a:extLst>
          </p:cNvPr>
          <p:cNvSpPr txBox="1">
            <a:spLocks noChangeArrowheads="1"/>
          </p:cNvSpPr>
          <p:nvPr/>
        </p:nvSpPr>
        <p:spPr bwMode="auto">
          <a:xfrm>
            <a:off x="3848100" y="3749675"/>
            <a:ext cx="6477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2400">
                <a:solidFill>
                  <a:schemeClr val="bg2"/>
                </a:solidFill>
              </a:rPr>
              <a:t>×</a:t>
            </a:r>
          </a:p>
        </p:txBody>
      </p:sp>
      <p:sp>
        <p:nvSpPr>
          <p:cNvPr id="38" name="Text Box 62">
            <a:extLst>
              <a:ext uri="{FF2B5EF4-FFF2-40B4-BE49-F238E27FC236}">
                <a16:creationId xmlns:a16="http://schemas.microsoft.com/office/drawing/2014/main" id="{0355C0F1-F831-4728-A43E-A839750E7064}"/>
              </a:ext>
            </a:extLst>
          </p:cNvPr>
          <p:cNvSpPr txBox="1">
            <a:spLocks noChangeArrowheads="1"/>
          </p:cNvSpPr>
          <p:nvPr/>
        </p:nvSpPr>
        <p:spPr bwMode="auto">
          <a:xfrm>
            <a:off x="2628900" y="4937125"/>
            <a:ext cx="647700" cy="457200"/>
          </a:xfrm>
          <a:prstGeom prst="rect">
            <a:avLst/>
          </a:prstGeom>
          <a:noFill/>
          <a:ln>
            <a:noFill/>
          </a:ln>
          <a:effectLst/>
        </p:spPr>
        <p:txBody>
          <a:bodyPr>
            <a:spAutoFit/>
          </a:bodyPr>
          <a:lstStyle/>
          <a:p>
            <a:pPr>
              <a:lnSpc>
                <a:spcPct val="120000"/>
              </a:lnSpc>
              <a:spcBef>
                <a:spcPct val="50000"/>
              </a:spcBef>
              <a:buSzPct val="85000"/>
              <a:defRPr/>
            </a:pPr>
            <a:r>
              <a:rPr kumimoji="1" lang="en-US" altLang="zh-CN" sz="2000">
                <a:solidFill>
                  <a:srgbClr val="CC3300"/>
                </a:solidFill>
                <a:effectLst>
                  <a:outerShdw blurRad="38100" dist="38100" dir="2700000" algn="tl">
                    <a:srgbClr val="000000"/>
                  </a:outerShdw>
                </a:effectLst>
              </a:rPr>
              <a:t>3</a:t>
            </a:r>
          </a:p>
        </p:txBody>
      </p:sp>
      <p:sp>
        <p:nvSpPr>
          <p:cNvPr id="39" name="Text Box 63">
            <a:extLst>
              <a:ext uri="{FF2B5EF4-FFF2-40B4-BE49-F238E27FC236}">
                <a16:creationId xmlns:a16="http://schemas.microsoft.com/office/drawing/2014/main" id="{E3297100-8773-4BF1-AF0D-E5A1D4370564}"/>
              </a:ext>
            </a:extLst>
          </p:cNvPr>
          <p:cNvSpPr txBox="1">
            <a:spLocks noChangeArrowheads="1"/>
          </p:cNvSpPr>
          <p:nvPr/>
        </p:nvSpPr>
        <p:spPr bwMode="auto">
          <a:xfrm>
            <a:off x="3848100" y="4335463"/>
            <a:ext cx="6477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2400">
                <a:solidFill>
                  <a:schemeClr val="bg2"/>
                </a:solidFill>
              </a:rPr>
              <a:t>×</a:t>
            </a:r>
          </a:p>
        </p:txBody>
      </p:sp>
      <p:sp>
        <p:nvSpPr>
          <p:cNvPr id="40" name="Text Box 64">
            <a:extLst>
              <a:ext uri="{FF2B5EF4-FFF2-40B4-BE49-F238E27FC236}">
                <a16:creationId xmlns:a16="http://schemas.microsoft.com/office/drawing/2014/main" id="{F06CEAD8-7E1F-4402-AB77-33A455BC3047}"/>
              </a:ext>
            </a:extLst>
          </p:cNvPr>
          <p:cNvSpPr txBox="1">
            <a:spLocks noChangeArrowheads="1"/>
          </p:cNvSpPr>
          <p:nvPr/>
        </p:nvSpPr>
        <p:spPr bwMode="auto">
          <a:xfrm>
            <a:off x="5030788" y="4389438"/>
            <a:ext cx="647700" cy="457200"/>
          </a:xfrm>
          <a:prstGeom prst="rect">
            <a:avLst/>
          </a:prstGeom>
          <a:noFill/>
          <a:ln>
            <a:noFill/>
          </a:ln>
          <a:effectLst/>
        </p:spPr>
        <p:txBody>
          <a:bodyPr>
            <a:spAutoFit/>
          </a:bodyPr>
          <a:lstStyle/>
          <a:p>
            <a:pPr>
              <a:lnSpc>
                <a:spcPct val="120000"/>
              </a:lnSpc>
              <a:spcBef>
                <a:spcPct val="50000"/>
              </a:spcBef>
              <a:buSzPct val="85000"/>
              <a:defRPr/>
            </a:pPr>
            <a:r>
              <a:rPr kumimoji="1" lang="en-US" altLang="zh-CN" sz="2000">
                <a:solidFill>
                  <a:srgbClr val="CC3300"/>
                </a:solidFill>
                <a:effectLst>
                  <a:outerShdw blurRad="38100" dist="38100" dir="2700000" algn="tl">
                    <a:srgbClr val="000000"/>
                  </a:outerShdw>
                </a:effectLst>
              </a:rPr>
              <a:t>4</a:t>
            </a:r>
          </a:p>
        </p:txBody>
      </p:sp>
      <p:sp>
        <p:nvSpPr>
          <p:cNvPr id="41" name="Text Box 67">
            <a:extLst>
              <a:ext uri="{FF2B5EF4-FFF2-40B4-BE49-F238E27FC236}">
                <a16:creationId xmlns:a16="http://schemas.microsoft.com/office/drawing/2014/main" id="{A5965DE9-7268-4908-88C3-E92264F82012}"/>
              </a:ext>
            </a:extLst>
          </p:cNvPr>
          <p:cNvSpPr txBox="1">
            <a:spLocks noChangeArrowheads="1"/>
          </p:cNvSpPr>
          <p:nvPr/>
        </p:nvSpPr>
        <p:spPr bwMode="auto">
          <a:xfrm>
            <a:off x="5030788" y="3779838"/>
            <a:ext cx="647700" cy="457200"/>
          </a:xfrm>
          <a:prstGeom prst="rect">
            <a:avLst/>
          </a:prstGeom>
          <a:noFill/>
          <a:ln>
            <a:noFill/>
          </a:ln>
          <a:effectLst/>
        </p:spPr>
        <p:txBody>
          <a:bodyPr>
            <a:spAutoFit/>
          </a:bodyPr>
          <a:lstStyle/>
          <a:p>
            <a:pPr>
              <a:lnSpc>
                <a:spcPct val="120000"/>
              </a:lnSpc>
              <a:spcBef>
                <a:spcPct val="50000"/>
              </a:spcBef>
              <a:buSzPct val="85000"/>
              <a:defRPr/>
            </a:pPr>
            <a:r>
              <a:rPr kumimoji="1" lang="en-US" altLang="zh-CN" sz="2000">
                <a:solidFill>
                  <a:srgbClr val="CC3300"/>
                </a:solidFill>
                <a:effectLst>
                  <a:outerShdw blurRad="38100" dist="38100" dir="2700000" algn="tl">
                    <a:srgbClr val="000000"/>
                  </a:outerShdw>
                </a:effectLst>
              </a:rPr>
              <a:t>1</a:t>
            </a:r>
          </a:p>
        </p:txBody>
      </p:sp>
      <p:sp>
        <p:nvSpPr>
          <p:cNvPr id="42" name="Text Box 68">
            <a:extLst>
              <a:ext uri="{FF2B5EF4-FFF2-40B4-BE49-F238E27FC236}">
                <a16:creationId xmlns:a16="http://schemas.microsoft.com/office/drawing/2014/main" id="{B9B57BC0-D27F-4C90-AE1B-3740B14E7357}"/>
              </a:ext>
            </a:extLst>
          </p:cNvPr>
          <p:cNvSpPr txBox="1">
            <a:spLocks noChangeArrowheads="1"/>
          </p:cNvSpPr>
          <p:nvPr/>
        </p:nvSpPr>
        <p:spPr bwMode="auto">
          <a:xfrm>
            <a:off x="6286500" y="3733800"/>
            <a:ext cx="647700" cy="457200"/>
          </a:xfrm>
          <a:prstGeom prst="rect">
            <a:avLst/>
          </a:prstGeom>
          <a:noFill/>
          <a:ln>
            <a:noFill/>
          </a:ln>
          <a:effectLst/>
        </p:spPr>
        <p:txBody>
          <a:bodyPr>
            <a:spAutoFit/>
          </a:bodyPr>
          <a:lstStyle/>
          <a:p>
            <a:pPr>
              <a:lnSpc>
                <a:spcPct val="120000"/>
              </a:lnSpc>
              <a:spcBef>
                <a:spcPct val="50000"/>
              </a:spcBef>
              <a:buSzPct val="85000"/>
              <a:defRPr/>
            </a:pPr>
            <a:r>
              <a:rPr kumimoji="1" lang="en-US" altLang="zh-CN" sz="2000">
                <a:solidFill>
                  <a:srgbClr val="CC3300"/>
                </a:solidFill>
                <a:effectLst>
                  <a:outerShdw blurRad="38100" dist="38100" dir="2700000" algn="tl">
                    <a:srgbClr val="000000"/>
                  </a:outerShdw>
                </a:effectLst>
              </a:rPr>
              <a:t>6</a:t>
            </a:r>
          </a:p>
        </p:txBody>
      </p:sp>
      <p:sp>
        <p:nvSpPr>
          <p:cNvPr id="43" name="Text Box 69">
            <a:extLst>
              <a:ext uri="{FF2B5EF4-FFF2-40B4-BE49-F238E27FC236}">
                <a16:creationId xmlns:a16="http://schemas.microsoft.com/office/drawing/2014/main" id="{062CCEAE-8EBA-45B4-878F-FBB3129BEB28}"/>
              </a:ext>
            </a:extLst>
          </p:cNvPr>
          <p:cNvSpPr txBox="1">
            <a:spLocks noChangeArrowheads="1"/>
          </p:cNvSpPr>
          <p:nvPr/>
        </p:nvSpPr>
        <p:spPr bwMode="auto">
          <a:xfrm>
            <a:off x="6286500" y="4310063"/>
            <a:ext cx="647700" cy="530225"/>
          </a:xfrm>
          <a:prstGeom prst="rect">
            <a:avLst/>
          </a:prstGeom>
          <a:noFill/>
          <a:ln>
            <a:noFill/>
          </a:ln>
          <a:effectLst/>
        </p:spPr>
        <p:txBody>
          <a:bodyPr>
            <a:spAutoFit/>
          </a:bodyPr>
          <a:lstStyle/>
          <a:p>
            <a:pPr>
              <a:lnSpc>
                <a:spcPct val="120000"/>
              </a:lnSpc>
              <a:spcBef>
                <a:spcPct val="50000"/>
              </a:spcBef>
              <a:buSzPct val="85000"/>
              <a:defRPr/>
            </a:pPr>
            <a:r>
              <a:rPr kumimoji="1" lang="en-US" altLang="zh-CN" sz="2400">
                <a:solidFill>
                  <a:schemeClr val="bg2"/>
                </a:solidFill>
                <a:effectLst>
                  <a:outerShdw blurRad="38100" dist="38100" dir="2700000" algn="tl">
                    <a:srgbClr val="000000"/>
                  </a:outerShdw>
                </a:effectLst>
              </a:rPr>
              <a:t>×</a:t>
            </a:r>
          </a:p>
        </p:txBody>
      </p:sp>
      <p:sp>
        <p:nvSpPr>
          <p:cNvPr id="44" name="Text Box 70">
            <a:extLst>
              <a:ext uri="{FF2B5EF4-FFF2-40B4-BE49-F238E27FC236}">
                <a16:creationId xmlns:a16="http://schemas.microsoft.com/office/drawing/2014/main" id="{A761A418-A472-4A11-87A1-F594E88EA2DE}"/>
              </a:ext>
            </a:extLst>
          </p:cNvPr>
          <p:cNvSpPr txBox="1">
            <a:spLocks noChangeArrowheads="1"/>
          </p:cNvSpPr>
          <p:nvPr/>
        </p:nvSpPr>
        <p:spPr bwMode="auto">
          <a:xfrm>
            <a:off x="6286500" y="4886325"/>
            <a:ext cx="6477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2400">
                <a:solidFill>
                  <a:srgbClr val="FF0000"/>
                </a:solidFill>
              </a:rPr>
              <a:t>0</a:t>
            </a:r>
          </a:p>
        </p:txBody>
      </p:sp>
      <p:sp>
        <p:nvSpPr>
          <p:cNvPr id="45" name="Text Box 71">
            <a:extLst>
              <a:ext uri="{FF2B5EF4-FFF2-40B4-BE49-F238E27FC236}">
                <a16:creationId xmlns:a16="http://schemas.microsoft.com/office/drawing/2014/main" id="{033ED2C5-8D26-4EFA-B1B6-099B8D53E012}"/>
              </a:ext>
            </a:extLst>
          </p:cNvPr>
          <p:cNvSpPr txBox="1">
            <a:spLocks noChangeArrowheads="1"/>
          </p:cNvSpPr>
          <p:nvPr/>
        </p:nvSpPr>
        <p:spPr bwMode="auto">
          <a:xfrm>
            <a:off x="3846513" y="4876800"/>
            <a:ext cx="647700" cy="457200"/>
          </a:xfrm>
          <a:prstGeom prst="rect">
            <a:avLst/>
          </a:prstGeom>
          <a:noFill/>
          <a:ln>
            <a:noFill/>
          </a:ln>
          <a:effectLst/>
        </p:spPr>
        <p:txBody>
          <a:bodyPr>
            <a:spAutoFit/>
          </a:bodyPr>
          <a:lstStyle/>
          <a:p>
            <a:pPr>
              <a:lnSpc>
                <a:spcPct val="120000"/>
              </a:lnSpc>
              <a:spcBef>
                <a:spcPct val="50000"/>
              </a:spcBef>
              <a:buSzPct val="85000"/>
              <a:defRPr/>
            </a:pPr>
            <a:r>
              <a:rPr kumimoji="1" lang="en-US" altLang="zh-CN" sz="2000">
                <a:solidFill>
                  <a:srgbClr val="CC3300"/>
                </a:solidFill>
                <a:effectLst>
                  <a:outerShdw blurRad="38100" dist="38100" dir="2700000" algn="tl">
                    <a:srgbClr val="000000"/>
                  </a:outerShdw>
                </a:effectLst>
              </a:rPr>
              <a:t>6</a:t>
            </a:r>
          </a:p>
        </p:txBody>
      </p:sp>
      <p:sp>
        <p:nvSpPr>
          <p:cNvPr id="46" name="Text Box 77">
            <a:extLst>
              <a:ext uri="{FF2B5EF4-FFF2-40B4-BE49-F238E27FC236}">
                <a16:creationId xmlns:a16="http://schemas.microsoft.com/office/drawing/2014/main" id="{65807CC3-6B52-45DC-9BBB-CFEBB927DD3B}"/>
              </a:ext>
            </a:extLst>
          </p:cNvPr>
          <p:cNvSpPr txBox="1">
            <a:spLocks noChangeArrowheads="1"/>
          </p:cNvSpPr>
          <p:nvPr/>
        </p:nvSpPr>
        <p:spPr bwMode="auto">
          <a:xfrm>
            <a:off x="2628900" y="4395788"/>
            <a:ext cx="6477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2400">
                <a:solidFill>
                  <a:schemeClr val="bg2"/>
                </a:solidFill>
              </a:rPr>
              <a:t>×</a:t>
            </a:r>
          </a:p>
        </p:txBody>
      </p:sp>
      <p:sp>
        <p:nvSpPr>
          <p:cNvPr id="47" name="Text Box 78">
            <a:extLst>
              <a:ext uri="{FF2B5EF4-FFF2-40B4-BE49-F238E27FC236}">
                <a16:creationId xmlns:a16="http://schemas.microsoft.com/office/drawing/2014/main" id="{C32BE981-2650-4CFE-8B03-4D8272FBB1D4}"/>
              </a:ext>
            </a:extLst>
          </p:cNvPr>
          <p:cNvSpPr txBox="1">
            <a:spLocks noChangeArrowheads="1"/>
          </p:cNvSpPr>
          <p:nvPr/>
        </p:nvSpPr>
        <p:spPr bwMode="auto">
          <a:xfrm>
            <a:off x="2628900" y="3810000"/>
            <a:ext cx="6477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2400">
                <a:solidFill>
                  <a:schemeClr val="bg2"/>
                </a:solidFill>
              </a:rPr>
              <a:t>×</a:t>
            </a:r>
          </a:p>
        </p:txBody>
      </p:sp>
      <p:sp>
        <p:nvSpPr>
          <p:cNvPr id="48" name="Text Box 79">
            <a:extLst>
              <a:ext uri="{FF2B5EF4-FFF2-40B4-BE49-F238E27FC236}">
                <a16:creationId xmlns:a16="http://schemas.microsoft.com/office/drawing/2014/main" id="{C9A5035C-A6D8-4976-BE90-601F74EB232B}"/>
              </a:ext>
            </a:extLst>
          </p:cNvPr>
          <p:cNvSpPr txBox="1">
            <a:spLocks noChangeArrowheads="1"/>
          </p:cNvSpPr>
          <p:nvPr/>
        </p:nvSpPr>
        <p:spPr bwMode="auto">
          <a:xfrm>
            <a:off x="5029200" y="4956175"/>
            <a:ext cx="6477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50000"/>
              </a:spcBef>
              <a:buSzPct val="85000"/>
            </a:pPr>
            <a:r>
              <a:rPr kumimoji="1" lang="en-US" altLang="zh-CN" sz="2400">
                <a:solidFill>
                  <a:schemeClr val="bg2"/>
                </a:solidFill>
              </a:rPr>
              <a:t>×</a:t>
            </a:r>
          </a:p>
        </p:txBody>
      </p:sp>
      <p:grpSp>
        <p:nvGrpSpPr>
          <p:cNvPr id="49" name="Group 83">
            <a:extLst>
              <a:ext uri="{FF2B5EF4-FFF2-40B4-BE49-F238E27FC236}">
                <a16:creationId xmlns:a16="http://schemas.microsoft.com/office/drawing/2014/main" id="{86D89722-CB84-44B6-9079-4E5C090EBFD8}"/>
              </a:ext>
            </a:extLst>
          </p:cNvPr>
          <p:cNvGrpSpPr>
            <a:grpSpLocks/>
          </p:cNvGrpSpPr>
          <p:nvPr/>
        </p:nvGrpSpPr>
        <p:grpSpPr bwMode="auto">
          <a:xfrm>
            <a:off x="3875088" y="3759200"/>
            <a:ext cx="3516312" cy="1651000"/>
            <a:chOff x="2437" y="1668"/>
            <a:chExt cx="2215" cy="1040"/>
          </a:xfrm>
        </p:grpSpPr>
        <p:sp>
          <p:nvSpPr>
            <p:cNvPr id="98380" name="Rectangle 81">
              <a:extLst>
                <a:ext uri="{FF2B5EF4-FFF2-40B4-BE49-F238E27FC236}">
                  <a16:creationId xmlns:a16="http://schemas.microsoft.com/office/drawing/2014/main" id="{4126F38C-8C9F-4619-940E-4BBE032A2CD3}"/>
                </a:ext>
              </a:extLst>
            </p:cNvPr>
            <p:cNvSpPr>
              <a:spLocks noChangeArrowheads="1"/>
            </p:cNvSpPr>
            <p:nvPr/>
          </p:nvSpPr>
          <p:spPr bwMode="auto">
            <a:xfrm>
              <a:off x="2437" y="1668"/>
              <a:ext cx="307" cy="681"/>
            </a:xfrm>
            <a:prstGeom prst="rect">
              <a:avLst/>
            </a:prstGeom>
            <a:solidFill>
              <a:srgbClr val="FF9900">
                <a:alpha val="50195"/>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98381" name="Rectangle 82">
              <a:extLst>
                <a:ext uri="{FF2B5EF4-FFF2-40B4-BE49-F238E27FC236}">
                  <a16:creationId xmlns:a16="http://schemas.microsoft.com/office/drawing/2014/main" id="{95372E29-7C67-4EB1-A157-2DFF0B0173D7}"/>
                </a:ext>
              </a:extLst>
            </p:cNvPr>
            <p:cNvSpPr>
              <a:spLocks noChangeArrowheads="1"/>
            </p:cNvSpPr>
            <p:nvPr/>
          </p:nvSpPr>
          <p:spPr bwMode="auto">
            <a:xfrm>
              <a:off x="3212" y="2420"/>
              <a:ext cx="1440" cy="288"/>
            </a:xfrm>
            <a:prstGeom prst="rect">
              <a:avLst/>
            </a:prstGeom>
            <a:solidFill>
              <a:srgbClr val="FF9900">
                <a:alpha val="50195"/>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52" name="Text Box 84">
            <a:extLst>
              <a:ext uri="{FF2B5EF4-FFF2-40B4-BE49-F238E27FC236}">
                <a16:creationId xmlns:a16="http://schemas.microsoft.com/office/drawing/2014/main" id="{C08BF7A7-42C7-476B-983B-13D4D4C69E43}"/>
              </a:ext>
            </a:extLst>
          </p:cNvPr>
          <p:cNvSpPr txBox="1">
            <a:spLocks noChangeArrowheads="1"/>
          </p:cNvSpPr>
          <p:nvPr/>
        </p:nvSpPr>
        <p:spPr bwMode="auto">
          <a:xfrm>
            <a:off x="1828800" y="6208713"/>
            <a:ext cx="640080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zh-CN" altLang="en-US">
                <a:latin typeface="Times New Roman" panose="02020603050405020304" pitchFamily="18" charset="0"/>
                <a:cs typeface="Times New Roman" panose="02020603050405020304" pitchFamily="18" charset="0"/>
              </a:rPr>
              <a:t>在</a:t>
            </a:r>
            <a:r>
              <a:rPr kumimoji="1" lang="en-US" altLang="zh-CN" i="1">
                <a:latin typeface="Times New Roman" panose="02020603050405020304" pitchFamily="18" charset="0"/>
                <a:cs typeface="Times New Roman" panose="02020603050405020304" pitchFamily="18" charset="0"/>
              </a:rPr>
              <a:t>x</a:t>
            </a:r>
            <a:r>
              <a:rPr kumimoji="1" lang="en-US" altLang="zh-CN" baseline="-25000">
                <a:latin typeface="Times New Roman" panose="02020603050405020304" pitchFamily="18" charset="0"/>
                <a:cs typeface="Times New Roman" panose="02020603050405020304" pitchFamily="18" charset="0"/>
              </a:rPr>
              <a:t>12</a:t>
            </a:r>
            <a:r>
              <a:rPr kumimoji="1" lang="zh-CN" altLang="en-US">
                <a:latin typeface="Times New Roman" panose="02020603050405020304" pitchFamily="18" charset="0"/>
                <a:cs typeface="Times New Roman" panose="02020603050405020304" pitchFamily="18" charset="0"/>
              </a:rPr>
              <a:t>、</a:t>
            </a:r>
            <a:r>
              <a:rPr kumimoji="1" lang="en-US" altLang="zh-CN" i="1">
                <a:latin typeface="Times New Roman" panose="02020603050405020304" pitchFamily="18" charset="0"/>
                <a:cs typeface="Times New Roman" panose="02020603050405020304" pitchFamily="18" charset="0"/>
              </a:rPr>
              <a:t>x</a:t>
            </a:r>
            <a:r>
              <a:rPr kumimoji="1" lang="en-US" altLang="zh-CN" baseline="-25000">
                <a:latin typeface="Times New Roman" panose="02020603050405020304" pitchFamily="18" charset="0"/>
                <a:cs typeface="Times New Roman" panose="02020603050405020304" pitchFamily="18" charset="0"/>
              </a:rPr>
              <a:t>22</a:t>
            </a:r>
            <a:r>
              <a:rPr kumimoji="1" lang="zh-CN" altLang="en-US" i="1">
                <a:latin typeface="Times New Roman" panose="02020603050405020304" pitchFamily="18" charset="0"/>
                <a:cs typeface="Times New Roman" panose="02020603050405020304" pitchFamily="18" charset="0"/>
              </a:rPr>
              <a:t>、</a:t>
            </a:r>
            <a:r>
              <a:rPr kumimoji="1" lang="en-US" altLang="zh-CN" i="1">
                <a:latin typeface="Times New Roman" panose="02020603050405020304" pitchFamily="18" charset="0"/>
                <a:cs typeface="Times New Roman" panose="02020603050405020304" pitchFamily="18" charset="0"/>
              </a:rPr>
              <a:t>x</a:t>
            </a:r>
            <a:r>
              <a:rPr kumimoji="1" lang="en-US" altLang="zh-CN" baseline="-25000">
                <a:latin typeface="Times New Roman" panose="02020603050405020304" pitchFamily="18" charset="0"/>
                <a:cs typeface="Times New Roman" panose="02020603050405020304" pitchFamily="18" charset="0"/>
              </a:rPr>
              <a:t>33</a:t>
            </a:r>
            <a:r>
              <a:rPr kumimoji="1" lang="zh-CN" altLang="en-US" i="1">
                <a:latin typeface="Times New Roman" panose="02020603050405020304" pitchFamily="18" charset="0"/>
                <a:cs typeface="Times New Roman" panose="02020603050405020304" pitchFamily="18" charset="0"/>
              </a:rPr>
              <a:t>、</a:t>
            </a:r>
            <a:r>
              <a:rPr kumimoji="1" lang="en-US" altLang="zh-CN" i="1">
                <a:latin typeface="Times New Roman" panose="02020603050405020304" pitchFamily="18" charset="0"/>
                <a:cs typeface="Times New Roman" panose="02020603050405020304" pitchFamily="18" charset="0"/>
              </a:rPr>
              <a:t>x</a:t>
            </a:r>
            <a:r>
              <a:rPr kumimoji="1" lang="en-US" altLang="zh-CN" baseline="-25000">
                <a:latin typeface="Times New Roman" panose="02020603050405020304" pitchFamily="18" charset="0"/>
                <a:cs typeface="Times New Roman" panose="02020603050405020304" pitchFamily="18" charset="0"/>
              </a:rPr>
              <a:t>34</a:t>
            </a:r>
            <a:r>
              <a:rPr kumimoji="1" lang="zh-CN" altLang="en-US">
                <a:latin typeface="Times New Roman" panose="02020603050405020304" pitchFamily="18" charset="0"/>
                <a:cs typeface="Times New Roman" panose="02020603050405020304" pitchFamily="18" charset="0"/>
              </a:rPr>
              <a:t>中任选一个变量作为基变量，优先选择</a:t>
            </a:r>
            <a:r>
              <a:rPr kumimoji="1" lang="en-US" altLang="zh-CN" i="1">
                <a:latin typeface="Times New Roman" panose="02020603050405020304" pitchFamily="18" charset="0"/>
                <a:cs typeface="Times New Roman" panose="02020603050405020304" pitchFamily="18" charset="0"/>
              </a:rPr>
              <a:t>x</a:t>
            </a:r>
            <a:r>
              <a:rPr kumimoji="1" lang="en-US" altLang="zh-CN" baseline="-25000">
                <a:latin typeface="Times New Roman" panose="02020603050405020304" pitchFamily="18" charset="0"/>
                <a:cs typeface="Times New Roman" panose="02020603050405020304" pitchFamily="18" charset="0"/>
              </a:rPr>
              <a:t>34</a:t>
            </a:r>
          </a:p>
        </p:txBody>
      </p:sp>
      <p:sp>
        <p:nvSpPr>
          <p:cNvPr id="98379" name="Rectangle 85">
            <a:extLst>
              <a:ext uri="{FF2B5EF4-FFF2-40B4-BE49-F238E27FC236}">
                <a16:creationId xmlns:a16="http://schemas.microsoft.com/office/drawing/2014/main" id="{77F3FC3C-C970-47E8-919B-7E242E8B6032}"/>
              </a:ext>
            </a:extLst>
          </p:cNvPr>
          <p:cNvSpPr>
            <a:spLocks noChangeArrowheads="1"/>
          </p:cNvSpPr>
          <p:nvPr/>
        </p:nvSpPr>
        <p:spPr bwMode="auto">
          <a:xfrm>
            <a:off x="104775" y="3398838"/>
            <a:ext cx="1174750" cy="1420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20000"/>
              </a:lnSpc>
              <a:spcBef>
                <a:spcPct val="20000"/>
              </a:spcBef>
              <a:buSzPct val="85000"/>
            </a:pPr>
            <a:r>
              <a:rPr kumimoji="1" lang="zh-CN" altLang="en-US"/>
              <a:t>例：用最小元素法求初始可行解</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8963">
                                            <p:txEl>
                                              <p:pRg st="0" end="0"/>
                                            </p:txEl>
                                          </p:spTgt>
                                        </p:tgtEl>
                                        <p:attrNameLst>
                                          <p:attrName>style.visibility</p:attrName>
                                        </p:attrNameLst>
                                      </p:cBhvr>
                                      <p:to>
                                        <p:strVal val="visible"/>
                                      </p:to>
                                    </p:set>
                                    <p:animEffect transition="in" filter="blinds(horizontal)">
                                      <p:cBhvr>
                                        <p:cTn id="7" dur="500"/>
                                        <p:tgtEl>
                                          <p:spTgt spid="16896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68963">
                                            <p:txEl>
                                              <p:pRg st="1" end="1"/>
                                            </p:txEl>
                                          </p:spTgt>
                                        </p:tgtEl>
                                        <p:attrNameLst>
                                          <p:attrName>style.visibility</p:attrName>
                                        </p:attrNameLst>
                                      </p:cBhvr>
                                      <p:to>
                                        <p:strVal val="visible"/>
                                      </p:to>
                                    </p:set>
                                    <p:animEffect transition="in" filter="blinds(horizontal)">
                                      <p:cBhvr>
                                        <p:cTn id="12" dur="500"/>
                                        <p:tgtEl>
                                          <p:spTgt spid="16896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68963">
                                            <p:txEl>
                                              <p:pRg st="2" end="2"/>
                                            </p:txEl>
                                          </p:spTgt>
                                        </p:tgtEl>
                                        <p:attrNameLst>
                                          <p:attrName>style.visibility</p:attrName>
                                        </p:attrNameLst>
                                      </p:cBhvr>
                                      <p:to>
                                        <p:strVal val="visible"/>
                                      </p:to>
                                    </p:set>
                                    <p:animEffect transition="in" filter="blinds(horizontal)">
                                      <p:cBhvr>
                                        <p:cTn id="17" dur="500"/>
                                        <p:tgtEl>
                                          <p:spTgt spid="16896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ipe(down)">
                                      <p:cBhvr>
                                        <p:cTn id="22" dur="500"/>
                                        <p:tgtEl>
                                          <p:spTgt spid="3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46"/>
                                        </p:tgtEl>
                                        <p:attrNameLst>
                                          <p:attrName>style.visibility</p:attrName>
                                        </p:attrNameLst>
                                      </p:cBhvr>
                                      <p:to>
                                        <p:strVal val="visible"/>
                                      </p:to>
                                    </p:set>
                                    <p:animEffect transition="in" filter="wipe(down)">
                                      <p:cBhvr>
                                        <p:cTn id="27" dur="500"/>
                                        <p:tgtEl>
                                          <p:spTgt spid="4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wipe(down)">
                                      <p:cBhvr>
                                        <p:cTn id="32" dur="500"/>
                                        <p:tgtEl>
                                          <p:spTgt spid="4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wipe(down)">
                                      <p:cBhvr>
                                        <p:cTn id="37" dur="500"/>
                                        <p:tgtEl>
                                          <p:spTgt spid="4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1" presetClass="entr" presetSubtype="0" fill="hold" nodeType="clickEffect">
                                  <p:stCondLst>
                                    <p:cond delay="0"/>
                                  </p:stCondLst>
                                  <p:iterate type="lt">
                                    <p:tmPct val="5000"/>
                                  </p:iterate>
                                  <p:childTnLst>
                                    <p:set>
                                      <p:cBhvr>
                                        <p:cTn id="41" dur="1" fill="hold">
                                          <p:stCondLst>
                                            <p:cond delay="0"/>
                                          </p:stCondLst>
                                        </p:cTn>
                                        <p:tgtEl>
                                          <p:spTgt spid="49"/>
                                        </p:tgtEl>
                                        <p:attrNameLst>
                                          <p:attrName>style.visibility</p:attrName>
                                        </p:attrNameLst>
                                      </p:cBhvr>
                                      <p:to>
                                        <p:strVal val="visible"/>
                                      </p:to>
                                    </p:set>
                                    <p:anim calcmode="lin" valueType="num">
                                      <p:cBhvr>
                                        <p:cTn id="42" dur="1000" fill="hold"/>
                                        <p:tgtEl>
                                          <p:spTgt spid="49"/>
                                        </p:tgtEl>
                                        <p:attrNameLst>
                                          <p:attrName>ppt_w</p:attrName>
                                        </p:attrNameLst>
                                      </p:cBhvr>
                                      <p:tavLst>
                                        <p:tav tm="0">
                                          <p:val>
                                            <p:fltVal val="0"/>
                                          </p:val>
                                        </p:tav>
                                        <p:tav tm="100000">
                                          <p:val>
                                            <p:strVal val="#ppt_w"/>
                                          </p:val>
                                        </p:tav>
                                      </p:tavLst>
                                    </p:anim>
                                    <p:anim calcmode="lin" valueType="num">
                                      <p:cBhvr>
                                        <p:cTn id="43" dur="1000" fill="hold"/>
                                        <p:tgtEl>
                                          <p:spTgt spid="49"/>
                                        </p:tgtEl>
                                        <p:attrNameLst>
                                          <p:attrName>ppt_h</p:attrName>
                                        </p:attrNameLst>
                                      </p:cBhvr>
                                      <p:tavLst>
                                        <p:tav tm="0">
                                          <p:val>
                                            <p:fltVal val="0"/>
                                          </p:val>
                                        </p:tav>
                                        <p:tav tm="100000">
                                          <p:val>
                                            <p:strVal val="#ppt_h"/>
                                          </p:val>
                                        </p:tav>
                                      </p:tavLst>
                                    </p:anim>
                                    <p:anim calcmode="lin" valueType="num">
                                      <p:cBhvr>
                                        <p:cTn id="44" dur="1000" fill="hold"/>
                                        <p:tgtEl>
                                          <p:spTgt spid="49"/>
                                        </p:tgtEl>
                                        <p:attrNameLst>
                                          <p:attrName>style.rotation</p:attrName>
                                        </p:attrNameLst>
                                      </p:cBhvr>
                                      <p:tavLst>
                                        <p:tav tm="0">
                                          <p:val>
                                            <p:fltVal val="90"/>
                                          </p:val>
                                        </p:tav>
                                        <p:tav tm="100000">
                                          <p:val>
                                            <p:fltVal val="0"/>
                                          </p:val>
                                        </p:tav>
                                      </p:tavLst>
                                    </p:anim>
                                    <p:animEffect transition="in" filter="fade">
                                      <p:cBhvr>
                                        <p:cTn id="45" dur="1000"/>
                                        <p:tgtEl>
                                          <p:spTgt spid="49"/>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52"/>
                                        </p:tgtEl>
                                        <p:attrNameLst>
                                          <p:attrName>style.visibility</p:attrName>
                                        </p:attrNameLst>
                                      </p:cBhvr>
                                      <p:to>
                                        <p:strVal val="visible"/>
                                      </p:to>
                                    </p:set>
                                    <p:animEffect transition="in" filter="blinds(horizontal)">
                                      <p:cBhvr>
                                        <p:cTn id="50" dur="500"/>
                                        <p:tgtEl>
                                          <p:spTgt spid="52"/>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4" fill="hold" grpId="0" nodeType="click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wipe(down)">
                                      <p:cBhvr>
                                        <p:cTn id="55" dur="500"/>
                                        <p:tgtEl>
                                          <p:spTgt spid="4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3" presetClass="entr" presetSubtype="10" fill="hold" grpId="0"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blinds(horizontal)">
                                      <p:cBhvr>
                                        <p:cTn id="60" dur="500"/>
                                        <p:tgtEl>
                                          <p:spTgt spid="48"/>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3" presetClass="entr" presetSubtype="10" fill="hold" grpId="0"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blinds(horizontal)">
                                      <p:cBhvr>
                                        <p:cTn id="65" dur="500"/>
                                        <p:tgtEl>
                                          <p:spTgt spid="39"/>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3" presetClass="entr" presetSubtype="10" fill="hold" grpId="0" nodeType="click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blinds(horizontal)">
                                      <p:cBhvr>
                                        <p:cTn id="70" dur="500"/>
                                        <p:tgtEl>
                                          <p:spTgt spid="35"/>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 presetClass="entr" presetSubtype="10" fill="hold" grpId="0" nodeType="clickEffect">
                                  <p:stCondLst>
                                    <p:cond delay="0"/>
                                  </p:stCondLst>
                                  <p:childTnLst>
                                    <p:set>
                                      <p:cBhvr>
                                        <p:cTn id="74" dur="1" fill="hold">
                                          <p:stCondLst>
                                            <p:cond delay="0"/>
                                          </p:stCondLst>
                                        </p:cTn>
                                        <p:tgtEl>
                                          <p:spTgt spid="40"/>
                                        </p:tgtEl>
                                        <p:attrNameLst>
                                          <p:attrName>style.visibility</p:attrName>
                                        </p:attrNameLst>
                                      </p:cBhvr>
                                      <p:to>
                                        <p:strVal val="visible"/>
                                      </p:to>
                                    </p:set>
                                    <p:animEffect transition="in" filter="blinds(horizontal)">
                                      <p:cBhvr>
                                        <p:cTn id="75" dur="500"/>
                                        <p:tgtEl>
                                          <p:spTgt spid="40"/>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4" fill="hold" grpId="0" nodeType="clickEffect">
                                  <p:stCondLst>
                                    <p:cond delay="0"/>
                                  </p:stCondLst>
                                  <p:childTnLst>
                                    <p:set>
                                      <p:cBhvr>
                                        <p:cTn id="79" dur="1" fill="hold">
                                          <p:stCondLst>
                                            <p:cond delay="0"/>
                                          </p:stCondLst>
                                        </p:cTn>
                                        <p:tgtEl>
                                          <p:spTgt spid="43"/>
                                        </p:tgtEl>
                                        <p:attrNameLst>
                                          <p:attrName>style.visibility</p:attrName>
                                        </p:attrNameLst>
                                      </p:cBhvr>
                                      <p:to>
                                        <p:strVal val="visible"/>
                                      </p:to>
                                    </p:set>
                                    <p:animEffect transition="in" filter="wipe(down)">
                                      <p:cBhvr>
                                        <p:cTn id="80" dur="500"/>
                                        <p:tgtEl>
                                          <p:spTgt spid="43"/>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22" presetClass="entr" presetSubtype="4" fill="hold" grpId="0" nodeType="clickEffect">
                                  <p:stCondLst>
                                    <p:cond delay="0"/>
                                  </p:stCondLst>
                                  <p:childTnLst>
                                    <p:set>
                                      <p:cBhvr>
                                        <p:cTn id="84" dur="1" fill="hold">
                                          <p:stCondLst>
                                            <p:cond delay="0"/>
                                          </p:stCondLst>
                                        </p:cTn>
                                        <p:tgtEl>
                                          <p:spTgt spid="41"/>
                                        </p:tgtEl>
                                        <p:attrNameLst>
                                          <p:attrName>style.visibility</p:attrName>
                                        </p:attrNameLst>
                                      </p:cBhvr>
                                      <p:to>
                                        <p:strVal val="visible"/>
                                      </p:to>
                                    </p:set>
                                    <p:animEffect transition="in" filter="wipe(down)">
                                      <p:cBhvr>
                                        <p:cTn id="85" dur="500"/>
                                        <p:tgtEl>
                                          <p:spTgt spid="41"/>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22" presetClass="entr" presetSubtype="4" fill="hold" grpId="0" nodeType="clickEffect">
                                  <p:stCondLst>
                                    <p:cond delay="0"/>
                                  </p:stCondLst>
                                  <p:childTnLst>
                                    <p:set>
                                      <p:cBhvr>
                                        <p:cTn id="89" dur="1" fill="hold">
                                          <p:stCondLst>
                                            <p:cond delay="0"/>
                                          </p:stCondLst>
                                        </p:cTn>
                                        <p:tgtEl>
                                          <p:spTgt spid="42"/>
                                        </p:tgtEl>
                                        <p:attrNameLst>
                                          <p:attrName>style.visibility</p:attrName>
                                        </p:attrNameLst>
                                      </p:cBhvr>
                                      <p:to>
                                        <p:strVal val="visible"/>
                                      </p:to>
                                    </p:set>
                                    <p:animEffect transition="in" filter="wipe(down)">
                                      <p:cBhvr>
                                        <p:cTn id="90"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build="p" bldLvl="3"/>
      <p:bldP spid="35" grpId="0"/>
      <p:bldP spid="38" grpId="0"/>
      <p:bldP spid="39" grpId="0"/>
      <p:bldP spid="40" grpId="0"/>
      <p:bldP spid="41" grpId="0"/>
      <p:bldP spid="42" grpId="0"/>
      <p:bldP spid="43" grpId="0"/>
      <p:bldP spid="44" grpId="0"/>
      <p:bldP spid="45" grpId="0"/>
      <p:bldP spid="46" grpId="0"/>
      <p:bldP spid="47" grpId="0"/>
      <p:bldP spid="48" grpId="0"/>
      <p:bldP spid="52"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2">
            <a:extLst>
              <a:ext uri="{FF2B5EF4-FFF2-40B4-BE49-F238E27FC236}">
                <a16:creationId xmlns:a16="http://schemas.microsoft.com/office/drawing/2014/main" id="{0436EDE3-D96F-493D-BC7A-9FF836A753E1}"/>
              </a:ext>
            </a:extLst>
          </p:cNvPr>
          <p:cNvSpPr>
            <a:spLocks noGrp="1" noChangeArrowheads="1"/>
          </p:cNvSpPr>
          <p:nvPr>
            <p:ph type="title"/>
          </p:nvPr>
        </p:nvSpPr>
        <p:spPr/>
        <p:txBody>
          <a:bodyPr/>
          <a:lstStyle/>
          <a:p>
            <a:pPr eaLnBrk="1" hangingPunct="1"/>
            <a:r>
              <a:rPr lang="zh-CN" altLang="en-US"/>
              <a:t>表上作业法计算中的问题说明</a:t>
            </a:r>
          </a:p>
        </p:txBody>
      </p:sp>
      <p:sp>
        <p:nvSpPr>
          <p:cNvPr id="99331" name="Rectangle 3">
            <a:extLst>
              <a:ext uri="{FF2B5EF4-FFF2-40B4-BE49-F238E27FC236}">
                <a16:creationId xmlns:a16="http://schemas.microsoft.com/office/drawing/2014/main" id="{EC6B4115-E574-4CE1-979D-900EF31E4B41}"/>
              </a:ext>
            </a:extLst>
          </p:cNvPr>
          <p:cNvSpPr>
            <a:spLocks noGrp="1" noChangeArrowheads="1"/>
          </p:cNvSpPr>
          <p:nvPr>
            <p:ph type="body" idx="1"/>
          </p:nvPr>
        </p:nvSpPr>
        <p:spPr>
          <a:xfrm>
            <a:off x="457200" y="914400"/>
            <a:ext cx="8229600" cy="5562600"/>
          </a:xfrm>
        </p:spPr>
        <p:txBody>
          <a:bodyPr/>
          <a:lstStyle/>
          <a:p>
            <a:pPr eaLnBrk="1" hangingPunct="1"/>
            <a:r>
              <a:rPr lang="zh-CN" altLang="en-US"/>
              <a:t>退化</a:t>
            </a:r>
          </a:p>
          <a:p>
            <a:pPr lvl="1" algn="just" eaLnBrk="1" hangingPunct="1"/>
            <a:r>
              <a:rPr lang="zh-CN" altLang="en-US" sz="3200"/>
              <a:t>在闭回路上出现两个或两个以上具有“</a:t>
            </a:r>
            <a:r>
              <a:rPr lang="en-US" altLang="zh-CN" sz="3200"/>
              <a:t>-”</a:t>
            </a:r>
            <a:r>
              <a:rPr lang="zh-CN" altLang="en-US" sz="3200"/>
              <a:t>标记的相等的最小值</a:t>
            </a:r>
          </a:p>
          <a:p>
            <a:pPr lvl="2" algn="just" eaLnBrk="1" hangingPunct="1"/>
            <a:r>
              <a:rPr lang="zh-CN" altLang="en-US" sz="2800">
                <a:latin typeface="宋体" panose="02010600030101010101" pitchFamily="2" charset="-122"/>
              </a:rPr>
              <a:t>选择其中一个作为调入格，其它格变为</a:t>
            </a:r>
            <a:r>
              <a:rPr lang="zh-CN" altLang="en-US" sz="2800"/>
              <a:t>“</a:t>
            </a:r>
            <a:r>
              <a:rPr lang="en-US" altLang="zh-CN" sz="2800"/>
              <a:t>0”</a:t>
            </a:r>
            <a:r>
              <a:rPr lang="zh-CN" altLang="en-US" sz="2800">
                <a:latin typeface="宋体" panose="02010600030101010101" pitchFamily="2" charset="-122"/>
              </a:rPr>
              <a:t>时要填入数字</a:t>
            </a:r>
            <a:r>
              <a:rPr lang="en-US" altLang="zh-CN" sz="2800"/>
              <a:t>0</a:t>
            </a:r>
            <a:r>
              <a:rPr lang="zh-CN" altLang="en-US" sz="2800">
                <a:latin typeface="宋体" panose="02010600030101010101" pitchFamily="2" charset="-122"/>
              </a:rPr>
              <a:t>，表示它是基变量</a:t>
            </a:r>
          </a:p>
          <a:p>
            <a:pPr lvl="1" algn="just" eaLnBrk="1" hangingPunct="1"/>
            <a:r>
              <a:rPr lang="zh-CN" altLang="en-US" sz="3200"/>
              <a:t>初始解退化，如果未能补足基变量的个数。因此在位势法中多次令某个 </a:t>
            </a:r>
            <a:r>
              <a:rPr lang="en-US" altLang="zh-CN" sz="3200" i="1">
                <a:latin typeface="Times New Roman" panose="02020603050405020304" pitchFamily="18" charset="0"/>
              </a:rPr>
              <a:t>u</a:t>
            </a:r>
            <a:r>
              <a:rPr lang="en-US" altLang="zh-CN" sz="3200" i="1" baseline="-25000">
                <a:latin typeface="Times New Roman" panose="02020603050405020304" pitchFamily="18" charset="0"/>
              </a:rPr>
              <a:t>i</a:t>
            </a:r>
            <a:r>
              <a:rPr lang="en-US" altLang="zh-CN" sz="3200" i="1">
                <a:latin typeface="Times New Roman" panose="02020603050405020304" pitchFamily="18" charset="0"/>
              </a:rPr>
              <a:t> </a:t>
            </a:r>
            <a:r>
              <a:rPr lang="zh-CN" altLang="en-US" sz="3200">
                <a:latin typeface="Times New Roman" panose="02020603050405020304" pitchFamily="18" charset="0"/>
              </a:rPr>
              <a:t>或 </a:t>
            </a:r>
            <a:r>
              <a:rPr lang="en-US" altLang="zh-CN" sz="3200" i="1">
                <a:latin typeface="Times New Roman" panose="02020603050405020304" pitchFamily="18" charset="0"/>
              </a:rPr>
              <a:t>v</a:t>
            </a:r>
            <a:r>
              <a:rPr lang="en-US" altLang="zh-CN" sz="3200" i="1" baseline="-25000">
                <a:latin typeface="Times New Roman" panose="02020603050405020304" pitchFamily="18" charset="0"/>
              </a:rPr>
              <a:t>j</a:t>
            </a:r>
            <a:r>
              <a:rPr lang="en-US" altLang="zh-CN" sz="3200" i="1">
                <a:latin typeface="Times New Roman" panose="02020603050405020304" pitchFamily="18" charset="0"/>
              </a:rPr>
              <a:t> </a:t>
            </a:r>
            <a:r>
              <a:rPr lang="zh-CN" altLang="en-US" sz="3200">
                <a:latin typeface="Times New Roman" panose="02020603050405020304" pitchFamily="18" charset="0"/>
              </a:rPr>
              <a:t>为 </a:t>
            </a:r>
            <a:r>
              <a:rPr lang="en-US" altLang="zh-CN" sz="3200">
                <a:latin typeface="Times New Roman" panose="02020603050405020304" pitchFamily="18" charset="0"/>
              </a:rPr>
              <a:t>0</a:t>
            </a:r>
          </a:p>
          <a:p>
            <a:pPr lvl="2" algn="just" eaLnBrk="1" hangingPunct="1"/>
            <a:r>
              <a:rPr lang="zh-CN" altLang="en-US" sz="2800">
                <a:latin typeface="Times New Roman" panose="02020603050405020304" pitchFamily="18" charset="0"/>
              </a:rPr>
              <a:t>在位势法中只能令一个 </a:t>
            </a:r>
            <a:r>
              <a:rPr lang="en-US" altLang="zh-CN" sz="2800" i="1">
                <a:latin typeface="Times New Roman" panose="02020603050405020304" pitchFamily="18" charset="0"/>
              </a:rPr>
              <a:t>u</a:t>
            </a:r>
            <a:r>
              <a:rPr lang="en-US" altLang="zh-CN" sz="2800" i="1" baseline="-25000">
                <a:latin typeface="Times New Roman" panose="02020603050405020304" pitchFamily="18" charset="0"/>
              </a:rPr>
              <a:t>i </a:t>
            </a:r>
            <a:r>
              <a:rPr lang="zh-CN" altLang="en-US" sz="2800">
                <a:latin typeface="Times New Roman" panose="02020603050405020304" pitchFamily="18" charset="0"/>
              </a:rPr>
              <a:t>或 </a:t>
            </a:r>
            <a:r>
              <a:rPr lang="en-US" altLang="zh-CN" sz="2800" i="1">
                <a:latin typeface="Times New Roman" panose="02020603050405020304" pitchFamily="18" charset="0"/>
              </a:rPr>
              <a:t>v</a:t>
            </a:r>
            <a:r>
              <a:rPr lang="en-US" altLang="zh-CN" sz="2800" i="1" baseline="-25000">
                <a:latin typeface="Times New Roman" panose="02020603050405020304" pitchFamily="18" charset="0"/>
              </a:rPr>
              <a:t>j </a:t>
            </a:r>
            <a:r>
              <a:rPr lang="zh-CN" altLang="en-US" sz="2800">
                <a:latin typeface="Times New Roman" panose="02020603050405020304" pitchFamily="18" charset="0"/>
              </a:rPr>
              <a:t>为 </a:t>
            </a:r>
            <a:r>
              <a:rPr lang="en-US" altLang="zh-CN" sz="2800">
                <a:latin typeface="Times New Roman" panose="02020603050405020304" pitchFamily="18" charset="0"/>
              </a:rPr>
              <a:t>0</a:t>
            </a:r>
            <a:r>
              <a:rPr lang="zh-CN" altLang="en-US" sz="2800">
                <a:latin typeface="Times New Roman" panose="02020603050405020304" pitchFamily="18" charset="0"/>
              </a:rPr>
              <a:t>；若不能求出全部 </a:t>
            </a:r>
            <a:r>
              <a:rPr lang="en-US" altLang="zh-CN" sz="2800" i="1">
                <a:latin typeface="Times New Roman" panose="02020603050405020304" pitchFamily="18" charset="0"/>
              </a:rPr>
              <a:t>u</a:t>
            </a:r>
            <a:r>
              <a:rPr lang="en-US" altLang="zh-CN" sz="2800" i="1" baseline="-25000">
                <a:latin typeface="Times New Roman" panose="02020603050405020304" pitchFamily="18" charset="0"/>
              </a:rPr>
              <a:t>i</a:t>
            </a:r>
            <a:r>
              <a:rPr lang="zh-CN" altLang="en-US" sz="2800">
                <a:latin typeface="Times New Roman" panose="02020603050405020304" pitchFamily="18" charset="0"/>
              </a:rPr>
              <a:t>和 </a:t>
            </a:r>
            <a:r>
              <a:rPr lang="en-US" altLang="zh-CN" sz="2800" i="1">
                <a:latin typeface="Times New Roman" panose="02020603050405020304" pitchFamily="18" charset="0"/>
              </a:rPr>
              <a:t>v</a:t>
            </a:r>
            <a:r>
              <a:rPr lang="en-US" altLang="zh-CN" sz="2800" i="1" baseline="-25000">
                <a:latin typeface="Times New Roman" panose="02020603050405020304" pitchFamily="18" charset="0"/>
              </a:rPr>
              <a:t>j </a:t>
            </a:r>
            <a:r>
              <a:rPr lang="zh-CN" altLang="en-US" sz="2800"/>
              <a:t>，说明基变量未选够数目或未选对</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a:extLst>
              <a:ext uri="{FF2B5EF4-FFF2-40B4-BE49-F238E27FC236}">
                <a16:creationId xmlns:a16="http://schemas.microsoft.com/office/drawing/2014/main" id="{4392EBD4-39F8-4833-87A2-F2B5C41A36AC}"/>
              </a:ext>
            </a:extLst>
          </p:cNvPr>
          <p:cNvSpPr>
            <a:spLocks noGrp="1" noChangeArrowheads="1"/>
          </p:cNvSpPr>
          <p:nvPr>
            <p:ph type="title"/>
          </p:nvPr>
        </p:nvSpPr>
        <p:spPr/>
        <p:txBody>
          <a:bodyPr/>
          <a:lstStyle/>
          <a:p>
            <a:pPr eaLnBrk="1" hangingPunct="1"/>
            <a:r>
              <a:rPr lang="zh-CN" altLang="en-US"/>
              <a:t>表上作业法</a:t>
            </a:r>
            <a:r>
              <a:rPr lang="en-US" altLang="zh-CN"/>
              <a:t>VS</a:t>
            </a:r>
            <a:r>
              <a:rPr lang="zh-CN" altLang="en-US"/>
              <a:t>单纯形法</a:t>
            </a:r>
          </a:p>
        </p:txBody>
      </p:sp>
      <p:sp>
        <p:nvSpPr>
          <p:cNvPr id="100355" name="Text Box 4">
            <a:extLst>
              <a:ext uri="{FF2B5EF4-FFF2-40B4-BE49-F238E27FC236}">
                <a16:creationId xmlns:a16="http://schemas.microsoft.com/office/drawing/2014/main" id="{631FC5D3-FDFE-4423-938A-226FBE19D4B4}"/>
              </a:ext>
            </a:extLst>
          </p:cNvPr>
          <p:cNvSpPr txBox="1">
            <a:spLocks noChangeArrowheads="1"/>
          </p:cNvSpPr>
          <p:nvPr/>
        </p:nvSpPr>
        <p:spPr bwMode="auto">
          <a:xfrm>
            <a:off x="152400" y="2828925"/>
            <a:ext cx="381000" cy="1200150"/>
          </a:xfrm>
          <a:prstGeom prst="rect">
            <a:avLst/>
          </a:prstGeom>
          <a:solidFill>
            <a:srgbClr val="FF0000"/>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solidFill>
                  <a:schemeClr val="bg1"/>
                </a:solidFill>
                <a:latin typeface="Times New Roman" panose="02020603050405020304" pitchFamily="18" charset="0"/>
                <a:ea typeface="华文细黑" panose="02010600040101010101" pitchFamily="2" charset="-122"/>
              </a:rPr>
              <a:t>单纯形法</a:t>
            </a:r>
          </a:p>
        </p:txBody>
      </p:sp>
      <p:sp>
        <p:nvSpPr>
          <p:cNvPr id="100356" name="Text Box 4">
            <a:extLst>
              <a:ext uri="{FF2B5EF4-FFF2-40B4-BE49-F238E27FC236}">
                <a16:creationId xmlns:a16="http://schemas.microsoft.com/office/drawing/2014/main" id="{8C732F27-7A50-4A47-BC44-78F152494ECE}"/>
              </a:ext>
            </a:extLst>
          </p:cNvPr>
          <p:cNvSpPr txBox="1">
            <a:spLocks noChangeArrowheads="1"/>
          </p:cNvSpPr>
          <p:nvPr/>
        </p:nvSpPr>
        <p:spPr bwMode="auto">
          <a:xfrm>
            <a:off x="8256588" y="2708275"/>
            <a:ext cx="381000" cy="1476375"/>
          </a:xfrm>
          <a:prstGeom prst="rect">
            <a:avLst/>
          </a:prstGeom>
          <a:solidFill>
            <a:srgbClr val="FF0000"/>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solidFill>
                  <a:schemeClr val="bg1"/>
                </a:solidFill>
                <a:latin typeface="Times New Roman" panose="02020603050405020304" pitchFamily="18" charset="0"/>
                <a:ea typeface="华文细黑" panose="02010600040101010101" pitchFamily="2" charset="-122"/>
              </a:rPr>
              <a:t>表上作业法</a:t>
            </a:r>
          </a:p>
        </p:txBody>
      </p:sp>
      <p:grpSp>
        <p:nvGrpSpPr>
          <p:cNvPr id="2" name="组合 1">
            <a:extLst>
              <a:ext uri="{FF2B5EF4-FFF2-40B4-BE49-F238E27FC236}">
                <a16:creationId xmlns:a16="http://schemas.microsoft.com/office/drawing/2014/main" id="{FE0D5083-5CEC-439E-B853-59A89B7334C4}"/>
              </a:ext>
            </a:extLst>
          </p:cNvPr>
          <p:cNvGrpSpPr>
            <a:grpSpLocks/>
          </p:cNvGrpSpPr>
          <p:nvPr/>
        </p:nvGrpSpPr>
        <p:grpSpPr bwMode="auto">
          <a:xfrm>
            <a:off x="685800" y="838200"/>
            <a:ext cx="7265988" cy="923925"/>
            <a:chOff x="685800" y="838200"/>
            <a:chExt cx="7266590" cy="923330"/>
          </a:xfrm>
        </p:grpSpPr>
        <p:sp>
          <p:nvSpPr>
            <p:cNvPr id="4" name="Text Box 4">
              <a:extLst>
                <a:ext uri="{FF2B5EF4-FFF2-40B4-BE49-F238E27FC236}">
                  <a16:creationId xmlns:a16="http://schemas.microsoft.com/office/drawing/2014/main" id="{4FE54AE6-8178-4346-8F96-C41E17F0235E}"/>
                </a:ext>
              </a:extLst>
            </p:cNvPr>
            <p:cNvSpPr txBox="1">
              <a:spLocks noChangeArrowheads="1"/>
            </p:cNvSpPr>
            <p:nvPr/>
          </p:nvSpPr>
          <p:spPr bwMode="auto">
            <a:xfrm>
              <a:off x="685800" y="838200"/>
              <a:ext cx="3048253" cy="923330"/>
            </a:xfrm>
            <a:prstGeom prst="rect">
              <a:avLst/>
            </a:prstGeom>
            <a:solidFill>
              <a:schemeClr val="tx2">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(max)</a:t>
              </a:r>
              <a:r>
                <a:rPr kumimoji="1" lang="zh-CN" altLang="en-US" sz="1800" dirty="0">
                  <a:latin typeface="Times New Roman" panose="02020603050405020304" pitchFamily="18" charset="0"/>
                  <a:ea typeface="华文细黑" panose="02010600040101010101" pitchFamily="2" charset="-122"/>
                </a:rPr>
                <a:t>初始单纯形表：通过</a:t>
              </a:r>
              <a:r>
                <a:rPr kumimoji="1" lang="zh-CN" altLang="en-US" sz="1800" dirty="0">
                  <a:solidFill>
                    <a:srgbClr val="FF0000"/>
                  </a:solidFill>
                  <a:latin typeface="Times New Roman" panose="02020603050405020304" pitchFamily="18" charset="0"/>
                  <a:ea typeface="华文细黑" panose="02010600040101010101" pitchFamily="2" charset="-122"/>
                </a:rPr>
                <a:t>加入松弛变量</a:t>
              </a:r>
              <a:r>
                <a:rPr kumimoji="1" lang="zh-CN" altLang="en-US" sz="1800" dirty="0">
                  <a:latin typeface="Times New Roman" panose="02020603050405020304" pitchFamily="18" charset="0"/>
                  <a:ea typeface="华文细黑" panose="02010600040101010101" pitchFamily="2" charset="-122"/>
                </a:rPr>
                <a:t>，确定初始基可行解</a:t>
              </a:r>
            </a:p>
          </p:txBody>
        </p:sp>
        <p:sp>
          <p:nvSpPr>
            <p:cNvPr id="13" name="Text Box 4">
              <a:extLst>
                <a:ext uri="{FF2B5EF4-FFF2-40B4-BE49-F238E27FC236}">
                  <a16:creationId xmlns:a16="http://schemas.microsoft.com/office/drawing/2014/main" id="{449D8CB9-03C6-4D9E-A0EE-68670A5270D8}"/>
                </a:ext>
              </a:extLst>
            </p:cNvPr>
            <p:cNvSpPr txBox="1">
              <a:spLocks noChangeArrowheads="1"/>
            </p:cNvSpPr>
            <p:nvPr/>
          </p:nvSpPr>
          <p:spPr bwMode="auto">
            <a:xfrm>
              <a:off x="4343703" y="838200"/>
              <a:ext cx="3608687" cy="923330"/>
            </a:xfrm>
            <a:prstGeom prst="rect">
              <a:avLst/>
            </a:prstGeom>
            <a:solidFill>
              <a:schemeClr val="accent1">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zh-CN" altLang="en-US" sz="1800" dirty="0">
                  <a:latin typeface="Times New Roman" panose="02020603050405020304" pitchFamily="18" charset="0"/>
                  <a:ea typeface="华文细黑" panose="02010600040101010101" pitchFamily="2" charset="-122"/>
                </a:rPr>
                <a:t>一定是</a:t>
              </a:r>
              <a:r>
                <a:rPr kumimoji="1" lang="en-US" altLang="zh-CN" sz="1800" dirty="0">
                  <a:latin typeface="Times New Roman" panose="02020603050405020304" pitchFamily="18" charset="0"/>
                  <a:ea typeface="华文细黑" panose="02010600040101010101" pitchFamily="2" charset="-122"/>
                </a:rPr>
                <a:t>min</a:t>
              </a:r>
              <a:r>
                <a:rPr kumimoji="1" lang="zh-CN" altLang="en-US" sz="1800" dirty="0">
                  <a:latin typeface="Times New Roman" panose="02020603050405020304" pitchFamily="18" charset="0"/>
                  <a:ea typeface="华文细黑" panose="02010600040101010101" pitchFamily="2" charset="-122"/>
                </a:rPr>
                <a:t>问题，应用</a:t>
              </a:r>
              <a:r>
                <a:rPr kumimoji="1" lang="zh-CN" altLang="en-US" sz="1800" dirty="0">
                  <a:solidFill>
                    <a:srgbClr val="FF00FF"/>
                  </a:solidFill>
                  <a:latin typeface="Times New Roman" panose="02020603050405020304" pitchFamily="18" charset="0"/>
                  <a:ea typeface="华文细黑" panose="02010600040101010101" pitchFamily="2" charset="-122"/>
                </a:rPr>
                <a:t>最小元素法或</a:t>
              </a:r>
              <a:r>
                <a:rPr kumimoji="1" lang="en-US" altLang="zh-CN" sz="1800" dirty="0">
                  <a:solidFill>
                    <a:srgbClr val="FF00FF"/>
                  </a:solidFill>
                  <a:latin typeface="Times New Roman" panose="02020603050405020304" pitchFamily="18" charset="0"/>
                  <a:ea typeface="华文细黑" panose="02010600040101010101" pitchFamily="2" charset="-122"/>
                </a:rPr>
                <a:t>Vogel</a:t>
              </a:r>
              <a:r>
                <a:rPr kumimoji="1" lang="zh-CN" altLang="en-US" sz="1800" dirty="0">
                  <a:solidFill>
                    <a:srgbClr val="FF00FF"/>
                  </a:solidFill>
                  <a:latin typeface="Times New Roman" panose="02020603050405020304" pitchFamily="18" charset="0"/>
                  <a:ea typeface="华文细黑" panose="02010600040101010101" pitchFamily="2" charset="-122"/>
                </a:rPr>
                <a:t>法</a:t>
              </a:r>
              <a:r>
                <a:rPr kumimoji="1" lang="zh-CN" altLang="en-US" sz="1800" dirty="0">
                  <a:latin typeface="Times New Roman" panose="02020603050405020304" pitchFamily="18" charset="0"/>
                  <a:ea typeface="华文细黑" panose="02010600040101010101" pitchFamily="2" charset="-122"/>
                </a:rPr>
                <a:t>，确定</a:t>
              </a:r>
              <a:r>
                <a:rPr kumimoji="1" lang="en-US" altLang="zh-CN" sz="1800" i="1" dirty="0">
                  <a:latin typeface="Times New Roman" panose="02020603050405020304" pitchFamily="18" charset="0"/>
                  <a:ea typeface="华文细黑" panose="02010600040101010101" pitchFamily="2" charset="-122"/>
                </a:rPr>
                <a:t>m</a:t>
              </a:r>
              <a:r>
                <a:rPr kumimoji="1" lang="en-US" altLang="zh-CN" sz="1800" dirty="0">
                  <a:latin typeface="Times New Roman" panose="02020603050405020304" pitchFamily="18" charset="0"/>
                  <a:ea typeface="华文细黑" panose="02010600040101010101" pitchFamily="2" charset="-122"/>
                </a:rPr>
                <a:t>+</a:t>
              </a:r>
              <a:r>
                <a:rPr kumimoji="1" lang="en-US" altLang="zh-CN" sz="1800" i="1" dirty="0">
                  <a:latin typeface="Times New Roman" panose="02020603050405020304" pitchFamily="18" charset="0"/>
                  <a:ea typeface="华文细黑" panose="02010600040101010101" pitchFamily="2" charset="-122"/>
                </a:rPr>
                <a:t>n</a:t>
              </a:r>
              <a:r>
                <a:rPr kumimoji="1" lang="en-US" altLang="zh-CN" sz="1800" dirty="0">
                  <a:latin typeface="Times New Roman" panose="02020603050405020304" pitchFamily="18" charset="0"/>
                  <a:ea typeface="华文细黑" panose="02010600040101010101" pitchFamily="2" charset="-122"/>
                </a:rPr>
                <a:t>-1</a:t>
              </a:r>
              <a:r>
                <a:rPr kumimoji="1" lang="zh-CN" altLang="en-US" sz="1800" dirty="0">
                  <a:latin typeface="Times New Roman" panose="02020603050405020304" pitchFamily="18" charset="0"/>
                  <a:ea typeface="华文细黑" panose="02010600040101010101" pitchFamily="2" charset="-122"/>
                </a:rPr>
                <a:t>个基元，并做初表</a:t>
              </a:r>
            </a:p>
          </p:txBody>
        </p:sp>
        <p:sp>
          <p:nvSpPr>
            <p:cNvPr id="100380" name="Line 3">
              <a:extLst>
                <a:ext uri="{FF2B5EF4-FFF2-40B4-BE49-F238E27FC236}">
                  <a16:creationId xmlns:a16="http://schemas.microsoft.com/office/drawing/2014/main" id="{F15C58A4-CE84-430A-92BA-0AFB759DD909}"/>
                </a:ext>
              </a:extLst>
            </p:cNvPr>
            <p:cNvSpPr>
              <a:spLocks noChangeShapeType="1"/>
            </p:cNvSpPr>
            <p:nvPr/>
          </p:nvSpPr>
          <p:spPr bwMode="auto">
            <a:xfrm>
              <a:off x="3733800" y="1371600"/>
              <a:ext cx="626916" cy="0"/>
            </a:xfrm>
            <a:prstGeom prst="line">
              <a:avLst/>
            </a:prstGeom>
            <a:noFill/>
            <a:ln w="381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 name="组合 2">
            <a:extLst>
              <a:ext uri="{FF2B5EF4-FFF2-40B4-BE49-F238E27FC236}">
                <a16:creationId xmlns:a16="http://schemas.microsoft.com/office/drawing/2014/main" id="{DB0BDDE5-F03F-470A-807D-D33FD523A2EC}"/>
              </a:ext>
            </a:extLst>
          </p:cNvPr>
          <p:cNvGrpSpPr>
            <a:grpSpLocks/>
          </p:cNvGrpSpPr>
          <p:nvPr/>
        </p:nvGrpSpPr>
        <p:grpSpPr bwMode="auto">
          <a:xfrm>
            <a:off x="696913" y="1828800"/>
            <a:ext cx="7254875" cy="923925"/>
            <a:chOff x="696310" y="1828800"/>
            <a:chExt cx="7256080" cy="923330"/>
          </a:xfrm>
        </p:grpSpPr>
        <p:sp>
          <p:nvSpPr>
            <p:cNvPr id="5" name="Text Box 4">
              <a:extLst>
                <a:ext uri="{FF2B5EF4-FFF2-40B4-BE49-F238E27FC236}">
                  <a16:creationId xmlns:a16="http://schemas.microsoft.com/office/drawing/2014/main" id="{291BDE92-B0B4-48A6-A2C1-DD2626DA8F5B}"/>
                </a:ext>
              </a:extLst>
            </p:cNvPr>
            <p:cNvSpPr txBox="1">
              <a:spLocks noChangeArrowheads="1"/>
            </p:cNvSpPr>
            <p:nvPr/>
          </p:nvSpPr>
          <p:spPr bwMode="auto">
            <a:xfrm>
              <a:off x="696310" y="1828800"/>
              <a:ext cx="3037391" cy="923330"/>
            </a:xfrm>
            <a:prstGeom prst="rect">
              <a:avLst/>
            </a:prstGeom>
            <a:solidFill>
              <a:schemeClr val="tx2">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zh-CN" altLang="en-US" sz="1800" dirty="0">
                  <a:latin typeface="Times New Roman" panose="02020603050405020304" pitchFamily="18" charset="0"/>
                  <a:ea typeface="华文细黑" panose="02010600040101010101" pitchFamily="2" charset="-122"/>
                </a:rPr>
                <a:t>最优性检验：当表中所有检验数</a:t>
              </a:r>
              <a:r>
                <a:rPr kumimoji="1" lang="el-GR" altLang="zh-CN" sz="1800" dirty="0">
                  <a:solidFill>
                    <a:srgbClr val="FF0000"/>
                  </a:solidFill>
                  <a:latin typeface="Times New Roman" panose="02020603050405020304" pitchFamily="18" charset="0"/>
                  <a:ea typeface="华文细黑" panose="02010600040101010101" pitchFamily="2" charset="-122"/>
                </a:rPr>
                <a:t>σ</a:t>
              </a:r>
              <a:r>
                <a:rPr kumimoji="1" lang="en-US" altLang="zh-CN" sz="1800" i="1" baseline="-25000" dirty="0">
                  <a:solidFill>
                    <a:srgbClr val="FF0000"/>
                  </a:solidFill>
                  <a:latin typeface="Times New Roman" panose="02020603050405020304" pitchFamily="18" charset="0"/>
                  <a:ea typeface="华文细黑" panose="02010600040101010101" pitchFamily="2" charset="-122"/>
                </a:rPr>
                <a:t>j</a:t>
              </a:r>
              <a:r>
                <a:rPr kumimoji="1" lang="en-US" altLang="zh-CN" sz="1800" dirty="0">
                  <a:solidFill>
                    <a:srgbClr val="FF0000"/>
                  </a:solidFill>
                  <a:latin typeface="Times New Roman" panose="02020603050405020304" pitchFamily="18" charset="0"/>
                  <a:ea typeface="华文细黑" panose="02010600040101010101" pitchFamily="2" charset="-122"/>
                </a:rPr>
                <a:t>≤0</a:t>
              </a:r>
              <a:r>
                <a:rPr kumimoji="1" lang="zh-CN" altLang="en-US" sz="1800" dirty="0">
                  <a:latin typeface="Times New Roman" panose="02020603050405020304" pitchFamily="18" charset="0"/>
                  <a:ea typeface="华文细黑" panose="02010600040101010101" pitchFamily="2" charset="-122"/>
                </a:rPr>
                <a:t>，则表中的基可行解就是问题的最优解</a:t>
              </a:r>
            </a:p>
          </p:txBody>
        </p:sp>
        <p:sp>
          <p:nvSpPr>
            <p:cNvPr id="14" name="Text Box 4">
              <a:extLst>
                <a:ext uri="{FF2B5EF4-FFF2-40B4-BE49-F238E27FC236}">
                  <a16:creationId xmlns:a16="http://schemas.microsoft.com/office/drawing/2014/main" id="{67C2024A-C6DD-45EF-BA19-DEEB295E0D33}"/>
                </a:ext>
              </a:extLst>
            </p:cNvPr>
            <p:cNvSpPr txBox="1">
              <a:spLocks noChangeArrowheads="1"/>
            </p:cNvSpPr>
            <p:nvPr/>
          </p:nvSpPr>
          <p:spPr bwMode="auto">
            <a:xfrm>
              <a:off x="4343403" y="1828800"/>
              <a:ext cx="3608987" cy="923330"/>
            </a:xfrm>
            <a:prstGeom prst="rect">
              <a:avLst/>
            </a:prstGeom>
            <a:solidFill>
              <a:schemeClr val="accent1">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zh-CN" altLang="en-US" sz="1800" dirty="0">
                  <a:latin typeface="Times New Roman" panose="02020603050405020304" pitchFamily="18" charset="0"/>
                  <a:ea typeface="华文细黑" panose="02010600040101010101" pitchFamily="2" charset="-122"/>
                </a:rPr>
                <a:t>最优性检验：当表中所有检验数</a:t>
              </a:r>
              <a:r>
                <a:rPr kumimoji="1" lang="el-GR" altLang="zh-CN" sz="1800" dirty="0">
                  <a:solidFill>
                    <a:srgbClr val="FF00FF"/>
                  </a:solidFill>
                  <a:latin typeface="Times New Roman" panose="02020603050405020304" pitchFamily="18" charset="0"/>
                  <a:ea typeface="华文细黑" panose="02010600040101010101" pitchFamily="2" charset="-122"/>
                </a:rPr>
                <a:t>σ</a:t>
              </a:r>
              <a:r>
                <a:rPr kumimoji="1" lang="en-US" altLang="zh-CN" sz="1800" i="1" baseline="-25000" dirty="0">
                  <a:solidFill>
                    <a:srgbClr val="FF00FF"/>
                  </a:solidFill>
                  <a:latin typeface="Times New Roman" panose="02020603050405020304" pitchFamily="18" charset="0"/>
                  <a:ea typeface="华文细黑" panose="02010600040101010101" pitchFamily="2" charset="-122"/>
                </a:rPr>
                <a:t>j</a:t>
              </a:r>
              <a:r>
                <a:rPr kumimoji="1" lang="en-US" altLang="zh-CN" sz="1800" dirty="0">
                  <a:solidFill>
                    <a:srgbClr val="FF00FF"/>
                  </a:solidFill>
                  <a:latin typeface="Times New Roman" panose="02020603050405020304" pitchFamily="18" charset="0"/>
                  <a:ea typeface="华文细黑" panose="02010600040101010101" pitchFamily="2" charset="-122"/>
                </a:rPr>
                <a:t>≥0</a:t>
              </a:r>
              <a:r>
                <a:rPr kumimoji="1" lang="zh-CN" altLang="en-US" sz="1800" dirty="0">
                  <a:latin typeface="Times New Roman" panose="02020603050405020304" pitchFamily="18" charset="0"/>
                  <a:ea typeface="华文细黑" panose="02010600040101010101" pitchFamily="2" charset="-122"/>
                </a:rPr>
                <a:t>，则表中的基可行解就是问题的最优解（闭回路法，位势法）</a:t>
              </a:r>
            </a:p>
          </p:txBody>
        </p:sp>
        <p:sp>
          <p:nvSpPr>
            <p:cNvPr id="100377" name="Line 3">
              <a:extLst>
                <a:ext uri="{FF2B5EF4-FFF2-40B4-BE49-F238E27FC236}">
                  <a16:creationId xmlns:a16="http://schemas.microsoft.com/office/drawing/2014/main" id="{0BBF75A4-D53B-4732-8D44-EC36F6D6C2B1}"/>
                </a:ext>
              </a:extLst>
            </p:cNvPr>
            <p:cNvSpPr>
              <a:spLocks noChangeShapeType="1"/>
            </p:cNvSpPr>
            <p:nvPr/>
          </p:nvSpPr>
          <p:spPr bwMode="auto">
            <a:xfrm>
              <a:off x="3716484" y="2286000"/>
              <a:ext cx="626916" cy="0"/>
            </a:xfrm>
            <a:prstGeom prst="line">
              <a:avLst/>
            </a:prstGeom>
            <a:noFill/>
            <a:ln w="381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5" name="组合 24">
            <a:extLst>
              <a:ext uri="{FF2B5EF4-FFF2-40B4-BE49-F238E27FC236}">
                <a16:creationId xmlns:a16="http://schemas.microsoft.com/office/drawing/2014/main" id="{A3A722C7-EF7C-441A-93A1-64CCE3A111DA}"/>
              </a:ext>
            </a:extLst>
          </p:cNvPr>
          <p:cNvGrpSpPr>
            <a:grpSpLocks/>
          </p:cNvGrpSpPr>
          <p:nvPr/>
        </p:nvGrpSpPr>
        <p:grpSpPr bwMode="auto">
          <a:xfrm>
            <a:off x="696913" y="2819400"/>
            <a:ext cx="7254875" cy="933450"/>
            <a:chOff x="696310" y="2819400"/>
            <a:chExt cx="7256080" cy="932765"/>
          </a:xfrm>
        </p:grpSpPr>
        <p:sp>
          <p:nvSpPr>
            <p:cNvPr id="6" name="Text Box 4">
              <a:extLst>
                <a:ext uri="{FF2B5EF4-FFF2-40B4-BE49-F238E27FC236}">
                  <a16:creationId xmlns:a16="http://schemas.microsoft.com/office/drawing/2014/main" id="{4FA65E72-98D1-422A-9B5F-CB6ECFE45AFA}"/>
                </a:ext>
              </a:extLst>
            </p:cNvPr>
            <p:cNvSpPr txBox="1">
              <a:spLocks noChangeArrowheads="1"/>
            </p:cNvSpPr>
            <p:nvPr/>
          </p:nvSpPr>
          <p:spPr bwMode="auto">
            <a:xfrm>
              <a:off x="696310" y="2819400"/>
              <a:ext cx="3037391" cy="923247"/>
            </a:xfrm>
            <a:prstGeom prst="rect">
              <a:avLst/>
            </a:prstGeom>
            <a:solidFill>
              <a:schemeClr val="tx2">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zh-CN" altLang="en-US" sz="1800" dirty="0">
                  <a:latin typeface="Times New Roman" panose="02020603050405020304" pitchFamily="18" charset="0"/>
                  <a:ea typeface="华文细黑" panose="02010600040101010101" pitchFamily="2" charset="-122"/>
                </a:rPr>
                <a:t>从一个基可行解转换到另一个目标函数值</a:t>
              </a:r>
              <a:r>
                <a:rPr kumimoji="1" lang="zh-CN" altLang="en-US" sz="1800" dirty="0">
                  <a:solidFill>
                    <a:srgbClr val="FF0000"/>
                  </a:solidFill>
                  <a:latin typeface="Times New Roman" panose="02020603050405020304" pitchFamily="18" charset="0"/>
                  <a:ea typeface="华文细黑" panose="02010600040101010101" pitchFamily="2" charset="-122"/>
                </a:rPr>
                <a:t>更大</a:t>
              </a:r>
              <a:r>
                <a:rPr kumimoji="1" lang="zh-CN" altLang="en-US" sz="1800" dirty="0">
                  <a:latin typeface="Times New Roman" panose="02020603050405020304" pitchFamily="18" charset="0"/>
                  <a:ea typeface="华文细黑" panose="02010600040101010101" pitchFamily="2" charset="-122"/>
                </a:rPr>
                <a:t>的基可行解，列出新的单纯形表</a:t>
              </a:r>
            </a:p>
          </p:txBody>
        </p:sp>
        <p:sp>
          <p:nvSpPr>
            <p:cNvPr id="15" name="Text Box 4">
              <a:extLst>
                <a:ext uri="{FF2B5EF4-FFF2-40B4-BE49-F238E27FC236}">
                  <a16:creationId xmlns:a16="http://schemas.microsoft.com/office/drawing/2014/main" id="{45E78887-0799-4AEE-927F-E7DD48965B90}"/>
                </a:ext>
              </a:extLst>
            </p:cNvPr>
            <p:cNvSpPr txBox="1">
              <a:spLocks noChangeArrowheads="1"/>
            </p:cNvSpPr>
            <p:nvPr/>
          </p:nvSpPr>
          <p:spPr bwMode="auto">
            <a:xfrm>
              <a:off x="4343403" y="2828918"/>
              <a:ext cx="3608987" cy="923247"/>
            </a:xfrm>
            <a:prstGeom prst="rect">
              <a:avLst/>
            </a:prstGeom>
            <a:solidFill>
              <a:schemeClr val="accent1">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zh-CN" altLang="en-US" sz="1800" dirty="0">
                  <a:latin typeface="Times New Roman" panose="02020603050405020304" pitchFamily="18" charset="0"/>
                  <a:ea typeface="华文细黑" panose="02010600040101010101" pitchFamily="2" charset="-122"/>
                </a:rPr>
                <a:t>闭回路调整法：从一个基可行解转换到另一个目标函数值</a:t>
              </a:r>
              <a:r>
                <a:rPr kumimoji="1" lang="zh-CN" altLang="en-US" sz="1800" dirty="0">
                  <a:solidFill>
                    <a:srgbClr val="FF00FF"/>
                  </a:solidFill>
                  <a:latin typeface="Times New Roman" panose="02020603050405020304" pitchFamily="18" charset="0"/>
                  <a:ea typeface="华文细黑" panose="02010600040101010101" pitchFamily="2" charset="-122"/>
                </a:rPr>
                <a:t>更小</a:t>
              </a:r>
              <a:r>
                <a:rPr kumimoji="1" lang="zh-CN" altLang="en-US" sz="1800" dirty="0">
                  <a:latin typeface="Times New Roman" panose="02020603050405020304" pitchFamily="18" charset="0"/>
                  <a:ea typeface="华文细黑" panose="02010600040101010101" pitchFamily="2" charset="-122"/>
                </a:rPr>
                <a:t>的基可行解，列出新的运输表</a:t>
              </a:r>
            </a:p>
          </p:txBody>
        </p:sp>
        <p:sp>
          <p:nvSpPr>
            <p:cNvPr id="100374" name="Line 3">
              <a:extLst>
                <a:ext uri="{FF2B5EF4-FFF2-40B4-BE49-F238E27FC236}">
                  <a16:creationId xmlns:a16="http://schemas.microsoft.com/office/drawing/2014/main" id="{4FE25782-A3A4-466D-97D4-53265D70CE80}"/>
                </a:ext>
              </a:extLst>
            </p:cNvPr>
            <p:cNvSpPr>
              <a:spLocks noChangeShapeType="1"/>
            </p:cNvSpPr>
            <p:nvPr/>
          </p:nvSpPr>
          <p:spPr bwMode="auto">
            <a:xfrm>
              <a:off x="3716484" y="3276600"/>
              <a:ext cx="626916" cy="0"/>
            </a:xfrm>
            <a:prstGeom prst="line">
              <a:avLst/>
            </a:prstGeom>
            <a:noFill/>
            <a:ln w="381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6" name="组合 25">
            <a:extLst>
              <a:ext uri="{FF2B5EF4-FFF2-40B4-BE49-F238E27FC236}">
                <a16:creationId xmlns:a16="http://schemas.microsoft.com/office/drawing/2014/main" id="{334ED3EC-906D-4C63-BDE6-EA4A02DE39B2}"/>
              </a:ext>
            </a:extLst>
          </p:cNvPr>
          <p:cNvGrpSpPr>
            <a:grpSpLocks/>
          </p:cNvGrpSpPr>
          <p:nvPr/>
        </p:nvGrpSpPr>
        <p:grpSpPr bwMode="auto">
          <a:xfrm>
            <a:off x="696913" y="3849688"/>
            <a:ext cx="7254875" cy="657225"/>
            <a:chOff x="696310" y="3849469"/>
            <a:chExt cx="7256080" cy="656745"/>
          </a:xfrm>
        </p:grpSpPr>
        <p:sp>
          <p:nvSpPr>
            <p:cNvPr id="7" name="Text Box 4">
              <a:extLst>
                <a:ext uri="{FF2B5EF4-FFF2-40B4-BE49-F238E27FC236}">
                  <a16:creationId xmlns:a16="http://schemas.microsoft.com/office/drawing/2014/main" id="{C1C891E6-5ACF-4831-91E9-B4A7FADF80A7}"/>
                </a:ext>
              </a:extLst>
            </p:cNvPr>
            <p:cNvSpPr txBox="1">
              <a:spLocks noChangeArrowheads="1"/>
            </p:cNvSpPr>
            <p:nvPr/>
          </p:nvSpPr>
          <p:spPr bwMode="auto">
            <a:xfrm>
              <a:off x="696310" y="3849469"/>
              <a:ext cx="3037391" cy="645640"/>
            </a:xfrm>
            <a:prstGeom prst="rect">
              <a:avLst/>
            </a:prstGeom>
            <a:solidFill>
              <a:schemeClr val="tx2">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(1)</a:t>
              </a:r>
              <a:r>
                <a:rPr kumimoji="1" lang="zh-CN" altLang="en-US" sz="1800" dirty="0">
                  <a:latin typeface="Times New Roman" panose="02020603050405020304" pitchFamily="18" charset="0"/>
                  <a:ea typeface="华文细黑" panose="02010600040101010101" pitchFamily="2" charset="-122"/>
                </a:rPr>
                <a:t>确定进基变量</a:t>
              </a:r>
              <a:endParaRPr kumimoji="1" lang="en-US" altLang="zh-CN" sz="1800" dirty="0">
                <a:latin typeface="Times New Roman" panose="02020603050405020304" pitchFamily="18" charset="0"/>
                <a:ea typeface="华文细黑" panose="02010600040101010101" pitchFamily="2" charset="-122"/>
              </a:endParaRPr>
            </a:p>
            <a:p>
              <a:pPr eaLnBrk="1" hangingPunct="1">
                <a:spcBef>
                  <a:spcPct val="0"/>
                </a:spcBef>
                <a:buClrTx/>
                <a:buSzTx/>
                <a:buFontTx/>
                <a:buNone/>
                <a:defRPr/>
              </a:pPr>
              <a:r>
                <a:rPr kumimoji="1" lang="el-GR" altLang="zh-CN" sz="1800" dirty="0">
                  <a:latin typeface="Times New Roman" panose="02020603050405020304" pitchFamily="18" charset="0"/>
                  <a:ea typeface="华文细黑" panose="02010600040101010101" pitchFamily="2" charset="-122"/>
                </a:rPr>
                <a:t>σ</a:t>
              </a:r>
              <a:r>
                <a:rPr kumimoji="1" lang="en-US" altLang="zh-CN" sz="1800" i="1" baseline="-25000" dirty="0">
                  <a:latin typeface="Times New Roman" panose="02020603050405020304" pitchFamily="18" charset="0"/>
                  <a:ea typeface="华文细黑" panose="02010600040101010101" pitchFamily="2" charset="-122"/>
                </a:rPr>
                <a:t>k</a:t>
              </a:r>
              <a:r>
                <a:rPr kumimoji="1" lang="en-US" altLang="zh-CN" sz="1800" dirty="0">
                  <a:latin typeface="Times New Roman" panose="02020603050405020304" pitchFamily="18" charset="0"/>
                  <a:ea typeface="华文细黑" panose="02010600040101010101" pitchFamily="2" charset="-122"/>
                </a:rPr>
                <a:t>= </a:t>
              </a:r>
              <a:r>
                <a:rPr kumimoji="1" lang="en-US" altLang="zh-CN" sz="1800" dirty="0" err="1">
                  <a:latin typeface="Times New Roman" panose="02020603050405020304" pitchFamily="18" charset="0"/>
                  <a:ea typeface="华文细黑" panose="02010600040101010101" pitchFamily="2" charset="-122"/>
                </a:rPr>
                <a:t>max</a:t>
              </a:r>
              <a:r>
                <a:rPr kumimoji="1" lang="en-US" altLang="zh-CN" sz="1800" i="1" baseline="-25000" dirty="0" err="1">
                  <a:latin typeface="Times New Roman" panose="02020603050405020304" pitchFamily="18" charset="0"/>
                  <a:ea typeface="华文细黑" panose="02010600040101010101" pitchFamily="2" charset="-122"/>
                </a:rPr>
                <a:t>j</a:t>
              </a:r>
              <a:r>
                <a:rPr kumimoji="1" lang="en-US" altLang="zh-CN" sz="1800" dirty="0">
                  <a:latin typeface="Times New Roman" panose="02020603050405020304" pitchFamily="18" charset="0"/>
                  <a:ea typeface="华文细黑" panose="02010600040101010101" pitchFamily="2" charset="-122"/>
                </a:rPr>
                <a:t>{</a:t>
              </a:r>
              <a:r>
                <a:rPr kumimoji="1" lang="el-GR" altLang="zh-CN" sz="1800" dirty="0">
                  <a:latin typeface="Times New Roman" panose="02020603050405020304" pitchFamily="18" charset="0"/>
                  <a:ea typeface="华文细黑" panose="02010600040101010101" pitchFamily="2" charset="-122"/>
                </a:rPr>
                <a:t>σ</a:t>
              </a:r>
              <a:r>
                <a:rPr kumimoji="1" lang="en-US" altLang="zh-CN" sz="1800" i="1" baseline="-25000" dirty="0">
                  <a:latin typeface="Times New Roman" panose="02020603050405020304" pitchFamily="18" charset="0"/>
                  <a:ea typeface="华文细黑" panose="02010600040101010101" pitchFamily="2" charset="-122"/>
                </a:rPr>
                <a:t>j</a:t>
              </a:r>
              <a:r>
                <a:rPr kumimoji="1" lang="en-US" altLang="zh-CN" sz="1800" dirty="0">
                  <a:latin typeface="Times New Roman" panose="02020603050405020304" pitchFamily="18" charset="0"/>
                  <a:ea typeface="华文细黑" panose="02010600040101010101" pitchFamily="2" charset="-122"/>
                </a:rPr>
                <a:t>|</a:t>
              </a:r>
              <a:r>
                <a:rPr kumimoji="1" lang="el-GR" altLang="zh-CN" sz="1800" dirty="0">
                  <a:latin typeface="Times New Roman" panose="02020603050405020304" pitchFamily="18" charset="0"/>
                  <a:ea typeface="华文细黑" panose="02010600040101010101" pitchFamily="2" charset="-122"/>
                </a:rPr>
                <a:t> </a:t>
              </a:r>
              <a:r>
                <a:rPr kumimoji="1" lang="el-GR" altLang="zh-CN" sz="1800" dirty="0">
                  <a:solidFill>
                    <a:srgbClr val="FF0000"/>
                  </a:solidFill>
                  <a:latin typeface="Times New Roman" panose="02020603050405020304" pitchFamily="18" charset="0"/>
                  <a:ea typeface="华文细黑" panose="02010600040101010101" pitchFamily="2" charset="-122"/>
                </a:rPr>
                <a:t>σ</a:t>
              </a:r>
              <a:r>
                <a:rPr kumimoji="1" lang="en-US" altLang="zh-CN" sz="1800" i="1" baseline="-25000" dirty="0">
                  <a:solidFill>
                    <a:srgbClr val="FF0000"/>
                  </a:solidFill>
                  <a:latin typeface="Times New Roman" panose="02020603050405020304" pitchFamily="18" charset="0"/>
                  <a:ea typeface="华文细黑" panose="02010600040101010101" pitchFamily="2" charset="-122"/>
                </a:rPr>
                <a:t>j</a:t>
              </a:r>
              <a:r>
                <a:rPr kumimoji="1" lang="en-US" altLang="zh-CN" sz="1800" baseline="-25000" dirty="0">
                  <a:solidFill>
                    <a:srgbClr val="FF0000"/>
                  </a:solidFill>
                  <a:latin typeface="Times New Roman" panose="02020603050405020304" pitchFamily="18" charset="0"/>
                  <a:ea typeface="华文细黑" panose="02010600040101010101" pitchFamily="2" charset="-122"/>
                </a:rPr>
                <a:t> </a:t>
              </a:r>
              <a:r>
                <a:rPr kumimoji="1" lang="en-US" altLang="zh-CN" sz="1800" dirty="0">
                  <a:solidFill>
                    <a:srgbClr val="FF0000"/>
                  </a:solidFill>
                  <a:latin typeface="Times New Roman" panose="02020603050405020304" pitchFamily="18" charset="0"/>
                  <a:ea typeface="华文细黑" panose="02010600040101010101" pitchFamily="2" charset="-122"/>
                </a:rPr>
                <a:t>&gt;0</a:t>
              </a:r>
              <a:r>
                <a:rPr kumimoji="1" lang="en-US" altLang="zh-CN" sz="1800" dirty="0">
                  <a:latin typeface="Times New Roman" panose="02020603050405020304" pitchFamily="18" charset="0"/>
                  <a:ea typeface="华文细黑" panose="02010600040101010101" pitchFamily="2" charset="-122"/>
                </a:rPr>
                <a:t>}</a:t>
              </a:r>
              <a:endParaRPr kumimoji="1" lang="zh-CN" altLang="en-US" sz="1800" dirty="0">
                <a:latin typeface="Times New Roman" panose="02020603050405020304" pitchFamily="18" charset="0"/>
                <a:ea typeface="华文细黑" panose="02010600040101010101" pitchFamily="2" charset="-122"/>
              </a:endParaRPr>
            </a:p>
          </p:txBody>
        </p:sp>
        <p:sp>
          <p:nvSpPr>
            <p:cNvPr id="16" name="Text Box 4">
              <a:extLst>
                <a:ext uri="{FF2B5EF4-FFF2-40B4-BE49-F238E27FC236}">
                  <a16:creationId xmlns:a16="http://schemas.microsoft.com/office/drawing/2014/main" id="{3F4D6AB8-C279-412F-8F07-489A81B7D9D7}"/>
                </a:ext>
              </a:extLst>
            </p:cNvPr>
            <p:cNvSpPr txBox="1">
              <a:spLocks noChangeArrowheads="1"/>
            </p:cNvSpPr>
            <p:nvPr/>
          </p:nvSpPr>
          <p:spPr bwMode="auto">
            <a:xfrm>
              <a:off x="4343403" y="3860573"/>
              <a:ext cx="3608987" cy="645641"/>
            </a:xfrm>
            <a:prstGeom prst="rect">
              <a:avLst/>
            </a:prstGeom>
            <a:solidFill>
              <a:schemeClr val="accent1">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(1)</a:t>
              </a:r>
              <a:r>
                <a:rPr kumimoji="1" lang="zh-CN" altLang="en-US" sz="1800" dirty="0">
                  <a:latin typeface="Times New Roman" panose="02020603050405020304" pitchFamily="18" charset="0"/>
                  <a:ea typeface="华文细黑" panose="02010600040101010101" pitchFamily="2" charset="-122"/>
                </a:rPr>
                <a:t>确定进基变量</a:t>
              </a:r>
              <a:endParaRPr kumimoji="1" lang="en-US" altLang="zh-CN" sz="1800" dirty="0">
                <a:latin typeface="Times New Roman" panose="02020603050405020304" pitchFamily="18" charset="0"/>
                <a:ea typeface="华文细黑" panose="02010600040101010101" pitchFamily="2" charset="-122"/>
              </a:endParaRPr>
            </a:p>
            <a:p>
              <a:pPr eaLnBrk="1" hangingPunct="1">
                <a:spcBef>
                  <a:spcPct val="0"/>
                </a:spcBef>
                <a:buClrTx/>
                <a:buSzTx/>
                <a:buFontTx/>
                <a:buNone/>
                <a:defRPr/>
              </a:pPr>
              <a:r>
                <a:rPr kumimoji="1" lang="el-GR" altLang="zh-CN" sz="1800" dirty="0">
                  <a:latin typeface="Times New Roman" panose="02020603050405020304" pitchFamily="18" charset="0"/>
                  <a:ea typeface="华文细黑" panose="02010600040101010101" pitchFamily="2" charset="-122"/>
                </a:rPr>
                <a:t>σ</a:t>
              </a:r>
              <a:r>
                <a:rPr kumimoji="1" lang="en-US" altLang="zh-CN" sz="1800" i="1" baseline="-25000" dirty="0">
                  <a:latin typeface="Times New Roman" panose="02020603050405020304" pitchFamily="18" charset="0"/>
                  <a:ea typeface="华文细黑" panose="02010600040101010101" pitchFamily="2" charset="-122"/>
                </a:rPr>
                <a:t>k</a:t>
              </a:r>
              <a:r>
                <a:rPr kumimoji="1" lang="en-US" altLang="zh-CN" sz="1800" dirty="0">
                  <a:latin typeface="Times New Roman" panose="02020603050405020304" pitchFamily="18" charset="0"/>
                  <a:ea typeface="华文细黑" panose="02010600040101010101" pitchFamily="2" charset="-122"/>
                </a:rPr>
                <a:t>= </a:t>
              </a:r>
              <a:r>
                <a:rPr kumimoji="1" lang="en-US" altLang="zh-CN" sz="1800" dirty="0" err="1">
                  <a:latin typeface="Times New Roman" panose="02020603050405020304" pitchFamily="18" charset="0"/>
                  <a:ea typeface="华文细黑" panose="02010600040101010101" pitchFamily="2" charset="-122"/>
                </a:rPr>
                <a:t>min</a:t>
              </a:r>
              <a:r>
                <a:rPr kumimoji="1" lang="en-US" altLang="zh-CN" sz="1800" i="1" baseline="-25000" dirty="0" err="1">
                  <a:latin typeface="Times New Roman" panose="02020603050405020304" pitchFamily="18" charset="0"/>
                  <a:ea typeface="华文细黑" panose="02010600040101010101" pitchFamily="2" charset="-122"/>
                </a:rPr>
                <a:t>j</a:t>
              </a:r>
              <a:r>
                <a:rPr kumimoji="1" lang="en-US" altLang="zh-CN" sz="1800" dirty="0">
                  <a:latin typeface="Times New Roman" panose="02020603050405020304" pitchFamily="18" charset="0"/>
                  <a:ea typeface="华文细黑" panose="02010600040101010101" pitchFamily="2" charset="-122"/>
                </a:rPr>
                <a:t>{</a:t>
              </a:r>
              <a:r>
                <a:rPr kumimoji="1" lang="el-GR" altLang="zh-CN" sz="1800" dirty="0">
                  <a:latin typeface="Times New Roman" panose="02020603050405020304" pitchFamily="18" charset="0"/>
                  <a:ea typeface="华文细黑" panose="02010600040101010101" pitchFamily="2" charset="-122"/>
                </a:rPr>
                <a:t>σ</a:t>
              </a:r>
              <a:r>
                <a:rPr kumimoji="1" lang="en-US" altLang="zh-CN" sz="1800" i="1" baseline="-25000" dirty="0">
                  <a:latin typeface="Times New Roman" panose="02020603050405020304" pitchFamily="18" charset="0"/>
                  <a:ea typeface="华文细黑" panose="02010600040101010101" pitchFamily="2" charset="-122"/>
                </a:rPr>
                <a:t>j</a:t>
              </a:r>
              <a:r>
                <a:rPr kumimoji="1" lang="en-US" altLang="zh-CN" sz="1800" dirty="0">
                  <a:latin typeface="Times New Roman" panose="02020603050405020304" pitchFamily="18" charset="0"/>
                  <a:ea typeface="华文细黑" panose="02010600040101010101" pitchFamily="2" charset="-122"/>
                </a:rPr>
                <a:t>|</a:t>
              </a:r>
              <a:r>
                <a:rPr kumimoji="1" lang="el-GR" altLang="zh-CN" sz="1800" dirty="0">
                  <a:latin typeface="Times New Roman" panose="02020603050405020304" pitchFamily="18" charset="0"/>
                  <a:ea typeface="华文细黑" panose="02010600040101010101" pitchFamily="2" charset="-122"/>
                </a:rPr>
                <a:t> </a:t>
              </a:r>
              <a:r>
                <a:rPr kumimoji="1" lang="el-GR" altLang="zh-CN" sz="1800" dirty="0">
                  <a:solidFill>
                    <a:srgbClr val="FF00FF"/>
                  </a:solidFill>
                  <a:latin typeface="Times New Roman" panose="02020603050405020304" pitchFamily="18" charset="0"/>
                  <a:ea typeface="华文细黑" panose="02010600040101010101" pitchFamily="2" charset="-122"/>
                </a:rPr>
                <a:t>σ</a:t>
              </a:r>
              <a:r>
                <a:rPr kumimoji="1" lang="en-US" altLang="zh-CN" sz="1800" i="1" baseline="-25000" dirty="0">
                  <a:solidFill>
                    <a:srgbClr val="FF00FF"/>
                  </a:solidFill>
                  <a:latin typeface="Times New Roman" panose="02020603050405020304" pitchFamily="18" charset="0"/>
                  <a:ea typeface="华文细黑" panose="02010600040101010101" pitchFamily="2" charset="-122"/>
                </a:rPr>
                <a:t>j</a:t>
              </a:r>
              <a:r>
                <a:rPr kumimoji="1" lang="en-US" altLang="zh-CN" sz="1800" baseline="-25000" dirty="0">
                  <a:solidFill>
                    <a:srgbClr val="FF00FF"/>
                  </a:solidFill>
                  <a:latin typeface="Times New Roman" panose="02020603050405020304" pitchFamily="18" charset="0"/>
                  <a:ea typeface="华文细黑" panose="02010600040101010101" pitchFamily="2" charset="-122"/>
                </a:rPr>
                <a:t> </a:t>
              </a:r>
              <a:r>
                <a:rPr kumimoji="1" lang="en-US" altLang="zh-CN" sz="1800" dirty="0">
                  <a:solidFill>
                    <a:srgbClr val="FF00FF"/>
                  </a:solidFill>
                  <a:latin typeface="Times New Roman" panose="02020603050405020304" pitchFamily="18" charset="0"/>
                  <a:ea typeface="华文细黑" panose="02010600040101010101" pitchFamily="2" charset="-122"/>
                </a:rPr>
                <a:t>&lt;0</a:t>
              </a:r>
              <a:r>
                <a:rPr kumimoji="1" lang="en-US" altLang="zh-CN" sz="1800" dirty="0">
                  <a:latin typeface="Times New Roman" panose="02020603050405020304" pitchFamily="18" charset="0"/>
                  <a:ea typeface="华文细黑" panose="02010600040101010101" pitchFamily="2" charset="-122"/>
                </a:rPr>
                <a:t>}</a:t>
              </a:r>
              <a:endParaRPr kumimoji="1" lang="zh-CN" altLang="en-US" sz="1800" dirty="0">
                <a:latin typeface="Times New Roman" panose="02020603050405020304" pitchFamily="18" charset="0"/>
                <a:ea typeface="华文细黑" panose="02010600040101010101" pitchFamily="2" charset="-122"/>
              </a:endParaRPr>
            </a:p>
          </p:txBody>
        </p:sp>
        <p:sp>
          <p:nvSpPr>
            <p:cNvPr id="100371" name="Line 3">
              <a:extLst>
                <a:ext uri="{FF2B5EF4-FFF2-40B4-BE49-F238E27FC236}">
                  <a16:creationId xmlns:a16="http://schemas.microsoft.com/office/drawing/2014/main" id="{8A36C4FD-CA1B-45E2-AC11-5F00AF80BC91}"/>
                </a:ext>
              </a:extLst>
            </p:cNvPr>
            <p:cNvSpPr>
              <a:spLocks noChangeShapeType="1"/>
            </p:cNvSpPr>
            <p:nvPr/>
          </p:nvSpPr>
          <p:spPr bwMode="auto">
            <a:xfrm>
              <a:off x="3733800" y="4185157"/>
              <a:ext cx="626916" cy="0"/>
            </a:xfrm>
            <a:prstGeom prst="line">
              <a:avLst/>
            </a:prstGeom>
            <a:noFill/>
            <a:ln w="381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7" name="组合 26">
            <a:extLst>
              <a:ext uri="{FF2B5EF4-FFF2-40B4-BE49-F238E27FC236}">
                <a16:creationId xmlns:a16="http://schemas.microsoft.com/office/drawing/2014/main" id="{8012D443-D9B0-4BC9-A315-4853C9536260}"/>
              </a:ext>
            </a:extLst>
          </p:cNvPr>
          <p:cNvGrpSpPr>
            <a:grpSpLocks/>
          </p:cNvGrpSpPr>
          <p:nvPr/>
        </p:nvGrpSpPr>
        <p:grpSpPr bwMode="auto">
          <a:xfrm>
            <a:off x="685800" y="4611688"/>
            <a:ext cx="7265988" cy="654050"/>
            <a:chOff x="685800" y="4611469"/>
            <a:chExt cx="7266590" cy="653836"/>
          </a:xfrm>
        </p:grpSpPr>
        <p:sp>
          <p:nvSpPr>
            <p:cNvPr id="8" name="Text Box 4">
              <a:extLst>
                <a:ext uri="{FF2B5EF4-FFF2-40B4-BE49-F238E27FC236}">
                  <a16:creationId xmlns:a16="http://schemas.microsoft.com/office/drawing/2014/main" id="{861E9D58-9A4E-4F7D-BF3A-35E6AA90D0B4}"/>
                </a:ext>
              </a:extLst>
            </p:cNvPr>
            <p:cNvSpPr txBox="1">
              <a:spLocks noChangeArrowheads="1"/>
            </p:cNvSpPr>
            <p:nvPr/>
          </p:nvSpPr>
          <p:spPr bwMode="auto">
            <a:xfrm>
              <a:off x="685800" y="4611469"/>
              <a:ext cx="3048253" cy="645901"/>
            </a:xfrm>
            <a:prstGeom prst="rect">
              <a:avLst/>
            </a:prstGeom>
            <a:solidFill>
              <a:schemeClr val="tx2">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(2)</a:t>
              </a:r>
              <a:r>
                <a:rPr kumimoji="1" lang="zh-CN" altLang="en-US" sz="1800" dirty="0">
                  <a:latin typeface="Times New Roman" panose="02020603050405020304" pitchFamily="18" charset="0"/>
                  <a:ea typeface="华文细黑" panose="02010600040101010101" pitchFamily="2" charset="-122"/>
                </a:rPr>
                <a:t>确定出基变量</a:t>
              </a:r>
              <a:endParaRPr kumimoji="1" lang="en-US" altLang="zh-CN" sz="1800" dirty="0">
                <a:latin typeface="Times New Roman" panose="02020603050405020304" pitchFamily="18" charset="0"/>
                <a:ea typeface="华文细黑" panose="02010600040101010101" pitchFamily="2" charset="-122"/>
              </a:endParaRPr>
            </a:p>
            <a:p>
              <a:pPr eaLnBrk="1" hangingPunct="1">
                <a:spcBef>
                  <a:spcPct val="0"/>
                </a:spcBef>
                <a:buClrTx/>
                <a:buSzTx/>
                <a:buFontTx/>
                <a:buNone/>
                <a:defRPr/>
              </a:pPr>
              <a:r>
                <a:rPr kumimoji="1" lang="el-GR" altLang="zh-CN" sz="1800" dirty="0">
                  <a:latin typeface="Times New Roman" panose="02020603050405020304" pitchFamily="18" charset="0"/>
                  <a:ea typeface="华文细黑" panose="02010600040101010101" pitchFamily="2" charset="-122"/>
                </a:rPr>
                <a:t>θ</a:t>
              </a:r>
              <a:r>
                <a:rPr kumimoji="1" lang="en-US" altLang="zh-CN" sz="1800" dirty="0">
                  <a:latin typeface="Times New Roman" panose="02020603050405020304" pitchFamily="18" charset="0"/>
                  <a:ea typeface="华文细黑" panose="02010600040101010101" pitchFamily="2" charset="-122"/>
                </a:rPr>
                <a:t>= min</a:t>
              </a:r>
              <a:r>
                <a:rPr kumimoji="1" lang="en-US" altLang="zh-CN" sz="1800" i="1" baseline="-25000" dirty="0">
                  <a:latin typeface="Times New Roman" panose="02020603050405020304" pitchFamily="18" charset="0"/>
                  <a:ea typeface="华文细黑" panose="02010600040101010101" pitchFamily="2" charset="-122"/>
                </a:rPr>
                <a:t>i</a:t>
              </a:r>
              <a:r>
                <a:rPr kumimoji="1" lang="en-US" altLang="zh-CN" sz="1800" dirty="0">
                  <a:latin typeface="Times New Roman" panose="02020603050405020304" pitchFamily="18" charset="0"/>
                  <a:ea typeface="华文细黑" panose="02010600040101010101" pitchFamily="2" charset="-122"/>
                </a:rPr>
                <a:t>{(</a:t>
              </a:r>
              <a:r>
                <a:rPr kumimoji="1" lang="en-US" altLang="zh-CN" sz="1800" dirty="0">
                  <a:solidFill>
                    <a:srgbClr val="FF0000"/>
                  </a:solidFill>
                  <a:latin typeface="Times New Roman" panose="02020603050405020304" pitchFamily="18" charset="0"/>
                  <a:ea typeface="华文细黑" panose="02010600040101010101" pitchFamily="2" charset="-122"/>
                </a:rPr>
                <a:t>b</a:t>
              </a:r>
              <a:r>
                <a:rPr kumimoji="1" lang="en-US" altLang="zh-CN" sz="1800" i="1" baseline="-25000" dirty="0">
                  <a:solidFill>
                    <a:srgbClr val="FF0000"/>
                  </a:solidFill>
                  <a:latin typeface="Times New Roman" panose="02020603050405020304" pitchFamily="18" charset="0"/>
                  <a:ea typeface="华文细黑" panose="02010600040101010101" pitchFamily="2" charset="-122"/>
                </a:rPr>
                <a:t>i</a:t>
              </a:r>
              <a:r>
                <a:rPr kumimoji="1" lang="en-US" altLang="zh-CN" sz="1800" dirty="0">
                  <a:solidFill>
                    <a:srgbClr val="FF0000"/>
                  </a:solidFill>
                  <a:latin typeface="Times New Roman" panose="02020603050405020304" pitchFamily="18" charset="0"/>
                  <a:ea typeface="华文细黑" panose="02010600040101010101" pitchFamily="2" charset="-122"/>
                </a:rPr>
                <a:t>/</a:t>
              </a:r>
              <a:r>
                <a:rPr kumimoji="1" lang="en-US" altLang="zh-CN" sz="1800" dirty="0" err="1">
                  <a:solidFill>
                    <a:srgbClr val="FF0000"/>
                  </a:solidFill>
                  <a:latin typeface="Times New Roman" panose="02020603050405020304" pitchFamily="18" charset="0"/>
                  <a:ea typeface="华文细黑" panose="02010600040101010101" pitchFamily="2" charset="-122"/>
                </a:rPr>
                <a:t>a</a:t>
              </a:r>
              <a:r>
                <a:rPr kumimoji="1" lang="en-US" altLang="zh-CN" sz="1800" i="1" baseline="-25000" dirty="0" err="1">
                  <a:solidFill>
                    <a:srgbClr val="FF0000"/>
                  </a:solidFill>
                  <a:latin typeface="Times New Roman" panose="02020603050405020304" pitchFamily="18" charset="0"/>
                  <a:ea typeface="华文细黑" panose="02010600040101010101" pitchFamily="2" charset="-122"/>
                </a:rPr>
                <a:t>ik</a:t>
              </a:r>
              <a:r>
                <a:rPr kumimoji="1" lang="en-US" altLang="zh-CN" sz="1800" dirty="0">
                  <a:latin typeface="Times New Roman" panose="02020603050405020304" pitchFamily="18" charset="0"/>
                  <a:ea typeface="华文细黑" panose="02010600040101010101" pitchFamily="2" charset="-122"/>
                </a:rPr>
                <a:t>)|</a:t>
              </a:r>
              <a:r>
                <a:rPr kumimoji="1" lang="en-US" altLang="zh-CN" sz="1800" dirty="0" err="1">
                  <a:latin typeface="Times New Roman" panose="02020603050405020304" pitchFamily="18" charset="0"/>
                  <a:ea typeface="华文细黑" panose="02010600040101010101" pitchFamily="2" charset="-122"/>
                </a:rPr>
                <a:t>a</a:t>
              </a:r>
              <a:r>
                <a:rPr kumimoji="1" lang="en-US" altLang="zh-CN" sz="1800" i="1" baseline="-25000" dirty="0" err="1">
                  <a:latin typeface="Times New Roman" panose="02020603050405020304" pitchFamily="18" charset="0"/>
                  <a:ea typeface="华文细黑" panose="02010600040101010101" pitchFamily="2" charset="-122"/>
                </a:rPr>
                <a:t>ik</a:t>
              </a:r>
              <a:r>
                <a:rPr kumimoji="1" lang="en-US" altLang="zh-CN" sz="1800" baseline="-25000" dirty="0">
                  <a:latin typeface="Times New Roman" panose="02020603050405020304" pitchFamily="18" charset="0"/>
                  <a:ea typeface="华文细黑" panose="02010600040101010101" pitchFamily="2" charset="-122"/>
                </a:rPr>
                <a:t> </a:t>
              </a:r>
              <a:r>
                <a:rPr kumimoji="1" lang="en-US" altLang="zh-CN" sz="1800" dirty="0">
                  <a:latin typeface="Times New Roman" panose="02020603050405020304" pitchFamily="18" charset="0"/>
                  <a:ea typeface="华文细黑" panose="02010600040101010101" pitchFamily="2" charset="-122"/>
                </a:rPr>
                <a:t>&gt;0}=</a:t>
              </a:r>
              <a:r>
                <a:rPr kumimoji="1" lang="en-US" altLang="zh-CN" sz="1800" dirty="0" err="1">
                  <a:latin typeface="Times New Roman" panose="02020603050405020304" pitchFamily="18" charset="0"/>
                  <a:ea typeface="华文细黑" panose="02010600040101010101" pitchFamily="2" charset="-122"/>
                </a:rPr>
                <a:t>b</a:t>
              </a:r>
              <a:r>
                <a:rPr kumimoji="1" lang="en-US" altLang="zh-CN" sz="1800" i="1" baseline="-25000" dirty="0" err="1">
                  <a:latin typeface="Times New Roman" panose="02020603050405020304" pitchFamily="18" charset="0"/>
                  <a:ea typeface="华文细黑" panose="02010600040101010101" pitchFamily="2" charset="-122"/>
                </a:rPr>
                <a:t>l</a:t>
              </a:r>
              <a:r>
                <a:rPr kumimoji="1" lang="en-US" altLang="zh-CN" sz="1800" dirty="0">
                  <a:latin typeface="Times New Roman" panose="02020603050405020304" pitchFamily="18" charset="0"/>
                  <a:ea typeface="华文细黑" panose="02010600040101010101" pitchFamily="2" charset="-122"/>
                </a:rPr>
                <a:t>/</a:t>
              </a:r>
              <a:r>
                <a:rPr kumimoji="1" lang="en-US" altLang="zh-CN" sz="1800" dirty="0" err="1">
                  <a:latin typeface="Times New Roman" panose="02020603050405020304" pitchFamily="18" charset="0"/>
                  <a:ea typeface="华文细黑" panose="02010600040101010101" pitchFamily="2" charset="-122"/>
                </a:rPr>
                <a:t>a</a:t>
              </a:r>
              <a:r>
                <a:rPr kumimoji="1" lang="en-US" altLang="zh-CN" sz="1800" i="1" baseline="-25000" dirty="0" err="1">
                  <a:latin typeface="Times New Roman" panose="02020603050405020304" pitchFamily="18" charset="0"/>
                  <a:ea typeface="华文细黑" panose="02010600040101010101" pitchFamily="2" charset="-122"/>
                </a:rPr>
                <a:t>lk</a:t>
              </a:r>
              <a:endParaRPr kumimoji="1" lang="zh-CN" altLang="en-US" sz="1800" i="1" baseline="-25000" dirty="0">
                <a:latin typeface="Times New Roman" panose="02020603050405020304" pitchFamily="18" charset="0"/>
                <a:ea typeface="华文细黑" panose="02010600040101010101" pitchFamily="2" charset="-122"/>
              </a:endParaRPr>
            </a:p>
          </p:txBody>
        </p:sp>
        <p:sp>
          <p:nvSpPr>
            <p:cNvPr id="17" name="Text Box 4">
              <a:extLst>
                <a:ext uri="{FF2B5EF4-FFF2-40B4-BE49-F238E27FC236}">
                  <a16:creationId xmlns:a16="http://schemas.microsoft.com/office/drawing/2014/main" id="{369D8880-29F1-4113-ACB0-54636138F3C4}"/>
                </a:ext>
              </a:extLst>
            </p:cNvPr>
            <p:cNvSpPr txBox="1">
              <a:spLocks noChangeArrowheads="1"/>
            </p:cNvSpPr>
            <p:nvPr/>
          </p:nvSpPr>
          <p:spPr bwMode="auto">
            <a:xfrm>
              <a:off x="4343703" y="4619403"/>
              <a:ext cx="3608687" cy="645902"/>
            </a:xfrm>
            <a:prstGeom prst="rect">
              <a:avLst/>
            </a:prstGeom>
            <a:solidFill>
              <a:schemeClr val="accent1">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(2)</a:t>
              </a:r>
              <a:r>
                <a:rPr kumimoji="1" lang="zh-CN" altLang="en-US" sz="1800" dirty="0">
                  <a:latin typeface="Times New Roman" panose="02020603050405020304" pitchFamily="18" charset="0"/>
                  <a:ea typeface="华文细黑" panose="02010600040101010101" pitchFamily="2" charset="-122"/>
                </a:rPr>
                <a:t>确定出基变量</a:t>
              </a:r>
              <a:r>
                <a:rPr kumimoji="1" lang="en-US" altLang="zh-CN" sz="1800" dirty="0">
                  <a:latin typeface="Times New Roman" panose="02020603050405020304" pitchFamily="18" charset="0"/>
                  <a:ea typeface="华文细黑" panose="02010600040101010101" pitchFamily="2" charset="-122"/>
                </a:rPr>
                <a:t>(</a:t>
              </a:r>
              <a:r>
                <a:rPr kumimoji="1" lang="zh-CN" altLang="en-US" sz="1800" dirty="0">
                  <a:latin typeface="Times New Roman" panose="02020603050405020304" pitchFamily="18" charset="0"/>
                  <a:ea typeface="华文细黑" panose="02010600040101010101" pitchFamily="2" charset="-122"/>
                </a:rPr>
                <a:t>进基变量回路</a:t>
              </a:r>
              <a:r>
                <a:rPr kumimoji="1" lang="en-US" altLang="zh-CN" sz="1800" dirty="0">
                  <a:latin typeface="Times New Roman" panose="02020603050405020304" pitchFamily="18" charset="0"/>
                  <a:ea typeface="华文细黑" panose="02010600040101010101" pitchFamily="2" charset="-122"/>
                </a:rPr>
                <a:t>)</a:t>
              </a:r>
            </a:p>
            <a:p>
              <a:pPr eaLnBrk="1" hangingPunct="1">
                <a:spcBef>
                  <a:spcPct val="0"/>
                </a:spcBef>
                <a:buClrTx/>
                <a:buSzTx/>
                <a:buFontTx/>
                <a:buNone/>
                <a:defRPr/>
              </a:pPr>
              <a:r>
                <a:rPr kumimoji="1" lang="el-GR" altLang="zh-CN" sz="1800" dirty="0">
                  <a:latin typeface="Times New Roman" panose="02020603050405020304" pitchFamily="18" charset="0"/>
                  <a:ea typeface="华文细黑" panose="02010600040101010101" pitchFamily="2" charset="-122"/>
                </a:rPr>
                <a:t>θ</a:t>
              </a:r>
              <a:r>
                <a:rPr kumimoji="1" lang="en-US" altLang="zh-CN" sz="1800" dirty="0">
                  <a:latin typeface="Times New Roman" panose="02020603050405020304" pitchFamily="18" charset="0"/>
                  <a:ea typeface="华文细黑" panose="02010600040101010101" pitchFamily="2" charset="-122"/>
                </a:rPr>
                <a:t>= min{</a:t>
              </a:r>
              <a:r>
                <a:rPr kumimoji="1" lang="en-US" altLang="zh-CN" sz="1800" dirty="0" err="1">
                  <a:latin typeface="Times New Roman" panose="02020603050405020304" pitchFamily="18" charset="0"/>
                  <a:ea typeface="华文细黑" panose="02010600040101010101" pitchFamily="2" charset="-122"/>
                </a:rPr>
                <a:t>x</a:t>
              </a:r>
              <a:r>
                <a:rPr kumimoji="1" lang="en-US" altLang="zh-CN" sz="1800" i="1" baseline="-25000" dirty="0" err="1">
                  <a:latin typeface="Times New Roman" panose="02020603050405020304" pitchFamily="18" charset="0"/>
                  <a:ea typeface="华文细黑" panose="02010600040101010101" pitchFamily="2" charset="-122"/>
                </a:rPr>
                <a:t>ij</a:t>
              </a:r>
              <a:r>
                <a:rPr kumimoji="1" lang="en-US" altLang="zh-CN" sz="1800" dirty="0">
                  <a:latin typeface="Times New Roman" panose="02020603050405020304" pitchFamily="18" charset="0"/>
                  <a:ea typeface="华文细黑" panose="02010600040101010101" pitchFamily="2" charset="-122"/>
                </a:rPr>
                <a:t>|</a:t>
              </a:r>
              <a:r>
                <a:rPr kumimoji="1" lang="zh-CN" altLang="en-US" sz="1800" dirty="0">
                  <a:solidFill>
                    <a:srgbClr val="FF00FF"/>
                  </a:solidFill>
                  <a:latin typeface="Times New Roman" panose="02020603050405020304" pitchFamily="18" charset="0"/>
                  <a:ea typeface="华文细黑" panose="02010600040101010101" pitchFamily="2" charset="-122"/>
                </a:rPr>
                <a:t>偶点</a:t>
              </a:r>
              <a:r>
                <a:rPr kumimoji="1" lang="en-US" altLang="zh-CN" sz="1800" dirty="0">
                  <a:latin typeface="Times New Roman" panose="02020603050405020304" pitchFamily="18" charset="0"/>
                  <a:ea typeface="华文细黑" panose="02010600040101010101" pitchFamily="2" charset="-122"/>
                </a:rPr>
                <a:t>}</a:t>
              </a:r>
              <a:endParaRPr kumimoji="1" lang="zh-CN" altLang="en-US" sz="1800" baseline="-25000" dirty="0">
                <a:latin typeface="Times New Roman" panose="02020603050405020304" pitchFamily="18" charset="0"/>
                <a:ea typeface="华文细黑" panose="02010600040101010101" pitchFamily="2" charset="-122"/>
              </a:endParaRPr>
            </a:p>
          </p:txBody>
        </p:sp>
        <p:sp>
          <p:nvSpPr>
            <p:cNvPr id="100368" name="Line 3">
              <a:extLst>
                <a:ext uri="{FF2B5EF4-FFF2-40B4-BE49-F238E27FC236}">
                  <a16:creationId xmlns:a16="http://schemas.microsoft.com/office/drawing/2014/main" id="{9A24292C-5DE0-418B-9B00-9C20042BE0F4}"/>
                </a:ext>
              </a:extLst>
            </p:cNvPr>
            <p:cNvSpPr>
              <a:spLocks noChangeShapeType="1"/>
            </p:cNvSpPr>
            <p:nvPr/>
          </p:nvSpPr>
          <p:spPr bwMode="auto">
            <a:xfrm>
              <a:off x="3716484" y="4953000"/>
              <a:ext cx="626916" cy="0"/>
            </a:xfrm>
            <a:prstGeom prst="line">
              <a:avLst/>
            </a:prstGeom>
            <a:noFill/>
            <a:ln w="381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8" name="组合 27">
            <a:extLst>
              <a:ext uri="{FF2B5EF4-FFF2-40B4-BE49-F238E27FC236}">
                <a16:creationId xmlns:a16="http://schemas.microsoft.com/office/drawing/2014/main" id="{32A544FF-9D96-4D16-96D4-921A575FC9E7}"/>
              </a:ext>
            </a:extLst>
          </p:cNvPr>
          <p:cNvGrpSpPr>
            <a:grpSpLocks/>
          </p:cNvGrpSpPr>
          <p:nvPr/>
        </p:nvGrpSpPr>
        <p:grpSpPr bwMode="auto">
          <a:xfrm>
            <a:off x="685800" y="5410200"/>
            <a:ext cx="7283450" cy="646113"/>
            <a:chOff x="685800" y="5477470"/>
            <a:chExt cx="7283905" cy="646331"/>
          </a:xfrm>
        </p:grpSpPr>
        <p:sp>
          <p:nvSpPr>
            <p:cNvPr id="9" name="Text Box 4">
              <a:extLst>
                <a:ext uri="{FF2B5EF4-FFF2-40B4-BE49-F238E27FC236}">
                  <a16:creationId xmlns:a16="http://schemas.microsoft.com/office/drawing/2014/main" id="{09F5674A-7351-4148-9AD6-D2824C7FD03B}"/>
                </a:ext>
              </a:extLst>
            </p:cNvPr>
            <p:cNvSpPr txBox="1">
              <a:spLocks noChangeArrowheads="1"/>
            </p:cNvSpPr>
            <p:nvPr/>
          </p:nvSpPr>
          <p:spPr bwMode="auto">
            <a:xfrm>
              <a:off x="685800" y="5477470"/>
              <a:ext cx="3048190" cy="646331"/>
            </a:xfrm>
            <a:prstGeom prst="rect">
              <a:avLst/>
            </a:prstGeom>
            <a:solidFill>
              <a:schemeClr val="tx2">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(3)</a:t>
              </a:r>
              <a:r>
                <a:rPr kumimoji="1" lang="zh-CN" altLang="en-US" sz="1800" dirty="0">
                  <a:latin typeface="Times New Roman" panose="02020603050405020304" pitchFamily="18" charset="0"/>
                  <a:ea typeface="华文细黑" panose="02010600040101010101" pitchFamily="2" charset="-122"/>
                </a:rPr>
                <a:t>迭代：生成新单纯形表，并再求检验数，以得最优解</a:t>
              </a:r>
            </a:p>
          </p:txBody>
        </p:sp>
        <p:sp>
          <p:nvSpPr>
            <p:cNvPr id="18" name="Text Box 4">
              <a:extLst>
                <a:ext uri="{FF2B5EF4-FFF2-40B4-BE49-F238E27FC236}">
                  <a16:creationId xmlns:a16="http://schemas.microsoft.com/office/drawing/2014/main" id="{2836EB3E-B147-4F8D-9B3B-CC7EBD9FA4A5}"/>
                </a:ext>
              </a:extLst>
            </p:cNvPr>
            <p:cNvSpPr txBox="1">
              <a:spLocks noChangeArrowheads="1"/>
            </p:cNvSpPr>
            <p:nvPr/>
          </p:nvSpPr>
          <p:spPr bwMode="auto">
            <a:xfrm>
              <a:off x="4361093" y="5477470"/>
              <a:ext cx="3608612" cy="646331"/>
            </a:xfrm>
            <a:prstGeom prst="rect">
              <a:avLst/>
            </a:prstGeom>
            <a:solidFill>
              <a:schemeClr val="accent1">
                <a:lumMod val="40000"/>
                <a:lumOff val="60000"/>
              </a:schemeClr>
            </a:solidFill>
            <a:ln w="28575" algn="ctr">
              <a:solidFill>
                <a:srgbClr val="A50021"/>
              </a:solidFill>
              <a:miter lim="800000"/>
              <a:headEnd/>
              <a:tailEnd/>
            </a:ln>
          </p:spPr>
          <p:txBody>
            <a:bodyPr>
              <a:spAutoFit/>
            </a:bodyPr>
            <a:lstStyle>
              <a:lvl1pPr>
                <a:spcBef>
                  <a:spcPct val="20000"/>
                </a:spcBef>
                <a:buClr>
                  <a:schemeClr val="accent1"/>
                </a:buClr>
                <a:buSzPct val="65000"/>
                <a:buFont typeface="Wingdings" panose="05000000000000000000" pitchFamily="2" charset="2"/>
                <a:buChar char="n"/>
                <a:defRPr sz="3200" b="1">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accent2"/>
                </a:buClr>
                <a:buSzPct val="60000"/>
                <a:buFont typeface="Wingdings" panose="05000000000000000000" pitchFamily="2" charset="2"/>
                <a:buChar char="q"/>
                <a:defRPr sz="2800" b="1">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accent1"/>
                </a:buClr>
                <a:buSzPct val="65000"/>
                <a:buFont typeface="Wingdings" panose="05000000000000000000" pitchFamily="2" charset="2"/>
                <a:buChar char="n"/>
                <a:defRPr sz="2400" b="1">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accent2"/>
                </a:buClr>
                <a:buSzPct val="70000"/>
                <a:buFont typeface="Wingdings" panose="05000000000000000000" pitchFamily="2" charset="2"/>
                <a:buChar char="q"/>
                <a:defRPr>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SzTx/>
                <a:buFontTx/>
                <a:buNone/>
                <a:defRPr/>
              </a:pPr>
              <a:r>
                <a:rPr kumimoji="1" lang="en-US" altLang="zh-CN" sz="1800" dirty="0">
                  <a:latin typeface="Times New Roman" panose="02020603050405020304" pitchFamily="18" charset="0"/>
                  <a:ea typeface="华文细黑" panose="02010600040101010101" pitchFamily="2" charset="-122"/>
                </a:rPr>
                <a:t>(3)</a:t>
              </a:r>
              <a:r>
                <a:rPr kumimoji="1" lang="zh-CN" altLang="en-US" sz="1800" dirty="0">
                  <a:latin typeface="Times New Roman" panose="02020603050405020304" pitchFamily="18" charset="0"/>
                  <a:ea typeface="华文细黑" panose="02010600040101010101" pitchFamily="2" charset="-122"/>
                </a:rPr>
                <a:t>迭代：空格加入调整量</a:t>
              </a:r>
              <a:r>
                <a:rPr kumimoji="1" lang="el-GR" altLang="zh-CN" sz="1800" dirty="0">
                  <a:latin typeface="Times New Roman" panose="02020603050405020304" pitchFamily="18" charset="0"/>
                  <a:ea typeface="华文细黑" panose="02010600040101010101" pitchFamily="2" charset="-122"/>
                </a:rPr>
                <a:t>θ</a:t>
              </a:r>
              <a:r>
                <a:rPr kumimoji="1" lang="zh-CN" altLang="en-US" sz="1800" dirty="0">
                  <a:latin typeface="Times New Roman" panose="02020603050405020304" pitchFamily="18" charset="0"/>
                  <a:ea typeface="华文细黑" panose="02010600040101010101" pitchFamily="2" charset="-122"/>
                </a:rPr>
                <a:t>，闭回路上</a:t>
              </a:r>
              <a:r>
                <a:rPr kumimoji="1" lang="zh-CN" altLang="en-US" sz="1800" dirty="0">
                  <a:solidFill>
                    <a:srgbClr val="FF00FF"/>
                  </a:solidFill>
                  <a:latin typeface="Times New Roman" panose="02020603050405020304" pitchFamily="18" charset="0"/>
                  <a:ea typeface="华文细黑" panose="02010600040101010101" pitchFamily="2" charset="-122"/>
                </a:rPr>
                <a:t>奇点加</a:t>
              </a:r>
              <a:r>
                <a:rPr kumimoji="1" lang="el-GR" altLang="zh-CN" sz="1800" dirty="0">
                  <a:solidFill>
                    <a:srgbClr val="FF00FF"/>
                  </a:solidFill>
                  <a:latin typeface="Times New Roman" panose="02020603050405020304" pitchFamily="18" charset="0"/>
                  <a:ea typeface="华文细黑" panose="02010600040101010101" pitchFamily="2" charset="-122"/>
                </a:rPr>
                <a:t>θ</a:t>
              </a:r>
              <a:r>
                <a:rPr kumimoji="1" lang="zh-CN" altLang="en-US" sz="1800" dirty="0">
                  <a:solidFill>
                    <a:srgbClr val="FF00FF"/>
                  </a:solidFill>
                  <a:latin typeface="Times New Roman" panose="02020603050405020304" pitchFamily="18" charset="0"/>
                  <a:ea typeface="华文细黑" panose="02010600040101010101" pitchFamily="2" charset="-122"/>
                </a:rPr>
                <a:t>，偶点减</a:t>
              </a:r>
              <a:r>
                <a:rPr kumimoji="1" lang="el-GR" altLang="zh-CN" sz="1800" dirty="0">
                  <a:solidFill>
                    <a:srgbClr val="FF00FF"/>
                  </a:solidFill>
                  <a:latin typeface="Times New Roman" panose="02020603050405020304" pitchFamily="18" charset="0"/>
                  <a:ea typeface="华文细黑" panose="02010600040101010101" pitchFamily="2" charset="-122"/>
                </a:rPr>
                <a:t>θ</a:t>
              </a:r>
              <a:r>
                <a:rPr kumimoji="1" lang="zh-CN" altLang="en-US" sz="1800" dirty="0">
                  <a:latin typeface="Times New Roman" panose="02020603050405020304" pitchFamily="18" charset="0"/>
                  <a:ea typeface="华文细黑" panose="02010600040101010101" pitchFamily="2" charset="-122"/>
                </a:rPr>
                <a:t>，得新表</a:t>
              </a:r>
            </a:p>
          </p:txBody>
        </p:sp>
        <p:sp>
          <p:nvSpPr>
            <p:cNvPr id="100365" name="Line 3">
              <a:extLst>
                <a:ext uri="{FF2B5EF4-FFF2-40B4-BE49-F238E27FC236}">
                  <a16:creationId xmlns:a16="http://schemas.microsoft.com/office/drawing/2014/main" id="{56F65E54-58DA-4EFE-99B7-55AC245F4AE3}"/>
                </a:ext>
              </a:extLst>
            </p:cNvPr>
            <p:cNvSpPr>
              <a:spLocks noChangeShapeType="1"/>
            </p:cNvSpPr>
            <p:nvPr/>
          </p:nvSpPr>
          <p:spPr bwMode="auto">
            <a:xfrm>
              <a:off x="3733800" y="5943600"/>
              <a:ext cx="626916" cy="0"/>
            </a:xfrm>
            <a:prstGeom prst="line">
              <a:avLst/>
            </a:prstGeom>
            <a:noFill/>
            <a:ln w="38100">
              <a:solidFill>
                <a:srgbClr val="0000FF"/>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randombar(horizontal)">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randombar(horizontal)">
                                      <p:cBhvr>
                                        <p:cTn id="17" dur="500"/>
                                        <p:tgtEl>
                                          <p:spTgt spid="2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randombar(horizontal)">
                                      <p:cBhvr>
                                        <p:cTn id="22" dur="500"/>
                                        <p:tgtEl>
                                          <p:spTgt spid="2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randombar(horizontal)">
                                      <p:cBhvr>
                                        <p:cTn id="27" dur="500"/>
                                        <p:tgtEl>
                                          <p:spTgt spid="2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4" presetClass="entr" presetSubtype="10" fill="hold" nodeType="clickEffect">
                                  <p:stCondLst>
                                    <p:cond delay="0"/>
                                  </p:stCondLst>
                                  <p:childTnLst>
                                    <p:set>
                                      <p:cBhvr>
                                        <p:cTn id="31" dur="1" fill="hold">
                                          <p:stCondLst>
                                            <p:cond delay="0"/>
                                          </p:stCondLst>
                                        </p:cTn>
                                        <p:tgtEl>
                                          <p:spTgt spid="28"/>
                                        </p:tgtEl>
                                        <p:attrNameLst>
                                          <p:attrName>style.visibility</p:attrName>
                                        </p:attrNameLst>
                                      </p:cBhvr>
                                      <p:to>
                                        <p:strVal val="visible"/>
                                      </p:to>
                                    </p:set>
                                    <p:animEffect transition="in" filter="randombar(horizontal)">
                                      <p:cBhvr>
                                        <p:cTn id="3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4">
            <a:extLst>
              <a:ext uri="{FF2B5EF4-FFF2-40B4-BE49-F238E27FC236}">
                <a16:creationId xmlns:a16="http://schemas.microsoft.com/office/drawing/2014/main" id="{A3799FD8-F11E-4311-961C-E36CE596CC7E}"/>
              </a:ext>
            </a:extLst>
          </p:cNvPr>
          <p:cNvSpPr>
            <a:spLocks noGrp="1" noChangeArrowheads="1"/>
          </p:cNvSpPr>
          <p:nvPr>
            <p:ph type="ctrTitle"/>
          </p:nvPr>
        </p:nvSpPr>
        <p:spPr/>
        <p:txBody>
          <a:bodyPr/>
          <a:lstStyle/>
          <a:p>
            <a:pPr eaLnBrk="1" hangingPunct="1"/>
            <a:r>
              <a:rPr lang="zh-CN" altLang="en-US"/>
              <a:t>第 </a:t>
            </a:r>
            <a:r>
              <a:rPr lang="en-US" altLang="zh-CN"/>
              <a:t>3 </a:t>
            </a:r>
            <a:r>
              <a:rPr lang="zh-CN" altLang="en-US"/>
              <a:t>节 </a:t>
            </a:r>
          </a:p>
        </p:txBody>
      </p:sp>
      <p:sp>
        <p:nvSpPr>
          <p:cNvPr id="101379" name="Rectangle 5">
            <a:extLst>
              <a:ext uri="{FF2B5EF4-FFF2-40B4-BE49-F238E27FC236}">
                <a16:creationId xmlns:a16="http://schemas.microsoft.com/office/drawing/2014/main" id="{F3670E29-CD42-47B2-8909-989CAA9A576B}"/>
              </a:ext>
            </a:extLst>
          </p:cNvPr>
          <p:cNvSpPr>
            <a:spLocks noGrp="1" noChangeArrowheads="1"/>
          </p:cNvSpPr>
          <p:nvPr>
            <p:ph type="subTitle" idx="1"/>
          </p:nvPr>
        </p:nvSpPr>
        <p:spPr/>
        <p:txBody>
          <a:bodyPr/>
          <a:lstStyle/>
          <a:p>
            <a:pPr eaLnBrk="1" hangingPunct="1"/>
            <a:r>
              <a:rPr lang="zh-CN" altLang="en-US" sz="4800"/>
              <a:t>产销不平衡的运输问题</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a:extLst>
              <a:ext uri="{FF2B5EF4-FFF2-40B4-BE49-F238E27FC236}">
                <a16:creationId xmlns:a16="http://schemas.microsoft.com/office/drawing/2014/main" id="{01019CD8-E90F-4B14-B9DB-33A53CD82F99}"/>
              </a:ext>
            </a:extLst>
          </p:cNvPr>
          <p:cNvSpPr>
            <a:spLocks noGrp="1" noChangeArrowheads="1"/>
          </p:cNvSpPr>
          <p:nvPr>
            <p:ph type="title"/>
          </p:nvPr>
        </p:nvSpPr>
        <p:spPr/>
        <p:txBody>
          <a:bodyPr/>
          <a:lstStyle/>
          <a:p>
            <a:pPr eaLnBrk="1" hangingPunct="1"/>
            <a:r>
              <a:rPr lang="zh-CN" altLang="en-US"/>
              <a:t>产销不平衡处理思路</a:t>
            </a:r>
          </a:p>
        </p:txBody>
      </p:sp>
      <p:sp>
        <p:nvSpPr>
          <p:cNvPr id="2" name="矩形 1">
            <a:extLst>
              <a:ext uri="{FF2B5EF4-FFF2-40B4-BE49-F238E27FC236}">
                <a16:creationId xmlns:a16="http://schemas.microsoft.com/office/drawing/2014/main" id="{0DF654D1-7EE5-46BE-9907-62EF1D20304C}"/>
              </a:ext>
            </a:extLst>
          </p:cNvPr>
          <p:cNvSpPr/>
          <p:nvPr/>
        </p:nvSpPr>
        <p:spPr>
          <a:xfrm>
            <a:off x="558800" y="946150"/>
            <a:ext cx="2646363" cy="1076325"/>
          </a:xfrm>
          <a:prstGeom prst="rect">
            <a:avLst/>
          </a:prstGeom>
          <a:gradFill>
            <a:gsLst>
              <a:gs pos="0">
                <a:srgbClr val="FF00FF"/>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solidFill>
              <a:srgbClr val="000000"/>
            </a:solidFill>
          </a:ln>
        </p:spPr>
        <p:txBody>
          <a:bodyPr>
            <a:spAutoFit/>
          </a:bodyPr>
          <a:lstStyle/>
          <a:p>
            <a:pPr eaLnBrk="1" hangingPunct="1">
              <a:defRPr/>
            </a:pPr>
            <a:r>
              <a:rPr lang="zh-CN" altLang="en-US" sz="3200" dirty="0"/>
              <a:t>不熟悉（不成熟）的问题</a:t>
            </a:r>
            <a:endParaRPr kumimoji="1" lang="zh-CN" altLang="en-US" sz="3200" dirty="0"/>
          </a:p>
        </p:txBody>
      </p:sp>
      <p:grpSp>
        <p:nvGrpSpPr>
          <p:cNvPr id="16" name="组合 15">
            <a:extLst>
              <a:ext uri="{FF2B5EF4-FFF2-40B4-BE49-F238E27FC236}">
                <a16:creationId xmlns:a16="http://schemas.microsoft.com/office/drawing/2014/main" id="{1F96E970-AB17-4939-92BA-9FF8ECFD29FB}"/>
              </a:ext>
            </a:extLst>
          </p:cNvPr>
          <p:cNvGrpSpPr>
            <a:grpSpLocks/>
          </p:cNvGrpSpPr>
          <p:nvPr/>
        </p:nvGrpSpPr>
        <p:grpSpPr bwMode="auto">
          <a:xfrm>
            <a:off x="1295400" y="2286000"/>
            <a:ext cx="2628900" cy="1323975"/>
            <a:chOff x="1295398" y="2286000"/>
            <a:chExt cx="2628900" cy="1323976"/>
          </a:xfrm>
        </p:grpSpPr>
        <p:sp>
          <p:nvSpPr>
            <p:cNvPr id="18" name="Text Box 4">
              <a:extLst>
                <a:ext uri="{FF2B5EF4-FFF2-40B4-BE49-F238E27FC236}">
                  <a16:creationId xmlns:a16="http://schemas.microsoft.com/office/drawing/2014/main" id="{97AA7762-35F1-424A-B169-C499A70EEBCE}"/>
                </a:ext>
              </a:extLst>
            </p:cNvPr>
            <p:cNvSpPr txBox="1">
              <a:spLocks noChangeArrowheads="1"/>
            </p:cNvSpPr>
            <p:nvPr/>
          </p:nvSpPr>
          <p:spPr bwMode="auto">
            <a:xfrm>
              <a:off x="1295398" y="2286000"/>
              <a:ext cx="1905000" cy="1323976"/>
            </a:xfrm>
            <a:prstGeom prst="rect">
              <a:avLst/>
            </a:prstGeom>
            <a:solidFill>
              <a:srgbClr val="C1F5FB"/>
            </a:solidFill>
            <a:ln>
              <a:noFill/>
            </a:ln>
            <a:effectLst/>
          </p:spPr>
          <p:txBody>
            <a:bodyPr>
              <a:spAutoFit/>
            </a:bodyPr>
            <a:lstStyle/>
            <a:p>
              <a:pPr>
                <a:spcBef>
                  <a:spcPct val="50000"/>
                </a:spcBef>
                <a:defRPr/>
              </a:pPr>
              <a:r>
                <a:rPr lang="zh-CN" altLang="en-US" sz="3200" b="1" dirty="0">
                  <a:solidFill>
                    <a:srgbClr val="462FEF"/>
                  </a:solidFill>
                  <a:effectLst>
                    <a:outerShdw blurRad="38100" dist="38100" dir="2700000" algn="tl">
                      <a:srgbClr val="000000"/>
                    </a:outerShdw>
                  </a:effectLst>
                </a:rPr>
                <a:t>供大于求</a:t>
              </a:r>
              <a:endParaRPr lang="en-US" altLang="zh-CN" sz="3200" b="1" dirty="0">
                <a:solidFill>
                  <a:srgbClr val="462FEF"/>
                </a:solidFill>
                <a:effectLst>
                  <a:outerShdw blurRad="38100" dist="38100" dir="2700000" algn="tl">
                    <a:srgbClr val="000000"/>
                  </a:outerShdw>
                </a:effectLst>
              </a:endParaRPr>
            </a:p>
            <a:p>
              <a:pPr>
                <a:spcBef>
                  <a:spcPct val="50000"/>
                </a:spcBef>
                <a:defRPr/>
              </a:pPr>
              <a:r>
                <a:rPr lang="zh-CN" altLang="en-US" sz="3200" b="1" dirty="0">
                  <a:solidFill>
                    <a:srgbClr val="462FEF"/>
                  </a:solidFill>
                  <a:effectLst>
                    <a:outerShdw blurRad="38100" dist="38100" dir="2700000" algn="tl">
                      <a:srgbClr val="000000"/>
                    </a:outerShdw>
                  </a:effectLst>
                </a:rPr>
                <a:t>产大于销</a:t>
              </a:r>
            </a:p>
          </p:txBody>
        </p:sp>
        <p:sp>
          <p:nvSpPr>
            <p:cNvPr id="102422" name="AutoShape 6">
              <a:extLst>
                <a:ext uri="{FF2B5EF4-FFF2-40B4-BE49-F238E27FC236}">
                  <a16:creationId xmlns:a16="http://schemas.microsoft.com/office/drawing/2014/main" id="{CE9CDD66-95BF-478C-B8E5-4B9FF799A661}"/>
                </a:ext>
              </a:extLst>
            </p:cNvPr>
            <p:cNvSpPr>
              <a:spLocks noChangeArrowheads="1"/>
            </p:cNvSpPr>
            <p:nvPr/>
          </p:nvSpPr>
          <p:spPr bwMode="auto">
            <a:xfrm>
              <a:off x="3238498" y="2871787"/>
              <a:ext cx="685800"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31" name="组合 30">
            <a:extLst>
              <a:ext uri="{FF2B5EF4-FFF2-40B4-BE49-F238E27FC236}">
                <a16:creationId xmlns:a16="http://schemas.microsoft.com/office/drawing/2014/main" id="{AE735168-0FD7-46AF-981D-04CDE4729D7A}"/>
              </a:ext>
            </a:extLst>
          </p:cNvPr>
          <p:cNvGrpSpPr>
            <a:grpSpLocks/>
          </p:cNvGrpSpPr>
          <p:nvPr/>
        </p:nvGrpSpPr>
        <p:grpSpPr bwMode="auto">
          <a:xfrm>
            <a:off x="1333500" y="3862388"/>
            <a:ext cx="2590800" cy="1323975"/>
            <a:chOff x="1333498" y="3862388"/>
            <a:chExt cx="2590800" cy="1323976"/>
          </a:xfrm>
        </p:grpSpPr>
        <p:sp>
          <p:nvSpPr>
            <p:cNvPr id="19" name="Text Box 5">
              <a:extLst>
                <a:ext uri="{FF2B5EF4-FFF2-40B4-BE49-F238E27FC236}">
                  <a16:creationId xmlns:a16="http://schemas.microsoft.com/office/drawing/2014/main" id="{6E3EB5C6-E926-4D64-9B0A-C8887C50C8B1}"/>
                </a:ext>
              </a:extLst>
            </p:cNvPr>
            <p:cNvSpPr txBox="1">
              <a:spLocks noChangeArrowheads="1"/>
            </p:cNvSpPr>
            <p:nvPr/>
          </p:nvSpPr>
          <p:spPr bwMode="auto">
            <a:xfrm>
              <a:off x="1333498" y="3862388"/>
              <a:ext cx="1905000" cy="1323976"/>
            </a:xfrm>
            <a:prstGeom prst="rect">
              <a:avLst/>
            </a:prstGeom>
            <a:solidFill>
              <a:srgbClr val="C1F5FB"/>
            </a:solidFill>
            <a:ln>
              <a:noFill/>
            </a:ln>
            <a:effectLst/>
          </p:spPr>
          <p:txBody>
            <a:bodyPr>
              <a:spAutoFit/>
            </a:bodyPr>
            <a:lstStyle/>
            <a:p>
              <a:pPr>
                <a:spcBef>
                  <a:spcPct val="50000"/>
                </a:spcBef>
                <a:defRPr/>
              </a:pPr>
              <a:r>
                <a:rPr lang="zh-CN" altLang="en-US" sz="3200" b="1" dirty="0">
                  <a:solidFill>
                    <a:srgbClr val="462FEF"/>
                  </a:solidFill>
                  <a:effectLst>
                    <a:outerShdw blurRad="38100" dist="38100" dir="2700000" algn="tl">
                      <a:srgbClr val="000000"/>
                    </a:outerShdw>
                  </a:effectLst>
                </a:rPr>
                <a:t>供不应求</a:t>
              </a:r>
              <a:endParaRPr lang="en-US" altLang="zh-CN" sz="3200" b="1" dirty="0">
                <a:solidFill>
                  <a:srgbClr val="462FEF"/>
                </a:solidFill>
                <a:effectLst>
                  <a:outerShdw blurRad="38100" dist="38100" dir="2700000" algn="tl">
                    <a:srgbClr val="000000"/>
                  </a:outerShdw>
                </a:effectLst>
              </a:endParaRPr>
            </a:p>
            <a:p>
              <a:pPr>
                <a:spcBef>
                  <a:spcPct val="50000"/>
                </a:spcBef>
                <a:defRPr/>
              </a:pPr>
              <a:r>
                <a:rPr lang="zh-CN" altLang="en-US" sz="3200" b="1" dirty="0">
                  <a:solidFill>
                    <a:srgbClr val="462FEF"/>
                  </a:solidFill>
                  <a:effectLst>
                    <a:outerShdw blurRad="38100" dist="38100" dir="2700000" algn="tl">
                      <a:srgbClr val="000000"/>
                    </a:outerShdw>
                  </a:effectLst>
                </a:rPr>
                <a:t>销大于产</a:t>
              </a:r>
            </a:p>
          </p:txBody>
        </p:sp>
        <p:sp>
          <p:nvSpPr>
            <p:cNvPr id="102420" name="AutoShape 7">
              <a:extLst>
                <a:ext uri="{FF2B5EF4-FFF2-40B4-BE49-F238E27FC236}">
                  <a16:creationId xmlns:a16="http://schemas.microsoft.com/office/drawing/2014/main" id="{AC8B3C7E-F6D3-4C16-B05C-20BE3122FAA4}"/>
                </a:ext>
              </a:extLst>
            </p:cNvPr>
            <p:cNvSpPr>
              <a:spLocks noChangeArrowheads="1"/>
            </p:cNvSpPr>
            <p:nvPr/>
          </p:nvSpPr>
          <p:spPr bwMode="auto">
            <a:xfrm>
              <a:off x="3238498" y="4319587"/>
              <a:ext cx="685800"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3" name="Text Box 8">
            <a:extLst>
              <a:ext uri="{FF2B5EF4-FFF2-40B4-BE49-F238E27FC236}">
                <a16:creationId xmlns:a16="http://schemas.microsoft.com/office/drawing/2014/main" id="{021468CE-D631-4F24-B809-6E0C80F37F48}"/>
              </a:ext>
            </a:extLst>
          </p:cNvPr>
          <p:cNvSpPr txBox="1">
            <a:spLocks noChangeArrowheads="1"/>
          </p:cNvSpPr>
          <p:nvPr/>
        </p:nvSpPr>
        <p:spPr bwMode="auto">
          <a:xfrm>
            <a:off x="4000500" y="2719388"/>
            <a:ext cx="2514600" cy="519112"/>
          </a:xfrm>
          <a:prstGeom prst="rect">
            <a:avLst/>
          </a:prstGeom>
          <a:solidFill>
            <a:schemeClr val="bg1"/>
          </a:solidFill>
          <a:ln>
            <a:noFill/>
          </a:ln>
          <a:effectLst/>
        </p:spPr>
        <p:txBody>
          <a:bodyPr>
            <a:spAutoFit/>
          </a:bodyPr>
          <a:lstStyle/>
          <a:p>
            <a:pPr>
              <a:spcBef>
                <a:spcPct val="50000"/>
              </a:spcBef>
              <a:defRPr/>
            </a:pPr>
            <a:r>
              <a:rPr lang="zh-CN" altLang="en-US" sz="2800" b="1" dirty="0">
                <a:solidFill>
                  <a:schemeClr val="tx2"/>
                </a:solidFill>
                <a:effectLst>
                  <a:outerShdw blurRad="38100" dist="38100" dir="2700000" algn="tl">
                    <a:srgbClr val="C0C0C0"/>
                  </a:outerShdw>
                </a:effectLst>
              </a:rPr>
              <a:t>增加虚拟销地</a:t>
            </a:r>
            <a:r>
              <a:rPr lang="zh-CN" altLang="en-US" dirty="0">
                <a:solidFill>
                  <a:schemeClr val="tx2"/>
                </a:solidFill>
              </a:rPr>
              <a:t> </a:t>
            </a:r>
          </a:p>
        </p:txBody>
      </p:sp>
      <p:sp>
        <p:nvSpPr>
          <p:cNvPr id="24" name="Text Box 9">
            <a:extLst>
              <a:ext uri="{FF2B5EF4-FFF2-40B4-BE49-F238E27FC236}">
                <a16:creationId xmlns:a16="http://schemas.microsoft.com/office/drawing/2014/main" id="{A3ECF33F-6E5D-4580-AC84-1378F1B8D784}"/>
              </a:ext>
            </a:extLst>
          </p:cNvPr>
          <p:cNvSpPr txBox="1">
            <a:spLocks noChangeArrowheads="1"/>
          </p:cNvSpPr>
          <p:nvPr/>
        </p:nvSpPr>
        <p:spPr bwMode="auto">
          <a:xfrm>
            <a:off x="4000500" y="4243388"/>
            <a:ext cx="2514600" cy="519112"/>
          </a:xfrm>
          <a:prstGeom prst="rect">
            <a:avLst/>
          </a:prstGeom>
          <a:solidFill>
            <a:schemeClr val="bg1"/>
          </a:solidFill>
          <a:ln>
            <a:noFill/>
          </a:ln>
          <a:effectLst/>
        </p:spPr>
        <p:txBody>
          <a:bodyPr>
            <a:spAutoFit/>
          </a:bodyPr>
          <a:lstStyle/>
          <a:p>
            <a:pPr>
              <a:spcBef>
                <a:spcPct val="50000"/>
              </a:spcBef>
              <a:defRPr/>
            </a:pPr>
            <a:r>
              <a:rPr lang="zh-CN" altLang="en-US" sz="2800" b="1" dirty="0">
                <a:solidFill>
                  <a:schemeClr val="tx2"/>
                </a:solidFill>
                <a:effectLst>
                  <a:outerShdw blurRad="38100" dist="38100" dir="2700000" algn="tl">
                    <a:srgbClr val="C0C0C0"/>
                  </a:outerShdw>
                </a:effectLst>
              </a:rPr>
              <a:t>增加虚拟产地</a:t>
            </a:r>
            <a:r>
              <a:rPr lang="zh-CN" altLang="en-US" dirty="0">
                <a:solidFill>
                  <a:schemeClr val="tx2"/>
                </a:solidFill>
              </a:rPr>
              <a:t> </a:t>
            </a:r>
          </a:p>
        </p:txBody>
      </p:sp>
      <p:sp>
        <p:nvSpPr>
          <p:cNvPr id="25" name="Text Box 12">
            <a:extLst>
              <a:ext uri="{FF2B5EF4-FFF2-40B4-BE49-F238E27FC236}">
                <a16:creationId xmlns:a16="http://schemas.microsoft.com/office/drawing/2014/main" id="{4A5F8F93-DBF6-4433-BCDB-A876B729F252}"/>
              </a:ext>
            </a:extLst>
          </p:cNvPr>
          <p:cNvSpPr txBox="1">
            <a:spLocks noChangeArrowheads="1"/>
          </p:cNvSpPr>
          <p:nvPr/>
        </p:nvSpPr>
        <p:spPr bwMode="auto">
          <a:xfrm>
            <a:off x="1866900" y="5286375"/>
            <a:ext cx="4648200" cy="641350"/>
          </a:xfrm>
          <a:prstGeom prst="rect">
            <a:avLst/>
          </a:prstGeom>
          <a:solidFill>
            <a:srgbClr val="FFFF00"/>
          </a:solidFill>
          <a:ln>
            <a:noFill/>
          </a:ln>
          <a:effectLst/>
        </p:spPr>
        <p:txBody>
          <a:bodyPr>
            <a:spAutoFit/>
          </a:bodyPr>
          <a:lstStyle/>
          <a:p>
            <a:pPr>
              <a:spcBef>
                <a:spcPct val="50000"/>
              </a:spcBef>
              <a:defRPr/>
            </a:pPr>
            <a:r>
              <a:rPr lang="zh-CN" altLang="en-US" sz="3600" b="1">
                <a:solidFill>
                  <a:srgbClr val="CC0066"/>
                </a:solidFill>
                <a:effectLst>
                  <a:outerShdw blurRad="38100" dist="38100" dir="2700000" algn="tl">
                    <a:srgbClr val="000000"/>
                  </a:outerShdw>
                </a:effectLst>
              </a:rPr>
              <a:t>产销平衡的运输问题</a:t>
            </a:r>
          </a:p>
        </p:txBody>
      </p:sp>
      <p:sp>
        <p:nvSpPr>
          <p:cNvPr id="26" name="Text Box 13">
            <a:extLst>
              <a:ext uri="{FF2B5EF4-FFF2-40B4-BE49-F238E27FC236}">
                <a16:creationId xmlns:a16="http://schemas.microsoft.com/office/drawing/2014/main" id="{2799B21B-AA6E-4BFA-B95D-77BA81892F06}"/>
              </a:ext>
            </a:extLst>
          </p:cNvPr>
          <p:cNvSpPr txBox="1">
            <a:spLocks noChangeArrowheads="1"/>
          </p:cNvSpPr>
          <p:nvPr/>
        </p:nvSpPr>
        <p:spPr bwMode="auto">
          <a:xfrm>
            <a:off x="1866900" y="5964238"/>
            <a:ext cx="5334000" cy="641350"/>
          </a:xfrm>
          <a:prstGeom prst="rect">
            <a:avLst/>
          </a:prstGeom>
          <a:solidFill>
            <a:schemeClr val="bg1"/>
          </a:solidFill>
          <a:ln>
            <a:noFill/>
          </a:ln>
          <a:effectLst/>
        </p:spPr>
        <p:txBody>
          <a:bodyPr>
            <a:spAutoFit/>
          </a:bodyPr>
          <a:lstStyle/>
          <a:p>
            <a:pPr>
              <a:spcBef>
                <a:spcPct val="50000"/>
              </a:spcBef>
              <a:defRPr/>
            </a:pPr>
            <a:r>
              <a:rPr lang="zh-CN" altLang="en-US" sz="3200" b="1" dirty="0">
                <a:solidFill>
                  <a:schemeClr val="tx2"/>
                </a:solidFill>
                <a:effectLst>
                  <a:outerShdw blurRad="38100" dist="38100" dir="2700000" algn="tl">
                    <a:srgbClr val="C0C0C0"/>
                  </a:outerShdw>
                </a:effectLst>
              </a:rPr>
              <a:t>对应的运价</a:t>
            </a:r>
            <a:r>
              <a:rPr lang="zh-CN" altLang="en-US" dirty="0"/>
              <a:t>     </a:t>
            </a:r>
            <a:r>
              <a:rPr lang="zh-CN" altLang="en-US" sz="3600" b="1" dirty="0">
                <a:solidFill>
                  <a:schemeClr val="tx2"/>
                </a:solidFill>
              </a:rPr>
              <a:t>？</a:t>
            </a:r>
          </a:p>
        </p:txBody>
      </p:sp>
      <p:sp>
        <p:nvSpPr>
          <p:cNvPr id="27" name="Oval 14">
            <a:extLst>
              <a:ext uri="{FF2B5EF4-FFF2-40B4-BE49-F238E27FC236}">
                <a16:creationId xmlns:a16="http://schemas.microsoft.com/office/drawing/2014/main" id="{7E468E83-395F-4EFE-96E1-1FE0502507BC}"/>
              </a:ext>
            </a:extLst>
          </p:cNvPr>
          <p:cNvSpPr>
            <a:spLocks noChangeArrowheads="1"/>
          </p:cNvSpPr>
          <p:nvPr/>
        </p:nvSpPr>
        <p:spPr bwMode="auto">
          <a:xfrm>
            <a:off x="4114800" y="5964238"/>
            <a:ext cx="762000" cy="609600"/>
          </a:xfrm>
          <a:prstGeom prst="ellipse">
            <a:avLst/>
          </a:prstGeom>
          <a:noFill/>
          <a:ln w="57150">
            <a:solidFill>
              <a:srgbClr val="F7557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28" name="Group 16">
            <a:extLst>
              <a:ext uri="{FF2B5EF4-FFF2-40B4-BE49-F238E27FC236}">
                <a16:creationId xmlns:a16="http://schemas.microsoft.com/office/drawing/2014/main" id="{8A8C6D17-4C5E-440A-AF9A-962F625ACA2A}"/>
              </a:ext>
            </a:extLst>
          </p:cNvPr>
          <p:cNvGrpSpPr>
            <a:grpSpLocks/>
          </p:cNvGrpSpPr>
          <p:nvPr/>
        </p:nvGrpSpPr>
        <p:grpSpPr bwMode="auto">
          <a:xfrm>
            <a:off x="6781800" y="3757613"/>
            <a:ext cx="1447800" cy="2133600"/>
            <a:chOff x="4224" y="1824"/>
            <a:chExt cx="912" cy="1344"/>
          </a:xfrm>
        </p:grpSpPr>
        <p:sp>
          <p:nvSpPr>
            <p:cNvPr id="102417" name="AutoShape 10">
              <a:extLst>
                <a:ext uri="{FF2B5EF4-FFF2-40B4-BE49-F238E27FC236}">
                  <a16:creationId xmlns:a16="http://schemas.microsoft.com/office/drawing/2014/main" id="{002A8726-67CE-42D8-92CD-A69B6EF6537F}"/>
                </a:ext>
              </a:extLst>
            </p:cNvPr>
            <p:cNvSpPr>
              <a:spLocks noChangeArrowheads="1"/>
            </p:cNvSpPr>
            <p:nvPr/>
          </p:nvSpPr>
          <p:spPr bwMode="auto">
            <a:xfrm>
              <a:off x="4224" y="1824"/>
              <a:ext cx="912" cy="1344"/>
            </a:xfrm>
            <a:prstGeom prst="curvedLeftArrow">
              <a:avLst>
                <a:gd name="adj1" fmla="val 29474"/>
                <a:gd name="adj2" fmla="val 58947"/>
                <a:gd name="adj3" fmla="val 33333"/>
              </a:avLst>
            </a:prstGeom>
            <a:solidFill>
              <a:srgbClr val="589E4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102418" name="Text Box 15">
              <a:extLst>
                <a:ext uri="{FF2B5EF4-FFF2-40B4-BE49-F238E27FC236}">
                  <a16:creationId xmlns:a16="http://schemas.microsoft.com/office/drawing/2014/main" id="{BA4421F9-75A8-4D50-999A-0B8D96D44138}"/>
                </a:ext>
              </a:extLst>
            </p:cNvPr>
            <p:cNvSpPr txBox="1">
              <a:spLocks noChangeArrowheads="1"/>
            </p:cNvSpPr>
            <p:nvPr/>
          </p:nvSpPr>
          <p:spPr bwMode="auto">
            <a:xfrm>
              <a:off x="4272" y="2160"/>
              <a:ext cx="86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3200" b="1">
                  <a:solidFill>
                    <a:srgbClr val="800080"/>
                  </a:solidFill>
                </a:rPr>
                <a:t>转化</a:t>
              </a:r>
            </a:p>
          </p:txBody>
        </p:sp>
      </p:grpSp>
      <p:grpSp>
        <p:nvGrpSpPr>
          <p:cNvPr id="12" name="组合 11">
            <a:extLst>
              <a:ext uri="{FF2B5EF4-FFF2-40B4-BE49-F238E27FC236}">
                <a16:creationId xmlns:a16="http://schemas.microsoft.com/office/drawing/2014/main" id="{362AFA12-12DB-4E70-9243-87774C6B1473}"/>
              </a:ext>
            </a:extLst>
          </p:cNvPr>
          <p:cNvGrpSpPr>
            <a:grpSpLocks/>
          </p:cNvGrpSpPr>
          <p:nvPr/>
        </p:nvGrpSpPr>
        <p:grpSpPr bwMode="auto">
          <a:xfrm>
            <a:off x="3359150" y="914400"/>
            <a:ext cx="3727450" cy="1077913"/>
            <a:chOff x="3358882" y="914400"/>
            <a:chExt cx="3727718" cy="1077218"/>
          </a:xfrm>
        </p:grpSpPr>
        <p:grpSp>
          <p:nvGrpSpPr>
            <p:cNvPr id="102413" name="组合 5">
              <a:extLst>
                <a:ext uri="{FF2B5EF4-FFF2-40B4-BE49-F238E27FC236}">
                  <a16:creationId xmlns:a16="http://schemas.microsoft.com/office/drawing/2014/main" id="{5871C662-E8D9-4D39-91A2-78A06CFB7927}"/>
                </a:ext>
              </a:extLst>
            </p:cNvPr>
            <p:cNvGrpSpPr>
              <a:grpSpLocks/>
            </p:cNvGrpSpPr>
            <p:nvPr/>
          </p:nvGrpSpPr>
          <p:grpSpPr bwMode="auto">
            <a:xfrm>
              <a:off x="3358882" y="914400"/>
              <a:ext cx="3727718" cy="1077218"/>
              <a:chOff x="3463497" y="981740"/>
              <a:chExt cx="3030348" cy="1077218"/>
            </a:xfrm>
          </p:grpSpPr>
          <p:sp>
            <p:nvSpPr>
              <p:cNvPr id="14" name="矩形 13">
                <a:extLst>
                  <a:ext uri="{FF2B5EF4-FFF2-40B4-BE49-F238E27FC236}">
                    <a16:creationId xmlns:a16="http://schemas.microsoft.com/office/drawing/2014/main" id="{4D023828-215E-4DCD-87FD-96DAD7C7D3ED}"/>
                  </a:ext>
                </a:extLst>
              </p:cNvPr>
              <p:cNvSpPr/>
              <p:nvPr/>
            </p:nvSpPr>
            <p:spPr>
              <a:xfrm>
                <a:off x="4417257" y="981740"/>
                <a:ext cx="2076588" cy="1077218"/>
              </a:xfrm>
              <a:prstGeom prst="rect">
                <a:avLst/>
              </a:prstGeom>
              <a:gradFill>
                <a:gsLst>
                  <a:gs pos="0">
                    <a:srgbClr val="FF00FF"/>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solidFill>
                  <a:srgbClr val="000000"/>
                </a:solidFill>
              </a:ln>
            </p:spPr>
            <p:txBody>
              <a:bodyPr>
                <a:spAutoFit/>
              </a:bodyPr>
              <a:lstStyle/>
              <a:p>
                <a:pPr eaLnBrk="1" hangingPunct="1">
                  <a:defRPr/>
                </a:pPr>
                <a:r>
                  <a:rPr lang="zh-CN" altLang="en-US" sz="3200" dirty="0"/>
                  <a:t>熟悉（成熟）的问题</a:t>
                </a:r>
                <a:endParaRPr kumimoji="1" lang="zh-CN" altLang="en-US" sz="3200" dirty="0"/>
              </a:p>
            </p:txBody>
          </p:sp>
          <p:sp>
            <p:nvSpPr>
              <p:cNvPr id="15" name="箭头: 下 14">
                <a:extLst>
                  <a:ext uri="{FF2B5EF4-FFF2-40B4-BE49-F238E27FC236}">
                    <a16:creationId xmlns:a16="http://schemas.microsoft.com/office/drawing/2014/main" id="{F0C7D712-055E-4E12-9981-D5C220F39CAF}"/>
                  </a:ext>
                </a:extLst>
              </p:cNvPr>
              <p:cNvSpPr/>
              <p:nvPr/>
            </p:nvSpPr>
            <p:spPr bwMode="auto">
              <a:xfrm rot="16200000">
                <a:off x="3673056" y="1097409"/>
                <a:ext cx="534642" cy="95376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grpSp>
        <p:sp>
          <p:nvSpPr>
            <p:cNvPr id="102414" name="矩形 10">
              <a:extLst>
                <a:ext uri="{FF2B5EF4-FFF2-40B4-BE49-F238E27FC236}">
                  <a16:creationId xmlns:a16="http://schemas.microsoft.com/office/drawing/2014/main" id="{4DA0A157-EE44-404D-A824-1FEE22E64E50}"/>
                </a:ext>
              </a:extLst>
            </p:cNvPr>
            <p:cNvSpPr>
              <a:spLocks noChangeArrowheads="1"/>
            </p:cNvSpPr>
            <p:nvPr/>
          </p:nvSpPr>
          <p:spPr bwMode="auto">
            <a:xfrm>
              <a:off x="3557835" y="1055554"/>
              <a:ext cx="6495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solidFill>
                    <a:srgbClr val="FF0000"/>
                  </a:solidFill>
                </a:rPr>
                <a:t>转化</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randombar(horizontal)">
                                      <p:cBhvr>
                                        <p:cTn id="7" dur="5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randombar(horizontal)">
                                      <p:cBhvr>
                                        <p:cTn id="12" dur="500"/>
                                        <p:tgtEl>
                                          <p:spTgt spid="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barn(inVertical)">
                                      <p:cBhvr>
                                        <p:cTn id="17" dur="500"/>
                                        <p:tgtEl>
                                          <p:spTgt spid="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randombar(horizontal)">
                                      <p:cBhvr>
                                        <p:cTn id="22" dur="500"/>
                                        <p:tgtEl>
                                          <p:spTgt spid="3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barn(inVertical)">
                                      <p:cBhvr>
                                        <p:cTn id="27" dur="500"/>
                                        <p:tgtEl>
                                          <p:spTgt spid="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7" presetClass="entr" presetSubtype="1" fill="hold" nodeType="click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ppt_x</p:attrName>
                                        </p:attrNameLst>
                                      </p:cBhvr>
                                      <p:tavLst>
                                        <p:tav tm="0">
                                          <p:val>
                                            <p:strVal val="#ppt_x"/>
                                          </p:val>
                                        </p:tav>
                                        <p:tav tm="100000">
                                          <p:val>
                                            <p:strVal val="#ppt_x"/>
                                          </p:val>
                                        </p:tav>
                                      </p:tavLst>
                                    </p:anim>
                                    <p:anim calcmode="lin" valueType="num">
                                      <p:cBhvr>
                                        <p:cTn id="33" dur="500" fill="hold"/>
                                        <p:tgtEl>
                                          <p:spTgt spid="28"/>
                                        </p:tgtEl>
                                        <p:attrNameLst>
                                          <p:attrName>ppt_y</p:attrName>
                                        </p:attrNameLst>
                                      </p:cBhvr>
                                      <p:tavLst>
                                        <p:tav tm="0">
                                          <p:val>
                                            <p:strVal val="#ppt_y-#ppt_h/2"/>
                                          </p:val>
                                        </p:tav>
                                        <p:tav tm="100000">
                                          <p:val>
                                            <p:strVal val="#ppt_y"/>
                                          </p:val>
                                        </p:tav>
                                      </p:tavLst>
                                    </p:anim>
                                    <p:anim calcmode="lin" valueType="num">
                                      <p:cBhvr>
                                        <p:cTn id="34" dur="500" fill="hold"/>
                                        <p:tgtEl>
                                          <p:spTgt spid="28"/>
                                        </p:tgtEl>
                                        <p:attrNameLst>
                                          <p:attrName>ppt_w</p:attrName>
                                        </p:attrNameLst>
                                      </p:cBhvr>
                                      <p:tavLst>
                                        <p:tav tm="0">
                                          <p:val>
                                            <p:strVal val="#ppt_w"/>
                                          </p:val>
                                        </p:tav>
                                        <p:tav tm="100000">
                                          <p:val>
                                            <p:strVal val="#ppt_w"/>
                                          </p:val>
                                        </p:tav>
                                      </p:tavLst>
                                    </p:anim>
                                    <p:anim calcmode="lin" valueType="num">
                                      <p:cBhvr>
                                        <p:cTn id="35" dur="500" fill="hold"/>
                                        <p:tgtEl>
                                          <p:spTgt spid="28"/>
                                        </p:tgtEl>
                                        <p:attrNameLst>
                                          <p:attrName>ppt_h</p:attrName>
                                        </p:attrNameLst>
                                      </p:cBhvr>
                                      <p:tavLst>
                                        <p:tav tm="0">
                                          <p:val>
                                            <p:fltVal val="0"/>
                                          </p:val>
                                        </p:tav>
                                        <p:tav tm="100000">
                                          <p:val>
                                            <p:strVal val="#ppt_h"/>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3" presetClass="entr" presetSubtype="16" fill="hold" grpId="0" nodeType="clickEffect">
                                  <p:stCondLst>
                                    <p:cond delay="0"/>
                                  </p:stCondLst>
                                  <p:childTnLst>
                                    <p:set>
                                      <p:cBhvr>
                                        <p:cTn id="39" dur="1" fill="hold">
                                          <p:stCondLst>
                                            <p:cond delay="0"/>
                                          </p:stCondLst>
                                        </p:cTn>
                                        <p:tgtEl>
                                          <p:spTgt spid="25"/>
                                        </p:tgtEl>
                                        <p:attrNameLst>
                                          <p:attrName>style.visibility</p:attrName>
                                        </p:attrNameLst>
                                      </p:cBhvr>
                                      <p:to>
                                        <p:strVal val="visible"/>
                                      </p:to>
                                    </p:set>
                                    <p:anim calcmode="lin" valueType="num">
                                      <p:cBhvr>
                                        <p:cTn id="40" dur="500" fill="hold"/>
                                        <p:tgtEl>
                                          <p:spTgt spid="25"/>
                                        </p:tgtEl>
                                        <p:attrNameLst>
                                          <p:attrName>ppt_w</p:attrName>
                                        </p:attrNameLst>
                                      </p:cBhvr>
                                      <p:tavLst>
                                        <p:tav tm="0">
                                          <p:val>
                                            <p:fltVal val="0"/>
                                          </p:val>
                                        </p:tav>
                                        <p:tav tm="100000">
                                          <p:val>
                                            <p:strVal val="#ppt_w"/>
                                          </p:val>
                                        </p:tav>
                                      </p:tavLst>
                                    </p:anim>
                                    <p:anim calcmode="lin" valueType="num">
                                      <p:cBhvr>
                                        <p:cTn id="41" dur="500" fill="hold"/>
                                        <p:tgtEl>
                                          <p:spTgt spid="25"/>
                                        </p:tgtEl>
                                        <p:attrNameLst>
                                          <p:attrName>ppt_h</p:attrName>
                                        </p:attrNameLst>
                                      </p:cBhvr>
                                      <p:tavLst>
                                        <p:tav tm="0">
                                          <p:val>
                                            <p:fltVal val="0"/>
                                          </p:val>
                                        </p:tav>
                                        <p:tav tm="100000">
                                          <p:val>
                                            <p:strVal val="#ppt_h"/>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7" presetClass="entr" presetSubtype="4" fill="hold" grpId="0" nodeType="clickEffect">
                                  <p:stCondLst>
                                    <p:cond delay="0"/>
                                  </p:stCondLst>
                                  <p:childTnLst>
                                    <p:set>
                                      <p:cBhvr>
                                        <p:cTn id="45" dur="1" fill="hold">
                                          <p:stCondLst>
                                            <p:cond delay="0"/>
                                          </p:stCondLst>
                                        </p:cTn>
                                        <p:tgtEl>
                                          <p:spTgt spid="26"/>
                                        </p:tgtEl>
                                        <p:attrNameLst>
                                          <p:attrName>style.visibility</p:attrName>
                                        </p:attrNameLst>
                                      </p:cBhvr>
                                      <p:to>
                                        <p:strVal val="visible"/>
                                      </p:to>
                                    </p:set>
                                    <p:anim calcmode="lin" valueType="num">
                                      <p:cBhvr additive="base">
                                        <p:cTn id="46" dur="5000" fill="hold"/>
                                        <p:tgtEl>
                                          <p:spTgt spid="26"/>
                                        </p:tgtEl>
                                        <p:attrNameLst>
                                          <p:attrName>ppt_x</p:attrName>
                                        </p:attrNameLst>
                                      </p:cBhvr>
                                      <p:tavLst>
                                        <p:tav tm="0">
                                          <p:val>
                                            <p:strVal val="#ppt_x"/>
                                          </p:val>
                                        </p:tav>
                                        <p:tav tm="100000">
                                          <p:val>
                                            <p:strVal val="#ppt_x"/>
                                          </p:val>
                                        </p:tav>
                                      </p:tavLst>
                                    </p:anim>
                                    <p:anim calcmode="lin" valueType="num">
                                      <p:cBhvr additive="base">
                                        <p:cTn id="47" dur="50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19" presetClass="entr" presetSubtype="10" fill="hold" nodeType="clickEffect">
                                  <p:stCondLst>
                                    <p:cond delay="0"/>
                                  </p:stCondLst>
                                  <p:childTnLst>
                                    <p:set>
                                      <p:cBhvr>
                                        <p:cTn id="51" dur="1" fill="hold">
                                          <p:stCondLst>
                                            <p:cond delay="0"/>
                                          </p:stCondLst>
                                        </p:cTn>
                                        <p:tgtEl>
                                          <p:spTgt spid="27"/>
                                        </p:tgtEl>
                                        <p:attrNameLst>
                                          <p:attrName>style.visibility</p:attrName>
                                        </p:attrNameLst>
                                      </p:cBhvr>
                                      <p:to>
                                        <p:strVal val="visible"/>
                                      </p:to>
                                    </p:set>
                                    <p:anim calcmode="lin" valueType="num">
                                      <p:cBhvr>
                                        <p:cTn id="52" dur="5000" fill="hold"/>
                                        <p:tgtEl>
                                          <p:spTgt spid="27"/>
                                        </p:tgtEl>
                                        <p:attrNameLst>
                                          <p:attrName>ppt_w</p:attrName>
                                        </p:attrNameLst>
                                      </p:cBhvr>
                                      <p:tavLst>
                                        <p:tav tm="0" fmla="#ppt_w*sin(2.5*pi*$)">
                                          <p:val>
                                            <p:fltVal val="0"/>
                                          </p:val>
                                        </p:tav>
                                        <p:tav tm="100000">
                                          <p:val>
                                            <p:fltVal val="1"/>
                                          </p:val>
                                        </p:tav>
                                      </p:tavLst>
                                    </p:anim>
                                    <p:anim calcmode="lin" valueType="num">
                                      <p:cBhvr>
                                        <p:cTn id="53" dur="5000" fill="hold"/>
                                        <p:tgtEl>
                                          <p:spTgt spid="2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autoUpdateAnimBg="0"/>
      <p:bldP spid="24" grpId="0" animBg="1" autoUpdateAnimBg="0"/>
      <p:bldP spid="25" grpId="0" animBg="1" autoUpdateAnimBg="0"/>
      <p:bldP spid="26" grpId="0" animBg="1" autoUpdateAnimBg="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69205E07-0445-444A-B57B-E5C41AB79E2E}"/>
              </a:ext>
            </a:extLst>
          </p:cNvPr>
          <p:cNvSpPr>
            <a:spLocks noGrp="1" noChangeArrowheads="1"/>
          </p:cNvSpPr>
          <p:nvPr>
            <p:ph type="title"/>
          </p:nvPr>
        </p:nvSpPr>
        <p:spPr/>
        <p:txBody>
          <a:bodyPr/>
          <a:lstStyle/>
          <a:p>
            <a:pPr eaLnBrk="1" hangingPunct="1"/>
            <a:r>
              <a:rPr lang="zh-CN" altLang="en-US"/>
              <a:t>产销平衡</a:t>
            </a:r>
          </a:p>
        </p:txBody>
      </p:sp>
      <p:sp>
        <p:nvSpPr>
          <p:cNvPr id="172035" name="Rectangle 3">
            <a:extLst>
              <a:ext uri="{FF2B5EF4-FFF2-40B4-BE49-F238E27FC236}">
                <a16:creationId xmlns:a16="http://schemas.microsoft.com/office/drawing/2014/main" id="{5B52D5A8-1483-457B-B6A0-0E626CCF2706}"/>
              </a:ext>
            </a:extLst>
          </p:cNvPr>
          <p:cNvSpPr>
            <a:spLocks noGrp="1" noChangeArrowheads="1"/>
          </p:cNvSpPr>
          <p:nvPr>
            <p:ph type="body" sz="half" idx="1"/>
          </p:nvPr>
        </p:nvSpPr>
        <p:spPr>
          <a:xfrm>
            <a:off x="457200" y="1295400"/>
            <a:ext cx="3657600" cy="5181600"/>
          </a:xfrm>
        </p:spPr>
        <p:txBody>
          <a:bodyPr/>
          <a:lstStyle/>
          <a:p>
            <a:pPr eaLnBrk="1" hangingPunct="1">
              <a:defRPr/>
            </a:pPr>
            <a:r>
              <a:rPr lang="zh-CN" altLang="en-US" dirty="0"/>
              <a:t>数学模型</a:t>
            </a:r>
          </a:p>
          <a:p>
            <a:pPr eaLnBrk="1" hangingPunct="1">
              <a:defRPr/>
            </a:pPr>
            <a:endParaRPr kumimoji="1" lang="zh-CN" altLang="en-US" sz="2800" b="0" dirty="0"/>
          </a:p>
          <a:p>
            <a:pPr eaLnBrk="1" hangingPunct="1">
              <a:defRPr/>
            </a:pPr>
            <a:endParaRPr kumimoji="1" lang="zh-CN" altLang="en-US" sz="2800" b="0" dirty="0"/>
          </a:p>
          <a:p>
            <a:pPr eaLnBrk="1" hangingPunct="1">
              <a:defRPr/>
            </a:pPr>
            <a:endParaRPr kumimoji="1" lang="zh-CN" altLang="en-US" sz="2800" b="0" dirty="0"/>
          </a:p>
          <a:p>
            <a:pPr eaLnBrk="1" hangingPunct="1">
              <a:defRPr/>
            </a:pPr>
            <a:endParaRPr kumimoji="1" lang="zh-CN" altLang="en-US" sz="2800" dirty="0"/>
          </a:p>
          <a:p>
            <a:pPr eaLnBrk="1" hangingPunct="1">
              <a:defRPr/>
            </a:pPr>
            <a:endParaRPr kumimoji="1" lang="zh-CN" altLang="en-US" sz="2800" dirty="0"/>
          </a:p>
          <a:p>
            <a:pPr eaLnBrk="1" hangingPunct="1">
              <a:defRPr/>
            </a:pPr>
            <a:endParaRPr kumimoji="1" lang="zh-CN" altLang="en-US" sz="2800" dirty="0"/>
          </a:p>
          <a:p>
            <a:pPr marL="0" indent="0" eaLnBrk="1" hangingPunct="1">
              <a:buFont typeface="Wingdings" panose="05000000000000000000" pitchFamily="2" charset="2"/>
              <a:buNone/>
              <a:defRPr/>
            </a:pPr>
            <a:endParaRPr kumimoji="1" lang="zh-CN" altLang="en-US" sz="2800" dirty="0"/>
          </a:p>
        </p:txBody>
      </p:sp>
      <p:graphicFrame>
        <p:nvGraphicFramePr>
          <p:cNvPr id="103428" name="对象 10">
            <a:extLst>
              <a:ext uri="{FF2B5EF4-FFF2-40B4-BE49-F238E27FC236}">
                <a16:creationId xmlns:a16="http://schemas.microsoft.com/office/drawing/2014/main" id="{1272537E-2DCF-4F89-9E79-F6FEF4ECA951}"/>
              </a:ext>
            </a:extLst>
          </p:cNvPr>
          <p:cNvGraphicFramePr>
            <a:graphicFrameLocks noChangeAspect="1"/>
          </p:cNvGraphicFramePr>
          <p:nvPr/>
        </p:nvGraphicFramePr>
        <p:xfrm>
          <a:off x="376238" y="1989138"/>
          <a:ext cx="3827462" cy="3228975"/>
        </p:xfrm>
        <a:graphic>
          <a:graphicData uri="http://schemas.openxmlformats.org/presentationml/2006/ole">
            <mc:AlternateContent xmlns:mc="http://schemas.openxmlformats.org/markup-compatibility/2006">
              <mc:Choice xmlns:v="urn:schemas-microsoft-com:vml" Requires="v">
                <p:oleObj spid="_x0000_s103476" name="Equation" r:id="rId3" imgW="1295400" imgH="1092200" progId="Equation.DSMT4">
                  <p:embed/>
                </p:oleObj>
              </mc:Choice>
              <mc:Fallback>
                <p:oleObj name="Equation" r:id="rId3" imgW="1295400" imgH="1092200" progId="Equation.DSMT4">
                  <p:embed/>
                  <p:pic>
                    <p:nvPicPr>
                      <p:cNvPr id="0"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6238" y="1989138"/>
                        <a:ext cx="3827462" cy="3228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7285" name="对象 11">
            <a:extLst>
              <a:ext uri="{FF2B5EF4-FFF2-40B4-BE49-F238E27FC236}">
                <a16:creationId xmlns:a16="http://schemas.microsoft.com/office/drawing/2014/main" id="{5320609C-4AA0-4480-9500-38FE3C5213E2}"/>
              </a:ext>
            </a:extLst>
          </p:cNvPr>
          <p:cNvGraphicFramePr>
            <a:graphicFrameLocks noChangeAspect="1"/>
          </p:cNvGraphicFramePr>
          <p:nvPr/>
        </p:nvGraphicFramePr>
        <p:xfrm>
          <a:off x="758825" y="5240338"/>
          <a:ext cx="1651000" cy="936625"/>
        </p:xfrm>
        <a:graphic>
          <a:graphicData uri="http://schemas.openxmlformats.org/presentationml/2006/ole">
            <mc:AlternateContent xmlns:mc="http://schemas.openxmlformats.org/markup-compatibility/2006">
              <mc:Choice xmlns:v="urn:schemas-microsoft-com:vml" Requires="v">
                <p:oleObj spid="_x0000_s103477" name="Equation" r:id="rId5" imgW="558558" imgH="317362" progId="Equation.DSMT4">
                  <p:embed/>
                </p:oleObj>
              </mc:Choice>
              <mc:Fallback>
                <p:oleObj name="Equation" r:id="rId5" imgW="558558" imgH="317362" progId="Equation.DSMT4">
                  <p:embed/>
                  <p:pic>
                    <p:nvPicPr>
                      <p:cNvPr id="0"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8825" y="5240338"/>
                        <a:ext cx="1651000"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172058" name="组合 172057">
            <a:extLst>
              <a:ext uri="{FF2B5EF4-FFF2-40B4-BE49-F238E27FC236}">
                <a16:creationId xmlns:a16="http://schemas.microsoft.com/office/drawing/2014/main" id="{53302380-C717-43C4-8CF3-BA8A4EF513A5}"/>
              </a:ext>
            </a:extLst>
          </p:cNvPr>
          <p:cNvGrpSpPr>
            <a:grpSpLocks/>
          </p:cNvGrpSpPr>
          <p:nvPr/>
        </p:nvGrpSpPr>
        <p:grpSpPr bwMode="auto">
          <a:xfrm>
            <a:off x="4216400" y="1377950"/>
            <a:ext cx="4775200" cy="4341813"/>
            <a:chOff x="4216399" y="1377871"/>
            <a:chExt cx="4775201" cy="4341813"/>
          </a:xfrm>
        </p:grpSpPr>
        <p:sp>
          <p:nvSpPr>
            <p:cNvPr id="103431" name="Oval 2">
              <a:extLst>
                <a:ext uri="{FF2B5EF4-FFF2-40B4-BE49-F238E27FC236}">
                  <a16:creationId xmlns:a16="http://schemas.microsoft.com/office/drawing/2014/main" id="{57E28D8E-5AA0-49B2-9E26-05D587DB3739}"/>
                </a:ext>
              </a:extLst>
            </p:cNvPr>
            <p:cNvSpPr>
              <a:spLocks noChangeArrowheads="1"/>
            </p:cNvSpPr>
            <p:nvPr/>
          </p:nvSpPr>
          <p:spPr bwMode="auto">
            <a:xfrm>
              <a:off x="5257800" y="35098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2</a:t>
              </a:r>
            </a:p>
          </p:txBody>
        </p:sp>
        <p:sp>
          <p:nvSpPr>
            <p:cNvPr id="103432" name="Oval 3">
              <a:extLst>
                <a:ext uri="{FF2B5EF4-FFF2-40B4-BE49-F238E27FC236}">
                  <a16:creationId xmlns:a16="http://schemas.microsoft.com/office/drawing/2014/main" id="{575C0F83-99BB-4D5D-9F91-6714219141FB}"/>
                </a:ext>
              </a:extLst>
            </p:cNvPr>
            <p:cNvSpPr>
              <a:spLocks noChangeArrowheads="1"/>
            </p:cNvSpPr>
            <p:nvPr/>
          </p:nvSpPr>
          <p:spPr bwMode="auto">
            <a:xfrm>
              <a:off x="5257800" y="4576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3</a:t>
              </a:r>
            </a:p>
          </p:txBody>
        </p:sp>
        <p:sp>
          <p:nvSpPr>
            <p:cNvPr id="103433" name="Oval 5">
              <a:extLst>
                <a:ext uri="{FF2B5EF4-FFF2-40B4-BE49-F238E27FC236}">
                  <a16:creationId xmlns:a16="http://schemas.microsoft.com/office/drawing/2014/main" id="{E6808170-CA09-45E8-AD5E-9E296350BA50}"/>
                </a:ext>
              </a:extLst>
            </p:cNvPr>
            <p:cNvSpPr>
              <a:spLocks noChangeArrowheads="1"/>
            </p:cNvSpPr>
            <p:nvPr/>
          </p:nvSpPr>
          <p:spPr bwMode="auto">
            <a:xfrm>
              <a:off x="5257800" y="2384345"/>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1</a:t>
              </a:r>
            </a:p>
          </p:txBody>
        </p:sp>
        <p:sp>
          <p:nvSpPr>
            <p:cNvPr id="103434" name="Oval 4">
              <a:extLst>
                <a:ext uri="{FF2B5EF4-FFF2-40B4-BE49-F238E27FC236}">
                  <a16:creationId xmlns:a16="http://schemas.microsoft.com/office/drawing/2014/main" id="{E5DD1288-1AE7-4971-A631-5CEF576D318E}"/>
                </a:ext>
              </a:extLst>
            </p:cNvPr>
            <p:cNvSpPr>
              <a:spLocks noChangeArrowheads="1"/>
            </p:cNvSpPr>
            <p:nvPr/>
          </p:nvSpPr>
          <p:spPr bwMode="auto">
            <a:xfrm>
              <a:off x="7294561" y="3052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2</a:t>
              </a:r>
            </a:p>
          </p:txBody>
        </p:sp>
        <p:sp>
          <p:nvSpPr>
            <p:cNvPr id="103435" name="Oval 6">
              <a:extLst>
                <a:ext uri="{FF2B5EF4-FFF2-40B4-BE49-F238E27FC236}">
                  <a16:creationId xmlns:a16="http://schemas.microsoft.com/office/drawing/2014/main" id="{2E923C9D-10AC-43AB-A32E-E14C4C6E6CBC}"/>
                </a:ext>
              </a:extLst>
            </p:cNvPr>
            <p:cNvSpPr>
              <a:spLocks noChangeArrowheads="1"/>
            </p:cNvSpPr>
            <p:nvPr/>
          </p:nvSpPr>
          <p:spPr bwMode="auto">
            <a:xfrm>
              <a:off x="7294561" y="41194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3</a:t>
              </a:r>
            </a:p>
          </p:txBody>
        </p:sp>
        <p:sp>
          <p:nvSpPr>
            <p:cNvPr id="103436" name="Oval 7">
              <a:extLst>
                <a:ext uri="{FF2B5EF4-FFF2-40B4-BE49-F238E27FC236}">
                  <a16:creationId xmlns:a16="http://schemas.microsoft.com/office/drawing/2014/main" id="{17045D54-C0B3-43C4-BF1F-F75E6F2701CA}"/>
                </a:ext>
              </a:extLst>
            </p:cNvPr>
            <p:cNvSpPr>
              <a:spLocks noChangeArrowheads="1"/>
            </p:cNvSpPr>
            <p:nvPr/>
          </p:nvSpPr>
          <p:spPr bwMode="auto">
            <a:xfrm>
              <a:off x="7294561" y="52624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4</a:t>
              </a:r>
            </a:p>
          </p:txBody>
        </p:sp>
        <p:sp>
          <p:nvSpPr>
            <p:cNvPr id="103437" name="Oval 8">
              <a:extLst>
                <a:ext uri="{FF2B5EF4-FFF2-40B4-BE49-F238E27FC236}">
                  <a16:creationId xmlns:a16="http://schemas.microsoft.com/office/drawing/2014/main" id="{46DC44A4-92D5-42F7-885C-609380CCB77E}"/>
                </a:ext>
              </a:extLst>
            </p:cNvPr>
            <p:cNvSpPr>
              <a:spLocks noChangeArrowheads="1"/>
            </p:cNvSpPr>
            <p:nvPr/>
          </p:nvSpPr>
          <p:spPr bwMode="auto">
            <a:xfrm>
              <a:off x="7294561" y="1909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1</a:t>
              </a:r>
            </a:p>
          </p:txBody>
        </p:sp>
        <p:sp>
          <p:nvSpPr>
            <p:cNvPr id="103438" name="Text Box 22">
              <a:extLst>
                <a:ext uri="{FF2B5EF4-FFF2-40B4-BE49-F238E27FC236}">
                  <a16:creationId xmlns:a16="http://schemas.microsoft.com/office/drawing/2014/main" id="{E7C4F0A2-3EA2-4C25-82C1-502A55FE6D83}"/>
                </a:ext>
              </a:extLst>
            </p:cNvPr>
            <p:cNvSpPr txBox="1">
              <a:spLocks noChangeArrowheads="1"/>
            </p:cNvSpPr>
            <p:nvPr/>
          </p:nvSpPr>
          <p:spPr bwMode="auto">
            <a:xfrm>
              <a:off x="4270375" y="35098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2</a:t>
              </a:r>
              <a:r>
                <a:rPr lang="en-US" altLang="zh-CN" sz="2400"/>
                <a:t>=27</a:t>
              </a:r>
            </a:p>
          </p:txBody>
        </p:sp>
        <p:sp>
          <p:nvSpPr>
            <p:cNvPr id="103439" name="Text Box 23">
              <a:extLst>
                <a:ext uri="{FF2B5EF4-FFF2-40B4-BE49-F238E27FC236}">
                  <a16:creationId xmlns:a16="http://schemas.microsoft.com/office/drawing/2014/main" id="{419C0416-CE26-47D7-81A8-63EDDC052ADA}"/>
                </a:ext>
              </a:extLst>
            </p:cNvPr>
            <p:cNvSpPr txBox="1">
              <a:spLocks noChangeArrowheads="1"/>
            </p:cNvSpPr>
            <p:nvPr/>
          </p:nvSpPr>
          <p:spPr bwMode="auto">
            <a:xfrm>
              <a:off x="4270375" y="4576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3</a:t>
              </a:r>
              <a:r>
                <a:rPr lang="en-US" altLang="zh-CN" sz="2400"/>
                <a:t>=19</a:t>
              </a:r>
            </a:p>
          </p:txBody>
        </p:sp>
        <p:sp>
          <p:nvSpPr>
            <p:cNvPr id="103440" name="Text Box 28">
              <a:extLst>
                <a:ext uri="{FF2B5EF4-FFF2-40B4-BE49-F238E27FC236}">
                  <a16:creationId xmlns:a16="http://schemas.microsoft.com/office/drawing/2014/main" id="{7626176D-1DF3-4014-8369-7164F8300E73}"/>
                </a:ext>
              </a:extLst>
            </p:cNvPr>
            <p:cNvSpPr txBox="1">
              <a:spLocks noChangeArrowheads="1"/>
            </p:cNvSpPr>
            <p:nvPr/>
          </p:nvSpPr>
          <p:spPr bwMode="auto">
            <a:xfrm>
              <a:off x="4270375" y="23668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1</a:t>
              </a:r>
              <a:r>
                <a:rPr lang="en-US" altLang="zh-CN" sz="2400"/>
                <a:t>=14</a:t>
              </a:r>
            </a:p>
          </p:txBody>
        </p:sp>
        <p:grpSp>
          <p:nvGrpSpPr>
            <p:cNvPr id="103441" name="Group 29">
              <a:extLst>
                <a:ext uri="{FF2B5EF4-FFF2-40B4-BE49-F238E27FC236}">
                  <a16:creationId xmlns:a16="http://schemas.microsoft.com/office/drawing/2014/main" id="{80A8F309-D3BC-44D2-A9DE-685FDB2C7D0C}"/>
                </a:ext>
              </a:extLst>
            </p:cNvPr>
            <p:cNvGrpSpPr>
              <a:grpSpLocks/>
            </p:cNvGrpSpPr>
            <p:nvPr/>
          </p:nvGrpSpPr>
          <p:grpSpPr bwMode="auto">
            <a:xfrm>
              <a:off x="4270375" y="1762046"/>
              <a:ext cx="1257300" cy="1976438"/>
              <a:chOff x="912" y="1155"/>
              <a:chExt cx="792" cy="1245"/>
            </a:xfrm>
          </p:grpSpPr>
          <p:cxnSp>
            <p:nvCxnSpPr>
              <p:cNvPr id="103462" name="AutoShape 30">
                <a:extLst>
                  <a:ext uri="{FF2B5EF4-FFF2-40B4-BE49-F238E27FC236}">
                    <a16:creationId xmlns:a16="http://schemas.microsoft.com/office/drawing/2014/main" id="{89BD3782-349E-4A5C-9159-9F35DFB266E0}"/>
                  </a:ext>
                </a:extLst>
              </p:cNvPr>
              <p:cNvCxnSpPr>
                <a:cxnSpLocks noChangeShapeType="1"/>
                <a:endCxn id="103440" idx="1"/>
              </p:cNvCxnSpPr>
              <p:nvPr/>
            </p:nvCxnSpPr>
            <p:spPr bwMode="auto">
              <a:xfrm flipH="1">
                <a:off x="912" y="1155"/>
                <a:ext cx="792" cy="525"/>
              </a:xfrm>
              <a:prstGeom prst="bentConnector5">
                <a:avLst>
                  <a:gd name="adj1" fmla="val -18181"/>
                  <a:gd name="adj2" fmla="val 154806"/>
                  <a:gd name="adj3" fmla="val 118181"/>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03463" name="AutoShape 31">
                <a:extLst>
                  <a:ext uri="{FF2B5EF4-FFF2-40B4-BE49-F238E27FC236}">
                    <a16:creationId xmlns:a16="http://schemas.microsoft.com/office/drawing/2014/main" id="{ADCDB2B7-C226-449C-8420-9B1BD027C0BD}"/>
                  </a:ext>
                </a:extLst>
              </p:cNvPr>
              <p:cNvCxnSpPr>
                <a:cxnSpLocks noChangeShapeType="1"/>
                <a:endCxn id="103438" idx="1"/>
              </p:cNvCxnSpPr>
              <p:nvPr/>
            </p:nvCxnSpPr>
            <p:spPr bwMode="auto">
              <a:xfrm flipH="1">
                <a:off x="912" y="1155"/>
                <a:ext cx="792" cy="1245"/>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grpSp>
        <p:sp>
          <p:nvSpPr>
            <p:cNvPr id="103442" name="Text Box 24">
              <a:extLst>
                <a:ext uri="{FF2B5EF4-FFF2-40B4-BE49-F238E27FC236}">
                  <a16:creationId xmlns:a16="http://schemas.microsoft.com/office/drawing/2014/main" id="{19F51978-579E-4E55-977E-0B8E9D3BE653}"/>
                </a:ext>
              </a:extLst>
            </p:cNvPr>
            <p:cNvSpPr txBox="1">
              <a:spLocks noChangeArrowheads="1"/>
            </p:cNvSpPr>
            <p:nvPr/>
          </p:nvSpPr>
          <p:spPr bwMode="auto">
            <a:xfrm>
              <a:off x="7827962" y="1909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1</a:t>
              </a:r>
              <a:r>
                <a:rPr lang="en-US" altLang="zh-CN" sz="2400"/>
                <a:t>=22</a:t>
              </a:r>
            </a:p>
          </p:txBody>
        </p:sp>
        <p:sp>
          <p:nvSpPr>
            <p:cNvPr id="103443" name="Text Box 25">
              <a:extLst>
                <a:ext uri="{FF2B5EF4-FFF2-40B4-BE49-F238E27FC236}">
                  <a16:creationId xmlns:a16="http://schemas.microsoft.com/office/drawing/2014/main" id="{882CAFE4-8FA6-4F48-AC22-D592949C0BCB}"/>
                </a:ext>
              </a:extLst>
            </p:cNvPr>
            <p:cNvSpPr txBox="1">
              <a:spLocks noChangeArrowheads="1"/>
            </p:cNvSpPr>
            <p:nvPr/>
          </p:nvSpPr>
          <p:spPr bwMode="auto">
            <a:xfrm>
              <a:off x="7827962" y="3052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2</a:t>
              </a:r>
              <a:r>
                <a:rPr lang="en-US" altLang="zh-CN" sz="2400"/>
                <a:t>=13</a:t>
              </a:r>
            </a:p>
          </p:txBody>
        </p:sp>
        <p:sp>
          <p:nvSpPr>
            <p:cNvPr id="103444" name="Text Box 26">
              <a:extLst>
                <a:ext uri="{FF2B5EF4-FFF2-40B4-BE49-F238E27FC236}">
                  <a16:creationId xmlns:a16="http://schemas.microsoft.com/office/drawing/2014/main" id="{45DE6557-CE8F-4145-A570-8AFEE062A3AE}"/>
                </a:ext>
              </a:extLst>
            </p:cNvPr>
            <p:cNvSpPr txBox="1">
              <a:spLocks noChangeArrowheads="1"/>
            </p:cNvSpPr>
            <p:nvPr/>
          </p:nvSpPr>
          <p:spPr bwMode="auto">
            <a:xfrm>
              <a:off x="7904162" y="4119484"/>
              <a:ext cx="1066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3</a:t>
              </a:r>
              <a:r>
                <a:rPr lang="en-US" altLang="zh-CN" sz="2400"/>
                <a:t>=12</a:t>
              </a:r>
            </a:p>
          </p:txBody>
        </p:sp>
        <p:sp>
          <p:nvSpPr>
            <p:cNvPr id="103445" name="Text Box 27">
              <a:extLst>
                <a:ext uri="{FF2B5EF4-FFF2-40B4-BE49-F238E27FC236}">
                  <a16:creationId xmlns:a16="http://schemas.microsoft.com/office/drawing/2014/main" id="{290D111C-2E41-422E-BB0A-F0D34FF96FC2}"/>
                </a:ext>
              </a:extLst>
            </p:cNvPr>
            <p:cNvSpPr txBox="1">
              <a:spLocks noChangeArrowheads="1"/>
            </p:cNvSpPr>
            <p:nvPr/>
          </p:nvSpPr>
          <p:spPr bwMode="auto">
            <a:xfrm>
              <a:off x="7904162" y="52624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4</a:t>
              </a:r>
              <a:r>
                <a:rPr lang="en-US" altLang="zh-CN" sz="2400"/>
                <a:t>=13</a:t>
              </a:r>
            </a:p>
          </p:txBody>
        </p:sp>
        <p:grpSp>
          <p:nvGrpSpPr>
            <p:cNvPr id="103446" name="Group 38">
              <a:extLst>
                <a:ext uri="{FF2B5EF4-FFF2-40B4-BE49-F238E27FC236}">
                  <a16:creationId xmlns:a16="http://schemas.microsoft.com/office/drawing/2014/main" id="{07FA0D95-7D7A-4183-8470-3D4368178185}"/>
                </a:ext>
              </a:extLst>
            </p:cNvPr>
            <p:cNvGrpSpPr>
              <a:grpSpLocks/>
            </p:cNvGrpSpPr>
            <p:nvPr/>
          </p:nvGrpSpPr>
          <p:grpSpPr bwMode="auto">
            <a:xfrm>
              <a:off x="7751762" y="1377871"/>
              <a:ext cx="1239838" cy="760413"/>
              <a:chOff x="4224" y="913"/>
              <a:chExt cx="781" cy="479"/>
            </a:xfrm>
          </p:grpSpPr>
          <p:sp>
            <p:nvSpPr>
              <p:cNvPr id="103460" name="Text Box 39">
                <a:extLst>
                  <a:ext uri="{FF2B5EF4-FFF2-40B4-BE49-F238E27FC236}">
                    <a16:creationId xmlns:a16="http://schemas.microsoft.com/office/drawing/2014/main" id="{F1CB31D8-ED8D-4116-AE12-637ED5E8BD44}"/>
                  </a:ext>
                </a:extLst>
              </p:cNvPr>
              <p:cNvSpPr txBox="1">
                <a:spLocks noChangeArrowheads="1"/>
              </p:cNvSpPr>
              <p:nvPr/>
            </p:nvSpPr>
            <p:spPr bwMode="auto">
              <a:xfrm>
                <a:off x="4224" y="913"/>
                <a:ext cx="781" cy="2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销量</a:t>
                </a:r>
              </a:p>
            </p:txBody>
          </p:sp>
          <p:cxnSp>
            <p:nvCxnSpPr>
              <p:cNvPr id="103461" name="AutoShape 40">
                <a:extLst>
                  <a:ext uri="{FF2B5EF4-FFF2-40B4-BE49-F238E27FC236}">
                    <a16:creationId xmlns:a16="http://schemas.microsoft.com/office/drawing/2014/main" id="{FC34903C-ACE0-42E9-8059-6F78C430CB1A}"/>
                  </a:ext>
                </a:extLst>
              </p:cNvPr>
              <p:cNvCxnSpPr>
                <a:cxnSpLocks noChangeShapeType="1"/>
                <a:stCxn id="103460" idx="1"/>
                <a:endCxn id="103442" idx="3"/>
              </p:cNvCxnSpPr>
              <p:nvPr/>
            </p:nvCxnSpPr>
            <p:spPr bwMode="auto">
              <a:xfrm rot="10800000" flipH="1" flipV="1">
                <a:off x="4224" y="1059"/>
                <a:ext cx="672" cy="333"/>
              </a:xfrm>
              <a:prstGeom prst="bentConnector5">
                <a:avLst>
                  <a:gd name="adj1" fmla="val -21431"/>
                  <a:gd name="adj2" fmla="val 50227"/>
                  <a:gd name="adj3" fmla="val 121431"/>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grpSp>
        <p:sp>
          <p:nvSpPr>
            <p:cNvPr id="103447" name="Line 14">
              <a:extLst>
                <a:ext uri="{FF2B5EF4-FFF2-40B4-BE49-F238E27FC236}">
                  <a16:creationId xmlns:a16="http://schemas.microsoft.com/office/drawing/2014/main" id="{E7CB03C4-0246-4897-8A76-C197B59F4C34}"/>
                </a:ext>
              </a:extLst>
            </p:cNvPr>
            <p:cNvSpPr>
              <a:spLocks noChangeShapeType="1"/>
            </p:cNvSpPr>
            <p:nvPr/>
          </p:nvSpPr>
          <p:spPr bwMode="auto">
            <a:xfrm flipV="1">
              <a:off x="5571083" y="2214481"/>
              <a:ext cx="1723477" cy="13271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48" name="Line 10">
              <a:extLst>
                <a:ext uri="{FF2B5EF4-FFF2-40B4-BE49-F238E27FC236}">
                  <a16:creationId xmlns:a16="http://schemas.microsoft.com/office/drawing/2014/main" id="{B75B8E69-222A-480E-B5DB-085EFF43EF33}"/>
                </a:ext>
              </a:extLst>
            </p:cNvPr>
            <p:cNvSpPr>
              <a:spLocks noChangeShapeType="1"/>
            </p:cNvSpPr>
            <p:nvPr/>
          </p:nvSpPr>
          <p:spPr bwMode="auto">
            <a:xfrm flipV="1">
              <a:off x="5659437" y="2116058"/>
              <a:ext cx="1655762" cy="3270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49" name="Line 11">
              <a:extLst>
                <a:ext uri="{FF2B5EF4-FFF2-40B4-BE49-F238E27FC236}">
                  <a16:creationId xmlns:a16="http://schemas.microsoft.com/office/drawing/2014/main" id="{A44F226C-0C29-43EE-862E-FB76E95DC191}"/>
                </a:ext>
              </a:extLst>
            </p:cNvPr>
            <p:cNvSpPr>
              <a:spLocks noChangeShapeType="1"/>
            </p:cNvSpPr>
            <p:nvPr/>
          </p:nvSpPr>
          <p:spPr bwMode="auto">
            <a:xfrm>
              <a:off x="5711822" y="2557383"/>
              <a:ext cx="1603376" cy="6254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0" name="Line 12">
              <a:extLst>
                <a:ext uri="{FF2B5EF4-FFF2-40B4-BE49-F238E27FC236}">
                  <a16:creationId xmlns:a16="http://schemas.microsoft.com/office/drawing/2014/main" id="{E2817890-7068-4C19-9235-75483373E107}"/>
                </a:ext>
              </a:extLst>
            </p:cNvPr>
            <p:cNvSpPr>
              <a:spLocks noChangeShapeType="1"/>
            </p:cNvSpPr>
            <p:nvPr/>
          </p:nvSpPr>
          <p:spPr bwMode="auto">
            <a:xfrm>
              <a:off x="5711823" y="2693908"/>
              <a:ext cx="1603375" cy="15557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1" name="Line 13">
              <a:extLst>
                <a:ext uri="{FF2B5EF4-FFF2-40B4-BE49-F238E27FC236}">
                  <a16:creationId xmlns:a16="http://schemas.microsoft.com/office/drawing/2014/main" id="{49CBC6AA-6045-4870-A9AF-7F0B4281292F}"/>
                </a:ext>
              </a:extLst>
            </p:cNvPr>
            <p:cNvSpPr>
              <a:spLocks noChangeShapeType="1"/>
            </p:cNvSpPr>
            <p:nvPr/>
          </p:nvSpPr>
          <p:spPr bwMode="auto">
            <a:xfrm>
              <a:off x="5597523" y="2824084"/>
              <a:ext cx="1793876" cy="24923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2" name="Line 15">
              <a:extLst>
                <a:ext uri="{FF2B5EF4-FFF2-40B4-BE49-F238E27FC236}">
                  <a16:creationId xmlns:a16="http://schemas.microsoft.com/office/drawing/2014/main" id="{3055DA35-CC2A-42D4-A651-D90396AF6EA3}"/>
                </a:ext>
              </a:extLst>
            </p:cNvPr>
            <p:cNvSpPr>
              <a:spLocks noChangeShapeType="1"/>
            </p:cNvSpPr>
            <p:nvPr/>
          </p:nvSpPr>
          <p:spPr bwMode="auto">
            <a:xfrm flipV="1">
              <a:off x="5659437" y="3335258"/>
              <a:ext cx="1655762"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3" name="Line 16">
              <a:extLst>
                <a:ext uri="{FF2B5EF4-FFF2-40B4-BE49-F238E27FC236}">
                  <a16:creationId xmlns:a16="http://schemas.microsoft.com/office/drawing/2014/main" id="{1B58A2F2-82DD-4EDE-93EC-15D9AE08FE88}"/>
                </a:ext>
              </a:extLst>
            </p:cNvPr>
            <p:cNvSpPr>
              <a:spLocks noChangeShapeType="1"/>
            </p:cNvSpPr>
            <p:nvPr/>
          </p:nvSpPr>
          <p:spPr bwMode="auto">
            <a:xfrm>
              <a:off x="5711819" y="3755944"/>
              <a:ext cx="1603379" cy="5699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4" name="Line 17">
              <a:extLst>
                <a:ext uri="{FF2B5EF4-FFF2-40B4-BE49-F238E27FC236}">
                  <a16:creationId xmlns:a16="http://schemas.microsoft.com/office/drawing/2014/main" id="{44C6E8DD-1D96-4ED0-86E3-6797F80783EC}"/>
                </a:ext>
              </a:extLst>
            </p:cNvPr>
            <p:cNvSpPr>
              <a:spLocks noChangeShapeType="1"/>
            </p:cNvSpPr>
            <p:nvPr/>
          </p:nvSpPr>
          <p:spPr bwMode="auto">
            <a:xfrm>
              <a:off x="5659437" y="3868658"/>
              <a:ext cx="1655762" cy="152399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5" name="Line 18">
              <a:extLst>
                <a:ext uri="{FF2B5EF4-FFF2-40B4-BE49-F238E27FC236}">
                  <a16:creationId xmlns:a16="http://schemas.microsoft.com/office/drawing/2014/main" id="{76B7BEE6-5127-4229-B9AA-E8B62A771948}"/>
                </a:ext>
              </a:extLst>
            </p:cNvPr>
            <p:cNvSpPr>
              <a:spLocks noChangeShapeType="1"/>
            </p:cNvSpPr>
            <p:nvPr/>
          </p:nvSpPr>
          <p:spPr bwMode="auto">
            <a:xfrm flipV="1">
              <a:off x="5647282" y="2366882"/>
              <a:ext cx="1743565" cy="22509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6" name="Line 19">
              <a:extLst>
                <a:ext uri="{FF2B5EF4-FFF2-40B4-BE49-F238E27FC236}">
                  <a16:creationId xmlns:a16="http://schemas.microsoft.com/office/drawing/2014/main" id="{BD4ACC33-0082-42A4-B76D-9DDA4365248C}"/>
                </a:ext>
              </a:extLst>
            </p:cNvPr>
            <p:cNvSpPr>
              <a:spLocks noChangeShapeType="1"/>
            </p:cNvSpPr>
            <p:nvPr/>
          </p:nvSpPr>
          <p:spPr bwMode="auto">
            <a:xfrm flipV="1">
              <a:off x="5715000" y="3449557"/>
              <a:ext cx="1649408" cy="12397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7" name="Line 20">
              <a:extLst>
                <a:ext uri="{FF2B5EF4-FFF2-40B4-BE49-F238E27FC236}">
                  <a16:creationId xmlns:a16="http://schemas.microsoft.com/office/drawing/2014/main" id="{B7EE9DFE-D557-41BC-8961-32D693C300CA}"/>
                </a:ext>
              </a:extLst>
            </p:cNvPr>
            <p:cNvSpPr>
              <a:spLocks noChangeShapeType="1"/>
            </p:cNvSpPr>
            <p:nvPr/>
          </p:nvSpPr>
          <p:spPr bwMode="auto">
            <a:xfrm flipV="1">
              <a:off x="5727155" y="4402058"/>
              <a:ext cx="1588044" cy="3413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8" name="Line 21">
              <a:extLst>
                <a:ext uri="{FF2B5EF4-FFF2-40B4-BE49-F238E27FC236}">
                  <a16:creationId xmlns:a16="http://schemas.microsoft.com/office/drawing/2014/main" id="{B3D4D290-86D8-41E8-8819-BF82E74C7A77}"/>
                </a:ext>
              </a:extLst>
            </p:cNvPr>
            <p:cNvSpPr>
              <a:spLocks noChangeShapeType="1"/>
            </p:cNvSpPr>
            <p:nvPr/>
          </p:nvSpPr>
          <p:spPr bwMode="auto">
            <a:xfrm>
              <a:off x="5741439" y="4868623"/>
              <a:ext cx="1553121" cy="6367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3459" name="Text Box 39">
              <a:extLst>
                <a:ext uri="{FF2B5EF4-FFF2-40B4-BE49-F238E27FC236}">
                  <a16:creationId xmlns:a16="http://schemas.microsoft.com/office/drawing/2014/main" id="{D4713345-CC3F-46E3-A453-944D85D9DE95}"/>
                </a:ext>
              </a:extLst>
            </p:cNvPr>
            <p:cNvSpPr txBox="1">
              <a:spLocks noChangeArrowheads="1"/>
            </p:cNvSpPr>
            <p:nvPr/>
          </p:nvSpPr>
          <p:spPr bwMode="auto">
            <a:xfrm>
              <a:off x="4216399" y="1527509"/>
              <a:ext cx="1239838" cy="46166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产量</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97285"/>
                                        </p:tgtEl>
                                        <p:attrNameLst>
                                          <p:attrName>style.visibility</p:attrName>
                                        </p:attrNameLst>
                                      </p:cBhvr>
                                      <p:to>
                                        <p:strVal val="visible"/>
                                      </p:to>
                                    </p:set>
                                    <p:animEffect transition="in" filter="randombar(horizontal)">
                                      <p:cBhvr>
                                        <p:cTn id="7" dur="500"/>
                                        <p:tgtEl>
                                          <p:spTgt spid="972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172058"/>
                                        </p:tgtEl>
                                        <p:attrNameLst>
                                          <p:attrName>style.visibility</p:attrName>
                                        </p:attrNameLst>
                                      </p:cBhvr>
                                      <p:to>
                                        <p:strVal val="visible"/>
                                      </p:to>
                                    </p:set>
                                    <p:animEffect transition="in" filter="randombar(horizontal)">
                                      <p:cBhvr>
                                        <p:cTn id="12" dur="500"/>
                                        <p:tgtEl>
                                          <p:spTgt spid="1720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41B72D5F-D068-4A6C-9218-99213E9717B9}"/>
              </a:ext>
            </a:extLst>
          </p:cNvPr>
          <p:cNvSpPr>
            <a:spLocks noGrp="1" noChangeArrowheads="1"/>
          </p:cNvSpPr>
          <p:nvPr>
            <p:ph type="title"/>
          </p:nvPr>
        </p:nvSpPr>
        <p:spPr/>
        <p:txBody>
          <a:bodyPr/>
          <a:lstStyle/>
          <a:p>
            <a:pPr eaLnBrk="1" hangingPunct="1"/>
            <a:r>
              <a:rPr lang="zh-CN" altLang="en-US"/>
              <a:t>产大于销</a:t>
            </a:r>
          </a:p>
        </p:txBody>
      </p:sp>
      <p:sp>
        <p:nvSpPr>
          <p:cNvPr id="172035" name="Rectangle 3">
            <a:extLst>
              <a:ext uri="{FF2B5EF4-FFF2-40B4-BE49-F238E27FC236}">
                <a16:creationId xmlns:a16="http://schemas.microsoft.com/office/drawing/2014/main" id="{9C3A3C82-D7DC-446A-AF01-9E5DED39180C}"/>
              </a:ext>
            </a:extLst>
          </p:cNvPr>
          <p:cNvSpPr>
            <a:spLocks noGrp="1" noChangeArrowheads="1"/>
          </p:cNvSpPr>
          <p:nvPr>
            <p:ph type="body" sz="half" idx="1"/>
          </p:nvPr>
        </p:nvSpPr>
        <p:spPr>
          <a:xfrm>
            <a:off x="300038" y="852488"/>
            <a:ext cx="5795962" cy="6081712"/>
          </a:xfrm>
        </p:spPr>
        <p:txBody>
          <a:bodyPr/>
          <a:lstStyle/>
          <a:p>
            <a:pPr eaLnBrk="1" hangingPunct="1"/>
            <a:r>
              <a:rPr lang="zh-CN" altLang="en-US" sz="2800"/>
              <a:t>数学模型</a:t>
            </a:r>
          </a:p>
          <a:p>
            <a:pPr eaLnBrk="1" hangingPunct="1"/>
            <a:endParaRPr kumimoji="1" lang="zh-CN" altLang="en-US" sz="2800" b="0"/>
          </a:p>
          <a:p>
            <a:pPr eaLnBrk="1" hangingPunct="1"/>
            <a:endParaRPr kumimoji="1" lang="zh-CN" altLang="en-US" sz="2800" b="0"/>
          </a:p>
          <a:p>
            <a:pPr eaLnBrk="1" hangingPunct="1"/>
            <a:endParaRPr kumimoji="1" lang="zh-CN" altLang="en-US" sz="2800" b="0"/>
          </a:p>
          <a:p>
            <a:pPr eaLnBrk="1" hangingPunct="1"/>
            <a:endParaRPr kumimoji="1" lang="zh-CN" altLang="en-US" sz="2800"/>
          </a:p>
          <a:p>
            <a:pPr eaLnBrk="1" hangingPunct="1"/>
            <a:endParaRPr kumimoji="1" lang="zh-CN" altLang="en-US" sz="2800"/>
          </a:p>
          <a:p>
            <a:pPr eaLnBrk="1" hangingPunct="1"/>
            <a:endParaRPr kumimoji="1" lang="zh-CN" altLang="en-US" sz="2800"/>
          </a:p>
          <a:p>
            <a:pPr eaLnBrk="1" hangingPunct="1"/>
            <a:endParaRPr kumimoji="1" lang="en-US" altLang="zh-CN" sz="2800"/>
          </a:p>
          <a:p>
            <a:pPr eaLnBrk="1" hangingPunct="1"/>
            <a:endParaRPr kumimoji="1" lang="zh-CN" altLang="en-US" sz="2800"/>
          </a:p>
          <a:p>
            <a:pPr eaLnBrk="1" hangingPunct="1"/>
            <a:r>
              <a:rPr kumimoji="1" lang="zh-CN" altLang="en-US" sz="2800"/>
              <a:t>我们假设有一假想销地（仓库）</a:t>
            </a:r>
            <a:r>
              <a:rPr kumimoji="1" lang="en-US" altLang="zh-CN" sz="2800">
                <a:latin typeface="Times New Roman" panose="02020603050405020304" pitchFamily="18" charset="0"/>
              </a:rPr>
              <a:t>B</a:t>
            </a:r>
            <a:r>
              <a:rPr kumimoji="1" lang="en-US" altLang="zh-CN" sz="2800" i="1" baseline="-25000">
                <a:latin typeface="Times New Roman" panose="02020603050405020304" pitchFamily="18" charset="0"/>
              </a:rPr>
              <a:t>n</a:t>
            </a:r>
            <a:r>
              <a:rPr kumimoji="1" lang="en-US" altLang="zh-CN" sz="2800" baseline="-25000">
                <a:latin typeface="Times New Roman" panose="02020603050405020304" pitchFamily="18" charset="0"/>
              </a:rPr>
              <a:t>+1</a:t>
            </a:r>
            <a:r>
              <a:rPr kumimoji="1" lang="zh-CN" altLang="en-US" sz="2800"/>
              <a:t>，多余的物品全部销往该处，且费用为零</a:t>
            </a:r>
            <a:r>
              <a:rPr kumimoji="1" lang="en-US" altLang="zh-CN" sz="2800"/>
              <a:t>.</a:t>
            </a:r>
            <a:endParaRPr kumimoji="1" lang="zh-CN" altLang="en-US" sz="2800"/>
          </a:p>
        </p:txBody>
      </p:sp>
      <p:graphicFrame>
        <p:nvGraphicFramePr>
          <p:cNvPr id="104452" name="对象 5">
            <a:extLst>
              <a:ext uri="{FF2B5EF4-FFF2-40B4-BE49-F238E27FC236}">
                <a16:creationId xmlns:a16="http://schemas.microsoft.com/office/drawing/2014/main" id="{683DC8E4-FB7A-476E-9CE2-356E4AD0F3BA}"/>
              </a:ext>
            </a:extLst>
          </p:cNvPr>
          <p:cNvGraphicFramePr>
            <a:graphicFrameLocks noChangeAspect="1"/>
          </p:cNvGraphicFramePr>
          <p:nvPr/>
        </p:nvGraphicFramePr>
        <p:xfrm>
          <a:off x="430213" y="1371600"/>
          <a:ext cx="3827462" cy="3227388"/>
        </p:xfrm>
        <a:graphic>
          <a:graphicData uri="http://schemas.openxmlformats.org/presentationml/2006/ole">
            <mc:AlternateContent xmlns:mc="http://schemas.openxmlformats.org/markup-compatibility/2006">
              <mc:Choice xmlns:v="urn:schemas-microsoft-com:vml" Requires="v">
                <p:oleObj spid="_x0000_s104508" name="Equation" r:id="rId3" imgW="1295400" imgH="1092200" progId="Equation.DSMT4">
                  <p:embed/>
                </p:oleObj>
              </mc:Choice>
              <mc:Fallback>
                <p:oleObj name="Equation" r:id="rId3" imgW="1295400" imgH="1092200" progId="Equation.DSMT4">
                  <p:embed/>
                  <p:pic>
                    <p:nvPicPr>
                      <p:cNvPr id="0"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213" y="1371600"/>
                        <a:ext cx="3827462" cy="322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8309" name="对象 9">
            <a:extLst>
              <a:ext uri="{FF2B5EF4-FFF2-40B4-BE49-F238E27FC236}">
                <a16:creationId xmlns:a16="http://schemas.microsoft.com/office/drawing/2014/main" id="{860844BF-EB0A-4F91-8EA3-8F701DBCA4A1}"/>
              </a:ext>
            </a:extLst>
          </p:cNvPr>
          <p:cNvGraphicFramePr>
            <a:graphicFrameLocks noChangeAspect="1"/>
          </p:cNvGraphicFramePr>
          <p:nvPr/>
        </p:nvGraphicFramePr>
        <p:xfrm>
          <a:off x="838200" y="4570413"/>
          <a:ext cx="1651000" cy="938212"/>
        </p:xfrm>
        <a:graphic>
          <a:graphicData uri="http://schemas.openxmlformats.org/presentationml/2006/ole">
            <mc:AlternateContent xmlns:mc="http://schemas.openxmlformats.org/markup-compatibility/2006">
              <mc:Choice xmlns:v="urn:schemas-microsoft-com:vml" Requires="v">
                <p:oleObj spid="_x0000_s104509" name="Equation" r:id="rId5" imgW="558558" imgH="317362" progId="Equation.DSMT4">
                  <p:embed/>
                </p:oleObj>
              </mc:Choice>
              <mc:Fallback>
                <p:oleObj name="Equation" r:id="rId5" imgW="558558" imgH="317362" progId="Equation.DSMT4">
                  <p:embed/>
                  <p:pic>
                    <p:nvPicPr>
                      <p:cNvPr id="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4570413"/>
                        <a:ext cx="1651000" cy="938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40" name="组合 39">
            <a:extLst>
              <a:ext uri="{FF2B5EF4-FFF2-40B4-BE49-F238E27FC236}">
                <a16:creationId xmlns:a16="http://schemas.microsoft.com/office/drawing/2014/main" id="{2F2557DA-38A5-4F54-96F8-2A2990990226}"/>
              </a:ext>
            </a:extLst>
          </p:cNvPr>
          <p:cNvGrpSpPr>
            <a:grpSpLocks/>
          </p:cNvGrpSpPr>
          <p:nvPr/>
        </p:nvGrpSpPr>
        <p:grpSpPr bwMode="auto">
          <a:xfrm>
            <a:off x="4267200" y="1066800"/>
            <a:ext cx="4775200" cy="4194175"/>
            <a:chOff x="4216399" y="1525509"/>
            <a:chExt cx="4775201" cy="4194175"/>
          </a:xfrm>
        </p:grpSpPr>
        <p:sp>
          <p:nvSpPr>
            <p:cNvPr id="104465" name="Oval 2">
              <a:extLst>
                <a:ext uri="{FF2B5EF4-FFF2-40B4-BE49-F238E27FC236}">
                  <a16:creationId xmlns:a16="http://schemas.microsoft.com/office/drawing/2014/main" id="{8F6F1255-EA62-4A26-8501-D83E96B5CF43}"/>
                </a:ext>
              </a:extLst>
            </p:cNvPr>
            <p:cNvSpPr>
              <a:spLocks noChangeArrowheads="1"/>
            </p:cNvSpPr>
            <p:nvPr/>
          </p:nvSpPr>
          <p:spPr bwMode="auto">
            <a:xfrm>
              <a:off x="5257800" y="35098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2</a:t>
              </a:r>
            </a:p>
          </p:txBody>
        </p:sp>
        <p:sp>
          <p:nvSpPr>
            <p:cNvPr id="104466" name="Oval 3">
              <a:extLst>
                <a:ext uri="{FF2B5EF4-FFF2-40B4-BE49-F238E27FC236}">
                  <a16:creationId xmlns:a16="http://schemas.microsoft.com/office/drawing/2014/main" id="{F3FE1AAA-928E-4C6A-B408-F43413D79AAC}"/>
                </a:ext>
              </a:extLst>
            </p:cNvPr>
            <p:cNvSpPr>
              <a:spLocks noChangeArrowheads="1"/>
            </p:cNvSpPr>
            <p:nvPr/>
          </p:nvSpPr>
          <p:spPr bwMode="auto">
            <a:xfrm>
              <a:off x="5257800" y="4576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3</a:t>
              </a:r>
            </a:p>
          </p:txBody>
        </p:sp>
        <p:sp>
          <p:nvSpPr>
            <p:cNvPr id="104467" name="Oval 5">
              <a:extLst>
                <a:ext uri="{FF2B5EF4-FFF2-40B4-BE49-F238E27FC236}">
                  <a16:creationId xmlns:a16="http://schemas.microsoft.com/office/drawing/2014/main" id="{8487C468-5E16-43D5-AC7E-40FCA0C8A8D9}"/>
                </a:ext>
              </a:extLst>
            </p:cNvPr>
            <p:cNvSpPr>
              <a:spLocks noChangeArrowheads="1"/>
            </p:cNvSpPr>
            <p:nvPr/>
          </p:nvSpPr>
          <p:spPr bwMode="auto">
            <a:xfrm>
              <a:off x="5257800" y="2384345"/>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1</a:t>
              </a:r>
            </a:p>
          </p:txBody>
        </p:sp>
        <p:sp>
          <p:nvSpPr>
            <p:cNvPr id="104468" name="Oval 4">
              <a:extLst>
                <a:ext uri="{FF2B5EF4-FFF2-40B4-BE49-F238E27FC236}">
                  <a16:creationId xmlns:a16="http://schemas.microsoft.com/office/drawing/2014/main" id="{1A9C4526-1B28-43F7-83E6-41EA5152C024}"/>
                </a:ext>
              </a:extLst>
            </p:cNvPr>
            <p:cNvSpPr>
              <a:spLocks noChangeArrowheads="1"/>
            </p:cNvSpPr>
            <p:nvPr/>
          </p:nvSpPr>
          <p:spPr bwMode="auto">
            <a:xfrm>
              <a:off x="7294561" y="3052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2</a:t>
              </a:r>
            </a:p>
          </p:txBody>
        </p:sp>
        <p:sp>
          <p:nvSpPr>
            <p:cNvPr id="104469" name="Oval 6">
              <a:extLst>
                <a:ext uri="{FF2B5EF4-FFF2-40B4-BE49-F238E27FC236}">
                  <a16:creationId xmlns:a16="http://schemas.microsoft.com/office/drawing/2014/main" id="{6F461746-8094-464B-8834-E81EDF4A1246}"/>
                </a:ext>
              </a:extLst>
            </p:cNvPr>
            <p:cNvSpPr>
              <a:spLocks noChangeArrowheads="1"/>
            </p:cNvSpPr>
            <p:nvPr/>
          </p:nvSpPr>
          <p:spPr bwMode="auto">
            <a:xfrm>
              <a:off x="7294561" y="41194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3</a:t>
              </a:r>
            </a:p>
          </p:txBody>
        </p:sp>
        <p:sp>
          <p:nvSpPr>
            <p:cNvPr id="104470" name="Oval 7">
              <a:extLst>
                <a:ext uri="{FF2B5EF4-FFF2-40B4-BE49-F238E27FC236}">
                  <a16:creationId xmlns:a16="http://schemas.microsoft.com/office/drawing/2014/main" id="{89B24710-FA1E-4F67-80BC-50FC2387C51E}"/>
                </a:ext>
              </a:extLst>
            </p:cNvPr>
            <p:cNvSpPr>
              <a:spLocks noChangeArrowheads="1"/>
            </p:cNvSpPr>
            <p:nvPr/>
          </p:nvSpPr>
          <p:spPr bwMode="auto">
            <a:xfrm>
              <a:off x="7294561" y="52624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4</a:t>
              </a:r>
            </a:p>
          </p:txBody>
        </p:sp>
        <p:sp>
          <p:nvSpPr>
            <p:cNvPr id="104471" name="Oval 8">
              <a:extLst>
                <a:ext uri="{FF2B5EF4-FFF2-40B4-BE49-F238E27FC236}">
                  <a16:creationId xmlns:a16="http://schemas.microsoft.com/office/drawing/2014/main" id="{6E931395-B399-4F62-83DA-99EE71E6DFD5}"/>
                </a:ext>
              </a:extLst>
            </p:cNvPr>
            <p:cNvSpPr>
              <a:spLocks noChangeArrowheads="1"/>
            </p:cNvSpPr>
            <p:nvPr/>
          </p:nvSpPr>
          <p:spPr bwMode="auto">
            <a:xfrm>
              <a:off x="7294561" y="1909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1</a:t>
              </a:r>
            </a:p>
          </p:txBody>
        </p:sp>
        <p:sp>
          <p:nvSpPr>
            <p:cNvPr id="104472" name="Text Box 22">
              <a:extLst>
                <a:ext uri="{FF2B5EF4-FFF2-40B4-BE49-F238E27FC236}">
                  <a16:creationId xmlns:a16="http://schemas.microsoft.com/office/drawing/2014/main" id="{B06F98FA-1547-452A-A70C-CA2C7AA06EFD}"/>
                </a:ext>
              </a:extLst>
            </p:cNvPr>
            <p:cNvSpPr txBox="1">
              <a:spLocks noChangeArrowheads="1"/>
            </p:cNvSpPr>
            <p:nvPr/>
          </p:nvSpPr>
          <p:spPr bwMode="auto">
            <a:xfrm>
              <a:off x="4270375" y="35098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2</a:t>
              </a:r>
              <a:r>
                <a:rPr lang="en-US" altLang="zh-CN" sz="2400"/>
                <a:t>=27</a:t>
              </a:r>
            </a:p>
          </p:txBody>
        </p:sp>
        <p:sp>
          <p:nvSpPr>
            <p:cNvPr id="104473" name="Text Box 23">
              <a:extLst>
                <a:ext uri="{FF2B5EF4-FFF2-40B4-BE49-F238E27FC236}">
                  <a16:creationId xmlns:a16="http://schemas.microsoft.com/office/drawing/2014/main" id="{E8632C27-EE7A-4748-AA07-9B04A8C0F351}"/>
                </a:ext>
              </a:extLst>
            </p:cNvPr>
            <p:cNvSpPr txBox="1">
              <a:spLocks noChangeArrowheads="1"/>
            </p:cNvSpPr>
            <p:nvPr/>
          </p:nvSpPr>
          <p:spPr bwMode="auto">
            <a:xfrm>
              <a:off x="4270375" y="4576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FF0000"/>
                  </a:solidFill>
                </a:rPr>
                <a:t>s</a:t>
              </a:r>
              <a:r>
                <a:rPr lang="en-US" altLang="zh-CN" sz="2400" baseline="-25000">
                  <a:solidFill>
                    <a:srgbClr val="FF0000"/>
                  </a:solidFill>
                </a:rPr>
                <a:t>3</a:t>
              </a:r>
              <a:r>
                <a:rPr lang="en-US" altLang="zh-CN" sz="2400">
                  <a:solidFill>
                    <a:srgbClr val="FF0000"/>
                  </a:solidFill>
                </a:rPr>
                <a:t>=29</a:t>
              </a:r>
            </a:p>
          </p:txBody>
        </p:sp>
        <p:sp>
          <p:nvSpPr>
            <p:cNvPr id="104474" name="Text Box 28">
              <a:extLst>
                <a:ext uri="{FF2B5EF4-FFF2-40B4-BE49-F238E27FC236}">
                  <a16:creationId xmlns:a16="http://schemas.microsoft.com/office/drawing/2014/main" id="{B8EE7C1B-58FF-4249-9959-0A21C59C382C}"/>
                </a:ext>
              </a:extLst>
            </p:cNvPr>
            <p:cNvSpPr txBox="1">
              <a:spLocks noChangeArrowheads="1"/>
            </p:cNvSpPr>
            <p:nvPr/>
          </p:nvSpPr>
          <p:spPr bwMode="auto">
            <a:xfrm>
              <a:off x="4270375" y="23668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1</a:t>
              </a:r>
              <a:r>
                <a:rPr lang="en-US" altLang="zh-CN" sz="2400"/>
                <a:t>=14</a:t>
              </a:r>
            </a:p>
          </p:txBody>
        </p:sp>
        <p:grpSp>
          <p:nvGrpSpPr>
            <p:cNvPr id="104475" name="Group 29">
              <a:extLst>
                <a:ext uri="{FF2B5EF4-FFF2-40B4-BE49-F238E27FC236}">
                  <a16:creationId xmlns:a16="http://schemas.microsoft.com/office/drawing/2014/main" id="{B3B7A2EE-D5D0-48C7-91D7-5EA8FBCF69D1}"/>
                </a:ext>
              </a:extLst>
            </p:cNvPr>
            <p:cNvGrpSpPr>
              <a:grpSpLocks/>
            </p:cNvGrpSpPr>
            <p:nvPr/>
          </p:nvGrpSpPr>
          <p:grpSpPr bwMode="auto">
            <a:xfrm>
              <a:off x="4270375" y="1762046"/>
              <a:ext cx="1257300" cy="1976438"/>
              <a:chOff x="912" y="1155"/>
              <a:chExt cx="792" cy="1245"/>
            </a:xfrm>
          </p:grpSpPr>
          <p:cxnSp>
            <p:nvCxnSpPr>
              <p:cNvPr id="104494" name="AutoShape 30">
                <a:extLst>
                  <a:ext uri="{FF2B5EF4-FFF2-40B4-BE49-F238E27FC236}">
                    <a16:creationId xmlns:a16="http://schemas.microsoft.com/office/drawing/2014/main" id="{1D8AC63F-95F8-4258-8EFE-E27E6BC22ACE}"/>
                  </a:ext>
                </a:extLst>
              </p:cNvPr>
              <p:cNvCxnSpPr>
                <a:cxnSpLocks noChangeShapeType="1"/>
                <a:endCxn id="104474" idx="1"/>
              </p:cNvCxnSpPr>
              <p:nvPr/>
            </p:nvCxnSpPr>
            <p:spPr bwMode="auto">
              <a:xfrm flipH="1">
                <a:off x="912" y="1155"/>
                <a:ext cx="792" cy="525"/>
              </a:xfrm>
              <a:prstGeom prst="bentConnector5">
                <a:avLst>
                  <a:gd name="adj1" fmla="val -18181"/>
                  <a:gd name="adj2" fmla="val 154806"/>
                  <a:gd name="adj3" fmla="val 118181"/>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04495" name="AutoShape 31">
                <a:extLst>
                  <a:ext uri="{FF2B5EF4-FFF2-40B4-BE49-F238E27FC236}">
                    <a16:creationId xmlns:a16="http://schemas.microsoft.com/office/drawing/2014/main" id="{2332E12D-4B8A-49AC-88BD-164724C30BE6}"/>
                  </a:ext>
                </a:extLst>
              </p:cNvPr>
              <p:cNvCxnSpPr>
                <a:cxnSpLocks noChangeShapeType="1"/>
                <a:endCxn id="104472" idx="1"/>
              </p:cNvCxnSpPr>
              <p:nvPr/>
            </p:nvCxnSpPr>
            <p:spPr bwMode="auto">
              <a:xfrm flipH="1">
                <a:off x="912" y="1155"/>
                <a:ext cx="792" cy="1245"/>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grpSp>
        <p:sp>
          <p:nvSpPr>
            <p:cNvPr id="104476" name="Text Box 24">
              <a:extLst>
                <a:ext uri="{FF2B5EF4-FFF2-40B4-BE49-F238E27FC236}">
                  <a16:creationId xmlns:a16="http://schemas.microsoft.com/office/drawing/2014/main" id="{A395DE08-3E84-4E18-9D27-9E3E4E54E37D}"/>
                </a:ext>
              </a:extLst>
            </p:cNvPr>
            <p:cNvSpPr txBox="1">
              <a:spLocks noChangeArrowheads="1"/>
            </p:cNvSpPr>
            <p:nvPr/>
          </p:nvSpPr>
          <p:spPr bwMode="auto">
            <a:xfrm>
              <a:off x="7827962" y="1909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1</a:t>
              </a:r>
              <a:r>
                <a:rPr lang="en-US" altLang="zh-CN" sz="2400"/>
                <a:t>=22</a:t>
              </a:r>
            </a:p>
          </p:txBody>
        </p:sp>
        <p:sp>
          <p:nvSpPr>
            <p:cNvPr id="104477" name="Text Box 25">
              <a:extLst>
                <a:ext uri="{FF2B5EF4-FFF2-40B4-BE49-F238E27FC236}">
                  <a16:creationId xmlns:a16="http://schemas.microsoft.com/office/drawing/2014/main" id="{D7506311-2B27-4100-A552-F6C081AA4DB4}"/>
                </a:ext>
              </a:extLst>
            </p:cNvPr>
            <p:cNvSpPr txBox="1">
              <a:spLocks noChangeArrowheads="1"/>
            </p:cNvSpPr>
            <p:nvPr/>
          </p:nvSpPr>
          <p:spPr bwMode="auto">
            <a:xfrm>
              <a:off x="7827962" y="3052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2</a:t>
              </a:r>
              <a:r>
                <a:rPr lang="en-US" altLang="zh-CN" sz="2400"/>
                <a:t>=13</a:t>
              </a:r>
            </a:p>
          </p:txBody>
        </p:sp>
        <p:sp>
          <p:nvSpPr>
            <p:cNvPr id="104478" name="Text Box 26">
              <a:extLst>
                <a:ext uri="{FF2B5EF4-FFF2-40B4-BE49-F238E27FC236}">
                  <a16:creationId xmlns:a16="http://schemas.microsoft.com/office/drawing/2014/main" id="{8819DCCC-F49E-43DC-9BE3-E15F6178488F}"/>
                </a:ext>
              </a:extLst>
            </p:cNvPr>
            <p:cNvSpPr txBox="1">
              <a:spLocks noChangeArrowheads="1"/>
            </p:cNvSpPr>
            <p:nvPr/>
          </p:nvSpPr>
          <p:spPr bwMode="auto">
            <a:xfrm>
              <a:off x="7904162" y="4119484"/>
              <a:ext cx="1066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3</a:t>
              </a:r>
              <a:r>
                <a:rPr lang="en-US" altLang="zh-CN" sz="2400"/>
                <a:t>=12</a:t>
              </a:r>
            </a:p>
          </p:txBody>
        </p:sp>
        <p:sp>
          <p:nvSpPr>
            <p:cNvPr id="104479" name="Text Box 27">
              <a:extLst>
                <a:ext uri="{FF2B5EF4-FFF2-40B4-BE49-F238E27FC236}">
                  <a16:creationId xmlns:a16="http://schemas.microsoft.com/office/drawing/2014/main" id="{0A3D9551-199D-46E4-9760-E3FE03B94A24}"/>
                </a:ext>
              </a:extLst>
            </p:cNvPr>
            <p:cNvSpPr txBox="1">
              <a:spLocks noChangeArrowheads="1"/>
            </p:cNvSpPr>
            <p:nvPr/>
          </p:nvSpPr>
          <p:spPr bwMode="auto">
            <a:xfrm>
              <a:off x="7904162" y="52624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4</a:t>
              </a:r>
              <a:r>
                <a:rPr lang="en-US" altLang="zh-CN" sz="2400"/>
                <a:t>=13</a:t>
              </a:r>
            </a:p>
          </p:txBody>
        </p:sp>
        <p:sp>
          <p:nvSpPr>
            <p:cNvPr id="104480" name="Text Box 39">
              <a:extLst>
                <a:ext uri="{FF2B5EF4-FFF2-40B4-BE49-F238E27FC236}">
                  <a16:creationId xmlns:a16="http://schemas.microsoft.com/office/drawing/2014/main" id="{BA0429FF-CCF9-4AAD-9584-3FC61058E021}"/>
                </a:ext>
              </a:extLst>
            </p:cNvPr>
            <p:cNvSpPr txBox="1">
              <a:spLocks noChangeArrowheads="1"/>
            </p:cNvSpPr>
            <p:nvPr/>
          </p:nvSpPr>
          <p:spPr bwMode="auto">
            <a:xfrm>
              <a:off x="7751762" y="1525509"/>
              <a:ext cx="1239838" cy="46196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销量</a:t>
              </a:r>
            </a:p>
          </p:txBody>
        </p:sp>
        <p:sp>
          <p:nvSpPr>
            <p:cNvPr id="104481" name="Line 14">
              <a:extLst>
                <a:ext uri="{FF2B5EF4-FFF2-40B4-BE49-F238E27FC236}">
                  <a16:creationId xmlns:a16="http://schemas.microsoft.com/office/drawing/2014/main" id="{F81E0D16-28D2-4ED4-966C-6BEE3AE7C473}"/>
                </a:ext>
              </a:extLst>
            </p:cNvPr>
            <p:cNvSpPr>
              <a:spLocks noChangeShapeType="1"/>
            </p:cNvSpPr>
            <p:nvPr/>
          </p:nvSpPr>
          <p:spPr bwMode="auto">
            <a:xfrm flipV="1">
              <a:off x="5571083" y="2214481"/>
              <a:ext cx="1723477" cy="13271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2" name="Line 10">
              <a:extLst>
                <a:ext uri="{FF2B5EF4-FFF2-40B4-BE49-F238E27FC236}">
                  <a16:creationId xmlns:a16="http://schemas.microsoft.com/office/drawing/2014/main" id="{33D6A556-91DE-48F2-91EB-E43308842004}"/>
                </a:ext>
              </a:extLst>
            </p:cNvPr>
            <p:cNvSpPr>
              <a:spLocks noChangeShapeType="1"/>
            </p:cNvSpPr>
            <p:nvPr/>
          </p:nvSpPr>
          <p:spPr bwMode="auto">
            <a:xfrm flipV="1">
              <a:off x="5659437" y="2116058"/>
              <a:ext cx="1655762" cy="3270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3" name="Line 11">
              <a:extLst>
                <a:ext uri="{FF2B5EF4-FFF2-40B4-BE49-F238E27FC236}">
                  <a16:creationId xmlns:a16="http://schemas.microsoft.com/office/drawing/2014/main" id="{03911C14-5B74-4F2E-A651-F9EA3F11BBEB}"/>
                </a:ext>
              </a:extLst>
            </p:cNvPr>
            <p:cNvSpPr>
              <a:spLocks noChangeShapeType="1"/>
            </p:cNvSpPr>
            <p:nvPr/>
          </p:nvSpPr>
          <p:spPr bwMode="auto">
            <a:xfrm>
              <a:off x="5711822" y="2557383"/>
              <a:ext cx="1603376" cy="6254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4" name="Line 12">
              <a:extLst>
                <a:ext uri="{FF2B5EF4-FFF2-40B4-BE49-F238E27FC236}">
                  <a16:creationId xmlns:a16="http://schemas.microsoft.com/office/drawing/2014/main" id="{45A63E26-8BD3-47C0-924E-B2CCDE541513}"/>
                </a:ext>
              </a:extLst>
            </p:cNvPr>
            <p:cNvSpPr>
              <a:spLocks noChangeShapeType="1"/>
            </p:cNvSpPr>
            <p:nvPr/>
          </p:nvSpPr>
          <p:spPr bwMode="auto">
            <a:xfrm>
              <a:off x="5711823" y="2693908"/>
              <a:ext cx="1603375" cy="15557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5" name="Line 13">
              <a:extLst>
                <a:ext uri="{FF2B5EF4-FFF2-40B4-BE49-F238E27FC236}">
                  <a16:creationId xmlns:a16="http://schemas.microsoft.com/office/drawing/2014/main" id="{F9768329-126C-4F43-A247-B11F90920913}"/>
                </a:ext>
              </a:extLst>
            </p:cNvPr>
            <p:cNvSpPr>
              <a:spLocks noChangeShapeType="1"/>
            </p:cNvSpPr>
            <p:nvPr/>
          </p:nvSpPr>
          <p:spPr bwMode="auto">
            <a:xfrm>
              <a:off x="5597523" y="2824084"/>
              <a:ext cx="1793876" cy="24923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6" name="Line 15">
              <a:extLst>
                <a:ext uri="{FF2B5EF4-FFF2-40B4-BE49-F238E27FC236}">
                  <a16:creationId xmlns:a16="http://schemas.microsoft.com/office/drawing/2014/main" id="{B36D47A6-8E3E-47B5-9BF4-8914BCE7311D}"/>
                </a:ext>
              </a:extLst>
            </p:cNvPr>
            <p:cNvSpPr>
              <a:spLocks noChangeShapeType="1"/>
            </p:cNvSpPr>
            <p:nvPr/>
          </p:nvSpPr>
          <p:spPr bwMode="auto">
            <a:xfrm flipV="1">
              <a:off x="5659437" y="3335258"/>
              <a:ext cx="1655762"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7" name="Line 16">
              <a:extLst>
                <a:ext uri="{FF2B5EF4-FFF2-40B4-BE49-F238E27FC236}">
                  <a16:creationId xmlns:a16="http://schemas.microsoft.com/office/drawing/2014/main" id="{5D8FC3E9-A550-497D-8224-C6F635C09599}"/>
                </a:ext>
              </a:extLst>
            </p:cNvPr>
            <p:cNvSpPr>
              <a:spLocks noChangeShapeType="1"/>
            </p:cNvSpPr>
            <p:nvPr/>
          </p:nvSpPr>
          <p:spPr bwMode="auto">
            <a:xfrm>
              <a:off x="5711819" y="3755944"/>
              <a:ext cx="1603379" cy="5699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8" name="Line 17">
              <a:extLst>
                <a:ext uri="{FF2B5EF4-FFF2-40B4-BE49-F238E27FC236}">
                  <a16:creationId xmlns:a16="http://schemas.microsoft.com/office/drawing/2014/main" id="{AC2C6BCF-C99C-4205-A8E2-74BE87AF8B01}"/>
                </a:ext>
              </a:extLst>
            </p:cNvPr>
            <p:cNvSpPr>
              <a:spLocks noChangeShapeType="1"/>
            </p:cNvSpPr>
            <p:nvPr/>
          </p:nvSpPr>
          <p:spPr bwMode="auto">
            <a:xfrm>
              <a:off x="5659437" y="3868658"/>
              <a:ext cx="1655762" cy="152399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89" name="Line 18">
              <a:extLst>
                <a:ext uri="{FF2B5EF4-FFF2-40B4-BE49-F238E27FC236}">
                  <a16:creationId xmlns:a16="http://schemas.microsoft.com/office/drawing/2014/main" id="{9E3E9CB2-9CF3-40A5-8C21-3AE8B3A676F8}"/>
                </a:ext>
              </a:extLst>
            </p:cNvPr>
            <p:cNvSpPr>
              <a:spLocks noChangeShapeType="1"/>
            </p:cNvSpPr>
            <p:nvPr/>
          </p:nvSpPr>
          <p:spPr bwMode="auto">
            <a:xfrm flipV="1">
              <a:off x="5647282" y="2366882"/>
              <a:ext cx="1743565" cy="22509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90" name="Line 19">
              <a:extLst>
                <a:ext uri="{FF2B5EF4-FFF2-40B4-BE49-F238E27FC236}">
                  <a16:creationId xmlns:a16="http://schemas.microsoft.com/office/drawing/2014/main" id="{D902191F-734C-4216-AC54-CA1D756A8A7F}"/>
                </a:ext>
              </a:extLst>
            </p:cNvPr>
            <p:cNvSpPr>
              <a:spLocks noChangeShapeType="1"/>
            </p:cNvSpPr>
            <p:nvPr/>
          </p:nvSpPr>
          <p:spPr bwMode="auto">
            <a:xfrm flipV="1">
              <a:off x="5715000" y="3449557"/>
              <a:ext cx="1649408" cy="12397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91" name="Line 20">
              <a:extLst>
                <a:ext uri="{FF2B5EF4-FFF2-40B4-BE49-F238E27FC236}">
                  <a16:creationId xmlns:a16="http://schemas.microsoft.com/office/drawing/2014/main" id="{D59E63EA-5A44-4A4B-AD3A-DF5F15AA8C7A}"/>
                </a:ext>
              </a:extLst>
            </p:cNvPr>
            <p:cNvSpPr>
              <a:spLocks noChangeShapeType="1"/>
            </p:cNvSpPr>
            <p:nvPr/>
          </p:nvSpPr>
          <p:spPr bwMode="auto">
            <a:xfrm flipV="1">
              <a:off x="5727155" y="4402058"/>
              <a:ext cx="1588044" cy="3413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92" name="Line 21">
              <a:extLst>
                <a:ext uri="{FF2B5EF4-FFF2-40B4-BE49-F238E27FC236}">
                  <a16:creationId xmlns:a16="http://schemas.microsoft.com/office/drawing/2014/main" id="{BD268CA2-492D-45A7-A275-A5026C87EBB3}"/>
                </a:ext>
              </a:extLst>
            </p:cNvPr>
            <p:cNvSpPr>
              <a:spLocks noChangeShapeType="1"/>
            </p:cNvSpPr>
            <p:nvPr/>
          </p:nvSpPr>
          <p:spPr bwMode="auto">
            <a:xfrm>
              <a:off x="5741439" y="4868623"/>
              <a:ext cx="1553121" cy="6367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93" name="Text Box 39">
              <a:extLst>
                <a:ext uri="{FF2B5EF4-FFF2-40B4-BE49-F238E27FC236}">
                  <a16:creationId xmlns:a16="http://schemas.microsoft.com/office/drawing/2014/main" id="{CE70F077-D2A5-427F-B2BB-04A603013023}"/>
                </a:ext>
              </a:extLst>
            </p:cNvPr>
            <p:cNvSpPr txBox="1">
              <a:spLocks noChangeArrowheads="1"/>
            </p:cNvSpPr>
            <p:nvPr/>
          </p:nvSpPr>
          <p:spPr bwMode="auto">
            <a:xfrm>
              <a:off x="4216399" y="1602006"/>
              <a:ext cx="1239838" cy="46166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产量</a:t>
              </a:r>
            </a:p>
          </p:txBody>
        </p:sp>
      </p:grpSp>
      <p:grpSp>
        <p:nvGrpSpPr>
          <p:cNvPr id="2" name="组合 1">
            <a:extLst>
              <a:ext uri="{FF2B5EF4-FFF2-40B4-BE49-F238E27FC236}">
                <a16:creationId xmlns:a16="http://schemas.microsoft.com/office/drawing/2014/main" id="{0C1678AC-26ED-4785-B250-9070E6AB442E}"/>
              </a:ext>
            </a:extLst>
          </p:cNvPr>
          <p:cNvGrpSpPr>
            <a:grpSpLocks/>
          </p:cNvGrpSpPr>
          <p:nvPr/>
        </p:nvGrpSpPr>
        <p:grpSpPr bwMode="auto">
          <a:xfrm>
            <a:off x="5416550" y="2386013"/>
            <a:ext cx="3575050" cy="3867150"/>
            <a:chOff x="5415758" y="2385570"/>
            <a:chExt cx="3575842" cy="3867295"/>
          </a:xfrm>
        </p:grpSpPr>
        <p:sp>
          <p:nvSpPr>
            <p:cNvPr id="104457" name="Oval 7">
              <a:extLst>
                <a:ext uri="{FF2B5EF4-FFF2-40B4-BE49-F238E27FC236}">
                  <a16:creationId xmlns:a16="http://schemas.microsoft.com/office/drawing/2014/main" id="{241AC688-3E8F-46A6-BD57-AB90C2BB38B6}"/>
                </a:ext>
              </a:extLst>
            </p:cNvPr>
            <p:cNvSpPr>
              <a:spLocks noChangeArrowheads="1"/>
            </p:cNvSpPr>
            <p:nvPr/>
          </p:nvSpPr>
          <p:spPr bwMode="auto">
            <a:xfrm>
              <a:off x="7391400" y="5791200"/>
              <a:ext cx="457200" cy="457200"/>
            </a:xfrm>
            <a:prstGeom prst="ellipse">
              <a:avLst/>
            </a:prstGeom>
            <a:solidFill>
              <a:srgbClr val="FF0000"/>
            </a:solidFill>
            <a:ln w="28575">
              <a:solidFill>
                <a:srgbClr val="FF0000"/>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chemeClr val="bg1"/>
                  </a:solidFill>
                </a:rPr>
                <a:t>B</a:t>
              </a:r>
              <a:r>
                <a:rPr lang="en-US" altLang="zh-CN" sz="2400" baseline="-25000">
                  <a:solidFill>
                    <a:schemeClr val="bg1"/>
                  </a:solidFill>
                </a:rPr>
                <a:t>5</a:t>
              </a:r>
            </a:p>
          </p:txBody>
        </p:sp>
        <p:sp>
          <p:nvSpPr>
            <p:cNvPr id="104458" name="Text Box 27">
              <a:extLst>
                <a:ext uri="{FF2B5EF4-FFF2-40B4-BE49-F238E27FC236}">
                  <a16:creationId xmlns:a16="http://schemas.microsoft.com/office/drawing/2014/main" id="{172FA0D2-7E4D-471F-BC15-E1B986A1B45A}"/>
                </a:ext>
              </a:extLst>
            </p:cNvPr>
            <p:cNvSpPr txBox="1">
              <a:spLocks noChangeArrowheads="1"/>
            </p:cNvSpPr>
            <p:nvPr/>
          </p:nvSpPr>
          <p:spPr bwMode="auto">
            <a:xfrm>
              <a:off x="8001000" y="5791200"/>
              <a:ext cx="990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FF0000"/>
                  </a:solidFill>
                </a:rPr>
                <a:t>d</a:t>
              </a:r>
              <a:r>
                <a:rPr lang="en-US" altLang="zh-CN" sz="2400" baseline="-25000">
                  <a:solidFill>
                    <a:srgbClr val="FF0000"/>
                  </a:solidFill>
                </a:rPr>
                <a:t>5</a:t>
              </a:r>
              <a:r>
                <a:rPr lang="en-US" altLang="zh-CN" sz="2400">
                  <a:solidFill>
                    <a:srgbClr val="FF0000"/>
                  </a:solidFill>
                </a:rPr>
                <a:t>=10</a:t>
              </a:r>
            </a:p>
          </p:txBody>
        </p:sp>
        <p:sp>
          <p:nvSpPr>
            <p:cNvPr id="104459" name="Line 13">
              <a:extLst>
                <a:ext uri="{FF2B5EF4-FFF2-40B4-BE49-F238E27FC236}">
                  <a16:creationId xmlns:a16="http://schemas.microsoft.com/office/drawing/2014/main" id="{2E1B3C2B-DB5E-4F3D-9AF5-6F94B096316A}"/>
                </a:ext>
              </a:extLst>
            </p:cNvPr>
            <p:cNvSpPr>
              <a:spLocks noChangeShapeType="1"/>
            </p:cNvSpPr>
            <p:nvPr/>
          </p:nvSpPr>
          <p:spPr bwMode="auto">
            <a:xfrm>
              <a:off x="5535610" y="2385570"/>
              <a:ext cx="2008190" cy="3405629"/>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60" name="Line 17">
              <a:extLst>
                <a:ext uri="{FF2B5EF4-FFF2-40B4-BE49-F238E27FC236}">
                  <a16:creationId xmlns:a16="http://schemas.microsoft.com/office/drawing/2014/main" id="{EAD830CD-7F69-400E-B713-A5F0831A94E1}"/>
                </a:ext>
              </a:extLst>
            </p:cNvPr>
            <p:cNvSpPr>
              <a:spLocks noChangeShapeType="1"/>
            </p:cNvSpPr>
            <p:nvPr/>
          </p:nvSpPr>
          <p:spPr bwMode="auto">
            <a:xfrm>
              <a:off x="5593618" y="3508374"/>
              <a:ext cx="1848030" cy="235902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61" name="Line 21">
              <a:extLst>
                <a:ext uri="{FF2B5EF4-FFF2-40B4-BE49-F238E27FC236}">
                  <a16:creationId xmlns:a16="http://schemas.microsoft.com/office/drawing/2014/main" id="{831E27B8-4196-4227-93E7-6A46B5E8EC8A}"/>
                </a:ext>
              </a:extLst>
            </p:cNvPr>
            <p:cNvSpPr>
              <a:spLocks noChangeShapeType="1"/>
            </p:cNvSpPr>
            <p:nvPr/>
          </p:nvSpPr>
          <p:spPr bwMode="auto">
            <a:xfrm>
              <a:off x="5690414" y="4517070"/>
              <a:ext cx="1684242" cy="148923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4462" name="Text Box 24">
              <a:extLst>
                <a:ext uri="{FF2B5EF4-FFF2-40B4-BE49-F238E27FC236}">
                  <a16:creationId xmlns:a16="http://schemas.microsoft.com/office/drawing/2014/main" id="{7E966710-8C09-48B3-BA7C-77CC3A1C9B5F}"/>
                </a:ext>
              </a:extLst>
            </p:cNvPr>
            <p:cNvSpPr txBox="1">
              <a:spLocks noChangeArrowheads="1"/>
            </p:cNvSpPr>
            <p:nvPr/>
          </p:nvSpPr>
          <p:spPr bwMode="auto">
            <a:xfrm>
              <a:off x="5415758" y="2401869"/>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sp>
          <p:nvSpPr>
            <p:cNvPr id="104463" name="Text Box 24">
              <a:extLst>
                <a:ext uri="{FF2B5EF4-FFF2-40B4-BE49-F238E27FC236}">
                  <a16:creationId xmlns:a16="http://schemas.microsoft.com/office/drawing/2014/main" id="{D136FE47-420F-452D-A1E4-286BF4CB0971}"/>
                </a:ext>
              </a:extLst>
            </p:cNvPr>
            <p:cNvSpPr txBox="1">
              <a:spLocks noChangeArrowheads="1"/>
            </p:cNvSpPr>
            <p:nvPr/>
          </p:nvSpPr>
          <p:spPr bwMode="auto">
            <a:xfrm>
              <a:off x="5437184" y="3451164"/>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sp>
          <p:nvSpPr>
            <p:cNvPr id="104464" name="Text Box 24">
              <a:extLst>
                <a:ext uri="{FF2B5EF4-FFF2-40B4-BE49-F238E27FC236}">
                  <a16:creationId xmlns:a16="http://schemas.microsoft.com/office/drawing/2014/main" id="{900EC678-8BD8-4A01-A86B-A60E563AF1F7}"/>
                </a:ext>
              </a:extLst>
            </p:cNvPr>
            <p:cNvSpPr txBox="1">
              <a:spLocks noChangeArrowheads="1"/>
            </p:cNvSpPr>
            <p:nvPr/>
          </p:nvSpPr>
          <p:spPr bwMode="auto">
            <a:xfrm>
              <a:off x="5577035" y="4499153"/>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grpSp>
      <p:pic>
        <p:nvPicPr>
          <p:cNvPr id="4" name="图片 3">
            <a:extLst>
              <a:ext uri="{FF2B5EF4-FFF2-40B4-BE49-F238E27FC236}">
                <a16:creationId xmlns:a16="http://schemas.microsoft.com/office/drawing/2014/main" id="{3887AA05-80DB-4D3E-94A8-127C6719AF5A}"/>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430713" y="42863"/>
            <a:ext cx="4665662" cy="228441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98309"/>
                                        </p:tgtEl>
                                        <p:attrNameLst>
                                          <p:attrName>style.visibility</p:attrName>
                                        </p:attrNameLst>
                                      </p:cBhvr>
                                      <p:to>
                                        <p:strVal val="visible"/>
                                      </p:to>
                                    </p:set>
                                    <p:animEffect transition="in" filter="randombar(horizontal)">
                                      <p:cBhvr>
                                        <p:cTn id="7" dur="500"/>
                                        <p:tgtEl>
                                          <p:spTgt spid="9830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randombar(horizontal)">
                                      <p:cBhvr>
                                        <p:cTn id="12" dur="5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xit" presetSubtype="0" fill="hold" nodeType="clickEffect">
                                  <p:stCondLst>
                                    <p:cond delay="0"/>
                                  </p:stCondLst>
                                  <p:childTnLst>
                                    <p:set>
                                      <p:cBhvr>
                                        <p:cTn id="16" dur="1" fill="hold">
                                          <p:stCondLst>
                                            <p:cond delay="0"/>
                                          </p:stCondLst>
                                        </p:cTn>
                                        <p:tgtEl>
                                          <p:spTgt spid="4"/>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2035">
                                            <p:txEl>
                                              <p:pRg st="9" end="9"/>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4" presetClass="entr" presetSubtype="10" fill="hold" nodeType="click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randombar(horizontal)">
                                      <p:cBhvr>
                                        <p:cTn id="25" dur="500"/>
                                        <p:tgtEl>
                                          <p:spTgt spid="4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4" presetClass="entr" presetSubtype="10" fill="hold"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randombar(horizontal)">
                                      <p:cBhvr>
                                        <p:cTn id="3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035" grpId="0"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a:extLst>
              <a:ext uri="{FF2B5EF4-FFF2-40B4-BE49-F238E27FC236}">
                <a16:creationId xmlns:a16="http://schemas.microsoft.com/office/drawing/2014/main" id="{AAB5AB20-4152-41B0-A8A7-030FD6D9A2ED}"/>
              </a:ext>
            </a:extLst>
          </p:cNvPr>
          <p:cNvSpPr>
            <a:spLocks noGrp="1" noChangeArrowheads="1"/>
          </p:cNvSpPr>
          <p:nvPr>
            <p:ph type="title"/>
          </p:nvPr>
        </p:nvSpPr>
        <p:spPr/>
        <p:txBody>
          <a:bodyPr/>
          <a:lstStyle/>
          <a:p>
            <a:pPr eaLnBrk="1" hangingPunct="1"/>
            <a:r>
              <a:rPr lang="zh-CN" altLang="en-US"/>
              <a:t>产大于销</a:t>
            </a:r>
          </a:p>
        </p:txBody>
      </p:sp>
      <p:sp>
        <p:nvSpPr>
          <p:cNvPr id="184326" name="Text Box 6">
            <a:extLst>
              <a:ext uri="{FF2B5EF4-FFF2-40B4-BE49-F238E27FC236}">
                <a16:creationId xmlns:a16="http://schemas.microsoft.com/office/drawing/2014/main" id="{0566BA3A-84DE-4303-AF42-6C383CFD3875}"/>
              </a:ext>
            </a:extLst>
          </p:cNvPr>
          <p:cNvSpPr txBox="1">
            <a:spLocks noChangeArrowheads="1"/>
          </p:cNvSpPr>
          <p:nvPr/>
        </p:nvSpPr>
        <p:spPr bwMode="auto">
          <a:xfrm>
            <a:off x="228600" y="1219200"/>
            <a:ext cx="8686800" cy="1798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3200" b="1" i="1">
                <a:latin typeface="Times New Roman" panose="02020603050405020304" pitchFamily="18" charset="0"/>
              </a:rPr>
              <a:t>x</a:t>
            </a:r>
            <a:r>
              <a:rPr kumimoji="1" lang="en-US" altLang="zh-CN" sz="3200" b="1" i="1" baseline="-25000">
                <a:latin typeface="Times New Roman" panose="02020603050405020304" pitchFamily="18" charset="0"/>
              </a:rPr>
              <a:t>i,n+</a:t>
            </a:r>
            <a:r>
              <a:rPr kumimoji="1" lang="en-US" altLang="zh-CN" sz="3200" b="1" baseline="-25000">
                <a:latin typeface="Times New Roman" panose="02020603050405020304" pitchFamily="18" charset="0"/>
              </a:rPr>
              <a:t>1</a:t>
            </a:r>
            <a:r>
              <a:rPr kumimoji="1" lang="zh-CN" altLang="en-US" sz="3200" b="1">
                <a:latin typeface="Times New Roman" panose="02020603050405020304" pitchFamily="18" charset="0"/>
              </a:rPr>
              <a:t>为</a:t>
            </a:r>
            <a:r>
              <a:rPr kumimoji="1" lang="en-US" altLang="zh-CN" sz="3200" b="1">
                <a:latin typeface="Times New Roman" panose="02020603050405020304" pitchFamily="18" charset="0"/>
              </a:rPr>
              <a:t>A</a:t>
            </a:r>
            <a:r>
              <a:rPr kumimoji="1" lang="en-US" altLang="zh-CN" sz="3200" b="1" i="1" baseline="-25000">
                <a:latin typeface="Times New Roman" panose="02020603050405020304" pitchFamily="18" charset="0"/>
              </a:rPr>
              <a:t>i </a:t>
            </a:r>
            <a:r>
              <a:rPr kumimoji="1" lang="en-US" altLang="zh-CN" sz="3200" b="1">
                <a:latin typeface="Times New Roman" panose="02020603050405020304" pitchFamily="18" charset="0"/>
              </a:rPr>
              <a:t>(</a:t>
            </a:r>
            <a:r>
              <a:rPr kumimoji="1" lang="en-US" altLang="zh-CN" sz="3200" b="1" i="1">
                <a:latin typeface="Times New Roman" panose="02020603050405020304" pitchFamily="18" charset="0"/>
              </a:rPr>
              <a:t>i</a:t>
            </a:r>
            <a:r>
              <a:rPr kumimoji="1" lang="en-US" altLang="zh-CN" sz="3200" b="1">
                <a:latin typeface="Times New Roman" panose="02020603050405020304" pitchFamily="18" charset="0"/>
              </a:rPr>
              <a:t>=1,2…</a:t>
            </a:r>
            <a:r>
              <a:rPr kumimoji="1" lang="en-US" altLang="zh-CN" sz="3200" b="1" i="1">
                <a:latin typeface="Times New Roman" panose="02020603050405020304" pitchFamily="18" charset="0"/>
              </a:rPr>
              <a:t>m</a:t>
            </a:r>
            <a:r>
              <a:rPr kumimoji="1" lang="en-US" altLang="zh-CN" sz="3200" b="1">
                <a:latin typeface="Times New Roman" panose="02020603050405020304" pitchFamily="18" charset="0"/>
              </a:rPr>
              <a:t>)</a:t>
            </a:r>
            <a:r>
              <a:rPr kumimoji="1" lang="zh-CN" altLang="en-US" sz="3200" b="1">
                <a:latin typeface="Times New Roman" panose="02020603050405020304" pitchFamily="18" charset="0"/>
              </a:rPr>
              <a:t>调运到仓库</a:t>
            </a:r>
            <a:r>
              <a:rPr kumimoji="1" lang="en-US" altLang="zh-CN" sz="3200" b="1">
                <a:latin typeface="Times New Roman" panose="02020603050405020304" pitchFamily="18" charset="0"/>
              </a:rPr>
              <a:t>B</a:t>
            </a:r>
            <a:r>
              <a:rPr kumimoji="1" lang="en-US" altLang="zh-CN" sz="3200" b="1" i="1" baseline="-25000">
                <a:latin typeface="Times New Roman" panose="02020603050405020304" pitchFamily="18" charset="0"/>
              </a:rPr>
              <a:t>n</a:t>
            </a:r>
            <a:r>
              <a:rPr kumimoji="1" lang="en-US" altLang="zh-CN" sz="3200" b="1" baseline="-25000">
                <a:latin typeface="Times New Roman" panose="02020603050405020304" pitchFamily="18" charset="0"/>
              </a:rPr>
              <a:t>+1</a:t>
            </a:r>
            <a:r>
              <a:rPr kumimoji="1" lang="zh-CN" altLang="en-US" sz="3200" b="1">
                <a:latin typeface="Times New Roman" panose="02020603050405020304" pitchFamily="18" charset="0"/>
              </a:rPr>
              <a:t>的物品数量，</a:t>
            </a:r>
            <a:r>
              <a:rPr kumimoji="1" lang="en-US" altLang="zh-CN" sz="3200" b="1" i="1">
                <a:latin typeface="Times New Roman" panose="02020603050405020304" pitchFamily="18" charset="0"/>
              </a:rPr>
              <a:t>c</a:t>
            </a:r>
            <a:r>
              <a:rPr kumimoji="1" lang="en-US" altLang="zh-CN" sz="3200" b="1" i="1" baseline="-25000">
                <a:latin typeface="Times New Roman" panose="02020603050405020304" pitchFamily="18" charset="0"/>
              </a:rPr>
              <a:t>i,n+</a:t>
            </a:r>
            <a:r>
              <a:rPr kumimoji="1" lang="en-US" altLang="zh-CN" sz="3200" b="1" baseline="-25000">
                <a:latin typeface="Times New Roman" panose="02020603050405020304" pitchFamily="18" charset="0"/>
              </a:rPr>
              <a:t>1</a:t>
            </a:r>
            <a:r>
              <a:rPr kumimoji="1" lang="en-US" altLang="zh-CN" sz="3200" b="1">
                <a:latin typeface="Times New Roman" panose="02020603050405020304" pitchFamily="18" charset="0"/>
              </a:rPr>
              <a:t>=0 </a:t>
            </a:r>
            <a:r>
              <a:rPr kumimoji="1" lang="zh-CN" altLang="en-US" sz="3200" b="1">
                <a:latin typeface="Times New Roman" panose="02020603050405020304" pitchFamily="18" charset="0"/>
              </a:rPr>
              <a:t>，</a:t>
            </a:r>
            <a:r>
              <a:rPr kumimoji="1" lang="en-US" altLang="zh-CN" sz="3200" b="1" i="1">
                <a:latin typeface="Times New Roman" panose="02020603050405020304" pitchFamily="18" charset="0"/>
              </a:rPr>
              <a:t>b</a:t>
            </a:r>
            <a:r>
              <a:rPr kumimoji="1" lang="en-US" altLang="zh-CN" sz="3200" b="1" i="1" baseline="-25000">
                <a:latin typeface="Times New Roman" panose="02020603050405020304" pitchFamily="18" charset="0"/>
              </a:rPr>
              <a:t>n+</a:t>
            </a:r>
            <a:r>
              <a:rPr kumimoji="1" lang="en-US" altLang="zh-CN" sz="3200" b="1" baseline="-25000">
                <a:latin typeface="Times New Roman" panose="02020603050405020304" pitchFamily="18" charset="0"/>
              </a:rPr>
              <a:t>1</a:t>
            </a:r>
            <a:r>
              <a:rPr kumimoji="1" lang="zh-CN" altLang="en-US" sz="3200" b="1">
                <a:latin typeface="Times New Roman" panose="02020603050405020304" pitchFamily="18" charset="0"/>
              </a:rPr>
              <a:t>为存储量 ，</a:t>
            </a:r>
            <a:r>
              <a:rPr kumimoji="1" lang="en-US" altLang="zh-CN" sz="3200" b="1" i="1">
                <a:latin typeface="Times New Roman" panose="02020603050405020304" pitchFamily="18" charset="0"/>
              </a:rPr>
              <a:t>b</a:t>
            </a:r>
            <a:r>
              <a:rPr kumimoji="1" lang="en-US" altLang="zh-CN" sz="3200" b="1" i="1" baseline="-25000">
                <a:latin typeface="Times New Roman" panose="02020603050405020304" pitchFamily="18" charset="0"/>
              </a:rPr>
              <a:t>n+</a:t>
            </a:r>
            <a:r>
              <a:rPr kumimoji="1" lang="en-US" altLang="zh-CN" sz="3200" b="1" baseline="-25000">
                <a:latin typeface="Times New Roman" panose="02020603050405020304" pitchFamily="18" charset="0"/>
              </a:rPr>
              <a:t>1</a:t>
            </a:r>
            <a:r>
              <a:rPr kumimoji="1" lang="en-US" altLang="zh-CN" sz="3200" b="1">
                <a:latin typeface="Times New Roman" panose="02020603050405020304" pitchFamily="18" charset="0"/>
              </a:rPr>
              <a:t>=</a:t>
            </a:r>
            <a:r>
              <a:rPr kumimoji="1" lang="en-US" altLang="zh-CN" sz="3200" b="1">
                <a:latin typeface="Times New Roman" panose="02020603050405020304" pitchFamily="18" charset="0"/>
                <a:sym typeface="Symbol" panose="05050102010706020507" pitchFamily="18" charset="2"/>
              </a:rPr>
              <a:t></a:t>
            </a:r>
            <a:r>
              <a:rPr kumimoji="1" lang="en-US" altLang="zh-CN" sz="3200" b="1" i="1">
                <a:latin typeface="Times New Roman" panose="02020603050405020304" pitchFamily="18" charset="0"/>
                <a:sym typeface="Symbol" panose="05050102010706020507" pitchFamily="18" charset="2"/>
              </a:rPr>
              <a:t>a</a:t>
            </a:r>
            <a:r>
              <a:rPr kumimoji="1" lang="en-US" altLang="zh-CN" sz="3200" b="1" i="1" baseline="-25000">
                <a:latin typeface="Times New Roman" panose="02020603050405020304" pitchFamily="18" charset="0"/>
                <a:sym typeface="Symbol" panose="05050102010706020507" pitchFamily="18" charset="2"/>
              </a:rPr>
              <a:t>i</a:t>
            </a:r>
            <a:r>
              <a:rPr kumimoji="1" lang="en-US" altLang="zh-CN" sz="3200" b="1">
                <a:latin typeface="Times New Roman" panose="02020603050405020304" pitchFamily="18" charset="0"/>
                <a:sym typeface="Symbol" panose="05050102010706020507" pitchFamily="18" charset="2"/>
              </a:rPr>
              <a:t>-</a:t>
            </a:r>
            <a:r>
              <a:rPr kumimoji="1" lang="en-US" altLang="zh-CN" sz="3200" b="1" i="1">
                <a:latin typeface="Times New Roman" panose="02020603050405020304" pitchFamily="18" charset="0"/>
                <a:sym typeface="Symbol" panose="05050102010706020507" pitchFamily="18" charset="2"/>
              </a:rPr>
              <a:t>b</a:t>
            </a:r>
            <a:r>
              <a:rPr kumimoji="1" lang="en-US" altLang="zh-CN" sz="3200" b="1" i="1" baseline="-25000">
                <a:latin typeface="Times New Roman" panose="02020603050405020304" pitchFamily="18" charset="0"/>
                <a:sym typeface="Symbol" panose="05050102010706020507" pitchFamily="18" charset="2"/>
              </a:rPr>
              <a:t>j</a:t>
            </a:r>
            <a:r>
              <a:rPr kumimoji="1" lang="en-US" altLang="zh-CN" sz="3200" b="1">
                <a:latin typeface="Times New Roman" panose="02020603050405020304" pitchFamily="18" charset="0"/>
              </a:rPr>
              <a:t> </a:t>
            </a:r>
          </a:p>
          <a:p>
            <a:pPr eaLnBrk="1" hangingPunct="1">
              <a:spcBef>
                <a:spcPct val="50000"/>
              </a:spcBef>
            </a:pPr>
            <a:r>
              <a:rPr kumimoji="1" lang="zh-CN" altLang="en-US" sz="3200" b="1">
                <a:latin typeface="Times New Roman" panose="02020603050405020304" pitchFamily="18" charset="0"/>
              </a:rPr>
              <a:t>模型就变为产销平衡的问题：</a:t>
            </a:r>
          </a:p>
        </p:txBody>
      </p:sp>
      <p:graphicFrame>
        <p:nvGraphicFramePr>
          <p:cNvPr id="5" name="对象 10">
            <a:extLst>
              <a:ext uri="{FF2B5EF4-FFF2-40B4-BE49-F238E27FC236}">
                <a16:creationId xmlns:a16="http://schemas.microsoft.com/office/drawing/2014/main" id="{9C4C205E-83EA-44D2-802C-51B67ADD6934}"/>
              </a:ext>
            </a:extLst>
          </p:cNvPr>
          <p:cNvGraphicFramePr>
            <a:graphicFrameLocks noChangeAspect="1"/>
          </p:cNvGraphicFramePr>
          <p:nvPr/>
        </p:nvGraphicFramePr>
        <p:xfrm>
          <a:off x="6124575" y="0"/>
          <a:ext cx="3038475" cy="2562225"/>
        </p:xfrm>
        <a:graphic>
          <a:graphicData uri="http://schemas.openxmlformats.org/presentationml/2006/ole">
            <mc:AlternateContent xmlns:mc="http://schemas.openxmlformats.org/markup-compatibility/2006">
              <mc:Choice xmlns:v="urn:schemas-microsoft-com:vml" Requires="v">
                <p:oleObj spid="_x0000_s105499" name="Equation" r:id="rId3" imgW="1295400" imgH="1092200" progId="Equation.DSMT4">
                  <p:embed/>
                </p:oleObj>
              </mc:Choice>
              <mc:Fallback>
                <p:oleObj name="Equation" r:id="rId3" imgW="1295400" imgH="1092200" progId="Equation.DSMT4">
                  <p:embed/>
                  <p:pic>
                    <p:nvPicPr>
                      <p:cNvPr id="0"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4575" y="0"/>
                        <a:ext cx="3038475" cy="2562225"/>
                      </a:xfrm>
                      <a:prstGeom prst="rect">
                        <a:avLst/>
                      </a:prstGeom>
                      <a:solidFill>
                        <a:schemeClr val="accent1"/>
                      </a:solidFill>
                      <a:ln w="9525">
                        <a:solidFill>
                          <a:srgbClr val="FF00FF"/>
                        </a:solidFill>
                        <a:miter lim="800000"/>
                        <a:headEnd/>
                        <a:tailEnd/>
                      </a:ln>
                    </p:spPr>
                  </p:pic>
                </p:oleObj>
              </mc:Fallback>
            </mc:AlternateContent>
          </a:graphicData>
        </a:graphic>
      </p:graphicFrame>
      <p:grpSp>
        <p:nvGrpSpPr>
          <p:cNvPr id="2" name="组合 1">
            <a:extLst>
              <a:ext uri="{FF2B5EF4-FFF2-40B4-BE49-F238E27FC236}">
                <a16:creationId xmlns:a16="http://schemas.microsoft.com/office/drawing/2014/main" id="{6EEEE14B-DE66-4516-9AF7-64275CD83626}"/>
              </a:ext>
            </a:extLst>
          </p:cNvPr>
          <p:cNvGrpSpPr>
            <a:grpSpLocks/>
          </p:cNvGrpSpPr>
          <p:nvPr/>
        </p:nvGrpSpPr>
        <p:grpSpPr bwMode="auto">
          <a:xfrm>
            <a:off x="85725" y="3087688"/>
            <a:ext cx="8972550" cy="3309937"/>
            <a:chOff x="85725" y="3087951"/>
            <a:chExt cx="8972550" cy="3309675"/>
          </a:xfrm>
        </p:grpSpPr>
        <p:graphicFrame>
          <p:nvGraphicFramePr>
            <p:cNvPr id="105478" name="Object 7">
              <a:extLst>
                <a:ext uri="{FF2B5EF4-FFF2-40B4-BE49-F238E27FC236}">
                  <a16:creationId xmlns:a16="http://schemas.microsoft.com/office/drawing/2014/main" id="{64665AD8-98A1-40EA-BADC-C49A140F22AF}"/>
                </a:ext>
              </a:extLst>
            </p:cNvPr>
            <p:cNvGraphicFramePr>
              <a:graphicFrameLocks noChangeAspect="1"/>
            </p:cNvGraphicFramePr>
            <p:nvPr/>
          </p:nvGraphicFramePr>
          <p:xfrm>
            <a:off x="4572000" y="3087951"/>
            <a:ext cx="4486275" cy="3273425"/>
          </p:xfrm>
          <a:graphic>
            <a:graphicData uri="http://schemas.openxmlformats.org/presentationml/2006/ole">
              <mc:AlternateContent xmlns:mc="http://schemas.openxmlformats.org/markup-compatibility/2006">
                <mc:Choice xmlns:v="urn:schemas-microsoft-com:vml" Requires="v">
                  <p:oleObj spid="_x0000_s105500" name="Equation" r:id="rId5" imgW="2019300" imgH="1473200" progId="Equation.DSMT4">
                    <p:embed/>
                  </p:oleObj>
                </mc:Choice>
                <mc:Fallback>
                  <p:oleObj name="Equation" r:id="rId5" imgW="2019300" imgH="1473200" progId="Equation.DSMT4">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0" y="3087951"/>
                          <a:ext cx="4486275" cy="327342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5479" name="对象 5">
              <a:extLst>
                <a:ext uri="{FF2B5EF4-FFF2-40B4-BE49-F238E27FC236}">
                  <a16:creationId xmlns:a16="http://schemas.microsoft.com/office/drawing/2014/main" id="{4EB88A50-33F9-4F01-8FAE-F371225EB54F}"/>
                </a:ext>
              </a:extLst>
            </p:cNvPr>
            <p:cNvGraphicFramePr>
              <a:graphicFrameLocks noChangeAspect="1"/>
            </p:cNvGraphicFramePr>
            <p:nvPr/>
          </p:nvGraphicFramePr>
          <p:xfrm>
            <a:off x="85725" y="3170238"/>
            <a:ext cx="3827462" cy="3227388"/>
          </p:xfrm>
          <a:graphic>
            <a:graphicData uri="http://schemas.openxmlformats.org/presentationml/2006/ole">
              <mc:AlternateContent xmlns:mc="http://schemas.openxmlformats.org/markup-compatibility/2006">
                <mc:Choice xmlns:v="urn:schemas-microsoft-com:vml" Requires="v">
                  <p:oleObj spid="_x0000_s105501" name="Equation" r:id="rId7" imgW="1295400" imgH="1092200" progId="Equation.DSMT4">
                    <p:embed/>
                  </p:oleObj>
                </mc:Choice>
                <mc:Fallback>
                  <p:oleObj name="Equation" r:id="rId7" imgW="1295400" imgH="1092200" progId="Equation.DSMT4">
                    <p:embed/>
                    <p:pic>
                      <p:nvPicPr>
                        <p:cNvPr id="0" name="对象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725" y="3170238"/>
                          <a:ext cx="3827462" cy="322738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5480" name="AutoShape 6">
              <a:extLst>
                <a:ext uri="{FF2B5EF4-FFF2-40B4-BE49-F238E27FC236}">
                  <a16:creationId xmlns:a16="http://schemas.microsoft.com/office/drawing/2014/main" id="{B1538225-5634-4E69-968F-995F39DB897B}"/>
                </a:ext>
              </a:extLst>
            </p:cNvPr>
            <p:cNvSpPr>
              <a:spLocks noChangeArrowheads="1"/>
            </p:cNvSpPr>
            <p:nvPr/>
          </p:nvSpPr>
          <p:spPr bwMode="auto">
            <a:xfrm>
              <a:off x="3962400" y="4631532"/>
              <a:ext cx="609600"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4326"/>
                                        </p:tgtEl>
                                        <p:attrNameLst>
                                          <p:attrName>style.visibility</p:attrName>
                                        </p:attrNameLst>
                                      </p:cBhvr>
                                      <p:to>
                                        <p:strVal val="visible"/>
                                      </p:to>
                                    </p:set>
                                    <p:animEffect transition="in" filter="blinds(horizontal)">
                                      <p:cBhvr>
                                        <p:cTn id="7" dur="500"/>
                                        <p:tgtEl>
                                          <p:spTgt spid="1843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randombar(horizontal)">
                                      <p:cBhvr>
                                        <p:cTn id="12" dur="5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randombar(horizontal)">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26"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56">
            <a:extLst>
              <a:ext uri="{FF2B5EF4-FFF2-40B4-BE49-F238E27FC236}">
                <a16:creationId xmlns:a16="http://schemas.microsoft.com/office/drawing/2014/main" id="{2C89FA9C-1778-4A31-948C-38D256AA6649}"/>
              </a:ext>
            </a:extLst>
          </p:cNvPr>
          <p:cNvSpPr>
            <a:spLocks noGrp="1" noChangeArrowheads="1"/>
          </p:cNvSpPr>
          <p:nvPr>
            <p:ph type="title"/>
          </p:nvPr>
        </p:nvSpPr>
        <p:spPr/>
        <p:txBody>
          <a:bodyPr/>
          <a:lstStyle/>
          <a:p>
            <a:r>
              <a:rPr lang="zh-CN" altLang="en-US"/>
              <a:t>产大于销</a:t>
            </a:r>
          </a:p>
        </p:txBody>
      </p:sp>
      <p:graphicFrame>
        <p:nvGraphicFramePr>
          <p:cNvPr id="106499" name="Object 2">
            <a:extLst>
              <a:ext uri="{FF2B5EF4-FFF2-40B4-BE49-F238E27FC236}">
                <a16:creationId xmlns:a16="http://schemas.microsoft.com/office/drawing/2014/main" id="{FC1613E7-8A6C-45F4-BAD7-5D0970DCA2DF}"/>
              </a:ext>
            </a:extLst>
          </p:cNvPr>
          <p:cNvGraphicFramePr>
            <a:graphicFrameLocks noChangeAspect="1"/>
          </p:cNvGraphicFramePr>
          <p:nvPr/>
        </p:nvGraphicFramePr>
        <p:xfrm>
          <a:off x="665163" y="1385888"/>
          <a:ext cx="7605712" cy="4765675"/>
        </p:xfrm>
        <a:graphic>
          <a:graphicData uri="http://schemas.openxmlformats.org/presentationml/2006/ole">
            <mc:AlternateContent xmlns:mc="http://schemas.openxmlformats.org/markup-compatibility/2006">
              <mc:Choice xmlns:v="urn:schemas-microsoft-com:vml" Requires="v">
                <p:oleObj spid="_x0000_s106508" name="Document" r:id="rId3" imgW="4939598" imgH="3100210" progId="Word.Document.8">
                  <p:embed/>
                </p:oleObj>
              </mc:Choice>
              <mc:Fallback>
                <p:oleObj name="Document" r:id="rId3" imgW="4939598" imgH="310021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5163" y="1385888"/>
                        <a:ext cx="7605712" cy="476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06500" name="矩形 1">
            <a:extLst>
              <a:ext uri="{FF2B5EF4-FFF2-40B4-BE49-F238E27FC236}">
                <a16:creationId xmlns:a16="http://schemas.microsoft.com/office/drawing/2014/main" id="{E4F02B0E-F0DF-4E3B-BC84-890C52A77FEC}"/>
              </a:ext>
            </a:extLst>
          </p:cNvPr>
          <p:cNvSpPr>
            <a:spLocks noChangeArrowheads="1"/>
          </p:cNvSpPr>
          <p:nvPr/>
        </p:nvSpPr>
        <p:spPr bwMode="auto">
          <a:xfrm>
            <a:off x="6096000" y="757238"/>
            <a:ext cx="110807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kumimoji="1" lang="zh-CN" altLang="en-US">
                <a:solidFill>
                  <a:srgbClr val="FF00FF"/>
                </a:solidFill>
                <a:latin typeface="Times New Roman" panose="02020603050405020304" pitchFamily="18" charset="0"/>
              </a:rPr>
              <a:t>储存地</a:t>
            </a:r>
            <a:endParaRPr kumimoji="1" lang="en-US" altLang="zh-CN">
              <a:solidFill>
                <a:srgbClr val="FF00FF"/>
              </a:solidFill>
              <a:latin typeface="Times New Roman" panose="02020603050405020304" pitchFamily="18" charset="0"/>
            </a:endParaRPr>
          </a:p>
          <a:p>
            <a:pPr algn="ctr"/>
            <a:r>
              <a:rPr kumimoji="1" lang="zh-CN" altLang="en-US">
                <a:solidFill>
                  <a:srgbClr val="FF00FF"/>
                </a:solidFill>
                <a:latin typeface="Times New Roman" panose="02020603050405020304" pitchFamily="18" charset="0"/>
              </a:rPr>
              <a:t>（仓库）</a:t>
            </a:r>
            <a:endParaRPr lang="zh-CN" altLang="en-US">
              <a:solidFill>
                <a:srgbClr val="FF00FF"/>
              </a:solidFill>
            </a:endParaRPr>
          </a:p>
        </p:txBody>
      </p:sp>
      <p:sp>
        <p:nvSpPr>
          <p:cNvPr id="5" name="Rectangle 95">
            <a:extLst>
              <a:ext uri="{FF2B5EF4-FFF2-40B4-BE49-F238E27FC236}">
                <a16:creationId xmlns:a16="http://schemas.microsoft.com/office/drawing/2014/main" id="{5DD86C20-4050-4174-BCB0-D3D23E735D2D}"/>
              </a:ext>
            </a:extLst>
          </p:cNvPr>
          <p:cNvSpPr>
            <a:spLocks noChangeArrowheads="1"/>
          </p:cNvSpPr>
          <p:nvPr/>
        </p:nvSpPr>
        <p:spPr bwMode="auto">
          <a:xfrm>
            <a:off x="5926138" y="750888"/>
            <a:ext cx="1447800" cy="5087937"/>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xit"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
            <a:extLst>
              <a:ext uri="{FF2B5EF4-FFF2-40B4-BE49-F238E27FC236}">
                <a16:creationId xmlns:a16="http://schemas.microsoft.com/office/drawing/2014/main" id="{3745510D-A432-43CE-87BD-A3F8E1590A8C}"/>
              </a:ext>
            </a:extLst>
          </p:cNvPr>
          <p:cNvSpPr>
            <a:spLocks noGrp="1" noChangeArrowheads="1"/>
          </p:cNvSpPr>
          <p:nvPr>
            <p:ph type="title"/>
          </p:nvPr>
        </p:nvSpPr>
        <p:spPr/>
        <p:txBody>
          <a:bodyPr/>
          <a:lstStyle/>
          <a:p>
            <a:pPr eaLnBrk="1" hangingPunct="1"/>
            <a:r>
              <a:rPr lang="zh-CN" altLang="en-US"/>
              <a:t>销大于产</a:t>
            </a:r>
          </a:p>
        </p:txBody>
      </p:sp>
      <p:sp>
        <p:nvSpPr>
          <p:cNvPr id="172035" name="Rectangle 3">
            <a:extLst>
              <a:ext uri="{FF2B5EF4-FFF2-40B4-BE49-F238E27FC236}">
                <a16:creationId xmlns:a16="http://schemas.microsoft.com/office/drawing/2014/main" id="{46D0D080-0BA9-41ED-8A75-E1B313663D6C}"/>
              </a:ext>
            </a:extLst>
          </p:cNvPr>
          <p:cNvSpPr>
            <a:spLocks noGrp="1" noChangeArrowheads="1"/>
          </p:cNvSpPr>
          <p:nvPr>
            <p:ph type="body" sz="half" idx="1"/>
          </p:nvPr>
        </p:nvSpPr>
        <p:spPr>
          <a:xfrm>
            <a:off x="0" y="838200"/>
            <a:ext cx="5449888" cy="5638800"/>
          </a:xfrm>
        </p:spPr>
        <p:txBody>
          <a:bodyPr/>
          <a:lstStyle/>
          <a:p>
            <a:pPr eaLnBrk="1" hangingPunct="1"/>
            <a:r>
              <a:rPr lang="zh-CN" altLang="en-US" sz="2800"/>
              <a:t>数学模型</a:t>
            </a:r>
          </a:p>
          <a:p>
            <a:pPr eaLnBrk="1" hangingPunct="1"/>
            <a:endParaRPr kumimoji="1" lang="zh-CN" altLang="en-US" sz="2800" b="0"/>
          </a:p>
          <a:p>
            <a:pPr eaLnBrk="1" hangingPunct="1"/>
            <a:endParaRPr kumimoji="1" lang="zh-CN" altLang="en-US" sz="2800" b="0"/>
          </a:p>
          <a:p>
            <a:pPr eaLnBrk="1" hangingPunct="1"/>
            <a:endParaRPr kumimoji="1" lang="zh-CN" altLang="en-US" sz="2800" b="0"/>
          </a:p>
          <a:p>
            <a:pPr eaLnBrk="1" hangingPunct="1"/>
            <a:endParaRPr kumimoji="1" lang="zh-CN" altLang="en-US" sz="2800"/>
          </a:p>
          <a:p>
            <a:pPr eaLnBrk="1" hangingPunct="1"/>
            <a:endParaRPr kumimoji="1" lang="zh-CN" altLang="en-US" sz="2800"/>
          </a:p>
          <a:p>
            <a:pPr eaLnBrk="1" hangingPunct="1"/>
            <a:endParaRPr kumimoji="1" lang="zh-CN" altLang="en-US" sz="2800"/>
          </a:p>
          <a:p>
            <a:pPr eaLnBrk="1" hangingPunct="1"/>
            <a:endParaRPr kumimoji="1" lang="en-US" altLang="zh-CN" sz="2800"/>
          </a:p>
          <a:p>
            <a:pPr eaLnBrk="1" hangingPunct="1"/>
            <a:endParaRPr kumimoji="1" lang="en-US" altLang="zh-CN" sz="2800"/>
          </a:p>
          <a:p>
            <a:pPr eaLnBrk="1" hangingPunct="1"/>
            <a:r>
              <a:rPr kumimoji="1" lang="zh-CN" altLang="en-US" sz="2800"/>
              <a:t>我们假设有一假想产地</a:t>
            </a:r>
            <a:r>
              <a:rPr kumimoji="1" lang="en-US" altLang="zh-CN" sz="2800"/>
              <a:t>A</a:t>
            </a:r>
            <a:r>
              <a:rPr kumimoji="1" lang="en-US" altLang="zh-CN" sz="2800" i="1" baseline="-25000">
                <a:latin typeface="Times New Roman" panose="02020603050405020304" pitchFamily="18" charset="0"/>
              </a:rPr>
              <a:t>n</a:t>
            </a:r>
            <a:r>
              <a:rPr kumimoji="1" lang="en-US" altLang="zh-CN" sz="2800" baseline="-25000">
                <a:latin typeface="Times New Roman" panose="02020603050405020304" pitchFamily="18" charset="0"/>
              </a:rPr>
              <a:t>+1</a:t>
            </a:r>
            <a:r>
              <a:rPr kumimoji="1" lang="zh-CN" altLang="en-US" sz="2800"/>
              <a:t>，该产地到各销地的运价为零</a:t>
            </a:r>
          </a:p>
        </p:txBody>
      </p:sp>
      <p:graphicFrame>
        <p:nvGraphicFramePr>
          <p:cNvPr id="172036" name="Object 4">
            <a:extLst>
              <a:ext uri="{FF2B5EF4-FFF2-40B4-BE49-F238E27FC236}">
                <a16:creationId xmlns:a16="http://schemas.microsoft.com/office/drawing/2014/main" id="{5C02FF49-F062-43DA-B06C-E3C9FBD35E39}"/>
              </a:ext>
            </a:extLst>
          </p:cNvPr>
          <p:cNvGraphicFramePr>
            <a:graphicFrameLocks noGrp="1" noChangeAspect="1"/>
          </p:cNvGraphicFramePr>
          <p:nvPr>
            <p:ph sz="quarter" idx="2"/>
          </p:nvPr>
        </p:nvGraphicFramePr>
        <p:xfrm>
          <a:off x="609600" y="4648200"/>
          <a:ext cx="1676400" cy="925513"/>
        </p:xfrm>
        <a:graphic>
          <a:graphicData uri="http://schemas.openxmlformats.org/presentationml/2006/ole">
            <mc:AlternateContent xmlns:mc="http://schemas.openxmlformats.org/markup-compatibility/2006">
              <mc:Choice xmlns:v="urn:schemas-microsoft-com:vml" Requires="v">
                <p:oleObj spid="_x0000_s107584" name="Equation" r:id="rId3" imgW="736280" imgH="406224" progId="Equation.DSMT4">
                  <p:embed/>
                </p:oleObj>
              </mc:Choice>
              <mc:Fallback>
                <p:oleObj name="Equation" r:id="rId3" imgW="736280" imgH="406224" progId="Equation.DSMT4">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4648200"/>
                        <a:ext cx="1676400" cy="9255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7525" name="Object 6">
            <a:extLst>
              <a:ext uri="{FF2B5EF4-FFF2-40B4-BE49-F238E27FC236}">
                <a16:creationId xmlns:a16="http://schemas.microsoft.com/office/drawing/2014/main" id="{1B7553D1-1E82-40DD-ADE0-90FD3BBAC12C}"/>
              </a:ext>
            </a:extLst>
          </p:cNvPr>
          <p:cNvGraphicFramePr>
            <a:graphicFrameLocks noGrp="1" noChangeAspect="1"/>
          </p:cNvGraphicFramePr>
          <p:nvPr>
            <p:ph sz="quarter" idx="3"/>
          </p:nvPr>
        </p:nvGraphicFramePr>
        <p:xfrm>
          <a:off x="304800" y="1219200"/>
          <a:ext cx="4062413" cy="3543300"/>
        </p:xfrm>
        <a:graphic>
          <a:graphicData uri="http://schemas.openxmlformats.org/presentationml/2006/ole">
            <mc:AlternateContent xmlns:mc="http://schemas.openxmlformats.org/markup-compatibility/2006">
              <mc:Choice xmlns:v="urn:schemas-microsoft-com:vml" Requires="v">
                <p:oleObj spid="_x0000_s107585" name="Equation" r:id="rId5" imgW="1689100" imgH="1473200" progId="Equation.DSMT4">
                  <p:embed/>
                </p:oleObj>
              </mc:Choice>
              <mc:Fallback>
                <p:oleObj name="Equation" r:id="rId5" imgW="1689100" imgH="14732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800" y="1219200"/>
                        <a:ext cx="4062413" cy="3543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6" name="组合 5">
            <a:extLst>
              <a:ext uri="{FF2B5EF4-FFF2-40B4-BE49-F238E27FC236}">
                <a16:creationId xmlns:a16="http://schemas.microsoft.com/office/drawing/2014/main" id="{0C67D615-2F8E-457F-BDBE-119982719286}"/>
              </a:ext>
            </a:extLst>
          </p:cNvPr>
          <p:cNvGrpSpPr>
            <a:grpSpLocks/>
          </p:cNvGrpSpPr>
          <p:nvPr/>
        </p:nvGrpSpPr>
        <p:grpSpPr bwMode="auto">
          <a:xfrm>
            <a:off x="4419600" y="990600"/>
            <a:ext cx="4775200" cy="4341813"/>
            <a:chOff x="4216399" y="1377871"/>
            <a:chExt cx="4775201" cy="4341813"/>
          </a:xfrm>
        </p:grpSpPr>
        <p:sp>
          <p:nvSpPr>
            <p:cNvPr id="107539" name="Oval 2">
              <a:extLst>
                <a:ext uri="{FF2B5EF4-FFF2-40B4-BE49-F238E27FC236}">
                  <a16:creationId xmlns:a16="http://schemas.microsoft.com/office/drawing/2014/main" id="{AE527E1E-ACE1-4A2D-B60E-3B737B8A3BAE}"/>
                </a:ext>
              </a:extLst>
            </p:cNvPr>
            <p:cNvSpPr>
              <a:spLocks noChangeArrowheads="1"/>
            </p:cNvSpPr>
            <p:nvPr/>
          </p:nvSpPr>
          <p:spPr bwMode="auto">
            <a:xfrm>
              <a:off x="5257800" y="35098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2</a:t>
              </a:r>
            </a:p>
          </p:txBody>
        </p:sp>
        <p:sp>
          <p:nvSpPr>
            <p:cNvPr id="107540" name="Oval 3">
              <a:extLst>
                <a:ext uri="{FF2B5EF4-FFF2-40B4-BE49-F238E27FC236}">
                  <a16:creationId xmlns:a16="http://schemas.microsoft.com/office/drawing/2014/main" id="{F05209B4-EB3A-4D0F-A57B-F2A74F557F69}"/>
                </a:ext>
              </a:extLst>
            </p:cNvPr>
            <p:cNvSpPr>
              <a:spLocks noChangeArrowheads="1"/>
            </p:cNvSpPr>
            <p:nvPr/>
          </p:nvSpPr>
          <p:spPr bwMode="auto">
            <a:xfrm>
              <a:off x="5257800" y="4576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3</a:t>
              </a:r>
            </a:p>
          </p:txBody>
        </p:sp>
        <p:sp>
          <p:nvSpPr>
            <p:cNvPr id="107541" name="Oval 5">
              <a:extLst>
                <a:ext uri="{FF2B5EF4-FFF2-40B4-BE49-F238E27FC236}">
                  <a16:creationId xmlns:a16="http://schemas.microsoft.com/office/drawing/2014/main" id="{20082C2A-4425-4D15-B3B9-5D185D368417}"/>
                </a:ext>
              </a:extLst>
            </p:cNvPr>
            <p:cNvSpPr>
              <a:spLocks noChangeArrowheads="1"/>
            </p:cNvSpPr>
            <p:nvPr/>
          </p:nvSpPr>
          <p:spPr bwMode="auto">
            <a:xfrm>
              <a:off x="5257800" y="2384345"/>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A</a:t>
              </a:r>
              <a:r>
                <a:rPr lang="en-US" altLang="zh-CN" sz="2400" baseline="-25000">
                  <a:solidFill>
                    <a:srgbClr val="003300"/>
                  </a:solidFill>
                </a:rPr>
                <a:t>1</a:t>
              </a:r>
            </a:p>
          </p:txBody>
        </p:sp>
        <p:sp>
          <p:nvSpPr>
            <p:cNvPr id="107542" name="Oval 4">
              <a:extLst>
                <a:ext uri="{FF2B5EF4-FFF2-40B4-BE49-F238E27FC236}">
                  <a16:creationId xmlns:a16="http://schemas.microsoft.com/office/drawing/2014/main" id="{FBBE1F7A-DB9B-44EC-B2DD-3351D1EA1648}"/>
                </a:ext>
              </a:extLst>
            </p:cNvPr>
            <p:cNvSpPr>
              <a:spLocks noChangeArrowheads="1"/>
            </p:cNvSpPr>
            <p:nvPr/>
          </p:nvSpPr>
          <p:spPr bwMode="auto">
            <a:xfrm>
              <a:off x="7294561" y="3052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2</a:t>
              </a:r>
            </a:p>
          </p:txBody>
        </p:sp>
        <p:sp>
          <p:nvSpPr>
            <p:cNvPr id="107543" name="Oval 6">
              <a:extLst>
                <a:ext uri="{FF2B5EF4-FFF2-40B4-BE49-F238E27FC236}">
                  <a16:creationId xmlns:a16="http://schemas.microsoft.com/office/drawing/2014/main" id="{71AE9894-CD4E-429A-B9B6-EA641F65D61A}"/>
                </a:ext>
              </a:extLst>
            </p:cNvPr>
            <p:cNvSpPr>
              <a:spLocks noChangeArrowheads="1"/>
            </p:cNvSpPr>
            <p:nvPr/>
          </p:nvSpPr>
          <p:spPr bwMode="auto">
            <a:xfrm>
              <a:off x="7294561" y="41194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3</a:t>
              </a:r>
            </a:p>
          </p:txBody>
        </p:sp>
        <p:sp>
          <p:nvSpPr>
            <p:cNvPr id="107544" name="Oval 7">
              <a:extLst>
                <a:ext uri="{FF2B5EF4-FFF2-40B4-BE49-F238E27FC236}">
                  <a16:creationId xmlns:a16="http://schemas.microsoft.com/office/drawing/2014/main" id="{169284E9-6C09-4C44-9A65-AB435F5224F5}"/>
                </a:ext>
              </a:extLst>
            </p:cNvPr>
            <p:cNvSpPr>
              <a:spLocks noChangeArrowheads="1"/>
            </p:cNvSpPr>
            <p:nvPr/>
          </p:nvSpPr>
          <p:spPr bwMode="auto">
            <a:xfrm>
              <a:off x="7294561" y="52624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4</a:t>
              </a:r>
            </a:p>
          </p:txBody>
        </p:sp>
        <p:sp>
          <p:nvSpPr>
            <p:cNvPr id="107545" name="Oval 8">
              <a:extLst>
                <a:ext uri="{FF2B5EF4-FFF2-40B4-BE49-F238E27FC236}">
                  <a16:creationId xmlns:a16="http://schemas.microsoft.com/office/drawing/2014/main" id="{74852BC4-7948-41A2-891F-C46574C5BDD5}"/>
                </a:ext>
              </a:extLst>
            </p:cNvPr>
            <p:cNvSpPr>
              <a:spLocks noChangeArrowheads="1"/>
            </p:cNvSpPr>
            <p:nvPr/>
          </p:nvSpPr>
          <p:spPr bwMode="auto">
            <a:xfrm>
              <a:off x="7294561" y="1909683"/>
              <a:ext cx="457200" cy="457200"/>
            </a:xfrm>
            <a:prstGeom prst="ellipse">
              <a:avLst/>
            </a:prstGeom>
            <a:solidFill>
              <a:schemeClr val="accent1"/>
            </a:solidFill>
            <a:ln w="28575">
              <a:solidFill>
                <a:schemeClr val="tx2"/>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rgbClr val="003300"/>
                  </a:solidFill>
                </a:rPr>
                <a:t>B</a:t>
              </a:r>
              <a:r>
                <a:rPr lang="en-US" altLang="zh-CN" sz="2400" baseline="-25000">
                  <a:solidFill>
                    <a:srgbClr val="003300"/>
                  </a:solidFill>
                </a:rPr>
                <a:t>1</a:t>
              </a:r>
            </a:p>
          </p:txBody>
        </p:sp>
        <p:sp>
          <p:nvSpPr>
            <p:cNvPr id="107546" name="Text Box 22">
              <a:extLst>
                <a:ext uri="{FF2B5EF4-FFF2-40B4-BE49-F238E27FC236}">
                  <a16:creationId xmlns:a16="http://schemas.microsoft.com/office/drawing/2014/main" id="{3BE5661E-7C04-4A10-B6B5-459786DA1893}"/>
                </a:ext>
              </a:extLst>
            </p:cNvPr>
            <p:cNvSpPr txBox="1">
              <a:spLocks noChangeArrowheads="1"/>
            </p:cNvSpPr>
            <p:nvPr/>
          </p:nvSpPr>
          <p:spPr bwMode="auto">
            <a:xfrm>
              <a:off x="4270375" y="35098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2</a:t>
              </a:r>
              <a:r>
                <a:rPr lang="en-US" altLang="zh-CN" sz="2400"/>
                <a:t>=27</a:t>
              </a:r>
            </a:p>
          </p:txBody>
        </p:sp>
        <p:sp>
          <p:nvSpPr>
            <p:cNvPr id="107547" name="Text Box 23">
              <a:extLst>
                <a:ext uri="{FF2B5EF4-FFF2-40B4-BE49-F238E27FC236}">
                  <a16:creationId xmlns:a16="http://schemas.microsoft.com/office/drawing/2014/main" id="{32CB7D4D-76EC-490B-BB03-8B1153C3F2D9}"/>
                </a:ext>
              </a:extLst>
            </p:cNvPr>
            <p:cNvSpPr txBox="1">
              <a:spLocks noChangeArrowheads="1"/>
            </p:cNvSpPr>
            <p:nvPr/>
          </p:nvSpPr>
          <p:spPr bwMode="auto">
            <a:xfrm>
              <a:off x="4270375" y="4576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3</a:t>
              </a:r>
              <a:r>
                <a:rPr lang="en-US" altLang="zh-CN" sz="2400"/>
                <a:t>=19</a:t>
              </a:r>
            </a:p>
          </p:txBody>
        </p:sp>
        <p:sp>
          <p:nvSpPr>
            <p:cNvPr id="107548" name="Text Box 28">
              <a:extLst>
                <a:ext uri="{FF2B5EF4-FFF2-40B4-BE49-F238E27FC236}">
                  <a16:creationId xmlns:a16="http://schemas.microsoft.com/office/drawing/2014/main" id="{C9DE195B-3D4B-4F6F-8B25-E7DABFABA082}"/>
                </a:ext>
              </a:extLst>
            </p:cNvPr>
            <p:cNvSpPr txBox="1">
              <a:spLocks noChangeArrowheads="1"/>
            </p:cNvSpPr>
            <p:nvPr/>
          </p:nvSpPr>
          <p:spPr bwMode="auto">
            <a:xfrm>
              <a:off x="4270375" y="23668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s</a:t>
              </a:r>
              <a:r>
                <a:rPr lang="en-US" altLang="zh-CN" sz="2400" baseline="-25000"/>
                <a:t>1</a:t>
              </a:r>
              <a:r>
                <a:rPr lang="en-US" altLang="zh-CN" sz="2400"/>
                <a:t>=14</a:t>
              </a:r>
            </a:p>
          </p:txBody>
        </p:sp>
        <p:grpSp>
          <p:nvGrpSpPr>
            <p:cNvPr id="107549" name="Group 29">
              <a:extLst>
                <a:ext uri="{FF2B5EF4-FFF2-40B4-BE49-F238E27FC236}">
                  <a16:creationId xmlns:a16="http://schemas.microsoft.com/office/drawing/2014/main" id="{93A0605F-56C9-43A4-91B2-6FA04A716D3B}"/>
                </a:ext>
              </a:extLst>
            </p:cNvPr>
            <p:cNvGrpSpPr>
              <a:grpSpLocks/>
            </p:cNvGrpSpPr>
            <p:nvPr/>
          </p:nvGrpSpPr>
          <p:grpSpPr bwMode="auto">
            <a:xfrm>
              <a:off x="4270375" y="1762046"/>
              <a:ext cx="1257300" cy="1976438"/>
              <a:chOff x="912" y="1155"/>
              <a:chExt cx="792" cy="1245"/>
            </a:xfrm>
          </p:grpSpPr>
          <p:cxnSp>
            <p:nvCxnSpPr>
              <p:cNvPr id="107570" name="AutoShape 30">
                <a:extLst>
                  <a:ext uri="{FF2B5EF4-FFF2-40B4-BE49-F238E27FC236}">
                    <a16:creationId xmlns:a16="http://schemas.microsoft.com/office/drawing/2014/main" id="{56A872B4-045C-441F-A623-7771844BBD35}"/>
                  </a:ext>
                </a:extLst>
              </p:cNvPr>
              <p:cNvCxnSpPr>
                <a:cxnSpLocks noChangeShapeType="1"/>
                <a:endCxn id="107548" idx="1"/>
              </p:cNvCxnSpPr>
              <p:nvPr/>
            </p:nvCxnSpPr>
            <p:spPr bwMode="auto">
              <a:xfrm flipH="1">
                <a:off x="912" y="1155"/>
                <a:ext cx="792" cy="525"/>
              </a:xfrm>
              <a:prstGeom prst="bentConnector5">
                <a:avLst>
                  <a:gd name="adj1" fmla="val -18181"/>
                  <a:gd name="adj2" fmla="val 154806"/>
                  <a:gd name="adj3" fmla="val 118181"/>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cxnSp>
            <p:nvCxnSpPr>
              <p:cNvPr id="107571" name="AutoShape 31">
                <a:extLst>
                  <a:ext uri="{FF2B5EF4-FFF2-40B4-BE49-F238E27FC236}">
                    <a16:creationId xmlns:a16="http://schemas.microsoft.com/office/drawing/2014/main" id="{1866BC94-6906-49F0-9995-59BEB49CC722}"/>
                  </a:ext>
                </a:extLst>
              </p:cNvPr>
              <p:cNvCxnSpPr>
                <a:cxnSpLocks noChangeShapeType="1"/>
                <a:endCxn id="107546" idx="1"/>
              </p:cNvCxnSpPr>
              <p:nvPr/>
            </p:nvCxnSpPr>
            <p:spPr bwMode="auto">
              <a:xfrm flipH="1">
                <a:off x="912" y="1155"/>
                <a:ext cx="792" cy="1245"/>
              </a:xfrm>
              <a:prstGeom prst="straightConnector1">
                <a:avLst/>
              </a:prstGeom>
              <a:noFill/>
              <a:ln w="9525">
                <a:solidFill>
                  <a:schemeClr val="bg1"/>
                </a:solidFill>
                <a:round/>
                <a:headEnd/>
                <a:tailEnd type="triangle" w="med" len="med"/>
              </a:ln>
              <a:extLst>
                <a:ext uri="{909E8E84-426E-40DD-AFC4-6F175D3DCCD1}">
                  <a14:hiddenFill xmlns:a14="http://schemas.microsoft.com/office/drawing/2010/main">
                    <a:noFill/>
                  </a14:hiddenFill>
                </a:ext>
              </a:extLst>
            </p:spPr>
          </p:cxnSp>
        </p:grpSp>
        <p:sp>
          <p:nvSpPr>
            <p:cNvPr id="107550" name="Text Box 24">
              <a:extLst>
                <a:ext uri="{FF2B5EF4-FFF2-40B4-BE49-F238E27FC236}">
                  <a16:creationId xmlns:a16="http://schemas.microsoft.com/office/drawing/2014/main" id="{AA751818-7472-4099-AAAE-2B74F905ED9F}"/>
                </a:ext>
              </a:extLst>
            </p:cNvPr>
            <p:cNvSpPr txBox="1">
              <a:spLocks noChangeArrowheads="1"/>
            </p:cNvSpPr>
            <p:nvPr/>
          </p:nvSpPr>
          <p:spPr bwMode="auto">
            <a:xfrm>
              <a:off x="7827962" y="1909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1</a:t>
              </a:r>
              <a:r>
                <a:rPr lang="en-US" altLang="zh-CN" sz="2400"/>
                <a:t>=22</a:t>
              </a:r>
            </a:p>
          </p:txBody>
        </p:sp>
        <p:sp>
          <p:nvSpPr>
            <p:cNvPr id="107551" name="Text Box 25">
              <a:extLst>
                <a:ext uri="{FF2B5EF4-FFF2-40B4-BE49-F238E27FC236}">
                  <a16:creationId xmlns:a16="http://schemas.microsoft.com/office/drawing/2014/main" id="{7C396FF3-0275-45C7-84D4-EF043D494C6B}"/>
                </a:ext>
              </a:extLst>
            </p:cNvPr>
            <p:cNvSpPr txBox="1">
              <a:spLocks noChangeArrowheads="1"/>
            </p:cNvSpPr>
            <p:nvPr/>
          </p:nvSpPr>
          <p:spPr bwMode="auto">
            <a:xfrm>
              <a:off x="7827962" y="30526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2</a:t>
              </a:r>
              <a:r>
                <a:rPr lang="en-US" altLang="zh-CN" sz="2400"/>
                <a:t>=13</a:t>
              </a:r>
            </a:p>
          </p:txBody>
        </p:sp>
        <p:sp>
          <p:nvSpPr>
            <p:cNvPr id="107552" name="Text Box 26">
              <a:extLst>
                <a:ext uri="{FF2B5EF4-FFF2-40B4-BE49-F238E27FC236}">
                  <a16:creationId xmlns:a16="http://schemas.microsoft.com/office/drawing/2014/main" id="{AA9D6BC3-54DD-43AF-901B-FF354DD41281}"/>
                </a:ext>
              </a:extLst>
            </p:cNvPr>
            <p:cNvSpPr txBox="1">
              <a:spLocks noChangeArrowheads="1"/>
            </p:cNvSpPr>
            <p:nvPr/>
          </p:nvSpPr>
          <p:spPr bwMode="auto">
            <a:xfrm>
              <a:off x="7904162" y="4119484"/>
              <a:ext cx="1066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t>d</a:t>
              </a:r>
              <a:r>
                <a:rPr lang="en-US" altLang="zh-CN" sz="2400" baseline="-25000"/>
                <a:t>3</a:t>
              </a:r>
              <a:r>
                <a:rPr lang="en-US" altLang="zh-CN" sz="2400"/>
                <a:t>=12</a:t>
              </a:r>
            </a:p>
          </p:txBody>
        </p:sp>
        <p:sp>
          <p:nvSpPr>
            <p:cNvPr id="107553" name="Text Box 27">
              <a:extLst>
                <a:ext uri="{FF2B5EF4-FFF2-40B4-BE49-F238E27FC236}">
                  <a16:creationId xmlns:a16="http://schemas.microsoft.com/office/drawing/2014/main" id="{5418898C-4267-4CCB-8573-684BE64AA097}"/>
                </a:ext>
              </a:extLst>
            </p:cNvPr>
            <p:cNvSpPr txBox="1">
              <a:spLocks noChangeArrowheads="1"/>
            </p:cNvSpPr>
            <p:nvPr/>
          </p:nvSpPr>
          <p:spPr bwMode="auto">
            <a:xfrm>
              <a:off x="7904162" y="5262484"/>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FF0000"/>
                  </a:solidFill>
                </a:rPr>
                <a:t>d</a:t>
              </a:r>
              <a:r>
                <a:rPr lang="en-US" altLang="zh-CN" sz="2400" baseline="-25000">
                  <a:solidFill>
                    <a:srgbClr val="FF0000"/>
                  </a:solidFill>
                </a:rPr>
                <a:t>4</a:t>
              </a:r>
              <a:r>
                <a:rPr lang="en-US" altLang="zh-CN" sz="2400">
                  <a:solidFill>
                    <a:srgbClr val="FF0000"/>
                  </a:solidFill>
                </a:rPr>
                <a:t>=23</a:t>
              </a:r>
            </a:p>
          </p:txBody>
        </p:sp>
        <p:grpSp>
          <p:nvGrpSpPr>
            <p:cNvPr id="107554" name="Group 38">
              <a:extLst>
                <a:ext uri="{FF2B5EF4-FFF2-40B4-BE49-F238E27FC236}">
                  <a16:creationId xmlns:a16="http://schemas.microsoft.com/office/drawing/2014/main" id="{5632BF1A-C951-478C-B8E1-0DF86694ECD5}"/>
                </a:ext>
              </a:extLst>
            </p:cNvPr>
            <p:cNvGrpSpPr>
              <a:grpSpLocks/>
            </p:cNvGrpSpPr>
            <p:nvPr/>
          </p:nvGrpSpPr>
          <p:grpSpPr bwMode="auto">
            <a:xfrm>
              <a:off x="7751762" y="1377871"/>
              <a:ext cx="1239838" cy="760413"/>
              <a:chOff x="4224" y="913"/>
              <a:chExt cx="781" cy="479"/>
            </a:xfrm>
          </p:grpSpPr>
          <p:sp>
            <p:nvSpPr>
              <p:cNvPr id="107568" name="Text Box 39">
                <a:extLst>
                  <a:ext uri="{FF2B5EF4-FFF2-40B4-BE49-F238E27FC236}">
                    <a16:creationId xmlns:a16="http://schemas.microsoft.com/office/drawing/2014/main" id="{A45BC022-9873-4B14-9489-F86AA3E718F7}"/>
                  </a:ext>
                </a:extLst>
              </p:cNvPr>
              <p:cNvSpPr txBox="1">
                <a:spLocks noChangeArrowheads="1"/>
              </p:cNvSpPr>
              <p:nvPr/>
            </p:nvSpPr>
            <p:spPr bwMode="auto">
              <a:xfrm>
                <a:off x="4224" y="913"/>
                <a:ext cx="781" cy="2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销量</a:t>
                </a:r>
              </a:p>
            </p:txBody>
          </p:sp>
          <p:cxnSp>
            <p:nvCxnSpPr>
              <p:cNvPr id="107569" name="AutoShape 40">
                <a:extLst>
                  <a:ext uri="{FF2B5EF4-FFF2-40B4-BE49-F238E27FC236}">
                    <a16:creationId xmlns:a16="http://schemas.microsoft.com/office/drawing/2014/main" id="{F6AA6679-037E-4D42-9073-E464D95C0BD6}"/>
                  </a:ext>
                </a:extLst>
              </p:cNvPr>
              <p:cNvCxnSpPr>
                <a:cxnSpLocks noChangeShapeType="1"/>
                <a:stCxn id="107568" idx="1"/>
                <a:endCxn id="107550" idx="3"/>
              </p:cNvCxnSpPr>
              <p:nvPr/>
            </p:nvCxnSpPr>
            <p:spPr bwMode="auto">
              <a:xfrm rot="10800000" flipH="1" flipV="1">
                <a:off x="4224" y="1059"/>
                <a:ext cx="672" cy="333"/>
              </a:xfrm>
              <a:prstGeom prst="bentConnector5">
                <a:avLst>
                  <a:gd name="adj1" fmla="val -21431"/>
                  <a:gd name="adj2" fmla="val 50227"/>
                  <a:gd name="adj3" fmla="val 121431"/>
                </a:avLst>
              </a:prstGeom>
              <a:noFill/>
              <a:ln w="9525">
                <a:solidFill>
                  <a:schemeClr val="bg1"/>
                </a:solidFill>
                <a:miter lim="800000"/>
                <a:headEnd/>
                <a:tailEnd type="triangle" w="med" len="med"/>
              </a:ln>
              <a:extLst>
                <a:ext uri="{909E8E84-426E-40DD-AFC4-6F175D3DCCD1}">
                  <a14:hiddenFill xmlns:a14="http://schemas.microsoft.com/office/drawing/2010/main">
                    <a:noFill/>
                  </a14:hiddenFill>
                </a:ext>
              </a:extLst>
            </p:spPr>
          </p:cxnSp>
        </p:grpSp>
        <p:sp>
          <p:nvSpPr>
            <p:cNvPr id="107555" name="Line 14">
              <a:extLst>
                <a:ext uri="{FF2B5EF4-FFF2-40B4-BE49-F238E27FC236}">
                  <a16:creationId xmlns:a16="http://schemas.microsoft.com/office/drawing/2014/main" id="{11321307-AB81-413D-BCF9-B27D1E0E792E}"/>
                </a:ext>
              </a:extLst>
            </p:cNvPr>
            <p:cNvSpPr>
              <a:spLocks noChangeShapeType="1"/>
            </p:cNvSpPr>
            <p:nvPr/>
          </p:nvSpPr>
          <p:spPr bwMode="auto">
            <a:xfrm flipV="1">
              <a:off x="5571083" y="2214481"/>
              <a:ext cx="1723477" cy="13271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56" name="Line 10">
              <a:extLst>
                <a:ext uri="{FF2B5EF4-FFF2-40B4-BE49-F238E27FC236}">
                  <a16:creationId xmlns:a16="http://schemas.microsoft.com/office/drawing/2014/main" id="{0FA7C71B-A536-4C24-8D32-A43A783345D7}"/>
                </a:ext>
              </a:extLst>
            </p:cNvPr>
            <p:cNvSpPr>
              <a:spLocks noChangeShapeType="1"/>
            </p:cNvSpPr>
            <p:nvPr/>
          </p:nvSpPr>
          <p:spPr bwMode="auto">
            <a:xfrm flipV="1">
              <a:off x="5659437" y="2116058"/>
              <a:ext cx="1655762" cy="3270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57" name="Line 11">
              <a:extLst>
                <a:ext uri="{FF2B5EF4-FFF2-40B4-BE49-F238E27FC236}">
                  <a16:creationId xmlns:a16="http://schemas.microsoft.com/office/drawing/2014/main" id="{126978D2-51E1-461E-A2FB-4A278C53FE67}"/>
                </a:ext>
              </a:extLst>
            </p:cNvPr>
            <p:cNvSpPr>
              <a:spLocks noChangeShapeType="1"/>
            </p:cNvSpPr>
            <p:nvPr/>
          </p:nvSpPr>
          <p:spPr bwMode="auto">
            <a:xfrm>
              <a:off x="5711822" y="2557383"/>
              <a:ext cx="1603376" cy="6254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58" name="Line 12">
              <a:extLst>
                <a:ext uri="{FF2B5EF4-FFF2-40B4-BE49-F238E27FC236}">
                  <a16:creationId xmlns:a16="http://schemas.microsoft.com/office/drawing/2014/main" id="{9FE2027E-9646-4FCC-BB02-340C759EBE5F}"/>
                </a:ext>
              </a:extLst>
            </p:cNvPr>
            <p:cNvSpPr>
              <a:spLocks noChangeShapeType="1"/>
            </p:cNvSpPr>
            <p:nvPr/>
          </p:nvSpPr>
          <p:spPr bwMode="auto">
            <a:xfrm>
              <a:off x="5711823" y="2693908"/>
              <a:ext cx="1603375" cy="155574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59" name="Line 13">
              <a:extLst>
                <a:ext uri="{FF2B5EF4-FFF2-40B4-BE49-F238E27FC236}">
                  <a16:creationId xmlns:a16="http://schemas.microsoft.com/office/drawing/2014/main" id="{7DE2A8D6-0293-4F81-A201-1C4BFA37D2C7}"/>
                </a:ext>
              </a:extLst>
            </p:cNvPr>
            <p:cNvSpPr>
              <a:spLocks noChangeShapeType="1"/>
            </p:cNvSpPr>
            <p:nvPr/>
          </p:nvSpPr>
          <p:spPr bwMode="auto">
            <a:xfrm>
              <a:off x="5597523" y="2824084"/>
              <a:ext cx="1793876" cy="24923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0" name="Line 15">
              <a:extLst>
                <a:ext uri="{FF2B5EF4-FFF2-40B4-BE49-F238E27FC236}">
                  <a16:creationId xmlns:a16="http://schemas.microsoft.com/office/drawing/2014/main" id="{BC0723E9-08A7-4D4E-9C9C-CFB81E8F468C}"/>
                </a:ext>
              </a:extLst>
            </p:cNvPr>
            <p:cNvSpPr>
              <a:spLocks noChangeShapeType="1"/>
            </p:cNvSpPr>
            <p:nvPr/>
          </p:nvSpPr>
          <p:spPr bwMode="auto">
            <a:xfrm flipV="1">
              <a:off x="5659437" y="3335258"/>
              <a:ext cx="1655762"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1" name="Line 16">
              <a:extLst>
                <a:ext uri="{FF2B5EF4-FFF2-40B4-BE49-F238E27FC236}">
                  <a16:creationId xmlns:a16="http://schemas.microsoft.com/office/drawing/2014/main" id="{FA225520-95DD-40A7-B060-B1FD6918D07A}"/>
                </a:ext>
              </a:extLst>
            </p:cNvPr>
            <p:cNvSpPr>
              <a:spLocks noChangeShapeType="1"/>
            </p:cNvSpPr>
            <p:nvPr/>
          </p:nvSpPr>
          <p:spPr bwMode="auto">
            <a:xfrm>
              <a:off x="5711819" y="3755944"/>
              <a:ext cx="1603379" cy="5699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2" name="Line 17">
              <a:extLst>
                <a:ext uri="{FF2B5EF4-FFF2-40B4-BE49-F238E27FC236}">
                  <a16:creationId xmlns:a16="http://schemas.microsoft.com/office/drawing/2014/main" id="{C3AD72D0-77D4-4438-9DC6-EC8ED5682B3C}"/>
                </a:ext>
              </a:extLst>
            </p:cNvPr>
            <p:cNvSpPr>
              <a:spLocks noChangeShapeType="1"/>
            </p:cNvSpPr>
            <p:nvPr/>
          </p:nvSpPr>
          <p:spPr bwMode="auto">
            <a:xfrm>
              <a:off x="5659437" y="3868658"/>
              <a:ext cx="1655762" cy="152399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3" name="Line 18">
              <a:extLst>
                <a:ext uri="{FF2B5EF4-FFF2-40B4-BE49-F238E27FC236}">
                  <a16:creationId xmlns:a16="http://schemas.microsoft.com/office/drawing/2014/main" id="{EB17DAB6-5957-49FC-B7DF-C6FF76C3A72F}"/>
                </a:ext>
              </a:extLst>
            </p:cNvPr>
            <p:cNvSpPr>
              <a:spLocks noChangeShapeType="1"/>
            </p:cNvSpPr>
            <p:nvPr/>
          </p:nvSpPr>
          <p:spPr bwMode="auto">
            <a:xfrm flipV="1">
              <a:off x="5647283" y="2292271"/>
              <a:ext cx="1723477" cy="232552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4" name="Line 19">
              <a:extLst>
                <a:ext uri="{FF2B5EF4-FFF2-40B4-BE49-F238E27FC236}">
                  <a16:creationId xmlns:a16="http://schemas.microsoft.com/office/drawing/2014/main" id="{E174AB99-A913-49C0-838C-6315E4D7CEEC}"/>
                </a:ext>
              </a:extLst>
            </p:cNvPr>
            <p:cNvSpPr>
              <a:spLocks noChangeShapeType="1"/>
            </p:cNvSpPr>
            <p:nvPr/>
          </p:nvSpPr>
          <p:spPr bwMode="auto">
            <a:xfrm flipV="1">
              <a:off x="5715000" y="3449557"/>
              <a:ext cx="1649408" cy="12397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5" name="Line 20">
              <a:extLst>
                <a:ext uri="{FF2B5EF4-FFF2-40B4-BE49-F238E27FC236}">
                  <a16:creationId xmlns:a16="http://schemas.microsoft.com/office/drawing/2014/main" id="{83C74C23-2CD1-4FB4-88D7-E3E756482221}"/>
                </a:ext>
              </a:extLst>
            </p:cNvPr>
            <p:cNvSpPr>
              <a:spLocks noChangeShapeType="1"/>
            </p:cNvSpPr>
            <p:nvPr/>
          </p:nvSpPr>
          <p:spPr bwMode="auto">
            <a:xfrm flipV="1">
              <a:off x="5727155" y="4402058"/>
              <a:ext cx="1588044" cy="3413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6" name="Line 21">
              <a:extLst>
                <a:ext uri="{FF2B5EF4-FFF2-40B4-BE49-F238E27FC236}">
                  <a16:creationId xmlns:a16="http://schemas.microsoft.com/office/drawing/2014/main" id="{CCCC5605-2E3C-482B-9676-038F2C9ED5B6}"/>
                </a:ext>
              </a:extLst>
            </p:cNvPr>
            <p:cNvSpPr>
              <a:spLocks noChangeShapeType="1"/>
            </p:cNvSpPr>
            <p:nvPr/>
          </p:nvSpPr>
          <p:spPr bwMode="auto">
            <a:xfrm>
              <a:off x="5741439" y="4868623"/>
              <a:ext cx="1553121" cy="6367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67" name="Text Box 39">
              <a:extLst>
                <a:ext uri="{FF2B5EF4-FFF2-40B4-BE49-F238E27FC236}">
                  <a16:creationId xmlns:a16="http://schemas.microsoft.com/office/drawing/2014/main" id="{D3CBB568-3172-49D1-871C-EE1C5DBE1F5E}"/>
                </a:ext>
              </a:extLst>
            </p:cNvPr>
            <p:cNvSpPr txBox="1">
              <a:spLocks noChangeArrowheads="1"/>
            </p:cNvSpPr>
            <p:nvPr/>
          </p:nvSpPr>
          <p:spPr bwMode="auto">
            <a:xfrm>
              <a:off x="4216399" y="1527509"/>
              <a:ext cx="1239838" cy="46166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t>产量</a:t>
              </a:r>
            </a:p>
          </p:txBody>
        </p:sp>
      </p:grpSp>
      <p:grpSp>
        <p:nvGrpSpPr>
          <p:cNvPr id="2" name="组合 1">
            <a:extLst>
              <a:ext uri="{FF2B5EF4-FFF2-40B4-BE49-F238E27FC236}">
                <a16:creationId xmlns:a16="http://schemas.microsoft.com/office/drawing/2014/main" id="{7F51C0F4-4E11-4B61-ADF3-C03E2C3812B1}"/>
              </a:ext>
            </a:extLst>
          </p:cNvPr>
          <p:cNvGrpSpPr>
            <a:grpSpLocks/>
          </p:cNvGrpSpPr>
          <p:nvPr/>
        </p:nvGrpSpPr>
        <p:grpSpPr bwMode="auto">
          <a:xfrm>
            <a:off x="4433888" y="1992313"/>
            <a:ext cx="3273425" cy="3671887"/>
            <a:chOff x="4434328" y="1991723"/>
            <a:chExt cx="3273678" cy="3671819"/>
          </a:xfrm>
        </p:grpSpPr>
        <p:sp>
          <p:nvSpPr>
            <p:cNvPr id="107529" name="Oval 7">
              <a:extLst>
                <a:ext uri="{FF2B5EF4-FFF2-40B4-BE49-F238E27FC236}">
                  <a16:creationId xmlns:a16="http://schemas.microsoft.com/office/drawing/2014/main" id="{1276B838-0B93-441B-A42F-FBCD771AB7D6}"/>
                </a:ext>
              </a:extLst>
            </p:cNvPr>
            <p:cNvSpPr>
              <a:spLocks noChangeArrowheads="1"/>
            </p:cNvSpPr>
            <p:nvPr/>
          </p:nvSpPr>
          <p:spPr bwMode="auto">
            <a:xfrm>
              <a:off x="5486400" y="5194300"/>
              <a:ext cx="457200" cy="457200"/>
            </a:xfrm>
            <a:prstGeom prst="ellipse">
              <a:avLst/>
            </a:prstGeom>
            <a:solidFill>
              <a:srgbClr val="FF0000"/>
            </a:solidFill>
            <a:ln w="28575">
              <a:solidFill>
                <a:srgbClr val="FF0000"/>
              </a:solidFill>
              <a:round/>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a:solidFill>
                    <a:schemeClr val="bg1"/>
                  </a:solidFill>
                </a:rPr>
                <a:t>A</a:t>
              </a:r>
              <a:r>
                <a:rPr lang="en-US" altLang="zh-CN" sz="2400" baseline="-25000">
                  <a:solidFill>
                    <a:schemeClr val="bg1"/>
                  </a:solidFill>
                </a:rPr>
                <a:t>4</a:t>
              </a:r>
            </a:p>
          </p:txBody>
        </p:sp>
        <p:sp>
          <p:nvSpPr>
            <p:cNvPr id="107530" name="Text Box 27">
              <a:extLst>
                <a:ext uri="{FF2B5EF4-FFF2-40B4-BE49-F238E27FC236}">
                  <a16:creationId xmlns:a16="http://schemas.microsoft.com/office/drawing/2014/main" id="{A4ED4522-303F-40F6-8DFE-22CCB0F490CA}"/>
                </a:ext>
              </a:extLst>
            </p:cNvPr>
            <p:cNvSpPr txBox="1">
              <a:spLocks noChangeArrowheads="1"/>
            </p:cNvSpPr>
            <p:nvPr/>
          </p:nvSpPr>
          <p:spPr bwMode="auto">
            <a:xfrm>
              <a:off x="4434328" y="5201877"/>
              <a:ext cx="990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FF0000"/>
                  </a:solidFill>
                </a:rPr>
                <a:t>s</a:t>
              </a:r>
              <a:r>
                <a:rPr lang="en-US" altLang="zh-CN" sz="2400" baseline="-25000">
                  <a:solidFill>
                    <a:srgbClr val="FF0000"/>
                  </a:solidFill>
                </a:rPr>
                <a:t>4</a:t>
              </a:r>
              <a:r>
                <a:rPr lang="en-US" altLang="zh-CN" sz="2400">
                  <a:solidFill>
                    <a:srgbClr val="FF0000"/>
                  </a:solidFill>
                </a:rPr>
                <a:t>=10</a:t>
              </a:r>
            </a:p>
          </p:txBody>
        </p:sp>
        <p:sp>
          <p:nvSpPr>
            <p:cNvPr id="107531" name="Line 18">
              <a:extLst>
                <a:ext uri="{FF2B5EF4-FFF2-40B4-BE49-F238E27FC236}">
                  <a16:creationId xmlns:a16="http://schemas.microsoft.com/office/drawing/2014/main" id="{D7CB71CF-1FF0-4ED3-9DB5-C5D5ACAE1B93}"/>
                </a:ext>
              </a:extLst>
            </p:cNvPr>
            <p:cNvSpPr>
              <a:spLocks noChangeShapeType="1"/>
            </p:cNvSpPr>
            <p:nvPr/>
          </p:nvSpPr>
          <p:spPr bwMode="auto">
            <a:xfrm flipV="1">
              <a:off x="5807078" y="1991723"/>
              <a:ext cx="1900928" cy="322003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32" name="Line 18">
              <a:extLst>
                <a:ext uri="{FF2B5EF4-FFF2-40B4-BE49-F238E27FC236}">
                  <a16:creationId xmlns:a16="http://schemas.microsoft.com/office/drawing/2014/main" id="{7F9A3CAA-0C4C-4A34-98AB-3CD001647AAB}"/>
                </a:ext>
              </a:extLst>
            </p:cNvPr>
            <p:cNvSpPr>
              <a:spLocks noChangeShapeType="1"/>
            </p:cNvSpPr>
            <p:nvPr/>
          </p:nvSpPr>
          <p:spPr bwMode="auto">
            <a:xfrm flipV="1">
              <a:off x="5913833" y="3127185"/>
              <a:ext cx="1723477" cy="215383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33" name="Line 18">
              <a:extLst>
                <a:ext uri="{FF2B5EF4-FFF2-40B4-BE49-F238E27FC236}">
                  <a16:creationId xmlns:a16="http://schemas.microsoft.com/office/drawing/2014/main" id="{5E4A9A84-5C7B-4805-91FB-148C6629EDC7}"/>
                </a:ext>
              </a:extLst>
            </p:cNvPr>
            <p:cNvSpPr>
              <a:spLocks noChangeShapeType="1"/>
            </p:cNvSpPr>
            <p:nvPr/>
          </p:nvSpPr>
          <p:spPr bwMode="auto">
            <a:xfrm flipV="1">
              <a:off x="5969396" y="4090981"/>
              <a:ext cx="1560011" cy="127317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34" name="Line 18">
              <a:extLst>
                <a:ext uri="{FF2B5EF4-FFF2-40B4-BE49-F238E27FC236}">
                  <a16:creationId xmlns:a16="http://schemas.microsoft.com/office/drawing/2014/main" id="{E23243F6-41AC-4DDE-9BB5-E0173E9D13D8}"/>
                </a:ext>
              </a:extLst>
            </p:cNvPr>
            <p:cNvSpPr>
              <a:spLocks noChangeShapeType="1"/>
            </p:cNvSpPr>
            <p:nvPr/>
          </p:nvSpPr>
          <p:spPr bwMode="auto">
            <a:xfrm flipV="1">
              <a:off x="5943600" y="5211762"/>
              <a:ext cx="1552613" cy="28257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7535" name="Text Box 24">
              <a:extLst>
                <a:ext uri="{FF2B5EF4-FFF2-40B4-BE49-F238E27FC236}">
                  <a16:creationId xmlns:a16="http://schemas.microsoft.com/office/drawing/2014/main" id="{892413FE-4E5E-485A-AC1C-FECC7BFD137E}"/>
                </a:ext>
              </a:extLst>
            </p:cNvPr>
            <p:cNvSpPr txBox="1">
              <a:spLocks noChangeArrowheads="1"/>
            </p:cNvSpPr>
            <p:nvPr/>
          </p:nvSpPr>
          <p:spPr bwMode="auto">
            <a:xfrm>
              <a:off x="5746663" y="4703173"/>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sp>
          <p:nvSpPr>
            <p:cNvPr id="107536" name="Text Box 24">
              <a:extLst>
                <a:ext uri="{FF2B5EF4-FFF2-40B4-BE49-F238E27FC236}">
                  <a16:creationId xmlns:a16="http://schemas.microsoft.com/office/drawing/2014/main" id="{2DEB2614-0E2A-40DD-AD8B-F28C107F7D42}"/>
                </a:ext>
              </a:extLst>
            </p:cNvPr>
            <p:cNvSpPr txBox="1">
              <a:spLocks noChangeArrowheads="1"/>
            </p:cNvSpPr>
            <p:nvPr/>
          </p:nvSpPr>
          <p:spPr bwMode="auto">
            <a:xfrm>
              <a:off x="5979230" y="4720401"/>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sp>
          <p:nvSpPr>
            <p:cNvPr id="107537" name="Text Box 24">
              <a:extLst>
                <a:ext uri="{FF2B5EF4-FFF2-40B4-BE49-F238E27FC236}">
                  <a16:creationId xmlns:a16="http://schemas.microsoft.com/office/drawing/2014/main" id="{477D7EC6-F885-43CB-9E23-761DCAE70CE0}"/>
                </a:ext>
              </a:extLst>
            </p:cNvPr>
            <p:cNvSpPr txBox="1">
              <a:spLocks noChangeArrowheads="1"/>
            </p:cNvSpPr>
            <p:nvPr/>
          </p:nvSpPr>
          <p:spPr bwMode="auto">
            <a:xfrm>
              <a:off x="6029323" y="4933760"/>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sp>
          <p:nvSpPr>
            <p:cNvPr id="107538" name="Text Box 24">
              <a:extLst>
                <a:ext uri="{FF2B5EF4-FFF2-40B4-BE49-F238E27FC236}">
                  <a16:creationId xmlns:a16="http://schemas.microsoft.com/office/drawing/2014/main" id="{D0AE482F-19BD-4DB8-8AB2-9325E5084C4A}"/>
                </a:ext>
              </a:extLst>
            </p:cNvPr>
            <p:cNvSpPr txBox="1">
              <a:spLocks noChangeArrowheads="1"/>
            </p:cNvSpPr>
            <p:nvPr/>
          </p:nvSpPr>
          <p:spPr bwMode="auto">
            <a:xfrm>
              <a:off x="6083275" y="5164102"/>
              <a:ext cx="3254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a:solidFill>
                    <a:srgbClr val="FF0000"/>
                  </a:solidFill>
                </a:rPr>
                <a:t>0</a:t>
              </a:r>
            </a:p>
          </p:txBody>
        </p:sp>
      </p:grpSp>
      <p:pic>
        <p:nvPicPr>
          <p:cNvPr id="51" name="图片 50">
            <a:extLst>
              <a:ext uri="{FF2B5EF4-FFF2-40B4-BE49-F238E27FC236}">
                <a16:creationId xmlns:a16="http://schemas.microsoft.com/office/drawing/2014/main" id="{62DD91A9-88C3-40B4-9F4A-8AAF8146FC19}"/>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430713" y="42863"/>
            <a:ext cx="4665662" cy="228441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7203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4" presetClass="entr" presetSubtype="10" fill="hold" nodeType="click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randombar(horizontal)">
                                      <p:cBhvr>
                                        <p:cTn id="11" dur="500"/>
                                        <p:tgtEl>
                                          <p:spTgt spid="51"/>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xit" presetSubtype="0" fill="hold" nodeType="clickEffect">
                                  <p:stCondLst>
                                    <p:cond delay="0"/>
                                  </p:stCondLst>
                                  <p:childTnLst>
                                    <p:set>
                                      <p:cBhvr>
                                        <p:cTn id="15" dur="1" fill="hold">
                                          <p:stCondLst>
                                            <p:cond delay="0"/>
                                          </p:stCondLst>
                                        </p:cTn>
                                        <p:tgtEl>
                                          <p:spTgt spid="51"/>
                                        </p:tgtEl>
                                        <p:attrNameLst>
                                          <p:attrName>style.visibility</p:attrName>
                                        </p:attrNameLst>
                                      </p:cBhvr>
                                      <p:to>
                                        <p:strVal val="hidden"/>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72035">
                                            <p:txEl>
                                              <p:pRg st="9" end="9"/>
                                            </p:txEl>
                                          </p:spTgt>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4" presetClass="entr" presetSubtype="10"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randombar(horizontal)">
                                      <p:cBhvr>
                                        <p:cTn id="24" dur="500"/>
                                        <p:tgtEl>
                                          <p:spTgt spid="6"/>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4" presetClass="entr" presetSubtype="1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randombar(horizontal)">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035" grpId="0"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2">
            <a:extLst>
              <a:ext uri="{FF2B5EF4-FFF2-40B4-BE49-F238E27FC236}">
                <a16:creationId xmlns:a16="http://schemas.microsoft.com/office/drawing/2014/main" id="{60C6CDC8-1635-4AC8-9D9A-70FFBF088C63}"/>
              </a:ext>
            </a:extLst>
          </p:cNvPr>
          <p:cNvSpPr>
            <a:spLocks noGrp="1" noChangeArrowheads="1"/>
          </p:cNvSpPr>
          <p:nvPr>
            <p:ph type="title"/>
          </p:nvPr>
        </p:nvSpPr>
        <p:spPr/>
        <p:txBody>
          <a:bodyPr/>
          <a:lstStyle/>
          <a:p>
            <a:pPr eaLnBrk="1" hangingPunct="1"/>
            <a:r>
              <a:rPr lang="zh-CN" altLang="en-US"/>
              <a:t>销大于产</a:t>
            </a:r>
          </a:p>
        </p:txBody>
      </p:sp>
      <p:sp>
        <p:nvSpPr>
          <p:cNvPr id="184326" name="Text Box 6">
            <a:extLst>
              <a:ext uri="{FF2B5EF4-FFF2-40B4-BE49-F238E27FC236}">
                <a16:creationId xmlns:a16="http://schemas.microsoft.com/office/drawing/2014/main" id="{6EA5A6A0-B0D1-4D41-A9E9-AFCBE6574175}"/>
              </a:ext>
            </a:extLst>
          </p:cNvPr>
          <p:cNvSpPr txBox="1">
            <a:spLocks noChangeArrowheads="1"/>
          </p:cNvSpPr>
          <p:nvPr/>
        </p:nvSpPr>
        <p:spPr bwMode="auto">
          <a:xfrm>
            <a:off x="228600" y="1066800"/>
            <a:ext cx="8915400" cy="181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en-US" altLang="zh-CN" sz="3200" b="1" i="1">
                <a:latin typeface="Times New Roman" panose="02020603050405020304" pitchFamily="18" charset="0"/>
              </a:rPr>
              <a:t>x</a:t>
            </a:r>
            <a:r>
              <a:rPr kumimoji="1" lang="en-US" altLang="zh-CN" sz="3200" b="1" i="1" baseline="-25000">
                <a:latin typeface="Times New Roman" panose="02020603050405020304" pitchFamily="18" charset="0"/>
              </a:rPr>
              <a:t>m+</a:t>
            </a:r>
            <a:r>
              <a:rPr kumimoji="1" lang="en-US" altLang="zh-CN" sz="3200" b="1" baseline="-25000">
                <a:latin typeface="Times New Roman" panose="02020603050405020304" pitchFamily="18" charset="0"/>
              </a:rPr>
              <a:t>1</a:t>
            </a:r>
            <a:r>
              <a:rPr kumimoji="1" lang="en-US" altLang="zh-CN" sz="3200" b="1" i="1" baseline="-25000">
                <a:latin typeface="Times New Roman" panose="02020603050405020304" pitchFamily="18" charset="0"/>
              </a:rPr>
              <a:t>,j</a:t>
            </a:r>
            <a:r>
              <a:rPr kumimoji="1" lang="zh-CN" altLang="en-US" sz="3200" b="1">
                <a:latin typeface="Times New Roman" panose="02020603050405020304" pitchFamily="18" charset="0"/>
              </a:rPr>
              <a:t>为</a:t>
            </a:r>
            <a:r>
              <a:rPr kumimoji="1" lang="en-US" altLang="zh-CN" sz="3200" b="1">
                <a:latin typeface="Times New Roman" panose="02020603050405020304" pitchFamily="18" charset="0"/>
              </a:rPr>
              <a:t>A</a:t>
            </a:r>
            <a:r>
              <a:rPr kumimoji="1" lang="en-US" altLang="zh-CN" sz="3200" b="1" i="1" baseline="-25000">
                <a:latin typeface="Times New Roman" panose="02020603050405020304" pitchFamily="18" charset="0"/>
              </a:rPr>
              <a:t>m+</a:t>
            </a:r>
            <a:r>
              <a:rPr kumimoji="1" lang="en-US" altLang="zh-CN" sz="3200" b="1" baseline="-25000">
                <a:latin typeface="Times New Roman" panose="02020603050405020304" pitchFamily="18" charset="0"/>
              </a:rPr>
              <a:t>1</a:t>
            </a:r>
            <a:r>
              <a:rPr kumimoji="1" lang="en-US" altLang="zh-CN" sz="3200" b="1" i="1" baseline="-25000">
                <a:latin typeface="Times New Roman" panose="02020603050405020304" pitchFamily="18" charset="0"/>
              </a:rPr>
              <a:t> </a:t>
            </a:r>
            <a:r>
              <a:rPr kumimoji="1" lang="zh-CN" altLang="en-US" sz="3200" b="1">
                <a:latin typeface="Times New Roman" panose="02020603050405020304" pitchFamily="18" charset="0"/>
              </a:rPr>
              <a:t>调运到销地</a:t>
            </a:r>
            <a:r>
              <a:rPr kumimoji="1" lang="en-US" altLang="zh-CN" sz="3200" b="1">
                <a:latin typeface="Times New Roman" panose="02020603050405020304" pitchFamily="18" charset="0"/>
              </a:rPr>
              <a:t>B</a:t>
            </a:r>
            <a:r>
              <a:rPr kumimoji="1" lang="en-US" altLang="zh-CN" sz="3200" b="1" i="1" baseline="-25000">
                <a:latin typeface="Times New Roman" panose="02020603050405020304" pitchFamily="18" charset="0"/>
              </a:rPr>
              <a:t>j</a:t>
            </a:r>
            <a:r>
              <a:rPr kumimoji="1" lang="zh-CN" altLang="en-US" sz="3200" b="1">
                <a:latin typeface="Times New Roman" panose="02020603050405020304" pitchFamily="18" charset="0"/>
              </a:rPr>
              <a:t>的物品数量，</a:t>
            </a:r>
            <a:r>
              <a:rPr kumimoji="1" lang="en-US" altLang="zh-CN" sz="3200" b="1" i="1">
                <a:latin typeface="Times New Roman" panose="02020603050405020304" pitchFamily="18" charset="0"/>
              </a:rPr>
              <a:t>c</a:t>
            </a:r>
            <a:r>
              <a:rPr kumimoji="1" lang="en-US" altLang="zh-CN" sz="3200" b="1" i="1" baseline="-25000">
                <a:latin typeface="Times New Roman" panose="02020603050405020304" pitchFamily="18" charset="0"/>
              </a:rPr>
              <a:t>m+</a:t>
            </a:r>
            <a:r>
              <a:rPr kumimoji="1" lang="en-US" altLang="zh-CN" sz="3200" b="1" baseline="-25000">
                <a:latin typeface="Times New Roman" panose="02020603050405020304" pitchFamily="18" charset="0"/>
              </a:rPr>
              <a:t>1</a:t>
            </a:r>
            <a:r>
              <a:rPr kumimoji="1" lang="en-US" altLang="zh-CN" sz="3200" b="1" i="1" baseline="-25000">
                <a:latin typeface="Times New Roman" panose="02020603050405020304" pitchFamily="18" charset="0"/>
              </a:rPr>
              <a:t>,j</a:t>
            </a:r>
            <a:r>
              <a:rPr kumimoji="1" lang="en-US" altLang="zh-CN" sz="3200" b="1">
                <a:latin typeface="Times New Roman" panose="02020603050405020304" pitchFamily="18" charset="0"/>
              </a:rPr>
              <a:t>=0 </a:t>
            </a:r>
            <a:r>
              <a:rPr kumimoji="1" lang="zh-CN" altLang="en-US" sz="3200" b="1">
                <a:latin typeface="Times New Roman" panose="02020603050405020304" pitchFamily="18" charset="0"/>
              </a:rPr>
              <a:t>，</a:t>
            </a:r>
            <a:r>
              <a:rPr kumimoji="1" lang="en-US" altLang="zh-CN" sz="3200" b="1" i="1">
                <a:latin typeface="Times New Roman" panose="02020603050405020304" pitchFamily="18" charset="0"/>
              </a:rPr>
              <a:t>a</a:t>
            </a:r>
            <a:r>
              <a:rPr kumimoji="1" lang="en-US" altLang="zh-CN" sz="3200" b="1" i="1" baseline="-25000">
                <a:latin typeface="Times New Roman" panose="02020603050405020304" pitchFamily="18" charset="0"/>
              </a:rPr>
              <a:t>m+</a:t>
            </a:r>
            <a:r>
              <a:rPr kumimoji="1" lang="en-US" altLang="zh-CN" sz="3200" b="1" baseline="-25000">
                <a:latin typeface="Times New Roman" panose="02020603050405020304" pitchFamily="18" charset="0"/>
              </a:rPr>
              <a:t>1</a:t>
            </a:r>
            <a:r>
              <a:rPr kumimoji="1" lang="zh-CN" altLang="en-US" sz="3200" b="1">
                <a:latin typeface="Times New Roman" panose="02020603050405020304" pitchFamily="18" charset="0"/>
              </a:rPr>
              <a:t>为产量 ，</a:t>
            </a:r>
            <a:r>
              <a:rPr kumimoji="1" lang="en-US" altLang="zh-CN" sz="3200" b="1" i="1">
                <a:latin typeface="Times New Roman" panose="02020603050405020304" pitchFamily="18" charset="0"/>
              </a:rPr>
              <a:t>a</a:t>
            </a:r>
            <a:r>
              <a:rPr kumimoji="1" lang="en-US" altLang="zh-CN" sz="3200" b="1" i="1" baseline="-25000">
                <a:latin typeface="Times New Roman" panose="02020603050405020304" pitchFamily="18" charset="0"/>
              </a:rPr>
              <a:t>m+</a:t>
            </a:r>
            <a:r>
              <a:rPr kumimoji="1" lang="en-US" altLang="zh-CN" sz="3200" b="1" baseline="-25000">
                <a:latin typeface="Times New Roman" panose="02020603050405020304" pitchFamily="18" charset="0"/>
              </a:rPr>
              <a:t>1</a:t>
            </a:r>
            <a:r>
              <a:rPr kumimoji="1" lang="en-US" altLang="zh-CN" sz="3200" b="1">
                <a:latin typeface="Times New Roman" panose="02020603050405020304" pitchFamily="18" charset="0"/>
              </a:rPr>
              <a:t>=</a:t>
            </a:r>
            <a:r>
              <a:rPr kumimoji="1" lang="en-US" altLang="zh-CN" sz="3200" b="1">
                <a:latin typeface="Times New Roman" panose="02020603050405020304" pitchFamily="18" charset="0"/>
                <a:sym typeface="Symbol" panose="05050102010706020507" pitchFamily="18" charset="2"/>
              </a:rPr>
              <a:t></a:t>
            </a:r>
            <a:r>
              <a:rPr kumimoji="1" lang="en-US" altLang="zh-CN" sz="3200" b="1" i="1">
                <a:latin typeface="Times New Roman" panose="02020603050405020304" pitchFamily="18" charset="0"/>
                <a:sym typeface="Symbol" panose="05050102010706020507" pitchFamily="18" charset="2"/>
              </a:rPr>
              <a:t>b</a:t>
            </a:r>
            <a:r>
              <a:rPr kumimoji="1" lang="en-US" altLang="zh-CN" sz="3200" b="1" i="1" baseline="-25000">
                <a:latin typeface="Times New Roman" panose="02020603050405020304" pitchFamily="18" charset="0"/>
                <a:sym typeface="Symbol" panose="05050102010706020507" pitchFamily="18" charset="2"/>
              </a:rPr>
              <a:t>j</a:t>
            </a:r>
            <a:r>
              <a:rPr kumimoji="1" lang="en-US" altLang="zh-CN" sz="3200" b="1">
                <a:latin typeface="Times New Roman" panose="02020603050405020304" pitchFamily="18" charset="0"/>
              </a:rPr>
              <a:t> </a:t>
            </a:r>
            <a:r>
              <a:rPr kumimoji="1" lang="en-US" altLang="zh-CN" sz="3200" b="1">
                <a:latin typeface="Times New Roman" panose="02020603050405020304" pitchFamily="18" charset="0"/>
                <a:sym typeface="Symbol" panose="05050102010706020507" pitchFamily="18" charset="2"/>
              </a:rPr>
              <a:t>-</a:t>
            </a:r>
            <a:r>
              <a:rPr kumimoji="1" lang="en-US" altLang="zh-CN" sz="3200" b="1" i="1">
                <a:latin typeface="Times New Roman" panose="02020603050405020304" pitchFamily="18" charset="0"/>
                <a:sym typeface="Symbol" panose="05050102010706020507" pitchFamily="18" charset="2"/>
              </a:rPr>
              <a:t>a</a:t>
            </a:r>
            <a:r>
              <a:rPr kumimoji="1" lang="en-US" altLang="zh-CN" sz="3200" b="1" i="1" baseline="-25000">
                <a:latin typeface="Times New Roman" panose="02020603050405020304" pitchFamily="18" charset="0"/>
                <a:sym typeface="Symbol" panose="05050102010706020507" pitchFamily="18" charset="2"/>
              </a:rPr>
              <a:t>i</a:t>
            </a:r>
            <a:endParaRPr kumimoji="1" lang="en-US" altLang="zh-CN" sz="3200" b="1">
              <a:latin typeface="Times New Roman" panose="02020603050405020304" pitchFamily="18" charset="0"/>
            </a:endParaRPr>
          </a:p>
          <a:p>
            <a:pPr eaLnBrk="1" hangingPunct="1">
              <a:spcBef>
                <a:spcPct val="50000"/>
              </a:spcBef>
            </a:pPr>
            <a:r>
              <a:rPr kumimoji="1" lang="zh-CN" altLang="en-US" sz="3200" b="1">
                <a:latin typeface="Times New Roman" panose="02020603050405020304" pitchFamily="18" charset="0"/>
              </a:rPr>
              <a:t>模型就变为产销平衡的问题：</a:t>
            </a:r>
          </a:p>
        </p:txBody>
      </p:sp>
      <p:graphicFrame>
        <p:nvGraphicFramePr>
          <p:cNvPr id="5" name="对象 10">
            <a:extLst>
              <a:ext uri="{FF2B5EF4-FFF2-40B4-BE49-F238E27FC236}">
                <a16:creationId xmlns:a16="http://schemas.microsoft.com/office/drawing/2014/main" id="{57AB3252-70E2-45CD-A7D1-BF16FAF2ED64}"/>
              </a:ext>
            </a:extLst>
          </p:cNvPr>
          <p:cNvGraphicFramePr>
            <a:graphicFrameLocks noChangeAspect="1"/>
          </p:cNvGraphicFramePr>
          <p:nvPr/>
        </p:nvGraphicFramePr>
        <p:xfrm>
          <a:off x="6103938" y="0"/>
          <a:ext cx="2981325" cy="2514600"/>
        </p:xfrm>
        <a:graphic>
          <a:graphicData uri="http://schemas.openxmlformats.org/presentationml/2006/ole">
            <mc:AlternateContent xmlns:mc="http://schemas.openxmlformats.org/markup-compatibility/2006">
              <mc:Choice xmlns:v="urn:schemas-microsoft-com:vml" Requires="v">
                <p:oleObj spid="_x0000_s108571" name="Equation" r:id="rId3" imgW="1295400" imgH="1092200" progId="Equation.DSMT4">
                  <p:embed/>
                </p:oleObj>
              </mc:Choice>
              <mc:Fallback>
                <p:oleObj name="Equation" r:id="rId3" imgW="1295400" imgH="1092200" progId="Equation.DSMT4">
                  <p:embed/>
                  <p:pic>
                    <p:nvPicPr>
                      <p:cNvPr id="0"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03938" y="0"/>
                        <a:ext cx="2981325" cy="2514600"/>
                      </a:xfrm>
                      <a:prstGeom prst="rect">
                        <a:avLst/>
                      </a:prstGeom>
                      <a:solidFill>
                        <a:srgbClr val="FFC000"/>
                      </a:solidFill>
                      <a:ln w="9525">
                        <a:solidFill>
                          <a:srgbClr val="FF00FF"/>
                        </a:solidFill>
                        <a:miter lim="800000"/>
                        <a:headEnd/>
                        <a:tailEnd/>
                      </a:ln>
                    </p:spPr>
                  </p:pic>
                </p:oleObj>
              </mc:Fallback>
            </mc:AlternateContent>
          </a:graphicData>
        </a:graphic>
      </p:graphicFrame>
      <p:grpSp>
        <p:nvGrpSpPr>
          <p:cNvPr id="2" name="组合 1">
            <a:extLst>
              <a:ext uri="{FF2B5EF4-FFF2-40B4-BE49-F238E27FC236}">
                <a16:creationId xmlns:a16="http://schemas.microsoft.com/office/drawing/2014/main" id="{C50F4B77-2E12-4077-8E0B-EA9687A969AE}"/>
              </a:ext>
            </a:extLst>
          </p:cNvPr>
          <p:cNvGrpSpPr>
            <a:grpSpLocks/>
          </p:cNvGrpSpPr>
          <p:nvPr/>
        </p:nvGrpSpPr>
        <p:grpSpPr bwMode="auto">
          <a:xfrm>
            <a:off x="58738" y="3117850"/>
            <a:ext cx="9026525" cy="3344863"/>
            <a:chOff x="58737" y="3118163"/>
            <a:chExt cx="9026526" cy="3343912"/>
          </a:xfrm>
        </p:grpSpPr>
        <p:graphicFrame>
          <p:nvGraphicFramePr>
            <p:cNvPr id="108550" name="Object 7">
              <a:extLst>
                <a:ext uri="{FF2B5EF4-FFF2-40B4-BE49-F238E27FC236}">
                  <a16:creationId xmlns:a16="http://schemas.microsoft.com/office/drawing/2014/main" id="{71626E90-003D-4CED-85E4-E941ED2CC2E5}"/>
                </a:ext>
              </a:extLst>
            </p:cNvPr>
            <p:cNvGraphicFramePr>
              <a:graphicFrameLocks noChangeAspect="1"/>
            </p:cNvGraphicFramePr>
            <p:nvPr/>
          </p:nvGraphicFramePr>
          <p:xfrm>
            <a:off x="4597400" y="3124200"/>
            <a:ext cx="4487863" cy="3273425"/>
          </p:xfrm>
          <a:graphic>
            <a:graphicData uri="http://schemas.openxmlformats.org/presentationml/2006/ole">
              <mc:AlternateContent xmlns:mc="http://schemas.openxmlformats.org/markup-compatibility/2006">
                <mc:Choice xmlns:v="urn:schemas-microsoft-com:vml" Requires="v">
                  <p:oleObj spid="_x0000_s108572" name="Equation" r:id="rId5" imgW="2019300" imgH="1473200" progId="Equation.DSMT4">
                    <p:embed/>
                  </p:oleObj>
                </mc:Choice>
                <mc:Fallback>
                  <p:oleObj name="Equation" r:id="rId5" imgW="2019300" imgH="1473200" progId="Equation.DSMT4">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97400" y="3124200"/>
                          <a:ext cx="4487863" cy="3273425"/>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8551" name="Object 6">
              <a:extLst>
                <a:ext uri="{FF2B5EF4-FFF2-40B4-BE49-F238E27FC236}">
                  <a16:creationId xmlns:a16="http://schemas.microsoft.com/office/drawing/2014/main" id="{62B1CD15-B3B1-4B09-9004-A8E046D5B25D}"/>
                </a:ext>
              </a:extLst>
            </p:cNvPr>
            <p:cNvGraphicFramePr>
              <a:graphicFrameLocks noChangeAspect="1"/>
            </p:cNvGraphicFramePr>
            <p:nvPr/>
          </p:nvGraphicFramePr>
          <p:xfrm>
            <a:off x="58737" y="3118163"/>
            <a:ext cx="3833813" cy="3343912"/>
          </p:xfrm>
          <a:graphic>
            <a:graphicData uri="http://schemas.openxmlformats.org/presentationml/2006/ole">
              <mc:AlternateContent xmlns:mc="http://schemas.openxmlformats.org/markup-compatibility/2006">
                <mc:Choice xmlns:v="urn:schemas-microsoft-com:vml" Requires="v">
                  <p:oleObj spid="_x0000_s108573" name="Equation" r:id="rId7" imgW="1689100" imgH="1473200" progId="Equation.DSMT4">
                    <p:embed/>
                  </p:oleObj>
                </mc:Choice>
                <mc:Fallback>
                  <p:oleObj name="Equation" r:id="rId7" imgW="1689100" imgH="1473200" progId="Equation.DSMT4">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737" y="3118163"/>
                          <a:ext cx="3833813" cy="3343912"/>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8552" name="AutoShape 6">
              <a:extLst>
                <a:ext uri="{FF2B5EF4-FFF2-40B4-BE49-F238E27FC236}">
                  <a16:creationId xmlns:a16="http://schemas.microsoft.com/office/drawing/2014/main" id="{CE311874-75F2-4669-AB3C-D178835BEBF1}"/>
                </a:ext>
              </a:extLst>
            </p:cNvPr>
            <p:cNvSpPr>
              <a:spLocks noChangeArrowheads="1"/>
            </p:cNvSpPr>
            <p:nvPr/>
          </p:nvSpPr>
          <p:spPr bwMode="auto">
            <a:xfrm>
              <a:off x="3962400" y="4631532"/>
              <a:ext cx="609600" cy="3048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0033"/>
            </a:solidFill>
            <a:ln w="9525">
              <a:solidFill>
                <a:srgbClr val="B23645"/>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4326"/>
                                        </p:tgtEl>
                                        <p:attrNameLst>
                                          <p:attrName>style.visibility</p:attrName>
                                        </p:attrNameLst>
                                      </p:cBhvr>
                                      <p:to>
                                        <p:strVal val="visible"/>
                                      </p:to>
                                    </p:set>
                                    <p:animEffect transition="in" filter="blinds(horizontal)">
                                      <p:cBhvr>
                                        <p:cTn id="7" dur="500"/>
                                        <p:tgtEl>
                                          <p:spTgt spid="1843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randombar(horizontal)">
                                      <p:cBhvr>
                                        <p:cTn id="12" dur="5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randombar(horizontal)">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26"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56">
            <a:extLst>
              <a:ext uri="{FF2B5EF4-FFF2-40B4-BE49-F238E27FC236}">
                <a16:creationId xmlns:a16="http://schemas.microsoft.com/office/drawing/2014/main" id="{0897F464-86BE-44A6-BBBF-F46FBE4B4753}"/>
              </a:ext>
            </a:extLst>
          </p:cNvPr>
          <p:cNvSpPr>
            <a:spLocks noGrp="1" noChangeArrowheads="1"/>
          </p:cNvSpPr>
          <p:nvPr>
            <p:ph type="title"/>
          </p:nvPr>
        </p:nvSpPr>
        <p:spPr/>
        <p:txBody>
          <a:bodyPr/>
          <a:lstStyle/>
          <a:p>
            <a:r>
              <a:rPr lang="zh-CN" altLang="en-US"/>
              <a:t>销大于产</a:t>
            </a:r>
          </a:p>
        </p:txBody>
      </p:sp>
      <p:sp>
        <p:nvSpPr>
          <p:cNvPr id="109571" name="矩形 1">
            <a:extLst>
              <a:ext uri="{FF2B5EF4-FFF2-40B4-BE49-F238E27FC236}">
                <a16:creationId xmlns:a16="http://schemas.microsoft.com/office/drawing/2014/main" id="{97670740-DD89-4B86-9B40-35F199B4A7F3}"/>
              </a:ext>
            </a:extLst>
          </p:cNvPr>
          <p:cNvSpPr>
            <a:spLocks noChangeArrowheads="1"/>
          </p:cNvSpPr>
          <p:nvPr/>
        </p:nvSpPr>
        <p:spPr bwMode="auto">
          <a:xfrm>
            <a:off x="771525" y="4924425"/>
            <a:ext cx="6461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kumimoji="1" lang="zh-CN" altLang="en-US">
                <a:solidFill>
                  <a:srgbClr val="FF00FF"/>
                </a:solidFill>
                <a:latin typeface="Times New Roman" panose="02020603050405020304" pitchFamily="18" charset="0"/>
              </a:rPr>
              <a:t>产地</a:t>
            </a:r>
            <a:endParaRPr lang="zh-CN" altLang="en-US">
              <a:solidFill>
                <a:srgbClr val="FF00FF"/>
              </a:solidFill>
            </a:endParaRPr>
          </a:p>
        </p:txBody>
      </p:sp>
      <p:graphicFrame>
        <p:nvGraphicFramePr>
          <p:cNvPr id="109572" name="Object 2">
            <a:extLst>
              <a:ext uri="{FF2B5EF4-FFF2-40B4-BE49-F238E27FC236}">
                <a16:creationId xmlns:a16="http://schemas.microsoft.com/office/drawing/2014/main" id="{F3B6A165-A632-4EAE-9D2D-6789893E5F11}"/>
              </a:ext>
            </a:extLst>
          </p:cNvPr>
          <p:cNvGraphicFramePr>
            <a:graphicFrameLocks noChangeAspect="1"/>
          </p:cNvGraphicFramePr>
          <p:nvPr/>
        </p:nvGraphicFramePr>
        <p:xfrm>
          <a:off x="533400" y="1066800"/>
          <a:ext cx="7615238" cy="5194300"/>
        </p:xfrm>
        <a:graphic>
          <a:graphicData uri="http://schemas.openxmlformats.org/presentationml/2006/ole">
            <mc:AlternateContent xmlns:mc="http://schemas.openxmlformats.org/markup-compatibility/2006">
              <mc:Choice xmlns:v="urn:schemas-microsoft-com:vml" Requires="v">
                <p:oleObj spid="_x0000_s109580" name="Document" r:id="rId3" imgW="4896777" imgH="3352561" progId="Word.Document.8">
                  <p:embed/>
                </p:oleObj>
              </mc:Choice>
              <mc:Fallback>
                <p:oleObj name="Document" r:id="rId3" imgW="4896777" imgH="3352561"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1066800"/>
                        <a:ext cx="7615238" cy="519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5" name="Rectangle 95">
            <a:extLst>
              <a:ext uri="{FF2B5EF4-FFF2-40B4-BE49-F238E27FC236}">
                <a16:creationId xmlns:a16="http://schemas.microsoft.com/office/drawing/2014/main" id="{0A65F16B-6758-41F7-A1F4-FC2A1B989927}"/>
              </a:ext>
            </a:extLst>
          </p:cNvPr>
          <p:cNvSpPr>
            <a:spLocks noChangeArrowheads="1"/>
          </p:cNvSpPr>
          <p:nvPr/>
        </p:nvSpPr>
        <p:spPr bwMode="auto">
          <a:xfrm>
            <a:off x="771525" y="4651375"/>
            <a:ext cx="7377113" cy="915988"/>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xit"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2">
            <a:extLst>
              <a:ext uri="{FF2B5EF4-FFF2-40B4-BE49-F238E27FC236}">
                <a16:creationId xmlns:a16="http://schemas.microsoft.com/office/drawing/2014/main" id="{C169BD35-9E8E-4054-9FCD-22CEC285886B}"/>
              </a:ext>
            </a:extLst>
          </p:cNvPr>
          <p:cNvSpPr>
            <a:spLocks noGrp="1" noChangeArrowheads="1"/>
          </p:cNvSpPr>
          <p:nvPr>
            <p:ph type="title"/>
          </p:nvPr>
        </p:nvSpPr>
        <p:spPr/>
        <p:txBody>
          <a:bodyPr/>
          <a:lstStyle/>
          <a:p>
            <a:pPr eaLnBrk="1" hangingPunct="1"/>
            <a:r>
              <a:rPr lang="zh-CN" altLang="en-US"/>
              <a:t>例子</a:t>
            </a:r>
          </a:p>
        </p:txBody>
      </p:sp>
      <p:sp>
        <p:nvSpPr>
          <p:cNvPr id="110595" name="Rectangle 3">
            <a:extLst>
              <a:ext uri="{FF2B5EF4-FFF2-40B4-BE49-F238E27FC236}">
                <a16:creationId xmlns:a16="http://schemas.microsoft.com/office/drawing/2014/main" id="{AFDDC22E-87FE-400C-96DB-A95804BD7B33}"/>
              </a:ext>
            </a:extLst>
          </p:cNvPr>
          <p:cNvSpPr>
            <a:spLocks noGrp="1" noChangeArrowheads="1"/>
          </p:cNvSpPr>
          <p:nvPr>
            <p:ph type="body" idx="1"/>
          </p:nvPr>
        </p:nvSpPr>
        <p:spPr/>
        <p:txBody>
          <a:bodyPr/>
          <a:lstStyle/>
          <a:p>
            <a:pPr eaLnBrk="1" hangingPunct="1"/>
            <a:r>
              <a:rPr lang="zh-CN" altLang="en-US"/>
              <a:t>供大于求</a:t>
            </a:r>
            <a:r>
              <a:rPr lang="en-US" altLang="zh-CN"/>
              <a:t>(</a:t>
            </a:r>
            <a:r>
              <a:rPr lang="zh-CN" altLang="en-US"/>
              <a:t>产大于销</a:t>
            </a:r>
            <a:r>
              <a:rPr lang="en-US" altLang="zh-CN"/>
              <a:t>)</a:t>
            </a:r>
            <a:endParaRPr lang="zh-CN" altLang="en-US"/>
          </a:p>
        </p:txBody>
      </p:sp>
      <p:sp>
        <p:nvSpPr>
          <p:cNvPr id="110596" name="Rectangle 14">
            <a:extLst>
              <a:ext uri="{FF2B5EF4-FFF2-40B4-BE49-F238E27FC236}">
                <a16:creationId xmlns:a16="http://schemas.microsoft.com/office/drawing/2014/main" id="{BF829D2D-A0F8-428A-913D-273C81176F5E}"/>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2733" name="Group 221">
            <a:extLst>
              <a:ext uri="{FF2B5EF4-FFF2-40B4-BE49-F238E27FC236}">
                <a16:creationId xmlns:a16="http://schemas.microsoft.com/office/drawing/2014/main" id="{9F73C8ED-7A8D-4786-8431-58F32C6563C0}"/>
              </a:ext>
            </a:extLst>
          </p:cNvPr>
          <p:cNvGraphicFramePr>
            <a:graphicFrameLocks noGrp="1"/>
          </p:cNvGraphicFramePr>
          <p:nvPr/>
        </p:nvGraphicFramePr>
        <p:xfrm>
          <a:off x="533400" y="2286000"/>
          <a:ext cx="6094413"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2000">
                  <a:extLst>
                    <a:ext uri="{9D8B030D-6E8A-4147-A177-3AD203B41FA5}">
                      <a16:colId xmlns:a16="http://schemas.microsoft.com/office/drawing/2014/main" val="20007"/>
                    </a:ext>
                  </a:extLst>
                </a:gridCol>
              </a:tblGrid>
              <a:tr h="533522">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8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cap="flat">
                      <a:noFill/>
                    </a:lnL>
                    <a:lnR>
                      <a:noFill/>
                    </a:lnR>
                    <a:lnT cap="flat">
                      <a:noFill/>
                    </a:lnT>
                    <a:lnB>
                      <a:noFill/>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1</a:t>
                      </a:r>
                      <a:endParaRPr kumimoji="0" lang="en-US" altLang="zh-CN" sz="20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2</a:t>
                      </a:r>
                      <a:endParaRPr kumimoji="0" lang="en-US" altLang="zh-CN" sz="20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3</a:t>
                      </a:r>
                      <a:endParaRPr kumimoji="0" lang="en-US" altLang="zh-CN" sz="20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A</a:t>
                      </a:r>
                      <a:r>
                        <a:rPr kumimoji="0" lang="en-US" altLang="zh-CN" sz="24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1</a:t>
                      </a:r>
                      <a:endParaRPr kumimoji="0" lang="en-US" altLang="zh-CN" sz="24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cap="flat">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8</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5</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6</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15</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A</a:t>
                      </a:r>
                      <a:r>
                        <a:rPr kumimoji="0" lang="en-US" altLang="zh-CN" sz="24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2</a:t>
                      </a:r>
                      <a:endParaRPr kumimoji="0" lang="en-US" altLang="zh-CN" sz="24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cap="flat">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7</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9</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25</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8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cap="flat">
                      <a:noFill/>
                    </a:lnL>
                    <a:lnR>
                      <a:noFill/>
                    </a:lnR>
                    <a:lnT>
                      <a:noFill/>
                    </a:lnT>
                    <a:lnB cap="flat">
                      <a:noFill/>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dirty="0">
                        <a:ln>
                          <a:noFill/>
                        </a:ln>
                        <a:solidFill>
                          <a:schemeClr val="tx1"/>
                        </a:solidFill>
                        <a:effectLst/>
                        <a:latin typeface="Arial" charset="0"/>
                        <a:ea typeface="宋体" pitchFamily="2" charset="-122"/>
                      </a:endParaRPr>
                    </a:p>
                  </a:txBody>
                  <a:tcPr marT="45730" marB="45730"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2">
            <a:extLst>
              <a:ext uri="{FF2B5EF4-FFF2-40B4-BE49-F238E27FC236}">
                <a16:creationId xmlns:a16="http://schemas.microsoft.com/office/drawing/2014/main" id="{F5DAA135-5F08-43A4-8E7D-24CE6BC6FCF0}"/>
              </a:ext>
            </a:extLst>
          </p:cNvPr>
          <p:cNvSpPr>
            <a:spLocks noGrp="1" noChangeArrowheads="1"/>
          </p:cNvSpPr>
          <p:nvPr>
            <p:ph type="title"/>
          </p:nvPr>
        </p:nvSpPr>
        <p:spPr/>
        <p:txBody>
          <a:bodyPr/>
          <a:lstStyle/>
          <a:p>
            <a:pPr eaLnBrk="1" hangingPunct="1"/>
            <a:r>
              <a:rPr lang="zh-CN" altLang="en-US"/>
              <a:t>例子</a:t>
            </a:r>
          </a:p>
        </p:txBody>
      </p:sp>
      <p:sp>
        <p:nvSpPr>
          <p:cNvPr id="111619" name="Rectangle 3">
            <a:extLst>
              <a:ext uri="{FF2B5EF4-FFF2-40B4-BE49-F238E27FC236}">
                <a16:creationId xmlns:a16="http://schemas.microsoft.com/office/drawing/2014/main" id="{9EC4D0D8-A66C-440D-9D12-2D44108C7F23}"/>
              </a:ext>
            </a:extLst>
          </p:cNvPr>
          <p:cNvSpPr>
            <a:spLocks noGrp="1" noChangeArrowheads="1"/>
          </p:cNvSpPr>
          <p:nvPr>
            <p:ph type="body" idx="1"/>
          </p:nvPr>
        </p:nvSpPr>
        <p:spPr/>
        <p:txBody>
          <a:bodyPr/>
          <a:lstStyle/>
          <a:p>
            <a:pPr eaLnBrk="1" hangingPunct="1"/>
            <a:r>
              <a:rPr lang="zh-CN" altLang="en-US"/>
              <a:t>供求平衡</a:t>
            </a:r>
            <a:r>
              <a:rPr lang="en-US" altLang="zh-CN"/>
              <a:t>(</a:t>
            </a:r>
            <a:r>
              <a:rPr lang="zh-CN" altLang="en-US"/>
              <a:t>产销平衡</a:t>
            </a:r>
            <a:r>
              <a:rPr lang="en-US" altLang="zh-CN"/>
              <a:t>)</a:t>
            </a:r>
            <a:endParaRPr lang="zh-CN" altLang="en-US"/>
          </a:p>
        </p:txBody>
      </p:sp>
      <p:sp>
        <p:nvSpPr>
          <p:cNvPr id="111620" name="Rectangle 4">
            <a:extLst>
              <a:ext uri="{FF2B5EF4-FFF2-40B4-BE49-F238E27FC236}">
                <a16:creationId xmlns:a16="http://schemas.microsoft.com/office/drawing/2014/main" id="{916041DB-6635-45A8-9480-FA2011D3FF6C}"/>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4565" name="Group 5">
            <a:extLst>
              <a:ext uri="{FF2B5EF4-FFF2-40B4-BE49-F238E27FC236}">
                <a16:creationId xmlns:a16="http://schemas.microsoft.com/office/drawing/2014/main" id="{C0B225EE-EE59-4B39-9749-5B47C2A4323C}"/>
              </a:ext>
            </a:extLst>
          </p:cNvPr>
          <p:cNvGraphicFramePr>
            <a:graphicFrameLocks noGrp="1"/>
          </p:cNvGraphicFramePr>
          <p:nvPr/>
        </p:nvGraphicFramePr>
        <p:xfrm>
          <a:off x="533400" y="2286000"/>
          <a:ext cx="7620000"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5175">
                  <a:extLst>
                    <a:ext uri="{9D8B030D-6E8A-4147-A177-3AD203B41FA5}">
                      <a16:colId xmlns:a16="http://schemas.microsoft.com/office/drawing/2014/main" val="20007"/>
                    </a:ext>
                  </a:extLst>
                </a:gridCol>
                <a:gridCol w="760412">
                  <a:extLst>
                    <a:ext uri="{9D8B030D-6E8A-4147-A177-3AD203B41FA5}">
                      <a16:colId xmlns:a16="http://schemas.microsoft.com/office/drawing/2014/main" val="20008"/>
                    </a:ext>
                  </a:extLst>
                </a:gridCol>
                <a:gridCol w="762000">
                  <a:extLst>
                    <a:ext uri="{9D8B030D-6E8A-4147-A177-3AD203B41FA5}">
                      <a16:colId xmlns:a16="http://schemas.microsoft.com/office/drawing/2014/main" val="20009"/>
                    </a:ext>
                  </a:extLst>
                </a:gridCol>
              </a:tblGrid>
              <a:tr h="533522">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8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cap="flat">
                      <a:noFill/>
                    </a:lnL>
                    <a:lnR>
                      <a:noFill/>
                    </a:lnR>
                    <a:lnT cap="flat">
                      <a:noFill/>
                    </a:lnT>
                    <a:lnB>
                      <a:noFill/>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1</a:t>
                      </a:r>
                      <a:endParaRPr kumimoji="0" lang="en-US" altLang="zh-CN" sz="20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2</a:t>
                      </a:r>
                      <a:endParaRPr kumimoji="0" lang="en-US" altLang="zh-CN" sz="20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3</a:t>
                      </a:r>
                      <a:endParaRPr kumimoji="0" lang="en-US" altLang="zh-CN" sz="20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FF0000"/>
                          </a:solidFill>
                          <a:effectLst/>
                          <a:latin typeface="Times New Roman" pitchFamily="18" charset="0"/>
                          <a:ea typeface="宋体" pitchFamily="2" charset="-122"/>
                          <a:cs typeface="Times New Roman" pitchFamily="18" charset="0"/>
                        </a:rPr>
                        <a:t>B</a:t>
                      </a:r>
                      <a:r>
                        <a:rPr kumimoji="0" lang="en-US" altLang="zh-CN" sz="2000" b="0" i="0" u="none" strike="noStrike" cap="none" normalizeH="0" baseline="-25000" dirty="0">
                          <a:ln>
                            <a:noFill/>
                          </a:ln>
                          <a:solidFill>
                            <a:srgbClr val="FF0000"/>
                          </a:solidFill>
                          <a:effectLst/>
                          <a:latin typeface="Times New Roman" pitchFamily="18" charset="0"/>
                          <a:ea typeface="宋体" pitchFamily="2" charset="-122"/>
                          <a:cs typeface="Times New Roman" pitchFamily="18" charset="0"/>
                        </a:rPr>
                        <a:t>4</a:t>
                      </a:r>
                      <a:endParaRPr kumimoji="0" lang="en-US" altLang="zh-CN" sz="2000" b="0" i="0" u="none" strike="noStrike" cap="none" normalizeH="0" baseline="-25000" dirty="0">
                        <a:ln>
                          <a:noFill/>
                        </a:ln>
                        <a:solidFill>
                          <a:srgbClr val="FF0000"/>
                        </a:solidFill>
                        <a:effectLst/>
                        <a:latin typeface="Arial" charset="0"/>
                        <a:ea typeface="宋体" pitchFamily="2" charset="-122"/>
                      </a:endParaRPr>
                    </a:p>
                  </a:txBody>
                  <a:tcPr marT="45730" marB="45730" anchor="ctr" horzOverflow="overflow">
                    <a:lnL>
                      <a:noFill/>
                    </a:lnL>
                    <a:lnR>
                      <a:noFill/>
                    </a:lnR>
                    <a:lnT cap="fla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A</a:t>
                      </a:r>
                      <a:r>
                        <a:rPr kumimoji="0" lang="en-US" altLang="zh-CN" sz="24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1</a:t>
                      </a:r>
                      <a:endParaRPr kumimoji="0" lang="en-US" altLang="zh-CN" sz="24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cap="flat">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8</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5</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6</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FF0000"/>
                          </a:solidFill>
                          <a:effectLst/>
                          <a:latin typeface="Times New Roman" pitchFamily="18" charset="0"/>
                          <a:ea typeface="宋体" pitchFamily="2" charset="-122"/>
                          <a:cs typeface="Times New Roman" pitchFamily="18" charset="0"/>
                        </a:rPr>
                        <a:t>0</a:t>
                      </a:r>
                      <a:endParaRPr kumimoji="0" lang="en-US" altLang="zh-CN" sz="2000" b="0" i="0" u="none" strike="noStrike" cap="none" normalizeH="0" baseline="0" dirty="0">
                        <a:ln>
                          <a:noFill/>
                        </a:ln>
                        <a:solidFill>
                          <a:srgbClr val="FF0000"/>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15</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54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itchFamily="18" charset="0"/>
                          <a:ea typeface="宋体" pitchFamily="2" charset="-122"/>
                          <a:cs typeface="Times New Roman" pitchFamily="18" charset="0"/>
                        </a:rPr>
                        <a:t>A</a:t>
                      </a:r>
                      <a:r>
                        <a:rPr kumimoji="0" lang="en-US" altLang="zh-CN" sz="2400" b="0" i="0" u="none" strike="noStrike" cap="none" normalizeH="0" baseline="-25000" dirty="0">
                          <a:ln>
                            <a:noFill/>
                          </a:ln>
                          <a:solidFill>
                            <a:schemeClr val="tx1"/>
                          </a:solidFill>
                          <a:effectLst/>
                          <a:latin typeface="Times New Roman" pitchFamily="18" charset="0"/>
                          <a:ea typeface="宋体" pitchFamily="2" charset="-122"/>
                          <a:cs typeface="Times New Roman" pitchFamily="18" charset="0"/>
                        </a:rPr>
                        <a:t>2</a:t>
                      </a:r>
                      <a:endParaRPr kumimoji="0" lang="en-US" altLang="zh-CN" sz="2400" b="0" i="0" u="none" strike="noStrike" cap="none" normalizeH="0" baseline="-25000" dirty="0">
                        <a:ln>
                          <a:noFill/>
                        </a:ln>
                        <a:solidFill>
                          <a:schemeClr val="tx1"/>
                        </a:solidFill>
                        <a:effectLst/>
                        <a:latin typeface="Arial" charset="0"/>
                        <a:ea typeface="宋体" pitchFamily="2" charset="-122"/>
                      </a:endParaRPr>
                    </a:p>
                  </a:txBody>
                  <a:tcPr marT="45730" marB="45730" anchor="ctr" horzOverflow="overflow">
                    <a:lnL cap="flat">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7</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9</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FF0000"/>
                          </a:solidFill>
                          <a:effectLst/>
                          <a:latin typeface="Times New Roman" pitchFamily="18" charset="0"/>
                          <a:ea typeface="宋体" pitchFamily="2" charset="-122"/>
                          <a:cs typeface="Times New Roman" pitchFamily="18" charset="0"/>
                        </a:rPr>
                        <a:t>0</a:t>
                      </a:r>
                      <a:endParaRPr kumimoji="0" lang="en-US" altLang="zh-CN" sz="2000" b="0" i="0" u="none" strike="noStrike" cap="none" normalizeH="0" baseline="0" dirty="0">
                        <a:ln>
                          <a:noFill/>
                        </a:ln>
                        <a:solidFill>
                          <a:srgbClr val="FF0000"/>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25</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54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800" b="1"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cap="flat">
                      <a:noFill/>
                    </a:lnL>
                    <a:lnR>
                      <a:noFill/>
                    </a:lnR>
                    <a:lnT>
                      <a:noFill/>
                    </a:lnT>
                    <a:lnB cap="flat">
                      <a:noFill/>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a:ln>
                          <a:noFill/>
                        </a:ln>
                        <a:solidFill>
                          <a:schemeClr val="tx1"/>
                        </a:solidFill>
                        <a:effectLst/>
                        <a:latin typeface="Arial" charset="0"/>
                        <a:ea typeface="宋体"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rgbClr val="FF0000"/>
                          </a:solidFill>
                          <a:effectLst/>
                          <a:latin typeface="Times New Roman" pitchFamily="18" charset="0"/>
                          <a:ea typeface="宋体" pitchFamily="2" charset="-122"/>
                          <a:cs typeface="Times New Roman" pitchFamily="18" charset="0"/>
                        </a:rPr>
                        <a:t>10</a:t>
                      </a:r>
                      <a:endParaRPr kumimoji="0" lang="en-US" altLang="zh-CN" sz="2000" b="0" i="0" u="none" strike="noStrike" cap="none" normalizeH="0" baseline="0" dirty="0">
                        <a:ln>
                          <a:noFill/>
                        </a:ln>
                        <a:solidFill>
                          <a:srgbClr val="FF0000"/>
                        </a:solidFill>
                        <a:effectLst/>
                        <a:latin typeface="Arial" charset="0"/>
                        <a:ea typeface="宋体"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cap="flat">
                      <a:noFill/>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endParaRPr kumimoji="0" lang="zh-CN" altLang="zh-CN" sz="2000" b="1" i="0" u="none" strike="noStrike" cap="none" normalizeH="0" baseline="0" dirty="0">
                        <a:ln>
                          <a:noFill/>
                        </a:ln>
                        <a:solidFill>
                          <a:schemeClr val="tx1"/>
                        </a:solidFill>
                        <a:effectLst/>
                        <a:latin typeface="Arial" charset="0"/>
                        <a:ea typeface="宋体" pitchFamily="2" charset="-122"/>
                      </a:endParaRPr>
                    </a:p>
                  </a:txBody>
                  <a:tcPr marT="45730" marB="45730"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a:extLst>
              <a:ext uri="{FF2B5EF4-FFF2-40B4-BE49-F238E27FC236}">
                <a16:creationId xmlns:a16="http://schemas.microsoft.com/office/drawing/2014/main" id="{1BA25559-A852-418F-B5E4-9F6AAADE12E0}"/>
              </a:ext>
            </a:extLst>
          </p:cNvPr>
          <p:cNvSpPr>
            <a:spLocks noGrp="1" noChangeArrowheads="1"/>
          </p:cNvSpPr>
          <p:nvPr>
            <p:ph type="title"/>
          </p:nvPr>
        </p:nvSpPr>
        <p:spPr/>
        <p:txBody>
          <a:bodyPr/>
          <a:lstStyle/>
          <a:p>
            <a:pPr eaLnBrk="1" hangingPunct="1"/>
            <a:r>
              <a:rPr lang="zh-CN" altLang="en-US"/>
              <a:t>例子</a:t>
            </a:r>
          </a:p>
        </p:txBody>
      </p:sp>
      <p:sp>
        <p:nvSpPr>
          <p:cNvPr id="112643" name="Rectangle 3">
            <a:extLst>
              <a:ext uri="{FF2B5EF4-FFF2-40B4-BE49-F238E27FC236}">
                <a16:creationId xmlns:a16="http://schemas.microsoft.com/office/drawing/2014/main" id="{538D615A-2F58-4E92-92D2-B977B0FAF520}"/>
              </a:ext>
            </a:extLst>
          </p:cNvPr>
          <p:cNvSpPr>
            <a:spLocks noGrp="1" noChangeArrowheads="1"/>
          </p:cNvSpPr>
          <p:nvPr>
            <p:ph type="body" idx="1"/>
          </p:nvPr>
        </p:nvSpPr>
        <p:spPr/>
        <p:txBody>
          <a:bodyPr/>
          <a:lstStyle/>
          <a:p>
            <a:pPr eaLnBrk="1" hangingPunct="1"/>
            <a:r>
              <a:rPr lang="zh-CN" altLang="en-US"/>
              <a:t>供求平衡</a:t>
            </a:r>
            <a:r>
              <a:rPr lang="en-US" altLang="zh-CN"/>
              <a:t>(</a:t>
            </a:r>
            <a:r>
              <a:rPr lang="zh-CN" altLang="en-US"/>
              <a:t>产销平衡</a:t>
            </a:r>
            <a:r>
              <a:rPr lang="en-US" altLang="zh-CN"/>
              <a:t>)</a:t>
            </a:r>
            <a:endParaRPr lang="zh-CN" altLang="en-US"/>
          </a:p>
          <a:p>
            <a:pPr lvl="1" eaLnBrk="1" hangingPunct="1"/>
            <a:r>
              <a:rPr lang="zh-CN" altLang="en-US"/>
              <a:t>最小元素法</a:t>
            </a:r>
          </a:p>
        </p:txBody>
      </p:sp>
      <p:sp>
        <p:nvSpPr>
          <p:cNvPr id="112644" name="Rectangle 4">
            <a:extLst>
              <a:ext uri="{FF2B5EF4-FFF2-40B4-BE49-F238E27FC236}">
                <a16:creationId xmlns:a16="http://schemas.microsoft.com/office/drawing/2014/main" id="{7E89618B-BA5B-4AC9-AE69-207EC50E5D5D}"/>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5676" name="Group 92">
            <a:extLst>
              <a:ext uri="{FF2B5EF4-FFF2-40B4-BE49-F238E27FC236}">
                <a16:creationId xmlns:a16="http://schemas.microsoft.com/office/drawing/2014/main" id="{F1771F04-2467-4BD5-ACD4-D5700F0AAC36}"/>
              </a:ext>
            </a:extLst>
          </p:cNvPr>
          <p:cNvGraphicFramePr>
            <a:graphicFrameLocks noGrp="1"/>
          </p:cNvGraphicFramePr>
          <p:nvPr/>
        </p:nvGraphicFramePr>
        <p:xfrm>
          <a:off x="533400" y="2286000"/>
          <a:ext cx="7620000"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5175">
                  <a:extLst>
                    <a:ext uri="{9D8B030D-6E8A-4147-A177-3AD203B41FA5}">
                      <a16:colId xmlns:a16="http://schemas.microsoft.com/office/drawing/2014/main" val="20007"/>
                    </a:ext>
                  </a:extLst>
                </a:gridCol>
                <a:gridCol w="760412">
                  <a:extLst>
                    <a:ext uri="{9D8B030D-6E8A-4147-A177-3AD203B41FA5}">
                      <a16:colId xmlns:a16="http://schemas.microsoft.com/office/drawing/2014/main" val="20008"/>
                    </a:ext>
                  </a:extLst>
                </a:gridCol>
                <a:gridCol w="762000">
                  <a:extLst>
                    <a:ext uri="{9D8B030D-6E8A-4147-A177-3AD203B41FA5}">
                      <a16:colId xmlns:a16="http://schemas.microsoft.com/office/drawing/2014/main" val="20009"/>
                    </a:ext>
                  </a:extLst>
                </a:gridCol>
              </a:tblGrid>
              <a:tr h="533522">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a:extLst>
              <a:ext uri="{FF2B5EF4-FFF2-40B4-BE49-F238E27FC236}">
                <a16:creationId xmlns:a16="http://schemas.microsoft.com/office/drawing/2014/main" id="{6FE53E0A-D0C1-43CF-9876-057511B0E56E}"/>
              </a:ext>
            </a:extLst>
          </p:cNvPr>
          <p:cNvSpPr>
            <a:spLocks noGrp="1" noChangeArrowheads="1"/>
          </p:cNvSpPr>
          <p:nvPr>
            <p:ph type="title"/>
          </p:nvPr>
        </p:nvSpPr>
        <p:spPr/>
        <p:txBody>
          <a:bodyPr/>
          <a:lstStyle/>
          <a:p>
            <a:pPr eaLnBrk="1" hangingPunct="1"/>
            <a:r>
              <a:rPr lang="zh-CN" altLang="en-US"/>
              <a:t>例子</a:t>
            </a:r>
          </a:p>
        </p:txBody>
      </p:sp>
      <p:sp>
        <p:nvSpPr>
          <p:cNvPr id="113667" name="Rectangle 3">
            <a:extLst>
              <a:ext uri="{FF2B5EF4-FFF2-40B4-BE49-F238E27FC236}">
                <a16:creationId xmlns:a16="http://schemas.microsoft.com/office/drawing/2014/main" id="{3379F684-72FF-4A95-A60E-7B4E343026CB}"/>
              </a:ext>
            </a:extLst>
          </p:cNvPr>
          <p:cNvSpPr>
            <a:spLocks noGrp="1" noChangeArrowheads="1"/>
          </p:cNvSpPr>
          <p:nvPr>
            <p:ph type="body" idx="1"/>
          </p:nvPr>
        </p:nvSpPr>
        <p:spPr/>
        <p:txBody>
          <a:bodyPr/>
          <a:lstStyle/>
          <a:p>
            <a:pPr eaLnBrk="1" hangingPunct="1"/>
            <a:r>
              <a:rPr lang="zh-CN" altLang="en-US"/>
              <a:t>供求平衡</a:t>
            </a:r>
            <a:r>
              <a:rPr lang="en-US" altLang="zh-CN"/>
              <a:t>(</a:t>
            </a:r>
            <a:r>
              <a:rPr lang="zh-CN" altLang="en-US"/>
              <a:t>产销平衡</a:t>
            </a:r>
            <a:r>
              <a:rPr lang="en-US" altLang="zh-CN"/>
              <a:t>)</a:t>
            </a:r>
            <a:endParaRPr lang="zh-CN" altLang="en-US"/>
          </a:p>
          <a:p>
            <a:pPr lvl="1" eaLnBrk="1" hangingPunct="1"/>
            <a:r>
              <a:rPr lang="zh-CN" altLang="en-US"/>
              <a:t>闭回路法</a:t>
            </a:r>
            <a:r>
              <a:rPr lang="en-US" altLang="zh-CN"/>
              <a:t>(</a:t>
            </a:r>
            <a:r>
              <a:rPr lang="zh-CN" altLang="en-US"/>
              <a:t>检验最优解</a:t>
            </a:r>
            <a:r>
              <a:rPr lang="en-US" altLang="zh-CN"/>
              <a:t>)</a:t>
            </a:r>
            <a:endParaRPr lang="zh-CN" altLang="en-US"/>
          </a:p>
        </p:txBody>
      </p:sp>
      <p:sp>
        <p:nvSpPr>
          <p:cNvPr id="113668" name="Rectangle 4">
            <a:extLst>
              <a:ext uri="{FF2B5EF4-FFF2-40B4-BE49-F238E27FC236}">
                <a16:creationId xmlns:a16="http://schemas.microsoft.com/office/drawing/2014/main" id="{EDE75A8D-DB1C-4803-954F-BA1F66D87FF0}"/>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5676" name="Group 92">
            <a:extLst>
              <a:ext uri="{FF2B5EF4-FFF2-40B4-BE49-F238E27FC236}">
                <a16:creationId xmlns:a16="http://schemas.microsoft.com/office/drawing/2014/main" id="{B5A6B713-1A80-49AC-8B18-7D1720C894CC}"/>
              </a:ext>
            </a:extLst>
          </p:cNvPr>
          <p:cNvGraphicFramePr>
            <a:graphicFrameLocks noGrp="1"/>
          </p:cNvGraphicFramePr>
          <p:nvPr/>
        </p:nvGraphicFramePr>
        <p:xfrm>
          <a:off x="533400" y="2286000"/>
          <a:ext cx="7620000"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5175">
                  <a:extLst>
                    <a:ext uri="{9D8B030D-6E8A-4147-A177-3AD203B41FA5}">
                      <a16:colId xmlns:a16="http://schemas.microsoft.com/office/drawing/2014/main" val="20007"/>
                    </a:ext>
                  </a:extLst>
                </a:gridCol>
                <a:gridCol w="760412">
                  <a:extLst>
                    <a:ext uri="{9D8B030D-6E8A-4147-A177-3AD203B41FA5}">
                      <a16:colId xmlns:a16="http://schemas.microsoft.com/office/drawing/2014/main" val="20008"/>
                    </a:ext>
                  </a:extLst>
                </a:gridCol>
                <a:gridCol w="762000">
                  <a:extLst>
                    <a:ext uri="{9D8B030D-6E8A-4147-A177-3AD203B41FA5}">
                      <a16:colId xmlns:a16="http://schemas.microsoft.com/office/drawing/2014/main" val="20009"/>
                    </a:ext>
                  </a:extLst>
                </a:gridCol>
              </a:tblGrid>
              <a:tr h="533522">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28" name="组合 27">
            <a:extLst>
              <a:ext uri="{FF2B5EF4-FFF2-40B4-BE49-F238E27FC236}">
                <a16:creationId xmlns:a16="http://schemas.microsoft.com/office/drawing/2014/main" id="{373A565A-4754-4BB1-9C03-FC747E5A9729}"/>
              </a:ext>
            </a:extLst>
          </p:cNvPr>
          <p:cNvGrpSpPr>
            <a:grpSpLocks/>
          </p:cNvGrpSpPr>
          <p:nvPr/>
        </p:nvGrpSpPr>
        <p:grpSpPr bwMode="auto">
          <a:xfrm>
            <a:off x="1828800" y="3048000"/>
            <a:ext cx="1219200" cy="879475"/>
            <a:chOff x="1828800" y="3048000"/>
            <a:chExt cx="1219200" cy="879477"/>
          </a:xfrm>
        </p:grpSpPr>
        <p:sp>
          <p:nvSpPr>
            <p:cNvPr id="6" name="Rectangle 74">
              <a:extLst>
                <a:ext uri="{FF2B5EF4-FFF2-40B4-BE49-F238E27FC236}">
                  <a16:creationId xmlns:a16="http://schemas.microsoft.com/office/drawing/2014/main" id="{33B36C33-E64F-4D3D-9BB5-7A02A8809B7B}"/>
                </a:ext>
              </a:extLst>
            </p:cNvPr>
            <p:cNvSpPr>
              <a:spLocks noChangeArrowheads="1"/>
            </p:cNvSpPr>
            <p:nvPr/>
          </p:nvSpPr>
          <p:spPr bwMode="auto">
            <a:xfrm>
              <a:off x="2133600" y="3184525"/>
              <a:ext cx="498475" cy="471489"/>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6</a:t>
              </a:r>
              <a:r>
                <a:rPr lang="zh-CN" altLang="en-US" sz="2000" dirty="0">
                  <a:solidFill>
                    <a:srgbClr val="3333FF"/>
                  </a:solidFill>
                  <a:effectLst>
                    <a:outerShdw blurRad="38100" dist="38100" dir="2700000" algn="tl">
                      <a:srgbClr val="000000"/>
                    </a:outerShdw>
                  </a:effectLst>
                </a:rPr>
                <a:t>）</a:t>
              </a:r>
            </a:p>
          </p:txBody>
        </p:sp>
        <p:cxnSp>
          <p:nvCxnSpPr>
            <p:cNvPr id="3" name="直接箭头连接符 2">
              <a:extLst>
                <a:ext uri="{FF2B5EF4-FFF2-40B4-BE49-F238E27FC236}">
                  <a16:creationId xmlns:a16="http://schemas.microsoft.com/office/drawing/2014/main" id="{9E880926-5ED7-4217-9666-21F5E771C420}"/>
                </a:ext>
              </a:extLst>
            </p:cNvPr>
            <p:cNvCxnSpPr>
              <a:cxnSpLocks/>
            </p:cNvCxnSpPr>
            <p:nvPr/>
          </p:nvCxnSpPr>
          <p:spPr>
            <a:xfrm>
              <a:off x="1828800" y="3048000"/>
              <a:ext cx="1219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003D2BF8-7E54-43A9-90CF-DCCC5D97637A}"/>
                </a:ext>
              </a:extLst>
            </p:cNvPr>
            <p:cNvCxnSpPr>
              <a:cxnSpLocks/>
            </p:cNvCxnSpPr>
            <p:nvPr/>
          </p:nvCxnSpPr>
          <p:spPr>
            <a:xfrm>
              <a:off x="30480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5DA8B444-A99A-4B14-A024-F6A2F6EB210E}"/>
                </a:ext>
              </a:extLst>
            </p:cNvPr>
            <p:cNvCxnSpPr>
              <a:cxnSpLocks/>
            </p:cNvCxnSpPr>
            <p:nvPr/>
          </p:nvCxnSpPr>
          <p:spPr>
            <a:xfrm flipH="1" flipV="1">
              <a:off x="1828800" y="3927477"/>
              <a:ext cx="1219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36D8164E-79A2-4D0D-B03C-6081ED68C825}"/>
                </a:ext>
              </a:extLst>
            </p:cNvPr>
            <p:cNvCxnSpPr>
              <a:cxnSpLocks/>
            </p:cNvCxnSpPr>
            <p:nvPr/>
          </p:nvCxnSpPr>
          <p:spPr>
            <a:xfrm flipV="1">
              <a:off x="18288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060EEADC-E9EA-463A-A41F-3C4CF715A7A7}"/>
              </a:ext>
            </a:extLst>
          </p:cNvPr>
          <p:cNvGrpSpPr>
            <a:grpSpLocks/>
          </p:cNvGrpSpPr>
          <p:nvPr/>
        </p:nvGrpSpPr>
        <p:grpSpPr bwMode="auto">
          <a:xfrm>
            <a:off x="3352800" y="3040063"/>
            <a:ext cx="1701800" cy="879475"/>
            <a:chOff x="3352800" y="3039415"/>
            <a:chExt cx="1701400" cy="879475"/>
          </a:xfrm>
        </p:grpSpPr>
        <p:cxnSp>
          <p:nvCxnSpPr>
            <p:cNvPr id="20" name="直接箭头连接符 19">
              <a:extLst>
                <a:ext uri="{FF2B5EF4-FFF2-40B4-BE49-F238E27FC236}">
                  <a16:creationId xmlns:a16="http://schemas.microsoft.com/office/drawing/2014/main" id="{FEC3AFA3-5BC9-426B-AC28-008B8A2C706A}"/>
                </a:ext>
              </a:extLst>
            </p:cNvPr>
            <p:cNvCxnSpPr>
              <a:cxnSpLocks/>
            </p:cNvCxnSpPr>
            <p:nvPr/>
          </p:nvCxnSpPr>
          <p:spPr>
            <a:xfrm flipH="1" flipV="1">
              <a:off x="3357562" y="3047352"/>
              <a:ext cx="1218913"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FFB79601-81FA-4242-87EA-5F858E8C6AF6}"/>
                </a:ext>
              </a:extLst>
            </p:cNvPr>
            <p:cNvCxnSpPr>
              <a:cxnSpLocks/>
            </p:cNvCxnSpPr>
            <p:nvPr/>
          </p:nvCxnSpPr>
          <p:spPr>
            <a:xfrm>
              <a:off x="3352800" y="3039415"/>
              <a:ext cx="0" cy="879475"/>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22" name="直接箭头连接符 21">
              <a:extLst>
                <a:ext uri="{FF2B5EF4-FFF2-40B4-BE49-F238E27FC236}">
                  <a16:creationId xmlns:a16="http://schemas.microsoft.com/office/drawing/2014/main" id="{92364DE5-7165-4021-87B3-E6AADD654B29}"/>
                </a:ext>
              </a:extLst>
            </p:cNvPr>
            <p:cNvCxnSpPr>
              <a:cxnSpLocks/>
            </p:cNvCxnSpPr>
            <p:nvPr/>
          </p:nvCxnSpPr>
          <p:spPr>
            <a:xfrm>
              <a:off x="3357562" y="3918890"/>
              <a:ext cx="1218913"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id="{BEC2523A-ABB7-4138-AB3E-F3A08ED00916}"/>
                </a:ext>
              </a:extLst>
            </p:cNvPr>
            <p:cNvCxnSpPr>
              <a:cxnSpLocks/>
            </p:cNvCxnSpPr>
            <p:nvPr/>
          </p:nvCxnSpPr>
          <p:spPr>
            <a:xfrm flipV="1">
              <a:off x="4576475" y="3039415"/>
              <a:ext cx="0" cy="879475"/>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74">
              <a:extLst>
                <a:ext uri="{FF2B5EF4-FFF2-40B4-BE49-F238E27FC236}">
                  <a16:creationId xmlns:a16="http://schemas.microsoft.com/office/drawing/2014/main" id="{C08775E3-7DF1-4FA9-B94A-86C7902636C2}"/>
                </a:ext>
              </a:extLst>
            </p:cNvPr>
            <p:cNvSpPr>
              <a:spLocks noChangeArrowheads="1"/>
            </p:cNvSpPr>
            <p:nvPr/>
          </p:nvSpPr>
          <p:spPr bwMode="auto">
            <a:xfrm>
              <a:off x="4555842" y="3252140"/>
              <a:ext cx="498358"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grpSp>
      <p:grpSp>
        <p:nvGrpSpPr>
          <p:cNvPr id="26" name="组合 25">
            <a:extLst>
              <a:ext uri="{FF2B5EF4-FFF2-40B4-BE49-F238E27FC236}">
                <a16:creationId xmlns:a16="http://schemas.microsoft.com/office/drawing/2014/main" id="{416B09E4-3B4B-4C49-B72B-24A9D2067E2D}"/>
              </a:ext>
            </a:extLst>
          </p:cNvPr>
          <p:cNvGrpSpPr>
            <a:grpSpLocks/>
          </p:cNvGrpSpPr>
          <p:nvPr/>
        </p:nvGrpSpPr>
        <p:grpSpPr bwMode="auto">
          <a:xfrm>
            <a:off x="3505200" y="2895600"/>
            <a:ext cx="2936875" cy="1690688"/>
            <a:chOff x="3505200" y="2895600"/>
            <a:chExt cx="2936875" cy="1690688"/>
          </a:xfrm>
        </p:grpSpPr>
        <p:cxnSp>
          <p:nvCxnSpPr>
            <p:cNvPr id="25" name="直接箭头连接符 24">
              <a:extLst>
                <a:ext uri="{FF2B5EF4-FFF2-40B4-BE49-F238E27FC236}">
                  <a16:creationId xmlns:a16="http://schemas.microsoft.com/office/drawing/2014/main" id="{7CC579B8-72CB-4247-962A-DFAEDDBAC978}"/>
                </a:ext>
              </a:extLst>
            </p:cNvPr>
            <p:cNvCxnSpPr>
              <a:cxnSpLocks/>
            </p:cNvCxnSpPr>
            <p:nvPr/>
          </p:nvCxnSpPr>
          <p:spPr>
            <a:xfrm flipH="1" flipV="1">
              <a:off x="3505200" y="4038600"/>
              <a:ext cx="2519363" cy="0"/>
            </a:xfrm>
            <a:prstGeom prst="straightConnector1">
              <a:avLst/>
            </a:prstGeom>
            <a:ln>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2753E5FC-5593-43BA-A2A7-D75EB1E8D260}"/>
                </a:ext>
              </a:extLst>
            </p:cNvPr>
            <p:cNvCxnSpPr>
              <a:cxnSpLocks/>
            </p:cNvCxnSpPr>
            <p:nvPr/>
          </p:nvCxnSpPr>
          <p:spPr>
            <a:xfrm flipV="1">
              <a:off x="3505200" y="2895600"/>
              <a:ext cx="0" cy="1143000"/>
            </a:xfrm>
            <a:prstGeom prst="straightConnector1">
              <a:avLst/>
            </a:prstGeom>
            <a:ln>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5F1357F8-F42F-4A79-91C3-DB0B0EBAFDAE}"/>
                </a:ext>
              </a:extLst>
            </p:cNvPr>
            <p:cNvCxnSpPr>
              <a:cxnSpLocks/>
            </p:cNvCxnSpPr>
            <p:nvPr/>
          </p:nvCxnSpPr>
          <p:spPr>
            <a:xfrm>
              <a:off x="3505200" y="2895600"/>
              <a:ext cx="2519363"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1" name="直接箭头连接符 30">
              <a:extLst>
                <a:ext uri="{FF2B5EF4-FFF2-40B4-BE49-F238E27FC236}">
                  <a16:creationId xmlns:a16="http://schemas.microsoft.com/office/drawing/2014/main" id="{1A6A3C6C-0931-4369-864F-16C12EA3E0B5}"/>
                </a:ext>
              </a:extLst>
            </p:cNvPr>
            <p:cNvCxnSpPr>
              <a:cxnSpLocks/>
            </p:cNvCxnSpPr>
            <p:nvPr/>
          </p:nvCxnSpPr>
          <p:spPr>
            <a:xfrm>
              <a:off x="6002338" y="2895600"/>
              <a:ext cx="22225" cy="114300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3" name="Rectangle 74">
              <a:extLst>
                <a:ext uri="{FF2B5EF4-FFF2-40B4-BE49-F238E27FC236}">
                  <a16:creationId xmlns:a16="http://schemas.microsoft.com/office/drawing/2014/main" id="{38F82047-A42A-41ED-A752-A6413AA849D0}"/>
                </a:ext>
              </a:extLst>
            </p:cNvPr>
            <p:cNvSpPr>
              <a:spLocks noChangeArrowheads="1"/>
            </p:cNvSpPr>
            <p:nvPr/>
          </p:nvSpPr>
          <p:spPr bwMode="auto">
            <a:xfrm>
              <a:off x="5943600" y="4114800"/>
              <a:ext cx="498475" cy="471488"/>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FF0000"/>
                  </a:solidFill>
                  <a:effectLst>
                    <a:outerShdw blurRad="38100" dist="38100" dir="2700000" algn="tl">
                      <a:srgbClr val="000000"/>
                    </a:outerShdw>
                  </a:effectLst>
                </a:rPr>
                <a:t>（</a:t>
              </a:r>
              <a:r>
                <a:rPr lang="en-US" altLang="zh-CN" sz="2000" dirty="0">
                  <a:solidFill>
                    <a:srgbClr val="FF0000"/>
                  </a:solidFill>
                  <a:effectLst>
                    <a:outerShdw blurRad="38100" dist="38100" dir="2700000" algn="tl">
                      <a:srgbClr val="000000"/>
                    </a:outerShdw>
                  </a:effectLst>
                </a:rPr>
                <a:t>-5</a:t>
              </a:r>
              <a:r>
                <a:rPr lang="zh-CN" altLang="en-US" sz="2000" dirty="0">
                  <a:solidFill>
                    <a:srgbClr val="FF0000"/>
                  </a:solidFill>
                  <a:effectLst>
                    <a:outerShdw blurRad="38100" dist="38100" dir="2700000" algn="tl">
                      <a:srgbClr val="000000"/>
                    </a:outerShdw>
                  </a:effectLst>
                </a:rPr>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randombar(horizontal)">
                                      <p:cBhvr>
                                        <p:cTn id="7" dur="500"/>
                                        <p:tgtEl>
                                          <p:spTgt spid="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randombar(horizontal)">
                                      <p:cBhvr>
                                        <p:cTn id="12" dur="500"/>
                                        <p:tgtEl>
                                          <p:spTgt spid="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randombar(horizontal)">
                                      <p:cBhvr>
                                        <p:cTn id="1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a:extLst>
              <a:ext uri="{FF2B5EF4-FFF2-40B4-BE49-F238E27FC236}">
                <a16:creationId xmlns:a16="http://schemas.microsoft.com/office/drawing/2014/main" id="{A106150E-8512-4C3E-B18B-B9971A864258}"/>
              </a:ext>
            </a:extLst>
          </p:cNvPr>
          <p:cNvSpPr>
            <a:spLocks noGrp="1" noChangeArrowheads="1"/>
          </p:cNvSpPr>
          <p:nvPr>
            <p:ph type="title"/>
          </p:nvPr>
        </p:nvSpPr>
        <p:spPr/>
        <p:txBody>
          <a:bodyPr/>
          <a:lstStyle/>
          <a:p>
            <a:pPr eaLnBrk="1" hangingPunct="1"/>
            <a:r>
              <a:rPr lang="zh-CN" altLang="en-US"/>
              <a:t>例子</a:t>
            </a:r>
          </a:p>
        </p:txBody>
      </p:sp>
      <p:sp>
        <p:nvSpPr>
          <p:cNvPr id="114691" name="Rectangle 3">
            <a:extLst>
              <a:ext uri="{FF2B5EF4-FFF2-40B4-BE49-F238E27FC236}">
                <a16:creationId xmlns:a16="http://schemas.microsoft.com/office/drawing/2014/main" id="{A5A9592D-EF04-490A-97BD-DCDE8D9333DE}"/>
              </a:ext>
            </a:extLst>
          </p:cNvPr>
          <p:cNvSpPr>
            <a:spLocks noGrp="1" noChangeArrowheads="1"/>
          </p:cNvSpPr>
          <p:nvPr>
            <p:ph type="body" idx="1"/>
          </p:nvPr>
        </p:nvSpPr>
        <p:spPr/>
        <p:txBody>
          <a:bodyPr/>
          <a:lstStyle/>
          <a:p>
            <a:pPr eaLnBrk="1" hangingPunct="1"/>
            <a:r>
              <a:rPr lang="zh-CN" altLang="en-US"/>
              <a:t>供求平衡</a:t>
            </a:r>
            <a:r>
              <a:rPr lang="en-US" altLang="zh-CN"/>
              <a:t>(</a:t>
            </a:r>
            <a:r>
              <a:rPr lang="zh-CN" altLang="en-US"/>
              <a:t>产销平衡</a:t>
            </a:r>
            <a:r>
              <a:rPr lang="en-US" altLang="zh-CN"/>
              <a:t>)</a:t>
            </a:r>
            <a:endParaRPr lang="zh-CN" altLang="en-US"/>
          </a:p>
          <a:p>
            <a:pPr lvl="1" eaLnBrk="1" hangingPunct="1"/>
            <a:r>
              <a:rPr lang="zh-CN" altLang="en-US"/>
              <a:t>闭回路调整法</a:t>
            </a:r>
            <a:r>
              <a:rPr lang="en-US" altLang="zh-CN"/>
              <a:t>(</a:t>
            </a:r>
            <a:r>
              <a:rPr lang="zh-CN" altLang="en-US"/>
              <a:t>解的改进</a:t>
            </a:r>
            <a:r>
              <a:rPr lang="en-US" altLang="zh-CN"/>
              <a:t>)</a:t>
            </a:r>
            <a:endParaRPr lang="zh-CN" altLang="en-US"/>
          </a:p>
        </p:txBody>
      </p:sp>
      <p:sp>
        <p:nvSpPr>
          <p:cNvPr id="114692" name="Rectangle 4">
            <a:extLst>
              <a:ext uri="{FF2B5EF4-FFF2-40B4-BE49-F238E27FC236}">
                <a16:creationId xmlns:a16="http://schemas.microsoft.com/office/drawing/2014/main" id="{5EF90A79-E46F-487B-8966-4115B95BB4DC}"/>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5676" name="Group 92">
            <a:extLst>
              <a:ext uri="{FF2B5EF4-FFF2-40B4-BE49-F238E27FC236}">
                <a16:creationId xmlns:a16="http://schemas.microsoft.com/office/drawing/2014/main" id="{6FF7F091-3A60-445B-9557-295833532716}"/>
              </a:ext>
            </a:extLst>
          </p:cNvPr>
          <p:cNvGraphicFramePr>
            <a:graphicFrameLocks noGrp="1"/>
          </p:cNvGraphicFramePr>
          <p:nvPr/>
        </p:nvGraphicFramePr>
        <p:xfrm>
          <a:off x="533400" y="2286000"/>
          <a:ext cx="7620000"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5175">
                  <a:extLst>
                    <a:ext uri="{9D8B030D-6E8A-4147-A177-3AD203B41FA5}">
                      <a16:colId xmlns:a16="http://schemas.microsoft.com/office/drawing/2014/main" val="20007"/>
                    </a:ext>
                  </a:extLst>
                </a:gridCol>
                <a:gridCol w="760412">
                  <a:extLst>
                    <a:ext uri="{9D8B030D-6E8A-4147-A177-3AD203B41FA5}">
                      <a16:colId xmlns:a16="http://schemas.microsoft.com/office/drawing/2014/main" val="20008"/>
                    </a:ext>
                  </a:extLst>
                </a:gridCol>
                <a:gridCol w="762000">
                  <a:extLst>
                    <a:ext uri="{9D8B030D-6E8A-4147-A177-3AD203B41FA5}">
                      <a16:colId xmlns:a16="http://schemas.microsoft.com/office/drawing/2014/main" val="20009"/>
                    </a:ext>
                  </a:extLst>
                </a:gridCol>
              </a:tblGrid>
              <a:tr h="533522">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rgbClr val="AFBF39"/>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AFBF3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AFBF39"/>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AFBF3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rgbClr val="AFBF39"/>
                    </a:solid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a:extLst>
              <a:ext uri="{FF2B5EF4-FFF2-40B4-BE49-F238E27FC236}">
                <a16:creationId xmlns:a16="http://schemas.microsoft.com/office/drawing/2014/main" id="{4663BE8E-B0D8-4F9A-8821-FA3C3CD8525F}"/>
              </a:ext>
            </a:extLst>
          </p:cNvPr>
          <p:cNvSpPr>
            <a:spLocks noGrp="1" noChangeArrowheads="1"/>
          </p:cNvSpPr>
          <p:nvPr>
            <p:ph type="title"/>
          </p:nvPr>
        </p:nvSpPr>
        <p:spPr/>
        <p:txBody>
          <a:bodyPr/>
          <a:lstStyle/>
          <a:p>
            <a:pPr eaLnBrk="1" hangingPunct="1"/>
            <a:r>
              <a:rPr lang="zh-CN" altLang="en-US"/>
              <a:t>例子</a:t>
            </a:r>
          </a:p>
        </p:txBody>
      </p:sp>
      <p:sp>
        <p:nvSpPr>
          <p:cNvPr id="115715" name="Rectangle 3">
            <a:extLst>
              <a:ext uri="{FF2B5EF4-FFF2-40B4-BE49-F238E27FC236}">
                <a16:creationId xmlns:a16="http://schemas.microsoft.com/office/drawing/2014/main" id="{BD9BACFC-6773-4448-A566-ADA09D38E726}"/>
              </a:ext>
            </a:extLst>
          </p:cNvPr>
          <p:cNvSpPr>
            <a:spLocks noGrp="1" noChangeArrowheads="1"/>
          </p:cNvSpPr>
          <p:nvPr>
            <p:ph type="body" idx="1"/>
          </p:nvPr>
        </p:nvSpPr>
        <p:spPr/>
        <p:txBody>
          <a:bodyPr/>
          <a:lstStyle/>
          <a:p>
            <a:pPr eaLnBrk="1" hangingPunct="1"/>
            <a:r>
              <a:rPr lang="zh-CN" altLang="en-US"/>
              <a:t>供求平衡</a:t>
            </a:r>
            <a:r>
              <a:rPr lang="en-US" altLang="zh-CN"/>
              <a:t>(</a:t>
            </a:r>
            <a:r>
              <a:rPr lang="zh-CN" altLang="en-US"/>
              <a:t>产销平衡</a:t>
            </a:r>
            <a:r>
              <a:rPr lang="en-US" altLang="zh-CN"/>
              <a:t>)</a:t>
            </a:r>
            <a:endParaRPr lang="zh-CN" altLang="en-US"/>
          </a:p>
          <a:p>
            <a:pPr lvl="1" eaLnBrk="1" hangingPunct="1"/>
            <a:r>
              <a:rPr lang="zh-CN" altLang="en-US"/>
              <a:t>闭回路法</a:t>
            </a:r>
            <a:r>
              <a:rPr lang="en-US" altLang="zh-CN"/>
              <a:t>(</a:t>
            </a:r>
            <a:r>
              <a:rPr lang="zh-CN" altLang="en-US"/>
              <a:t>检验最优解</a:t>
            </a:r>
            <a:r>
              <a:rPr lang="en-US" altLang="zh-CN"/>
              <a:t>)</a:t>
            </a:r>
            <a:endParaRPr lang="zh-CN" altLang="en-US"/>
          </a:p>
        </p:txBody>
      </p:sp>
      <p:sp>
        <p:nvSpPr>
          <p:cNvPr id="115716" name="Rectangle 4">
            <a:extLst>
              <a:ext uri="{FF2B5EF4-FFF2-40B4-BE49-F238E27FC236}">
                <a16:creationId xmlns:a16="http://schemas.microsoft.com/office/drawing/2014/main" id="{B8BF8C81-FB9E-4040-9504-75682E2EAD9B}"/>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5676" name="Group 92">
            <a:extLst>
              <a:ext uri="{FF2B5EF4-FFF2-40B4-BE49-F238E27FC236}">
                <a16:creationId xmlns:a16="http://schemas.microsoft.com/office/drawing/2014/main" id="{14AE8AD8-AD98-4F20-B772-6EF2120F95CF}"/>
              </a:ext>
            </a:extLst>
          </p:cNvPr>
          <p:cNvGraphicFramePr>
            <a:graphicFrameLocks noGrp="1"/>
          </p:cNvGraphicFramePr>
          <p:nvPr/>
        </p:nvGraphicFramePr>
        <p:xfrm>
          <a:off x="533400" y="2286000"/>
          <a:ext cx="7620000"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5175">
                  <a:extLst>
                    <a:ext uri="{9D8B030D-6E8A-4147-A177-3AD203B41FA5}">
                      <a16:colId xmlns:a16="http://schemas.microsoft.com/office/drawing/2014/main" val="20007"/>
                    </a:ext>
                  </a:extLst>
                </a:gridCol>
                <a:gridCol w="760412">
                  <a:extLst>
                    <a:ext uri="{9D8B030D-6E8A-4147-A177-3AD203B41FA5}">
                      <a16:colId xmlns:a16="http://schemas.microsoft.com/office/drawing/2014/main" val="20008"/>
                    </a:ext>
                  </a:extLst>
                </a:gridCol>
                <a:gridCol w="762000">
                  <a:extLst>
                    <a:ext uri="{9D8B030D-6E8A-4147-A177-3AD203B41FA5}">
                      <a16:colId xmlns:a16="http://schemas.microsoft.com/office/drawing/2014/main" val="20009"/>
                    </a:ext>
                  </a:extLst>
                </a:gridCol>
              </a:tblGrid>
              <a:tr h="533522">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rgbClr val="AFBF39"/>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AFBF3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AFBF39"/>
                    </a:solid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AFBF39"/>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rgbClr val="AFBF39"/>
                    </a:solid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32" name="组合 31">
            <a:extLst>
              <a:ext uri="{FF2B5EF4-FFF2-40B4-BE49-F238E27FC236}">
                <a16:creationId xmlns:a16="http://schemas.microsoft.com/office/drawing/2014/main" id="{B36E72C7-4669-47BD-9DC3-0EB47CB63724}"/>
              </a:ext>
            </a:extLst>
          </p:cNvPr>
          <p:cNvGrpSpPr>
            <a:grpSpLocks/>
          </p:cNvGrpSpPr>
          <p:nvPr/>
        </p:nvGrpSpPr>
        <p:grpSpPr bwMode="auto">
          <a:xfrm>
            <a:off x="1828800" y="2989263"/>
            <a:ext cx="4267200" cy="879475"/>
            <a:chOff x="1828800" y="3048000"/>
            <a:chExt cx="4267200" cy="879477"/>
          </a:xfrm>
        </p:grpSpPr>
        <p:sp>
          <p:nvSpPr>
            <p:cNvPr id="34" name="Rectangle 74">
              <a:extLst>
                <a:ext uri="{FF2B5EF4-FFF2-40B4-BE49-F238E27FC236}">
                  <a16:creationId xmlns:a16="http://schemas.microsoft.com/office/drawing/2014/main" id="{93400235-8ECF-4204-9CA3-4D9E80624F92}"/>
                </a:ext>
              </a:extLst>
            </p:cNvPr>
            <p:cNvSpPr>
              <a:spLocks noChangeArrowheads="1"/>
            </p:cNvSpPr>
            <p:nvPr/>
          </p:nvSpPr>
          <p:spPr bwMode="auto">
            <a:xfrm>
              <a:off x="2133600" y="3184525"/>
              <a:ext cx="498475" cy="471488"/>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1</a:t>
              </a:r>
              <a:r>
                <a:rPr lang="zh-CN" altLang="en-US" sz="2000" dirty="0">
                  <a:solidFill>
                    <a:srgbClr val="3333FF"/>
                  </a:solidFill>
                  <a:effectLst>
                    <a:outerShdw blurRad="38100" dist="38100" dir="2700000" algn="tl">
                      <a:srgbClr val="000000"/>
                    </a:outerShdw>
                  </a:effectLst>
                </a:rPr>
                <a:t>）</a:t>
              </a:r>
            </a:p>
          </p:txBody>
        </p:sp>
        <p:cxnSp>
          <p:nvCxnSpPr>
            <p:cNvPr id="35" name="直接箭头连接符 34">
              <a:extLst>
                <a:ext uri="{FF2B5EF4-FFF2-40B4-BE49-F238E27FC236}">
                  <a16:creationId xmlns:a16="http://schemas.microsoft.com/office/drawing/2014/main" id="{CADCCAA2-835C-4DDF-9812-81938ED63A35}"/>
                </a:ext>
              </a:extLst>
            </p:cNvPr>
            <p:cNvCxnSpPr>
              <a:cxnSpLocks/>
            </p:cNvCxnSpPr>
            <p:nvPr/>
          </p:nvCxnSpPr>
          <p:spPr>
            <a:xfrm>
              <a:off x="1828800" y="3048000"/>
              <a:ext cx="4267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F2A7B367-EF64-43FD-A61F-CF74431F03D8}"/>
                </a:ext>
              </a:extLst>
            </p:cNvPr>
            <p:cNvCxnSpPr>
              <a:cxnSpLocks/>
            </p:cNvCxnSpPr>
            <p:nvPr/>
          </p:nvCxnSpPr>
          <p:spPr>
            <a:xfrm>
              <a:off x="60960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13488D56-BF3F-4426-9A32-FBF12EFBC1D0}"/>
                </a:ext>
              </a:extLst>
            </p:cNvPr>
            <p:cNvCxnSpPr>
              <a:cxnSpLocks/>
            </p:cNvCxnSpPr>
            <p:nvPr/>
          </p:nvCxnSpPr>
          <p:spPr>
            <a:xfrm flipH="1">
              <a:off x="1828800" y="3927477"/>
              <a:ext cx="4267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40F1D467-1F34-4E24-AB99-6D7620E9107E}"/>
                </a:ext>
              </a:extLst>
            </p:cNvPr>
            <p:cNvCxnSpPr>
              <a:cxnSpLocks/>
            </p:cNvCxnSpPr>
            <p:nvPr/>
          </p:nvCxnSpPr>
          <p:spPr>
            <a:xfrm flipV="1">
              <a:off x="18288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组合 13">
            <a:extLst>
              <a:ext uri="{FF2B5EF4-FFF2-40B4-BE49-F238E27FC236}">
                <a16:creationId xmlns:a16="http://schemas.microsoft.com/office/drawing/2014/main" id="{EA5DC9B9-0C54-4538-B78D-73C0E7846535}"/>
              </a:ext>
            </a:extLst>
          </p:cNvPr>
          <p:cNvGrpSpPr>
            <a:grpSpLocks/>
          </p:cNvGrpSpPr>
          <p:nvPr/>
        </p:nvGrpSpPr>
        <p:grpSpPr bwMode="auto">
          <a:xfrm>
            <a:off x="2971800" y="3124200"/>
            <a:ext cx="3200400" cy="1447800"/>
            <a:chOff x="1828800" y="3048000"/>
            <a:chExt cx="3200400" cy="1447800"/>
          </a:xfrm>
        </p:grpSpPr>
        <p:sp>
          <p:nvSpPr>
            <p:cNvPr id="15" name="Rectangle 74">
              <a:extLst>
                <a:ext uri="{FF2B5EF4-FFF2-40B4-BE49-F238E27FC236}">
                  <a16:creationId xmlns:a16="http://schemas.microsoft.com/office/drawing/2014/main" id="{F6C61C29-68D8-4537-86F0-947D2919BC22}"/>
                </a:ext>
              </a:extLst>
            </p:cNvPr>
            <p:cNvSpPr>
              <a:spLocks noChangeArrowheads="1"/>
            </p:cNvSpPr>
            <p:nvPr/>
          </p:nvSpPr>
          <p:spPr bwMode="auto">
            <a:xfrm>
              <a:off x="1828800" y="4024313"/>
              <a:ext cx="498475" cy="471487"/>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5</a:t>
              </a:r>
              <a:r>
                <a:rPr lang="zh-CN" altLang="en-US" sz="2000" dirty="0">
                  <a:solidFill>
                    <a:srgbClr val="3333FF"/>
                  </a:solidFill>
                  <a:effectLst>
                    <a:outerShdw blurRad="38100" dist="38100" dir="2700000" algn="tl">
                      <a:srgbClr val="000000"/>
                    </a:outerShdw>
                  </a:effectLst>
                </a:rPr>
                <a:t>）</a:t>
              </a:r>
            </a:p>
          </p:txBody>
        </p:sp>
        <p:cxnSp>
          <p:nvCxnSpPr>
            <p:cNvPr id="16" name="直接箭头连接符 15">
              <a:extLst>
                <a:ext uri="{FF2B5EF4-FFF2-40B4-BE49-F238E27FC236}">
                  <a16:creationId xmlns:a16="http://schemas.microsoft.com/office/drawing/2014/main" id="{439106AC-603F-439A-B049-9606D39DDFD3}"/>
                </a:ext>
              </a:extLst>
            </p:cNvPr>
            <p:cNvCxnSpPr>
              <a:cxnSpLocks/>
            </p:cNvCxnSpPr>
            <p:nvPr/>
          </p:nvCxnSpPr>
          <p:spPr>
            <a:xfrm>
              <a:off x="1828800" y="3048000"/>
              <a:ext cx="32004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7E7AC68F-AC0B-4473-AA06-1C1E64E9FFF5}"/>
                </a:ext>
              </a:extLst>
            </p:cNvPr>
            <p:cNvCxnSpPr>
              <a:cxnSpLocks/>
            </p:cNvCxnSpPr>
            <p:nvPr/>
          </p:nvCxnSpPr>
          <p:spPr>
            <a:xfrm>
              <a:off x="5029200" y="3048000"/>
              <a:ext cx="0" cy="879475"/>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8AB672BD-6D19-4DB2-94D0-512D78097CE0}"/>
                </a:ext>
              </a:extLst>
            </p:cNvPr>
            <p:cNvCxnSpPr>
              <a:cxnSpLocks/>
            </p:cNvCxnSpPr>
            <p:nvPr/>
          </p:nvCxnSpPr>
          <p:spPr>
            <a:xfrm flipH="1">
              <a:off x="1828800" y="3927475"/>
              <a:ext cx="32004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8735F935-9C9D-4CB2-B87E-E8131B00ED68}"/>
                </a:ext>
              </a:extLst>
            </p:cNvPr>
            <p:cNvCxnSpPr>
              <a:cxnSpLocks/>
            </p:cNvCxnSpPr>
            <p:nvPr/>
          </p:nvCxnSpPr>
          <p:spPr>
            <a:xfrm flipV="1">
              <a:off x="1828800" y="3048000"/>
              <a:ext cx="0" cy="879475"/>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 name="组合 21">
            <a:extLst>
              <a:ext uri="{FF2B5EF4-FFF2-40B4-BE49-F238E27FC236}">
                <a16:creationId xmlns:a16="http://schemas.microsoft.com/office/drawing/2014/main" id="{6167F93A-F7BC-460D-827B-0F3F6F226138}"/>
              </a:ext>
            </a:extLst>
          </p:cNvPr>
          <p:cNvGrpSpPr>
            <a:grpSpLocks/>
          </p:cNvGrpSpPr>
          <p:nvPr/>
        </p:nvGrpSpPr>
        <p:grpSpPr bwMode="auto">
          <a:xfrm>
            <a:off x="4800600" y="2895600"/>
            <a:ext cx="1600200" cy="879475"/>
            <a:chOff x="1828800" y="3048000"/>
            <a:chExt cx="1600200" cy="879477"/>
          </a:xfrm>
        </p:grpSpPr>
        <p:sp>
          <p:nvSpPr>
            <p:cNvPr id="23" name="Rectangle 74">
              <a:extLst>
                <a:ext uri="{FF2B5EF4-FFF2-40B4-BE49-F238E27FC236}">
                  <a16:creationId xmlns:a16="http://schemas.microsoft.com/office/drawing/2014/main" id="{615D5208-737C-4276-AA53-C0315200F870}"/>
                </a:ext>
              </a:extLst>
            </p:cNvPr>
            <p:cNvSpPr>
              <a:spLocks noChangeArrowheads="1"/>
            </p:cNvSpPr>
            <p:nvPr/>
          </p:nvSpPr>
          <p:spPr bwMode="auto">
            <a:xfrm>
              <a:off x="2133600" y="3184525"/>
              <a:ext cx="498475" cy="471489"/>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FF0000"/>
                  </a:solidFill>
                  <a:effectLst>
                    <a:outerShdw blurRad="38100" dist="38100" dir="2700000" algn="tl">
                      <a:srgbClr val="000000"/>
                    </a:outerShdw>
                  </a:effectLst>
                </a:rPr>
                <a:t>（</a:t>
              </a:r>
              <a:r>
                <a:rPr lang="en-US" altLang="zh-CN" sz="2000" dirty="0">
                  <a:solidFill>
                    <a:srgbClr val="FF0000"/>
                  </a:solidFill>
                  <a:effectLst>
                    <a:outerShdw blurRad="38100" dist="38100" dir="2700000" algn="tl">
                      <a:srgbClr val="000000"/>
                    </a:outerShdw>
                  </a:effectLst>
                </a:rPr>
                <a:t>-3</a:t>
              </a:r>
              <a:r>
                <a:rPr lang="zh-CN" altLang="en-US" sz="2000" dirty="0">
                  <a:solidFill>
                    <a:srgbClr val="FF0000"/>
                  </a:solidFill>
                  <a:effectLst>
                    <a:outerShdw blurRad="38100" dist="38100" dir="2700000" algn="tl">
                      <a:srgbClr val="000000"/>
                    </a:outerShdw>
                  </a:effectLst>
                </a:rPr>
                <a:t>）</a:t>
              </a:r>
            </a:p>
          </p:txBody>
        </p:sp>
        <p:cxnSp>
          <p:nvCxnSpPr>
            <p:cNvPr id="24" name="直接箭头连接符 23">
              <a:extLst>
                <a:ext uri="{FF2B5EF4-FFF2-40B4-BE49-F238E27FC236}">
                  <a16:creationId xmlns:a16="http://schemas.microsoft.com/office/drawing/2014/main" id="{E655D7DA-3AE3-4609-940E-BCC8194F585C}"/>
                </a:ext>
              </a:extLst>
            </p:cNvPr>
            <p:cNvCxnSpPr>
              <a:cxnSpLocks/>
            </p:cNvCxnSpPr>
            <p:nvPr/>
          </p:nvCxnSpPr>
          <p:spPr>
            <a:xfrm>
              <a:off x="1828800" y="3048000"/>
              <a:ext cx="1600200"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直接箭头连接符 24">
              <a:extLst>
                <a:ext uri="{FF2B5EF4-FFF2-40B4-BE49-F238E27FC236}">
                  <a16:creationId xmlns:a16="http://schemas.microsoft.com/office/drawing/2014/main" id="{E7124F01-BB87-4C43-9CEB-A6B487262900}"/>
                </a:ext>
              </a:extLst>
            </p:cNvPr>
            <p:cNvCxnSpPr>
              <a:cxnSpLocks/>
            </p:cNvCxnSpPr>
            <p:nvPr/>
          </p:nvCxnSpPr>
          <p:spPr>
            <a:xfrm>
              <a:off x="3429000" y="3048000"/>
              <a:ext cx="0" cy="879477"/>
            </a:xfrm>
            <a:prstGeom prst="straightConnector1">
              <a:avLst/>
            </a:prstGeom>
            <a:ln>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箭头连接符 25">
              <a:extLst>
                <a:ext uri="{FF2B5EF4-FFF2-40B4-BE49-F238E27FC236}">
                  <a16:creationId xmlns:a16="http://schemas.microsoft.com/office/drawing/2014/main" id="{AF16EC5B-8338-4FA5-A976-FDCFC8895B4F}"/>
                </a:ext>
              </a:extLst>
            </p:cNvPr>
            <p:cNvCxnSpPr>
              <a:cxnSpLocks/>
            </p:cNvCxnSpPr>
            <p:nvPr/>
          </p:nvCxnSpPr>
          <p:spPr>
            <a:xfrm flipH="1">
              <a:off x="1828800" y="3924302"/>
              <a:ext cx="1600200" cy="3175"/>
            </a:xfrm>
            <a:prstGeom prst="straightConnector1">
              <a:avLst/>
            </a:prstGeom>
            <a:ln>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FCA44290-BF8C-4ED7-8D12-0BB49F856715}"/>
                </a:ext>
              </a:extLst>
            </p:cNvPr>
            <p:cNvCxnSpPr>
              <a:cxnSpLocks/>
            </p:cNvCxnSpPr>
            <p:nvPr/>
          </p:nvCxnSpPr>
          <p:spPr>
            <a:xfrm flipV="1">
              <a:off x="1828800" y="3048000"/>
              <a:ext cx="0" cy="87947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randombar(horizontal)">
                                      <p:cBhvr>
                                        <p:cTn id="7" dur="500"/>
                                        <p:tgtEl>
                                          <p:spTgt spid="3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randombar(horizontal)">
                                      <p:cBhvr>
                                        <p:cTn id="12" dur="500"/>
                                        <p:tgtEl>
                                          <p:spTgt spid="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randombar(horizontal)">
                                      <p:cBhvr>
                                        <p:cTn id="1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2">
            <a:extLst>
              <a:ext uri="{FF2B5EF4-FFF2-40B4-BE49-F238E27FC236}">
                <a16:creationId xmlns:a16="http://schemas.microsoft.com/office/drawing/2014/main" id="{390DBAAA-3D69-4E3D-9D3C-44AFD2FE780C}"/>
              </a:ext>
            </a:extLst>
          </p:cNvPr>
          <p:cNvSpPr>
            <a:spLocks noGrp="1" noChangeArrowheads="1"/>
          </p:cNvSpPr>
          <p:nvPr>
            <p:ph type="title"/>
          </p:nvPr>
        </p:nvSpPr>
        <p:spPr/>
        <p:txBody>
          <a:bodyPr/>
          <a:lstStyle/>
          <a:p>
            <a:pPr eaLnBrk="1" hangingPunct="1"/>
            <a:r>
              <a:rPr lang="zh-CN" altLang="en-US"/>
              <a:t>例子</a:t>
            </a:r>
          </a:p>
        </p:txBody>
      </p:sp>
      <p:sp>
        <p:nvSpPr>
          <p:cNvPr id="116739" name="Rectangle 3">
            <a:extLst>
              <a:ext uri="{FF2B5EF4-FFF2-40B4-BE49-F238E27FC236}">
                <a16:creationId xmlns:a16="http://schemas.microsoft.com/office/drawing/2014/main" id="{1001046A-6DD6-4364-B407-73D167EB48D3}"/>
              </a:ext>
            </a:extLst>
          </p:cNvPr>
          <p:cNvSpPr>
            <a:spLocks noGrp="1" noChangeArrowheads="1"/>
          </p:cNvSpPr>
          <p:nvPr>
            <p:ph type="body" sz="half" idx="1"/>
          </p:nvPr>
        </p:nvSpPr>
        <p:spPr>
          <a:xfrm>
            <a:off x="457200" y="1143000"/>
            <a:ext cx="7924800" cy="4987925"/>
          </a:xfrm>
        </p:spPr>
        <p:txBody>
          <a:bodyPr/>
          <a:lstStyle/>
          <a:p>
            <a:pPr eaLnBrk="1" hangingPunct="1"/>
            <a:r>
              <a:rPr lang="zh-CN" altLang="en-US" sz="3200"/>
              <a:t>供求平衡</a:t>
            </a:r>
            <a:r>
              <a:rPr lang="en-US" altLang="zh-CN" sz="3200"/>
              <a:t>(</a:t>
            </a:r>
            <a:r>
              <a:rPr lang="zh-CN" altLang="en-US" sz="3200"/>
              <a:t>产销平衡</a:t>
            </a:r>
            <a:r>
              <a:rPr lang="en-US" altLang="zh-CN" sz="3200"/>
              <a:t>)</a:t>
            </a:r>
            <a:endParaRPr lang="zh-CN" altLang="en-US" sz="3200"/>
          </a:p>
          <a:p>
            <a:pPr lvl="1" eaLnBrk="1" hangingPunct="1"/>
            <a:r>
              <a:rPr lang="zh-CN" altLang="en-US" sz="2800"/>
              <a:t>最优解</a:t>
            </a:r>
          </a:p>
        </p:txBody>
      </p:sp>
      <p:sp>
        <p:nvSpPr>
          <p:cNvPr id="116740" name="Rectangle 4">
            <a:extLst>
              <a:ext uri="{FF2B5EF4-FFF2-40B4-BE49-F238E27FC236}">
                <a16:creationId xmlns:a16="http://schemas.microsoft.com/office/drawing/2014/main" id="{71A6B317-0CAB-49CF-9744-1A2EE63ACBDB}"/>
              </a:ext>
            </a:extLst>
          </p:cNvPr>
          <p:cNvSpPr>
            <a:spLocks noChangeArrowheads="1"/>
          </p:cNvSpPr>
          <p:nvPr/>
        </p:nvSpPr>
        <p:spPr bwMode="auto">
          <a:xfrm>
            <a:off x="0" y="18764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aphicFrame>
        <p:nvGraphicFramePr>
          <p:cNvPr id="197722" name="Group 90">
            <a:extLst>
              <a:ext uri="{FF2B5EF4-FFF2-40B4-BE49-F238E27FC236}">
                <a16:creationId xmlns:a16="http://schemas.microsoft.com/office/drawing/2014/main" id="{C5F8D2D8-BD9E-468E-93D9-92F443CBC34C}"/>
              </a:ext>
            </a:extLst>
          </p:cNvPr>
          <p:cNvGraphicFramePr>
            <a:graphicFrameLocks noGrp="1"/>
          </p:cNvGraphicFramePr>
          <p:nvPr/>
        </p:nvGraphicFramePr>
        <p:xfrm>
          <a:off x="533400" y="2286000"/>
          <a:ext cx="7620000" cy="2778125"/>
        </p:xfrm>
        <a:graphic>
          <a:graphicData uri="http://schemas.openxmlformats.org/drawingml/2006/table">
            <a:tbl>
              <a:tblPr/>
              <a:tblGrid>
                <a:gridCol w="738188">
                  <a:extLst>
                    <a:ext uri="{9D8B030D-6E8A-4147-A177-3AD203B41FA5}">
                      <a16:colId xmlns:a16="http://schemas.microsoft.com/office/drawing/2014/main" val="20000"/>
                    </a:ext>
                  </a:extLst>
                </a:gridCol>
                <a:gridCol w="784225">
                  <a:extLst>
                    <a:ext uri="{9D8B030D-6E8A-4147-A177-3AD203B41FA5}">
                      <a16:colId xmlns:a16="http://schemas.microsoft.com/office/drawing/2014/main" val="20001"/>
                    </a:ext>
                  </a:extLst>
                </a:gridCol>
                <a:gridCol w="771525">
                  <a:extLst>
                    <a:ext uri="{9D8B030D-6E8A-4147-A177-3AD203B41FA5}">
                      <a16:colId xmlns:a16="http://schemas.microsoft.com/office/drawing/2014/main" val="20002"/>
                    </a:ext>
                  </a:extLst>
                </a:gridCol>
                <a:gridCol w="75406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gridCol w="762000">
                  <a:extLst>
                    <a:ext uri="{9D8B030D-6E8A-4147-A177-3AD203B41FA5}">
                      <a16:colId xmlns:a16="http://schemas.microsoft.com/office/drawing/2014/main" val="20005"/>
                    </a:ext>
                  </a:extLst>
                </a:gridCol>
                <a:gridCol w="760413">
                  <a:extLst>
                    <a:ext uri="{9D8B030D-6E8A-4147-A177-3AD203B41FA5}">
                      <a16:colId xmlns:a16="http://schemas.microsoft.com/office/drawing/2014/main" val="20006"/>
                    </a:ext>
                  </a:extLst>
                </a:gridCol>
                <a:gridCol w="763587">
                  <a:extLst>
                    <a:ext uri="{9D8B030D-6E8A-4147-A177-3AD203B41FA5}">
                      <a16:colId xmlns:a16="http://schemas.microsoft.com/office/drawing/2014/main" val="20007"/>
                    </a:ext>
                  </a:extLst>
                </a:gridCol>
                <a:gridCol w="762000">
                  <a:extLst>
                    <a:ext uri="{9D8B030D-6E8A-4147-A177-3AD203B41FA5}">
                      <a16:colId xmlns:a16="http://schemas.microsoft.com/office/drawing/2014/main" val="20008"/>
                    </a:ext>
                  </a:extLst>
                </a:gridCol>
                <a:gridCol w="762000">
                  <a:extLst>
                    <a:ext uri="{9D8B030D-6E8A-4147-A177-3AD203B41FA5}">
                      <a16:colId xmlns:a16="http://schemas.microsoft.com/office/drawing/2014/main" val="20009"/>
                    </a:ext>
                  </a:extLst>
                </a:gridCol>
              </a:tblGrid>
              <a:tr h="533522">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0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96330">
                <a:tc row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a:noFill/>
                    </a:lnB>
                    <a:lnTlToBr>
                      <a:noFill/>
                    </a:lnTlToBr>
                    <a:lnBlToTr>
                      <a:noFill/>
                    </a:lnBlToTr>
                    <a:noFill/>
                  </a:tcPr>
                </a:tc>
                <a:tc row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1"/>
                  </a:ext>
                </a:extLst>
              </a:tr>
              <a:tr h="519231">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endParaRPr kumimoji="0" lang="zh-CN"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396330">
                <a:tc row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0" i="0" u="none" strike="noStrike" cap="none" normalizeH="0" baseline="-25000" dirty="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400" b="0" i="0" u="none" strike="noStrike" cap="none" normalizeH="0" baseline="-2500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chemeClr val="folHlink"/>
                    </a:solidFill>
                  </a:tcPr>
                </a:tc>
                <a:tc row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25</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54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414433">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28575"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5</a:t>
                      </a:r>
                    </a:p>
                  </a:txBody>
                  <a:tcPr marT="45730" marB="45730"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chemeClr val="tx1"/>
                          </a:solidFill>
                          <a:effectLst/>
                          <a:latin typeface="Arial" panose="020B0604020202020204" pitchFamily="34" charset="0"/>
                          <a:ea typeface="宋体" panose="02010600030101010101" pitchFamily="2" charset="-122"/>
                        </a:rPr>
                        <a:t>10</a:t>
                      </a:r>
                    </a:p>
                  </a:txBody>
                  <a:tcPr marT="45730" marB="45730" anchor="ctr" horzOverflow="overflow">
                    <a:lnL>
                      <a:noFill/>
                    </a:lnL>
                    <a:lnR w="254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solidFill>
                      <a:schemeClr val="folHlink"/>
                    </a:solidFill>
                  </a:tcPr>
                </a:tc>
                <a:tc vMerge="1">
                  <a:txBody>
                    <a:bodyPr/>
                    <a:lstStyle/>
                    <a:p>
                      <a:endParaRPr lang="zh-CN" altLang="en-US"/>
                    </a:p>
                  </a:txBody>
                  <a:tcPr/>
                </a:tc>
                <a:extLst>
                  <a:ext uri="{0D108BD9-81ED-4DB2-BD59-A6C34878D82A}">
                    <a16:rowId xmlns:a16="http://schemas.microsoft.com/office/drawing/2014/main" val="10004"/>
                  </a:ext>
                </a:extLst>
              </a:tr>
              <a:tr h="518278">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8575"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gridSpan="2">
                  <a:txBody>
                    <a:bodyPr/>
                    <a:lstStyle>
                      <a:lvl1pPr marL="342900" indent="-342900"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10</a:t>
                      </a:r>
                      <a:endPar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w="25400" cap="flat" cmpd="sng" algn="ctr">
                      <a:solidFill>
                        <a:srgbClr val="000000"/>
                      </a:solidFill>
                      <a:prstDash val="solid"/>
                      <a:round/>
                      <a:headEnd type="none" w="med" len="med"/>
                      <a:tailEnd type="none" w="med" len="med"/>
                    </a:lnT>
                    <a:lnB>
                      <a:noFill/>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1"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T="45730" marB="4573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6" name="组合 5">
            <a:extLst>
              <a:ext uri="{FF2B5EF4-FFF2-40B4-BE49-F238E27FC236}">
                <a16:creationId xmlns:a16="http://schemas.microsoft.com/office/drawing/2014/main" id="{C67EC76D-01C1-4FF5-852C-115931536222}"/>
              </a:ext>
            </a:extLst>
          </p:cNvPr>
          <p:cNvGrpSpPr>
            <a:grpSpLocks/>
          </p:cNvGrpSpPr>
          <p:nvPr/>
        </p:nvGrpSpPr>
        <p:grpSpPr bwMode="auto">
          <a:xfrm>
            <a:off x="1828800" y="3048000"/>
            <a:ext cx="2743200" cy="879475"/>
            <a:chOff x="1828800" y="3048000"/>
            <a:chExt cx="2743200" cy="879477"/>
          </a:xfrm>
        </p:grpSpPr>
        <p:sp>
          <p:nvSpPr>
            <p:cNvPr id="7" name="Rectangle 74">
              <a:extLst>
                <a:ext uri="{FF2B5EF4-FFF2-40B4-BE49-F238E27FC236}">
                  <a16:creationId xmlns:a16="http://schemas.microsoft.com/office/drawing/2014/main" id="{50284AD1-319E-4023-B5E0-51BFD2AA3B1B}"/>
                </a:ext>
              </a:extLst>
            </p:cNvPr>
            <p:cNvSpPr>
              <a:spLocks noChangeArrowheads="1"/>
            </p:cNvSpPr>
            <p:nvPr/>
          </p:nvSpPr>
          <p:spPr bwMode="auto">
            <a:xfrm>
              <a:off x="2133600" y="3184525"/>
              <a:ext cx="498475" cy="471489"/>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4</a:t>
              </a:r>
              <a:r>
                <a:rPr lang="zh-CN" altLang="en-US" sz="2000" dirty="0">
                  <a:solidFill>
                    <a:srgbClr val="3333FF"/>
                  </a:solidFill>
                  <a:effectLst>
                    <a:outerShdw blurRad="38100" dist="38100" dir="2700000" algn="tl">
                      <a:srgbClr val="000000"/>
                    </a:outerShdw>
                  </a:effectLst>
                </a:rPr>
                <a:t>）</a:t>
              </a:r>
            </a:p>
          </p:txBody>
        </p:sp>
        <p:cxnSp>
          <p:nvCxnSpPr>
            <p:cNvPr id="8" name="直接箭头连接符 7">
              <a:extLst>
                <a:ext uri="{FF2B5EF4-FFF2-40B4-BE49-F238E27FC236}">
                  <a16:creationId xmlns:a16="http://schemas.microsoft.com/office/drawing/2014/main" id="{D69DEF83-62C4-4DCB-82B5-D0EC4E7947F8}"/>
                </a:ext>
              </a:extLst>
            </p:cNvPr>
            <p:cNvCxnSpPr>
              <a:cxnSpLocks/>
            </p:cNvCxnSpPr>
            <p:nvPr/>
          </p:nvCxnSpPr>
          <p:spPr>
            <a:xfrm>
              <a:off x="1828800" y="3048000"/>
              <a:ext cx="2743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40BFBA-E70C-4430-BB3A-84CDD39D202D}"/>
                </a:ext>
              </a:extLst>
            </p:cNvPr>
            <p:cNvCxnSpPr>
              <a:cxnSpLocks/>
            </p:cNvCxnSpPr>
            <p:nvPr/>
          </p:nvCxnSpPr>
          <p:spPr>
            <a:xfrm>
              <a:off x="45720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1699AECF-2E2E-41CF-B3AD-A4E4ADD5F54F}"/>
                </a:ext>
              </a:extLst>
            </p:cNvPr>
            <p:cNvCxnSpPr>
              <a:cxnSpLocks/>
            </p:cNvCxnSpPr>
            <p:nvPr/>
          </p:nvCxnSpPr>
          <p:spPr>
            <a:xfrm flipH="1">
              <a:off x="1828800" y="3927477"/>
              <a:ext cx="2743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31B3FB28-6847-4EA3-801E-F1567E2DBC53}"/>
                </a:ext>
              </a:extLst>
            </p:cNvPr>
            <p:cNvCxnSpPr>
              <a:cxnSpLocks/>
            </p:cNvCxnSpPr>
            <p:nvPr/>
          </p:nvCxnSpPr>
          <p:spPr>
            <a:xfrm flipV="1">
              <a:off x="18288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组合 13">
            <a:extLst>
              <a:ext uri="{FF2B5EF4-FFF2-40B4-BE49-F238E27FC236}">
                <a16:creationId xmlns:a16="http://schemas.microsoft.com/office/drawing/2014/main" id="{3CB94D85-06DB-47BC-8686-03E2128D71ED}"/>
              </a:ext>
            </a:extLst>
          </p:cNvPr>
          <p:cNvGrpSpPr>
            <a:grpSpLocks/>
          </p:cNvGrpSpPr>
          <p:nvPr/>
        </p:nvGrpSpPr>
        <p:grpSpPr bwMode="auto">
          <a:xfrm>
            <a:off x="3200400" y="3463925"/>
            <a:ext cx="1219200" cy="1031875"/>
            <a:chOff x="1828800" y="3048000"/>
            <a:chExt cx="1219200" cy="1031877"/>
          </a:xfrm>
        </p:grpSpPr>
        <p:sp>
          <p:nvSpPr>
            <p:cNvPr id="15" name="Rectangle 74">
              <a:extLst>
                <a:ext uri="{FF2B5EF4-FFF2-40B4-BE49-F238E27FC236}">
                  <a16:creationId xmlns:a16="http://schemas.microsoft.com/office/drawing/2014/main" id="{CBA8F434-C10C-495A-8AEC-6945BDF4EA59}"/>
                </a:ext>
              </a:extLst>
            </p:cNvPr>
            <p:cNvSpPr>
              <a:spLocks noChangeArrowheads="1"/>
            </p:cNvSpPr>
            <p:nvPr/>
          </p:nvSpPr>
          <p:spPr bwMode="auto">
            <a:xfrm>
              <a:off x="2133600" y="3608389"/>
              <a:ext cx="498475" cy="471488"/>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2</a:t>
              </a:r>
              <a:r>
                <a:rPr lang="zh-CN" altLang="en-US" sz="2000" dirty="0">
                  <a:solidFill>
                    <a:srgbClr val="3333FF"/>
                  </a:solidFill>
                  <a:effectLst>
                    <a:outerShdw blurRad="38100" dist="38100" dir="2700000" algn="tl">
                      <a:srgbClr val="000000"/>
                    </a:outerShdw>
                  </a:effectLst>
                </a:rPr>
                <a:t>）</a:t>
              </a:r>
            </a:p>
          </p:txBody>
        </p:sp>
        <p:cxnSp>
          <p:nvCxnSpPr>
            <p:cNvPr id="16" name="直接箭头连接符 15">
              <a:extLst>
                <a:ext uri="{FF2B5EF4-FFF2-40B4-BE49-F238E27FC236}">
                  <a16:creationId xmlns:a16="http://schemas.microsoft.com/office/drawing/2014/main" id="{E7977E15-652C-4F58-9346-B0553666BBF3}"/>
                </a:ext>
              </a:extLst>
            </p:cNvPr>
            <p:cNvCxnSpPr>
              <a:cxnSpLocks/>
            </p:cNvCxnSpPr>
            <p:nvPr/>
          </p:nvCxnSpPr>
          <p:spPr>
            <a:xfrm>
              <a:off x="1828800" y="3048000"/>
              <a:ext cx="1219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E5D0922D-AAC7-45A9-8FE8-A383B7C2615A}"/>
                </a:ext>
              </a:extLst>
            </p:cNvPr>
            <p:cNvCxnSpPr>
              <a:cxnSpLocks/>
            </p:cNvCxnSpPr>
            <p:nvPr/>
          </p:nvCxnSpPr>
          <p:spPr>
            <a:xfrm>
              <a:off x="30480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CD9CA86A-314C-4ADD-8C08-6EA7B7610EBC}"/>
                </a:ext>
              </a:extLst>
            </p:cNvPr>
            <p:cNvCxnSpPr>
              <a:cxnSpLocks/>
            </p:cNvCxnSpPr>
            <p:nvPr/>
          </p:nvCxnSpPr>
          <p:spPr>
            <a:xfrm flipH="1" flipV="1">
              <a:off x="1828800" y="3927477"/>
              <a:ext cx="1219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969D8001-AECF-4569-A008-A8B9B0C48E1A}"/>
                </a:ext>
              </a:extLst>
            </p:cNvPr>
            <p:cNvCxnSpPr>
              <a:cxnSpLocks/>
            </p:cNvCxnSpPr>
            <p:nvPr/>
          </p:nvCxnSpPr>
          <p:spPr>
            <a:xfrm flipV="1">
              <a:off x="18288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0" name="组合 19">
            <a:extLst>
              <a:ext uri="{FF2B5EF4-FFF2-40B4-BE49-F238E27FC236}">
                <a16:creationId xmlns:a16="http://schemas.microsoft.com/office/drawing/2014/main" id="{878E4B25-F832-4773-AEDD-CBBEAE2ED2B0}"/>
              </a:ext>
            </a:extLst>
          </p:cNvPr>
          <p:cNvGrpSpPr>
            <a:grpSpLocks/>
          </p:cNvGrpSpPr>
          <p:nvPr/>
        </p:nvGrpSpPr>
        <p:grpSpPr bwMode="auto">
          <a:xfrm>
            <a:off x="4876800" y="3048000"/>
            <a:ext cx="1752600" cy="879475"/>
            <a:chOff x="1828800" y="3048000"/>
            <a:chExt cx="1752600" cy="879477"/>
          </a:xfrm>
        </p:grpSpPr>
        <p:sp>
          <p:nvSpPr>
            <p:cNvPr id="21" name="Rectangle 74">
              <a:extLst>
                <a:ext uri="{FF2B5EF4-FFF2-40B4-BE49-F238E27FC236}">
                  <a16:creationId xmlns:a16="http://schemas.microsoft.com/office/drawing/2014/main" id="{62F08A7A-B99F-44CF-91AC-D9C008926333}"/>
                </a:ext>
              </a:extLst>
            </p:cNvPr>
            <p:cNvSpPr>
              <a:spLocks noChangeArrowheads="1"/>
            </p:cNvSpPr>
            <p:nvPr/>
          </p:nvSpPr>
          <p:spPr bwMode="auto">
            <a:xfrm>
              <a:off x="3082925" y="3276601"/>
              <a:ext cx="498475" cy="471489"/>
            </a:xfrm>
            <a:prstGeom prst="rect">
              <a:avLst/>
            </a:prstGeom>
            <a:noFill/>
            <a:ln w="9525">
              <a:noFill/>
              <a:miter lim="800000"/>
              <a:headEnd/>
              <a:tailEnd/>
            </a:ln>
            <a:effectLst/>
          </p:spPr>
          <p:txBody>
            <a:bodyPr wrap="none" anchor="ctr"/>
            <a:lstStyle/>
            <a:p>
              <a:pPr algn="ctr" eaLnBrk="1" hangingPunct="1">
                <a:defRPr/>
              </a:pPr>
              <a:r>
                <a:rPr lang="zh-CN" altLang="en-US" sz="2000" dirty="0">
                  <a:solidFill>
                    <a:srgbClr val="3333FF"/>
                  </a:solidFill>
                  <a:effectLst>
                    <a:outerShdw blurRad="38100" dist="38100" dir="2700000" algn="tl">
                      <a:srgbClr val="000000"/>
                    </a:outerShdw>
                  </a:effectLst>
                </a:rPr>
                <a:t>（</a:t>
              </a:r>
              <a:r>
                <a:rPr lang="en-US" altLang="zh-CN" sz="2000" dirty="0">
                  <a:solidFill>
                    <a:srgbClr val="3333FF"/>
                  </a:solidFill>
                  <a:effectLst>
                    <a:outerShdw blurRad="38100" dist="38100" dir="2700000" algn="tl">
                      <a:srgbClr val="000000"/>
                    </a:outerShdw>
                  </a:effectLst>
                </a:rPr>
                <a:t>3</a:t>
              </a:r>
              <a:r>
                <a:rPr lang="zh-CN" altLang="en-US" sz="2000" dirty="0">
                  <a:solidFill>
                    <a:srgbClr val="3333FF"/>
                  </a:solidFill>
                  <a:effectLst>
                    <a:outerShdw blurRad="38100" dist="38100" dir="2700000" algn="tl">
                      <a:srgbClr val="000000"/>
                    </a:outerShdw>
                  </a:effectLst>
                </a:rPr>
                <a:t>）</a:t>
              </a:r>
            </a:p>
          </p:txBody>
        </p:sp>
        <p:cxnSp>
          <p:nvCxnSpPr>
            <p:cNvPr id="22" name="直接箭头连接符 21">
              <a:extLst>
                <a:ext uri="{FF2B5EF4-FFF2-40B4-BE49-F238E27FC236}">
                  <a16:creationId xmlns:a16="http://schemas.microsoft.com/office/drawing/2014/main" id="{ECFB612C-154A-4C86-9A18-E2222DB8A0A7}"/>
                </a:ext>
              </a:extLst>
            </p:cNvPr>
            <p:cNvCxnSpPr>
              <a:cxnSpLocks/>
            </p:cNvCxnSpPr>
            <p:nvPr/>
          </p:nvCxnSpPr>
          <p:spPr>
            <a:xfrm>
              <a:off x="1828800" y="3048000"/>
              <a:ext cx="1219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id="{F72A9AF5-FAE8-45DF-84F2-746EC09C52BF}"/>
                </a:ext>
              </a:extLst>
            </p:cNvPr>
            <p:cNvCxnSpPr>
              <a:cxnSpLocks/>
            </p:cNvCxnSpPr>
            <p:nvPr/>
          </p:nvCxnSpPr>
          <p:spPr>
            <a:xfrm>
              <a:off x="30480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A2717879-45DB-4185-82B2-1A15571385D6}"/>
                </a:ext>
              </a:extLst>
            </p:cNvPr>
            <p:cNvCxnSpPr>
              <a:cxnSpLocks/>
            </p:cNvCxnSpPr>
            <p:nvPr/>
          </p:nvCxnSpPr>
          <p:spPr>
            <a:xfrm flipH="1" flipV="1">
              <a:off x="1828800" y="3927477"/>
              <a:ext cx="1219200" cy="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cxnSp>
          <p:nvCxnSpPr>
            <p:cNvPr id="25" name="直接箭头连接符 24">
              <a:extLst>
                <a:ext uri="{FF2B5EF4-FFF2-40B4-BE49-F238E27FC236}">
                  <a16:creationId xmlns:a16="http://schemas.microsoft.com/office/drawing/2014/main" id="{D7DBD8B1-40A2-474D-A2FC-39E2B66F990F}"/>
                </a:ext>
              </a:extLst>
            </p:cNvPr>
            <p:cNvCxnSpPr>
              <a:cxnSpLocks/>
            </p:cNvCxnSpPr>
            <p:nvPr/>
          </p:nvCxnSpPr>
          <p:spPr>
            <a:xfrm flipV="1">
              <a:off x="1828800" y="3048000"/>
              <a:ext cx="0" cy="879477"/>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randombar(horizontal)">
                                      <p:cBhvr>
                                        <p:cTn id="12" dur="500"/>
                                        <p:tgtEl>
                                          <p:spTgt spid="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randombar(horizontal)">
                                      <p:cBhvr>
                                        <p:cTn id="1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4">
            <a:extLst>
              <a:ext uri="{FF2B5EF4-FFF2-40B4-BE49-F238E27FC236}">
                <a16:creationId xmlns:a16="http://schemas.microsoft.com/office/drawing/2014/main" id="{5A63224B-7C5B-4FD2-8EB2-B57F3D7F9012}"/>
              </a:ext>
            </a:extLst>
          </p:cNvPr>
          <p:cNvSpPr>
            <a:spLocks noGrp="1" noChangeArrowheads="1"/>
          </p:cNvSpPr>
          <p:nvPr>
            <p:ph type="ctrTitle"/>
          </p:nvPr>
        </p:nvSpPr>
        <p:spPr/>
        <p:txBody>
          <a:bodyPr/>
          <a:lstStyle/>
          <a:p>
            <a:pPr eaLnBrk="1" hangingPunct="1"/>
            <a:r>
              <a:rPr lang="zh-CN" altLang="en-US"/>
              <a:t>第 </a:t>
            </a:r>
            <a:r>
              <a:rPr lang="en-US" altLang="zh-CN"/>
              <a:t>4 </a:t>
            </a:r>
            <a:r>
              <a:rPr lang="zh-CN" altLang="en-US"/>
              <a:t>节 </a:t>
            </a:r>
          </a:p>
        </p:txBody>
      </p:sp>
      <p:sp>
        <p:nvSpPr>
          <p:cNvPr id="117763" name="Rectangle 5">
            <a:extLst>
              <a:ext uri="{FF2B5EF4-FFF2-40B4-BE49-F238E27FC236}">
                <a16:creationId xmlns:a16="http://schemas.microsoft.com/office/drawing/2014/main" id="{B4B6ED4F-6D60-4E04-948D-E33EE570ABF5}"/>
              </a:ext>
            </a:extLst>
          </p:cNvPr>
          <p:cNvSpPr>
            <a:spLocks noGrp="1" noChangeArrowheads="1"/>
          </p:cNvSpPr>
          <p:nvPr>
            <p:ph type="subTitle" idx="1"/>
          </p:nvPr>
        </p:nvSpPr>
        <p:spPr/>
        <p:txBody>
          <a:bodyPr/>
          <a:lstStyle/>
          <a:p>
            <a:pPr eaLnBrk="1" hangingPunct="1"/>
            <a:r>
              <a:rPr lang="zh-CN" altLang="en-US" sz="4800"/>
              <a:t>运输问题的应用举例</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descr="Large confetti">
            <a:extLst>
              <a:ext uri="{FF2B5EF4-FFF2-40B4-BE49-F238E27FC236}">
                <a16:creationId xmlns:a16="http://schemas.microsoft.com/office/drawing/2014/main" id="{EDE047D5-37AB-403B-8643-F0D572F18410}"/>
              </a:ext>
            </a:extLst>
          </p:cNvPr>
          <p:cNvSpPr>
            <a:spLocks noGrp="1" noChangeArrowheads="1"/>
          </p:cNvSpPr>
          <p:nvPr>
            <p:ph type="title"/>
          </p:nvPr>
        </p:nvSpPr>
        <p:spPr/>
        <p:txBody>
          <a:bodyPr/>
          <a:lstStyle/>
          <a:p>
            <a:pPr eaLnBrk="1" hangingPunct="1"/>
            <a:r>
              <a:rPr lang="zh-CN" altLang="en-US"/>
              <a:t>生产与储存问题</a:t>
            </a:r>
          </a:p>
        </p:txBody>
      </p:sp>
      <p:sp>
        <p:nvSpPr>
          <p:cNvPr id="245764" name="Text Box 4">
            <a:extLst>
              <a:ext uri="{FF2B5EF4-FFF2-40B4-BE49-F238E27FC236}">
                <a16:creationId xmlns:a16="http://schemas.microsoft.com/office/drawing/2014/main" id="{B3307D85-99D2-453D-B3FD-856649B5E86C}"/>
              </a:ext>
            </a:extLst>
          </p:cNvPr>
          <p:cNvSpPr txBox="1">
            <a:spLocks noChangeArrowheads="1"/>
          </p:cNvSpPr>
          <p:nvPr/>
        </p:nvSpPr>
        <p:spPr bwMode="auto">
          <a:xfrm>
            <a:off x="457200" y="1600200"/>
            <a:ext cx="8208963" cy="1784350"/>
          </a:xfrm>
          <a:prstGeom prst="rect">
            <a:avLst/>
          </a:prstGeom>
          <a:solidFill>
            <a:schemeClr val="bg1"/>
          </a:solid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just" eaLnBrk="1" hangingPunct="1">
              <a:defRPr/>
            </a:pPr>
            <a:r>
              <a:rPr lang="zh-CN" altLang="en-US" sz="2200" dirty="0">
                <a:solidFill>
                  <a:schemeClr val="tx1"/>
                </a:solidFill>
                <a:latin typeface="+mn-ea"/>
                <a:ea typeface="+mn-ea"/>
              </a:rPr>
              <a:t>例</a:t>
            </a:r>
            <a:r>
              <a:rPr lang="en-US" altLang="zh-CN" sz="2200" dirty="0">
                <a:solidFill>
                  <a:schemeClr val="tx1"/>
                </a:solidFill>
                <a:latin typeface="+mn-ea"/>
                <a:ea typeface="+mn-ea"/>
              </a:rPr>
              <a:t>  </a:t>
            </a:r>
            <a:r>
              <a:rPr lang="zh-CN" altLang="en-US" sz="2200" dirty="0">
                <a:solidFill>
                  <a:schemeClr val="tx1"/>
                </a:solidFill>
                <a:latin typeface="+mn-ea"/>
                <a:ea typeface="+mn-ea"/>
              </a:rPr>
              <a:t>某厂按合同规定须于</a:t>
            </a:r>
            <a:r>
              <a:rPr lang="zh-CN" altLang="en-US" sz="2200" dirty="0">
                <a:solidFill>
                  <a:srgbClr val="0000FF"/>
                </a:solidFill>
                <a:latin typeface="+mn-ea"/>
                <a:ea typeface="+mn-ea"/>
              </a:rPr>
              <a:t>当年每个季度末分别提供</a:t>
            </a:r>
            <a:r>
              <a:rPr lang="en-US" altLang="zh-CN" sz="2200" dirty="0">
                <a:solidFill>
                  <a:srgbClr val="0000FF"/>
                </a:solidFill>
                <a:latin typeface="+mn-ea"/>
                <a:ea typeface="+mn-ea"/>
              </a:rPr>
              <a:t>10</a:t>
            </a:r>
            <a:r>
              <a:rPr lang="zh-CN" altLang="en-US" sz="2200" dirty="0">
                <a:solidFill>
                  <a:srgbClr val="0000FF"/>
                </a:solidFill>
                <a:latin typeface="+mn-ea"/>
                <a:ea typeface="+mn-ea"/>
              </a:rPr>
              <a:t>、</a:t>
            </a:r>
            <a:r>
              <a:rPr lang="en-US" altLang="zh-CN" sz="2200" dirty="0">
                <a:solidFill>
                  <a:srgbClr val="0000FF"/>
                </a:solidFill>
                <a:latin typeface="+mn-ea"/>
                <a:ea typeface="+mn-ea"/>
              </a:rPr>
              <a:t>15</a:t>
            </a:r>
            <a:r>
              <a:rPr lang="zh-CN" altLang="en-US" sz="2200" dirty="0">
                <a:solidFill>
                  <a:srgbClr val="0000FF"/>
                </a:solidFill>
                <a:latin typeface="+mn-ea"/>
                <a:ea typeface="+mn-ea"/>
              </a:rPr>
              <a:t>、</a:t>
            </a:r>
            <a:r>
              <a:rPr lang="en-US" altLang="zh-CN" sz="2200" dirty="0">
                <a:solidFill>
                  <a:srgbClr val="0000FF"/>
                </a:solidFill>
                <a:latin typeface="+mn-ea"/>
                <a:ea typeface="+mn-ea"/>
              </a:rPr>
              <a:t>25</a:t>
            </a:r>
            <a:r>
              <a:rPr lang="zh-CN" altLang="en-US" sz="2200" dirty="0">
                <a:solidFill>
                  <a:srgbClr val="0000FF"/>
                </a:solidFill>
                <a:latin typeface="+mn-ea"/>
                <a:ea typeface="+mn-ea"/>
              </a:rPr>
              <a:t>、</a:t>
            </a:r>
            <a:r>
              <a:rPr lang="en-US" altLang="zh-CN" sz="2200" dirty="0">
                <a:solidFill>
                  <a:srgbClr val="0000FF"/>
                </a:solidFill>
                <a:latin typeface="+mn-ea"/>
                <a:ea typeface="+mn-ea"/>
              </a:rPr>
              <a:t>20</a:t>
            </a:r>
            <a:r>
              <a:rPr lang="zh-CN" altLang="en-US" sz="2200" dirty="0">
                <a:solidFill>
                  <a:srgbClr val="0000FF"/>
                </a:solidFill>
                <a:latin typeface="+mn-ea"/>
                <a:ea typeface="+mn-ea"/>
              </a:rPr>
              <a:t>台同一规格的柴油机</a:t>
            </a:r>
            <a:r>
              <a:rPr lang="zh-CN" altLang="en-US" sz="2200" dirty="0">
                <a:solidFill>
                  <a:schemeClr val="tx1"/>
                </a:solidFill>
                <a:latin typeface="+mn-ea"/>
                <a:ea typeface="+mn-ea"/>
              </a:rPr>
              <a:t>。已知该厂各季度的生产能力及生产每台柴油机的成本如下表。如果生产出来的柴油机当季不交货，</a:t>
            </a:r>
            <a:r>
              <a:rPr lang="zh-CN" altLang="en-US" sz="2200" dirty="0">
                <a:solidFill>
                  <a:srgbClr val="FF00FF"/>
                </a:solidFill>
                <a:latin typeface="+mn-ea"/>
                <a:ea typeface="+mn-ea"/>
              </a:rPr>
              <a:t>每台每积压一个季度需储存、维护等费用</a:t>
            </a:r>
            <a:r>
              <a:rPr lang="en-US" altLang="zh-CN" sz="2200" dirty="0">
                <a:solidFill>
                  <a:srgbClr val="FF00FF"/>
                </a:solidFill>
                <a:latin typeface="+mn-ea"/>
                <a:ea typeface="+mn-ea"/>
              </a:rPr>
              <a:t>0.15</a:t>
            </a:r>
            <a:r>
              <a:rPr lang="zh-CN" altLang="en-US" sz="2200" dirty="0">
                <a:solidFill>
                  <a:srgbClr val="FF00FF"/>
                </a:solidFill>
                <a:latin typeface="+mn-ea"/>
                <a:ea typeface="+mn-ea"/>
              </a:rPr>
              <a:t>万元</a:t>
            </a:r>
            <a:r>
              <a:rPr lang="zh-CN" altLang="en-US" sz="2200" dirty="0">
                <a:solidFill>
                  <a:schemeClr val="tx1"/>
                </a:solidFill>
                <a:latin typeface="+mn-ea"/>
                <a:ea typeface="+mn-ea"/>
              </a:rPr>
              <a:t>。试求在完成合同的情况下，使该厂全年生产总费用为最小的</a:t>
            </a:r>
            <a:r>
              <a:rPr lang="zh-CN" altLang="en-US" sz="2200" dirty="0">
                <a:solidFill>
                  <a:srgbClr val="FF9900"/>
                </a:solidFill>
                <a:latin typeface="+mn-ea"/>
                <a:ea typeface="+mn-ea"/>
              </a:rPr>
              <a:t>决策方案</a:t>
            </a:r>
            <a:r>
              <a:rPr lang="zh-CN" altLang="en-US" sz="2200" dirty="0">
                <a:solidFill>
                  <a:schemeClr val="tx1"/>
                </a:solidFill>
                <a:latin typeface="+mn-ea"/>
                <a:ea typeface="+mn-ea"/>
              </a:rPr>
              <a:t>。</a:t>
            </a:r>
          </a:p>
        </p:txBody>
      </p:sp>
      <p:graphicFrame>
        <p:nvGraphicFramePr>
          <p:cNvPr id="215074" name="Group 34">
            <a:extLst>
              <a:ext uri="{FF2B5EF4-FFF2-40B4-BE49-F238E27FC236}">
                <a16:creationId xmlns:a16="http://schemas.microsoft.com/office/drawing/2014/main" id="{1AA96B6C-76AA-42AF-B1C5-75C0BC6DDCFC}"/>
              </a:ext>
            </a:extLst>
          </p:cNvPr>
          <p:cNvGraphicFramePr>
            <a:graphicFrameLocks noGrp="1"/>
          </p:cNvGraphicFramePr>
          <p:nvPr/>
        </p:nvGraphicFramePr>
        <p:xfrm>
          <a:off x="1066800" y="4024313"/>
          <a:ext cx="6216650" cy="2103437"/>
        </p:xfrm>
        <a:graphic>
          <a:graphicData uri="http://schemas.openxmlformats.org/drawingml/2006/table">
            <a:tbl>
              <a:tblPr/>
              <a:tblGrid>
                <a:gridCol w="2071688">
                  <a:extLst>
                    <a:ext uri="{9D8B030D-6E8A-4147-A177-3AD203B41FA5}">
                      <a16:colId xmlns:a16="http://schemas.microsoft.com/office/drawing/2014/main" val="20000"/>
                    </a:ext>
                  </a:extLst>
                </a:gridCol>
                <a:gridCol w="2073275">
                  <a:extLst>
                    <a:ext uri="{9D8B030D-6E8A-4147-A177-3AD203B41FA5}">
                      <a16:colId xmlns:a16="http://schemas.microsoft.com/office/drawing/2014/main" val="20001"/>
                    </a:ext>
                  </a:extLst>
                </a:gridCol>
                <a:gridCol w="2071687">
                  <a:extLst>
                    <a:ext uri="{9D8B030D-6E8A-4147-A177-3AD203B41FA5}">
                      <a16:colId xmlns:a16="http://schemas.microsoft.com/office/drawing/2014/main" val="20002"/>
                    </a:ext>
                  </a:extLst>
                </a:gridCol>
              </a:tblGrid>
              <a:tr h="420687">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itchFamily="18" charset="0"/>
                          <a:ea typeface="华文细黑" pitchFamily="2" charset="-122"/>
                        </a:rPr>
                        <a:t>季度</a:t>
                      </a: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dirty="0">
                          <a:ln>
                            <a:noFill/>
                          </a:ln>
                          <a:solidFill>
                            <a:srgbClr val="FF0000"/>
                          </a:solidFill>
                          <a:effectLst/>
                          <a:latin typeface="Times New Roman" pitchFamily="18" charset="0"/>
                          <a:ea typeface="华文细黑" pitchFamily="2" charset="-122"/>
                        </a:rPr>
                        <a:t>生产能力</a:t>
                      </a:r>
                      <a:r>
                        <a:rPr kumimoji="1" lang="en-US" altLang="zh-CN" sz="1800" b="1" i="0" u="none" strike="noStrike" cap="none" normalizeH="0" baseline="0" dirty="0">
                          <a:ln>
                            <a:noFill/>
                          </a:ln>
                          <a:solidFill>
                            <a:srgbClr val="FF0000"/>
                          </a:solidFill>
                          <a:effectLst/>
                          <a:latin typeface="Times New Roman" pitchFamily="18" charset="0"/>
                          <a:ea typeface="华文细黑" pitchFamily="2" charset="-122"/>
                        </a:rPr>
                        <a:t>/</a:t>
                      </a:r>
                      <a:r>
                        <a:rPr kumimoji="1" lang="zh-CN" altLang="en-US" sz="1800" b="1" i="0" u="none" strike="noStrike" cap="none" normalizeH="0" baseline="0" dirty="0">
                          <a:ln>
                            <a:noFill/>
                          </a:ln>
                          <a:solidFill>
                            <a:srgbClr val="FF0000"/>
                          </a:solidFill>
                          <a:effectLst/>
                          <a:latin typeface="Times New Roman" pitchFamily="18" charset="0"/>
                          <a:ea typeface="华文细黑" pitchFamily="2" charset="-122"/>
                        </a:rPr>
                        <a:t>台</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dirty="0">
                          <a:ln>
                            <a:noFill/>
                          </a:ln>
                          <a:solidFill>
                            <a:srgbClr val="FF00FF"/>
                          </a:solidFill>
                          <a:effectLst/>
                          <a:latin typeface="Times New Roman" pitchFamily="18" charset="0"/>
                          <a:ea typeface="华文细黑" pitchFamily="2" charset="-122"/>
                        </a:rPr>
                        <a:t>单位成本</a:t>
                      </a:r>
                      <a:r>
                        <a:rPr kumimoji="1" lang="en-US" altLang="zh-CN" sz="1800" b="1" i="0" u="none" strike="noStrike" cap="none" normalizeH="0" baseline="0" dirty="0">
                          <a:ln>
                            <a:noFill/>
                          </a:ln>
                          <a:solidFill>
                            <a:srgbClr val="FF00FF"/>
                          </a:solidFill>
                          <a:effectLst/>
                          <a:latin typeface="Times New Roman" pitchFamily="18" charset="0"/>
                          <a:ea typeface="华文细黑" pitchFamily="2" charset="-122"/>
                        </a:rPr>
                        <a:t>/</a:t>
                      </a:r>
                      <a:r>
                        <a:rPr kumimoji="1" lang="zh-CN" altLang="en-US" sz="1800" b="1" i="0" u="none" strike="noStrike" cap="none" normalizeH="0" baseline="0" dirty="0">
                          <a:ln>
                            <a:noFill/>
                          </a:ln>
                          <a:solidFill>
                            <a:srgbClr val="FF00FF"/>
                          </a:solidFill>
                          <a:effectLst/>
                          <a:latin typeface="Times New Roman" pitchFamily="18" charset="0"/>
                          <a:ea typeface="华文细黑" pitchFamily="2" charset="-122"/>
                        </a:rPr>
                        <a:t>万元</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0687">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itchFamily="18" charset="0"/>
                          <a:ea typeface="华文细黑" pitchFamily="2" charset="-122"/>
                        </a:rPr>
                        <a:t>Ⅰ</a:t>
                      </a: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itchFamily="18" charset="0"/>
                          <a:ea typeface="华文细黑" pitchFamily="2" charset="-122"/>
                        </a:rPr>
                        <a:t>25</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FF"/>
                          </a:solidFill>
                          <a:effectLst/>
                          <a:latin typeface="Times New Roman" pitchFamily="18" charset="0"/>
                          <a:ea typeface="华文细黑" pitchFamily="2" charset="-122"/>
                        </a:rPr>
                        <a:t>10.8</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20687">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itchFamily="18" charset="0"/>
                          <a:ea typeface="华文细黑" pitchFamily="2" charset="-122"/>
                        </a:rPr>
                        <a:t>Ⅱ</a:t>
                      </a: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itchFamily="18" charset="0"/>
                          <a:ea typeface="华文细黑" pitchFamily="2" charset="-122"/>
                        </a:rPr>
                        <a:t>35</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FF"/>
                          </a:solidFill>
                          <a:effectLst/>
                          <a:latin typeface="Times New Roman" pitchFamily="18" charset="0"/>
                          <a:ea typeface="华文细黑" pitchFamily="2" charset="-122"/>
                        </a:rPr>
                        <a:t>11.1</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20687">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itchFamily="18" charset="0"/>
                          <a:ea typeface="华文细黑" pitchFamily="2" charset="-122"/>
                        </a:rPr>
                        <a:t>Ⅲ</a:t>
                      </a: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itchFamily="18" charset="0"/>
                          <a:ea typeface="华文细黑" pitchFamily="2" charset="-122"/>
                        </a:rPr>
                        <a:t>30</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FF"/>
                          </a:solidFill>
                          <a:effectLst/>
                          <a:latin typeface="Times New Roman" pitchFamily="18" charset="0"/>
                          <a:ea typeface="华文细黑" pitchFamily="2" charset="-122"/>
                        </a:rPr>
                        <a:t>11</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20687">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itchFamily="18" charset="0"/>
                          <a:ea typeface="华文细黑" pitchFamily="2" charset="-122"/>
                        </a:rPr>
                        <a:t>Ⅳ</a:t>
                      </a: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itchFamily="18" charset="0"/>
                          <a:ea typeface="华文细黑" pitchFamily="2" charset="-122"/>
                        </a:rPr>
                        <a:t>10</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FF"/>
                          </a:solidFill>
                          <a:effectLst/>
                          <a:latin typeface="Times New Roman" pitchFamily="18" charset="0"/>
                          <a:ea typeface="华文细黑" pitchFamily="2" charset="-122"/>
                        </a:rPr>
                        <a:t>11.3</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grpSp>
        <p:nvGrpSpPr>
          <p:cNvPr id="27" name="组合 26">
            <a:extLst>
              <a:ext uri="{FF2B5EF4-FFF2-40B4-BE49-F238E27FC236}">
                <a16:creationId xmlns:a16="http://schemas.microsoft.com/office/drawing/2014/main" id="{B02FF714-0CCC-4B82-A0A3-AA1F9706433E}"/>
              </a:ext>
            </a:extLst>
          </p:cNvPr>
          <p:cNvGrpSpPr>
            <a:grpSpLocks/>
          </p:cNvGrpSpPr>
          <p:nvPr/>
        </p:nvGrpSpPr>
        <p:grpSpPr bwMode="auto">
          <a:xfrm>
            <a:off x="5257800" y="1154113"/>
            <a:ext cx="646113" cy="522287"/>
            <a:chOff x="5257800" y="925891"/>
            <a:chExt cx="646331" cy="521909"/>
          </a:xfrm>
        </p:grpSpPr>
        <p:sp>
          <p:nvSpPr>
            <p:cNvPr id="2" name="矩形 1">
              <a:extLst>
                <a:ext uri="{FF2B5EF4-FFF2-40B4-BE49-F238E27FC236}">
                  <a16:creationId xmlns:a16="http://schemas.microsoft.com/office/drawing/2014/main" id="{45EA6610-4982-41BF-AF79-6D01A7FED64A}"/>
                </a:ext>
              </a:extLst>
            </p:cNvPr>
            <p:cNvSpPr/>
            <p:nvPr/>
          </p:nvSpPr>
          <p:spPr>
            <a:xfrm>
              <a:off x="5257800" y="925891"/>
              <a:ext cx="646331" cy="369619"/>
            </a:xfrm>
            <a:prstGeom prst="rect">
              <a:avLst/>
            </a:prstGeom>
            <a:ln>
              <a:solidFill>
                <a:srgbClr val="0000FF"/>
              </a:solidFill>
            </a:ln>
          </p:spPr>
          <p:txBody>
            <a:bodyPr wrap="none">
              <a:spAutoFit/>
            </a:bodyPr>
            <a:lstStyle/>
            <a:p>
              <a:pPr>
                <a:defRPr/>
              </a:pPr>
              <a:r>
                <a:rPr lang="zh-CN" altLang="en-US" dirty="0">
                  <a:solidFill>
                    <a:srgbClr val="0000FF"/>
                  </a:solidFill>
                  <a:latin typeface="+mn-ea"/>
                </a:rPr>
                <a:t>销量</a:t>
              </a:r>
              <a:endParaRPr lang="zh-CN" altLang="en-US" dirty="0">
                <a:solidFill>
                  <a:srgbClr val="0000FF"/>
                </a:solidFill>
              </a:endParaRPr>
            </a:p>
          </p:txBody>
        </p:sp>
        <p:cxnSp>
          <p:nvCxnSpPr>
            <p:cNvPr id="7" name="直接箭头连接符 6">
              <a:extLst>
                <a:ext uri="{FF2B5EF4-FFF2-40B4-BE49-F238E27FC236}">
                  <a16:creationId xmlns:a16="http://schemas.microsoft.com/office/drawing/2014/main" id="{A1ADAC8C-3AF4-4652-9219-F9513847D8F8}"/>
                </a:ext>
              </a:extLst>
            </p:cNvPr>
            <p:cNvCxnSpPr>
              <a:cxnSpLocks/>
            </p:cNvCxnSpPr>
            <p:nvPr/>
          </p:nvCxnSpPr>
          <p:spPr>
            <a:xfrm flipV="1">
              <a:off x="5581759" y="1295510"/>
              <a:ext cx="0" cy="152290"/>
            </a:xfrm>
            <a:prstGeom prst="straightConnector1">
              <a:avLst/>
            </a:prstGeom>
            <a:ln>
              <a:solidFill>
                <a:srgbClr val="00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 name="组合 28">
            <a:extLst>
              <a:ext uri="{FF2B5EF4-FFF2-40B4-BE49-F238E27FC236}">
                <a16:creationId xmlns:a16="http://schemas.microsoft.com/office/drawing/2014/main" id="{84A3176C-ACBD-439B-A23B-E6158593F096}"/>
              </a:ext>
            </a:extLst>
          </p:cNvPr>
          <p:cNvGrpSpPr>
            <a:grpSpLocks/>
          </p:cNvGrpSpPr>
          <p:nvPr/>
        </p:nvGrpSpPr>
        <p:grpSpPr bwMode="auto">
          <a:xfrm>
            <a:off x="3867150" y="6045200"/>
            <a:ext cx="647700" cy="584200"/>
            <a:chOff x="3867834" y="5817145"/>
            <a:chExt cx="646331" cy="583801"/>
          </a:xfrm>
        </p:grpSpPr>
        <p:cxnSp>
          <p:nvCxnSpPr>
            <p:cNvPr id="12" name="直接箭头连接符 11">
              <a:extLst>
                <a:ext uri="{FF2B5EF4-FFF2-40B4-BE49-F238E27FC236}">
                  <a16:creationId xmlns:a16="http://schemas.microsoft.com/office/drawing/2014/main" id="{3B96FB8C-D3E4-4017-935D-E7B83FB7353C}"/>
                </a:ext>
              </a:extLst>
            </p:cNvPr>
            <p:cNvCxnSpPr>
              <a:cxnSpLocks/>
            </p:cNvCxnSpPr>
            <p:nvPr/>
          </p:nvCxnSpPr>
          <p:spPr>
            <a:xfrm>
              <a:off x="4191000" y="5817145"/>
              <a:ext cx="0" cy="20306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矩形 14">
              <a:extLst>
                <a:ext uri="{FF2B5EF4-FFF2-40B4-BE49-F238E27FC236}">
                  <a16:creationId xmlns:a16="http://schemas.microsoft.com/office/drawing/2014/main" id="{F6FF7282-6B5F-428E-8B5C-C795EE524DF4}"/>
                </a:ext>
              </a:extLst>
            </p:cNvPr>
            <p:cNvSpPr/>
            <p:nvPr/>
          </p:nvSpPr>
          <p:spPr>
            <a:xfrm>
              <a:off x="3867834" y="6031312"/>
              <a:ext cx="646331" cy="369634"/>
            </a:xfrm>
            <a:prstGeom prst="rect">
              <a:avLst/>
            </a:prstGeom>
            <a:ln>
              <a:solidFill>
                <a:srgbClr val="FF0000"/>
              </a:solidFill>
            </a:ln>
          </p:spPr>
          <p:txBody>
            <a:bodyPr wrap="none">
              <a:spAutoFit/>
            </a:bodyPr>
            <a:lstStyle/>
            <a:p>
              <a:pPr>
                <a:defRPr/>
              </a:pPr>
              <a:r>
                <a:rPr lang="zh-CN" altLang="en-US" dirty="0">
                  <a:solidFill>
                    <a:srgbClr val="FF0000"/>
                  </a:solidFill>
                  <a:latin typeface="+mn-ea"/>
                </a:rPr>
                <a:t>产量</a:t>
              </a:r>
              <a:endParaRPr lang="zh-CN" altLang="en-US" dirty="0">
                <a:solidFill>
                  <a:srgbClr val="FF0000"/>
                </a:solidFill>
              </a:endParaRPr>
            </a:p>
          </p:txBody>
        </p:sp>
      </p:grpSp>
      <p:cxnSp>
        <p:nvCxnSpPr>
          <p:cNvPr id="17" name="直接箭头连接符 16">
            <a:extLst>
              <a:ext uri="{FF2B5EF4-FFF2-40B4-BE49-F238E27FC236}">
                <a16:creationId xmlns:a16="http://schemas.microsoft.com/office/drawing/2014/main" id="{4A45CF43-B41B-4475-820D-899156EE1368}"/>
              </a:ext>
            </a:extLst>
          </p:cNvPr>
          <p:cNvCxnSpPr>
            <a:cxnSpLocks/>
            <a:endCxn id="16" idx="0"/>
          </p:cNvCxnSpPr>
          <p:nvPr/>
        </p:nvCxnSpPr>
        <p:spPr>
          <a:xfrm>
            <a:off x="5811838" y="3014663"/>
            <a:ext cx="0" cy="490537"/>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nvGrpSpPr>
          <p:cNvPr id="36" name="组合 35">
            <a:extLst>
              <a:ext uri="{FF2B5EF4-FFF2-40B4-BE49-F238E27FC236}">
                <a16:creationId xmlns:a16="http://schemas.microsoft.com/office/drawing/2014/main" id="{B8041A97-FBA5-402A-B14B-C0F718C602EC}"/>
              </a:ext>
            </a:extLst>
          </p:cNvPr>
          <p:cNvGrpSpPr>
            <a:grpSpLocks/>
          </p:cNvGrpSpPr>
          <p:nvPr/>
        </p:nvGrpSpPr>
        <p:grpSpPr bwMode="auto">
          <a:xfrm>
            <a:off x="5257800" y="3505200"/>
            <a:ext cx="1108075" cy="609600"/>
            <a:chOff x="5257800" y="3276600"/>
            <a:chExt cx="1107996" cy="609600"/>
          </a:xfrm>
        </p:grpSpPr>
        <p:sp>
          <p:nvSpPr>
            <p:cNvPr id="16" name="矩形 15">
              <a:extLst>
                <a:ext uri="{FF2B5EF4-FFF2-40B4-BE49-F238E27FC236}">
                  <a16:creationId xmlns:a16="http://schemas.microsoft.com/office/drawing/2014/main" id="{E9A3462E-79FD-4F63-BE6D-72EB75F01715}"/>
                </a:ext>
              </a:extLst>
            </p:cNvPr>
            <p:cNvSpPr/>
            <p:nvPr/>
          </p:nvSpPr>
          <p:spPr>
            <a:xfrm>
              <a:off x="5257800" y="3276600"/>
              <a:ext cx="1107996" cy="369888"/>
            </a:xfrm>
            <a:prstGeom prst="rect">
              <a:avLst/>
            </a:prstGeom>
            <a:ln>
              <a:solidFill>
                <a:srgbClr val="FF00FF"/>
              </a:solidFill>
            </a:ln>
          </p:spPr>
          <p:txBody>
            <a:bodyPr>
              <a:spAutoFit/>
            </a:bodyPr>
            <a:lstStyle/>
            <a:p>
              <a:pPr>
                <a:defRPr/>
              </a:pPr>
              <a:r>
                <a:rPr lang="zh-CN" altLang="en-US" dirty="0">
                  <a:solidFill>
                    <a:srgbClr val="FF00FF"/>
                  </a:solidFill>
                  <a:latin typeface="+mn-ea"/>
                </a:rPr>
                <a:t>单位运价</a:t>
              </a:r>
              <a:endParaRPr lang="zh-CN" altLang="en-US" dirty="0">
                <a:solidFill>
                  <a:srgbClr val="FF00FF"/>
                </a:solidFill>
              </a:endParaRPr>
            </a:p>
          </p:txBody>
        </p:sp>
        <p:cxnSp>
          <p:nvCxnSpPr>
            <p:cNvPr id="20" name="直接箭头连接符 19">
              <a:extLst>
                <a:ext uri="{FF2B5EF4-FFF2-40B4-BE49-F238E27FC236}">
                  <a16:creationId xmlns:a16="http://schemas.microsoft.com/office/drawing/2014/main" id="{87DDEFA8-096D-4F27-831F-19B7CC856AFE}"/>
                </a:ext>
              </a:extLst>
            </p:cNvPr>
            <p:cNvCxnSpPr>
              <a:cxnSpLocks/>
            </p:cNvCxnSpPr>
            <p:nvPr/>
          </p:nvCxnSpPr>
          <p:spPr>
            <a:xfrm flipV="1">
              <a:off x="5867357" y="3649663"/>
              <a:ext cx="0" cy="236537"/>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2" name="组合 31">
            <a:extLst>
              <a:ext uri="{FF2B5EF4-FFF2-40B4-BE49-F238E27FC236}">
                <a16:creationId xmlns:a16="http://schemas.microsoft.com/office/drawing/2014/main" id="{90D644BA-81C4-45F3-94D1-4C63A7FB5FD8}"/>
              </a:ext>
            </a:extLst>
          </p:cNvPr>
          <p:cNvGrpSpPr>
            <a:grpSpLocks/>
          </p:cNvGrpSpPr>
          <p:nvPr/>
        </p:nvGrpSpPr>
        <p:grpSpPr bwMode="auto">
          <a:xfrm>
            <a:off x="6953250" y="3014663"/>
            <a:ext cx="1084263" cy="369887"/>
            <a:chOff x="6952568" y="2786618"/>
            <a:chExt cx="1085163" cy="369332"/>
          </a:xfrm>
        </p:grpSpPr>
        <p:sp>
          <p:nvSpPr>
            <p:cNvPr id="28" name="矩形 27">
              <a:extLst>
                <a:ext uri="{FF2B5EF4-FFF2-40B4-BE49-F238E27FC236}">
                  <a16:creationId xmlns:a16="http://schemas.microsoft.com/office/drawing/2014/main" id="{507410A5-5599-4E25-8FD0-BD26A598368A}"/>
                </a:ext>
              </a:extLst>
            </p:cNvPr>
            <p:cNvSpPr/>
            <p:nvPr/>
          </p:nvSpPr>
          <p:spPr>
            <a:xfrm>
              <a:off x="7391082" y="2786618"/>
              <a:ext cx="646649" cy="369332"/>
            </a:xfrm>
            <a:prstGeom prst="rect">
              <a:avLst/>
            </a:prstGeom>
            <a:ln>
              <a:solidFill>
                <a:srgbClr val="FF9900"/>
              </a:solidFill>
            </a:ln>
          </p:spPr>
          <p:txBody>
            <a:bodyPr wrap="none">
              <a:spAutoFit/>
            </a:bodyPr>
            <a:lstStyle/>
            <a:p>
              <a:pPr>
                <a:defRPr/>
              </a:pPr>
              <a:r>
                <a:rPr lang="zh-CN" altLang="en-US" dirty="0">
                  <a:solidFill>
                    <a:srgbClr val="FF9900"/>
                  </a:solidFill>
                  <a:latin typeface="+mn-ea"/>
                </a:rPr>
                <a:t>运费</a:t>
              </a:r>
              <a:endParaRPr lang="zh-CN" altLang="en-US" dirty="0">
                <a:solidFill>
                  <a:srgbClr val="FF9900"/>
                </a:solidFill>
              </a:endParaRPr>
            </a:p>
          </p:txBody>
        </p:sp>
        <p:cxnSp>
          <p:nvCxnSpPr>
            <p:cNvPr id="30" name="直接箭头连接符 29">
              <a:extLst>
                <a:ext uri="{FF2B5EF4-FFF2-40B4-BE49-F238E27FC236}">
                  <a16:creationId xmlns:a16="http://schemas.microsoft.com/office/drawing/2014/main" id="{0C455C23-51A8-459A-87F9-73993622712F}"/>
                </a:ext>
              </a:extLst>
            </p:cNvPr>
            <p:cNvCxnSpPr>
              <a:cxnSpLocks/>
            </p:cNvCxnSpPr>
            <p:nvPr/>
          </p:nvCxnSpPr>
          <p:spPr>
            <a:xfrm flipV="1">
              <a:off x="6952568" y="2951470"/>
              <a:ext cx="438514" cy="4755"/>
            </a:xfrm>
            <a:prstGeom prst="straightConnector1">
              <a:avLst/>
            </a:prstGeom>
            <a:ln>
              <a:solidFill>
                <a:srgbClr val="FF99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 name="组合 5">
            <a:extLst>
              <a:ext uri="{FF2B5EF4-FFF2-40B4-BE49-F238E27FC236}">
                <a16:creationId xmlns:a16="http://schemas.microsoft.com/office/drawing/2014/main" id="{13468F23-A26C-4A26-901F-BDB7D7427CF7}"/>
              </a:ext>
            </a:extLst>
          </p:cNvPr>
          <p:cNvGrpSpPr>
            <a:grpSpLocks/>
          </p:cNvGrpSpPr>
          <p:nvPr/>
        </p:nvGrpSpPr>
        <p:grpSpPr bwMode="auto">
          <a:xfrm>
            <a:off x="4514850" y="0"/>
            <a:ext cx="4495800" cy="1631950"/>
            <a:chOff x="4514850" y="0"/>
            <a:chExt cx="4495800" cy="1631871"/>
          </a:xfrm>
        </p:grpSpPr>
        <p:graphicFrame>
          <p:nvGraphicFramePr>
            <p:cNvPr id="118820" name="对象 17">
              <a:extLst>
                <a:ext uri="{FF2B5EF4-FFF2-40B4-BE49-F238E27FC236}">
                  <a16:creationId xmlns:a16="http://schemas.microsoft.com/office/drawing/2014/main" id="{55753EB1-D40E-4704-9DA9-F501DE7C5301}"/>
                </a:ext>
              </a:extLst>
            </p:cNvPr>
            <p:cNvGraphicFramePr>
              <a:graphicFrameLocks noChangeAspect="1"/>
            </p:cNvGraphicFramePr>
            <p:nvPr/>
          </p:nvGraphicFramePr>
          <p:xfrm>
            <a:off x="7075363" y="0"/>
            <a:ext cx="1935287" cy="1631871"/>
          </p:xfrm>
          <a:graphic>
            <a:graphicData uri="http://schemas.openxmlformats.org/presentationml/2006/ole">
              <mc:AlternateContent xmlns:mc="http://schemas.openxmlformats.org/markup-compatibility/2006">
                <mc:Choice xmlns:v="urn:schemas-microsoft-com:vml" Requires="v">
                  <p:oleObj spid="_x0000_s118837" name="Equation" r:id="rId3" imgW="1295400" imgH="1092200" progId="Equation.DSMT4">
                    <p:embed/>
                  </p:oleObj>
                </mc:Choice>
                <mc:Fallback>
                  <p:oleObj name="Equation" r:id="rId3" imgW="1295400" imgH="1092200" progId="Equation.DSMT4">
                    <p:embed/>
                    <p:pic>
                      <p:nvPicPr>
                        <p:cNvPr id="0" name="对象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75363" y="0"/>
                          <a:ext cx="1935287" cy="1631871"/>
                        </a:xfrm>
                        <a:prstGeom prst="rect">
                          <a:avLst/>
                        </a:prstGeom>
                        <a:solidFill>
                          <a:srgbClr val="FFC000"/>
                        </a:solidFill>
                        <a:ln w="9525">
                          <a:solidFill>
                            <a:srgbClr val="FF00FF"/>
                          </a:solidFill>
                          <a:miter lim="800000"/>
                          <a:headEnd/>
                          <a:tailEnd/>
                        </a:ln>
                      </p:spPr>
                    </p:pic>
                  </p:oleObj>
                </mc:Fallback>
              </mc:AlternateContent>
            </a:graphicData>
          </a:graphic>
        </p:graphicFrame>
        <p:sp>
          <p:nvSpPr>
            <p:cNvPr id="21" name="箭头: 下 20">
              <a:extLst>
                <a:ext uri="{FF2B5EF4-FFF2-40B4-BE49-F238E27FC236}">
                  <a16:creationId xmlns:a16="http://schemas.microsoft.com/office/drawing/2014/main" id="{A6CD7E7A-9CDC-4CD7-B397-46074733024A}"/>
                </a:ext>
              </a:extLst>
            </p:cNvPr>
            <p:cNvSpPr/>
            <p:nvPr/>
          </p:nvSpPr>
          <p:spPr bwMode="auto">
            <a:xfrm rot="16200000">
              <a:off x="4733934" y="130149"/>
              <a:ext cx="380982" cy="8191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18822" name="矩形 4">
              <a:extLst>
                <a:ext uri="{FF2B5EF4-FFF2-40B4-BE49-F238E27FC236}">
                  <a16:creationId xmlns:a16="http://schemas.microsoft.com/office/drawing/2014/main" id="{881E9439-226D-4CDA-9AEB-91D2D281D338}"/>
                </a:ext>
              </a:extLst>
            </p:cNvPr>
            <p:cNvSpPr>
              <a:spLocks noChangeArrowheads="1"/>
            </p:cNvSpPr>
            <p:nvPr/>
          </p:nvSpPr>
          <p:spPr bwMode="auto">
            <a:xfrm>
              <a:off x="5428995" y="197316"/>
              <a:ext cx="1551373" cy="646331"/>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t>产销不平衡运输问题</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randombar(horizontal)">
                                      <p:cBhvr>
                                        <p:cTn id="12" dur="500"/>
                                        <p:tgtEl>
                                          <p:spTgt spid="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randombar(horizontal)">
                                      <p:cBhvr>
                                        <p:cTn id="17" dur="500"/>
                                        <p:tgtEl>
                                          <p:spTgt spid="2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randombar(horizontal)">
                                      <p:cBhvr>
                                        <p:cTn id="22" dur="500"/>
                                        <p:tgtEl>
                                          <p:spTgt spid="3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randombar(horizontal)">
                                      <p:cBhvr>
                                        <p:cTn id="27" dur="500"/>
                                        <p:tgtEl>
                                          <p:spTgt spid="1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4" presetClass="entr" presetSubtype="10" fill="hold" nodeType="clickEffect">
                                  <p:stCondLst>
                                    <p:cond delay="0"/>
                                  </p:stCondLst>
                                  <p:childTnLst>
                                    <p:set>
                                      <p:cBhvr>
                                        <p:cTn id="31" dur="1" fill="hold">
                                          <p:stCondLst>
                                            <p:cond delay="0"/>
                                          </p:stCondLst>
                                        </p:cTn>
                                        <p:tgtEl>
                                          <p:spTgt spid="32"/>
                                        </p:tgtEl>
                                        <p:attrNameLst>
                                          <p:attrName>style.visibility</p:attrName>
                                        </p:attrNameLst>
                                      </p:cBhvr>
                                      <p:to>
                                        <p:strVal val="visible"/>
                                      </p:to>
                                    </p:set>
                                    <p:animEffect transition="in" filter="randombar(horizontal)">
                                      <p:cBhvr>
                                        <p:cTn id="3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9810" name="Rectangle 2" descr="Large confetti">
            <a:extLst>
              <a:ext uri="{FF2B5EF4-FFF2-40B4-BE49-F238E27FC236}">
                <a16:creationId xmlns:a16="http://schemas.microsoft.com/office/drawing/2014/main" id="{C8100458-9C69-4B71-B9F7-1893FC52FC72}"/>
              </a:ext>
            </a:extLst>
          </p:cNvPr>
          <p:cNvSpPr>
            <a:spLocks noGrp="1" noChangeArrowheads="1"/>
          </p:cNvSpPr>
          <p:nvPr>
            <p:ph type="title"/>
          </p:nvPr>
        </p:nvSpPr>
        <p:spPr/>
        <p:txBody>
          <a:bodyPr/>
          <a:lstStyle/>
          <a:p>
            <a:pPr eaLnBrk="1" hangingPunct="1"/>
            <a:r>
              <a:rPr lang="zh-CN" altLang="en-US"/>
              <a:t>生产与储存问题</a:t>
            </a:r>
          </a:p>
        </p:txBody>
      </p:sp>
      <p:sp>
        <p:nvSpPr>
          <p:cNvPr id="119811" name="Rectangle 3">
            <a:extLst>
              <a:ext uri="{FF2B5EF4-FFF2-40B4-BE49-F238E27FC236}">
                <a16:creationId xmlns:a16="http://schemas.microsoft.com/office/drawing/2014/main" id="{A976C67F-6DA4-4B1B-8372-C8BBD9B0FCAD}"/>
              </a:ext>
            </a:extLst>
          </p:cNvPr>
          <p:cNvSpPr>
            <a:spLocks noGrp="1" noChangeArrowheads="1"/>
          </p:cNvSpPr>
          <p:nvPr>
            <p:ph idx="1"/>
          </p:nvPr>
        </p:nvSpPr>
        <p:spPr>
          <a:xfrm>
            <a:off x="477838" y="1128713"/>
            <a:ext cx="8208962" cy="812800"/>
          </a:xfrm>
        </p:spPr>
        <p:txBody>
          <a:bodyPr/>
          <a:lstStyle/>
          <a:p>
            <a:pPr defTabSz="719138" eaLnBrk="1" hangingPunct="1">
              <a:spcBef>
                <a:spcPct val="0"/>
              </a:spcBef>
              <a:tabLst>
                <a:tab pos="1338263" algn="l"/>
              </a:tabLst>
            </a:pPr>
            <a:r>
              <a:rPr lang="zh-CN" altLang="en-US" sz="2200">
                <a:solidFill>
                  <a:srgbClr val="A50021"/>
                </a:solidFill>
              </a:rPr>
              <a:t>解：</a:t>
            </a:r>
            <a:r>
              <a:rPr lang="zh-CN" altLang="en-US" sz="2200"/>
              <a:t> </a:t>
            </a:r>
            <a:r>
              <a:rPr lang="zh-CN" altLang="en-US" sz="2200">
                <a:latin typeface="Times New Roman" panose="02020603050405020304" pitchFamily="18" charset="0"/>
                <a:cs typeface="Times New Roman" panose="02020603050405020304" pitchFamily="18" charset="0"/>
              </a:rPr>
              <a:t>设 </a:t>
            </a:r>
            <a:r>
              <a:rPr lang="en-US" altLang="zh-CN" sz="2200" i="1">
                <a:latin typeface="Times New Roman" panose="02020603050405020304" pitchFamily="18" charset="0"/>
                <a:cs typeface="Times New Roman" panose="02020603050405020304" pitchFamily="18" charset="0"/>
              </a:rPr>
              <a:t>x</a:t>
            </a:r>
            <a:r>
              <a:rPr lang="en-US" altLang="zh-CN" sz="2200" i="1" baseline="-25000">
                <a:latin typeface="Times New Roman" panose="02020603050405020304" pitchFamily="18" charset="0"/>
                <a:cs typeface="Times New Roman" panose="02020603050405020304" pitchFamily="18" charset="0"/>
              </a:rPr>
              <a:t>ij</a:t>
            </a:r>
            <a:r>
              <a:rPr lang="zh-CN" altLang="en-US" sz="2200">
                <a:latin typeface="Times New Roman" panose="02020603050405020304" pitchFamily="18" charset="0"/>
                <a:cs typeface="Times New Roman" panose="02020603050405020304" pitchFamily="18" charset="0"/>
              </a:rPr>
              <a:t>为第 </a:t>
            </a:r>
            <a:r>
              <a:rPr lang="en-US" altLang="zh-CN" sz="2200" i="1">
                <a:latin typeface="Times New Roman" panose="02020603050405020304" pitchFamily="18" charset="0"/>
                <a:cs typeface="Times New Roman" panose="02020603050405020304" pitchFamily="18" charset="0"/>
              </a:rPr>
              <a:t>i</a:t>
            </a:r>
            <a:r>
              <a:rPr lang="en-US" altLang="zh-CN" sz="2200">
                <a:latin typeface="Times New Roman" panose="02020603050405020304" pitchFamily="18" charset="0"/>
                <a:cs typeface="Times New Roman" panose="02020603050405020304" pitchFamily="18" charset="0"/>
              </a:rPr>
              <a:t> </a:t>
            </a:r>
            <a:r>
              <a:rPr lang="zh-CN" altLang="en-US" sz="2200">
                <a:latin typeface="Times New Roman" panose="02020603050405020304" pitchFamily="18" charset="0"/>
                <a:cs typeface="Times New Roman" panose="02020603050405020304" pitchFamily="18" charset="0"/>
              </a:rPr>
              <a:t>季度生产的第 </a:t>
            </a:r>
            <a:r>
              <a:rPr lang="en-US" altLang="zh-CN" sz="2200" i="1">
                <a:latin typeface="Times New Roman" panose="02020603050405020304" pitchFamily="18" charset="0"/>
                <a:cs typeface="Times New Roman" panose="02020603050405020304" pitchFamily="18" charset="0"/>
              </a:rPr>
              <a:t>j</a:t>
            </a:r>
            <a:r>
              <a:rPr lang="en-US" altLang="zh-CN" sz="2200">
                <a:latin typeface="Times New Roman" panose="02020603050405020304" pitchFamily="18" charset="0"/>
                <a:cs typeface="Times New Roman" panose="02020603050405020304" pitchFamily="18" charset="0"/>
              </a:rPr>
              <a:t> </a:t>
            </a:r>
            <a:r>
              <a:rPr lang="zh-CN" altLang="en-US" sz="2200">
                <a:latin typeface="Times New Roman" panose="02020603050405020304" pitchFamily="18" charset="0"/>
                <a:cs typeface="Times New Roman" panose="02020603050405020304" pitchFamily="18" charset="0"/>
              </a:rPr>
              <a:t>季度交货的柴油机数目，那么应满足：</a:t>
            </a:r>
          </a:p>
        </p:txBody>
      </p:sp>
      <p:sp>
        <p:nvSpPr>
          <p:cNvPr id="246788" name="Text Box 4">
            <a:extLst>
              <a:ext uri="{FF2B5EF4-FFF2-40B4-BE49-F238E27FC236}">
                <a16:creationId xmlns:a16="http://schemas.microsoft.com/office/drawing/2014/main" id="{24FAF0C9-24D7-416F-8F3F-B4111E05C530}"/>
              </a:ext>
            </a:extLst>
          </p:cNvPr>
          <p:cNvSpPr txBox="1">
            <a:spLocks noChangeArrowheads="1"/>
          </p:cNvSpPr>
          <p:nvPr/>
        </p:nvSpPr>
        <p:spPr bwMode="auto">
          <a:xfrm>
            <a:off x="477838" y="4876800"/>
            <a:ext cx="8208962" cy="144621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algn="just" eaLnBrk="1" hangingPunct="1">
              <a:spcBef>
                <a:spcPct val="20000"/>
              </a:spcBef>
              <a:defRPr/>
            </a:pPr>
            <a:r>
              <a:rPr lang="zh-CN" altLang="en-US" sz="2200" dirty="0">
                <a:solidFill>
                  <a:srgbClr val="FF0000"/>
                </a:solidFill>
                <a:ea typeface="+mn-ea"/>
                <a:cs typeface="Times New Roman" panose="02020603050405020304" pitchFamily="18" charset="0"/>
              </a:rPr>
              <a:t>把第 </a:t>
            </a:r>
            <a:r>
              <a:rPr lang="en-US" altLang="zh-CN" sz="2200" i="1" dirty="0" err="1">
                <a:solidFill>
                  <a:srgbClr val="FF0000"/>
                </a:solidFill>
                <a:ea typeface="+mn-ea"/>
                <a:cs typeface="Times New Roman" panose="02020603050405020304" pitchFamily="18" charset="0"/>
              </a:rPr>
              <a:t>i</a:t>
            </a:r>
            <a:r>
              <a:rPr lang="en-US" altLang="zh-CN" sz="2200" dirty="0">
                <a:solidFill>
                  <a:srgbClr val="FF0000"/>
                </a:solidFill>
                <a:ea typeface="+mn-ea"/>
                <a:cs typeface="Times New Roman" panose="02020603050405020304" pitchFamily="18" charset="0"/>
              </a:rPr>
              <a:t> </a:t>
            </a:r>
            <a:r>
              <a:rPr lang="zh-CN" altLang="en-US" sz="2200" dirty="0">
                <a:solidFill>
                  <a:srgbClr val="FF0000"/>
                </a:solidFill>
                <a:ea typeface="+mn-ea"/>
                <a:cs typeface="Times New Roman" panose="02020603050405020304" pitchFamily="18" charset="0"/>
              </a:rPr>
              <a:t>季度生产的柴油机数目看作第 </a:t>
            </a:r>
            <a:r>
              <a:rPr lang="en-US" altLang="zh-CN" sz="2200" i="1" dirty="0" err="1">
                <a:solidFill>
                  <a:srgbClr val="FF0000"/>
                </a:solidFill>
                <a:ea typeface="+mn-ea"/>
                <a:cs typeface="Times New Roman" panose="02020603050405020304" pitchFamily="18" charset="0"/>
              </a:rPr>
              <a:t>i</a:t>
            </a:r>
            <a:r>
              <a:rPr lang="en-US" altLang="zh-CN" sz="2200" i="1" dirty="0">
                <a:solidFill>
                  <a:srgbClr val="FF0000"/>
                </a:solidFill>
                <a:ea typeface="+mn-ea"/>
                <a:cs typeface="Times New Roman" panose="02020603050405020304" pitchFamily="18" charset="0"/>
              </a:rPr>
              <a:t> </a:t>
            </a:r>
            <a:r>
              <a:rPr lang="zh-CN" altLang="en-US" sz="2200" dirty="0">
                <a:solidFill>
                  <a:srgbClr val="FF0000"/>
                </a:solidFill>
                <a:ea typeface="+mn-ea"/>
                <a:cs typeface="Times New Roman" panose="02020603050405020304" pitchFamily="18" charset="0"/>
              </a:rPr>
              <a:t>个生产厂的产量；把第 </a:t>
            </a:r>
            <a:r>
              <a:rPr lang="en-US" altLang="zh-CN" sz="2200" i="1" dirty="0">
                <a:solidFill>
                  <a:srgbClr val="FF0000"/>
                </a:solidFill>
                <a:ea typeface="+mn-ea"/>
                <a:cs typeface="Times New Roman" panose="02020603050405020304" pitchFamily="18" charset="0"/>
              </a:rPr>
              <a:t>j</a:t>
            </a:r>
            <a:r>
              <a:rPr lang="en-US" altLang="zh-CN" sz="2200" dirty="0">
                <a:solidFill>
                  <a:srgbClr val="FF0000"/>
                </a:solidFill>
                <a:ea typeface="+mn-ea"/>
                <a:cs typeface="Times New Roman" panose="02020603050405020304" pitchFamily="18" charset="0"/>
              </a:rPr>
              <a:t> </a:t>
            </a:r>
            <a:r>
              <a:rPr lang="zh-CN" altLang="en-US" sz="2200" dirty="0">
                <a:solidFill>
                  <a:srgbClr val="FF0000"/>
                </a:solidFill>
                <a:ea typeface="+mn-ea"/>
                <a:cs typeface="Times New Roman" panose="02020603050405020304" pitchFamily="18" charset="0"/>
              </a:rPr>
              <a:t>季度交货的柴油机数目看作第 </a:t>
            </a:r>
            <a:r>
              <a:rPr lang="en-US" altLang="zh-CN" sz="2200" i="1" dirty="0">
                <a:solidFill>
                  <a:srgbClr val="FF0000"/>
                </a:solidFill>
                <a:ea typeface="+mn-ea"/>
                <a:cs typeface="Times New Roman" panose="02020603050405020304" pitchFamily="18" charset="0"/>
              </a:rPr>
              <a:t>j</a:t>
            </a:r>
            <a:r>
              <a:rPr lang="en-US" altLang="zh-CN" sz="2200" dirty="0">
                <a:solidFill>
                  <a:srgbClr val="FF0000"/>
                </a:solidFill>
                <a:ea typeface="+mn-ea"/>
                <a:cs typeface="Times New Roman" panose="02020603050405020304" pitchFamily="18" charset="0"/>
              </a:rPr>
              <a:t> </a:t>
            </a:r>
            <a:r>
              <a:rPr lang="zh-CN" altLang="en-US" sz="2200" dirty="0">
                <a:solidFill>
                  <a:srgbClr val="FF0000"/>
                </a:solidFill>
                <a:ea typeface="+mn-ea"/>
                <a:cs typeface="Times New Roman" panose="02020603050405020304" pitchFamily="18" charset="0"/>
              </a:rPr>
              <a:t>个销售点的销量；设</a:t>
            </a:r>
            <a:r>
              <a:rPr lang="en-US" altLang="zh-CN" sz="2200" i="1" dirty="0" err="1">
                <a:solidFill>
                  <a:srgbClr val="FF0000"/>
                </a:solidFill>
                <a:ea typeface="+mn-ea"/>
                <a:cs typeface="Times New Roman" panose="02020603050405020304" pitchFamily="18" charset="0"/>
              </a:rPr>
              <a:t>c</a:t>
            </a:r>
            <a:r>
              <a:rPr lang="en-US" altLang="zh-CN" sz="2200" i="1" baseline="-25000" dirty="0" err="1">
                <a:solidFill>
                  <a:srgbClr val="FF0000"/>
                </a:solidFill>
                <a:ea typeface="+mn-ea"/>
                <a:cs typeface="Times New Roman" panose="02020603050405020304" pitchFamily="18" charset="0"/>
              </a:rPr>
              <a:t>ij</a:t>
            </a:r>
            <a:r>
              <a:rPr lang="zh-CN" altLang="en-US" sz="2200" dirty="0">
                <a:solidFill>
                  <a:srgbClr val="FF0000"/>
                </a:solidFill>
                <a:ea typeface="+mn-ea"/>
                <a:cs typeface="Times New Roman" panose="02020603050405020304" pitchFamily="18" charset="0"/>
              </a:rPr>
              <a:t>是第</a:t>
            </a:r>
            <a:r>
              <a:rPr lang="en-US" altLang="zh-CN" sz="2200" i="1" dirty="0" err="1">
                <a:solidFill>
                  <a:srgbClr val="FF0000"/>
                </a:solidFill>
                <a:ea typeface="+mn-ea"/>
                <a:cs typeface="Times New Roman" panose="02020603050405020304" pitchFamily="18" charset="0"/>
              </a:rPr>
              <a:t>i</a:t>
            </a:r>
            <a:r>
              <a:rPr lang="zh-CN" altLang="en-US" sz="2200" dirty="0">
                <a:solidFill>
                  <a:srgbClr val="FF0000"/>
                </a:solidFill>
                <a:ea typeface="+mn-ea"/>
                <a:cs typeface="Times New Roman" panose="02020603050405020304" pitchFamily="18" charset="0"/>
              </a:rPr>
              <a:t>季度生产的第</a:t>
            </a:r>
            <a:r>
              <a:rPr lang="en-US" altLang="zh-CN" sz="2200" i="1" dirty="0">
                <a:solidFill>
                  <a:srgbClr val="FF0000"/>
                </a:solidFill>
                <a:ea typeface="+mn-ea"/>
                <a:cs typeface="Times New Roman" panose="02020603050405020304" pitchFamily="18" charset="0"/>
              </a:rPr>
              <a:t>j</a:t>
            </a:r>
            <a:r>
              <a:rPr lang="zh-CN" altLang="en-US" sz="2200" dirty="0">
                <a:solidFill>
                  <a:srgbClr val="FF0000"/>
                </a:solidFill>
                <a:ea typeface="+mn-ea"/>
                <a:cs typeface="Times New Roman" panose="02020603050405020304" pitchFamily="18" charset="0"/>
              </a:rPr>
              <a:t>季度交货的每台柴油机的实际成本，应该等于该季度单位成本加上储存、维护等费用。</a:t>
            </a:r>
            <a:r>
              <a:rPr lang="zh-CN" altLang="en-US" sz="2200" dirty="0">
                <a:solidFill>
                  <a:schemeClr val="tx1"/>
                </a:solidFill>
                <a:ea typeface="+mn-ea"/>
                <a:cs typeface="Times New Roman" panose="02020603050405020304" pitchFamily="18" charset="0"/>
              </a:rPr>
              <a:t>可构造下列产销不平衡问题：</a:t>
            </a:r>
          </a:p>
        </p:txBody>
      </p:sp>
      <p:sp>
        <p:nvSpPr>
          <p:cNvPr id="3" name="矩形 2">
            <a:extLst>
              <a:ext uri="{FF2B5EF4-FFF2-40B4-BE49-F238E27FC236}">
                <a16:creationId xmlns:a16="http://schemas.microsoft.com/office/drawing/2014/main" id="{0F858996-3694-4D76-9C97-5046F32561D6}"/>
              </a:ext>
            </a:extLst>
          </p:cNvPr>
          <p:cNvSpPr>
            <a:spLocks noChangeArrowheads="1"/>
          </p:cNvSpPr>
          <p:nvPr/>
        </p:nvSpPr>
        <p:spPr bwMode="auto">
          <a:xfrm>
            <a:off x="762000" y="1954213"/>
            <a:ext cx="3505200"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19138">
              <a:tabLst>
                <a:tab pos="1338263" algn="l"/>
              </a:tabLst>
              <a:defRPr>
                <a:solidFill>
                  <a:schemeClr val="tx1"/>
                </a:solidFill>
                <a:latin typeface="Arial" panose="020B0604020202020204" pitchFamily="34" charset="0"/>
                <a:ea typeface="宋体" panose="02010600030101010101" pitchFamily="2" charset="-122"/>
              </a:defRPr>
            </a:lvl1pPr>
            <a:lvl2pPr marL="742950" indent="-285750" defTabSz="719138">
              <a:tabLst>
                <a:tab pos="1338263" algn="l"/>
              </a:tabLst>
              <a:defRPr>
                <a:solidFill>
                  <a:schemeClr val="tx1"/>
                </a:solidFill>
                <a:latin typeface="Arial" panose="020B0604020202020204" pitchFamily="34" charset="0"/>
                <a:ea typeface="宋体" panose="02010600030101010101" pitchFamily="2" charset="-122"/>
              </a:defRPr>
            </a:lvl2pPr>
            <a:lvl3pPr marL="1143000" indent="-228600" defTabSz="719138">
              <a:tabLst>
                <a:tab pos="1338263" algn="l"/>
              </a:tabLst>
              <a:defRPr>
                <a:solidFill>
                  <a:schemeClr val="tx1"/>
                </a:solidFill>
                <a:latin typeface="Arial" panose="020B0604020202020204" pitchFamily="34" charset="0"/>
                <a:ea typeface="宋体" panose="02010600030101010101" pitchFamily="2" charset="-122"/>
              </a:defRPr>
            </a:lvl3pPr>
            <a:lvl4pPr marL="1600200" indent="-228600" defTabSz="719138">
              <a:tabLst>
                <a:tab pos="1338263" algn="l"/>
              </a:tabLst>
              <a:defRPr>
                <a:solidFill>
                  <a:schemeClr val="tx1"/>
                </a:solidFill>
                <a:latin typeface="Arial" panose="020B0604020202020204" pitchFamily="34" charset="0"/>
                <a:ea typeface="宋体" panose="02010600030101010101" pitchFamily="2" charset="-122"/>
              </a:defRPr>
            </a:lvl4pPr>
            <a:lvl5pPr marL="2057400" indent="-228600" defTabSz="719138">
              <a:tabLst>
                <a:tab pos="1338263" algn="l"/>
              </a:tabLst>
              <a:defRPr>
                <a:solidFill>
                  <a:schemeClr val="tx1"/>
                </a:solidFill>
                <a:latin typeface="Arial" panose="020B0604020202020204" pitchFamily="34" charset="0"/>
                <a:ea typeface="宋体" panose="02010600030101010101" pitchFamily="2" charset="-122"/>
              </a:defRPr>
            </a:lvl5pPr>
            <a:lvl6pPr marL="25146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6pPr>
            <a:lvl7pPr marL="29718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7pPr>
            <a:lvl8pPr marL="34290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8pPr>
            <a:lvl9pPr marL="38862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9pPr>
          </a:lstStyle>
          <a:p>
            <a:pPr eaLnBrk="1" hangingPunct="1"/>
            <a:r>
              <a:rPr lang="zh-CN" altLang="en-US" b="1">
                <a:solidFill>
                  <a:srgbClr val="A50021"/>
                </a:solidFill>
                <a:latin typeface="Times New Roman" panose="02020603050405020304" pitchFamily="18" charset="0"/>
                <a:cs typeface="Times New Roman" panose="02020603050405020304" pitchFamily="18" charset="0"/>
              </a:rPr>
              <a:t>交货：</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11          </a:t>
            </a:r>
            <a:r>
              <a:rPr lang="en-US" altLang="zh-CN" b="1">
                <a:solidFill>
                  <a:srgbClr val="000000"/>
                </a:solidFill>
                <a:latin typeface="Times New Roman" panose="02020603050405020304" pitchFamily="18" charset="0"/>
                <a:cs typeface="Times New Roman" panose="02020603050405020304" pitchFamily="18" charset="0"/>
              </a:rPr>
              <a:t>                     = 10</a:t>
            </a:r>
          </a:p>
          <a:p>
            <a:pPr eaLnBrk="1" hangingPunct="1"/>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12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22                         </a:t>
            </a:r>
            <a:r>
              <a:rPr lang="en-US" altLang="zh-CN" b="1">
                <a:solidFill>
                  <a:srgbClr val="000000"/>
                </a:solidFill>
                <a:latin typeface="Times New Roman" panose="02020603050405020304" pitchFamily="18" charset="0"/>
                <a:cs typeface="Times New Roman" panose="02020603050405020304" pitchFamily="18" charset="0"/>
              </a:rPr>
              <a:t>  = 15</a:t>
            </a:r>
          </a:p>
          <a:p>
            <a:pPr eaLnBrk="1" hangingPunct="1"/>
            <a:r>
              <a:rPr lang="en-US" altLang="zh-CN" b="1" i="1">
                <a:solidFill>
                  <a:srgbClr val="000000"/>
                </a:solidFill>
                <a:latin typeface="Times New Roman" panose="02020603050405020304" pitchFamily="18" charset="0"/>
                <a:cs typeface="Times New Roman" panose="02020603050405020304" pitchFamily="18" charset="0"/>
              </a:rPr>
              <a:t>            x</a:t>
            </a:r>
            <a:r>
              <a:rPr lang="en-US" altLang="zh-CN" b="1" baseline="-25000">
                <a:solidFill>
                  <a:srgbClr val="000000"/>
                </a:solidFill>
                <a:latin typeface="Times New Roman" panose="02020603050405020304" pitchFamily="18" charset="0"/>
                <a:cs typeface="Times New Roman" panose="02020603050405020304" pitchFamily="18" charset="0"/>
              </a:rPr>
              <a:t>13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23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33              </a:t>
            </a:r>
            <a:r>
              <a:rPr lang="en-US" altLang="zh-CN" b="1">
                <a:solidFill>
                  <a:srgbClr val="000000"/>
                </a:solidFill>
                <a:latin typeface="Times New Roman" panose="02020603050405020304" pitchFamily="18" charset="0"/>
                <a:cs typeface="Times New Roman" panose="02020603050405020304" pitchFamily="18" charset="0"/>
              </a:rPr>
              <a:t> = 25</a:t>
            </a:r>
          </a:p>
          <a:p>
            <a:pPr eaLnBrk="1" hangingPunct="1"/>
            <a:r>
              <a:rPr lang="en-US" altLang="zh-CN" b="1" i="1">
                <a:solidFill>
                  <a:srgbClr val="000000"/>
                </a:solidFill>
                <a:latin typeface="Times New Roman" panose="02020603050405020304" pitchFamily="18" charset="0"/>
                <a:cs typeface="Times New Roman" panose="02020603050405020304" pitchFamily="18" charset="0"/>
              </a:rPr>
              <a:t>            x</a:t>
            </a:r>
            <a:r>
              <a:rPr lang="en-US" altLang="zh-CN" b="1" baseline="-25000">
                <a:solidFill>
                  <a:srgbClr val="000000"/>
                </a:solidFill>
                <a:latin typeface="Times New Roman" panose="02020603050405020304" pitchFamily="18" charset="0"/>
                <a:cs typeface="Times New Roman" panose="02020603050405020304" pitchFamily="18" charset="0"/>
              </a:rPr>
              <a:t>14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24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34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44 </a:t>
            </a:r>
            <a:r>
              <a:rPr lang="en-US" altLang="zh-CN" b="1">
                <a:solidFill>
                  <a:srgbClr val="000000"/>
                </a:solidFill>
                <a:latin typeface="Times New Roman" panose="02020603050405020304" pitchFamily="18" charset="0"/>
                <a:cs typeface="Times New Roman" panose="02020603050405020304" pitchFamily="18" charset="0"/>
              </a:rPr>
              <a:t> = 20</a:t>
            </a:r>
          </a:p>
        </p:txBody>
      </p:sp>
      <p:sp>
        <p:nvSpPr>
          <p:cNvPr id="7" name="矩形 6">
            <a:extLst>
              <a:ext uri="{FF2B5EF4-FFF2-40B4-BE49-F238E27FC236}">
                <a16:creationId xmlns:a16="http://schemas.microsoft.com/office/drawing/2014/main" id="{C825EE08-9B22-444D-97C5-C0AC22C6EBA0}"/>
              </a:ext>
            </a:extLst>
          </p:cNvPr>
          <p:cNvSpPr>
            <a:spLocks noChangeArrowheads="1"/>
          </p:cNvSpPr>
          <p:nvPr/>
        </p:nvSpPr>
        <p:spPr bwMode="auto">
          <a:xfrm>
            <a:off x="5278438" y="1879600"/>
            <a:ext cx="32353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19138">
              <a:tabLst>
                <a:tab pos="1338263" algn="l"/>
              </a:tabLst>
              <a:defRPr>
                <a:solidFill>
                  <a:schemeClr val="tx1"/>
                </a:solidFill>
                <a:latin typeface="Arial" panose="020B0604020202020204" pitchFamily="34" charset="0"/>
                <a:ea typeface="宋体" panose="02010600030101010101" pitchFamily="2" charset="-122"/>
              </a:defRPr>
            </a:lvl1pPr>
            <a:lvl2pPr marL="742950" indent="-285750" defTabSz="719138">
              <a:tabLst>
                <a:tab pos="1338263" algn="l"/>
              </a:tabLst>
              <a:defRPr>
                <a:solidFill>
                  <a:schemeClr val="tx1"/>
                </a:solidFill>
                <a:latin typeface="Arial" panose="020B0604020202020204" pitchFamily="34" charset="0"/>
                <a:ea typeface="宋体" panose="02010600030101010101" pitchFamily="2" charset="-122"/>
              </a:defRPr>
            </a:lvl2pPr>
            <a:lvl3pPr marL="1143000" indent="-228600" defTabSz="719138">
              <a:tabLst>
                <a:tab pos="1338263" algn="l"/>
              </a:tabLst>
              <a:defRPr>
                <a:solidFill>
                  <a:schemeClr val="tx1"/>
                </a:solidFill>
                <a:latin typeface="Arial" panose="020B0604020202020204" pitchFamily="34" charset="0"/>
                <a:ea typeface="宋体" panose="02010600030101010101" pitchFamily="2" charset="-122"/>
              </a:defRPr>
            </a:lvl3pPr>
            <a:lvl4pPr marL="1600200" indent="-228600" defTabSz="719138">
              <a:tabLst>
                <a:tab pos="1338263" algn="l"/>
              </a:tabLst>
              <a:defRPr>
                <a:solidFill>
                  <a:schemeClr val="tx1"/>
                </a:solidFill>
                <a:latin typeface="Arial" panose="020B0604020202020204" pitchFamily="34" charset="0"/>
                <a:ea typeface="宋体" panose="02010600030101010101" pitchFamily="2" charset="-122"/>
              </a:defRPr>
            </a:lvl4pPr>
            <a:lvl5pPr marL="2057400" indent="-228600" defTabSz="719138">
              <a:tabLst>
                <a:tab pos="1338263" algn="l"/>
              </a:tabLst>
              <a:defRPr>
                <a:solidFill>
                  <a:schemeClr val="tx1"/>
                </a:solidFill>
                <a:latin typeface="Arial" panose="020B0604020202020204" pitchFamily="34" charset="0"/>
                <a:ea typeface="宋体" panose="02010600030101010101" pitchFamily="2" charset="-122"/>
              </a:defRPr>
            </a:lvl5pPr>
            <a:lvl6pPr marL="25146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6pPr>
            <a:lvl7pPr marL="29718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7pPr>
            <a:lvl8pPr marL="34290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8pPr>
            <a:lvl9pPr marL="3886200" indent="-228600" defTabSz="719138" eaLnBrk="0" fontAlgn="base" hangingPunct="0">
              <a:spcBef>
                <a:spcPct val="0"/>
              </a:spcBef>
              <a:spcAft>
                <a:spcPct val="0"/>
              </a:spcAft>
              <a:tabLst>
                <a:tab pos="1338263" algn="l"/>
              </a:tabLst>
              <a:defRPr>
                <a:solidFill>
                  <a:schemeClr val="tx1"/>
                </a:solidFill>
                <a:latin typeface="Arial" panose="020B0604020202020204" pitchFamily="34" charset="0"/>
                <a:ea typeface="宋体" panose="02010600030101010101" pitchFamily="2" charset="-122"/>
              </a:defRPr>
            </a:lvl9pPr>
          </a:lstStyle>
          <a:p>
            <a:pPr eaLnBrk="1" hangingPunct="1"/>
            <a:r>
              <a:rPr lang="zh-CN" altLang="en-US" b="1">
                <a:solidFill>
                  <a:srgbClr val="A50021"/>
                </a:solidFill>
                <a:latin typeface="Times New Roman" panose="02020603050405020304" pitchFamily="18" charset="0"/>
                <a:cs typeface="Times New Roman" panose="02020603050405020304" pitchFamily="18" charset="0"/>
              </a:rPr>
              <a:t>生产：</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11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12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13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14 </a:t>
            </a:r>
            <a:r>
              <a:rPr lang="en-US" altLang="zh-CN" b="1">
                <a:solidFill>
                  <a:srgbClr val="000000"/>
                </a:solidFill>
                <a:latin typeface="Times New Roman" panose="02020603050405020304" pitchFamily="18" charset="0"/>
                <a:cs typeface="Times New Roman" panose="02020603050405020304" pitchFamily="18" charset="0"/>
              </a:rPr>
              <a:t> ≤ 25</a:t>
            </a:r>
          </a:p>
          <a:p>
            <a:pPr eaLnBrk="1" hangingPunct="1"/>
            <a:r>
              <a:rPr lang="en-US" altLang="zh-CN" b="1" i="1">
                <a:solidFill>
                  <a:srgbClr val="000000"/>
                </a:solidFill>
                <a:latin typeface="Times New Roman" panose="02020603050405020304" pitchFamily="18" charset="0"/>
                <a:cs typeface="Times New Roman" panose="02020603050405020304" pitchFamily="18" charset="0"/>
              </a:rPr>
              <a:t>            x</a:t>
            </a:r>
            <a:r>
              <a:rPr lang="en-US" altLang="zh-CN" b="1" baseline="-25000">
                <a:solidFill>
                  <a:srgbClr val="000000"/>
                </a:solidFill>
                <a:latin typeface="Times New Roman" panose="02020603050405020304" pitchFamily="18" charset="0"/>
                <a:cs typeface="Times New Roman" panose="02020603050405020304" pitchFamily="18" charset="0"/>
              </a:rPr>
              <a:t>22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23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24 </a:t>
            </a:r>
            <a:r>
              <a:rPr lang="en-US" altLang="zh-CN" b="1">
                <a:solidFill>
                  <a:srgbClr val="000000"/>
                </a:solidFill>
                <a:latin typeface="Times New Roman" panose="02020603050405020304" pitchFamily="18" charset="0"/>
                <a:cs typeface="Times New Roman" panose="02020603050405020304" pitchFamily="18" charset="0"/>
              </a:rPr>
              <a:t> ≤ 35</a:t>
            </a:r>
          </a:p>
          <a:p>
            <a:pPr eaLnBrk="1" hangingPunct="1"/>
            <a:r>
              <a:rPr lang="en-US" altLang="zh-CN" b="1" i="1">
                <a:solidFill>
                  <a:srgbClr val="000000"/>
                </a:solidFill>
                <a:latin typeface="Times New Roman" panose="02020603050405020304" pitchFamily="18" charset="0"/>
                <a:cs typeface="Times New Roman" panose="02020603050405020304" pitchFamily="18" charset="0"/>
              </a:rPr>
              <a:t>            x</a:t>
            </a:r>
            <a:r>
              <a:rPr lang="en-US" altLang="zh-CN" b="1" baseline="-25000">
                <a:solidFill>
                  <a:srgbClr val="000000"/>
                </a:solidFill>
                <a:latin typeface="Times New Roman" panose="02020603050405020304" pitchFamily="18" charset="0"/>
                <a:cs typeface="Times New Roman" panose="02020603050405020304" pitchFamily="18" charset="0"/>
              </a:rPr>
              <a:t>33 </a:t>
            </a:r>
            <a:r>
              <a:rPr lang="en-US" altLang="zh-CN" b="1">
                <a:solidFill>
                  <a:srgbClr val="000000"/>
                </a:solidFill>
                <a:latin typeface="Times New Roman" panose="02020603050405020304" pitchFamily="18" charset="0"/>
                <a:cs typeface="Times New Roman" panose="02020603050405020304" pitchFamily="18" charset="0"/>
              </a:rPr>
              <a:t>+ </a:t>
            </a:r>
            <a:r>
              <a:rPr lang="en-US" altLang="zh-CN" b="1" i="1">
                <a:solidFill>
                  <a:srgbClr val="000000"/>
                </a:solidFill>
                <a:latin typeface="Times New Roman" panose="02020603050405020304" pitchFamily="18" charset="0"/>
                <a:cs typeface="Times New Roman" panose="02020603050405020304" pitchFamily="18" charset="0"/>
              </a:rPr>
              <a:t>x</a:t>
            </a:r>
            <a:r>
              <a:rPr lang="en-US" altLang="zh-CN" b="1" baseline="-25000">
                <a:solidFill>
                  <a:srgbClr val="000000"/>
                </a:solidFill>
                <a:latin typeface="Times New Roman" panose="02020603050405020304" pitchFamily="18" charset="0"/>
                <a:cs typeface="Times New Roman" panose="02020603050405020304" pitchFamily="18" charset="0"/>
              </a:rPr>
              <a:t>34 </a:t>
            </a:r>
            <a:r>
              <a:rPr lang="en-US" altLang="zh-CN" b="1">
                <a:solidFill>
                  <a:srgbClr val="000000"/>
                </a:solidFill>
                <a:latin typeface="Times New Roman" panose="02020603050405020304" pitchFamily="18" charset="0"/>
                <a:cs typeface="Times New Roman" panose="02020603050405020304" pitchFamily="18" charset="0"/>
              </a:rPr>
              <a:t> ≤ 30</a:t>
            </a:r>
          </a:p>
          <a:p>
            <a:pPr eaLnBrk="1" hangingPunct="1"/>
            <a:r>
              <a:rPr lang="en-US" altLang="zh-CN" b="1" i="1">
                <a:solidFill>
                  <a:srgbClr val="000000"/>
                </a:solidFill>
                <a:latin typeface="Times New Roman" panose="02020603050405020304" pitchFamily="18" charset="0"/>
                <a:cs typeface="Times New Roman" panose="02020603050405020304" pitchFamily="18" charset="0"/>
              </a:rPr>
              <a:t>            x</a:t>
            </a:r>
            <a:r>
              <a:rPr lang="en-US" altLang="zh-CN" b="1" baseline="-25000">
                <a:solidFill>
                  <a:srgbClr val="000000"/>
                </a:solidFill>
                <a:latin typeface="Times New Roman" panose="02020603050405020304" pitchFamily="18" charset="0"/>
                <a:cs typeface="Times New Roman" panose="02020603050405020304" pitchFamily="18" charset="0"/>
              </a:rPr>
              <a:t>44 </a:t>
            </a:r>
            <a:r>
              <a:rPr lang="en-US" altLang="zh-CN" b="1">
                <a:solidFill>
                  <a:srgbClr val="000000"/>
                </a:solidFill>
                <a:latin typeface="Times New Roman" panose="02020603050405020304" pitchFamily="18" charset="0"/>
                <a:cs typeface="Times New Roman" panose="02020603050405020304" pitchFamily="18" charset="0"/>
              </a:rPr>
              <a:t> ≤ 10</a:t>
            </a:r>
          </a:p>
        </p:txBody>
      </p:sp>
      <p:grpSp>
        <p:nvGrpSpPr>
          <p:cNvPr id="9" name="组合 8">
            <a:extLst>
              <a:ext uri="{FF2B5EF4-FFF2-40B4-BE49-F238E27FC236}">
                <a16:creationId xmlns:a16="http://schemas.microsoft.com/office/drawing/2014/main" id="{55922343-DEB0-47DB-9542-4D77F100BE3F}"/>
              </a:ext>
            </a:extLst>
          </p:cNvPr>
          <p:cNvGrpSpPr>
            <a:grpSpLocks/>
          </p:cNvGrpSpPr>
          <p:nvPr/>
        </p:nvGrpSpPr>
        <p:grpSpPr bwMode="auto">
          <a:xfrm>
            <a:off x="838200" y="3276600"/>
            <a:ext cx="2851150" cy="1447800"/>
            <a:chOff x="838200" y="3276600"/>
            <a:chExt cx="2851150" cy="1447800"/>
          </a:xfrm>
        </p:grpSpPr>
        <p:grpSp>
          <p:nvGrpSpPr>
            <p:cNvPr id="119822" name="组合 3">
              <a:extLst>
                <a:ext uri="{FF2B5EF4-FFF2-40B4-BE49-F238E27FC236}">
                  <a16:creationId xmlns:a16="http://schemas.microsoft.com/office/drawing/2014/main" id="{DD3E56F8-E959-42E3-A510-DF6358807E8D}"/>
                </a:ext>
              </a:extLst>
            </p:cNvPr>
            <p:cNvGrpSpPr>
              <a:grpSpLocks/>
            </p:cNvGrpSpPr>
            <p:nvPr/>
          </p:nvGrpSpPr>
          <p:grpSpPr bwMode="auto">
            <a:xfrm>
              <a:off x="838200" y="3276600"/>
              <a:ext cx="2851150" cy="1447800"/>
              <a:chOff x="1066800" y="3352800"/>
              <a:chExt cx="2851150" cy="1447800"/>
            </a:xfrm>
          </p:grpSpPr>
          <p:sp>
            <p:nvSpPr>
              <p:cNvPr id="6" name="箭头: 下 5">
                <a:extLst>
                  <a:ext uri="{FF2B5EF4-FFF2-40B4-BE49-F238E27FC236}">
                    <a16:creationId xmlns:a16="http://schemas.microsoft.com/office/drawing/2014/main" id="{E6701BBA-21DB-46C6-8E60-65E7C7211183}"/>
                  </a:ext>
                </a:extLst>
              </p:cNvPr>
              <p:cNvSpPr/>
              <p:nvPr/>
            </p:nvSpPr>
            <p:spPr>
              <a:xfrm>
                <a:off x="2286000" y="3352800"/>
                <a:ext cx="381000" cy="4572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aphicFrame>
            <p:nvGraphicFramePr>
              <p:cNvPr id="119825" name="对象 8">
                <a:extLst>
                  <a:ext uri="{FF2B5EF4-FFF2-40B4-BE49-F238E27FC236}">
                    <a16:creationId xmlns:a16="http://schemas.microsoft.com/office/drawing/2014/main" id="{751A3C94-A3C0-495C-8603-DF31BCCB0C22}"/>
                  </a:ext>
                </a:extLst>
              </p:cNvPr>
              <p:cNvGraphicFramePr>
                <a:graphicFrameLocks noChangeAspect="1"/>
              </p:cNvGraphicFramePr>
              <p:nvPr/>
            </p:nvGraphicFramePr>
            <p:xfrm>
              <a:off x="1066800" y="3898900"/>
              <a:ext cx="2851150" cy="901700"/>
            </p:xfrm>
            <a:graphic>
              <a:graphicData uri="http://schemas.openxmlformats.org/presentationml/2006/ole">
                <mc:AlternateContent xmlns:mc="http://schemas.openxmlformats.org/markup-compatibility/2006">
                  <mc:Choice xmlns:v="urn:schemas-microsoft-com:vml" Requires="v">
                    <p:oleObj spid="_x0000_s119844" name="Equation" r:id="rId4" imgW="964781" imgH="304668" progId="Equation.DSMT4">
                      <p:embed/>
                    </p:oleObj>
                  </mc:Choice>
                  <mc:Fallback>
                    <p:oleObj name="Equation" r:id="rId4" imgW="964781" imgH="304668" progId="Equation.DSMT4">
                      <p:embed/>
                      <p:pic>
                        <p:nvPicPr>
                          <p:cNvPr id="0"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6800" y="3898900"/>
                            <a:ext cx="2851150" cy="901700"/>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19823" name="矩形 7">
              <a:extLst>
                <a:ext uri="{FF2B5EF4-FFF2-40B4-BE49-F238E27FC236}">
                  <a16:creationId xmlns:a16="http://schemas.microsoft.com/office/drawing/2014/main" id="{6299BFA0-3532-4C88-BABA-1C9E854DEEE7}"/>
                </a:ext>
              </a:extLst>
            </p:cNvPr>
            <p:cNvSpPr>
              <a:spLocks noChangeArrowheads="1"/>
            </p:cNvSpPr>
            <p:nvPr/>
          </p:nvSpPr>
          <p:spPr bwMode="auto">
            <a:xfrm>
              <a:off x="2514600" y="3293366"/>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latin typeface="Times New Roman" panose="02020603050405020304" pitchFamily="18" charset="0"/>
                  <a:cs typeface="Times New Roman" panose="02020603050405020304" pitchFamily="18" charset="0"/>
                </a:rPr>
                <a:t>销量方程</a:t>
              </a:r>
              <a:endParaRPr lang="zh-CN" altLang="en-US"/>
            </a:p>
          </p:txBody>
        </p:sp>
      </p:grpSp>
      <p:grpSp>
        <p:nvGrpSpPr>
          <p:cNvPr id="10" name="组合 9">
            <a:extLst>
              <a:ext uri="{FF2B5EF4-FFF2-40B4-BE49-F238E27FC236}">
                <a16:creationId xmlns:a16="http://schemas.microsoft.com/office/drawing/2014/main" id="{A6B68402-3067-4D73-A88F-E6C319AC3767}"/>
              </a:ext>
            </a:extLst>
          </p:cNvPr>
          <p:cNvGrpSpPr>
            <a:grpSpLocks/>
          </p:cNvGrpSpPr>
          <p:nvPr/>
        </p:nvGrpSpPr>
        <p:grpSpPr bwMode="auto">
          <a:xfrm>
            <a:off x="5562600" y="3276600"/>
            <a:ext cx="2813050" cy="1457325"/>
            <a:chOff x="5562600" y="3276600"/>
            <a:chExt cx="2813050" cy="1457325"/>
          </a:xfrm>
        </p:grpSpPr>
        <p:grpSp>
          <p:nvGrpSpPr>
            <p:cNvPr id="119818" name="组合 4">
              <a:extLst>
                <a:ext uri="{FF2B5EF4-FFF2-40B4-BE49-F238E27FC236}">
                  <a16:creationId xmlns:a16="http://schemas.microsoft.com/office/drawing/2014/main" id="{69CC78D8-078F-4B2D-9549-B24DB1E9615B}"/>
                </a:ext>
              </a:extLst>
            </p:cNvPr>
            <p:cNvGrpSpPr>
              <a:grpSpLocks/>
            </p:cNvGrpSpPr>
            <p:nvPr/>
          </p:nvGrpSpPr>
          <p:grpSpPr bwMode="auto">
            <a:xfrm>
              <a:off x="5562600" y="3276600"/>
              <a:ext cx="2813050" cy="1457325"/>
              <a:chOff x="5562600" y="3352800"/>
              <a:chExt cx="2813050" cy="1457632"/>
            </a:xfrm>
          </p:grpSpPr>
          <p:sp>
            <p:nvSpPr>
              <p:cNvPr id="2" name="箭头: 下 1">
                <a:extLst>
                  <a:ext uri="{FF2B5EF4-FFF2-40B4-BE49-F238E27FC236}">
                    <a16:creationId xmlns:a16="http://schemas.microsoft.com/office/drawing/2014/main" id="{916B3C51-5B50-4A65-8BCC-727504DF8E30}"/>
                  </a:ext>
                </a:extLst>
              </p:cNvPr>
              <p:cNvSpPr/>
              <p:nvPr/>
            </p:nvSpPr>
            <p:spPr>
              <a:xfrm>
                <a:off x="6705600" y="3352800"/>
                <a:ext cx="381000" cy="45729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aphicFrame>
            <p:nvGraphicFramePr>
              <p:cNvPr id="119821" name="对象 6">
                <a:extLst>
                  <a:ext uri="{FF2B5EF4-FFF2-40B4-BE49-F238E27FC236}">
                    <a16:creationId xmlns:a16="http://schemas.microsoft.com/office/drawing/2014/main" id="{07BF82F2-6950-40F1-AD0B-9C408BBF5323}"/>
                  </a:ext>
                </a:extLst>
              </p:cNvPr>
              <p:cNvGraphicFramePr>
                <a:graphicFrameLocks noChangeAspect="1"/>
              </p:cNvGraphicFramePr>
              <p:nvPr/>
            </p:nvGraphicFramePr>
            <p:xfrm>
              <a:off x="5562600" y="3872219"/>
              <a:ext cx="2813050" cy="938213"/>
            </p:xfrm>
            <a:graphic>
              <a:graphicData uri="http://schemas.openxmlformats.org/presentationml/2006/ole">
                <mc:AlternateContent xmlns:mc="http://schemas.openxmlformats.org/markup-compatibility/2006">
                  <mc:Choice xmlns:v="urn:schemas-microsoft-com:vml" Requires="v">
                    <p:oleObj spid="_x0000_s119845" name="Equation" r:id="rId6" imgW="952087" imgH="317362" progId="Equation.DSMT4">
                      <p:embed/>
                    </p:oleObj>
                  </mc:Choice>
                  <mc:Fallback>
                    <p:oleObj name="Equation" r:id="rId6" imgW="952087" imgH="317362" progId="Equation.DSMT4">
                      <p:embed/>
                      <p:pic>
                        <p:nvPicPr>
                          <p:cNvPr id="0" name="对象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62600" y="3872219"/>
                            <a:ext cx="2813050" cy="938213"/>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119819" name="矩形 13">
              <a:extLst>
                <a:ext uri="{FF2B5EF4-FFF2-40B4-BE49-F238E27FC236}">
                  <a16:creationId xmlns:a16="http://schemas.microsoft.com/office/drawing/2014/main" id="{E4BD05E6-C603-40A2-BEBB-2BE599CBB9E1}"/>
                </a:ext>
              </a:extLst>
            </p:cNvPr>
            <p:cNvSpPr>
              <a:spLocks noChangeArrowheads="1"/>
            </p:cNvSpPr>
            <p:nvPr/>
          </p:nvSpPr>
          <p:spPr bwMode="auto">
            <a:xfrm>
              <a:off x="7086600" y="3283703"/>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latin typeface="Times New Roman" panose="02020603050405020304" pitchFamily="18" charset="0"/>
                  <a:cs typeface="Times New Roman" panose="02020603050405020304" pitchFamily="18" charset="0"/>
                </a:rPr>
                <a:t>产量方程</a:t>
              </a:r>
              <a:endParaRPr lang="zh-CN" altLang="en-US"/>
            </a:p>
          </p:txBody>
        </p:sp>
      </p:grpSp>
      <p:graphicFrame>
        <p:nvGraphicFramePr>
          <p:cNvPr id="119817" name="对象 16">
            <a:extLst>
              <a:ext uri="{FF2B5EF4-FFF2-40B4-BE49-F238E27FC236}">
                <a16:creationId xmlns:a16="http://schemas.microsoft.com/office/drawing/2014/main" id="{CC12EE55-509C-4A6C-853F-96C0B4A028AD}"/>
              </a:ext>
            </a:extLst>
          </p:cNvPr>
          <p:cNvGraphicFramePr>
            <a:graphicFrameLocks noChangeAspect="1"/>
          </p:cNvGraphicFramePr>
          <p:nvPr/>
        </p:nvGraphicFramePr>
        <p:xfrm>
          <a:off x="7739063" y="30163"/>
          <a:ext cx="1404937" cy="1184275"/>
        </p:xfrm>
        <a:graphic>
          <a:graphicData uri="http://schemas.openxmlformats.org/presentationml/2006/ole">
            <mc:AlternateContent xmlns:mc="http://schemas.openxmlformats.org/markup-compatibility/2006">
              <mc:Choice xmlns:v="urn:schemas-microsoft-com:vml" Requires="v">
                <p:oleObj spid="_x0000_s119846" name="Equation" r:id="rId8" imgW="1295400" imgH="1092200" progId="Equation.DSMT4">
                  <p:embed/>
                </p:oleObj>
              </mc:Choice>
              <mc:Fallback>
                <p:oleObj name="Equation" r:id="rId8" imgW="1295400" imgH="1092200" progId="Equation.DSMT4">
                  <p:embed/>
                  <p:pic>
                    <p:nvPicPr>
                      <p:cNvPr id="0" name="对象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39063" y="30163"/>
                        <a:ext cx="1404937" cy="1184275"/>
                      </a:xfrm>
                      <a:prstGeom prst="rect">
                        <a:avLst/>
                      </a:prstGeom>
                      <a:solidFill>
                        <a:srgbClr val="FFC000"/>
                      </a:solidFill>
                      <a:ln w="9525">
                        <a:solidFill>
                          <a:srgbClr val="FF00FF"/>
                        </a:solidFill>
                        <a:miter lim="800000"/>
                        <a:headEnd/>
                        <a:tailEnd/>
                      </a:ln>
                    </p:spPr>
                  </p:pic>
                </p:oleObj>
              </mc:Fallback>
            </mc:AlternateContent>
          </a:graphicData>
        </a:graphic>
      </p:graphicFrame>
    </p:spTree>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randombar(horizontal)">
                                      <p:cBhvr>
                                        <p:cTn id="12" dur="500"/>
                                        <p:tgtEl>
                                          <p:spTgt spid="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randombar(horizontal)">
                                      <p:cBhvr>
                                        <p:cTn id="17" dur="500"/>
                                        <p:tgtEl>
                                          <p:spTgt spid="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randombar(horizontal)">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grpId="0" nodeType="clickEffect">
                                  <p:stCondLst>
                                    <p:cond delay="0"/>
                                  </p:stCondLst>
                                  <p:childTnLst>
                                    <p:set>
                                      <p:cBhvr>
                                        <p:cTn id="26" dur="1" fill="hold">
                                          <p:stCondLst>
                                            <p:cond delay="0"/>
                                          </p:stCondLst>
                                        </p:cTn>
                                        <p:tgtEl>
                                          <p:spTgt spid="246788"/>
                                        </p:tgtEl>
                                        <p:attrNameLst>
                                          <p:attrName>style.visibility</p:attrName>
                                        </p:attrNameLst>
                                      </p:cBhvr>
                                      <p:to>
                                        <p:strVal val="visible"/>
                                      </p:to>
                                    </p:set>
                                    <p:animEffect transition="in" filter="randombar(horizontal)">
                                      <p:cBhvr>
                                        <p:cTn id="27" dur="500"/>
                                        <p:tgtEl>
                                          <p:spTgt spid="246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788" grpId="0"/>
      <p:bldP spid="3" grpId="0"/>
      <p:bldP spid="7"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2" descr="Large confetti">
            <a:extLst>
              <a:ext uri="{FF2B5EF4-FFF2-40B4-BE49-F238E27FC236}">
                <a16:creationId xmlns:a16="http://schemas.microsoft.com/office/drawing/2014/main" id="{AF639124-AE6F-487B-9ABD-0ED18FCD6B81}"/>
              </a:ext>
            </a:extLst>
          </p:cNvPr>
          <p:cNvSpPr>
            <a:spLocks noGrp="1" noChangeArrowheads="1"/>
          </p:cNvSpPr>
          <p:nvPr>
            <p:ph type="title"/>
          </p:nvPr>
        </p:nvSpPr>
        <p:spPr/>
        <p:txBody>
          <a:bodyPr/>
          <a:lstStyle/>
          <a:p>
            <a:pPr eaLnBrk="1" hangingPunct="1"/>
            <a:r>
              <a:rPr lang="zh-CN" altLang="en-US"/>
              <a:t>生产与储存问题</a:t>
            </a:r>
          </a:p>
        </p:txBody>
      </p:sp>
      <p:graphicFrame>
        <p:nvGraphicFramePr>
          <p:cNvPr id="217219" name="Group 131">
            <a:extLst>
              <a:ext uri="{FF2B5EF4-FFF2-40B4-BE49-F238E27FC236}">
                <a16:creationId xmlns:a16="http://schemas.microsoft.com/office/drawing/2014/main" id="{356AF591-39C0-40F8-A5F9-42703AA82518}"/>
              </a:ext>
            </a:extLst>
          </p:cNvPr>
          <p:cNvGraphicFramePr>
            <a:graphicFrameLocks noGrp="1"/>
          </p:cNvGraphicFramePr>
          <p:nvPr/>
        </p:nvGraphicFramePr>
        <p:xfrm>
          <a:off x="762000" y="1905000"/>
          <a:ext cx="7315200" cy="3113088"/>
        </p:xfrm>
        <a:graphic>
          <a:graphicData uri="http://schemas.openxmlformats.org/drawingml/2006/table">
            <a:tbl>
              <a:tblPr/>
              <a:tblGrid>
                <a:gridCol w="1066800">
                  <a:extLst>
                    <a:ext uri="{9D8B030D-6E8A-4147-A177-3AD203B41FA5}">
                      <a16:colId xmlns:a16="http://schemas.microsoft.com/office/drawing/2014/main" val="20000"/>
                    </a:ext>
                  </a:extLst>
                </a:gridCol>
                <a:gridCol w="6858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524000">
                  <a:extLst>
                    <a:ext uri="{9D8B030D-6E8A-4147-A177-3AD203B41FA5}">
                      <a16:colId xmlns:a16="http://schemas.microsoft.com/office/drawing/2014/main" val="20003"/>
                    </a:ext>
                  </a:extLst>
                </a:gridCol>
                <a:gridCol w="16764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tblGrid>
              <a:tr h="790885">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            j</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i</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Ⅰ</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Ⅱ</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Ⅲ</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0554">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Ⅰ</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10.8</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10.8+0.15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10.8+2×0.15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10.8+3×0.15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25</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20554">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Ⅱ</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11.10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11.10+0.15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11.10+2×0.15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35</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20554">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Ⅲ</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11.00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defRPr/>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11.00+0.15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30</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20554">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11.30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39988">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685" marB="4568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15</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6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25</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20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100</a:t>
                      </a:r>
                    </a:p>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6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70</a:t>
                      </a:r>
                    </a:p>
                  </a:txBody>
                  <a:tcPr marT="45685" marB="4568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extLst>
                  <a:ext uri="{0D108BD9-81ED-4DB2-BD59-A6C34878D82A}">
                    <a16:rowId xmlns:a16="http://schemas.microsoft.com/office/drawing/2014/main" val="10005"/>
                  </a:ext>
                </a:extLst>
              </a:tr>
            </a:tbl>
          </a:graphicData>
        </a:graphic>
      </p:graphicFrame>
      <p:sp>
        <p:nvSpPr>
          <p:cNvPr id="247864" name="Text Box 132">
            <a:extLst>
              <a:ext uri="{FF2B5EF4-FFF2-40B4-BE49-F238E27FC236}">
                <a16:creationId xmlns:a16="http://schemas.microsoft.com/office/drawing/2014/main" id="{55C95AE4-AD1D-4716-B393-825576ADE037}"/>
              </a:ext>
            </a:extLst>
          </p:cNvPr>
          <p:cNvSpPr txBox="1">
            <a:spLocks noChangeArrowheads="1"/>
          </p:cNvSpPr>
          <p:nvPr/>
        </p:nvSpPr>
        <p:spPr bwMode="auto">
          <a:xfrm>
            <a:off x="611188" y="5246688"/>
            <a:ext cx="7848600" cy="831850"/>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由于产大于销，加上一个虚拟的销地</a:t>
            </a:r>
            <a:r>
              <a:rPr lang="en-US" altLang="zh-CN" dirty="0">
                <a:solidFill>
                  <a:schemeClr val="tx1"/>
                </a:solidFill>
                <a:latin typeface="+mn-ea"/>
                <a:ea typeface="+mn-ea"/>
              </a:rPr>
              <a:t>D</a:t>
            </a:r>
            <a:r>
              <a:rPr lang="zh-CN" altLang="en-US" dirty="0">
                <a:solidFill>
                  <a:schemeClr val="tx1"/>
                </a:solidFill>
                <a:latin typeface="+mn-ea"/>
                <a:ea typeface="+mn-ea"/>
              </a:rPr>
              <a:t>，转化为平衡问题，即可应用表上作业法求解。</a:t>
            </a:r>
          </a:p>
        </p:txBody>
      </p:sp>
      <p:grpSp>
        <p:nvGrpSpPr>
          <p:cNvPr id="3" name="组合 2">
            <a:extLst>
              <a:ext uri="{FF2B5EF4-FFF2-40B4-BE49-F238E27FC236}">
                <a16:creationId xmlns:a16="http://schemas.microsoft.com/office/drawing/2014/main" id="{D5BB2FD7-A211-4D8D-86C6-8630502272F1}"/>
              </a:ext>
            </a:extLst>
          </p:cNvPr>
          <p:cNvGrpSpPr>
            <a:grpSpLocks/>
          </p:cNvGrpSpPr>
          <p:nvPr/>
        </p:nvGrpSpPr>
        <p:grpSpPr bwMode="auto">
          <a:xfrm>
            <a:off x="304800" y="815975"/>
            <a:ext cx="4038600" cy="2384425"/>
            <a:chOff x="457200" y="740202"/>
            <a:chExt cx="4038601" cy="2383998"/>
          </a:xfrm>
        </p:grpSpPr>
        <p:sp>
          <p:nvSpPr>
            <p:cNvPr id="120917" name="矩形 38">
              <a:extLst>
                <a:ext uri="{FF2B5EF4-FFF2-40B4-BE49-F238E27FC236}">
                  <a16:creationId xmlns:a16="http://schemas.microsoft.com/office/drawing/2014/main" id="{724DAA75-2BD9-4FA7-87C8-7F5838F323ED}"/>
                </a:ext>
              </a:extLst>
            </p:cNvPr>
            <p:cNvSpPr>
              <a:spLocks noChangeArrowheads="1"/>
            </p:cNvSpPr>
            <p:nvPr/>
          </p:nvSpPr>
          <p:spPr bwMode="auto">
            <a:xfrm>
              <a:off x="457200" y="740202"/>
              <a:ext cx="4038601" cy="830997"/>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600">
                  <a:solidFill>
                    <a:srgbClr val="FF00FF"/>
                  </a:solidFill>
                  <a:latin typeface="Times New Roman" panose="02020603050405020304" pitchFamily="18" charset="0"/>
                </a:rPr>
                <a:t>第</a:t>
              </a:r>
              <a:r>
                <a:rPr lang="en-US" altLang="zh-CN" sz="1600">
                  <a:solidFill>
                    <a:srgbClr val="FF00FF"/>
                  </a:solidFill>
                  <a:latin typeface="Times New Roman" panose="02020603050405020304" pitchFamily="18" charset="0"/>
                </a:rPr>
                <a:t>2</a:t>
              </a:r>
              <a:r>
                <a:rPr lang="zh-CN" altLang="en-US" sz="1600">
                  <a:solidFill>
                    <a:srgbClr val="FF00FF"/>
                  </a:solidFill>
                  <a:latin typeface="Times New Roman" panose="02020603050405020304" pitchFamily="18" charset="0"/>
                </a:rPr>
                <a:t>季度生产的用于第</a:t>
              </a:r>
              <a:r>
                <a:rPr lang="en-US" altLang="zh-CN" sz="1600">
                  <a:solidFill>
                    <a:srgbClr val="FF00FF"/>
                  </a:solidFill>
                  <a:latin typeface="Times New Roman" panose="02020603050405020304" pitchFamily="18" charset="0"/>
                </a:rPr>
                <a:t>1</a:t>
              </a:r>
              <a:r>
                <a:rPr lang="zh-CN" altLang="en-US" sz="1600">
                  <a:solidFill>
                    <a:srgbClr val="FF00FF"/>
                  </a:solidFill>
                  <a:latin typeface="Times New Roman" panose="02020603050405020304" pitchFamily="18" charset="0"/>
                </a:rPr>
                <a:t>季度交货的</a:t>
              </a:r>
              <a:r>
                <a:rPr lang="en-US" altLang="zh-CN" sz="1600" i="1">
                  <a:solidFill>
                    <a:srgbClr val="FF00FF"/>
                  </a:solidFill>
                  <a:latin typeface="Times New Roman" panose="02020603050405020304" pitchFamily="18" charset="0"/>
                </a:rPr>
                <a:t>x</a:t>
              </a:r>
              <a:r>
                <a:rPr lang="en-US" altLang="zh-CN" sz="1600" baseline="-25000">
                  <a:solidFill>
                    <a:srgbClr val="FF00FF"/>
                  </a:solidFill>
                  <a:latin typeface="Times New Roman" panose="02020603050405020304" pitchFamily="18" charset="0"/>
                </a:rPr>
                <a:t>21</a:t>
              </a:r>
              <a:r>
                <a:rPr lang="en-US" altLang="zh-CN" sz="1600">
                  <a:solidFill>
                    <a:srgbClr val="FF00FF"/>
                  </a:solidFill>
                  <a:latin typeface="Times New Roman" panose="02020603050405020304" pitchFamily="18" charset="0"/>
                </a:rPr>
                <a:t>=0</a:t>
              </a:r>
              <a:endParaRPr lang="zh-CN" altLang="en-US" sz="1600">
                <a:solidFill>
                  <a:srgbClr val="FF00FF"/>
                </a:solidFill>
              </a:endParaRPr>
            </a:p>
            <a:p>
              <a:pPr algn="ctr" eaLnBrk="1" hangingPunct="1"/>
              <a:r>
                <a:rPr lang="zh-CN" altLang="en-US" sz="1600">
                  <a:solidFill>
                    <a:srgbClr val="FF00FF"/>
                  </a:solidFill>
                  <a:latin typeface="Times New Roman" panose="02020603050405020304" pitchFamily="18" charset="0"/>
                </a:rPr>
                <a:t>当</a:t>
              </a:r>
              <a:r>
                <a:rPr lang="en-US" altLang="zh-CN" sz="1600" i="1">
                  <a:solidFill>
                    <a:srgbClr val="FF00FF"/>
                  </a:solidFill>
                  <a:latin typeface="Times New Roman" panose="02020603050405020304" pitchFamily="18" charset="0"/>
                </a:rPr>
                <a:t>i</a:t>
              </a:r>
              <a:r>
                <a:rPr lang="en-US" altLang="zh-CN" sz="1600">
                  <a:solidFill>
                    <a:srgbClr val="FF00FF"/>
                  </a:solidFill>
                  <a:latin typeface="Times New Roman" panose="02020603050405020304" pitchFamily="18" charset="0"/>
                </a:rPr>
                <a:t>&gt;</a:t>
              </a:r>
              <a:r>
                <a:rPr lang="en-US" altLang="zh-CN" sz="1600" i="1">
                  <a:solidFill>
                    <a:srgbClr val="FF00FF"/>
                  </a:solidFill>
                  <a:latin typeface="Times New Roman" panose="02020603050405020304" pitchFamily="18" charset="0"/>
                </a:rPr>
                <a:t>j</a:t>
              </a:r>
              <a:r>
                <a:rPr lang="zh-CN" altLang="en-US" sz="1600">
                  <a:solidFill>
                    <a:srgbClr val="FF00FF"/>
                  </a:solidFill>
                  <a:latin typeface="Times New Roman" panose="02020603050405020304" pitchFamily="18" charset="0"/>
                </a:rPr>
                <a:t>时，</a:t>
              </a:r>
              <a:r>
                <a:rPr lang="en-US" altLang="zh-CN" sz="1600" i="1">
                  <a:solidFill>
                    <a:srgbClr val="FF00FF"/>
                  </a:solidFill>
                  <a:latin typeface="Times New Roman" panose="02020603050405020304" pitchFamily="18" charset="0"/>
                </a:rPr>
                <a:t>x</a:t>
              </a:r>
              <a:r>
                <a:rPr lang="en-US" altLang="zh-CN" sz="1600" i="1" baseline="-25000">
                  <a:solidFill>
                    <a:srgbClr val="FF00FF"/>
                  </a:solidFill>
                  <a:latin typeface="Times New Roman" panose="02020603050405020304" pitchFamily="18" charset="0"/>
                </a:rPr>
                <a:t>ij</a:t>
              </a:r>
              <a:r>
                <a:rPr lang="en-US" altLang="zh-CN" sz="1600">
                  <a:solidFill>
                    <a:srgbClr val="FF00FF"/>
                  </a:solidFill>
                  <a:latin typeface="Times New Roman" panose="02020603050405020304" pitchFamily="18" charset="0"/>
                </a:rPr>
                <a:t>=0. </a:t>
              </a:r>
              <a:r>
                <a:rPr lang="zh-CN" altLang="en-US" sz="1600">
                  <a:solidFill>
                    <a:srgbClr val="FF00FF"/>
                  </a:solidFill>
                  <a:latin typeface="Times New Roman" panose="02020603050405020304" pitchFamily="18" charset="0"/>
                </a:rPr>
                <a:t>任意大的正数</a:t>
              </a:r>
              <a:r>
                <a:rPr lang="en-US" altLang="zh-CN" sz="1600">
                  <a:solidFill>
                    <a:srgbClr val="FF00FF"/>
                  </a:solidFill>
                  <a:latin typeface="Times New Roman" panose="02020603050405020304" pitchFamily="18" charset="0"/>
                </a:rPr>
                <a:t>M</a:t>
              </a:r>
              <a:r>
                <a:rPr lang="zh-CN" altLang="en-US" sz="1600">
                  <a:solidFill>
                    <a:srgbClr val="FF00FF"/>
                  </a:solidFill>
                  <a:latin typeface="Times New Roman" panose="02020603050405020304" pitchFamily="18" charset="0"/>
                </a:rPr>
                <a:t>表示不可能的运输方案。</a:t>
              </a:r>
              <a:endParaRPr lang="en-US" altLang="zh-CN" sz="1600">
                <a:solidFill>
                  <a:srgbClr val="FF00FF"/>
                </a:solidFill>
                <a:latin typeface="Times New Roman" panose="02020603050405020304" pitchFamily="18" charset="0"/>
              </a:endParaRPr>
            </a:p>
          </p:txBody>
        </p:sp>
        <p:cxnSp>
          <p:nvCxnSpPr>
            <p:cNvPr id="6" name="直接箭头连接符 5">
              <a:extLst>
                <a:ext uri="{FF2B5EF4-FFF2-40B4-BE49-F238E27FC236}">
                  <a16:creationId xmlns:a16="http://schemas.microsoft.com/office/drawing/2014/main" id="{FCF4327F-61D9-4BBF-95F9-9ADF2F41522A}"/>
                </a:ext>
              </a:extLst>
            </p:cNvPr>
            <p:cNvCxnSpPr>
              <a:cxnSpLocks/>
            </p:cNvCxnSpPr>
            <p:nvPr/>
          </p:nvCxnSpPr>
          <p:spPr>
            <a:xfrm flipV="1">
              <a:off x="2362200" y="1571903"/>
              <a:ext cx="0" cy="1552297"/>
            </a:xfrm>
            <a:prstGeom prst="straightConnector1">
              <a:avLst/>
            </a:prstGeom>
            <a:ln>
              <a:solidFill>
                <a:srgbClr val="FF00FF"/>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9" name="Group 34">
            <a:extLst>
              <a:ext uri="{FF2B5EF4-FFF2-40B4-BE49-F238E27FC236}">
                <a16:creationId xmlns:a16="http://schemas.microsoft.com/office/drawing/2014/main" id="{72BFFADD-B1A7-4051-98DE-6F929C0609F1}"/>
              </a:ext>
            </a:extLst>
          </p:cNvPr>
          <p:cNvGraphicFramePr>
            <a:graphicFrameLocks noGrp="1"/>
          </p:cNvGraphicFramePr>
          <p:nvPr/>
        </p:nvGraphicFramePr>
        <p:xfrm>
          <a:off x="4889500" y="150813"/>
          <a:ext cx="4038600" cy="1736725"/>
        </p:xfrm>
        <a:graphic>
          <a:graphicData uri="http://schemas.openxmlformats.org/drawingml/2006/table">
            <a:tbl>
              <a:tblPr/>
              <a:tblGrid>
                <a:gridCol w="1345857">
                  <a:extLst>
                    <a:ext uri="{9D8B030D-6E8A-4147-A177-3AD203B41FA5}">
                      <a16:colId xmlns:a16="http://schemas.microsoft.com/office/drawing/2014/main" val="20000"/>
                    </a:ext>
                  </a:extLst>
                </a:gridCol>
                <a:gridCol w="1346888">
                  <a:extLst>
                    <a:ext uri="{9D8B030D-6E8A-4147-A177-3AD203B41FA5}">
                      <a16:colId xmlns:a16="http://schemas.microsoft.com/office/drawing/2014/main" val="20001"/>
                    </a:ext>
                  </a:extLst>
                </a:gridCol>
                <a:gridCol w="1345856">
                  <a:extLst>
                    <a:ext uri="{9D8B030D-6E8A-4147-A177-3AD203B41FA5}">
                      <a16:colId xmlns:a16="http://schemas.microsoft.com/office/drawing/2014/main" val="20002"/>
                    </a:ext>
                  </a:extLst>
                </a:gridCol>
              </a:tblGrid>
              <a:tr h="34734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400" b="1" i="0" u="none" strike="noStrike" cap="none" normalizeH="0" baseline="0" dirty="0">
                          <a:ln>
                            <a:noFill/>
                          </a:ln>
                          <a:solidFill>
                            <a:schemeClr val="bg1"/>
                          </a:solidFill>
                          <a:effectLst/>
                          <a:latin typeface="Times New Roman" pitchFamily="18" charset="0"/>
                          <a:ea typeface="华文细黑" pitchFamily="2" charset="-122"/>
                        </a:rPr>
                        <a:t>季度</a:t>
                      </a:r>
                    </a:p>
                  </a:txBody>
                  <a:tcPr marT="45658" marB="4565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400" b="1" i="0" u="none" strike="noStrike" cap="none" normalizeH="0" baseline="0" dirty="0">
                          <a:ln>
                            <a:noFill/>
                          </a:ln>
                          <a:solidFill>
                            <a:schemeClr val="bg1"/>
                          </a:solidFill>
                          <a:effectLst/>
                          <a:latin typeface="Times New Roman" pitchFamily="18" charset="0"/>
                          <a:ea typeface="华文细黑" pitchFamily="2" charset="-122"/>
                        </a:rPr>
                        <a:t>生产能力</a:t>
                      </a: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a:t>
                      </a:r>
                      <a:r>
                        <a:rPr kumimoji="1" lang="zh-CN" altLang="en-US" sz="1400" b="1" i="0" u="none" strike="noStrike" cap="none" normalizeH="0" baseline="0" dirty="0">
                          <a:ln>
                            <a:noFill/>
                          </a:ln>
                          <a:solidFill>
                            <a:schemeClr val="bg1"/>
                          </a:solidFill>
                          <a:effectLst/>
                          <a:latin typeface="Times New Roman" pitchFamily="18" charset="0"/>
                          <a:ea typeface="华文细黑" pitchFamily="2" charset="-122"/>
                        </a:rPr>
                        <a:t>台</a:t>
                      </a: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zh-CN" altLang="en-US" sz="1400" b="1" i="0" u="none" strike="noStrike" cap="none" normalizeH="0" baseline="0" dirty="0">
                          <a:ln>
                            <a:noFill/>
                          </a:ln>
                          <a:solidFill>
                            <a:schemeClr val="bg1"/>
                          </a:solidFill>
                          <a:effectLst/>
                          <a:latin typeface="Times New Roman" pitchFamily="18" charset="0"/>
                          <a:ea typeface="华文细黑" pitchFamily="2" charset="-122"/>
                        </a:rPr>
                        <a:t>单位成本</a:t>
                      </a: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a:t>
                      </a:r>
                      <a:r>
                        <a:rPr kumimoji="1" lang="zh-CN" altLang="en-US" sz="1400" b="1" i="0" u="none" strike="noStrike" cap="none" normalizeH="0" baseline="0" dirty="0">
                          <a:ln>
                            <a:noFill/>
                          </a:ln>
                          <a:solidFill>
                            <a:schemeClr val="bg1"/>
                          </a:solidFill>
                          <a:effectLst/>
                          <a:latin typeface="Times New Roman" pitchFamily="18" charset="0"/>
                          <a:ea typeface="华文细黑" pitchFamily="2" charset="-122"/>
                        </a:rPr>
                        <a:t>万元</a:t>
                      </a:r>
                    </a:p>
                  </a:txBody>
                  <a:tcPr marT="45658" marB="4565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10000"/>
                  </a:ext>
                </a:extLst>
              </a:tr>
              <a:tr h="34734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Ⅰ</a:t>
                      </a:r>
                    </a:p>
                  </a:txBody>
                  <a:tcPr marT="45658" marB="4565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25</a:t>
                      </a: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10.8</a:t>
                      </a:r>
                    </a:p>
                  </a:txBody>
                  <a:tcPr marT="45658" marB="4565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10001"/>
                  </a:ext>
                </a:extLst>
              </a:tr>
              <a:tr h="34734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a:ln>
                            <a:noFill/>
                          </a:ln>
                          <a:solidFill>
                            <a:schemeClr val="bg1"/>
                          </a:solidFill>
                          <a:effectLst/>
                          <a:latin typeface="Times New Roman" pitchFamily="18" charset="0"/>
                          <a:ea typeface="华文细黑" pitchFamily="2" charset="-122"/>
                        </a:rPr>
                        <a:t>Ⅱ</a:t>
                      </a:r>
                    </a:p>
                  </a:txBody>
                  <a:tcPr marT="45658" marB="4565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35</a:t>
                      </a: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11.1</a:t>
                      </a:r>
                    </a:p>
                  </a:txBody>
                  <a:tcPr marT="45658" marB="4565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10002"/>
                  </a:ext>
                </a:extLst>
              </a:tr>
              <a:tr h="34734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a:ln>
                            <a:noFill/>
                          </a:ln>
                          <a:solidFill>
                            <a:schemeClr val="bg1"/>
                          </a:solidFill>
                          <a:effectLst/>
                          <a:latin typeface="Times New Roman" pitchFamily="18" charset="0"/>
                          <a:ea typeface="华文细黑" pitchFamily="2" charset="-122"/>
                        </a:rPr>
                        <a:t>Ⅲ</a:t>
                      </a:r>
                    </a:p>
                  </a:txBody>
                  <a:tcPr marT="45658" marB="4565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30</a:t>
                      </a: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11</a:t>
                      </a:r>
                    </a:p>
                  </a:txBody>
                  <a:tcPr marT="45658" marB="4565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10003"/>
                  </a:ext>
                </a:extLst>
              </a:tr>
              <a:tr h="347345">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a:ln>
                            <a:noFill/>
                          </a:ln>
                          <a:solidFill>
                            <a:schemeClr val="bg1"/>
                          </a:solidFill>
                          <a:effectLst/>
                          <a:latin typeface="Times New Roman" pitchFamily="18" charset="0"/>
                          <a:ea typeface="华文细黑" pitchFamily="2" charset="-122"/>
                        </a:rPr>
                        <a:t>Ⅳ</a:t>
                      </a:r>
                    </a:p>
                  </a:txBody>
                  <a:tcPr marT="45658" marB="4565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10</a:t>
                      </a: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9900"/>
                    </a:solidFill>
                  </a:tcPr>
                </a:tc>
                <a:tc>
                  <a:txBody>
                    <a:body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1"/>
                          </a:solidFill>
                          <a:effectLst/>
                          <a:latin typeface="Times New Roman" pitchFamily="18" charset="0"/>
                          <a:ea typeface="华文细黑" pitchFamily="2" charset="-122"/>
                        </a:rPr>
                        <a:t>11.3</a:t>
                      </a:r>
                    </a:p>
                  </a:txBody>
                  <a:tcPr marT="45658" marB="4565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10004"/>
                  </a:ext>
                </a:extLst>
              </a:tr>
            </a:tbl>
          </a:graphicData>
        </a:graphic>
      </p:graphicFrame>
      <p:sp>
        <p:nvSpPr>
          <p:cNvPr id="4" name="矩形 3">
            <a:extLst>
              <a:ext uri="{FF2B5EF4-FFF2-40B4-BE49-F238E27FC236}">
                <a16:creationId xmlns:a16="http://schemas.microsoft.com/office/drawing/2014/main" id="{AB3AFB47-249E-4C6A-8DA5-F8B73AFFB490}"/>
              </a:ext>
            </a:extLst>
          </p:cNvPr>
          <p:cNvSpPr/>
          <p:nvPr/>
        </p:nvSpPr>
        <p:spPr>
          <a:xfrm flipH="1">
            <a:off x="8305800" y="1901825"/>
            <a:ext cx="762000" cy="1754188"/>
          </a:xfrm>
          <a:prstGeom prst="rect">
            <a:avLst/>
          </a:prstGeom>
          <a:solidFill>
            <a:srgbClr val="FF9900"/>
          </a:solidFill>
        </p:spPr>
        <p:txBody>
          <a:bodyPr>
            <a:spAutoFit/>
          </a:bodyPr>
          <a:lstStyle/>
          <a:p>
            <a:pPr>
              <a:defRPr/>
            </a:pPr>
            <a:r>
              <a:rPr lang="zh-CN" altLang="en-US" dirty="0">
                <a:solidFill>
                  <a:schemeClr val="bg1"/>
                </a:solidFill>
                <a:latin typeface="+mn-ea"/>
              </a:rPr>
              <a:t>储存、维护等费用</a:t>
            </a:r>
            <a:r>
              <a:rPr lang="en-US" altLang="zh-CN" dirty="0">
                <a:solidFill>
                  <a:schemeClr val="bg1"/>
                </a:solidFill>
                <a:latin typeface="+mn-ea"/>
              </a:rPr>
              <a:t>0.15</a:t>
            </a:r>
            <a:r>
              <a:rPr lang="zh-CN" altLang="en-US" dirty="0">
                <a:solidFill>
                  <a:schemeClr val="bg1"/>
                </a:solidFill>
                <a:latin typeface="+mn-ea"/>
              </a:rPr>
              <a:t>万元</a:t>
            </a:r>
            <a:endParaRPr lang="zh-CN" altLang="en-US" dirty="0">
              <a:solidFill>
                <a:schemeClr val="bg1"/>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4" presetClass="entr" presetSubtype="10" fill="hold" grpId="0" nodeType="clickEffect">
                                  <p:stCondLst>
                                    <p:cond delay="0"/>
                                  </p:stCondLst>
                                  <p:childTnLst>
                                    <p:set>
                                      <p:cBhvr>
                                        <p:cTn id="10" dur="1" fill="hold">
                                          <p:stCondLst>
                                            <p:cond delay="0"/>
                                          </p:stCondLst>
                                        </p:cTn>
                                        <p:tgtEl>
                                          <p:spTgt spid="247864"/>
                                        </p:tgtEl>
                                        <p:attrNameLst>
                                          <p:attrName>style.visibility</p:attrName>
                                        </p:attrNameLst>
                                      </p:cBhvr>
                                      <p:to>
                                        <p:strVal val="visible"/>
                                      </p:to>
                                    </p:set>
                                    <p:animEffect transition="in" filter="randombar(horizontal)">
                                      <p:cBhvr>
                                        <p:cTn id="11" dur="500"/>
                                        <p:tgtEl>
                                          <p:spTgt spid="2478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6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2" descr="Large confetti">
            <a:extLst>
              <a:ext uri="{FF2B5EF4-FFF2-40B4-BE49-F238E27FC236}">
                <a16:creationId xmlns:a16="http://schemas.microsoft.com/office/drawing/2014/main" id="{C4663773-72C3-4641-B2D2-D4AE284192D1}"/>
              </a:ext>
            </a:extLst>
          </p:cNvPr>
          <p:cNvSpPr>
            <a:spLocks noGrp="1" noChangeArrowheads="1"/>
          </p:cNvSpPr>
          <p:nvPr>
            <p:ph type="title"/>
          </p:nvPr>
        </p:nvSpPr>
        <p:spPr/>
        <p:txBody>
          <a:bodyPr/>
          <a:lstStyle/>
          <a:p>
            <a:pPr eaLnBrk="1" hangingPunct="1"/>
            <a:r>
              <a:rPr lang="zh-CN" altLang="en-US"/>
              <a:t>生产与储存问题</a:t>
            </a:r>
          </a:p>
        </p:txBody>
      </p:sp>
      <p:sp>
        <p:nvSpPr>
          <p:cNvPr id="121859" name="Text Box 4">
            <a:extLst>
              <a:ext uri="{FF2B5EF4-FFF2-40B4-BE49-F238E27FC236}">
                <a16:creationId xmlns:a16="http://schemas.microsoft.com/office/drawing/2014/main" id="{A46D03A1-4522-4774-B893-ABBF81B7C038}"/>
              </a:ext>
            </a:extLst>
          </p:cNvPr>
          <p:cNvSpPr txBox="1">
            <a:spLocks noChangeArrowheads="1"/>
          </p:cNvSpPr>
          <p:nvPr/>
        </p:nvSpPr>
        <p:spPr bwMode="auto">
          <a:xfrm>
            <a:off x="152400" y="1092200"/>
            <a:ext cx="5907088"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lgn="ctr">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pPr>
            <a:r>
              <a:rPr kumimoji="1" lang="zh-CN" altLang="en-US" sz="2400" b="1">
                <a:latin typeface="Times New Roman" panose="02020603050405020304" pitchFamily="18" charset="0"/>
                <a:cs typeface="Times New Roman" panose="02020603050405020304" pitchFamily="18" charset="0"/>
              </a:rPr>
              <a:t>该问题的数学模型：</a:t>
            </a:r>
          </a:p>
          <a:p>
            <a:pPr eaLnBrk="1" hangingPunct="1">
              <a:spcBef>
                <a:spcPct val="20000"/>
              </a:spcBef>
            </a:pPr>
            <a:r>
              <a:rPr kumimoji="1" lang="en-US" altLang="zh-CN" sz="2000" b="1">
                <a:latin typeface="Times New Roman" panose="02020603050405020304" pitchFamily="18" charset="0"/>
                <a:cs typeface="Times New Roman" panose="02020603050405020304" pitchFamily="18" charset="0"/>
              </a:rPr>
              <a:t>min f = 10.8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11</a:t>
            </a:r>
            <a:r>
              <a:rPr kumimoji="1" lang="en-US" altLang="zh-CN" sz="2000" b="1">
                <a:latin typeface="Times New Roman" panose="02020603050405020304" pitchFamily="18" charset="0"/>
                <a:cs typeface="Times New Roman" panose="02020603050405020304" pitchFamily="18" charset="0"/>
              </a:rPr>
              <a:t> +10.95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12</a:t>
            </a:r>
            <a:r>
              <a:rPr kumimoji="1" lang="en-US" altLang="zh-CN" sz="2000" b="1">
                <a:latin typeface="Times New Roman" panose="02020603050405020304" pitchFamily="18" charset="0"/>
                <a:cs typeface="Times New Roman" panose="02020603050405020304" pitchFamily="18" charset="0"/>
              </a:rPr>
              <a:t> +11.1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13</a:t>
            </a:r>
            <a:r>
              <a:rPr kumimoji="1" lang="en-US" altLang="zh-CN" sz="2000" b="1">
                <a:latin typeface="Times New Roman" panose="02020603050405020304" pitchFamily="18" charset="0"/>
                <a:cs typeface="Times New Roman" panose="02020603050405020304" pitchFamily="18" charset="0"/>
              </a:rPr>
              <a:t> +11.25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14</a:t>
            </a:r>
            <a:r>
              <a:rPr kumimoji="1" lang="en-US" altLang="zh-CN" sz="2000" b="1">
                <a:latin typeface="Times New Roman" panose="02020603050405020304" pitchFamily="18" charset="0"/>
                <a:cs typeface="Times New Roman" panose="02020603050405020304" pitchFamily="18" charset="0"/>
              </a:rPr>
              <a:t> </a:t>
            </a:r>
            <a:r>
              <a:rPr kumimoji="1" lang="en-US" altLang="zh-CN" sz="2000" b="1">
                <a:solidFill>
                  <a:srgbClr val="FF0000"/>
                </a:solidFill>
                <a:latin typeface="Times New Roman" panose="02020603050405020304" pitchFamily="18" charset="0"/>
                <a:cs typeface="Times New Roman" panose="02020603050405020304" pitchFamily="18" charset="0"/>
              </a:rPr>
              <a:t>+</a:t>
            </a:r>
            <a:r>
              <a:rPr kumimoji="1" lang="en-US" altLang="zh-CN" sz="2000" b="1">
                <a:solidFill>
                  <a:srgbClr val="FF0000"/>
                </a:solidFill>
                <a:latin typeface="Times New Roman" panose="02020603050405020304" pitchFamily="18" charset="0"/>
                <a:ea typeface="华文细黑" panose="02010600040101010101" pitchFamily="2" charset="-122"/>
                <a:cs typeface="Times New Roman" panose="02020603050405020304" pitchFamily="18" charset="0"/>
              </a:rPr>
              <a:t> 0 </a:t>
            </a:r>
            <a:r>
              <a:rPr kumimoji="1" lang="en-US" altLang="zh-CN" sz="2000" b="1" i="1">
                <a:solidFill>
                  <a:srgbClr val="FF0000"/>
                </a:solidFill>
                <a:latin typeface="Times New Roman" panose="02020603050405020304" pitchFamily="18" charset="0"/>
                <a:ea typeface="华文细黑" panose="02010600040101010101" pitchFamily="2" charset="-122"/>
                <a:cs typeface="Times New Roman" panose="02020603050405020304" pitchFamily="18" charset="0"/>
              </a:rPr>
              <a:t>x</a:t>
            </a:r>
            <a:r>
              <a:rPr kumimoji="1" lang="en-US" altLang="zh-CN" sz="2000" b="1" baseline="-25000">
                <a:solidFill>
                  <a:srgbClr val="FF0000"/>
                </a:solidFill>
                <a:latin typeface="Times New Roman" panose="02020603050405020304" pitchFamily="18" charset="0"/>
                <a:ea typeface="华文细黑" panose="02010600040101010101" pitchFamily="2" charset="-122"/>
                <a:cs typeface="Times New Roman" panose="02020603050405020304" pitchFamily="18" charset="0"/>
              </a:rPr>
              <a:t>15</a:t>
            </a:r>
            <a:r>
              <a:rPr kumimoji="1" lang="en-US" altLang="zh-CN" sz="2000" b="1">
                <a:solidFill>
                  <a:srgbClr val="FF0000"/>
                </a:solidFill>
                <a:latin typeface="Times New Roman" panose="02020603050405020304" pitchFamily="18" charset="0"/>
                <a:ea typeface="华文细黑" panose="02010600040101010101" pitchFamily="2" charset="-122"/>
                <a:cs typeface="Times New Roman" panose="02020603050405020304" pitchFamily="18" charset="0"/>
              </a:rPr>
              <a:t> </a:t>
            </a:r>
          </a:p>
          <a:p>
            <a:pPr eaLnBrk="1" hangingPunct="1">
              <a:spcBef>
                <a:spcPct val="20000"/>
              </a:spcBef>
            </a:pPr>
            <a:r>
              <a:rPr kumimoji="1" lang="en-US" altLang="zh-CN" sz="2000" b="1">
                <a:latin typeface="Times New Roman" panose="02020603050405020304" pitchFamily="18" charset="0"/>
                <a:ea typeface="华文细黑" panose="02010600040101010101" pitchFamily="2" charset="-122"/>
                <a:cs typeface="Times New Roman" panose="02020603050405020304" pitchFamily="18" charset="0"/>
              </a:rPr>
              <a:t>             +11.1 </a:t>
            </a:r>
            <a:r>
              <a:rPr kumimoji="1" lang="en-US" altLang="zh-CN" sz="2000" b="1" i="1">
                <a:latin typeface="Times New Roman" panose="02020603050405020304" pitchFamily="18" charset="0"/>
                <a:ea typeface="华文细黑" panose="02010600040101010101" pitchFamily="2" charset="-122"/>
                <a:cs typeface="Times New Roman" panose="02020603050405020304" pitchFamily="18" charset="0"/>
              </a:rPr>
              <a:t>x</a:t>
            </a:r>
            <a:r>
              <a:rPr kumimoji="1" lang="en-US" altLang="zh-CN" sz="2000" b="1" baseline="-25000">
                <a:latin typeface="Times New Roman" panose="02020603050405020304" pitchFamily="18" charset="0"/>
                <a:ea typeface="华文细黑" panose="02010600040101010101" pitchFamily="2" charset="-122"/>
                <a:cs typeface="Times New Roman" panose="02020603050405020304" pitchFamily="18" charset="0"/>
              </a:rPr>
              <a:t>22 </a:t>
            </a:r>
            <a:r>
              <a:rPr kumimoji="1" lang="en-US" altLang="zh-CN" sz="2000" b="1">
                <a:latin typeface="Times New Roman" panose="02020603050405020304" pitchFamily="18" charset="0"/>
                <a:ea typeface="华文细黑" panose="02010600040101010101" pitchFamily="2" charset="-122"/>
                <a:cs typeface="Times New Roman" panose="02020603050405020304" pitchFamily="18" charset="0"/>
              </a:rPr>
              <a:t>+11.25 </a:t>
            </a:r>
            <a:r>
              <a:rPr kumimoji="1" lang="en-US" altLang="zh-CN" sz="2000" b="1" i="1">
                <a:latin typeface="Times New Roman" panose="02020603050405020304" pitchFamily="18" charset="0"/>
                <a:ea typeface="华文细黑" panose="02010600040101010101" pitchFamily="2" charset="-122"/>
                <a:cs typeface="Times New Roman" panose="02020603050405020304" pitchFamily="18" charset="0"/>
              </a:rPr>
              <a:t>x</a:t>
            </a:r>
            <a:r>
              <a:rPr kumimoji="1" lang="en-US" altLang="zh-CN" sz="2000" b="1" baseline="-25000">
                <a:latin typeface="Times New Roman" panose="02020603050405020304" pitchFamily="18" charset="0"/>
                <a:ea typeface="华文细黑" panose="02010600040101010101" pitchFamily="2" charset="-122"/>
                <a:cs typeface="Times New Roman" panose="02020603050405020304" pitchFamily="18" charset="0"/>
              </a:rPr>
              <a:t>23</a:t>
            </a:r>
            <a:r>
              <a:rPr kumimoji="1" lang="en-US" altLang="zh-CN" sz="2000" b="1">
                <a:latin typeface="Times New Roman" panose="02020603050405020304" pitchFamily="18" charset="0"/>
                <a:ea typeface="华文细黑" panose="02010600040101010101" pitchFamily="2" charset="-122"/>
                <a:cs typeface="Times New Roman" panose="02020603050405020304" pitchFamily="18" charset="0"/>
              </a:rPr>
              <a:t>+11.4 </a:t>
            </a:r>
            <a:r>
              <a:rPr kumimoji="1" lang="en-US" altLang="zh-CN" sz="2000" b="1" i="1">
                <a:latin typeface="Times New Roman" panose="02020603050405020304" pitchFamily="18" charset="0"/>
                <a:ea typeface="华文细黑" panose="02010600040101010101" pitchFamily="2" charset="-122"/>
                <a:cs typeface="Times New Roman" panose="02020603050405020304" pitchFamily="18" charset="0"/>
              </a:rPr>
              <a:t>x</a:t>
            </a:r>
            <a:r>
              <a:rPr kumimoji="1" lang="en-US" altLang="zh-CN" sz="2000" b="1" baseline="-25000">
                <a:latin typeface="Times New Roman" panose="02020603050405020304" pitchFamily="18" charset="0"/>
                <a:ea typeface="华文细黑" panose="02010600040101010101" pitchFamily="2" charset="-122"/>
                <a:cs typeface="Times New Roman" panose="02020603050405020304" pitchFamily="18" charset="0"/>
              </a:rPr>
              <a:t>24</a:t>
            </a:r>
            <a:r>
              <a:rPr kumimoji="1" lang="en-US" altLang="zh-CN" sz="2000" b="1">
                <a:solidFill>
                  <a:srgbClr val="FF0000"/>
                </a:solidFill>
                <a:latin typeface="Times New Roman" panose="02020603050405020304" pitchFamily="18" charset="0"/>
                <a:ea typeface="华文细黑" panose="02010600040101010101" pitchFamily="2" charset="-122"/>
              </a:rPr>
              <a:t> + 0 </a:t>
            </a:r>
            <a:r>
              <a:rPr kumimoji="1" lang="en-US" altLang="zh-CN" sz="2000" b="1" i="1">
                <a:solidFill>
                  <a:srgbClr val="FF0000"/>
                </a:solidFill>
                <a:latin typeface="Times New Roman" panose="02020603050405020304" pitchFamily="18" charset="0"/>
                <a:ea typeface="华文细黑" panose="02010600040101010101" pitchFamily="2" charset="-122"/>
              </a:rPr>
              <a:t>x</a:t>
            </a:r>
            <a:r>
              <a:rPr kumimoji="1" lang="en-US" altLang="zh-CN" sz="2000" b="1" baseline="-25000">
                <a:solidFill>
                  <a:srgbClr val="FF0000"/>
                </a:solidFill>
                <a:latin typeface="Times New Roman" panose="02020603050405020304" pitchFamily="18" charset="0"/>
                <a:ea typeface="华文细黑" panose="02010600040101010101" pitchFamily="2" charset="-122"/>
              </a:rPr>
              <a:t>25</a:t>
            </a:r>
            <a:r>
              <a:rPr kumimoji="1" lang="en-US" altLang="zh-CN" sz="2000" b="1">
                <a:latin typeface="Times New Roman" panose="02020603050405020304" pitchFamily="18" charset="0"/>
                <a:cs typeface="Times New Roman" panose="02020603050405020304" pitchFamily="18" charset="0"/>
              </a:rPr>
              <a:t>  </a:t>
            </a:r>
          </a:p>
          <a:p>
            <a:pPr eaLnBrk="1" hangingPunct="1">
              <a:spcBef>
                <a:spcPct val="20000"/>
              </a:spcBef>
            </a:pPr>
            <a:r>
              <a:rPr kumimoji="1" lang="en-US" altLang="zh-CN" sz="2000" b="1">
                <a:latin typeface="Times New Roman" panose="02020603050405020304" pitchFamily="18" charset="0"/>
                <a:cs typeface="Times New Roman" panose="02020603050405020304" pitchFamily="18" charset="0"/>
              </a:rPr>
              <a:t>             +11.0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33</a:t>
            </a:r>
            <a:r>
              <a:rPr kumimoji="1" lang="en-US" altLang="zh-CN" sz="2000" b="1">
                <a:latin typeface="Times New Roman" panose="02020603050405020304" pitchFamily="18" charset="0"/>
                <a:cs typeface="Times New Roman" panose="02020603050405020304" pitchFamily="18" charset="0"/>
              </a:rPr>
              <a:t> +11.15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34</a:t>
            </a:r>
            <a:r>
              <a:rPr kumimoji="1" lang="en-US" altLang="zh-CN" sz="2000" b="1">
                <a:solidFill>
                  <a:srgbClr val="FF0000"/>
                </a:solidFill>
                <a:latin typeface="Times New Roman" panose="02020603050405020304" pitchFamily="18" charset="0"/>
                <a:ea typeface="华文细黑" panose="02010600040101010101" pitchFamily="2" charset="-122"/>
              </a:rPr>
              <a:t>+ 0 </a:t>
            </a:r>
            <a:r>
              <a:rPr kumimoji="1" lang="en-US" altLang="zh-CN" sz="2000" b="1" i="1">
                <a:solidFill>
                  <a:srgbClr val="FF0000"/>
                </a:solidFill>
                <a:latin typeface="Times New Roman" panose="02020603050405020304" pitchFamily="18" charset="0"/>
                <a:ea typeface="华文细黑" panose="02010600040101010101" pitchFamily="2" charset="-122"/>
              </a:rPr>
              <a:t>x</a:t>
            </a:r>
            <a:r>
              <a:rPr kumimoji="1" lang="en-US" altLang="zh-CN" sz="2000" b="1" baseline="-25000">
                <a:solidFill>
                  <a:srgbClr val="FF0000"/>
                </a:solidFill>
                <a:latin typeface="Times New Roman" panose="02020603050405020304" pitchFamily="18" charset="0"/>
                <a:ea typeface="华文细黑" panose="02010600040101010101" pitchFamily="2" charset="-122"/>
              </a:rPr>
              <a:t>35</a:t>
            </a:r>
            <a:r>
              <a:rPr kumimoji="1" lang="en-US" altLang="zh-CN" sz="2000" b="1">
                <a:latin typeface="Times New Roman" panose="02020603050405020304" pitchFamily="18" charset="0"/>
                <a:ea typeface="华文细黑" panose="02010600040101010101" pitchFamily="2" charset="-122"/>
              </a:rPr>
              <a:t> </a:t>
            </a:r>
            <a:endParaRPr kumimoji="1" lang="en-US" altLang="zh-CN" sz="2000" b="1">
              <a:latin typeface="Times New Roman" panose="02020603050405020304" pitchFamily="18" charset="0"/>
              <a:cs typeface="Times New Roman" panose="02020603050405020304" pitchFamily="18" charset="0"/>
            </a:endParaRPr>
          </a:p>
          <a:p>
            <a:pPr eaLnBrk="1" hangingPunct="1">
              <a:spcBef>
                <a:spcPct val="20000"/>
              </a:spcBef>
            </a:pPr>
            <a:r>
              <a:rPr kumimoji="1" lang="en-US" altLang="zh-CN" sz="2000" b="1">
                <a:latin typeface="Times New Roman" panose="02020603050405020304" pitchFamily="18" charset="0"/>
                <a:cs typeface="Times New Roman" panose="02020603050405020304" pitchFamily="18" charset="0"/>
              </a:rPr>
              <a:t>             +11.3 </a:t>
            </a:r>
            <a:r>
              <a:rPr kumimoji="1" lang="en-US" altLang="zh-CN" sz="2000" b="1" i="1">
                <a:latin typeface="Times New Roman" panose="02020603050405020304" pitchFamily="18" charset="0"/>
                <a:cs typeface="Times New Roman" panose="02020603050405020304" pitchFamily="18" charset="0"/>
              </a:rPr>
              <a:t>x</a:t>
            </a:r>
            <a:r>
              <a:rPr kumimoji="1" lang="en-US" altLang="zh-CN" sz="2000" b="1" baseline="-25000">
                <a:latin typeface="Times New Roman" panose="02020603050405020304" pitchFamily="18" charset="0"/>
                <a:cs typeface="Times New Roman" panose="02020603050405020304" pitchFamily="18" charset="0"/>
              </a:rPr>
              <a:t>44</a:t>
            </a:r>
            <a:r>
              <a:rPr kumimoji="1" lang="en-US" altLang="zh-CN" sz="2000" b="1">
                <a:solidFill>
                  <a:srgbClr val="FF0000"/>
                </a:solidFill>
                <a:latin typeface="Times New Roman" panose="02020603050405020304" pitchFamily="18" charset="0"/>
                <a:ea typeface="华文细黑" panose="02010600040101010101" pitchFamily="2" charset="-122"/>
              </a:rPr>
              <a:t>+ 0 </a:t>
            </a:r>
            <a:r>
              <a:rPr kumimoji="1" lang="en-US" altLang="zh-CN" sz="2000" b="1" i="1">
                <a:solidFill>
                  <a:srgbClr val="FF0000"/>
                </a:solidFill>
                <a:latin typeface="Times New Roman" panose="02020603050405020304" pitchFamily="18" charset="0"/>
                <a:ea typeface="华文细黑" panose="02010600040101010101" pitchFamily="2" charset="-122"/>
              </a:rPr>
              <a:t>x</a:t>
            </a:r>
            <a:r>
              <a:rPr kumimoji="1" lang="en-US" altLang="zh-CN" sz="2000" b="1" baseline="-25000">
                <a:solidFill>
                  <a:srgbClr val="FF0000"/>
                </a:solidFill>
                <a:latin typeface="Times New Roman" panose="02020603050405020304" pitchFamily="18" charset="0"/>
                <a:ea typeface="华文细黑" panose="02010600040101010101" pitchFamily="2" charset="-122"/>
              </a:rPr>
              <a:t>45</a:t>
            </a:r>
            <a:r>
              <a:rPr kumimoji="1" lang="en-US" altLang="zh-CN" sz="2000" b="1">
                <a:latin typeface="Times New Roman" panose="02020603050405020304" pitchFamily="18" charset="0"/>
                <a:ea typeface="华文细黑" panose="02010600040101010101" pitchFamily="2" charset="-122"/>
              </a:rPr>
              <a:t> </a:t>
            </a:r>
            <a:endParaRPr kumimoji="1" lang="en-US" altLang="zh-CN" sz="2000" b="1">
              <a:latin typeface="Times New Roman" panose="02020603050405020304" pitchFamily="18" charset="0"/>
              <a:cs typeface="Times New Roman" panose="02020603050405020304" pitchFamily="18" charset="0"/>
            </a:endParaRPr>
          </a:p>
        </p:txBody>
      </p:sp>
      <p:graphicFrame>
        <p:nvGraphicFramePr>
          <p:cNvPr id="218189" name="Group 77">
            <a:extLst>
              <a:ext uri="{FF2B5EF4-FFF2-40B4-BE49-F238E27FC236}">
                <a16:creationId xmlns:a16="http://schemas.microsoft.com/office/drawing/2014/main" id="{463A9069-EECB-49F6-8775-B937558370EB}"/>
              </a:ext>
            </a:extLst>
          </p:cNvPr>
          <p:cNvGraphicFramePr>
            <a:graphicFrameLocks noGrp="1"/>
          </p:cNvGraphicFramePr>
          <p:nvPr/>
        </p:nvGraphicFramePr>
        <p:xfrm>
          <a:off x="539750" y="3259138"/>
          <a:ext cx="7345363" cy="3113087"/>
        </p:xfrm>
        <a:graphic>
          <a:graphicData uri="http://schemas.openxmlformats.org/drawingml/2006/table">
            <a:tbl>
              <a:tblPr/>
              <a:tblGrid>
                <a:gridCol w="1049338">
                  <a:extLst>
                    <a:ext uri="{9D8B030D-6E8A-4147-A177-3AD203B41FA5}">
                      <a16:colId xmlns:a16="http://schemas.microsoft.com/office/drawing/2014/main" val="20000"/>
                    </a:ext>
                  </a:extLst>
                </a:gridCol>
                <a:gridCol w="1049337">
                  <a:extLst>
                    <a:ext uri="{9D8B030D-6E8A-4147-A177-3AD203B41FA5}">
                      <a16:colId xmlns:a16="http://schemas.microsoft.com/office/drawing/2014/main" val="20001"/>
                    </a:ext>
                  </a:extLst>
                </a:gridCol>
                <a:gridCol w="1049338">
                  <a:extLst>
                    <a:ext uri="{9D8B030D-6E8A-4147-A177-3AD203B41FA5}">
                      <a16:colId xmlns:a16="http://schemas.microsoft.com/office/drawing/2014/main" val="20002"/>
                    </a:ext>
                  </a:extLst>
                </a:gridCol>
                <a:gridCol w="1049337">
                  <a:extLst>
                    <a:ext uri="{9D8B030D-6E8A-4147-A177-3AD203B41FA5}">
                      <a16:colId xmlns:a16="http://schemas.microsoft.com/office/drawing/2014/main" val="20003"/>
                    </a:ext>
                  </a:extLst>
                </a:gridCol>
                <a:gridCol w="1049338">
                  <a:extLst>
                    <a:ext uri="{9D8B030D-6E8A-4147-A177-3AD203B41FA5}">
                      <a16:colId xmlns:a16="http://schemas.microsoft.com/office/drawing/2014/main" val="20004"/>
                    </a:ext>
                  </a:extLst>
                </a:gridCol>
                <a:gridCol w="1049337">
                  <a:extLst>
                    <a:ext uri="{9D8B030D-6E8A-4147-A177-3AD203B41FA5}">
                      <a16:colId xmlns:a16="http://schemas.microsoft.com/office/drawing/2014/main" val="20005"/>
                    </a:ext>
                  </a:extLst>
                </a:gridCol>
                <a:gridCol w="1049338">
                  <a:extLst>
                    <a:ext uri="{9D8B030D-6E8A-4147-A177-3AD203B41FA5}">
                      <a16:colId xmlns:a16="http://schemas.microsoft.com/office/drawing/2014/main" val="20006"/>
                    </a:ext>
                  </a:extLst>
                </a:gridCol>
              </a:tblGrid>
              <a:tr h="790878">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            j</a:t>
                      </a:r>
                    </a:p>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i</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Ⅰ</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Ⅱ</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Ⅲ</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D</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Ⅰ</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10.8</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10.95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11.1</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11.25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FF0000"/>
                          </a:solidFill>
                          <a:effectLst/>
                          <a:latin typeface="Times New Roman" panose="02020603050405020304" pitchFamily="18" charset="0"/>
                          <a:ea typeface="华文细黑" panose="02010600040101010101" pitchFamily="2" charset="-122"/>
                        </a:rPr>
                        <a:t>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25</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Ⅱ</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11.10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11.25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11.40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35</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Ⅲ</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11.00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30</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M</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11.30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001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销量</a:t>
                      </a:r>
                    </a:p>
                  </a:txBody>
                  <a:tcPr marT="45685" marB="4568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15</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25</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30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100</a:t>
                      </a:r>
                    </a:p>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rgbClr val="FF0000"/>
                          </a:solidFill>
                          <a:effectLst/>
                          <a:latin typeface="Times New Roman" panose="02020603050405020304" pitchFamily="18" charset="0"/>
                          <a:ea typeface="华文细黑" panose="02010600040101010101" pitchFamily="2" charset="-122"/>
                        </a:rPr>
                        <a:t>100</a:t>
                      </a:r>
                    </a:p>
                  </a:txBody>
                  <a:tcPr marT="45685" marB="4568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extLst>
                  <a:ext uri="{0D108BD9-81ED-4DB2-BD59-A6C34878D82A}">
                    <a16:rowId xmlns:a16="http://schemas.microsoft.com/office/drawing/2014/main" val="10005"/>
                  </a:ext>
                </a:extLst>
              </a:tr>
            </a:tbl>
          </a:graphicData>
        </a:graphic>
      </p:graphicFrame>
      <p:grpSp>
        <p:nvGrpSpPr>
          <p:cNvPr id="2" name="组合 1">
            <a:extLst>
              <a:ext uri="{FF2B5EF4-FFF2-40B4-BE49-F238E27FC236}">
                <a16:creationId xmlns:a16="http://schemas.microsoft.com/office/drawing/2014/main" id="{E5AD832C-D8A9-408B-84C1-93A675C2676B}"/>
              </a:ext>
            </a:extLst>
          </p:cNvPr>
          <p:cNvGrpSpPr>
            <a:grpSpLocks/>
          </p:cNvGrpSpPr>
          <p:nvPr/>
        </p:nvGrpSpPr>
        <p:grpSpPr bwMode="auto">
          <a:xfrm>
            <a:off x="5943600" y="2286000"/>
            <a:ext cx="3167063" cy="903288"/>
            <a:chOff x="5943600" y="1610280"/>
            <a:chExt cx="3166367" cy="903288"/>
          </a:xfrm>
        </p:grpSpPr>
        <p:graphicFrame>
          <p:nvGraphicFramePr>
            <p:cNvPr id="121922" name="Object 7">
              <a:extLst>
                <a:ext uri="{FF2B5EF4-FFF2-40B4-BE49-F238E27FC236}">
                  <a16:creationId xmlns:a16="http://schemas.microsoft.com/office/drawing/2014/main" id="{E06907E2-D0B8-48E8-B602-F2773EE3F0E2}"/>
                </a:ext>
              </a:extLst>
            </p:cNvPr>
            <p:cNvGraphicFramePr>
              <a:graphicFrameLocks noChangeAspect="1"/>
            </p:cNvGraphicFramePr>
            <p:nvPr/>
          </p:nvGraphicFramePr>
          <p:xfrm>
            <a:off x="6485830" y="1610280"/>
            <a:ext cx="2624137" cy="903288"/>
          </p:xfrm>
          <a:graphic>
            <a:graphicData uri="http://schemas.openxmlformats.org/presentationml/2006/ole">
              <mc:AlternateContent xmlns:mc="http://schemas.openxmlformats.org/markup-compatibility/2006">
                <mc:Choice xmlns:v="urn:schemas-microsoft-com:vml" Requires="v">
                  <p:oleObj spid="_x0000_s121936" name="Equation" r:id="rId3" imgW="1180588" imgH="406224" progId="Equation.DSMT4">
                    <p:embed/>
                  </p:oleObj>
                </mc:Choice>
                <mc:Fallback>
                  <p:oleObj name="Equation" r:id="rId3" imgW="1180588" imgH="406224" progId="Equation.DSMT4">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5830" y="1610280"/>
                          <a:ext cx="2624137" cy="90328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 name="箭头: 下 5">
              <a:extLst>
                <a:ext uri="{FF2B5EF4-FFF2-40B4-BE49-F238E27FC236}">
                  <a16:creationId xmlns:a16="http://schemas.microsoft.com/office/drawing/2014/main" id="{AB9BDE64-F81D-4A9A-AB79-59ED4A5FC6D9}"/>
                </a:ext>
              </a:extLst>
            </p:cNvPr>
            <p:cNvSpPr/>
            <p:nvPr/>
          </p:nvSpPr>
          <p:spPr>
            <a:xfrm rot="16200000">
              <a:off x="5980856" y="1833374"/>
              <a:ext cx="382588" cy="4571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graphicFrame>
        <p:nvGraphicFramePr>
          <p:cNvPr id="8" name="对象 7">
            <a:extLst>
              <a:ext uri="{FF2B5EF4-FFF2-40B4-BE49-F238E27FC236}">
                <a16:creationId xmlns:a16="http://schemas.microsoft.com/office/drawing/2014/main" id="{B7E9272D-63BA-4BFC-9A1F-F78FF1F95638}"/>
              </a:ext>
            </a:extLst>
          </p:cNvPr>
          <p:cNvGraphicFramePr>
            <a:graphicFrameLocks noChangeAspect="1"/>
          </p:cNvGraphicFramePr>
          <p:nvPr/>
        </p:nvGraphicFramePr>
        <p:xfrm>
          <a:off x="6726238" y="0"/>
          <a:ext cx="2417762" cy="2212975"/>
        </p:xfrm>
        <a:graphic>
          <a:graphicData uri="http://schemas.openxmlformats.org/presentationml/2006/ole">
            <mc:AlternateContent xmlns:mc="http://schemas.openxmlformats.org/markup-compatibility/2006">
              <mc:Choice xmlns:v="urn:schemas-microsoft-com:vml" Requires="v">
                <p:oleObj spid="_x0000_s121937" name="Equation" r:id="rId5" imgW="1193800" imgH="1092200" progId="Equation.DSMT4">
                  <p:embed/>
                </p:oleObj>
              </mc:Choice>
              <mc:Fallback>
                <p:oleObj name="Equation" r:id="rId5" imgW="1193800" imgH="1092200" progId="Equation.DSMT4">
                  <p:embed/>
                  <p:pic>
                    <p:nvPicPr>
                      <p:cNvPr id="0"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26238" y="0"/>
                        <a:ext cx="2417762" cy="2212975"/>
                      </a:xfrm>
                      <a:prstGeom prst="rect">
                        <a:avLst/>
                      </a:prstGeom>
                      <a:solidFill>
                        <a:srgbClr val="FFC000"/>
                      </a:solidFill>
                      <a:ln w="9525">
                        <a:solidFill>
                          <a:srgbClr val="FF00FF"/>
                        </a:solidFill>
                        <a:miter lim="800000"/>
                        <a:headEnd/>
                        <a:tailEnd/>
                      </a:ln>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4" presetClass="entr" presetSubtype="1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randombar(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2" descr="Large confetti">
            <a:extLst>
              <a:ext uri="{FF2B5EF4-FFF2-40B4-BE49-F238E27FC236}">
                <a16:creationId xmlns:a16="http://schemas.microsoft.com/office/drawing/2014/main" id="{DC7713E5-10D2-4978-AC02-7590E7307B84}"/>
              </a:ext>
            </a:extLst>
          </p:cNvPr>
          <p:cNvSpPr>
            <a:spLocks noGrp="1" noChangeArrowheads="1"/>
          </p:cNvSpPr>
          <p:nvPr>
            <p:ph type="title"/>
          </p:nvPr>
        </p:nvSpPr>
        <p:spPr/>
        <p:txBody>
          <a:bodyPr/>
          <a:lstStyle/>
          <a:p>
            <a:pPr eaLnBrk="1" hangingPunct="1"/>
            <a:r>
              <a:rPr lang="zh-CN" altLang="en-US"/>
              <a:t>生产与储存问题</a:t>
            </a:r>
          </a:p>
        </p:txBody>
      </p:sp>
      <p:graphicFrame>
        <p:nvGraphicFramePr>
          <p:cNvPr id="219210" name="Group 74">
            <a:extLst>
              <a:ext uri="{FF2B5EF4-FFF2-40B4-BE49-F238E27FC236}">
                <a16:creationId xmlns:a16="http://schemas.microsoft.com/office/drawing/2014/main" id="{10AE3673-12FF-493A-ACDF-5B0CCE2D3840}"/>
              </a:ext>
            </a:extLst>
          </p:cNvPr>
          <p:cNvGraphicFramePr>
            <a:graphicFrameLocks noGrp="1"/>
          </p:cNvGraphicFramePr>
          <p:nvPr>
            <p:ph type="body" idx="1"/>
          </p:nvPr>
        </p:nvGraphicFramePr>
        <p:xfrm>
          <a:off x="620713" y="2508250"/>
          <a:ext cx="6911975" cy="3113088"/>
        </p:xfrm>
        <a:graphic>
          <a:graphicData uri="http://schemas.openxmlformats.org/drawingml/2006/table">
            <a:tbl>
              <a:tblPr/>
              <a:tblGrid>
                <a:gridCol w="987425">
                  <a:extLst>
                    <a:ext uri="{9D8B030D-6E8A-4147-A177-3AD203B41FA5}">
                      <a16:colId xmlns:a16="http://schemas.microsoft.com/office/drawing/2014/main" val="20000"/>
                    </a:ext>
                  </a:extLst>
                </a:gridCol>
                <a:gridCol w="987425">
                  <a:extLst>
                    <a:ext uri="{9D8B030D-6E8A-4147-A177-3AD203B41FA5}">
                      <a16:colId xmlns:a16="http://schemas.microsoft.com/office/drawing/2014/main" val="20001"/>
                    </a:ext>
                  </a:extLst>
                </a:gridCol>
                <a:gridCol w="987425">
                  <a:extLst>
                    <a:ext uri="{9D8B030D-6E8A-4147-A177-3AD203B41FA5}">
                      <a16:colId xmlns:a16="http://schemas.microsoft.com/office/drawing/2014/main" val="20002"/>
                    </a:ext>
                  </a:extLst>
                </a:gridCol>
                <a:gridCol w="987425">
                  <a:extLst>
                    <a:ext uri="{9D8B030D-6E8A-4147-A177-3AD203B41FA5}">
                      <a16:colId xmlns:a16="http://schemas.microsoft.com/office/drawing/2014/main" val="20003"/>
                    </a:ext>
                  </a:extLst>
                </a:gridCol>
                <a:gridCol w="987425">
                  <a:extLst>
                    <a:ext uri="{9D8B030D-6E8A-4147-A177-3AD203B41FA5}">
                      <a16:colId xmlns:a16="http://schemas.microsoft.com/office/drawing/2014/main" val="20004"/>
                    </a:ext>
                  </a:extLst>
                </a:gridCol>
                <a:gridCol w="987425">
                  <a:extLst>
                    <a:ext uri="{9D8B030D-6E8A-4147-A177-3AD203B41FA5}">
                      <a16:colId xmlns:a16="http://schemas.microsoft.com/office/drawing/2014/main" val="20005"/>
                    </a:ext>
                  </a:extLst>
                </a:gridCol>
                <a:gridCol w="987425">
                  <a:extLst>
                    <a:ext uri="{9D8B030D-6E8A-4147-A177-3AD203B41FA5}">
                      <a16:colId xmlns:a16="http://schemas.microsoft.com/office/drawing/2014/main" val="20006"/>
                    </a:ext>
                  </a:extLst>
                </a:gridCol>
              </a:tblGrid>
              <a:tr h="790878">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j</a:t>
                      </a:r>
                    </a:p>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err="1">
                          <a:ln>
                            <a:noFill/>
                          </a:ln>
                          <a:solidFill>
                            <a:schemeClr val="bg2"/>
                          </a:solidFill>
                          <a:effectLst/>
                          <a:latin typeface="Times New Roman" panose="02020603050405020304" pitchFamily="18" charset="0"/>
                          <a:ea typeface="华文细黑" panose="02010600040101010101" pitchFamily="2" charset="-122"/>
                        </a:rPr>
                        <a:t>i</a:t>
                      </a:r>
                      <a:endPar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Ⅰ</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Ⅱ</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Ⅲ</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D</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zh-CN" altLang="en-US"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产量</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Ⅰ</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10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15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rPr>
                        <a:t>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25</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Ⅱ</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rPr>
                        <a:t>30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35</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Ⅲ</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25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5</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30</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20550">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txBody>
                  <a:tcPr marT="45685" marB="4568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10</a:t>
                      </a: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8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T="45685" marB="4568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685" marB="4568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0009">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销量</a:t>
                      </a:r>
                    </a:p>
                  </a:txBody>
                  <a:tcPr marT="45685" marB="4568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15</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25</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20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30</a:t>
                      </a:r>
                    </a:p>
                  </a:txBody>
                  <a:tcPr marT="45685" marB="4568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100</a:t>
                      </a:r>
                    </a:p>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100</a:t>
                      </a:r>
                    </a:p>
                  </a:txBody>
                  <a:tcPr marT="45685" marB="4568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extLst>
                  <a:ext uri="{0D108BD9-81ED-4DB2-BD59-A6C34878D82A}">
                    <a16:rowId xmlns:a16="http://schemas.microsoft.com/office/drawing/2014/main" val="10005"/>
                  </a:ext>
                </a:extLst>
              </a:tr>
            </a:tbl>
          </a:graphicData>
        </a:graphic>
      </p:graphicFrame>
      <p:sp>
        <p:nvSpPr>
          <p:cNvPr id="249919" name="Text Box 72">
            <a:extLst>
              <a:ext uri="{FF2B5EF4-FFF2-40B4-BE49-F238E27FC236}">
                <a16:creationId xmlns:a16="http://schemas.microsoft.com/office/drawing/2014/main" id="{BEBC356A-308A-40A0-8C7F-40593BE872A9}"/>
              </a:ext>
            </a:extLst>
          </p:cNvPr>
          <p:cNvSpPr txBox="1">
            <a:spLocks noChangeArrowheads="1"/>
          </p:cNvSpPr>
          <p:nvPr/>
        </p:nvSpPr>
        <p:spPr bwMode="auto">
          <a:xfrm>
            <a:off x="533400" y="1562100"/>
            <a:ext cx="7561263" cy="461963"/>
          </a:xfrm>
          <a:prstGeom prst="rect">
            <a:avLst/>
          </a:prstGeom>
          <a:noFill/>
          <a:ln>
            <a:noFill/>
          </a:ln>
        </p:spPr>
        <p:txBody>
          <a:bodyPr>
            <a:spAutoFit/>
          </a:bodyPr>
          <a:lstStyle>
            <a:lvl1pPr eaLnBrk="0" hangingPunct="0">
              <a:defRPr kumimoji="1" sz="2400" b="1">
                <a:solidFill>
                  <a:schemeClr val="bg2"/>
                </a:solidFill>
                <a:latin typeface="Times New Roman" panose="02020603050405020304" pitchFamily="18" charset="0"/>
                <a:ea typeface="华文细黑" panose="02010600040101010101" pitchFamily="2" charset="-122"/>
              </a:defRPr>
            </a:lvl1pPr>
            <a:lvl2pPr marL="742950" indent="-285750" eaLnBrk="0" hangingPunct="0">
              <a:defRPr kumimoji="1" sz="2400" b="1">
                <a:solidFill>
                  <a:schemeClr val="bg2"/>
                </a:solidFill>
                <a:latin typeface="Times New Roman" panose="02020603050405020304" pitchFamily="18" charset="0"/>
                <a:ea typeface="华文细黑" panose="02010600040101010101" pitchFamily="2" charset="-122"/>
              </a:defRPr>
            </a:lvl2pPr>
            <a:lvl3pPr marL="1143000" indent="-228600" eaLnBrk="0" hangingPunct="0">
              <a:defRPr kumimoji="1" sz="2400" b="1">
                <a:solidFill>
                  <a:schemeClr val="bg2"/>
                </a:solidFill>
                <a:latin typeface="Times New Roman" panose="02020603050405020304" pitchFamily="18" charset="0"/>
                <a:ea typeface="华文细黑" panose="02010600040101010101" pitchFamily="2" charset="-122"/>
              </a:defRPr>
            </a:lvl3pPr>
            <a:lvl4pPr marL="1600200" indent="-228600" eaLnBrk="0" hangingPunct="0">
              <a:defRPr kumimoji="1" sz="2400" b="1">
                <a:solidFill>
                  <a:schemeClr val="bg2"/>
                </a:solidFill>
                <a:latin typeface="Times New Roman" panose="02020603050405020304" pitchFamily="18" charset="0"/>
                <a:ea typeface="华文细黑" panose="02010600040101010101" pitchFamily="2" charset="-122"/>
              </a:defRPr>
            </a:lvl4pPr>
            <a:lvl5pPr marL="2057400" indent="-228600" eaLnBrk="0" hangingPunct="0">
              <a:defRPr kumimoji="1" sz="2400" b="1">
                <a:solidFill>
                  <a:schemeClr val="bg2"/>
                </a:solidFill>
                <a:latin typeface="Times New Roman" panose="02020603050405020304" pitchFamily="18" charset="0"/>
                <a:ea typeface="华文细黑" panose="02010600040101010101" pitchFamily="2" charset="-122"/>
              </a:defRPr>
            </a:lvl5pPr>
            <a:lvl6pPr marL="25146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6pPr>
            <a:lvl7pPr marL="29718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7pPr>
            <a:lvl8pPr marL="34290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8pPr>
            <a:lvl9pPr marL="3886200" indent="-228600" eaLnBrk="0" fontAlgn="base" hangingPunct="0">
              <a:lnSpc>
                <a:spcPct val="120000"/>
              </a:lnSpc>
              <a:spcBef>
                <a:spcPct val="50000"/>
              </a:spcBef>
              <a:spcAft>
                <a:spcPct val="0"/>
              </a:spcAft>
              <a:buSzPct val="85000"/>
              <a:defRPr kumimoji="1" sz="2400" b="1">
                <a:solidFill>
                  <a:schemeClr val="bg2"/>
                </a:solidFill>
                <a:latin typeface="Times New Roman" panose="02020603050405020304" pitchFamily="18" charset="0"/>
                <a:ea typeface="华文细黑" panose="02010600040101010101" pitchFamily="2" charset="-122"/>
              </a:defRPr>
            </a:lvl9pPr>
          </a:lstStyle>
          <a:p>
            <a:pPr eaLnBrk="1" hangingPunct="1">
              <a:defRPr/>
            </a:pPr>
            <a:r>
              <a:rPr lang="zh-CN" altLang="en-US" dirty="0">
                <a:solidFill>
                  <a:schemeClr val="tx1"/>
                </a:solidFill>
                <a:latin typeface="+mn-ea"/>
                <a:ea typeface="+mn-ea"/>
              </a:rPr>
              <a:t>最优生产决策如下表，最小费用</a:t>
            </a:r>
            <a:r>
              <a:rPr lang="en-US" altLang="zh-CN" dirty="0">
                <a:solidFill>
                  <a:schemeClr val="tx1"/>
                </a:solidFill>
                <a:latin typeface="+mn-ea"/>
                <a:ea typeface="+mn-ea"/>
              </a:rPr>
              <a:t>z</a:t>
            </a:r>
            <a:r>
              <a:rPr lang="zh-CN" altLang="en-US" dirty="0">
                <a:solidFill>
                  <a:schemeClr val="tx1"/>
                </a:solidFill>
                <a:latin typeface="+mn-ea"/>
                <a:ea typeface="+mn-ea"/>
              </a:rPr>
              <a:t>＝</a:t>
            </a:r>
            <a:r>
              <a:rPr lang="en-US" altLang="zh-CN" dirty="0">
                <a:solidFill>
                  <a:schemeClr val="tx1"/>
                </a:solidFill>
                <a:latin typeface="+mn-ea"/>
                <a:ea typeface="+mn-ea"/>
              </a:rPr>
              <a:t>773</a:t>
            </a:r>
            <a:r>
              <a:rPr lang="zh-CN" altLang="en-US" dirty="0">
                <a:solidFill>
                  <a:schemeClr val="tx1"/>
                </a:solidFill>
                <a:latin typeface="+mn-ea"/>
                <a:ea typeface="+mn-ea"/>
              </a:rPr>
              <a:t>万元。</a:t>
            </a:r>
          </a:p>
        </p:txBody>
      </p:sp>
      <p:grpSp>
        <p:nvGrpSpPr>
          <p:cNvPr id="5" name="Group 25">
            <a:extLst>
              <a:ext uri="{FF2B5EF4-FFF2-40B4-BE49-F238E27FC236}">
                <a16:creationId xmlns:a16="http://schemas.microsoft.com/office/drawing/2014/main" id="{1657CF7A-3FF6-4FC7-939D-DE9BEA2E9471}"/>
              </a:ext>
            </a:extLst>
          </p:cNvPr>
          <p:cNvGrpSpPr>
            <a:grpSpLocks/>
          </p:cNvGrpSpPr>
          <p:nvPr/>
        </p:nvGrpSpPr>
        <p:grpSpPr bwMode="auto">
          <a:xfrm>
            <a:off x="2133600" y="1447800"/>
            <a:ext cx="6202363" cy="4913313"/>
            <a:chOff x="1331" y="1026"/>
            <a:chExt cx="3907" cy="3095"/>
          </a:xfrm>
        </p:grpSpPr>
        <p:sp>
          <p:nvSpPr>
            <p:cNvPr id="122945" name="Text Box 4">
              <a:extLst>
                <a:ext uri="{FF2B5EF4-FFF2-40B4-BE49-F238E27FC236}">
                  <a16:creationId xmlns:a16="http://schemas.microsoft.com/office/drawing/2014/main" id="{0CDBE58F-A021-4306-8A5A-87925356B6E1}"/>
                </a:ext>
              </a:extLst>
            </p:cNvPr>
            <p:cNvSpPr txBox="1">
              <a:spLocks noChangeArrowheads="1"/>
            </p:cNvSpPr>
            <p:nvPr/>
          </p:nvSpPr>
          <p:spPr bwMode="auto">
            <a:xfrm>
              <a:off x="1655" y="1026"/>
              <a:ext cx="1768"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分析实际问题列出产销平衡表及单位运价表</a:t>
              </a:r>
            </a:p>
          </p:txBody>
        </p:sp>
        <p:sp>
          <p:nvSpPr>
            <p:cNvPr id="122946" name="Text Box 6">
              <a:extLst>
                <a:ext uri="{FF2B5EF4-FFF2-40B4-BE49-F238E27FC236}">
                  <a16:creationId xmlns:a16="http://schemas.microsoft.com/office/drawing/2014/main" id="{60C4A268-AB95-4E2C-B5A9-93EF170672A5}"/>
                </a:ext>
              </a:extLst>
            </p:cNvPr>
            <p:cNvSpPr txBox="1">
              <a:spLocks noChangeArrowheads="1"/>
            </p:cNvSpPr>
            <p:nvPr/>
          </p:nvSpPr>
          <p:spPr bwMode="auto">
            <a:xfrm>
              <a:off x="1655" y="1751"/>
              <a:ext cx="1768"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确定初始调运方案（最小元素法或</a:t>
              </a:r>
              <a:r>
                <a:rPr kumimoji="1" lang="zh-CN" altLang="zh-CN" b="1">
                  <a:latin typeface="Times New Roman" panose="02020603050405020304" pitchFamily="18" charset="0"/>
                  <a:ea typeface="华文细黑" panose="02010600040101010101" pitchFamily="2" charset="-122"/>
                </a:rPr>
                <a:t>伏格尔</a:t>
              </a:r>
              <a:r>
                <a:rPr kumimoji="1" lang="en-US" altLang="zh-CN" b="1">
                  <a:latin typeface="Times New Roman" panose="02020603050405020304" pitchFamily="18" charset="0"/>
                  <a:ea typeface="华文细黑" panose="02010600040101010101" pitchFamily="2" charset="-122"/>
                </a:rPr>
                <a:t>Vogel</a:t>
              </a:r>
              <a:r>
                <a:rPr kumimoji="1" lang="zh-CN" altLang="en-US" b="1">
                  <a:latin typeface="Times New Roman" panose="02020603050405020304" pitchFamily="18" charset="0"/>
                  <a:ea typeface="华文细黑" panose="02010600040101010101" pitchFamily="2" charset="-122"/>
                </a:rPr>
                <a:t>法）</a:t>
              </a:r>
            </a:p>
          </p:txBody>
        </p:sp>
        <p:sp>
          <p:nvSpPr>
            <p:cNvPr id="122947" name="Text Box 8">
              <a:extLst>
                <a:ext uri="{FF2B5EF4-FFF2-40B4-BE49-F238E27FC236}">
                  <a16:creationId xmlns:a16="http://schemas.microsoft.com/office/drawing/2014/main" id="{996CBFF2-5A33-45E2-8FB0-F5EF7BEED502}"/>
                </a:ext>
              </a:extLst>
            </p:cNvPr>
            <p:cNvSpPr txBox="1">
              <a:spLocks noChangeArrowheads="1"/>
            </p:cNvSpPr>
            <p:nvPr/>
          </p:nvSpPr>
          <p:spPr bwMode="auto">
            <a:xfrm>
              <a:off x="1655" y="2484"/>
              <a:ext cx="1768" cy="233"/>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b="1">
                  <a:latin typeface="Times New Roman" panose="02020603050405020304" pitchFamily="18" charset="0"/>
                  <a:ea typeface="华文细黑" panose="02010600040101010101" pitchFamily="2" charset="-122"/>
                </a:rPr>
                <a:t>求检验数（位势法）</a:t>
              </a:r>
            </a:p>
          </p:txBody>
        </p:sp>
        <p:sp>
          <p:nvSpPr>
            <p:cNvPr id="122948" name="AutoShape 9">
              <a:extLst>
                <a:ext uri="{FF2B5EF4-FFF2-40B4-BE49-F238E27FC236}">
                  <a16:creationId xmlns:a16="http://schemas.microsoft.com/office/drawing/2014/main" id="{33C752F6-AF07-4400-AB97-A076BD0C43C9}"/>
                </a:ext>
              </a:extLst>
            </p:cNvPr>
            <p:cNvSpPr>
              <a:spLocks noChangeArrowheads="1"/>
            </p:cNvSpPr>
            <p:nvPr/>
          </p:nvSpPr>
          <p:spPr bwMode="auto">
            <a:xfrm>
              <a:off x="1475" y="2991"/>
              <a:ext cx="2114" cy="462"/>
            </a:xfrm>
            <a:prstGeom prst="flowChartDecision">
              <a:avLst/>
            </a:prstGeom>
            <a:solidFill>
              <a:schemeClr val="folHlink"/>
            </a:solidFill>
            <a:ln w="28575" algn="ctr">
              <a:solidFill>
                <a:srgbClr val="A50021"/>
              </a:solidFill>
              <a:miter lim="800000"/>
              <a:headEnd/>
              <a:tailEnd/>
            </a:ln>
          </p:spPr>
          <p:txBody>
            <a:bodyPr anchor="ct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20000"/>
                </a:spcBef>
              </a:pPr>
              <a:r>
                <a:rPr kumimoji="1" lang="zh-CN" altLang="en-US" b="1">
                  <a:latin typeface="Times New Roman" panose="02020603050405020304" pitchFamily="18" charset="0"/>
                  <a:ea typeface="华文细黑" panose="02010600040101010101" pitchFamily="2" charset="-122"/>
                </a:rPr>
                <a:t>所有检验数≥</a:t>
              </a:r>
              <a:r>
                <a:rPr kumimoji="1" lang="en-US" altLang="zh-CN" b="1">
                  <a:latin typeface="Times New Roman" panose="02020603050405020304" pitchFamily="18" charset="0"/>
                  <a:ea typeface="华文细黑" panose="02010600040101010101" pitchFamily="2" charset="-122"/>
                </a:rPr>
                <a:t>0</a:t>
              </a:r>
            </a:p>
          </p:txBody>
        </p:sp>
        <p:sp>
          <p:nvSpPr>
            <p:cNvPr id="122949" name="Text Box 12">
              <a:extLst>
                <a:ext uri="{FF2B5EF4-FFF2-40B4-BE49-F238E27FC236}">
                  <a16:creationId xmlns:a16="http://schemas.microsoft.com/office/drawing/2014/main" id="{5975DB10-80CC-41A6-BB69-02C75938C568}"/>
                </a:ext>
              </a:extLst>
            </p:cNvPr>
            <p:cNvSpPr txBox="1">
              <a:spLocks noChangeArrowheads="1"/>
            </p:cNvSpPr>
            <p:nvPr/>
          </p:nvSpPr>
          <p:spPr bwMode="auto">
            <a:xfrm>
              <a:off x="1331" y="3714"/>
              <a:ext cx="2448"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找出绝对值最大的负检验数，用闭回路法调整，得到新的调运方案</a:t>
              </a:r>
            </a:p>
          </p:txBody>
        </p:sp>
        <p:cxnSp>
          <p:nvCxnSpPr>
            <p:cNvPr id="122950" name="AutoShape 14">
              <a:extLst>
                <a:ext uri="{FF2B5EF4-FFF2-40B4-BE49-F238E27FC236}">
                  <a16:creationId xmlns:a16="http://schemas.microsoft.com/office/drawing/2014/main" id="{8C2237AE-FE47-44A1-883C-42E5113A50C2}"/>
                </a:ext>
              </a:extLst>
            </p:cNvPr>
            <p:cNvCxnSpPr>
              <a:cxnSpLocks noChangeShapeType="1"/>
              <a:stCxn id="122949" idx="1"/>
              <a:endCxn id="122946" idx="1"/>
            </p:cNvCxnSpPr>
            <p:nvPr/>
          </p:nvCxnSpPr>
          <p:spPr bwMode="auto">
            <a:xfrm rot="10800000" flipH="1">
              <a:off x="1331" y="1955"/>
              <a:ext cx="324" cy="1963"/>
            </a:xfrm>
            <a:prstGeom prst="bentConnector3">
              <a:avLst>
                <a:gd name="adj1" fmla="val -44444"/>
              </a:avLst>
            </a:prstGeom>
            <a:noFill/>
            <a:ln w="28575">
              <a:solidFill>
                <a:srgbClr val="A50021"/>
              </a:solidFill>
              <a:miter lim="800000"/>
              <a:headEnd/>
              <a:tailEnd type="triangle" w="med" len="med"/>
            </a:ln>
            <a:extLst>
              <a:ext uri="{909E8E84-426E-40DD-AFC4-6F175D3DCCD1}">
                <a14:hiddenFill xmlns:a14="http://schemas.microsoft.com/office/drawing/2010/main">
                  <a:noFill/>
                </a14:hiddenFill>
              </a:ext>
            </a:extLst>
          </p:spPr>
        </p:cxnSp>
        <p:sp>
          <p:nvSpPr>
            <p:cNvPr id="122951" name="Text Box 15">
              <a:extLst>
                <a:ext uri="{FF2B5EF4-FFF2-40B4-BE49-F238E27FC236}">
                  <a16:creationId xmlns:a16="http://schemas.microsoft.com/office/drawing/2014/main" id="{A086DC7F-D1B7-4253-959D-DD117D0C8F0F}"/>
                </a:ext>
              </a:extLst>
            </p:cNvPr>
            <p:cNvSpPr txBox="1">
              <a:spLocks noChangeArrowheads="1"/>
            </p:cNvSpPr>
            <p:nvPr/>
          </p:nvSpPr>
          <p:spPr bwMode="auto">
            <a:xfrm>
              <a:off x="4014" y="3019"/>
              <a:ext cx="1224" cy="407"/>
            </a:xfrm>
            <a:prstGeom prst="rect">
              <a:avLst/>
            </a:prstGeom>
            <a:solidFill>
              <a:schemeClr val="folHlink"/>
            </a:solidFill>
            <a:ln w="28575" algn="ctr">
              <a:solidFill>
                <a:srgbClr val="A50021"/>
              </a:solidFill>
              <a:miter lim="800000"/>
              <a:headEnd/>
              <a:tailEnd/>
            </a:ln>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b="1">
                  <a:latin typeface="Times New Roman" panose="02020603050405020304" pitchFamily="18" charset="0"/>
                  <a:ea typeface="华文细黑" panose="02010600040101010101" pitchFamily="2" charset="-122"/>
                </a:rPr>
                <a:t>得到最优方案，算出总运价</a:t>
              </a:r>
            </a:p>
          </p:txBody>
        </p:sp>
        <p:cxnSp>
          <p:nvCxnSpPr>
            <p:cNvPr id="122952" name="AutoShape 16">
              <a:extLst>
                <a:ext uri="{FF2B5EF4-FFF2-40B4-BE49-F238E27FC236}">
                  <a16:creationId xmlns:a16="http://schemas.microsoft.com/office/drawing/2014/main" id="{31E8B96E-EF6C-480C-884B-44B05CF5082C}"/>
                </a:ext>
              </a:extLst>
            </p:cNvPr>
            <p:cNvCxnSpPr>
              <a:cxnSpLocks noChangeShapeType="1"/>
              <a:stCxn id="122948" idx="3"/>
              <a:endCxn id="122951" idx="1"/>
            </p:cNvCxnSpPr>
            <p:nvPr/>
          </p:nvCxnSpPr>
          <p:spPr bwMode="auto">
            <a:xfrm>
              <a:off x="3589" y="3222"/>
              <a:ext cx="425" cy="1"/>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122953" name="AutoShape 17">
              <a:extLst>
                <a:ext uri="{FF2B5EF4-FFF2-40B4-BE49-F238E27FC236}">
                  <a16:creationId xmlns:a16="http://schemas.microsoft.com/office/drawing/2014/main" id="{E5BBB338-404C-4A15-9152-E9C49A676C5D}"/>
                </a:ext>
              </a:extLst>
            </p:cNvPr>
            <p:cNvCxnSpPr>
              <a:cxnSpLocks noChangeShapeType="1"/>
              <a:stCxn id="122945" idx="2"/>
              <a:endCxn id="122946" idx="0"/>
            </p:cNvCxnSpPr>
            <p:nvPr/>
          </p:nvCxnSpPr>
          <p:spPr bwMode="auto">
            <a:xfrm>
              <a:off x="2539" y="1433"/>
              <a:ext cx="0" cy="318"/>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122954" name="AutoShape 20">
              <a:extLst>
                <a:ext uri="{FF2B5EF4-FFF2-40B4-BE49-F238E27FC236}">
                  <a16:creationId xmlns:a16="http://schemas.microsoft.com/office/drawing/2014/main" id="{35685ABC-FC4D-4D51-AC78-6252FB881309}"/>
                </a:ext>
              </a:extLst>
            </p:cNvPr>
            <p:cNvCxnSpPr>
              <a:cxnSpLocks noChangeShapeType="1"/>
              <a:stCxn id="122946" idx="2"/>
              <a:endCxn id="122947" idx="0"/>
            </p:cNvCxnSpPr>
            <p:nvPr/>
          </p:nvCxnSpPr>
          <p:spPr bwMode="auto">
            <a:xfrm>
              <a:off x="2539" y="2158"/>
              <a:ext cx="0" cy="326"/>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122955" name="AutoShape 21">
              <a:extLst>
                <a:ext uri="{FF2B5EF4-FFF2-40B4-BE49-F238E27FC236}">
                  <a16:creationId xmlns:a16="http://schemas.microsoft.com/office/drawing/2014/main" id="{3D3A0E35-638F-4915-B4E5-D6938DCC424B}"/>
                </a:ext>
              </a:extLst>
            </p:cNvPr>
            <p:cNvCxnSpPr>
              <a:cxnSpLocks noChangeShapeType="1"/>
              <a:stCxn id="122947" idx="2"/>
              <a:endCxn id="122948" idx="0"/>
            </p:cNvCxnSpPr>
            <p:nvPr/>
          </p:nvCxnSpPr>
          <p:spPr bwMode="auto">
            <a:xfrm flipH="1">
              <a:off x="2532" y="2717"/>
              <a:ext cx="7" cy="274"/>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cxnSp>
          <p:nvCxnSpPr>
            <p:cNvPr id="122956" name="AutoShape 23">
              <a:extLst>
                <a:ext uri="{FF2B5EF4-FFF2-40B4-BE49-F238E27FC236}">
                  <a16:creationId xmlns:a16="http://schemas.microsoft.com/office/drawing/2014/main" id="{192F1758-34F0-4191-9D81-4F5BF2542F20}"/>
                </a:ext>
              </a:extLst>
            </p:cNvPr>
            <p:cNvCxnSpPr>
              <a:cxnSpLocks noChangeShapeType="1"/>
              <a:stCxn id="122948" idx="2"/>
              <a:endCxn id="122949" idx="2"/>
            </p:cNvCxnSpPr>
            <p:nvPr/>
          </p:nvCxnSpPr>
          <p:spPr bwMode="auto">
            <a:xfrm>
              <a:off x="2532" y="3453"/>
              <a:ext cx="23" cy="668"/>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headEnd/>
                  <a:tailEnd type="triangle" w="med" len="med"/>
                </a14:hiddenLine>
              </a:ext>
            </a:extLst>
          </p:spPr>
        </p:cxnSp>
        <p:cxnSp>
          <p:nvCxnSpPr>
            <p:cNvPr id="122957" name="AutoShape 24">
              <a:extLst>
                <a:ext uri="{FF2B5EF4-FFF2-40B4-BE49-F238E27FC236}">
                  <a16:creationId xmlns:a16="http://schemas.microsoft.com/office/drawing/2014/main" id="{E27EE99F-BBFA-43DC-97CE-05F558C7A4DB}"/>
                </a:ext>
              </a:extLst>
            </p:cNvPr>
            <p:cNvCxnSpPr>
              <a:cxnSpLocks noChangeShapeType="1"/>
              <a:stCxn id="122948" idx="2"/>
            </p:cNvCxnSpPr>
            <p:nvPr/>
          </p:nvCxnSpPr>
          <p:spPr bwMode="auto">
            <a:xfrm flipH="1">
              <a:off x="2532" y="3453"/>
              <a:ext cx="0" cy="213"/>
            </a:xfrm>
            <a:prstGeom prst="straightConnector1">
              <a:avLst/>
            </a:prstGeom>
            <a:noFill/>
            <a:ln w="28575">
              <a:solidFill>
                <a:srgbClr val="A50021"/>
              </a:solidFill>
              <a:round/>
              <a:headEnd/>
              <a:tailEnd type="triangle" w="med" len="med"/>
            </a:ln>
            <a:extLst>
              <a:ext uri="{909E8E84-426E-40DD-AFC4-6F175D3DCCD1}">
                <a14:hiddenFill xmlns:a14="http://schemas.microsoft.com/office/drawing/2010/main">
                  <a:noFill/>
                </a14:hiddenFill>
              </a:ext>
            </a:extLst>
          </p:spPr>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randombar(horizontal)">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xit" presetSubtype="0" fill="hold" nodeType="clickEffect">
                                  <p:stCondLst>
                                    <p:cond delay="0"/>
                                  </p:stCondLst>
                                  <p:childTnLst>
                                    <p:set>
                                      <p:cBhvr>
                                        <p:cTn id="11" dur="1" fill="hold">
                                          <p:stCondLst>
                                            <p:cond delay="0"/>
                                          </p:stCondLst>
                                        </p:cTn>
                                        <p:tgtEl>
                                          <p:spTgt spid="5"/>
                                        </p:tgtEl>
                                        <p:attrNameLst>
                                          <p:attrName>style.visibility</p:attrName>
                                        </p:attrNameLst>
                                      </p:cBhvr>
                                      <p:to>
                                        <p:strVal val="hidden"/>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4" presetClass="entr" presetSubtype="10" fill="hold" grpId="0" nodeType="clickEffect">
                                  <p:stCondLst>
                                    <p:cond delay="0"/>
                                  </p:stCondLst>
                                  <p:childTnLst>
                                    <p:set>
                                      <p:cBhvr>
                                        <p:cTn id="15" dur="1" fill="hold">
                                          <p:stCondLst>
                                            <p:cond delay="0"/>
                                          </p:stCondLst>
                                        </p:cTn>
                                        <p:tgtEl>
                                          <p:spTgt spid="249919"/>
                                        </p:tgtEl>
                                        <p:attrNameLst>
                                          <p:attrName>style.visibility</p:attrName>
                                        </p:attrNameLst>
                                      </p:cBhvr>
                                      <p:to>
                                        <p:strVal val="visible"/>
                                      </p:to>
                                    </p:set>
                                    <p:animEffect transition="in" filter="randombar(horizontal)">
                                      <p:cBhvr>
                                        <p:cTn id="16" dur="500"/>
                                        <p:tgtEl>
                                          <p:spTgt spid="24991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4" presetClass="entr" presetSubtype="10" fill="hold" nodeType="clickEffect">
                                  <p:stCondLst>
                                    <p:cond delay="0"/>
                                  </p:stCondLst>
                                  <p:childTnLst>
                                    <p:set>
                                      <p:cBhvr>
                                        <p:cTn id="20" dur="1" fill="hold">
                                          <p:stCondLst>
                                            <p:cond delay="0"/>
                                          </p:stCondLst>
                                        </p:cTn>
                                        <p:tgtEl>
                                          <p:spTgt spid="219210"/>
                                        </p:tgtEl>
                                        <p:attrNameLst>
                                          <p:attrName>style.visibility</p:attrName>
                                        </p:attrNameLst>
                                      </p:cBhvr>
                                      <p:to>
                                        <p:strVal val="visible"/>
                                      </p:to>
                                    </p:set>
                                    <p:animEffect transition="in" filter="randombar(horizontal)">
                                      <p:cBhvr>
                                        <p:cTn id="21" dur="500"/>
                                        <p:tgtEl>
                                          <p:spTgt spid="219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919"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descr="Large confetti">
            <a:extLst>
              <a:ext uri="{FF2B5EF4-FFF2-40B4-BE49-F238E27FC236}">
                <a16:creationId xmlns:a16="http://schemas.microsoft.com/office/drawing/2014/main" id="{95DC7405-A884-44D4-A1B4-6362ADDCB311}"/>
              </a:ext>
            </a:extLst>
          </p:cNvPr>
          <p:cNvSpPr>
            <a:spLocks noGrp="1" noChangeArrowheads="1"/>
          </p:cNvSpPr>
          <p:nvPr>
            <p:ph type="title"/>
          </p:nvPr>
        </p:nvSpPr>
        <p:spPr/>
        <p:txBody>
          <a:bodyPr/>
          <a:lstStyle/>
          <a:p>
            <a:pPr eaLnBrk="1" hangingPunct="1"/>
            <a:r>
              <a:rPr lang="en-US" altLang="zh-CN"/>
              <a:t>Lingo</a:t>
            </a:r>
            <a:r>
              <a:rPr lang="zh-CN" altLang="en-US"/>
              <a:t>解决生产与储存问题</a:t>
            </a:r>
          </a:p>
        </p:txBody>
      </p:sp>
      <p:graphicFrame>
        <p:nvGraphicFramePr>
          <p:cNvPr id="123907" name="对象 4">
            <a:extLst>
              <a:ext uri="{FF2B5EF4-FFF2-40B4-BE49-F238E27FC236}">
                <a16:creationId xmlns:a16="http://schemas.microsoft.com/office/drawing/2014/main" id="{63E3390F-A2EE-4613-B141-87014E5A4A0B}"/>
              </a:ext>
            </a:extLst>
          </p:cNvPr>
          <p:cNvGraphicFramePr>
            <a:graphicFrameLocks noChangeAspect="1"/>
          </p:cNvGraphicFramePr>
          <p:nvPr/>
        </p:nvGraphicFramePr>
        <p:xfrm>
          <a:off x="214313" y="1295400"/>
          <a:ext cx="3943350" cy="3695700"/>
        </p:xfrm>
        <a:graphic>
          <a:graphicData uri="http://schemas.openxmlformats.org/presentationml/2006/ole">
            <mc:AlternateContent xmlns:mc="http://schemas.openxmlformats.org/markup-compatibility/2006">
              <mc:Choice xmlns:v="urn:schemas-microsoft-com:vml" Requires="v">
                <p:oleObj spid="_x0000_s123917" name="Equation" r:id="rId3" imgW="3238500" imgH="3035300" progId="Equation.DSMT4">
                  <p:embed/>
                </p:oleObj>
              </mc:Choice>
              <mc:Fallback>
                <p:oleObj name="Equation" r:id="rId3" imgW="3238500" imgH="3035300" progId="Equation.DSMT4">
                  <p:embed/>
                  <p:pic>
                    <p:nvPicPr>
                      <p:cNvPr id="0"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4313" y="1295400"/>
                        <a:ext cx="3943350" cy="369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3908" name="矩形 5">
            <a:extLst>
              <a:ext uri="{FF2B5EF4-FFF2-40B4-BE49-F238E27FC236}">
                <a16:creationId xmlns:a16="http://schemas.microsoft.com/office/drawing/2014/main" id="{7FAB2C2C-3CC0-4587-9A98-623862B72495}"/>
              </a:ext>
            </a:extLst>
          </p:cNvPr>
          <p:cNvSpPr>
            <a:spLocks noChangeArrowheads="1"/>
          </p:cNvSpPr>
          <p:nvPr/>
        </p:nvSpPr>
        <p:spPr bwMode="auto">
          <a:xfrm>
            <a:off x="685800" y="5562600"/>
            <a:ext cx="2159000" cy="3698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t>[4-</a:t>
            </a:r>
            <a:r>
              <a:rPr lang="en-US" altLang="zh-CN"/>
              <a:t>8</a:t>
            </a:r>
            <a:r>
              <a:rPr lang="zh-CN" altLang="en-US"/>
              <a:t>]生产与储存.avi</a:t>
            </a:r>
          </a:p>
        </p:txBody>
      </p:sp>
      <p:sp>
        <p:nvSpPr>
          <p:cNvPr id="2" name="矩形 1">
            <a:extLst>
              <a:ext uri="{FF2B5EF4-FFF2-40B4-BE49-F238E27FC236}">
                <a16:creationId xmlns:a16="http://schemas.microsoft.com/office/drawing/2014/main" id="{FB63EFCC-192F-4D8B-A85A-C6284FE9EFF3}"/>
              </a:ext>
            </a:extLst>
          </p:cNvPr>
          <p:cNvSpPr/>
          <p:nvPr/>
        </p:nvSpPr>
        <p:spPr>
          <a:xfrm>
            <a:off x="4357688" y="1138238"/>
            <a:ext cx="4572000" cy="5262562"/>
          </a:xfrm>
          <a:prstGeom prst="rect">
            <a:avLst/>
          </a:prstGeom>
          <a:ln>
            <a:solidFill>
              <a:srgbClr val="FF00FF"/>
            </a:solidFill>
          </a:ln>
        </p:spPr>
        <p:txBody>
          <a:bodyPr>
            <a:spAutoFit/>
          </a:bodyPr>
          <a:lstStyle/>
          <a:p>
            <a:pPr algn="just">
              <a:defRPr/>
            </a:pPr>
            <a:r>
              <a:rPr lang="en-US" altLang="zh-CN" sz="1600" kern="100" dirty="0">
                <a:solidFill>
                  <a:srgbClr val="0000FF"/>
                </a:solidFill>
                <a:latin typeface="Times New Roman" panose="02020603050405020304" pitchFamily="18" charset="0"/>
              </a:rPr>
              <a:t>model</a:t>
            </a:r>
            <a:r>
              <a:rPr lang="en-US" altLang="zh-CN" sz="1600" kern="100" dirty="0">
                <a:solidFill>
                  <a:srgbClr val="000000"/>
                </a:solidFill>
                <a:latin typeface="Times New Roman" panose="02020603050405020304" pitchFamily="18" charset="0"/>
              </a:rPr>
              <a:t>:</a:t>
            </a:r>
            <a:endParaRPr lang="en-US" altLang="zh-CN"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sets</a:t>
            </a:r>
            <a:r>
              <a:rPr lang="en-US" altLang="zh-CN" sz="1600" kern="100" dirty="0">
                <a:solidFill>
                  <a:srgbClr val="000000"/>
                </a:solidFill>
                <a:latin typeface="Times New Roman" panose="02020603050405020304" pitchFamily="18" charset="0"/>
              </a:rPr>
              <a:t>:</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supply/1..4/:produce;</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demand/1..5/:sell;</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link(</a:t>
            </a:r>
            <a:r>
              <a:rPr lang="en-US" altLang="zh-CN" sz="1600" kern="100" dirty="0" err="1">
                <a:solidFill>
                  <a:srgbClr val="000000"/>
                </a:solidFill>
                <a:latin typeface="Times New Roman" panose="02020603050405020304" pitchFamily="18" charset="0"/>
              </a:rPr>
              <a:t>supply,demand</a:t>
            </a:r>
            <a:r>
              <a:rPr lang="en-US" altLang="zh-CN" sz="1600" kern="100" dirty="0">
                <a:solidFill>
                  <a:srgbClr val="000000"/>
                </a:solidFill>
                <a:latin typeface="Times New Roman" panose="02020603050405020304" pitchFamily="18" charset="0"/>
              </a:rPr>
              <a:t>):</a:t>
            </a:r>
            <a:r>
              <a:rPr lang="en-US" altLang="zh-CN" sz="1600" kern="100" dirty="0" err="1">
                <a:solidFill>
                  <a:srgbClr val="000000"/>
                </a:solidFill>
                <a:latin typeface="Times New Roman" panose="02020603050405020304" pitchFamily="18" charset="0"/>
              </a:rPr>
              <a:t>cost,x</a:t>
            </a:r>
            <a:r>
              <a:rPr lang="en-US" altLang="zh-CN" sz="1600" kern="100" dirty="0">
                <a:solidFill>
                  <a:srgbClr val="000000"/>
                </a:solidFill>
                <a:latin typeface="Times New Roman" panose="02020603050405020304" pitchFamily="18" charset="0"/>
              </a:rPr>
              <a:t>;</a:t>
            </a:r>
            <a:endParaRPr lang="zh-CN" altLang="en-US" sz="1600" kern="100" dirty="0">
              <a:solidFill>
                <a:srgbClr val="000000"/>
              </a:solidFill>
              <a:latin typeface="Calibri" panose="020F0502020204030204" pitchFamily="34" charset="0"/>
            </a:endParaRPr>
          </a:p>
          <a:p>
            <a:pPr algn="just">
              <a:defRPr/>
            </a:pPr>
            <a:r>
              <a:rPr lang="en-US" altLang="zh-CN" sz="1600" kern="100" dirty="0" err="1">
                <a:solidFill>
                  <a:srgbClr val="0000FF"/>
                </a:solidFill>
                <a:latin typeface="Times New Roman" panose="02020603050405020304" pitchFamily="18" charset="0"/>
              </a:rPr>
              <a:t>endsets</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AF00"/>
                </a:solidFill>
                <a:latin typeface="Times New Roman" panose="02020603050405020304" pitchFamily="18" charset="0"/>
              </a:rPr>
              <a:t>!M</a:t>
            </a:r>
            <a:r>
              <a:rPr lang="zh-CN" altLang="en-US" sz="1600" kern="100" dirty="0">
                <a:solidFill>
                  <a:srgbClr val="00AF00"/>
                </a:solidFill>
                <a:latin typeface="宋体" panose="02010600030101010101" pitchFamily="2" charset="-122"/>
              </a:rPr>
              <a:t>取值设为</a:t>
            </a:r>
            <a:r>
              <a:rPr lang="en-US" altLang="zh-CN" sz="1600" kern="100" dirty="0">
                <a:solidFill>
                  <a:srgbClr val="00AF00"/>
                </a:solidFill>
                <a:latin typeface="Times New Roman" panose="02020603050405020304" pitchFamily="18" charset="0"/>
              </a:rPr>
              <a:t>1;</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data</a:t>
            </a:r>
            <a:r>
              <a:rPr lang="en-US" altLang="zh-CN" sz="1600" kern="100" dirty="0">
                <a:solidFill>
                  <a:srgbClr val="000000"/>
                </a:solidFill>
                <a:latin typeface="Times New Roman" panose="02020603050405020304" pitchFamily="18" charset="0"/>
              </a:rPr>
              <a:t>:</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cost=10.8 10.95 11.1  11.25 0</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     1    11.10 11.25 11.40 0</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     1    1     11.00 11.15 0</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     1    1     1     11.30 0;</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00"/>
                </a:solidFill>
                <a:latin typeface="Times New Roman" panose="02020603050405020304" pitchFamily="18" charset="0"/>
              </a:rPr>
              <a:t>produce=25 35 30 10;</a:t>
            </a:r>
            <a:endParaRPr lang="zh-CN" altLang="en-US" sz="1600" kern="100" dirty="0">
              <a:solidFill>
                <a:srgbClr val="000000"/>
              </a:solidFill>
              <a:latin typeface="Calibri" panose="020F0502020204030204" pitchFamily="34" charset="0"/>
            </a:endParaRPr>
          </a:p>
          <a:p>
            <a:pPr algn="just">
              <a:defRPr/>
            </a:pPr>
            <a:r>
              <a:rPr lang="nb-NO" altLang="zh-CN" sz="1600" kern="100" dirty="0">
                <a:solidFill>
                  <a:srgbClr val="000000"/>
                </a:solidFill>
                <a:latin typeface="Times New Roman" panose="02020603050405020304" pitchFamily="18" charset="0"/>
              </a:rPr>
              <a:t>sell=10 15 25 20 30;</a:t>
            </a:r>
            <a:endParaRPr lang="zh-CN" altLang="en-US" sz="1600" kern="100" dirty="0">
              <a:solidFill>
                <a:srgbClr val="000000"/>
              </a:solidFill>
              <a:latin typeface="Calibri" panose="020F0502020204030204" pitchFamily="34" charset="0"/>
            </a:endParaRPr>
          </a:p>
          <a:p>
            <a:pPr algn="just">
              <a:defRPr/>
            </a:pPr>
            <a:r>
              <a:rPr lang="en-US" altLang="zh-CN" sz="1600" kern="100" dirty="0" err="1">
                <a:solidFill>
                  <a:srgbClr val="0000FF"/>
                </a:solidFill>
                <a:latin typeface="Times New Roman" panose="02020603050405020304" pitchFamily="18" charset="0"/>
              </a:rPr>
              <a:t>enddata</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min</a:t>
            </a:r>
            <a:r>
              <a:rPr lang="en-US" altLang="zh-CN" sz="1600" kern="100" dirty="0">
                <a:solidFill>
                  <a:srgbClr val="000000"/>
                </a:solidFill>
                <a:latin typeface="Times New Roman" panose="02020603050405020304" pitchFamily="18" charset="0"/>
              </a:rPr>
              <a:t>=</a:t>
            </a:r>
            <a:r>
              <a:rPr lang="en-US" altLang="zh-CN" sz="1600" kern="100" dirty="0">
                <a:solidFill>
                  <a:srgbClr val="0000FF"/>
                </a:solidFill>
                <a:latin typeface="Times New Roman" panose="02020603050405020304" pitchFamily="18" charset="0"/>
              </a:rPr>
              <a:t>@sum</a:t>
            </a:r>
            <a:r>
              <a:rPr lang="en-US" altLang="zh-CN" sz="1600" kern="100" dirty="0">
                <a:solidFill>
                  <a:srgbClr val="000000"/>
                </a:solidFill>
                <a:latin typeface="Times New Roman" panose="02020603050405020304" pitchFamily="18" charset="0"/>
              </a:rPr>
              <a:t>(</a:t>
            </a:r>
            <a:r>
              <a:rPr lang="en-US" altLang="zh-CN" sz="1600" kern="100" dirty="0" err="1">
                <a:solidFill>
                  <a:srgbClr val="000000"/>
                </a:solidFill>
                <a:latin typeface="Times New Roman" panose="02020603050405020304" pitchFamily="18" charset="0"/>
              </a:rPr>
              <a:t>link:cost</a:t>
            </a:r>
            <a:r>
              <a:rPr lang="en-US" altLang="zh-CN" sz="1600" kern="100" dirty="0">
                <a:solidFill>
                  <a:srgbClr val="000000"/>
                </a:solidFill>
                <a:latin typeface="Times New Roman" panose="02020603050405020304" pitchFamily="18" charset="0"/>
              </a:rPr>
              <a:t>*x);</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@for</a:t>
            </a:r>
            <a:r>
              <a:rPr lang="en-US" altLang="zh-CN" sz="1600" kern="100" dirty="0">
                <a:solidFill>
                  <a:srgbClr val="000000"/>
                </a:solidFill>
                <a:latin typeface="Times New Roman" panose="02020603050405020304" pitchFamily="18" charset="0"/>
              </a:rPr>
              <a:t>(supply(</a:t>
            </a:r>
            <a:r>
              <a:rPr lang="en-US" altLang="zh-CN" sz="1600" kern="100" dirty="0" err="1">
                <a:solidFill>
                  <a:srgbClr val="000000"/>
                </a:solidFill>
                <a:latin typeface="Times New Roman" panose="02020603050405020304" pitchFamily="18" charset="0"/>
              </a:rPr>
              <a:t>i</a:t>
            </a:r>
            <a:r>
              <a:rPr lang="en-US" altLang="zh-CN" sz="1600" kern="100" dirty="0">
                <a:solidFill>
                  <a:srgbClr val="000000"/>
                </a:solidFill>
                <a:latin typeface="Times New Roman" panose="02020603050405020304" pitchFamily="18" charset="0"/>
              </a:rPr>
              <a:t>):</a:t>
            </a:r>
            <a:r>
              <a:rPr lang="en-US" altLang="zh-CN" sz="1600" kern="100" dirty="0">
                <a:solidFill>
                  <a:srgbClr val="0000FF"/>
                </a:solidFill>
                <a:latin typeface="Times New Roman" panose="02020603050405020304" pitchFamily="18" charset="0"/>
              </a:rPr>
              <a:t>@sum</a:t>
            </a:r>
            <a:r>
              <a:rPr lang="en-US" altLang="zh-CN" sz="1600" kern="100" dirty="0">
                <a:solidFill>
                  <a:srgbClr val="000000"/>
                </a:solidFill>
                <a:latin typeface="Times New Roman" panose="02020603050405020304" pitchFamily="18" charset="0"/>
              </a:rPr>
              <a:t>(demand(j):x(</a:t>
            </a:r>
            <a:r>
              <a:rPr lang="en-US" altLang="zh-CN" sz="1600" kern="100" dirty="0" err="1">
                <a:solidFill>
                  <a:srgbClr val="000000"/>
                </a:solidFill>
                <a:latin typeface="Times New Roman" panose="02020603050405020304" pitchFamily="18" charset="0"/>
              </a:rPr>
              <a:t>i,j</a:t>
            </a:r>
            <a:r>
              <a:rPr lang="en-US" altLang="zh-CN" sz="1600" kern="100" dirty="0">
                <a:solidFill>
                  <a:srgbClr val="000000"/>
                </a:solidFill>
                <a:latin typeface="Times New Roman" panose="02020603050405020304" pitchFamily="18" charset="0"/>
              </a:rPr>
              <a:t>))&lt;=produce(</a:t>
            </a:r>
            <a:r>
              <a:rPr lang="en-US" altLang="zh-CN" sz="1600" kern="100" dirty="0" err="1">
                <a:solidFill>
                  <a:srgbClr val="000000"/>
                </a:solidFill>
                <a:latin typeface="Times New Roman" panose="02020603050405020304" pitchFamily="18" charset="0"/>
              </a:rPr>
              <a:t>i</a:t>
            </a:r>
            <a:r>
              <a:rPr lang="en-US" altLang="zh-CN" sz="1600" kern="100" dirty="0">
                <a:solidFill>
                  <a:srgbClr val="000000"/>
                </a:solidFill>
                <a:latin typeface="Times New Roman" panose="02020603050405020304" pitchFamily="18" charset="0"/>
              </a:rPr>
              <a:t>));</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@for</a:t>
            </a:r>
            <a:r>
              <a:rPr lang="en-US" altLang="zh-CN" sz="1600" kern="100" dirty="0">
                <a:solidFill>
                  <a:srgbClr val="000000"/>
                </a:solidFill>
                <a:latin typeface="Times New Roman" panose="02020603050405020304" pitchFamily="18" charset="0"/>
              </a:rPr>
              <a:t>(demand(j):</a:t>
            </a:r>
            <a:r>
              <a:rPr lang="en-US" altLang="zh-CN" sz="1600" kern="100" dirty="0">
                <a:solidFill>
                  <a:srgbClr val="0000FF"/>
                </a:solidFill>
                <a:latin typeface="Times New Roman" panose="02020603050405020304" pitchFamily="18" charset="0"/>
              </a:rPr>
              <a:t>@sum</a:t>
            </a:r>
            <a:r>
              <a:rPr lang="en-US" altLang="zh-CN" sz="1600" kern="100" dirty="0">
                <a:solidFill>
                  <a:srgbClr val="000000"/>
                </a:solidFill>
                <a:latin typeface="Times New Roman" panose="02020603050405020304" pitchFamily="18" charset="0"/>
              </a:rPr>
              <a:t>(supply(</a:t>
            </a:r>
            <a:r>
              <a:rPr lang="en-US" altLang="zh-CN" sz="1600" kern="100" dirty="0" err="1">
                <a:solidFill>
                  <a:srgbClr val="000000"/>
                </a:solidFill>
                <a:latin typeface="Times New Roman" panose="02020603050405020304" pitchFamily="18" charset="0"/>
              </a:rPr>
              <a:t>i</a:t>
            </a:r>
            <a:r>
              <a:rPr lang="en-US" altLang="zh-CN" sz="1600" kern="100" dirty="0">
                <a:solidFill>
                  <a:srgbClr val="000000"/>
                </a:solidFill>
                <a:latin typeface="Times New Roman" panose="02020603050405020304" pitchFamily="18" charset="0"/>
              </a:rPr>
              <a:t>):x(</a:t>
            </a:r>
            <a:r>
              <a:rPr lang="en-US" altLang="zh-CN" sz="1600" kern="100" dirty="0" err="1">
                <a:solidFill>
                  <a:srgbClr val="000000"/>
                </a:solidFill>
                <a:latin typeface="Times New Roman" panose="02020603050405020304" pitchFamily="18" charset="0"/>
              </a:rPr>
              <a:t>i,j</a:t>
            </a:r>
            <a:r>
              <a:rPr lang="en-US" altLang="zh-CN" sz="1600" kern="100" dirty="0">
                <a:solidFill>
                  <a:srgbClr val="000000"/>
                </a:solidFill>
                <a:latin typeface="Times New Roman" panose="02020603050405020304" pitchFamily="18" charset="0"/>
              </a:rPr>
              <a:t>))=sell(j));</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@for</a:t>
            </a:r>
            <a:r>
              <a:rPr lang="en-US" altLang="zh-CN" sz="1600" kern="100" dirty="0">
                <a:solidFill>
                  <a:srgbClr val="000000"/>
                </a:solidFill>
                <a:latin typeface="Times New Roman" panose="02020603050405020304" pitchFamily="18" charset="0"/>
              </a:rPr>
              <a:t>(link(</a:t>
            </a:r>
            <a:r>
              <a:rPr lang="en-US" altLang="zh-CN" sz="1600" kern="100" dirty="0" err="1">
                <a:solidFill>
                  <a:srgbClr val="000000"/>
                </a:solidFill>
                <a:latin typeface="Times New Roman" panose="02020603050405020304" pitchFamily="18" charset="0"/>
              </a:rPr>
              <a:t>i,j</a:t>
            </a:r>
            <a:r>
              <a:rPr lang="en-US" altLang="zh-CN" sz="1600" kern="100" dirty="0">
                <a:solidFill>
                  <a:srgbClr val="000000"/>
                </a:solidFill>
                <a:latin typeface="Times New Roman" panose="02020603050405020304" pitchFamily="18" charset="0"/>
              </a:rPr>
              <a:t>)|</a:t>
            </a:r>
            <a:r>
              <a:rPr lang="en-US" altLang="zh-CN" sz="1600" kern="100" dirty="0" err="1">
                <a:solidFill>
                  <a:srgbClr val="000000"/>
                </a:solidFill>
                <a:latin typeface="Times New Roman" panose="02020603050405020304" pitchFamily="18" charset="0"/>
              </a:rPr>
              <a:t>i#gt#j:x</a:t>
            </a:r>
            <a:r>
              <a:rPr lang="en-US" altLang="zh-CN" sz="1600" kern="100" dirty="0">
                <a:solidFill>
                  <a:srgbClr val="000000"/>
                </a:solidFill>
                <a:latin typeface="Times New Roman" panose="02020603050405020304" pitchFamily="18" charset="0"/>
              </a:rPr>
              <a:t>(</a:t>
            </a:r>
            <a:r>
              <a:rPr lang="en-US" altLang="zh-CN" sz="1600" kern="100" dirty="0" err="1">
                <a:solidFill>
                  <a:srgbClr val="000000"/>
                </a:solidFill>
                <a:latin typeface="Times New Roman" panose="02020603050405020304" pitchFamily="18" charset="0"/>
              </a:rPr>
              <a:t>i,j</a:t>
            </a:r>
            <a:r>
              <a:rPr lang="en-US" altLang="zh-CN" sz="1600" kern="100" dirty="0">
                <a:solidFill>
                  <a:srgbClr val="000000"/>
                </a:solidFill>
                <a:latin typeface="Times New Roman" panose="02020603050405020304" pitchFamily="18" charset="0"/>
              </a:rPr>
              <a:t>)=0);</a:t>
            </a:r>
            <a:endParaRPr lang="zh-CN" altLang="en-US" sz="1600" kern="100" dirty="0">
              <a:solidFill>
                <a:srgbClr val="000000"/>
              </a:solidFill>
              <a:latin typeface="Calibri" panose="020F0502020204030204" pitchFamily="34" charset="0"/>
            </a:endParaRPr>
          </a:p>
          <a:p>
            <a:pPr algn="just">
              <a:defRPr/>
            </a:pPr>
            <a:r>
              <a:rPr lang="en-US" altLang="zh-CN" sz="1600" kern="100" dirty="0">
                <a:solidFill>
                  <a:srgbClr val="0000FF"/>
                </a:solidFill>
                <a:latin typeface="Times New Roman" panose="02020603050405020304" pitchFamily="18" charset="0"/>
              </a:rPr>
              <a:t>end</a:t>
            </a:r>
            <a:endParaRPr lang="zh-CN" altLang="en-US" sz="1600" kern="100" dirty="0">
              <a:solidFill>
                <a:srgbClr val="000000"/>
              </a:solidFill>
              <a:latin typeface="Calibri" panose="020F0502020204030204" pitchFamily="34" charset="0"/>
            </a:endParaRPr>
          </a:p>
        </p:txBody>
      </p:sp>
      <p:sp>
        <p:nvSpPr>
          <p:cNvPr id="123910" name="矩形 5">
            <a:extLst>
              <a:ext uri="{FF2B5EF4-FFF2-40B4-BE49-F238E27FC236}">
                <a16:creationId xmlns:a16="http://schemas.microsoft.com/office/drawing/2014/main" id="{199E0229-1C87-4BD5-8B8F-8B976E9CF09E}"/>
              </a:ext>
            </a:extLst>
          </p:cNvPr>
          <p:cNvSpPr>
            <a:spLocks noChangeArrowheads="1"/>
          </p:cNvSpPr>
          <p:nvPr/>
        </p:nvSpPr>
        <p:spPr bwMode="auto">
          <a:xfrm>
            <a:off x="685800" y="5154613"/>
            <a:ext cx="2686050" cy="369887"/>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a:t>[4-</a:t>
            </a:r>
            <a:r>
              <a:rPr lang="en-US" altLang="zh-CN"/>
              <a:t>4</a:t>
            </a:r>
            <a:r>
              <a:rPr lang="zh-CN" altLang="en-US"/>
              <a:t>]生产与储存问题.</a:t>
            </a:r>
            <a:r>
              <a:rPr lang="en-US" altLang="zh-CN"/>
              <a:t>lg4</a:t>
            </a:r>
            <a:endParaRPr lang="zh-CN" alt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2" descr="Large confetti">
            <a:extLst>
              <a:ext uri="{FF2B5EF4-FFF2-40B4-BE49-F238E27FC236}">
                <a16:creationId xmlns:a16="http://schemas.microsoft.com/office/drawing/2014/main" id="{8C0F0AC5-A8E5-4F5F-9D1A-C3121D8BE39A}"/>
              </a:ext>
            </a:extLst>
          </p:cNvPr>
          <p:cNvSpPr>
            <a:spLocks noGrp="1" noChangeArrowheads="1"/>
          </p:cNvSpPr>
          <p:nvPr>
            <p:ph type="title"/>
          </p:nvPr>
        </p:nvSpPr>
        <p:spPr/>
        <p:txBody>
          <a:bodyPr/>
          <a:lstStyle/>
          <a:p>
            <a:pPr eaLnBrk="1" hangingPunct="1"/>
            <a:r>
              <a:rPr lang="en-US" altLang="zh-CN"/>
              <a:t>Lingo</a:t>
            </a:r>
            <a:r>
              <a:rPr lang="zh-CN" altLang="en-US"/>
              <a:t>解决生产与储存问题</a:t>
            </a:r>
          </a:p>
        </p:txBody>
      </p:sp>
      <p:pic>
        <p:nvPicPr>
          <p:cNvPr id="124931" name="图片 2">
            <a:extLst>
              <a:ext uri="{FF2B5EF4-FFF2-40B4-BE49-F238E27FC236}">
                <a16:creationId xmlns:a16="http://schemas.microsoft.com/office/drawing/2014/main" id="{B2C5F544-B2D0-4730-B92C-F3A6B6FC018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7525" y="1066800"/>
            <a:ext cx="5883275"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932" name="图片 6">
            <a:extLst>
              <a:ext uri="{FF2B5EF4-FFF2-40B4-BE49-F238E27FC236}">
                <a16:creationId xmlns:a16="http://schemas.microsoft.com/office/drawing/2014/main" id="{A24E159F-FF45-457E-B335-2BC405752A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0050" y="2209800"/>
            <a:ext cx="386715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933" name="图片 8">
            <a:extLst>
              <a:ext uri="{FF2B5EF4-FFF2-40B4-BE49-F238E27FC236}">
                <a16:creationId xmlns:a16="http://schemas.microsoft.com/office/drawing/2014/main" id="{C0CC05BD-EF07-4C0B-97C4-D1269DD1A39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9725" y="2514600"/>
            <a:ext cx="4040188" cy="335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 name="表格 1">
            <a:extLst>
              <a:ext uri="{FF2B5EF4-FFF2-40B4-BE49-F238E27FC236}">
                <a16:creationId xmlns:a16="http://schemas.microsoft.com/office/drawing/2014/main" id="{F585D040-D504-4D45-BD19-F2990E3F8F52}"/>
              </a:ext>
            </a:extLst>
          </p:cNvPr>
          <p:cNvGraphicFramePr>
            <a:graphicFrameLocks noGrp="1"/>
          </p:cNvGraphicFramePr>
          <p:nvPr/>
        </p:nvGraphicFramePr>
        <p:xfrm>
          <a:off x="4857750" y="3316288"/>
          <a:ext cx="3676650" cy="2473325"/>
        </p:xfrm>
        <a:graphic>
          <a:graphicData uri="http://schemas.openxmlformats.org/drawingml/2006/table">
            <a:tbl>
              <a:tblPr/>
              <a:tblGrid>
                <a:gridCol w="838128">
                  <a:extLst>
                    <a:ext uri="{9D8B030D-6E8A-4147-A177-3AD203B41FA5}">
                      <a16:colId xmlns:a16="http://schemas.microsoft.com/office/drawing/2014/main" val="20000"/>
                    </a:ext>
                  </a:extLst>
                </a:gridCol>
                <a:gridCol w="533354">
                  <a:extLst>
                    <a:ext uri="{9D8B030D-6E8A-4147-A177-3AD203B41FA5}">
                      <a16:colId xmlns:a16="http://schemas.microsoft.com/office/drawing/2014/main" val="20001"/>
                    </a:ext>
                  </a:extLst>
                </a:gridCol>
                <a:gridCol w="609547">
                  <a:extLst>
                    <a:ext uri="{9D8B030D-6E8A-4147-A177-3AD203B41FA5}">
                      <a16:colId xmlns:a16="http://schemas.microsoft.com/office/drawing/2014/main" val="20002"/>
                    </a:ext>
                  </a:extLst>
                </a:gridCol>
                <a:gridCol w="609547">
                  <a:extLst>
                    <a:ext uri="{9D8B030D-6E8A-4147-A177-3AD203B41FA5}">
                      <a16:colId xmlns:a16="http://schemas.microsoft.com/office/drawing/2014/main" val="20003"/>
                    </a:ext>
                  </a:extLst>
                </a:gridCol>
                <a:gridCol w="557482">
                  <a:extLst>
                    <a:ext uri="{9D8B030D-6E8A-4147-A177-3AD203B41FA5}">
                      <a16:colId xmlns:a16="http://schemas.microsoft.com/office/drawing/2014/main" val="20004"/>
                    </a:ext>
                  </a:extLst>
                </a:gridCol>
                <a:gridCol w="528592">
                  <a:extLst>
                    <a:ext uri="{9D8B030D-6E8A-4147-A177-3AD203B41FA5}">
                      <a16:colId xmlns:a16="http://schemas.microsoft.com/office/drawing/2014/main" val="20005"/>
                    </a:ext>
                  </a:extLst>
                </a:gridCol>
              </a:tblGrid>
              <a:tr h="790957">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            j</a:t>
                      </a:r>
                    </a:p>
                    <a:p>
                      <a:pPr marL="0" marR="0" lvl="0" indent="0" algn="l" defTabSz="914400" rtl="0" eaLnBrk="1" fontAlgn="base" latinLnBrk="0" hangingPunct="1">
                        <a:lnSpc>
                          <a:spcPct val="100000"/>
                        </a:lnSpc>
                        <a:spcBef>
                          <a:spcPct val="0"/>
                        </a:spcBef>
                        <a:spcAft>
                          <a:spcPct val="0"/>
                        </a:spcAft>
                        <a:buClrTx/>
                        <a:buSzPct val="85000"/>
                        <a:buFontTx/>
                        <a:buNone/>
                        <a:tabLst/>
                      </a:pPr>
                      <a:r>
                        <a:rPr kumimoji="1" lang="en-US" altLang="zh-CN" sz="1400" b="1" i="0" u="none" strike="noStrike" cap="none" normalizeH="0" baseline="0" dirty="0" err="1">
                          <a:ln>
                            <a:noFill/>
                          </a:ln>
                          <a:solidFill>
                            <a:schemeClr val="bg2"/>
                          </a:solidFill>
                          <a:effectLst/>
                          <a:latin typeface="Times New Roman" panose="02020603050405020304" pitchFamily="18" charset="0"/>
                          <a:ea typeface="华文细黑" panose="02010600040101010101" pitchFamily="2" charset="-122"/>
                        </a:rPr>
                        <a:t>i</a:t>
                      </a:r>
                      <a:endPar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L="91432" marR="91432" marT="45689" marB="4568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Ⅰ</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Ⅱ</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Ⅲ</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Ⅳ</a:t>
                      </a:r>
                    </a:p>
                    <a:p>
                      <a:pPr marL="0" marR="0" lvl="0" indent="0" algn="l" defTabSz="914400" rtl="0" eaLnBrk="1" fontAlgn="base" latinLnBrk="0" hangingPunct="1">
                        <a:lnSpc>
                          <a:spcPct val="120000"/>
                        </a:lnSpc>
                        <a:spcBef>
                          <a:spcPct val="15000"/>
                        </a:spcBef>
                        <a:spcAft>
                          <a:spcPct val="0"/>
                        </a:spcAft>
                        <a:buClrTx/>
                        <a:buSzPct val="85000"/>
                        <a:buFontTx/>
                        <a:buNone/>
                        <a:tabLst/>
                      </a:pPr>
                      <a:endPar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D</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0592">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Ⅰ</a:t>
                      </a:r>
                    </a:p>
                  </a:txBody>
                  <a:tcPr marL="91432" marR="91432" marT="45689" marB="4568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10</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rPr>
                        <a:t>15</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0</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20592">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Ⅱ</a:t>
                      </a:r>
                    </a:p>
                  </a:txBody>
                  <a:tcPr marL="91432" marR="91432" marT="45689" marB="4568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0</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5</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30</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20592">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chemeClr val="bg2"/>
                          </a:solidFill>
                          <a:effectLst/>
                          <a:latin typeface="Times New Roman" panose="02020603050405020304" pitchFamily="18" charset="0"/>
                          <a:ea typeface="华文细黑" panose="02010600040101010101" pitchFamily="2" charset="-122"/>
                        </a:rPr>
                        <a:t>Ⅲ</a:t>
                      </a:r>
                    </a:p>
                  </a:txBody>
                  <a:tcPr marL="91432" marR="91432" marT="45689" marB="4568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25</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5</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20592">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a:ln>
                            <a:noFill/>
                          </a:ln>
                          <a:solidFill>
                            <a:schemeClr val="bg2"/>
                          </a:solidFill>
                          <a:effectLst/>
                          <a:latin typeface="Times New Roman" panose="02020603050405020304" pitchFamily="18" charset="0"/>
                          <a:ea typeface="华文细黑" panose="02010600040101010101" pitchFamily="2" charset="-122"/>
                        </a:rPr>
                        <a:t>Ⅳ</a:t>
                      </a:r>
                    </a:p>
                  </a:txBody>
                  <a:tcPr marL="91432" marR="91432" marT="45689" marB="4568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r>
                        <a:rPr kumimoji="1" lang="en-US"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rPr>
                        <a:t>10</a:t>
                      </a: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15000"/>
                        </a:spcBef>
                        <a:defRPr kumimoji="1" sz="2000" b="1">
                          <a:solidFill>
                            <a:schemeClr val="bg2"/>
                          </a:solidFill>
                          <a:latin typeface="Times New Roman" panose="02020603050405020304" pitchFamily="18" charset="0"/>
                          <a:ea typeface="华文细黑" panose="02010600040101010101" pitchFamily="2" charset="-122"/>
                        </a:defRPr>
                      </a:lvl1pPr>
                      <a:lvl2pPr marL="742950" indent="-285750" eaLnBrk="0" hangingPunct="0">
                        <a:spcBef>
                          <a:spcPct val="20000"/>
                        </a:spcBef>
                        <a:buClr>
                          <a:schemeClr val="bg2"/>
                        </a:buClr>
                        <a:buSzPct val="70000"/>
                        <a:buFont typeface="Wingdings" panose="05000000000000000000" pitchFamily="2" charset="2"/>
                        <a:defRPr kumimoji="1" sz="2200" b="1">
                          <a:solidFill>
                            <a:srgbClr val="003300"/>
                          </a:solidFill>
                          <a:latin typeface="Times New Roman" panose="02020603050405020304" pitchFamily="18" charset="0"/>
                          <a:ea typeface="华文细黑" panose="02010600040101010101" pitchFamily="2" charset="-122"/>
                        </a:defRPr>
                      </a:lvl2pPr>
                      <a:lvl3pPr marL="1143000" indent="-228600" eaLnBrk="0" hangingPunct="0">
                        <a:spcBef>
                          <a:spcPct val="20000"/>
                        </a:spcBef>
                        <a:buSzPct val="70000"/>
                        <a:buFont typeface="Wingdings" panose="05000000000000000000" pitchFamily="2" charset="2"/>
                        <a:defRPr kumimoji="1" sz="2000" b="1">
                          <a:solidFill>
                            <a:srgbClr val="003300"/>
                          </a:solidFill>
                          <a:latin typeface="Times New Roman" panose="02020603050405020304" pitchFamily="18" charset="0"/>
                          <a:ea typeface="华文细黑" panose="02010600040101010101" pitchFamily="2" charset="-122"/>
                        </a:defRPr>
                      </a:lvl3pPr>
                      <a:lvl4pPr marL="1600200" indent="-228600" eaLnBrk="0" hangingPunct="0">
                        <a:spcBef>
                          <a:spcPct val="20000"/>
                        </a:spcBef>
                        <a:buSzPct val="70000"/>
                        <a:buFont typeface="Wingdings" panose="05000000000000000000" pitchFamily="2" charset="2"/>
                        <a:defRPr kumimoji="1">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20000"/>
                        </a:lnSpc>
                        <a:spcBef>
                          <a:spcPct val="15000"/>
                        </a:spcBef>
                        <a:spcAft>
                          <a:spcPct val="0"/>
                        </a:spcAft>
                        <a:buClrTx/>
                        <a:buSzPct val="85000"/>
                        <a:buFontTx/>
                        <a:buNone/>
                        <a:tabLst/>
                      </a:pPr>
                      <a:endParaRPr kumimoji="1" lang="zh-CN" altLang="zh-CN" sz="1400" b="1" i="0" u="none" strike="noStrike" cap="none" normalizeH="0" baseline="0" dirty="0">
                        <a:ln>
                          <a:noFill/>
                        </a:ln>
                        <a:solidFill>
                          <a:srgbClr val="0000FF"/>
                        </a:solidFill>
                        <a:effectLst/>
                        <a:latin typeface="Times New Roman" panose="02020603050405020304" pitchFamily="18" charset="0"/>
                        <a:ea typeface="华文细黑" panose="02010600040101010101" pitchFamily="2" charset="-122"/>
                      </a:endParaRPr>
                    </a:p>
                  </a:txBody>
                  <a:tcPr marL="91432" marR="91432" marT="45689" marB="4568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4" name="图片 1">
            <a:extLst>
              <a:ext uri="{FF2B5EF4-FFF2-40B4-BE49-F238E27FC236}">
                <a16:creationId xmlns:a16="http://schemas.microsoft.com/office/drawing/2014/main" id="{515AD833-2B07-4F7C-A7C3-FBC39507597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 y="1600200"/>
            <a:ext cx="8766175"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955" name="Rectangle 2">
            <a:extLst>
              <a:ext uri="{FF2B5EF4-FFF2-40B4-BE49-F238E27FC236}">
                <a16:creationId xmlns:a16="http://schemas.microsoft.com/office/drawing/2014/main" id="{9AF9FF45-1E0C-41FB-9FD6-CDF41BF375E7}"/>
              </a:ext>
            </a:extLst>
          </p:cNvPr>
          <p:cNvSpPr>
            <a:spLocks noGrp="1" noChangeArrowheads="1"/>
          </p:cNvSpPr>
          <p:nvPr>
            <p:ph type="title"/>
          </p:nvPr>
        </p:nvSpPr>
        <p:spPr/>
        <p:txBody>
          <a:bodyPr/>
          <a:lstStyle/>
          <a:p>
            <a:pPr eaLnBrk="1" hangingPunct="1"/>
            <a:r>
              <a:rPr lang="zh-CN" altLang="en-US"/>
              <a:t>本章小结</a:t>
            </a:r>
          </a:p>
        </p:txBody>
      </p:sp>
      <p:grpSp>
        <p:nvGrpSpPr>
          <p:cNvPr id="6" name="组合 5">
            <a:extLst>
              <a:ext uri="{FF2B5EF4-FFF2-40B4-BE49-F238E27FC236}">
                <a16:creationId xmlns:a16="http://schemas.microsoft.com/office/drawing/2014/main" id="{B996F19D-0867-4CC6-AAE8-40F0074B7361}"/>
              </a:ext>
            </a:extLst>
          </p:cNvPr>
          <p:cNvGrpSpPr>
            <a:grpSpLocks/>
          </p:cNvGrpSpPr>
          <p:nvPr/>
        </p:nvGrpSpPr>
        <p:grpSpPr bwMode="auto">
          <a:xfrm>
            <a:off x="3200400" y="2374900"/>
            <a:ext cx="1219200" cy="1106488"/>
            <a:chOff x="3276600" y="2375517"/>
            <a:chExt cx="1219944" cy="1106009"/>
          </a:xfrm>
        </p:grpSpPr>
        <p:sp>
          <p:nvSpPr>
            <p:cNvPr id="125981" name="Rectangle 95">
              <a:extLst>
                <a:ext uri="{FF2B5EF4-FFF2-40B4-BE49-F238E27FC236}">
                  <a16:creationId xmlns:a16="http://schemas.microsoft.com/office/drawing/2014/main" id="{EEBB8DA1-803A-4F6C-B111-8480D85041B4}"/>
                </a:ext>
              </a:extLst>
            </p:cNvPr>
            <p:cNvSpPr>
              <a:spLocks noChangeArrowheads="1"/>
            </p:cNvSpPr>
            <p:nvPr/>
          </p:nvSpPr>
          <p:spPr bwMode="auto">
            <a:xfrm>
              <a:off x="3276600" y="2375517"/>
              <a:ext cx="1219944" cy="291483"/>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82" name="Rectangle 95">
              <a:extLst>
                <a:ext uri="{FF2B5EF4-FFF2-40B4-BE49-F238E27FC236}">
                  <a16:creationId xmlns:a16="http://schemas.microsoft.com/office/drawing/2014/main" id="{18BF6C0A-7733-4A24-AC48-C83315F858A9}"/>
                </a:ext>
              </a:extLst>
            </p:cNvPr>
            <p:cNvSpPr>
              <a:spLocks noChangeArrowheads="1"/>
            </p:cNvSpPr>
            <p:nvPr/>
          </p:nvSpPr>
          <p:spPr bwMode="auto">
            <a:xfrm>
              <a:off x="3276600" y="3190043"/>
              <a:ext cx="1219944" cy="291483"/>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sp>
        <p:nvSpPr>
          <p:cNvPr id="10" name="Rectangle 95">
            <a:extLst>
              <a:ext uri="{FF2B5EF4-FFF2-40B4-BE49-F238E27FC236}">
                <a16:creationId xmlns:a16="http://schemas.microsoft.com/office/drawing/2014/main" id="{23A05A7A-2FD7-4E5C-9CB6-55D4F76A341F}"/>
              </a:ext>
            </a:extLst>
          </p:cNvPr>
          <p:cNvSpPr>
            <a:spLocks noChangeArrowheads="1"/>
          </p:cNvSpPr>
          <p:nvPr/>
        </p:nvSpPr>
        <p:spPr bwMode="auto">
          <a:xfrm>
            <a:off x="4648200" y="3198813"/>
            <a:ext cx="1143000" cy="290512"/>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1" name="Rectangle 95">
            <a:extLst>
              <a:ext uri="{FF2B5EF4-FFF2-40B4-BE49-F238E27FC236}">
                <a16:creationId xmlns:a16="http://schemas.microsoft.com/office/drawing/2014/main" id="{397F94D0-0162-407E-B442-E139D8BE2A34}"/>
              </a:ext>
            </a:extLst>
          </p:cNvPr>
          <p:cNvSpPr>
            <a:spLocks noChangeArrowheads="1"/>
          </p:cNvSpPr>
          <p:nvPr/>
        </p:nvSpPr>
        <p:spPr bwMode="auto">
          <a:xfrm>
            <a:off x="6324600" y="1600200"/>
            <a:ext cx="914400" cy="533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nvGrpSpPr>
          <p:cNvPr id="5" name="组合 4">
            <a:extLst>
              <a:ext uri="{FF2B5EF4-FFF2-40B4-BE49-F238E27FC236}">
                <a16:creationId xmlns:a16="http://schemas.microsoft.com/office/drawing/2014/main" id="{0F516157-E0BD-4196-A5ED-FBD4DC065854}"/>
              </a:ext>
            </a:extLst>
          </p:cNvPr>
          <p:cNvGrpSpPr>
            <a:grpSpLocks/>
          </p:cNvGrpSpPr>
          <p:nvPr/>
        </p:nvGrpSpPr>
        <p:grpSpPr bwMode="auto">
          <a:xfrm>
            <a:off x="1295400" y="1828800"/>
            <a:ext cx="1752600" cy="1524000"/>
            <a:chOff x="1371600" y="1828800"/>
            <a:chExt cx="1752600" cy="1524000"/>
          </a:xfrm>
        </p:grpSpPr>
        <p:sp>
          <p:nvSpPr>
            <p:cNvPr id="125979" name="Rectangle 95">
              <a:extLst>
                <a:ext uri="{FF2B5EF4-FFF2-40B4-BE49-F238E27FC236}">
                  <a16:creationId xmlns:a16="http://schemas.microsoft.com/office/drawing/2014/main" id="{448D37D2-8881-4F12-A6B9-82A861F1A37E}"/>
                </a:ext>
              </a:extLst>
            </p:cNvPr>
            <p:cNvSpPr>
              <a:spLocks noChangeArrowheads="1"/>
            </p:cNvSpPr>
            <p:nvPr/>
          </p:nvSpPr>
          <p:spPr bwMode="auto">
            <a:xfrm>
              <a:off x="1371600" y="1828800"/>
              <a:ext cx="1752600" cy="533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80" name="Rectangle 95">
              <a:extLst>
                <a:ext uri="{FF2B5EF4-FFF2-40B4-BE49-F238E27FC236}">
                  <a16:creationId xmlns:a16="http://schemas.microsoft.com/office/drawing/2014/main" id="{471237BA-C7FF-4A0E-8FCD-3920B666E980}"/>
                </a:ext>
              </a:extLst>
            </p:cNvPr>
            <p:cNvSpPr>
              <a:spLocks noChangeArrowheads="1"/>
            </p:cNvSpPr>
            <p:nvPr/>
          </p:nvSpPr>
          <p:spPr bwMode="auto">
            <a:xfrm>
              <a:off x="1676400" y="2628900"/>
              <a:ext cx="1143000" cy="7239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grpSp>
        <p:nvGrpSpPr>
          <p:cNvPr id="13" name="组合 12">
            <a:extLst>
              <a:ext uri="{FF2B5EF4-FFF2-40B4-BE49-F238E27FC236}">
                <a16:creationId xmlns:a16="http://schemas.microsoft.com/office/drawing/2014/main" id="{65D804C9-5433-4A02-8762-271BA24AD567}"/>
              </a:ext>
            </a:extLst>
          </p:cNvPr>
          <p:cNvGrpSpPr>
            <a:grpSpLocks/>
          </p:cNvGrpSpPr>
          <p:nvPr/>
        </p:nvGrpSpPr>
        <p:grpSpPr bwMode="auto">
          <a:xfrm>
            <a:off x="6324600" y="2344738"/>
            <a:ext cx="2514600" cy="646112"/>
            <a:chOff x="6324600" y="2345369"/>
            <a:chExt cx="2514600" cy="645481"/>
          </a:xfrm>
        </p:grpSpPr>
        <p:sp>
          <p:nvSpPr>
            <p:cNvPr id="125977" name="Rectangle 95">
              <a:extLst>
                <a:ext uri="{FF2B5EF4-FFF2-40B4-BE49-F238E27FC236}">
                  <a16:creationId xmlns:a16="http://schemas.microsoft.com/office/drawing/2014/main" id="{6A4A1B48-F2C7-4B52-AA78-AE3FE6151230}"/>
                </a:ext>
              </a:extLst>
            </p:cNvPr>
            <p:cNvSpPr>
              <a:spLocks noChangeArrowheads="1"/>
            </p:cNvSpPr>
            <p:nvPr/>
          </p:nvSpPr>
          <p:spPr bwMode="auto">
            <a:xfrm>
              <a:off x="6324600" y="2457450"/>
              <a:ext cx="914400" cy="5334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78" name="Rectangle 95">
              <a:extLst>
                <a:ext uri="{FF2B5EF4-FFF2-40B4-BE49-F238E27FC236}">
                  <a16:creationId xmlns:a16="http://schemas.microsoft.com/office/drawing/2014/main" id="{7840235E-E51F-4A05-BBC1-51130D23D1A9}"/>
                </a:ext>
              </a:extLst>
            </p:cNvPr>
            <p:cNvSpPr>
              <a:spLocks noChangeArrowheads="1"/>
            </p:cNvSpPr>
            <p:nvPr/>
          </p:nvSpPr>
          <p:spPr bwMode="auto">
            <a:xfrm>
              <a:off x="7696200" y="2345369"/>
              <a:ext cx="1143000" cy="2667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sp>
        <p:nvSpPr>
          <p:cNvPr id="18" name="Rectangle 95">
            <a:extLst>
              <a:ext uri="{FF2B5EF4-FFF2-40B4-BE49-F238E27FC236}">
                <a16:creationId xmlns:a16="http://schemas.microsoft.com/office/drawing/2014/main" id="{F56CF888-8E88-4A0F-B8CA-7BFF8BFC6565}"/>
              </a:ext>
            </a:extLst>
          </p:cNvPr>
          <p:cNvSpPr>
            <a:spLocks noChangeArrowheads="1"/>
          </p:cNvSpPr>
          <p:nvPr/>
        </p:nvSpPr>
        <p:spPr bwMode="auto">
          <a:xfrm>
            <a:off x="7924800" y="1733550"/>
            <a:ext cx="762000" cy="26670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9" name="Rectangle 95">
            <a:extLst>
              <a:ext uri="{FF2B5EF4-FFF2-40B4-BE49-F238E27FC236}">
                <a16:creationId xmlns:a16="http://schemas.microsoft.com/office/drawing/2014/main" id="{2D23683E-BC7C-4825-B44B-72AF26B34109}"/>
              </a:ext>
            </a:extLst>
          </p:cNvPr>
          <p:cNvSpPr>
            <a:spLocks noChangeArrowheads="1"/>
          </p:cNvSpPr>
          <p:nvPr/>
        </p:nvSpPr>
        <p:spPr bwMode="auto">
          <a:xfrm>
            <a:off x="7696200" y="2867025"/>
            <a:ext cx="1143000" cy="301625"/>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nvGrpSpPr>
          <p:cNvPr id="14" name="组合 13">
            <a:extLst>
              <a:ext uri="{FF2B5EF4-FFF2-40B4-BE49-F238E27FC236}">
                <a16:creationId xmlns:a16="http://schemas.microsoft.com/office/drawing/2014/main" id="{B1E4BA05-ED62-42C5-A1A6-EFBE8A7596DE}"/>
              </a:ext>
            </a:extLst>
          </p:cNvPr>
          <p:cNvGrpSpPr>
            <a:grpSpLocks/>
          </p:cNvGrpSpPr>
          <p:nvPr/>
        </p:nvGrpSpPr>
        <p:grpSpPr bwMode="auto">
          <a:xfrm>
            <a:off x="6324600" y="3259138"/>
            <a:ext cx="2590800" cy="779462"/>
            <a:chOff x="6324601" y="3258831"/>
            <a:chExt cx="2590800" cy="779769"/>
          </a:xfrm>
        </p:grpSpPr>
        <p:sp>
          <p:nvSpPr>
            <p:cNvPr id="125975" name="Rectangle 95">
              <a:extLst>
                <a:ext uri="{FF2B5EF4-FFF2-40B4-BE49-F238E27FC236}">
                  <a16:creationId xmlns:a16="http://schemas.microsoft.com/office/drawing/2014/main" id="{F437C6B3-806D-47B7-9FD1-5123DB49D5FA}"/>
                </a:ext>
              </a:extLst>
            </p:cNvPr>
            <p:cNvSpPr>
              <a:spLocks noChangeArrowheads="1"/>
            </p:cNvSpPr>
            <p:nvPr/>
          </p:nvSpPr>
          <p:spPr bwMode="auto">
            <a:xfrm>
              <a:off x="6324601" y="3317660"/>
              <a:ext cx="914399" cy="72094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76" name="Rectangle 95">
              <a:extLst>
                <a:ext uri="{FF2B5EF4-FFF2-40B4-BE49-F238E27FC236}">
                  <a16:creationId xmlns:a16="http://schemas.microsoft.com/office/drawing/2014/main" id="{5A9E7A55-5B42-4848-BDB2-1E6F4A942A60}"/>
                </a:ext>
              </a:extLst>
            </p:cNvPr>
            <p:cNvSpPr>
              <a:spLocks noChangeArrowheads="1"/>
            </p:cNvSpPr>
            <p:nvPr/>
          </p:nvSpPr>
          <p:spPr bwMode="auto">
            <a:xfrm>
              <a:off x="7772401" y="3258831"/>
              <a:ext cx="1143000" cy="301643"/>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sp>
        <p:nvSpPr>
          <p:cNvPr id="23" name="Rectangle 95">
            <a:extLst>
              <a:ext uri="{FF2B5EF4-FFF2-40B4-BE49-F238E27FC236}">
                <a16:creationId xmlns:a16="http://schemas.microsoft.com/office/drawing/2014/main" id="{3F9CA4F9-29E7-4859-8412-0E51A3A9BD9C}"/>
              </a:ext>
            </a:extLst>
          </p:cNvPr>
          <p:cNvSpPr>
            <a:spLocks noChangeArrowheads="1"/>
          </p:cNvSpPr>
          <p:nvPr/>
        </p:nvSpPr>
        <p:spPr bwMode="auto">
          <a:xfrm>
            <a:off x="7696200" y="3781425"/>
            <a:ext cx="1219200" cy="301625"/>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nvGrpSpPr>
          <p:cNvPr id="17" name="组合 16">
            <a:extLst>
              <a:ext uri="{FF2B5EF4-FFF2-40B4-BE49-F238E27FC236}">
                <a16:creationId xmlns:a16="http://schemas.microsoft.com/office/drawing/2014/main" id="{C36896C1-8423-4283-BE8D-F539F903FAF4}"/>
              </a:ext>
            </a:extLst>
          </p:cNvPr>
          <p:cNvGrpSpPr>
            <a:grpSpLocks/>
          </p:cNvGrpSpPr>
          <p:nvPr/>
        </p:nvGrpSpPr>
        <p:grpSpPr bwMode="auto">
          <a:xfrm>
            <a:off x="6324600" y="4191000"/>
            <a:ext cx="2590800" cy="307975"/>
            <a:chOff x="6324600" y="4191000"/>
            <a:chExt cx="2362199" cy="307760"/>
          </a:xfrm>
        </p:grpSpPr>
        <p:sp>
          <p:nvSpPr>
            <p:cNvPr id="125973" name="Rectangle 95">
              <a:extLst>
                <a:ext uri="{FF2B5EF4-FFF2-40B4-BE49-F238E27FC236}">
                  <a16:creationId xmlns:a16="http://schemas.microsoft.com/office/drawing/2014/main" id="{295DFEB7-3560-4E6E-AEF1-B64287656441}"/>
                </a:ext>
              </a:extLst>
            </p:cNvPr>
            <p:cNvSpPr>
              <a:spLocks noChangeArrowheads="1"/>
            </p:cNvSpPr>
            <p:nvPr/>
          </p:nvSpPr>
          <p:spPr bwMode="auto">
            <a:xfrm>
              <a:off x="6324600" y="4191000"/>
              <a:ext cx="914399" cy="30776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74" name="Rectangle 95">
              <a:extLst>
                <a:ext uri="{FF2B5EF4-FFF2-40B4-BE49-F238E27FC236}">
                  <a16:creationId xmlns:a16="http://schemas.microsoft.com/office/drawing/2014/main" id="{346A2E98-6362-4AE6-978F-42CE6E13C4A3}"/>
                </a:ext>
              </a:extLst>
            </p:cNvPr>
            <p:cNvSpPr>
              <a:spLocks noChangeArrowheads="1"/>
            </p:cNvSpPr>
            <p:nvPr/>
          </p:nvSpPr>
          <p:spPr bwMode="auto">
            <a:xfrm>
              <a:off x="7366747" y="4191000"/>
              <a:ext cx="1320052" cy="30776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grpSp>
        <p:nvGrpSpPr>
          <p:cNvPr id="22" name="组合 21">
            <a:extLst>
              <a:ext uri="{FF2B5EF4-FFF2-40B4-BE49-F238E27FC236}">
                <a16:creationId xmlns:a16="http://schemas.microsoft.com/office/drawing/2014/main" id="{DB3D873A-0A77-4498-A9FC-ACC58B0DA422}"/>
              </a:ext>
            </a:extLst>
          </p:cNvPr>
          <p:cNvGrpSpPr>
            <a:grpSpLocks/>
          </p:cNvGrpSpPr>
          <p:nvPr/>
        </p:nvGrpSpPr>
        <p:grpSpPr bwMode="auto">
          <a:xfrm>
            <a:off x="1524000" y="4114800"/>
            <a:ext cx="1295400" cy="1312863"/>
            <a:chOff x="1600200" y="4089066"/>
            <a:chExt cx="1295400" cy="1312417"/>
          </a:xfrm>
        </p:grpSpPr>
        <p:sp>
          <p:nvSpPr>
            <p:cNvPr id="125971" name="Rectangle 95">
              <a:extLst>
                <a:ext uri="{FF2B5EF4-FFF2-40B4-BE49-F238E27FC236}">
                  <a16:creationId xmlns:a16="http://schemas.microsoft.com/office/drawing/2014/main" id="{3B88E358-2AE6-4144-B196-81C3CF0113BF}"/>
                </a:ext>
              </a:extLst>
            </p:cNvPr>
            <p:cNvSpPr>
              <a:spLocks noChangeArrowheads="1"/>
            </p:cNvSpPr>
            <p:nvPr/>
          </p:nvSpPr>
          <p:spPr bwMode="auto">
            <a:xfrm>
              <a:off x="1600200" y="5093723"/>
              <a:ext cx="1295400" cy="30776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72" name="Rectangle 95">
              <a:extLst>
                <a:ext uri="{FF2B5EF4-FFF2-40B4-BE49-F238E27FC236}">
                  <a16:creationId xmlns:a16="http://schemas.microsoft.com/office/drawing/2014/main" id="{175A3E07-7764-4A8A-9F7C-35F3C940CE54}"/>
                </a:ext>
              </a:extLst>
            </p:cNvPr>
            <p:cNvSpPr>
              <a:spLocks noChangeArrowheads="1"/>
            </p:cNvSpPr>
            <p:nvPr/>
          </p:nvSpPr>
          <p:spPr bwMode="auto">
            <a:xfrm>
              <a:off x="1676400" y="4089066"/>
              <a:ext cx="1142999" cy="720940"/>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grpSp>
        <p:nvGrpSpPr>
          <p:cNvPr id="26" name="组合 25">
            <a:extLst>
              <a:ext uri="{FF2B5EF4-FFF2-40B4-BE49-F238E27FC236}">
                <a16:creationId xmlns:a16="http://schemas.microsoft.com/office/drawing/2014/main" id="{1F3A325F-D11D-450D-95C7-685DEFF63024}"/>
              </a:ext>
            </a:extLst>
          </p:cNvPr>
          <p:cNvGrpSpPr>
            <a:grpSpLocks/>
          </p:cNvGrpSpPr>
          <p:nvPr/>
        </p:nvGrpSpPr>
        <p:grpSpPr bwMode="auto">
          <a:xfrm>
            <a:off x="3276600" y="3797300"/>
            <a:ext cx="2057400" cy="546100"/>
            <a:chOff x="3314328" y="3797582"/>
            <a:chExt cx="2058143" cy="545817"/>
          </a:xfrm>
        </p:grpSpPr>
        <p:sp>
          <p:nvSpPr>
            <p:cNvPr id="125969" name="Rectangle 95">
              <a:extLst>
                <a:ext uri="{FF2B5EF4-FFF2-40B4-BE49-F238E27FC236}">
                  <a16:creationId xmlns:a16="http://schemas.microsoft.com/office/drawing/2014/main" id="{9BA5652A-5213-4A56-9AE8-60BC760BAC53}"/>
                </a:ext>
              </a:extLst>
            </p:cNvPr>
            <p:cNvSpPr>
              <a:spLocks noChangeArrowheads="1"/>
            </p:cNvSpPr>
            <p:nvPr/>
          </p:nvSpPr>
          <p:spPr bwMode="auto">
            <a:xfrm>
              <a:off x="3314328" y="3797582"/>
              <a:ext cx="914400" cy="545817"/>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5970" name="Rectangle 95">
              <a:extLst>
                <a:ext uri="{FF2B5EF4-FFF2-40B4-BE49-F238E27FC236}">
                  <a16:creationId xmlns:a16="http://schemas.microsoft.com/office/drawing/2014/main" id="{FF20F10D-A210-4285-B613-48F988074738}"/>
                </a:ext>
              </a:extLst>
            </p:cNvPr>
            <p:cNvSpPr>
              <a:spLocks noChangeArrowheads="1"/>
            </p:cNvSpPr>
            <p:nvPr/>
          </p:nvSpPr>
          <p:spPr bwMode="auto">
            <a:xfrm>
              <a:off x="4458072" y="3812840"/>
              <a:ext cx="914399" cy="530559"/>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grpSp>
      <p:sp>
        <p:nvSpPr>
          <p:cNvPr id="32" name="Rectangle 95">
            <a:extLst>
              <a:ext uri="{FF2B5EF4-FFF2-40B4-BE49-F238E27FC236}">
                <a16:creationId xmlns:a16="http://schemas.microsoft.com/office/drawing/2014/main" id="{ACDC7A45-7952-4BE0-B777-5A1D669432CE}"/>
              </a:ext>
            </a:extLst>
          </p:cNvPr>
          <p:cNvSpPr>
            <a:spLocks noChangeArrowheads="1"/>
          </p:cNvSpPr>
          <p:nvPr/>
        </p:nvSpPr>
        <p:spPr bwMode="auto">
          <a:xfrm>
            <a:off x="3276600" y="4721225"/>
            <a:ext cx="914400" cy="290513"/>
          </a:xfrm>
          <a:prstGeom prst="rect">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xit" presetSubtype="0" fill="hold" nodeType="clickEffect">
                                  <p:stCondLst>
                                    <p:cond delay="0"/>
                                  </p:stCondLst>
                                  <p:childTnLst>
                                    <p:set>
                                      <p:cBhvr>
                                        <p:cTn id="10" dur="1" fill="hold">
                                          <p:stCondLst>
                                            <p:cond delay="0"/>
                                          </p:stCondLst>
                                        </p:cTn>
                                        <p:tgtEl>
                                          <p:spTgt spid="6"/>
                                        </p:tgtEl>
                                        <p:attrNameLst>
                                          <p:attrName>style.visibility</p:attrName>
                                        </p:attrNameLst>
                                      </p:cBhvr>
                                      <p:to>
                                        <p:strVal val="hidden"/>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xit"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hidden"/>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hidden"/>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nodeType="clickEffect">
                                  <p:stCondLst>
                                    <p:cond delay="0"/>
                                  </p:stCondLst>
                                  <p:childTnLst>
                                    <p:set>
                                      <p:cBhvr>
                                        <p:cTn id="22" dur="1" fill="hold">
                                          <p:stCondLst>
                                            <p:cond delay="0"/>
                                          </p:stCondLst>
                                        </p:cTn>
                                        <p:tgtEl>
                                          <p:spTgt spid="13"/>
                                        </p:tgtEl>
                                        <p:attrNameLst>
                                          <p:attrName>style.visibility</p:attrName>
                                        </p:attrNameLst>
                                      </p:cBhvr>
                                      <p:to>
                                        <p:strVal val="hidden"/>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xit"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xit" presetSubtype="0" fill="hold" grpId="0" nodeType="clickEffect">
                                  <p:stCondLst>
                                    <p:cond delay="0"/>
                                  </p:stCondLst>
                                  <p:childTnLst>
                                    <p:set>
                                      <p:cBhvr>
                                        <p:cTn id="30" dur="1" fill="hold">
                                          <p:stCondLst>
                                            <p:cond delay="0"/>
                                          </p:stCondLst>
                                        </p:cTn>
                                        <p:tgtEl>
                                          <p:spTgt spid="19"/>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xit" presetSubtype="0" fill="hold" nodeType="clickEffect">
                                  <p:stCondLst>
                                    <p:cond delay="0"/>
                                  </p:stCondLst>
                                  <p:childTnLst>
                                    <p:set>
                                      <p:cBhvr>
                                        <p:cTn id="34" dur="1" fill="hold">
                                          <p:stCondLst>
                                            <p:cond delay="0"/>
                                          </p:stCondLst>
                                        </p:cTn>
                                        <p:tgtEl>
                                          <p:spTgt spid="14"/>
                                        </p:tgtEl>
                                        <p:attrNameLst>
                                          <p:attrName>style.visibility</p:attrName>
                                        </p:attrNameLst>
                                      </p:cBhvr>
                                      <p:to>
                                        <p:strVal val="hidden"/>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3"/>
                                        </p:tgtEl>
                                        <p:attrNameLst>
                                          <p:attrName>style.visibility</p:attrName>
                                        </p:attrNameLst>
                                      </p:cBhvr>
                                      <p:to>
                                        <p:strVal val="hidden"/>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xit" presetSubtype="0" fill="hold" nodeType="clickEffect">
                                  <p:stCondLst>
                                    <p:cond delay="0"/>
                                  </p:stCondLst>
                                  <p:childTnLst>
                                    <p:set>
                                      <p:cBhvr>
                                        <p:cTn id="42" dur="1" fill="hold">
                                          <p:stCondLst>
                                            <p:cond delay="0"/>
                                          </p:stCondLst>
                                        </p:cTn>
                                        <p:tgtEl>
                                          <p:spTgt spid="17"/>
                                        </p:tgtEl>
                                        <p:attrNameLst>
                                          <p:attrName>style.visibility</p:attrName>
                                        </p:attrNameLst>
                                      </p:cBhvr>
                                      <p:to>
                                        <p:strVal val="hidden"/>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xit" presetSubtype="0" fill="hold" nodeType="clickEffect">
                                  <p:stCondLst>
                                    <p:cond delay="0"/>
                                  </p:stCondLst>
                                  <p:childTnLst>
                                    <p:set>
                                      <p:cBhvr>
                                        <p:cTn id="46" dur="1" fill="hold">
                                          <p:stCondLst>
                                            <p:cond delay="0"/>
                                          </p:stCondLst>
                                        </p:cTn>
                                        <p:tgtEl>
                                          <p:spTgt spid="22"/>
                                        </p:tgtEl>
                                        <p:attrNameLst>
                                          <p:attrName>style.visibility</p:attrName>
                                        </p:attrNameLst>
                                      </p:cBhvr>
                                      <p:to>
                                        <p:strVal val="hidden"/>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xit" presetSubtype="0" fill="hold" nodeType="clickEffect">
                                  <p:stCondLst>
                                    <p:cond delay="0"/>
                                  </p:stCondLst>
                                  <p:childTnLst>
                                    <p:set>
                                      <p:cBhvr>
                                        <p:cTn id="50" dur="1" fill="hold">
                                          <p:stCondLst>
                                            <p:cond delay="0"/>
                                          </p:stCondLst>
                                        </p:cTn>
                                        <p:tgtEl>
                                          <p:spTgt spid="26"/>
                                        </p:tgtEl>
                                        <p:attrNameLst>
                                          <p:attrName>style.visibility</p:attrName>
                                        </p:attrNameLst>
                                      </p:cBhvr>
                                      <p:to>
                                        <p:strVal val="hidden"/>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xit" presetSubtype="0" fill="hold" grpId="0" nodeType="clickEffect">
                                  <p:stCondLst>
                                    <p:cond delay="0"/>
                                  </p:stCondLst>
                                  <p:childTnLst>
                                    <p:set>
                                      <p:cBhvr>
                                        <p:cTn id="54" dur="1" fill="hold">
                                          <p:stCondLst>
                                            <p:cond delay="0"/>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8" grpId="0" animBg="1"/>
      <p:bldP spid="19" grpId="0" animBg="1"/>
      <p:bldP spid="23" grpId="0" animBg="1"/>
      <p:bldP spid="32"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标题 1">
            <a:extLst>
              <a:ext uri="{FF2B5EF4-FFF2-40B4-BE49-F238E27FC236}">
                <a16:creationId xmlns:a16="http://schemas.microsoft.com/office/drawing/2014/main" id="{3006F609-8EF6-4F35-9B6B-48D732573B61}"/>
              </a:ext>
            </a:extLst>
          </p:cNvPr>
          <p:cNvSpPr>
            <a:spLocks noGrp="1" noChangeArrowheads="1"/>
          </p:cNvSpPr>
          <p:nvPr>
            <p:ph type="title"/>
          </p:nvPr>
        </p:nvSpPr>
        <p:spPr>
          <a:xfrm>
            <a:off x="457200" y="277813"/>
            <a:ext cx="7010400" cy="788987"/>
          </a:xfrm>
        </p:spPr>
        <p:txBody>
          <a:bodyPr/>
          <a:lstStyle/>
          <a:p>
            <a:r>
              <a:rPr lang="zh-CN" altLang="en-US"/>
              <a:t>课后练习</a:t>
            </a:r>
            <a:r>
              <a:rPr lang="zh-CN" altLang="zh-CN"/>
              <a:t>题（运筹学第</a:t>
            </a:r>
            <a:r>
              <a:rPr lang="en-US" altLang="zh-CN"/>
              <a:t>4</a:t>
            </a:r>
            <a:r>
              <a:rPr lang="zh-CN" altLang="zh-CN"/>
              <a:t>版）</a:t>
            </a:r>
            <a:endParaRPr lang="zh-CN" altLang="en-US"/>
          </a:p>
        </p:txBody>
      </p:sp>
      <p:sp>
        <p:nvSpPr>
          <p:cNvPr id="126979" name="AutoShape 1" descr="C:\Users\john\AppData\Roaming\Tencent\Users\22892665\QQ\WinTemp\RichOle\~J5Q7I]{QM{GQR[]T5)7K.jpg">
            <a:extLst>
              <a:ext uri="{FF2B5EF4-FFF2-40B4-BE49-F238E27FC236}">
                <a16:creationId xmlns:a16="http://schemas.microsoft.com/office/drawing/2014/main" id="{EDC2A467-3BDA-4C4E-AC5D-2CE88194A500}"/>
              </a:ext>
            </a:extLst>
          </p:cNvPr>
          <p:cNvSpPr>
            <a:spLocks noChangeAspect="1" noChangeArrowheads="1"/>
          </p:cNvSpPr>
          <p:nvPr/>
        </p:nvSpPr>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6980" name="AutoShape 2" descr="C:\Users\john\AppData\Roaming\Tencent\Users\22892665\QQ\WinTemp\RichOle\~J5Q7I]{QM{GQR[]T5)7K.jpg">
            <a:extLst>
              <a:ext uri="{FF2B5EF4-FFF2-40B4-BE49-F238E27FC236}">
                <a16:creationId xmlns:a16="http://schemas.microsoft.com/office/drawing/2014/main" id="{6D65F316-40AA-4311-9A28-57C314BD273F}"/>
              </a:ext>
            </a:extLst>
          </p:cNvPr>
          <p:cNvSpPr>
            <a:spLocks noChangeAspect="1" noChangeArrowheads="1"/>
          </p:cNvSpPr>
          <p:nvPr/>
        </p:nvSpPr>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6981" name="AutoShape 3" descr="C:\Users\john\AppData\Roaming\Tencent\Users\22892665\QQ\WinTemp\RichOle\~J5Q7I]{QM{GQR[]T5)7K.jpg">
            <a:extLst>
              <a:ext uri="{FF2B5EF4-FFF2-40B4-BE49-F238E27FC236}">
                <a16:creationId xmlns:a16="http://schemas.microsoft.com/office/drawing/2014/main" id="{FEAC7BEA-C1A0-468C-A102-06D870459B72}"/>
              </a:ext>
            </a:extLst>
          </p:cNvPr>
          <p:cNvSpPr>
            <a:spLocks noChangeAspect="1" noChangeArrowheads="1"/>
          </p:cNvSpPr>
          <p:nvPr/>
        </p:nvSpPr>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9" name="Rectangle 3">
            <a:extLst>
              <a:ext uri="{FF2B5EF4-FFF2-40B4-BE49-F238E27FC236}">
                <a16:creationId xmlns:a16="http://schemas.microsoft.com/office/drawing/2014/main" id="{A2B06DE3-0C18-47C0-BA50-6159892F69EF}"/>
              </a:ext>
            </a:extLst>
          </p:cNvPr>
          <p:cNvSpPr txBox="1">
            <a:spLocks noChangeArrowheads="1"/>
          </p:cNvSpPr>
          <p:nvPr/>
        </p:nvSpPr>
        <p:spPr bwMode="auto">
          <a:xfrm>
            <a:off x="457200" y="1219200"/>
            <a:ext cx="8229600" cy="5029200"/>
          </a:xfrm>
          <a:prstGeom prst="rect">
            <a:avLst/>
          </a:prstGeom>
          <a:noFill/>
          <a:ln w="9525">
            <a:noFill/>
            <a:miter lim="800000"/>
            <a:headEnd/>
            <a:tailEnd/>
          </a:ln>
        </p:spPr>
        <p:txBody>
          <a:bodyPr/>
          <a:lstStyle/>
          <a:p>
            <a:pPr marL="342900" indent="-342900" eaLnBrk="1" hangingPunct="1">
              <a:spcBef>
                <a:spcPct val="20000"/>
              </a:spcBef>
              <a:buClr>
                <a:schemeClr val="accent1"/>
              </a:buClr>
              <a:buSzPct val="65000"/>
              <a:buFont typeface="Wingdings" pitchFamily="2" charset="2"/>
              <a:buChar char="n"/>
              <a:defRPr/>
            </a:pPr>
            <a:r>
              <a:rPr lang="zh-CN" altLang="zh-CN" sz="2800" dirty="0">
                <a:latin typeface="Calibri" pitchFamily="34" charset="0"/>
                <a:cs typeface="Times New Roman" pitchFamily="18" charset="0"/>
              </a:rPr>
              <a:t>第</a:t>
            </a:r>
            <a:r>
              <a:rPr lang="en-US" altLang="zh-CN" sz="2800" dirty="0">
                <a:latin typeface="Calibri" pitchFamily="34" charset="0"/>
                <a:cs typeface="Times New Roman" pitchFamily="18" charset="0"/>
              </a:rPr>
              <a:t>4</a:t>
            </a:r>
            <a:r>
              <a:rPr lang="zh-CN" altLang="en-US" sz="2800" dirty="0">
                <a:latin typeface="Calibri" pitchFamily="34" charset="0"/>
                <a:cs typeface="Times New Roman" pitchFamily="18" charset="0"/>
              </a:rPr>
              <a:t>章 运输问题</a:t>
            </a:r>
            <a:endParaRPr lang="zh-CN" altLang="en-US" sz="800" dirty="0">
              <a:latin typeface="Arial" charset="0"/>
            </a:endParaRPr>
          </a:p>
          <a:p>
            <a:pPr marL="669925" lvl="1" indent="-325438" eaLnBrk="1" hangingPunct="1">
              <a:spcBef>
                <a:spcPct val="20000"/>
              </a:spcBef>
              <a:buClr>
                <a:schemeClr val="accent2"/>
              </a:buClr>
              <a:buSzPct val="60000"/>
              <a:buFont typeface="Wingdings" pitchFamily="2" charset="2"/>
              <a:buChar char="q"/>
              <a:defRPr/>
            </a:pPr>
            <a:r>
              <a:rPr lang="en-US" altLang="zh-CN" sz="2400" kern="0" dirty="0">
                <a:solidFill>
                  <a:srgbClr val="FF0000"/>
                </a:solidFill>
                <a:latin typeface="华文细黑" pitchFamily="2" charset="-122"/>
              </a:rPr>
              <a:t>4.3 </a:t>
            </a:r>
            <a:r>
              <a:rPr lang="zh-CN" altLang="zh-CN" sz="2400" kern="0" dirty="0">
                <a:solidFill>
                  <a:srgbClr val="FF0000"/>
                </a:solidFill>
                <a:latin typeface="华文细黑" pitchFamily="2" charset="-122"/>
              </a:rPr>
              <a:t>（</a:t>
            </a:r>
            <a:r>
              <a:rPr lang="zh-CN" altLang="en-US" sz="2400" kern="0" dirty="0">
                <a:solidFill>
                  <a:srgbClr val="FF0000"/>
                </a:solidFill>
                <a:latin typeface="华文细黑" pitchFamily="2" charset="-122"/>
              </a:rPr>
              <a:t>用</a:t>
            </a:r>
            <a:r>
              <a:rPr lang="zh-CN" altLang="zh-CN" sz="2400" kern="0" dirty="0">
                <a:solidFill>
                  <a:srgbClr val="FF0000"/>
                </a:solidFill>
                <a:latin typeface="华文细黑" pitchFamily="2" charset="-122"/>
              </a:rPr>
              <a:t>伏格尔法求表</a:t>
            </a:r>
            <a:r>
              <a:rPr lang="en-US" altLang="zh-CN" sz="2400" kern="0" dirty="0">
                <a:solidFill>
                  <a:srgbClr val="FF0000"/>
                </a:solidFill>
                <a:latin typeface="华文细黑" pitchFamily="2" charset="-122"/>
              </a:rPr>
              <a:t>4-44</a:t>
            </a:r>
            <a:r>
              <a:rPr lang="zh-CN" altLang="zh-CN" sz="2400" kern="0" dirty="0">
                <a:solidFill>
                  <a:srgbClr val="FF0000"/>
                </a:solidFill>
                <a:latin typeface="华文细黑" pitchFamily="2" charset="-122"/>
              </a:rPr>
              <a:t>）</a:t>
            </a:r>
            <a:endParaRPr lang="en-US" altLang="zh-CN" sz="2400" kern="0" dirty="0">
              <a:solidFill>
                <a:srgbClr val="FF0000"/>
              </a:solidFill>
              <a:latin typeface="华文细黑" pitchFamily="2" charset="-122"/>
            </a:endParaRPr>
          </a:p>
          <a:p>
            <a:pPr marL="669925" lvl="1" indent="-325438" eaLnBrk="1" hangingPunct="1">
              <a:spcBef>
                <a:spcPct val="20000"/>
              </a:spcBef>
              <a:buClr>
                <a:schemeClr val="accent2"/>
              </a:buClr>
              <a:buSzPct val="60000"/>
              <a:buFont typeface="Wingdings" pitchFamily="2" charset="2"/>
              <a:buChar char="q"/>
              <a:defRPr/>
            </a:pPr>
            <a:r>
              <a:rPr lang="zh-CN" altLang="en-US" sz="2400" kern="0" dirty="0">
                <a:solidFill>
                  <a:srgbClr val="FF0000"/>
                </a:solidFill>
                <a:latin typeface="华文细黑" pitchFamily="2" charset="-122"/>
                <a:cs typeface="Times New Roman" pitchFamily="18" charset="0"/>
              </a:rPr>
              <a:t>实验型作业：</a:t>
            </a:r>
            <a:r>
              <a:rPr lang="en-US" altLang="zh-CN" sz="2400" dirty="0">
                <a:solidFill>
                  <a:srgbClr val="FF0000"/>
                </a:solidFill>
                <a:latin typeface="Arial" charset="0"/>
              </a:rPr>
              <a:t>LINDO/LINGO/MATLAB </a:t>
            </a:r>
            <a:r>
              <a:rPr lang="zh-CN" altLang="en-US" sz="2400" dirty="0">
                <a:solidFill>
                  <a:srgbClr val="FF0000"/>
                </a:solidFill>
                <a:latin typeface="Arial" charset="0"/>
              </a:rPr>
              <a:t>任选一种</a:t>
            </a:r>
            <a:r>
              <a:rPr lang="zh-CN" altLang="zh-CN" sz="2400" dirty="0">
                <a:solidFill>
                  <a:srgbClr val="FF0000"/>
                </a:solidFill>
                <a:latin typeface="Arial" charset="0"/>
              </a:rPr>
              <a:t>软件</a:t>
            </a:r>
            <a:r>
              <a:rPr lang="zh-CN" altLang="zh-CN" sz="2400" kern="0" dirty="0">
                <a:solidFill>
                  <a:srgbClr val="FF0000"/>
                </a:solidFill>
                <a:latin typeface="华文细黑" pitchFamily="2" charset="-122"/>
                <a:cs typeface="Times New Roman" pitchFamily="18" charset="0"/>
              </a:rPr>
              <a:t>解决</a:t>
            </a:r>
            <a:r>
              <a:rPr lang="zh-CN" altLang="en-US" sz="2400" kern="0" dirty="0">
                <a:solidFill>
                  <a:srgbClr val="FF0000"/>
                </a:solidFill>
                <a:latin typeface="华文细黑" pitchFamily="2" charset="-122"/>
                <a:cs typeface="Times New Roman" pitchFamily="18" charset="0"/>
              </a:rPr>
              <a:t>产销平衡运输问题。</a:t>
            </a:r>
            <a:endParaRPr lang="zh-CN" altLang="zh-CN" sz="2400" dirty="0">
              <a:solidFill>
                <a:srgbClr val="FF0000"/>
              </a:solidFill>
              <a:latin typeface="Arial" charset="0"/>
            </a:endParaRPr>
          </a:p>
          <a:p>
            <a:pPr marL="669925" lvl="1" indent="-325438" eaLnBrk="1" hangingPunct="1">
              <a:spcBef>
                <a:spcPct val="20000"/>
              </a:spcBef>
              <a:buClr>
                <a:schemeClr val="accent2"/>
              </a:buClr>
              <a:buSzPct val="60000"/>
              <a:buFont typeface="Wingdings" pitchFamily="2" charset="2"/>
              <a:buChar char="q"/>
              <a:defRPr/>
            </a:pPr>
            <a:endParaRPr lang="zh-CN" altLang="en-US" sz="2400" kern="0" dirty="0">
              <a:solidFill>
                <a:srgbClr val="FF0000"/>
              </a:solidFill>
              <a:latin typeface="华文细黑" pitchFamily="2" charset="-122"/>
              <a:cs typeface="Times New Roman" pitchFamily="18" charset="0"/>
            </a:endParaRPr>
          </a:p>
          <a:p>
            <a:pPr marL="669925" lvl="1" indent="-325438" eaLnBrk="1" hangingPunct="1">
              <a:spcBef>
                <a:spcPct val="20000"/>
              </a:spcBef>
              <a:buClr>
                <a:schemeClr val="accent2"/>
              </a:buClr>
              <a:buSzPct val="60000"/>
              <a:buFont typeface="Wingdings" pitchFamily="2" charset="2"/>
              <a:buChar char="q"/>
              <a:defRPr/>
            </a:pPr>
            <a:endParaRPr lang="en-US" altLang="zh-CN" sz="2400" kern="0" dirty="0">
              <a:solidFill>
                <a:srgbClr val="3333FF"/>
              </a:solidFill>
              <a:latin typeface="华文细黑" pitchFamily="2" charset="-122"/>
              <a:ea typeface="+mn-ea"/>
            </a:endParaRPr>
          </a:p>
          <a:p>
            <a:pPr marL="669925" lvl="1" indent="-325438" eaLnBrk="1" hangingPunct="1">
              <a:spcBef>
                <a:spcPct val="20000"/>
              </a:spcBef>
              <a:buClr>
                <a:schemeClr val="accent2"/>
              </a:buClr>
              <a:buSzPct val="60000"/>
              <a:buFont typeface="Wingdings" pitchFamily="2" charset="2"/>
              <a:buChar char="q"/>
              <a:defRPr/>
            </a:pPr>
            <a:endParaRPr lang="en-US" altLang="zh-CN" sz="2400" kern="0" dirty="0">
              <a:solidFill>
                <a:srgbClr val="3333FF"/>
              </a:solidFill>
              <a:latin typeface="华文细黑" pitchFamily="2" charset="-122"/>
              <a:ea typeface="+mn-ea"/>
            </a:endParaRPr>
          </a:p>
          <a:p>
            <a:pPr marL="669925" lvl="1" indent="-325438" eaLnBrk="1" hangingPunct="1">
              <a:spcBef>
                <a:spcPct val="20000"/>
              </a:spcBef>
              <a:buClr>
                <a:schemeClr val="accent2"/>
              </a:buClr>
              <a:buSzPct val="60000"/>
              <a:buFont typeface="Wingdings" pitchFamily="2" charset="2"/>
              <a:buNone/>
              <a:defRPr/>
            </a:pPr>
            <a:endParaRPr lang="en-US" altLang="zh-CN" sz="2200" kern="0" dirty="0">
              <a:latin typeface="+mn-lt"/>
              <a:ea typeface="+mn-ea"/>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标题 1">
            <a:extLst>
              <a:ext uri="{FF2B5EF4-FFF2-40B4-BE49-F238E27FC236}">
                <a16:creationId xmlns:a16="http://schemas.microsoft.com/office/drawing/2014/main" id="{22A4A8E0-3966-424A-A45C-7A73F148D19A}"/>
              </a:ext>
            </a:extLst>
          </p:cNvPr>
          <p:cNvSpPr>
            <a:spLocks noGrp="1" noChangeArrowheads="1"/>
          </p:cNvSpPr>
          <p:nvPr>
            <p:ph type="title"/>
          </p:nvPr>
        </p:nvSpPr>
        <p:spPr>
          <a:xfrm>
            <a:off x="457200" y="277813"/>
            <a:ext cx="7010400" cy="788987"/>
          </a:xfrm>
        </p:spPr>
        <p:txBody>
          <a:bodyPr/>
          <a:lstStyle/>
          <a:p>
            <a:r>
              <a:rPr lang="zh-CN" altLang="en-US"/>
              <a:t>课后练习</a:t>
            </a:r>
            <a:r>
              <a:rPr lang="zh-CN" altLang="zh-CN"/>
              <a:t>题</a:t>
            </a:r>
            <a:r>
              <a:rPr lang="en-US" altLang="zh-CN"/>
              <a:t>  4.3</a:t>
            </a:r>
            <a:endParaRPr lang="zh-CN" altLang="en-US"/>
          </a:p>
        </p:txBody>
      </p:sp>
      <p:sp>
        <p:nvSpPr>
          <p:cNvPr id="128003" name="AutoShape 1" descr="C:\Users\john\AppData\Roaming\Tencent\Users\22892665\QQ\WinTemp\RichOle\~J5Q7I]{QM{GQR[]T5)7K.jpg">
            <a:extLst>
              <a:ext uri="{FF2B5EF4-FFF2-40B4-BE49-F238E27FC236}">
                <a16:creationId xmlns:a16="http://schemas.microsoft.com/office/drawing/2014/main" id="{70CB0315-3DD1-4A8A-BE0A-6869635B8B4A}"/>
              </a:ext>
            </a:extLst>
          </p:cNvPr>
          <p:cNvSpPr>
            <a:spLocks noChangeAspect="1" noChangeArrowheads="1"/>
          </p:cNvSpPr>
          <p:nvPr/>
        </p:nvSpPr>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8004" name="AutoShape 2" descr="C:\Users\john\AppData\Roaming\Tencent\Users\22892665\QQ\WinTemp\RichOle\~J5Q7I]{QM{GQR[]T5)7K.jpg">
            <a:extLst>
              <a:ext uri="{FF2B5EF4-FFF2-40B4-BE49-F238E27FC236}">
                <a16:creationId xmlns:a16="http://schemas.microsoft.com/office/drawing/2014/main" id="{E176C5EB-F48D-4BE9-ACEC-610784771BA8}"/>
              </a:ext>
            </a:extLst>
          </p:cNvPr>
          <p:cNvSpPr>
            <a:spLocks noChangeAspect="1" noChangeArrowheads="1"/>
          </p:cNvSpPr>
          <p:nvPr/>
        </p:nvSpPr>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28005" name="AutoShape 3" descr="C:\Users\john\AppData\Roaming\Tencent\Users\22892665\QQ\WinTemp\RichOle\~J5Q7I]{QM{GQR[]T5)7K.jpg">
            <a:extLst>
              <a:ext uri="{FF2B5EF4-FFF2-40B4-BE49-F238E27FC236}">
                <a16:creationId xmlns:a16="http://schemas.microsoft.com/office/drawing/2014/main" id="{C7383C93-5EBF-43AB-8113-71A2F0D60A0D}"/>
              </a:ext>
            </a:extLst>
          </p:cNvPr>
          <p:cNvSpPr>
            <a:spLocks noChangeAspect="1" noChangeArrowheads="1"/>
          </p:cNvSpPr>
          <p:nvPr/>
        </p:nvSpPr>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10" name="矩形 9">
            <a:extLst>
              <a:ext uri="{FF2B5EF4-FFF2-40B4-BE49-F238E27FC236}">
                <a16:creationId xmlns:a16="http://schemas.microsoft.com/office/drawing/2014/main" id="{B560607B-8C80-4720-9D74-879E9B75DCC1}"/>
              </a:ext>
            </a:extLst>
          </p:cNvPr>
          <p:cNvSpPr/>
          <p:nvPr/>
        </p:nvSpPr>
        <p:spPr>
          <a:xfrm>
            <a:off x="304800" y="1066800"/>
            <a:ext cx="7848600" cy="646113"/>
          </a:xfrm>
          <a:prstGeom prst="rect">
            <a:avLst/>
          </a:prstGeom>
        </p:spPr>
        <p:txBody>
          <a:bodyPr>
            <a:spAutoFit/>
          </a:bodyPr>
          <a:lstStyle/>
          <a:p>
            <a:pPr eaLnBrk="1" hangingPunct="1">
              <a:defRPr/>
            </a:pPr>
            <a:r>
              <a:rPr lang="en-US" altLang="zh-CN" kern="0" dirty="0">
                <a:latin typeface="Times New Roman" pitchFamily="18" charset="0"/>
                <a:cs typeface="Times New Roman" pitchFamily="18" charset="0"/>
              </a:rPr>
              <a:t>4.3  </a:t>
            </a:r>
            <a:r>
              <a:rPr lang="zh-CN" altLang="en-US" kern="0" dirty="0">
                <a:latin typeface="Times New Roman" pitchFamily="18" charset="0"/>
                <a:cs typeface="Times New Roman" pitchFamily="18" charset="0"/>
              </a:rPr>
              <a:t>用伏格尔</a:t>
            </a:r>
            <a:r>
              <a:rPr lang="en-US" altLang="zh-CN" kern="0" dirty="0">
                <a:latin typeface="Times New Roman" pitchFamily="18" charset="0"/>
                <a:cs typeface="Times New Roman" pitchFamily="18" charset="0"/>
              </a:rPr>
              <a:t>(Vogel)</a:t>
            </a:r>
            <a:r>
              <a:rPr lang="zh-CN" altLang="en-US" kern="0" dirty="0">
                <a:latin typeface="Times New Roman" pitchFamily="18" charset="0"/>
                <a:cs typeface="Times New Roman" pitchFamily="18" charset="0"/>
              </a:rPr>
              <a:t>法求表</a:t>
            </a:r>
            <a:r>
              <a:rPr lang="en-US" altLang="zh-CN" kern="0" dirty="0">
                <a:latin typeface="Times New Roman" pitchFamily="18" charset="0"/>
                <a:cs typeface="Times New Roman" pitchFamily="18" charset="0"/>
              </a:rPr>
              <a:t>4-44</a:t>
            </a:r>
            <a:r>
              <a:rPr lang="zh-CN" altLang="en-US" kern="0" dirty="0">
                <a:latin typeface="Times New Roman" pitchFamily="18" charset="0"/>
                <a:cs typeface="Times New Roman" pitchFamily="18" charset="0"/>
              </a:rPr>
              <a:t>中给出的运输问题的最优解和近似最优解</a:t>
            </a:r>
            <a:endParaRPr lang="en-US" altLang="zh-CN" kern="0" dirty="0">
              <a:latin typeface="Times New Roman" pitchFamily="18" charset="0"/>
              <a:cs typeface="Times New Roman" pitchFamily="18" charset="0"/>
            </a:endParaRPr>
          </a:p>
          <a:p>
            <a:pPr eaLnBrk="1" hangingPunct="1">
              <a:defRPr/>
            </a:pPr>
            <a:r>
              <a:rPr lang="zh-CN" altLang="en-US" kern="0" dirty="0">
                <a:latin typeface="Times New Roman" pitchFamily="18" charset="0"/>
                <a:cs typeface="Times New Roman" pitchFamily="18" charset="0"/>
              </a:rPr>
              <a:t>（表中数字</a:t>
            </a:r>
            <a:r>
              <a:rPr lang="en-US" altLang="zh-CN" i="1" kern="0" dirty="0">
                <a:latin typeface="Times New Roman" pitchFamily="18" charset="0"/>
                <a:cs typeface="Times New Roman" pitchFamily="18" charset="0"/>
              </a:rPr>
              <a:t>M</a:t>
            </a:r>
            <a:r>
              <a:rPr lang="zh-CN" altLang="en-US" kern="0" dirty="0">
                <a:latin typeface="Times New Roman" pitchFamily="18" charset="0"/>
                <a:cs typeface="Times New Roman" pitchFamily="18" charset="0"/>
              </a:rPr>
              <a:t>为任意大正数）</a:t>
            </a:r>
            <a:endParaRPr lang="zh-CN" altLang="en-US" dirty="0">
              <a:latin typeface="Times New Roman" pitchFamily="18" charset="0"/>
              <a:cs typeface="Times New Roman" pitchFamily="18" charset="0"/>
            </a:endParaRPr>
          </a:p>
        </p:txBody>
      </p:sp>
      <p:pic>
        <p:nvPicPr>
          <p:cNvPr id="128007" name="Picture 24">
            <a:extLst>
              <a:ext uri="{FF2B5EF4-FFF2-40B4-BE49-F238E27FC236}">
                <a16:creationId xmlns:a16="http://schemas.microsoft.com/office/drawing/2014/main" id="{244A8950-C009-47DC-8A00-319F04C94AE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 y="2362200"/>
            <a:ext cx="80676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a:extLst>
              <a:ext uri="{FF2B5EF4-FFF2-40B4-BE49-F238E27FC236}">
                <a16:creationId xmlns:a16="http://schemas.microsoft.com/office/drawing/2014/main" id="{00FBE30B-C48E-4240-AEDA-57699AF66903}"/>
              </a:ext>
            </a:extLst>
          </p:cNvPr>
          <p:cNvSpPr/>
          <p:nvPr/>
        </p:nvSpPr>
        <p:spPr>
          <a:xfrm>
            <a:off x="3962400" y="1768475"/>
            <a:ext cx="838200" cy="369888"/>
          </a:xfrm>
          <a:prstGeom prst="rect">
            <a:avLst/>
          </a:prstGeom>
        </p:spPr>
        <p:txBody>
          <a:bodyPr wrap="none">
            <a:spAutoFit/>
          </a:bodyPr>
          <a:lstStyle/>
          <a:p>
            <a:pPr>
              <a:defRPr/>
            </a:pPr>
            <a:r>
              <a:rPr lang="zh-CN" altLang="en-US" kern="0" dirty="0">
                <a:latin typeface="Times New Roman" pitchFamily="18" charset="0"/>
                <a:cs typeface="Times New Roman" pitchFamily="18" charset="0"/>
              </a:rPr>
              <a:t>表</a:t>
            </a:r>
            <a:r>
              <a:rPr lang="en-US" altLang="zh-CN" kern="0" dirty="0">
                <a:latin typeface="Times New Roman" pitchFamily="18" charset="0"/>
                <a:cs typeface="Times New Roman" pitchFamily="18" charset="0"/>
              </a:rPr>
              <a:t>4-44</a:t>
            </a:r>
            <a:endParaRPr lang="zh-CN" altLang="en-US" dirty="0"/>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a:extLst>
              <a:ext uri="{FF2B5EF4-FFF2-40B4-BE49-F238E27FC236}">
                <a16:creationId xmlns:a16="http://schemas.microsoft.com/office/drawing/2014/main" id="{67C5A1CC-E1F5-48C7-84FA-82E0C9B0B1D6}"/>
              </a:ext>
            </a:extLst>
          </p:cNvPr>
          <p:cNvSpPr>
            <a:spLocks noGrp="1" noRot="1" noChangeArrowheads="1"/>
          </p:cNvSpPr>
          <p:nvPr>
            <p:ph type="title"/>
          </p:nvPr>
        </p:nvSpPr>
        <p:spPr>
          <a:xfrm>
            <a:off x="357188" y="71438"/>
            <a:ext cx="8540750" cy="500062"/>
          </a:xfrm>
        </p:spPr>
        <p:txBody>
          <a:bodyPr/>
          <a:lstStyle/>
          <a:p>
            <a:pPr eaLnBrk="1" hangingPunct="1"/>
            <a:r>
              <a:rPr lang="zh-CN" altLang="en-US" sz="4000"/>
              <a:t>参考文献</a:t>
            </a:r>
            <a:endParaRPr lang="en-US" altLang="zh-CN" sz="4000">
              <a:solidFill>
                <a:srgbClr val="006600"/>
              </a:solidFill>
            </a:endParaRPr>
          </a:p>
        </p:txBody>
      </p:sp>
      <p:sp>
        <p:nvSpPr>
          <p:cNvPr id="129027" name="Rectangle 3">
            <a:extLst>
              <a:ext uri="{FF2B5EF4-FFF2-40B4-BE49-F238E27FC236}">
                <a16:creationId xmlns:a16="http://schemas.microsoft.com/office/drawing/2014/main" id="{D9F7C0ED-A5BE-4D27-AC1A-440FAE6CB71F}"/>
              </a:ext>
            </a:extLst>
          </p:cNvPr>
          <p:cNvSpPr>
            <a:spLocks noGrp="1" noRot="1" noChangeArrowheads="1"/>
          </p:cNvSpPr>
          <p:nvPr>
            <p:ph type="body" idx="1"/>
          </p:nvPr>
        </p:nvSpPr>
        <p:spPr>
          <a:xfrm>
            <a:off x="304800" y="1085850"/>
            <a:ext cx="8643938" cy="2724150"/>
          </a:xfrm>
        </p:spPr>
        <p:txBody>
          <a:bodyPr/>
          <a:lstStyle/>
          <a:p>
            <a:pPr algn="just" eaLnBrk="1" hangingPunct="1"/>
            <a:r>
              <a:rPr lang="en-US" altLang="zh-CN" sz="1600">
                <a:solidFill>
                  <a:srgbClr val="0000FF"/>
                </a:solidFill>
                <a:latin typeface="Times New Roman" panose="02020603050405020304" pitchFamily="18" charset="0"/>
                <a:cs typeface="Times New Roman" panose="02020603050405020304" pitchFamily="18" charset="0"/>
              </a:rPr>
              <a:t>[1]</a:t>
            </a:r>
            <a:r>
              <a:rPr lang="zh-CN" altLang="en-US" sz="1600">
                <a:solidFill>
                  <a:srgbClr val="0000FF"/>
                </a:solidFill>
                <a:latin typeface="Times New Roman" panose="02020603050405020304" pitchFamily="18" charset="0"/>
                <a:cs typeface="Times New Roman" panose="02020603050405020304" pitchFamily="18" charset="0"/>
              </a:rPr>
              <a:t>位势</a:t>
            </a:r>
            <a:r>
              <a:rPr lang="en-US" altLang="zh-CN" sz="1600">
                <a:solidFill>
                  <a:srgbClr val="0000FF"/>
                </a:solidFill>
                <a:latin typeface="Times New Roman" panose="02020603050405020304" pitchFamily="18" charset="0"/>
                <a:cs typeface="Times New Roman" panose="02020603050405020304" pitchFamily="18" charset="0"/>
              </a:rPr>
              <a:t>.</a:t>
            </a:r>
          </a:p>
          <a:p>
            <a:pPr algn="just" eaLnBrk="1" hangingPunct="1">
              <a:buFont typeface="Wingdings" panose="05000000000000000000" pitchFamily="2" charset="2"/>
              <a:buNone/>
            </a:pPr>
            <a:r>
              <a:rPr lang="en-US" altLang="zh-CN" sz="1600">
                <a:solidFill>
                  <a:srgbClr val="0000FF"/>
                </a:solidFill>
                <a:latin typeface="Times New Roman" panose="02020603050405020304" pitchFamily="18" charset="0"/>
                <a:cs typeface="Times New Roman" panose="02020603050405020304" pitchFamily="18" charset="0"/>
              </a:rPr>
              <a:t>        http://baike.baidu.com/link?url=g0riFZ_dqqNyalOclYIaR6091HNzthayEoZ6FkPwaDVRf-374_kp6g28hwCf_GmfZL6OMvbcx6iWEETzQJaeVq.</a:t>
            </a:r>
          </a:p>
          <a:p>
            <a:pPr algn="just" eaLnBrk="1" hangingPunct="1"/>
            <a:r>
              <a:rPr lang="en-US" altLang="zh-CN" sz="1600">
                <a:solidFill>
                  <a:srgbClr val="0000FF"/>
                </a:solidFill>
                <a:latin typeface="Times New Roman" panose="02020603050405020304" pitchFamily="18" charset="0"/>
                <a:cs typeface="Times New Roman" panose="02020603050405020304" pitchFamily="18" charset="0"/>
              </a:rPr>
              <a:t>[2]《</a:t>
            </a:r>
            <a:r>
              <a:rPr lang="zh-CN" altLang="en-US" sz="1600">
                <a:solidFill>
                  <a:srgbClr val="0000FF"/>
                </a:solidFill>
                <a:latin typeface="Times New Roman" panose="02020603050405020304" pitchFamily="18" charset="0"/>
                <a:cs typeface="Times New Roman" panose="02020603050405020304" pitchFamily="18" charset="0"/>
              </a:rPr>
              <a:t>运筹学课件</a:t>
            </a:r>
            <a:r>
              <a:rPr lang="en-US" altLang="zh-CN" sz="1600">
                <a:solidFill>
                  <a:srgbClr val="0000FF"/>
                </a:solidFill>
                <a:latin typeface="Times New Roman" panose="02020603050405020304" pitchFamily="18" charset="0"/>
                <a:cs typeface="Times New Roman" panose="02020603050405020304" pitchFamily="18" charset="0"/>
              </a:rPr>
              <a:t>》</a:t>
            </a:r>
            <a:r>
              <a:rPr lang="zh-CN" altLang="en-US" sz="1600">
                <a:solidFill>
                  <a:srgbClr val="0000FF"/>
                </a:solidFill>
                <a:latin typeface="Times New Roman" panose="02020603050405020304" pitchFamily="18" charset="0"/>
                <a:cs typeface="Times New Roman" panose="02020603050405020304" pitchFamily="18" charset="0"/>
              </a:rPr>
              <a:t>，济南大学</a:t>
            </a:r>
            <a:r>
              <a:rPr lang="en-US" altLang="zh-CN" sz="1600">
                <a:solidFill>
                  <a:srgbClr val="0000FF"/>
                </a:solidFill>
                <a:latin typeface="Times New Roman" panose="02020603050405020304" pitchFamily="18" charset="0"/>
                <a:cs typeface="Times New Roman" panose="02020603050405020304" pitchFamily="18" charset="0"/>
              </a:rPr>
              <a:t>.</a:t>
            </a:r>
            <a:endParaRPr lang="zh-CN" altLang="en-US" sz="1600">
              <a:solidFill>
                <a:srgbClr val="0000FF"/>
              </a:solidFill>
              <a:latin typeface="Times New Roman" panose="02020603050405020304" pitchFamily="18" charset="0"/>
              <a:cs typeface="Times New Roman" panose="02020603050405020304" pitchFamily="18" charset="0"/>
            </a:endParaRPr>
          </a:p>
          <a:p>
            <a:pPr algn="just" eaLnBrk="1" hangingPunct="1"/>
            <a:r>
              <a:rPr lang="en-US" altLang="zh-CN" sz="1600">
                <a:solidFill>
                  <a:srgbClr val="0000FF"/>
                </a:solidFill>
                <a:latin typeface="Times New Roman" panose="02020603050405020304" pitchFamily="18" charset="0"/>
                <a:cs typeface="Times New Roman" panose="02020603050405020304" pitchFamily="18" charset="0"/>
              </a:rPr>
              <a:t>[3]</a:t>
            </a:r>
            <a:r>
              <a:rPr lang="zh-TW" altLang="en-US" sz="1600">
                <a:solidFill>
                  <a:srgbClr val="0000FF"/>
                </a:solidFill>
                <a:ea typeface="PMingLiU" panose="02020500000000000000" pitchFamily="18" charset="-120"/>
              </a:rPr>
              <a:t>劉焱晶</a:t>
            </a:r>
            <a:r>
              <a:rPr lang="en-US" altLang="zh-TW" sz="1600">
                <a:solidFill>
                  <a:srgbClr val="0000FF"/>
                </a:solidFill>
                <a:ea typeface="PMingLiU" panose="02020500000000000000" pitchFamily="18" charset="-120"/>
              </a:rPr>
              <a:t>. </a:t>
            </a:r>
            <a:r>
              <a:rPr lang="en-US" altLang="zh-CN" sz="1600">
                <a:solidFill>
                  <a:srgbClr val="0000FF"/>
                </a:solidFill>
                <a:latin typeface="Times New Roman" panose="02020603050405020304" pitchFamily="18" charset="0"/>
                <a:cs typeface="Times New Roman" panose="02020603050405020304" pitchFamily="18" charset="0"/>
              </a:rPr>
              <a:t>《</a:t>
            </a:r>
            <a:r>
              <a:rPr lang="zh-TW" altLang="zh-CN" sz="1600">
                <a:solidFill>
                  <a:srgbClr val="0000FF"/>
                </a:solidFill>
                <a:ea typeface="PMingLiU" panose="02020500000000000000" pitchFamily="18" charset="-120"/>
              </a:rPr>
              <a:t>運</a:t>
            </a:r>
            <a:r>
              <a:rPr lang="zh-TW" altLang="en-US" sz="1600">
                <a:solidFill>
                  <a:srgbClr val="0000FF"/>
                </a:solidFill>
                <a:ea typeface="PMingLiU" panose="02020500000000000000" pitchFamily="18" charset="-120"/>
              </a:rPr>
              <a:t> </a:t>
            </a:r>
            <a:r>
              <a:rPr lang="zh-TW" altLang="zh-CN" sz="1600">
                <a:solidFill>
                  <a:srgbClr val="0000FF"/>
                </a:solidFill>
                <a:ea typeface="PMingLiU" panose="02020500000000000000" pitchFamily="18" charset="-120"/>
              </a:rPr>
              <a:t>籌</a:t>
            </a:r>
            <a:r>
              <a:rPr lang="zh-TW" altLang="en-US" sz="1600">
                <a:solidFill>
                  <a:srgbClr val="0000FF"/>
                </a:solidFill>
                <a:ea typeface="PMingLiU" panose="02020500000000000000" pitchFamily="18" charset="-120"/>
              </a:rPr>
              <a:t> </a:t>
            </a:r>
            <a:r>
              <a:rPr lang="zh-TW" altLang="zh-CN" sz="1600">
                <a:solidFill>
                  <a:srgbClr val="0000FF"/>
                </a:solidFill>
                <a:ea typeface="PMingLiU" panose="02020500000000000000" pitchFamily="18" charset="-120"/>
              </a:rPr>
              <a:t>學</a:t>
            </a:r>
            <a:r>
              <a:rPr lang="en-US" altLang="zh-CN" sz="1600">
                <a:solidFill>
                  <a:srgbClr val="0000FF"/>
                </a:solidFill>
                <a:latin typeface="Times New Roman" panose="02020603050405020304" pitchFamily="18" charset="0"/>
                <a:cs typeface="Times New Roman" panose="02020603050405020304" pitchFamily="18" charset="0"/>
              </a:rPr>
              <a:t>》</a:t>
            </a:r>
            <a:r>
              <a:rPr lang="zh-CN" altLang="en-US" sz="1600">
                <a:solidFill>
                  <a:srgbClr val="0000FF"/>
                </a:solidFill>
                <a:latin typeface="Times New Roman" panose="02020603050405020304" pitchFamily="18" charset="0"/>
                <a:cs typeface="Times New Roman" panose="02020603050405020304" pitchFamily="18" charset="0"/>
              </a:rPr>
              <a:t>，</a:t>
            </a:r>
            <a:r>
              <a:rPr lang="zh-TW" altLang="en-US" sz="1600">
                <a:solidFill>
                  <a:srgbClr val="0000FF"/>
                </a:solidFill>
                <a:ea typeface="PMingLiU" panose="02020500000000000000" pitchFamily="18" charset="-120"/>
              </a:rPr>
              <a:t>實德（香港）信投管理諮詢有限公司</a:t>
            </a:r>
            <a:r>
              <a:rPr lang="en-US" altLang="zh-TW" sz="1600">
                <a:solidFill>
                  <a:srgbClr val="0000FF"/>
                </a:solidFill>
                <a:ea typeface="PMingLiU" panose="02020500000000000000" pitchFamily="18" charset="-120"/>
              </a:rPr>
              <a:t>.</a:t>
            </a:r>
            <a:endParaRPr lang="en-US" altLang="zh-CN" sz="1600">
              <a:solidFill>
                <a:srgbClr val="0000FF"/>
              </a:solidFill>
              <a:latin typeface="Times New Roman" panose="02020603050405020304" pitchFamily="18" charset="0"/>
              <a:cs typeface="Times New Roman" panose="02020603050405020304" pitchFamily="18" charset="0"/>
            </a:endParaRPr>
          </a:p>
          <a:p>
            <a:pPr algn="just" eaLnBrk="1" hangingPunct="1"/>
            <a:r>
              <a:rPr lang="en-US" altLang="zh-CN" sz="1600">
                <a:solidFill>
                  <a:srgbClr val="0000FF"/>
                </a:solidFill>
                <a:latin typeface="Times New Roman" panose="02020603050405020304" pitchFamily="18" charset="0"/>
                <a:cs typeface="Times New Roman" panose="02020603050405020304" pitchFamily="18" charset="0"/>
              </a:rPr>
              <a:t>[4] 《</a:t>
            </a:r>
            <a:r>
              <a:rPr lang="zh-CN" altLang="zh-CN" sz="1600">
                <a:solidFill>
                  <a:srgbClr val="0000FF"/>
                </a:solidFill>
              </a:rPr>
              <a:t>运筹学第</a:t>
            </a:r>
            <a:r>
              <a:rPr lang="en-US" altLang="zh-CN" sz="1600">
                <a:solidFill>
                  <a:srgbClr val="0000FF"/>
                </a:solidFill>
              </a:rPr>
              <a:t>4</a:t>
            </a:r>
            <a:r>
              <a:rPr lang="zh-CN" altLang="zh-CN" sz="1600">
                <a:solidFill>
                  <a:srgbClr val="0000FF"/>
                </a:solidFill>
              </a:rPr>
              <a:t>版</a:t>
            </a:r>
            <a:r>
              <a:rPr lang="en-US" altLang="zh-CN" sz="1600">
                <a:solidFill>
                  <a:srgbClr val="0000FF"/>
                </a:solidFill>
                <a:latin typeface="Times New Roman" panose="02020603050405020304" pitchFamily="18" charset="0"/>
                <a:cs typeface="Times New Roman" panose="02020603050405020304" pitchFamily="18" charset="0"/>
              </a:rPr>
              <a:t>》</a:t>
            </a:r>
            <a:r>
              <a:rPr lang="zh-CN" altLang="en-US" sz="1600">
                <a:solidFill>
                  <a:srgbClr val="0000FF"/>
                </a:solidFill>
                <a:latin typeface="Times New Roman" panose="02020603050405020304" pitchFamily="18" charset="0"/>
                <a:cs typeface="Times New Roman" panose="02020603050405020304" pitchFamily="18" charset="0"/>
              </a:rPr>
              <a:t>，运筹学教材编写组</a:t>
            </a:r>
            <a:r>
              <a:rPr lang="en-US" altLang="zh-CN" sz="1600">
                <a:solidFill>
                  <a:srgbClr val="0000FF"/>
                </a:solidFill>
                <a:latin typeface="Times New Roman" panose="02020603050405020304" pitchFamily="18" charset="0"/>
                <a:cs typeface="Times New Roman" panose="02020603050405020304" pitchFamily="18" charset="0"/>
              </a:rPr>
              <a:t>, </a:t>
            </a:r>
            <a:r>
              <a:rPr lang="zh-CN" altLang="en-US" sz="1600">
                <a:solidFill>
                  <a:srgbClr val="0000FF"/>
                </a:solidFill>
                <a:latin typeface="Times New Roman" panose="02020603050405020304" pitchFamily="18" charset="0"/>
                <a:cs typeface="Times New Roman" panose="02020603050405020304" pitchFamily="18" charset="0"/>
              </a:rPr>
              <a:t>清华大学出版社</a:t>
            </a:r>
            <a:r>
              <a:rPr lang="en-US" altLang="zh-CN" sz="1600">
                <a:solidFill>
                  <a:srgbClr val="0000FF"/>
                </a:solidFill>
                <a:latin typeface="Times New Roman" panose="02020603050405020304" pitchFamily="18" charset="0"/>
                <a:cs typeface="Times New Roman" panose="02020603050405020304" pitchFamily="18" charset="0"/>
              </a:rPr>
              <a:t>.</a:t>
            </a:r>
          </a:p>
          <a:p>
            <a:pPr algn="just" eaLnBrk="1" hangingPunct="1"/>
            <a:r>
              <a:rPr lang="en-US" altLang="zh-CN" sz="1600">
                <a:solidFill>
                  <a:srgbClr val="0000FF"/>
                </a:solidFill>
                <a:latin typeface="Times New Roman" panose="02020603050405020304" pitchFamily="18" charset="0"/>
                <a:cs typeface="Times New Roman" panose="02020603050405020304" pitchFamily="18" charset="0"/>
              </a:rPr>
              <a:t>[5]</a:t>
            </a:r>
            <a:r>
              <a:rPr lang="zh-CN" altLang="en-US" sz="1600">
                <a:solidFill>
                  <a:srgbClr val="0000FF"/>
                </a:solidFill>
              </a:rPr>
              <a:t>基于调整路线的“ 后运输问题悖论” 思考</a:t>
            </a:r>
            <a:r>
              <a:rPr lang="en-US" altLang="zh-CN" sz="1600">
                <a:solidFill>
                  <a:srgbClr val="0000FF"/>
                </a:solidFill>
              </a:rPr>
              <a:t>.</a:t>
            </a:r>
          </a:p>
          <a:p>
            <a:pPr algn="just" eaLnBrk="1" hangingPunct="1">
              <a:buFont typeface="Wingdings" panose="05000000000000000000" pitchFamily="2" charset="2"/>
              <a:buNone/>
            </a:pPr>
            <a:r>
              <a:rPr lang="en-US" altLang="zh-CN" sz="1600">
                <a:solidFill>
                  <a:srgbClr val="0000FF"/>
                </a:solidFill>
              </a:rPr>
              <a:t>        http://csl.chinawuliu.com.cn/html/19887722.html</a:t>
            </a:r>
          </a:p>
          <a:p>
            <a:pPr algn="just" eaLnBrk="1" hangingPunct="1"/>
            <a:r>
              <a:rPr lang="en-US" altLang="zh-CN" sz="1600">
                <a:solidFill>
                  <a:srgbClr val="0000FF"/>
                </a:solidFill>
                <a:latin typeface="Times New Roman" panose="02020603050405020304" pitchFamily="18" charset="0"/>
                <a:cs typeface="Times New Roman" panose="02020603050405020304" pitchFamily="18" charset="0"/>
              </a:rPr>
              <a:t>[6]</a:t>
            </a:r>
            <a:r>
              <a:rPr lang="zh-CN" altLang="en-US" sz="1600">
                <a:solidFill>
                  <a:srgbClr val="0000FF"/>
                </a:solidFill>
                <a:latin typeface="Times New Roman" panose="02020603050405020304" pitchFamily="18" charset="0"/>
                <a:cs typeface="Times New Roman" panose="02020603050405020304" pitchFamily="18" charset="0"/>
              </a:rPr>
              <a:t>梁伟</a:t>
            </a:r>
            <a:r>
              <a:rPr lang="en-US" altLang="zh-CN" sz="1600">
                <a:solidFill>
                  <a:srgbClr val="0000FF"/>
                </a:solidFill>
                <a:latin typeface="Times New Roman" panose="02020603050405020304" pitchFamily="18" charset="0"/>
                <a:cs typeface="Times New Roman" panose="02020603050405020304" pitchFamily="18" charset="0"/>
              </a:rPr>
              <a:t>. </a:t>
            </a:r>
            <a:r>
              <a:rPr lang="zh-CN" altLang="en-US" sz="1600">
                <a:solidFill>
                  <a:srgbClr val="0000FF"/>
                </a:solidFill>
                <a:latin typeface="Times New Roman" panose="02020603050405020304" pitchFamily="18" charset="0"/>
                <a:cs typeface="Times New Roman" panose="02020603050405020304" pitchFamily="18" charset="0"/>
              </a:rPr>
              <a:t>运筹学</a:t>
            </a:r>
            <a:r>
              <a:rPr lang="en-US" altLang="zh-CN" sz="1600">
                <a:solidFill>
                  <a:srgbClr val="0000FF"/>
                </a:solidFill>
                <a:latin typeface="Times New Roman" panose="02020603050405020304" pitchFamily="18" charset="0"/>
                <a:cs typeface="Times New Roman" panose="02020603050405020304" pitchFamily="18" charset="0"/>
              </a:rPr>
              <a:t>. </a:t>
            </a:r>
            <a:r>
              <a:rPr lang="zh-CN" altLang="en-US" sz="1600">
                <a:solidFill>
                  <a:srgbClr val="0000FF"/>
                </a:solidFill>
                <a:latin typeface="Times New Roman" panose="02020603050405020304" pitchFamily="18" charset="0"/>
                <a:cs typeface="Times New Roman" panose="02020603050405020304" pitchFamily="18" charset="0"/>
              </a:rPr>
              <a:t>河海大学商学院（常州）</a:t>
            </a:r>
            <a:r>
              <a:rPr lang="en-US" altLang="zh-CN" sz="1600">
                <a:solidFill>
                  <a:srgbClr val="0000FF"/>
                </a:solidFill>
              </a:rPr>
              <a:t>.</a:t>
            </a:r>
            <a:endParaRPr lang="en-US" altLang="zh-CN" sz="1600">
              <a:solidFill>
                <a:srgbClr val="0000FF"/>
              </a:solidFill>
              <a:latin typeface="Times New Roman" panose="02020603050405020304" pitchFamily="18" charset="0"/>
              <a:cs typeface="Times New Roman" panose="02020603050405020304" pitchFamily="18" charset="0"/>
            </a:endParaRPr>
          </a:p>
        </p:txBody>
      </p:sp>
    </p:spTree>
  </p:cSld>
  <p:clrMapOvr>
    <a:masterClrMapping/>
  </p:clrMapOvr>
  <p:transition spd="slow"/>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a:extLst>
              <a:ext uri="{FF2B5EF4-FFF2-40B4-BE49-F238E27FC236}">
                <a16:creationId xmlns:a16="http://schemas.microsoft.com/office/drawing/2014/main" id="{35F6F488-7E7B-4712-972F-84B9F4D28995}"/>
              </a:ext>
            </a:extLst>
          </p:cNvPr>
          <p:cNvSpPr>
            <a:spLocks noGrp="1" noChangeArrowheads="1"/>
          </p:cNvSpPr>
          <p:nvPr>
            <p:ph type="title"/>
          </p:nvPr>
        </p:nvSpPr>
        <p:spPr/>
        <p:txBody>
          <a:bodyPr/>
          <a:lstStyle/>
          <a:p>
            <a:pPr eaLnBrk="1" hangingPunct="1"/>
            <a:r>
              <a:rPr lang="zh-CN" altLang="en-US">
                <a:solidFill>
                  <a:srgbClr val="C00000"/>
                </a:solidFill>
              </a:rPr>
              <a:t>转运问题</a:t>
            </a:r>
          </a:p>
        </p:txBody>
      </p:sp>
      <p:sp>
        <p:nvSpPr>
          <p:cNvPr id="131075" name="Text Box 4">
            <a:extLst>
              <a:ext uri="{FF2B5EF4-FFF2-40B4-BE49-F238E27FC236}">
                <a16:creationId xmlns:a16="http://schemas.microsoft.com/office/drawing/2014/main" id="{996D3725-B1CB-4828-AEC4-26F1B3BD3D2D}"/>
              </a:ext>
            </a:extLst>
          </p:cNvPr>
          <p:cNvSpPr txBox="1">
            <a:spLocks noChangeArrowheads="1"/>
          </p:cNvSpPr>
          <p:nvPr/>
        </p:nvSpPr>
        <p:spPr bwMode="auto">
          <a:xfrm>
            <a:off x="304800" y="838200"/>
            <a:ext cx="868680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kumimoji="1" lang="zh-CN" altLang="en-US" sz="2800" b="1">
                <a:latin typeface="宋体" panose="02010600030101010101" pitchFamily="2" charset="-122"/>
              </a:rPr>
              <a:t>例：某部门有</a:t>
            </a:r>
            <a:r>
              <a:rPr kumimoji="1" lang="en-US" altLang="zh-CN" sz="2800" b="1">
                <a:latin typeface="宋体" panose="02010600030101010101" pitchFamily="2" charset="-122"/>
              </a:rPr>
              <a:t>3</a:t>
            </a:r>
            <a:r>
              <a:rPr kumimoji="1" lang="zh-CN" altLang="en-US" sz="2800" b="1">
                <a:latin typeface="宋体" panose="02010600030101010101" pitchFamily="2" charset="-122"/>
              </a:rPr>
              <a:t>个生产同类产品的三个工厂（产地）， 生产的产品由四个销售点（销地）出售，各厂的生产量，各地销量及工厂到销地的运费（单位运价）如下表所示，求最优的运输方案。</a:t>
            </a:r>
          </a:p>
        </p:txBody>
      </p:sp>
      <p:graphicFrame>
        <p:nvGraphicFramePr>
          <p:cNvPr id="7" name="Group 116">
            <a:extLst>
              <a:ext uri="{FF2B5EF4-FFF2-40B4-BE49-F238E27FC236}">
                <a16:creationId xmlns:a16="http://schemas.microsoft.com/office/drawing/2014/main" id="{10F93855-EF20-47DD-B92F-6BAD5D536DFE}"/>
              </a:ext>
            </a:extLst>
          </p:cNvPr>
          <p:cNvGraphicFramePr>
            <a:graphicFrameLocks noGrp="1"/>
          </p:cNvGraphicFramePr>
          <p:nvPr/>
        </p:nvGraphicFramePr>
        <p:xfrm>
          <a:off x="762000" y="2693988"/>
          <a:ext cx="7772400" cy="3657600"/>
        </p:xfrm>
        <a:graphic>
          <a:graphicData uri="http://schemas.openxmlformats.org/drawingml/2006/table">
            <a:tbl>
              <a:tblPr/>
              <a:tblGrid>
                <a:gridCol w="963613">
                  <a:extLst>
                    <a:ext uri="{9D8B030D-6E8A-4147-A177-3AD203B41FA5}">
                      <a16:colId xmlns:a16="http://schemas.microsoft.com/office/drawing/2014/main" val="20000"/>
                    </a:ext>
                  </a:extLst>
                </a:gridCol>
                <a:gridCol w="717550">
                  <a:extLst>
                    <a:ext uri="{9D8B030D-6E8A-4147-A177-3AD203B41FA5}">
                      <a16:colId xmlns:a16="http://schemas.microsoft.com/office/drawing/2014/main" val="20001"/>
                    </a:ext>
                  </a:extLst>
                </a:gridCol>
                <a:gridCol w="720725">
                  <a:extLst>
                    <a:ext uri="{9D8B030D-6E8A-4147-A177-3AD203B41FA5}">
                      <a16:colId xmlns:a16="http://schemas.microsoft.com/office/drawing/2014/main" val="20002"/>
                    </a:ext>
                  </a:extLst>
                </a:gridCol>
                <a:gridCol w="760412">
                  <a:extLst>
                    <a:ext uri="{9D8B030D-6E8A-4147-A177-3AD203B41FA5}">
                      <a16:colId xmlns:a16="http://schemas.microsoft.com/office/drawing/2014/main" val="20003"/>
                    </a:ext>
                  </a:extLst>
                </a:gridCol>
                <a:gridCol w="679450">
                  <a:extLst>
                    <a:ext uri="{9D8B030D-6E8A-4147-A177-3AD203B41FA5}">
                      <a16:colId xmlns:a16="http://schemas.microsoft.com/office/drawing/2014/main" val="20004"/>
                    </a:ext>
                  </a:extLst>
                </a:gridCol>
                <a:gridCol w="730250">
                  <a:extLst>
                    <a:ext uri="{9D8B030D-6E8A-4147-A177-3AD203B41FA5}">
                      <a16:colId xmlns:a16="http://schemas.microsoft.com/office/drawing/2014/main" val="20005"/>
                    </a:ext>
                  </a:extLst>
                </a:gridCol>
                <a:gridCol w="709613">
                  <a:extLst>
                    <a:ext uri="{9D8B030D-6E8A-4147-A177-3AD203B41FA5}">
                      <a16:colId xmlns:a16="http://schemas.microsoft.com/office/drawing/2014/main" val="20006"/>
                    </a:ext>
                  </a:extLst>
                </a:gridCol>
                <a:gridCol w="719137">
                  <a:extLst>
                    <a:ext uri="{9D8B030D-6E8A-4147-A177-3AD203B41FA5}">
                      <a16:colId xmlns:a16="http://schemas.microsoft.com/office/drawing/2014/main" val="20007"/>
                    </a:ext>
                  </a:extLst>
                </a:gridCol>
                <a:gridCol w="720725">
                  <a:extLst>
                    <a:ext uri="{9D8B030D-6E8A-4147-A177-3AD203B41FA5}">
                      <a16:colId xmlns:a16="http://schemas.microsoft.com/office/drawing/2014/main" val="20008"/>
                    </a:ext>
                  </a:extLst>
                </a:gridCol>
                <a:gridCol w="1050925">
                  <a:extLst>
                    <a:ext uri="{9D8B030D-6E8A-4147-A177-3AD203B41FA5}">
                      <a16:colId xmlns:a16="http://schemas.microsoft.com/office/drawing/2014/main" val="20009"/>
                    </a:ext>
                  </a:extLst>
                </a:gridCol>
              </a:tblGrid>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B</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产量</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7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2"/>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9</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2</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8</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4</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4"/>
                  </a:ext>
                </a:extLst>
              </a:tr>
              <a:tr h="457200">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A</a:t>
                      </a:r>
                      <a:r>
                        <a:rPr kumimoji="0" lang="en-US" altLang="zh-CN" sz="2400" b="1" i="0" u="none" strike="noStrike" cap="none" normalizeH="0" baseline="-25000">
                          <a:ln>
                            <a:noFill/>
                          </a:ln>
                          <a:solidFill>
                            <a:schemeClr val="tx1"/>
                          </a:solidFill>
                          <a:effectLst/>
                          <a:latin typeface="Times New Roman" panose="02020603050405020304" pitchFamily="18" charset="0"/>
                          <a:ea typeface="楷体_GB2312" pitchFamily="49" charset="-122"/>
                        </a:rPr>
                        <a:t>3</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7</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4</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row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      9</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57200">
                <a:tc vMerge="1">
                  <a:txBody>
                    <a:bodyPr/>
                    <a:lstStyle/>
                    <a:p>
                      <a:endParaRPr lang="zh-CN" altLang="en-US"/>
                    </a:p>
                  </a:txBody>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a:noFill/>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6"/>
                  </a:ext>
                </a:extLst>
              </a:tr>
              <a:tr h="45720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400" b="1" i="0" u="none" strike="noStrike" cap="none" normalizeH="0" baseline="0">
                          <a:ln>
                            <a:noFill/>
                          </a:ln>
                          <a:solidFill>
                            <a:schemeClr val="tx1"/>
                          </a:solidFill>
                          <a:effectLst/>
                          <a:latin typeface="Times New Roman" panose="02020603050405020304" pitchFamily="18" charset="0"/>
                          <a:ea typeface="楷体_GB2312" pitchFamily="49" charset="-122"/>
                        </a:rPr>
                        <a:t>销量</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5</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rPr>
                        <a:t>6</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楷体_GB2312"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2">
            <a:extLst>
              <a:ext uri="{FF2B5EF4-FFF2-40B4-BE49-F238E27FC236}">
                <a16:creationId xmlns:a16="http://schemas.microsoft.com/office/drawing/2014/main" id="{BFAD07F2-AAE3-49D8-8D37-B0E61AA49D2B}"/>
              </a:ext>
            </a:extLst>
          </p:cNvPr>
          <p:cNvSpPr>
            <a:spLocks noGrp="1" noChangeArrowheads="1"/>
          </p:cNvSpPr>
          <p:nvPr>
            <p:ph type="title"/>
          </p:nvPr>
        </p:nvSpPr>
        <p:spPr/>
        <p:txBody>
          <a:bodyPr/>
          <a:lstStyle/>
          <a:p>
            <a:pPr eaLnBrk="1" hangingPunct="1"/>
            <a:r>
              <a:rPr lang="zh-CN" altLang="en-US">
                <a:solidFill>
                  <a:srgbClr val="C00000"/>
                </a:solidFill>
              </a:rPr>
              <a:t>转运问题</a:t>
            </a:r>
          </a:p>
        </p:txBody>
      </p:sp>
      <p:sp>
        <p:nvSpPr>
          <p:cNvPr id="132099" name="Text Box 4">
            <a:extLst>
              <a:ext uri="{FF2B5EF4-FFF2-40B4-BE49-F238E27FC236}">
                <a16:creationId xmlns:a16="http://schemas.microsoft.com/office/drawing/2014/main" id="{B4F19636-BE71-40F5-B9F9-8A581AFFE4A0}"/>
              </a:ext>
            </a:extLst>
          </p:cNvPr>
          <p:cNvSpPr txBox="1">
            <a:spLocks noChangeArrowheads="1"/>
          </p:cNvSpPr>
          <p:nvPr/>
        </p:nvSpPr>
        <p:spPr bwMode="auto">
          <a:xfrm>
            <a:off x="381000" y="1066800"/>
            <a:ext cx="8686800" cy="375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spcBef>
                <a:spcPct val="50000"/>
              </a:spcBef>
            </a:pPr>
            <a:r>
              <a:rPr kumimoji="1" lang="zh-CN" altLang="en-US" sz="2800" b="1">
                <a:solidFill>
                  <a:srgbClr val="0000FF"/>
                </a:solidFill>
                <a:latin typeface="宋体" panose="02010600030101010101" pitchFamily="2" charset="-122"/>
              </a:rPr>
              <a:t>如果假定 </a:t>
            </a:r>
            <a:endParaRPr kumimoji="1" lang="en-US" altLang="zh-CN" sz="2800" b="1">
              <a:solidFill>
                <a:srgbClr val="0000FF"/>
              </a:solidFill>
              <a:latin typeface="宋体" panose="02010600030101010101" pitchFamily="2" charset="-122"/>
            </a:endParaRPr>
          </a:p>
          <a:p>
            <a:pPr algn="just" eaLnBrk="1" hangingPunct="1">
              <a:spcBef>
                <a:spcPct val="50000"/>
              </a:spcBef>
            </a:pPr>
            <a:r>
              <a:rPr kumimoji="1" lang="zh-CN" altLang="en-US" sz="2800" b="1">
                <a:solidFill>
                  <a:srgbClr val="0000FF"/>
                </a:solidFill>
                <a:latin typeface="宋体" panose="02010600030101010101" pitchFamily="2" charset="-122"/>
              </a:rPr>
              <a:t>①每个工厂生产的产品不一定直接发运到销售点</a:t>
            </a:r>
            <a:r>
              <a:rPr kumimoji="1" lang="en-US" altLang="zh-CN" sz="2800" b="1">
                <a:solidFill>
                  <a:srgbClr val="0000FF"/>
                </a:solidFill>
                <a:latin typeface="宋体" panose="02010600030101010101" pitchFamily="2" charset="-122"/>
              </a:rPr>
              <a:t>,</a:t>
            </a:r>
            <a:r>
              <a:rPr kumimoji="1" lang="zh-CN" altLang="en-US" sz="2800" b="1">
                <a:solidFill>
                  <a:srgbClr val="0000FF"/>
                </a:solidFill>
                <a:latin typeface="宋体" panose="02010600030101010101" pitchFamily="2" charset="-122"/>
              </a:rPr>
              <a:t>可以将其中几个产地集中一起运</a:t>
            </a:r>
            <a:r>
              <a:rPr kumimoji="1" lang="en-US" altLang="zh-CN" sz="2800" b="1">
                <a:solidFill>
                  <a:srgbClr val="0000FF"/>
                </a:solidFill>
                <a:latin typeface="宋体" panose="02010600030101010101" pitchFamily="2" charset="-122"/>
              </a:rPr>
              <a:t>;</a:t>
            </a:r>
          </a:p>
          <a:p>
            <a:pPr algn="just" eaLnBrk="1" hangingPunct="1">
              <a:spcBef>
                <a:spcPct val="50000"/>
              </a:spcBef>
            </a:pPr>
            <a:r>
              <a:rPr kumimoji="1" lang="en-US" altLang="zh-CN" sz="2800" b="1">
                <a:solidFill>
                  <a:srgbClr val="0000FF"/>
                </a:solidFill>
                <a:latin typeface="宋体" panose="02010600030101010101" pitchFamily="2" charset="-122"/>
              </a:rPr>
              <a:t>②</a:t>
            </a:r>
            <a:r>
              <a:rPr kumimoji="1" lang="zh-CN" altLang="en-US" sz="2800" b="1">
                <a:solidFill>
                  <a:srgbClr val="0000FF"/>
                </a:solidFill>
                <a:latin typeface="宋体" panose="02010600030101010101" pitchFamily="2" charset="-122"/>
              </a:rPr>
              <a:t>运往各销地的产品可以先运给其中几个销地</a:t>
            </a:r>
            <a:r>
              <a:rPr kumimoji="1" lang="en-US" altLang="zh-CN" sz="2800" b="1">
                <a:solidFill>
                  <a:srgbClr val="0000FF"/>
                </a:solidFill>
                <a:latin typeface="宋体" panose="02010600030101010101" pitchFamily="2" charset="-122"/>
              </a:rPr>
              <a:t>, </a:t>
            </a:r>
            <a:r>
              <a:rPr kumimoji="1" lang="zh-CN" altLang="en-US" sz="2800" b="1">
                <a:solidFill>
                  <a:srgbClr val="0000FF"/>
                </a:solidFill>
                <a:latin typeface="宋体" panose="02010600030101010101" pitchFamily="2" charset="-122"/>
              </a:rPr>
              <a:t>再转运给其他销地</a:t>
            </a:r>
            <a:r>
              <a:rPr kumimoji="1" lang="en-US" altLang="zh-CN" sz="2800" b="1">
                <a:solidFill>
                  <a:srgbClr val="0000FF"/>
                </a:solidFill>
                <a:latin typeface="宋体" panose="02010600030101010101" pitchFamily="2" charset="-122"/>
              </a:rPr>
              <a:t>;</a:t>
            </a:r>
          </a:p>
          <a:p>
            <a:pPr algn="just" eaLnBrk="1" hangingPunct="1">
              <a:spcBef>
                <a:spcPct val="50000"/>
              </a:spcBef>
            </a:pPr>
            <a:r>
              <a:rPr kumimoji="1" lang="en-US" altLang="zh-CN" sz="2800" b="1">
                <a:solidFill>
                  <a:srgbClr val="0000FF"/>
                </a:solidFill>
                <a:latin typeface="宋体" panose="02010600030101010101" pitchFamily="2" charset="-122"/>
              </a:rPr>
              <a:t>③</a:t>
            </a:r>
            <a:r>
              <a:rPr kumimoji="1" lang="zh-CN" altLang="en-US" sz="2800" b="1">
                <a:solidFill>
                  <a:srgbClr val="0000FF"/>
                </a:solidFill>
                <a:latin typeface="宋体" panose="02010600030101010101" pitchFamily="2" charset="-122"/>
              </a:rPr>
              <a:t>除产、销地之外</a:t>
            </a:r>
            <a:r>
              <a:rPr kumimoji="1" lang="en-US" altLang="zh-CN" sz="2800" b="1">
                <a:solidFill>
                  <a:srgbClr val="0000FF"/>
                </a:solidFill>
                <a:latin typeface="宋体" panose="02010600030101010101" pitchFamily="2" charset="-122"/>
              </a:rPr>
              <a:t>,</a:t>
            </a:r>
            <a:r>
              <a:rPr kumimoji="1" lang="zh-CN" altLang="en-US" sz="2800" b="1">
                <a:solidFill>
                  <a:srgbClr val="0000FF"/>
                </a:solidFill>
                <a:latin typeface="宋体" panose="02010600030101010101" pitchFamily="2" charset="-122"/>
              </a:rPr>
              <a:t>中间还可以有几个转运站</a:t>
            </a:r>
            <a:r>
              <a:rPr kumimoji="1" lang="en-US" altLang="zh-CN" sz="2800" b="1">
                <a:solidFill>
                  <a:srgbClr val="0000FF"/>
                </a:solidFill>
                <a:latin typeface="宋体" panose="02010600030101010101" pitchFamily="2" charset="-122"/>
              </a:rPr>
              <a:t>, </a:t>
            </a:r>
            <a:r>
              <a:rPr kumimoji="1" lang="zh-CN" altLang="en-US" sz="2800" b="1">
                <a:solidFill>
                  <a:srgbClr val="0000FF"/>
                </a:solidFill>
                <a:latin typeface="宋体" panose="02010600030101010101" pitchFamily="2" charset="-122"/>
              </a:rPr>
              <a:t>在产地之间、销地之间或产地与销地间转运。</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a:extLst>
              <a:ext uri="{FF2B5EF4-FFF2-40B4-BE49-F238E27FC236}">
                <a16:creationId xmlns:a16="http://schemas.microsoft.com/office/drawing/2014/main" id="{00820AEB-03DB-4BCA-B88C-3492E032485C}"/>
              </a:ext>
            </a:extLst>
          </p:cNvPr>
          <p:cNvSpPr>
            <a:spLocks noGrp="1" noChangeArrowheads="1"/>
          </p:cNvSpPr>
          <p:nvPr>
            <p:ph type="title"/>
          </p:nvPr>
        </p:nvSpPr>
        <p:spPr/>
        <p:txBody>
          <a:bodyPr/>
          <a:lstStyle/>
          <a:p>
            <a:pPr eaLnBrk="1" hangingPunct="1"/>
            <a:r>
              <a:rPr lang="zh-CN" altLang="en-US">
                <a:solidFill>
                  <a:srgbClr val="C00000"/>
                </a:solidFill>
              </a:rPr>
              <a:t>转运问题</a:t>
            </a:r>
          </a:p>
        </p:txBody>
      </p:sp>
      <p:sp>
        <p:nvSpPr>
          <p:cNvPr id="133123" name="Rectangle 3">
            <a:extLst>
              <a:ext uri="{FF2B5EF4-FFF2-40B4-BE49-F238E27FC236}">
                <a16:creationId xmlns:a16="http://schemas.microsoft.com/office/drawing/2014/main" id="{79355552-C790-4470-A458-D4DD75D09DFE}"/>
              </a:ext>
            </a:extLst>
          </p:cNvPr>
          <p:cNvSpPr>
            <a:spLocks noGrp="1" noChangeArrowheads="1"/>
          </p:cNvSpPr>
          <p:nvPr>
            <p:ph type="body" sz="half" idx="1"/>
          </p:nvPr>
        </p:nvSpPr>
        <p:spPr>
          <a:xfrm>
            <a:off x="457200" y="914400"/>
            <a:ext cx="8229600" cy="4987925"/>
          </a:xfrm>
        </p:spPr>
        <p:txBody>
          <a:bodyPr/>
          <a:lstStyle/>
          <a:p>
            <a:pPr eaLnBrk="1" hangingPunct="1"/>
            <a:r>
              <a:rPr lang="zh-CN" altLang="en-US" sz="2800"/>
              <a:t>产地可以输入；销地可以输出；存在中间转运站</a:t>
            </a:r>
          </a:p>
          <a:p>
            <a:pPr lvl="1" eaLnBrk="1" hangingPunct="1"/>
            <a:endParaRPr lang="zh-CN" altLang="en-US" sz="2400"/>
          </a:p>
          <a:p>
            <a:pPr eaLnBrk="1" hangingPunct="1"/>
            <a:endParaRPr lang="en-US" altLang="zh-CN" sz="2800"/>
          </a:p>
        </p:txBody>
      </p:sp>
      <p:graphicFrame>
        <p:nvGraphicFramePr>
          <p:cNvPr id="206502" name="Group 1702">
            <a:extLst>
              <a:ext uri="{FF2B5EF4-FFF2-40B4-BE49-F238E27FC236}">
                <a16:creationId xmlns:a16="http://schemas.microsoft.com/office/drawing/2014/main" id="{2E11DCAB-0CBC-4872-8E86-6ECE3384C00A}"/>
              </a:ext>
            </a:extLst>
          </p:cNvPr>
          <p:cNvGraphicFramePr>
            <a:graphicFrameLocks noGrp="1"/>
          </p:cNvGraphicFramePr>
          <p:nvPr>
            <p:ph sz="half" idx="2"/>
          </p:nvPr>
        </p:nvGraphicFramePr>
        <p:xfrm>
          <a:off x="762000" y="1606550"/>
          <a:ext cx="7543800" cy="4500563"/>
        </p:xfrm>
        <a:graphic>
          <a:graphicData uri="http://schemas.openxmlformats.org/drawingml/2006/table">
            <a:tbl>
              <a:tblPr/>
              <a:tblGrid>
                <a:gridCol w="577850">
                  <a:extLst>
                    <a:ext uri="{9D8B030D-6E8A-4147-A177-3AD203B41FA5}">
                      <a16:colId xmlns:a16="http://schemas.microsoft.com/office/drawing/2014/main" val="20000"/>
                    </a:ext>
                  </a:extLst>
                </a:gridCol>
                <a:gridCol w="584200">
                  <a:extLst>
                    <a:ext uri="{9D8B030D-6E8A-4147-A177-3AD203B41FA5}">
                      <a16:colId xmlns:a16="http://schemas.microsoft.com/office/drawing/2014/main" val="20001"/>
                    </a:ext>
                  </a:extLst>
                </a:gridCol>
                <a:gridCol w="590550">
                  <a:extLst>
                    <a:ext uri="{9D8B030D-6E8A-4147-A177-3AD203B41FA5}">
                      <a16:colId xmlns:a16="http://schemas.microsoft.com/office/drawing/2014/main" val="20002"/>
                    </a:ext>
                  </a:extLst>
                </a:gridCol>
                <a:gridCol w="569913">
                  <a:extLst>
                    <a:ext uri="{9D8B030D-6E8A-4147-A177-3AD203B41FA5}">
                      <a16:colId xmlns:a16="http://schemas.microsoft.com/office/drawing/2014/main" val="20003"/>
                    </a:ext>
                  </a:extLst>
                </a:gridCol>
                <a:gridCol w="581025">
                  <a:extLst>
                    <a:ext uri="{9D8B030D-6E8A-4147-A177-3AD203B41FA5}">
                      <a16:colId xmlns:a16="http://schemas.microsoft.com/office/drawing/2014/main" val="20004"/>
                    </a:ext>
                  </a:extLst>
                </a:gridCol>
                <a:gridCol w="577850">
                  <a:extLst>
                    <a:ext uri="{9D8B030D-6E8A-4147-A177-3AD203B41FA5}">
                      <a16:colId xmlns:a16="http://schemas.microsoft.com/office/drawing/2014/main" val="20005"/>
                    </a:ext>
                  </a:extLst>
                </a:gridCol>
                <a:gridCol w="581025">
                  <a:extLst>
                    <a:ext uri="{9D8B030D-6E8A-4147-A177-3AD203B41FA5}">
                      <a16:colId xmlns:a16="http://schemas.microsoft.com/office/drawing/2014/main" val="20006"/>
                    </a:ext>
                  </a:extLst>
                </a:gridCol>
                <a:gridCol w="577850">
                  <a:extLst>
                    <a:ext uri="{9D8B030D-6E8A-4147-A177-3AD203B41FA5}">
                      <a16:colId xmlns:a16="http://schemas.microsoft.com/office/drawing/2014/main" val="20007"/>
                    </a:ext>
                  </a:extLst>
                </a:gridCol>
                <a:gridCol w="581025">
                  <a:extLst>
                    <a:ext uri="{9D8B030D-6E8A-4147-A177-3AD203B41FA5}">
                      <a16:colId xmlns:a16="http://schemas.microsoft.com/office/drawing/2014/main" val="20008"/>
                    </a:ext>
                  </a:extLst>
                </a:gridCol>
                <a:gridCol w="582612">
                  <a:extLst>
                    <a:ext uri="{9D8B030D-6E8A-4147-A177-3AD203B41FA5}">
                      <a16:colId xmlns:a16="http://schemas.microsoft.com/office/drawing/2014/main" val="20009"/>
                    </a:ext>
                  </a:extLst>
                </a:gridCol>
                <a:gridCol w="596900">
                  <a:extLst>
                    <a:ext uri="{9D8B030D-6E8A-4147-A177-3AD203B41FA5}">
                      <a16:colId xmlns:a16="http://schemas.microsoft.com/office/drawing/2014/main" val="20010"/>
                    </a:ext>
                  </a:extLst>
                </a:gridCol>
                <a:gridCol w="565150">
                  <a:extLst>
                    <a:ext uri="{9D8B030D-6E8A-4147-A177-3AD203B41FA5}">
                      <a16:colId xmlns:a16="http://schemas.microsoft.com/office/drawing/2014/main" val="20011"/>
                    </a:ext>
                  </a:extLst>
                </a:gridCol>
                <a:gridCol w="577850">
                  <a:extLst>
                    <a:ext uri="{9D8B030D-6E8A-4147-A177-3AD203B41FA5}">
                      <a16:colId xmlns:a16="http://schemas.microsoft.com/office/drawing/2014/main" val="20012"/>
                    </a:ext>
                  </a:extLst>
                </a:gridCol>
              </a:tblGrid>
              <a:tr h="340826">
                <a:tc rowSpan="2"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18001" anchor="ctr" anchorCtr="1"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hMerge="1">
                  <a:txBody>
                    <a:bodyPr/>
                    <a:lstStyle/>
                    <a:p>
                      <a:endParaRPr lang="zh-CN" altLang="en-US"/>
                    </a:p>
                  </a:txBody>
                  <a:tcPr/>
                </a:tc>
                <a:tc gridSpan="3">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产  地</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中间转运站</a:t>
                      </a:r>
                    </a:p>
                  </a:txBody>
                  <a:tcPr marL="90000" marR="90000" marT="18001" marB="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销地</a:t>
                      </a:r>
                    </a:p>
                  </a:txBody>
                  <a:tcPr marL="90000" marR="90000" marT="18001" marB="0" anchor="ctr" anchorCtr="1" horzOverflow="overflow">
                    <a:lnL w="28575"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58827">
                <a:tc gridSpan="2" vMerge="1">
                  <a:txBody>
                    <a:bodyPr/>
                    <a:lstStyle/>
                    <a:p>
                      <a:endParaRPr lang="zh-CN" altLang="en-US"/>
                    </a:p>
                  </a:txBody>
                  <a:tcPr/>
                </a:tc>
                <a:tc hMerge="1"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36003"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36003"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36003"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0826">
                <a:tc rowSpan="3">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产地</a:t>
                      </a:r>
                    </a:p>
                  </a:txBody>
                  <a:tcPr marL="90000" marR="90000" marT="18001" marB="18001" anchor="ctr" anchorCtr="1"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2"/>
                  </a:ext>
                </a:extLst>
              </a:tr>
              <a:tr h="340826">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340826">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40826">
                <a:tc row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中间转运站</a:t>
                      </a:r>
                    </a:p>
                  </a:txBody>
                  <a:tcPr marL="90000" marR="90000" marT="18001" marB="18001" anchor="ctr" anchorCtr="1"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340826">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6"/>
                  </a:ext>
                </a:extLst>
              </a:tr>
              <a:tr h="346101">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7"/>
                  </a:ext>
                </a:extLst>
              </a:tr>
              <a:tr h="387379">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40826">
                <a:tc row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销</a:t>
                      </a:r>
                    </a:p>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地</a:t>
                      </a:r>
                    </a:p>
                  </a:txBody>
                  <a:tcPr marL="90000" marR="90000" marT="18001" marB="18001" anchor="ctr" anchorCtr="1"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9"/>
                  </a:ext>
                </a:extLst>
              </a:tr>
              <a:tr h="340826">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10"/>
                  </a:ext>
                </a:extLst>
              </a:tr>
              <a:tr h="340826">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11"/>
                  </a:ext>
                </a:extLst>
              </a:tr>
              <a:tr h="340826">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8001" marB="1800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8001" marB="1800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8001"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8001"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8001"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8001" marB="0" anchor="ctr" anchorCtr="1" horzOverflow="overflow">
                    <a:lnL w="12700" cap="flat" cmpd="sng" algn="ctr">
                      <a:solidFill>
                        <a:schemeClr val="tx1"/>
                      </a:solidFill>
                      <a:prstDash val="solid"/>
                      <a:round/>
                      <a:headEnd type="none" w="med" len="med"/>
                      <a:tailEnd type="none" w="med" len="med"/>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bl>
          </a:graphicData>
        </a:graphic>
      </p:graphicFrame>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a:extLst>
              <a:ext uri="{FF2B5EF4-FFF2-40B4-BE49-F238E27FC236}">
                <a16:creationId xmlns:a16="http://schemas.microsoft.com/office/drawing/2014/main" id="{59B61860-F711-437B-AC65-3ECAE24DB668}"/>
              </a:ext>
            </a:extLst>
          </p:cNvPr>
          <p:cNvSpPr>
            <a:spLocks noGrp="1" noChangeArrowheads="1"/>
          </p:cNvSpPr>
          <p:nvPr>
            <p:ph type="title"/>
          </p:nvPr>
        </p:nvSpPr>
        <p:spPr/>
        <p:txBody>
          <a:bodyPr/>
          <a:lstStyle/>
          <a:p>
            <a:pPr eaLnBrk="1" hangingPunct="1"/>
            <a:r>
              <a:rPr lang="zh-CN" altLang="en-US">
                <a:solidFill>
                  <a:srgbClr val="C00000"/>
                </a:solidFill>
              </a:rPr>
              <a:t>转运问题</a:t>
            </a:r>
          </a:p>
        </p:txBody>
      </p:sp>
      <p:sp>
        <p:nvSpPr>
          <p:cNvPr id="134147" name="Rectangle 3">
            <a:extLst>
              <a:ext uri="{FF2B5EF4-FFF2-40B4-BE49-F238E27FC236}">
                <a16:creationId xmlns:a16="http://schemas.microsoft.com/office/drawing/2014/main" id="{BC57B4B6-E1A0-471B-A1A3-36C658DC8398}"/>
              </a:ext>
            </a:extLst>
          </p:cNvPr>
          <p:cNvSpPr>
            <a:spLocks noGrp="1" noChangeArrowheads="1"/>
          </p:cNvSpPr>
          <p:nvPr>
            <p:ph type="body" sz="half" idx="1"/>
          </p:nvPr>
        </p:nvSpPr>
        <p:spPr>
          <a:xfrm>
            <a:off x="457200" y="914400"/>
            <a:ext cx="8229600" cy="4987925"/>
          </a:xfrm>
        </p:spPr>
        <p:txBody>
          <a:bodyPr/>
          <a:lstStyle/>
          <a:p>
            <a:pPr eaLnBrk="1" hangingPunct="1"/>
            <a:r>
              <a:rPr lang="zh-CN" altLang="en-US" sz="2800"/>
              <a:t>转化为扩大的运输问题</a:t>
            </a:r>
          </a:p>
          <a:p>
            <a:pPr lvl="1" eaLnBrk="1" hangingPunct="1"/>
            <a:endParaRPr lang="zh-CN" altLang="en-US" sz="2400"/>
          </a:p>
          <a:p>
            <a:pPr eaLnBrk="1" hangingPunct="1"/>
            <a:endParaRPr lang="en-US" altLang="zh-CN" sz="2800"/>
          </a:p>
        </p:txBody>
      </p:sp>
      <p:graphicFrame>
        <p:nvGraphicFramePr>
          <p:cNvPr id="207219" name="Group 371">
            <a:extLst>
              <a:ext uri="{FF2B5EF4-FFF2-40B4-BE49-F238E27FC236}">
                <a16:creationId xmlns:a16="http://schemas.microsoft.com/office/drawing/2014/main" id="{41C1870B-0D52-4E35-96E1-C867A2836B26}"/>
              </a:ext>
            </a:extLst>
          </p:cNvPr>
          <p:cNvGraphicFramePr>
            <a:graphicFrameLocks noGrp="1"/>
          </p:cNvGraphicFramePr>
          <p:nvPr>
            <p:ph sz="half" idx="2"/>
          </p:nvPr>
        </p:nvGraphicFramePr>
        <p:xfrm>
          <a:off x="762000" y="1606550"/>
          <a:ext cx="7543800" cy="4494213"/>
        </p:xfrm>
        <a:graphic>
          <a:graphicData uri="http://schemas.openxmlformats.org/drawingml/2006/table">
            <a:tbl>
              <a:tblPr/>
              <a:tblGrid>
                <a:gridCol w="577850">
                  <a:extLst>
                    <a:ext uri="{9D8B030D-6E8A-4147-A177-3AD203B41FA5}">
                      <a16:colId xmlns:a16="http://schemas.microsoft.com/office/drawing/2014/main" val="20000"/>
                    </a:ext>
                  </a:extLst>
                </a:gridCol>
                <a:gridCol w="584200">
                  <a:extLst>
                    <a:ext uri="{9D8B030D-6E8A-4147-A177-3AD203B41FA5}">
                      <a16:colId xmlns:a16="http://schemas.microsoft.com/office/drawing/2014/main" val="20001"/>
                    </a:ext>
                  </a:extLst>
                </a:gridCol>
                <a:gridCol w="590550">
                  <a:extLst>
                    <a:ext uri="{9D8B030D-6E8A-4147-A177-3AD203B41FA5}">
                      <a16:colId xmlns:a16="http://schemas.microsoft.com/office/drawing/2014/main" val="20002"/>
                    </a:ext>
                  </a:extLst>
                </a:gridCol>
                <a:gridCol w="569913">
                  <a:extLst>
                    <a:ext uri="{9D8B030D-6E8A-4147-A177-3AD203B41FA5}">
                      <a16:colId xmlns:a16="http://schemas.microsoft.com/office/drawing/2014/main" val="20003"/>
                    </a:ext>
                  </a:extLst>
                </a:gridCol>
                <a:gridCol w="581025">
                  <a:extLst>
                    <a:ext uri="{9D8B030D-6E8A-4147-A177-3AD203B41FA5}">
                      <a16:colId xmlns:a16="http://schemas.microsoft.com/office/drawing/2014/main" val="20004"/>
                    </a:ext>
                  </a:extLst>
                </a:gridCol>
                <a:gridCol w="577850">
                  <a:extLst>
                    <a:ext uri="{9D8B030D-6E8A-4147-A177-3AD203B41FA5}">
                      <a16:colId xmlns:a16="http://schemas.microsoft.com/office/drawing/2014/main" val="20005"/>
                    </a:ext>
                  </a:extLst>
                </a:gridCol>
                <a:gridCol w="581025">
                  <a:extLst>
                    <a:ext uri="{9D8B030D-6E8A-4147-A177-3AD203B41FA5}">
                      <a16:colId xmlns:a16="http://schemas.microsoft.com/office/drawing/2014/main" val="20006"/>
                    </a:ext>
                  </a:extLst>
                </a:gridCol>
                <a:gridCol w="577850">
                  <a:extLst>
                    <a:ext uri="{9D8B030D-6E8A-4147-A177-3AD203B41FA5}">
                      <a16:colId xmlns:a16="http://schemas.microsoft.com/office/drawing/2014/main" val="20007"/>
                    </a:ext>
                  </a:extLst>
                </a:gridCol>
                <a:gridCol w="581025">
                  <a:extLst>
                    <a:ext uri="{9D8B030D-6E8A-4147-A177-3AD203B41FA5}">
                      <a16:colId xmlns:a16="http://schemas.microsoft.com/office/drawing/2014/main" val="20008"/>
                    </a:ext>
                  </a:extLst>
                </a:gridCol>
                <a:gridCol w="582612">
                  <a:extLst>
                    <a:ext uri="{9D8B030D-6E8A-4147-A177-3AD203B41FA5}">
                      <a16:colId xmlns:a16="http://schemas.microsoft.com/office/drawing/2014/main" val="20009"/>
                    </a:ext>
                  </a:extLst>
                </a:gridCol>
                <a:gridCol w="596900">
                  <a:extLst>
                    <a:ext uri="{9D8B030D-6E8A-4147-A177-3AD203B41FA5}">
                      <a16:colId xmlns:a16="http://schemas.microsoft.com/office/drawing/2014/main" val="20010"/>
                    </a:ext>
                  </a:extLst>
                </a:gridCol>
                <a:gridCol w="565150">
                  <a:extLst>
                    <a:ext uri="{9D8B030D-6E8A-4147-A177-3AD203B41FA5}">
                      <a16:colId xmlns:a16="http://schemas.microsoft.com/office/drawing/2014/main" val="20011"/>
                    </a:ext>
                  </a:extLst>
                </a:gridCol>
                <a:gridCol w="577850">
                  <a:extLst>
                    <a:ext uri="{9D8B030D-6E8A-4147-A177-3AD203B41FA5}">
                      <a16:colId xmlns:a16="http://schemas.microsoft.com/office/drawing/2014/main" val="20012"/>
                    </a:ext>
                  </a:extLst>
                </a:gridCol>
              </a:tblGrid>
              <a:tr h="340772">
                <a:tc rowSpan="2" gridSpan="2">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90000" marR="90000" marT="17986" marB="17986" anchor="ctr" anchorCtr="1"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hMerge="1">
                  <a:txBody>
                    <a:bodyPr/>
                    <a:lstStyle/>
                    <a:p>
                      <a:endParaRPr lang="zh-CN" altLang="en-US"/>
                    </a:p>
                  </a:txBody>
                  <a:tcPr/>
                </a:tc>
                <a:tc gridSpan="3">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输入</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输入</a:t>
                      </a:r>
                    </a:p>
                  </a:txBody>
                  <a:tcPr marL="90000" marR="90000" marT="17986" marB="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输入</a:t>
                      </a:r>
                    </a:p>
                  </a:txBody>
                  <a:tcPr marL="90000" marR="90000" marT="17986" marB="0" anchor="ctr" anchorCtr="1" horzOverflow="overflow">
                    <a:lnL w="28575"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58754">
                <a:tc gridSpan="2" vMerge="1">
                  <a:txBody>
                    <a:bodyPr/>
                    <a:lstStyle/>
                    <a:p>
                      <a:endParaRPr lang="zh-CN" altLang="en-US"/>
                    </a:p>
                  </a:txBody>
                  <a:tcPr/>
                </a:tc>
                <a:tc hMerge="1"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35968"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35968"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35968"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40772">
                <a:tc rowSpan="3">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输出</a:t>
                      </a:r>
                    </a:p>
                  </a:txBody>
                  <a:tcPr marL="90000" marR="90000" marT="17986" marB="17986" anchor="ctr" anchorCtr="1"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2"/>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3"/>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40772">
                <a:tc row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输出</a:t>
                      </a:r>
                    </a:p>
                  </a:txBody>
                  <a:tcPr marL="90000" marR="90000" marT="17986" marB="17986" anchor="ctr" anchorCtr="1"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dirty="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6"/>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07"/>
                  </a:ext>
                </a:extLst>
              </a:tr>
              <a:tr h="3869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T</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40772">
                <a:tc rowSpan="4">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输出</a:t>
                      </a:r>
                    </a:p>
                  </a:txBody>
                  <a:tcPr marL="90000" marR="90000" marT="17986" marB="17986" anchor="ctr" anchorCtr="1"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9"/>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M</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10"/>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extLst>
                  <a:ext uri="{0D108BD9-81ED-4DB2-BD59-A6C34878D82A}">
                    <a16:rowId xmlns:a16="http://schemas.microsoft.com/office/drawing/2014/main" val="10011"/>
                  </a:ext>
                </a:extLst>
              </a:tr>
              <a:tr h="340772">
                <a:tc vMerge="1">
                  <a:txBody>
                    <a:bodyPr/>
                    <a:lstStyle/>
                    <a:p>
                      <a:endParaRPr lang="zh-CN" altLang="en-US"/>
                    </a:p>
                  </a:txBody>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000" b="0"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90000" marR="90000" marT="17986" marB="1798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p>
                  </a:txBody>
                  <a:tcPr marL="90000" marR="90000" marT="17986" marB="1798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90000" marR="90000" marT="17986" marB="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90000" marR="90000" marT="17986" marB="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90000" marR="90000" marT="17986" marB="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000" b="0" i="0" u="none" strike="noStrike" cap="none" normalizeH="0" baseline="0" dirty="0">
                          <a:ln>
                            <a:noFill/>
                          </a:ln>
                          <a:solidFill>
                            <a:srgbClr val="FF3300"/>
                          </a:solidFill>
                          <a:effectLst/>
                          <a:latin typeface="Times New Roman" panose="02020603050405020304" pitchFamily="18" charset="0"/>
                          <a:ea typeface="宋体" panose="02010600030101010101" pitchFamily="2" charset="-122"/>
                        </a:rPr>
                        <a:t>0</a:t>
                      </a:r>
                    </a:p>
                  </a:txBody>
                  <a:tcPr marL="90000" marR="90000" marT="17986" marB="0" anchor="ctr" anchorCtr="1" horzOverflow="overflow">
                    <a:lnL w="12700" cap="flat" cmpd="sng" algn="ctr">
                      <a:solidFill>
                        <a:schemeClr val="tx1"/>
                      </a:solidFill>
                      <a:prstDash val="solid"/>
                      <a:round/>
                      <a:headEnd type="none" w="med" len="med"/>
                      <a:tailEnd type="none" w="med" len="med"/>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bl>
          </a:graphicData>
        </a:graphic>
      </p:graphicFrame>
      <p:graphicFrame>
        <p:nvGraphicFramePr>
          <p:cNvPr id="207528" name="Group 680">
            <a:extLst>
              <a:ext uri="{FF2B5EF4-FFF2-40B4-BE49-F238E27FC236}">
                <a16:creationId xmlns:a16="http://schemas.microsoft.com/office/drawing/2014/main" id="{9980881B-91CF-4DF4-8234-302E107F3663}"/>
              </a:ext>
            </a:extLst>
          </p:cNvPr>
          <p:cNvGraphicFramePr>
            <a:graphicFrameLocks noGrp="1"/>
          </p:cNvGraphicFramePr>
          <p:nvPr/>
        </p:nvGraphicFramePr>
        <p:xfrm>
          <a:off x="8305800" y="3327400"/>
          <a:ext cx="609600" cy="1400175"/>
        </p:xfrm>
        <a:graphic>
          <a:graphicData uri="http://schemas.openxmlformats.org/drawingml/2006/table">
            <a:tbl>
              <a:tblPr/>
              <a:tblGrid>
                <a:gridCol w="609600">
                  <a:extLst>
                    <a:ext uri="{9D8B030D-6E8A-4147-A177-3AD203B41FA5}">
                      <a16:colId xmlns:a16="http://schemas.microsoft.com/office/drawing/2014/main" val="20000"/>
                    </a:ext>
                  </a:extLst>
                </a:gridCol>
              </a:tblGrid>
              <a:tr h="340798">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7999" marB="17999" horzOverflow="overflow">
                    <a:lnL cap="flat">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0"/>
                  </a:ext>
                </a:extLst>
              </a:tr>
              <a:tr h="340798">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7999" marB="17999"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0798">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7999" marB="17999"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77782">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7999" marB="17999" horzOverflow="overflow">
                    <a:lnL cap="flat">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207527" name="Group 679">
            <a:extLst>
              <a:ext uri="{FF2B5EF4-FFF2-40B4-BE49-F238E27FC236}">
                <a16:creationId xmlns:a16="http://schemas.microsoft.com/office/drawing/2014/main" id="{321D5A8A-61FE-4DE2-85DD-5FE92694326D}"/>
              </a:ext>
            </a:extLst>
          </p:cNvPr>
          <p:cNvGraphicFramePr>
            <a:graphicFrameLocks noGrp="1"/>
          </p:cNvGraphicFramePr>
          <p:nvPr/>
        </p:nvGraphicFramePr>
        <p:xfrm>
          <a:off x="3668713" y="6096000"/>
          <a:ext cx="2324100" cy="457200"/>
        </p:xfrm>
        <a:graphic>
          <a:graphicData uri="http://schemas.openxmlformats.org/drawingml/2006/table">
            <a:tbl>
              <a:tblPr/>
              <a:tblGrid>
                <a:gridCol w="584200">
                  <a:extLst>
                    <a:ext uri="{9D8B030D-6E8A-4147-A177-3AD203B41FA5}">
                      <a16:colId xmlns:a16="http://schemas.microsoft.com/office/drawing/2014/main" val="20000"/>
                    </a:ext>
                  </a:extLst>
                </a:gridCol>
                <a:gridCol w="561975">
                  <a:extLst>
                    <a:ext uri="{9D8B030D-6E8A-4147-A177-3AD203B41FA5}">
                      <a16:colId xmlns:a16="http://schemas.microsoft.com/office/drawing/2014/main" val="20001"/>
                    </a:ext>
                  </a:extLst>
                </a:gridCol>
                <a:gridCol w="593725">
                  <a:extLst>
                    <a:ext uri="{9D8B030D-6E8A-4147-A177-3AD203B41FA5}">
                      <a16:colId xmlns:a16="http://schemas.microsoft.com/office/drawing/2014/main" val="20002"/>
                    </a:ext>
                  </a:extLst>
                </a:gridCol>
                <a:gridCol w="584200">
                  <a:extLst>
                    <a:ext uri="{9D8B030D-6E8A-4147-A177-3AD203B41FA5}">
                      <a16:colId xmlns:a16="http://schemas.microsoft.com/office/drawing/2014/main" val="20003"/>
                    </a:ext>
                  </a:extLst>
                </a:gridCol>
              </a:tblGrid>
              <a:tr h="457200">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07443" name="Group 595">
            <a:extLst>
              <a:ext uri="{FF2B5EF4-FFF2-40B4-BE49-F238E27FC236}">
                <a16:creationId xmlns:a16="http://schemas.microsoft.com/office/drawing/2014/main" id="{3743A4AD-9108-4EDF-AD4D-B07E925F512B}"/>
              </a:ext>
            </a:extLst>
          </p:cNvPr>
          <p:cNvGraphicFramePr>
            <a:graphicFrameLocks noGrp="1"/>
          </p:cNvGraphicFramePr>
          <p:nvPr/>
        </p:nvGraphicFramePr>
        <p:xfrm>
          <a:off x="8305800" y="4724400"/>
          <a:ext cx="609600" cy="1363663"/>
        </p:xfrm>
        <a:graphic>
          <a:graphicData uri="http://schemas.openxmlformats.org/drawingml/2006/table">
            <a:tbl>
              <a:tblPr/>
              <a:tblGrid>
                <a:gridCol w="609600">
                  <a:extLst>
                    <a:ext uri="{9D8B030D-6E8A-4147-A177-3AD203B41FA5}">
                      <a16:colId xmlns:a16="http://schemas.microsoft.com/office/drawing/2014/main" val="20000"/>
                    </a:ext>
                  </a:extLst>
                </a:gridCol>
              </a:tblGrid>
              <a:tr h="340916">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8006" marB="18006" horzOverflow="overflow">
                    <a:lnL cap="flat">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0"/>
                  </a:ext>
                </a:extLst>
              </a:tr>
              <a:tr h="340916">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8006" marB="18006"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0916">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8006" marB="18006"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40916">
                <a:tc>
                  <a:txBody>
                    <a:bodyPr/>
                    <a:lstStyle/>
                    <a:p>
                      <a:pPr marL="0" marR="0" lvl="0" indent="0" algn="l"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marL="90000" marR="90000" marT="18006" marB="18006" horzOverflow="overflow">
                    <a:lnL cap="flat">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207471" name="Group 623">
            <a:extLst>
              <a:ext uri="{FF2B5EF4-FFF2-40B4-BE49-F238E27FC236}">
                <a16:creationId xmlns:a16="http://schemas.microsoft.com/office/drawing/2014/main" id="{FB392FD1-74B6-4E7C-A35A-89F7B3AF74D5}"/>
              </a:ext>
            </a:extLst>
          </p:cNvPr>
          <p:cNvGraphicFramePr>
            <a:graphicFrameLocks noGrp="1"/>
          </p:cNvGraphicFramePr>
          <p:nvPr/>
        </p:nvGraphicFramePr>
        <p:xfrm>
          <a:off x="8305800" y="2286000"/>
          <a:ext cx="609600" cy="1022350"/>
        </p:xfrm>
        <a:graphic>
          <a:graphicData uri="http://schemas.openxmlformats.org/drawingml/2006/table">
            <a:tbl>
              <a:tblPr/>
              <a:tblGrid>
                <a:gridCol w="609600">
                  <a:extLst>
                    <a:ext uri="{9D8B030D-6E8A-4147-A177-3AD203B41FA5}">
                      <a16:colId xmlns:a16="http://schemas.microsoft.com/office/drawing/2014/main" val="20000"/>
                    </a:ext>
                  </a:extLst>
                </a:gridCol>
              </a:tblGrid>
              <a:tr h="340783">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27</a:t>
                      </a:r>
                    </a:p>
                  </a:txBody>
                  <a:tcPr marL="90000" marR="90000" marT="17996" marB="17996" horzOverflow="overflow">
                    <a:lnL cap="flat">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0"/>
                  </a:ext>
                </a:extLst>
              </a:tr>
              <a:tr h="340783">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24</a:t>
                      </a:r>
                    </a:p>
                  </a:txBody>
                  <a:tcPr marL="90000" marR="90000" marT="17996" marB="17996"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0783">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29</a:t>
                      </a:r>
                    </a:p>
                  </a:txBody>
                  <a:tcPr marL="90000" marR="90000" marT="17996" marB="17996" horzOverflow="overflow">
                    <a:lnL cap="flat">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07496" name="Group 648">
            <a:extLst>
              <a:ext uri="{FF2B5EF4-FFF2-40B4-BE49-F238E27FC236}">
                <a16:creationId xmlns:a16="http://schemas.microsoft.com/office/drawing/2014/main" id="{6FDB3C1C-34A4-430F-9FE2-383671A0477C}"/>
              </a:ext>
            </a:extLst>
          </p:cNvPr>
          <p:cNvGraphicFramePr>
            <a:graphicFrameLocks noGrp="1"/>
          </p:cNvGraphicFramePr>
          <p:nvPr/>
        </p:nvGraphicFramePr>
        <p:xfrm>
          <a:off x="1917700" y="6096000"/>
          <a:ext cx="1739900" cy="425450"/>
        </p:xfrm>
        <a:graphic>
          <a:graphicData uri="http://schemas.openxmlformats.org/drawingml/2006/table">
            <a:tbl>
              <a:tblPr/>
              <a:tblGrid>
                <a:gridCol w="596900">
                  <a:extLst>
                    <a:ext uri="{9D8B030D-6E8A-4147-A177-3AD203B41FA5}">
                      <a16:colId xmlns:a16="http://schemas.microsoft.com/office/drawing/2014/main" val="20000"/>
                    </a:ext>
                  </a:extLst>
                </a:gridCol>
                <a:gridCol w="558800">
                  <a:extLst>
                    <a:ext uri="{9D8B030D-6E8A-4147-A177-3AD203B41FA5}">
                      <a16:colId xmlns:a16="http://schemas.microsoft.com/office/drawing/2014/main" val="20001"/>
                    </a:ext>
                  </a:extLst>
                </a:gridCol>
                <a:gridCol w="584200">
                  <a:extLst>
                    <a:ext uri="{9D8B030D-6E8A-4147-A177-3AD203B41FA5}">
                      <a16:colId xmlns:a16="http://schemas.microsoft.com/office/drawing/2014/main" val="20002"/>
                    </a:ext>
                  </a:extLst>
                </a:gridCol>
              </a:tblGrid>
              <a:tr h="425450">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20</a:t>
                      </a: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07544" name="Group 696">
            <a:extLst>
              <a:ext uri="{FF2B5EF4-FFF2-40B4-BE49-F238E27FC236}">
                <a16:creationId xmlns:a16="http://schemas.microsoft.com/office/drawing/2014/main" id="{C281EFA6-6C61-4E45-9B6A-A161907560D6}"/>
              </a:ext>
            </a:extLst>
          </p:cNvPr>
          <p:cNvGraphicFramePr>
            <a:graphicFrameLocks noGrp="1"/>
          </p:cNvGraphicFramePr>
          <p:nvPr/>
        </p:nvGraphicFramePr>
        <p:xfrm>
          <a:off x="6019800" y="6096000"/>
          <a:ext cx="2286000" cy="436563"/>
        </p:xfrm>
        <a:graphic>
          <a:graphicData uri="http://schemas.openxmlformats.org/drawingml/2006/table">
            <a:tbl>
              <a:tblPr/>
              <a:tblGrid>
                <a:gridCol w="534988">
                  <a:extLst>
                    <a:ext uri="{9D8B030D-6E8A-4147-A177-3AD203B41FA5}">
                      <a16:colId xmlns:a16="http://schemas.microsoft.com/office/drawing/2014/main" val="20000"/>
                    </a:ext>
                  </a:extLst>
                </a:gridCol>
                <a:gridCol w="595312">
                  <a:extLst>
                    <a:ext uri="{9D8B030D-6E8A-4147-A177-3AD203B41FA5}">
                      <a16:colId xmlns:a16="http://schemas.microsoft.com/office/drawing/2014/main" val="20001"/>
                    </a:ext>
                  </a:extLst>
                </a:gridCol>
                <a:gridCol w="573088">
                  <a:extLst>
                    <a:ext uri="{9D8B030D-6E8A-4147-A177-3AD203B41FA5}">
                      <a16:colId xmlns:a16="http://schemas.microsoft.com/office/drawing/2014/main" val="20002"/>
                    </a:ext>
                  </a:extLst>
                </a:gridCol>
                <a:gridCol w="582612">
                  <a:extLst>
                    <a:ext uri="{9D8B030D-6E8A-4147-A177-3AD203B41FA5}">
                      <a16:colId xmlns:a16="http://schemas.microsoft.com/office/drawing/2014/main" val="20003"/>
                    </a:ext>
                  </a:extLst>
                </a:gridCol>
              </a:tblGrid>
              <a:tr h="436563">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23</a:t>
                      </a:r>
                    </a:p>
                  </a:txBody>
                  <a:tcP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itchFamily="2" charset="2"/>
                        <a:buNone/>
                        <a:tabLst/>
                      </a:pPr>
                      <a:r>
                        <a:rPr kumimoji="0" lang="en-US" altLang="zh-CN" sz="2000" b="1" i="0" u="none" strike="noStrike" cap="none" normalizeH="0" baseline="0">
                          <a:ln>
                            <a:noFill/>
                          </a:ln>
                          <a:solidFill>
                            <a:schemeClr val="accent2"/>
                          </a:solidFill>
                          <a:effectLst/>
                          <a:latin typeface="Times New Roman" pitchFamily="18" charset="0"/>
                          <a:ea typeface="宋体" pitchFamily="2" charset="-122"/>
                        </a:rPr>
                        <a:t>26</a:t>
                      </a: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4376" name="矩形 38">
            <a:extLst>
              <a:ext uri="{FF2B5EF4-FFF2-40B4-BE49-F238E27FC236}">
                <a16:creationId xmlns:a16="http://schemas.microsoft.com/office/drawing/2014/main" id="{CD12C0F7-EE71-428B-B1FB-B9D2B9ED98FA}"/>
              </a:ext>
            </a:extLst>
          </p:cNvPr>
          <p:cNvSpPr>
            <a:spLocks noChangeArrowheads="1"/>
          </p:cNvSpPr>
          <p:nvPr/>
        </p:nvSpPr>
        <p:spPr bwMode="auto">
          <a:xfrm>
            <a:off x="3743325" y="3365500"/>
            <a:ext cx="2174875" cy="1323975"/>
          </a:xfrm>
          <a:prstGeom prst="rect">
            <a:avLst/>
          </a:prstGeom>
          <a:noFill/>
          <a:ln w="22225">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en-US" altLang="zh-CN" sz="1600">
              <a:solidFill>
                <a:srgbClr val="FF00FF"/>
              </a:solidFill>
            </a:endParaRPr>
          </a:p>
          <a:p>
            <a:pPr algn="ctr" eaLnBrk="1" hangingPunct="1"/>
            <a:endParaRPr lang="en-US" altLang="zh-CN" sz="1600">
              <a:solidFill>
                <a:srgbClr val="FF00FF"/>
              </a:solidFill>
            </a:endParaRPr>
          </a:p>
          <a:p>
            <a:pPr algn="ctr" eaLnBrk="1" hangingPunct="1"/>
            <a:endParaRPr lang="en-US" altLang="zh-CN" sz="1600">
              <a:solidFill>
                <a:srgbClr val="FF00FF"/>
              </a:solidFill>
            </a:endParaRPr>
          </a:p>
          <a:p>
            <a:pPr algn="ctr" eaLnBrk="1" hangingPunct="1"/>
            <a:endParaRPr lang="en-US" altLang="zh-CN" sz="1600">
              <a:solidFill>
                <a:srgbClr val="FF00FF"/>
              </a:solidFill>
            </a:endParaRPr>
          </a:p>
          <a:p>
            <a:pPr algn="ctr" eaLnBrk="1" hangingPunct="1"/>
            <a:endParaRPr lang="zh-CN" altLang="en-US" sz="1600">
              <a:solidFill>
                <a:srgbClr val="FF00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752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0752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0"/>
                                          </p:stCondLst>
                                        </p:cTn>
                                        <p:tgtEl>
                                          <p:spTgt spid="20749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207471"/>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0744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075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2">
            <a:extLst>
              <a:ext uri="{FF2B5EF4-FFF2-40B4-BE49-F238E27FC236}">
                <a16:creationId xmlns:a16="http://schemas.microsoft.com/office/drawing/2014/main" id="{9C95DF78-C350-4C94-AA6C-EC98C55B3392}"/>
              </a:ext>
            </a:extLst>
          </p:cNvPr>
          <p:cNvSpPr>
            <a:spLocks noGrp="1" noChangeArrowheads="1"/>
          </p:cNvSpPr>
          <p:nvPr>
            <p:ph type="title"/>
          </p:nvPr>
        </p:nvSpPr>
        <p:spPr/>
        <p:txBody>
          <a:bodyPr/>
          <a:lstStyle/>
          <a:p>
            <a:pPr eaLnBrk="1" hangingPunct="1"/>
            <a:r>
              <a:rPr lang="zh-CN" altLang="en-US"/>
              <a:t>运输悖论</a:t>
            </a:r>
          </a:p>
        </p:txBody>
      </p:sp>
      <p:sp>
        <p:nvSpPr>
          <p:cNvPr id="135171" name="Rectangle 3">
            <a:extLst>
              <a:ext uri="{FF2B5EF4-FFF2-40B4-BE49-F238E27FC236}">
                <a16:creationId xmlns:a16="http://schemas.microsoft.com/office/drawing/2014/main" id="{44940353-0B06-4AEC-AEC8-14EBA065A6C0}"/>
              </a:ext>
            </a:extLst>
          </p:cNvPr>
          <p:cNvSpPr>
            <a:spLocks noGrp="1" noChangeArrowheads="1"/>
          </p:cNvSpPr>
          <p:nvPr>
            <p:ph type="body" sz="half" idx="1"/>
          </p:nvPr>
        </p:nvSpPr>
        <p:spPr>
          <a:xfrm>
            <a:off x="457200" y="1143000"/>
            <a:ext cx="8001000" cy="4987925"/>
          </a:xfrm>
        </p:spPr>
        <p:txBody>
          <a:bodyPr/>
          <a:lstStyle/>
          <a:p>
            <a:pPr eaLnBrk="1" hangingPunct="1"/>
            <a:r>
              <a:rPr lang="zh-CN" altLang="en-US" sz="2800"/>
              <a:t>在运价不变前提下，运量增加，运价反而减少</a:t>
            </a:r>
          </a:p>
          <a:p>
            <a:pPr eaLnBrk="1" hangingPunct="1"/>
            <a:endParaRPr lang="en-US" altLang="zh-CN" sz="2800"/>
          </a:p>
        </p:txBody>
      </p:sp>
      <p:graphicFrame>
        <p:nvGraphicFramePr>
          <p:cNvPr id="203856" name="Group 80">
            <a:extLst>
              <a:ext uri="{FF2B5EF4-FFF2-40B4-BE49-F238E27FC236}">
                <a16:creationId xmlns:a16="http://schemas.microsoft.com/office/drawing/2014/main" id="{0A3083C6-0477-4EF1-A87A-C4C7CF79D5A4}"/>
              </a:ext>
            </a:extLst>
          </p:cNvPr>
          <p:cNvGraphicFramePr>
            <a:graphicFrameLocks noGrp="1"/>
          </p:cNvGraphicFramePr>
          <p:nvPr>
            <p:ph sz="half" idx="2"/>
          </p:nvPr>
        </p:nvGraphicFramePr>
        <p:xfrm>
          <a:off x="762000" y="1981200"/>
          <a:ext cx="7772400" cy="4302125"/>
        </p:xfrm>
        <a:graphic>
          <a:graphicData uri="http://schemas.openxmlformats.org/drawingml/2006/table">
            <a:tbl>
              <a:tblPr/>
              <a:tblGrid>
                <a:gridCol w="971550">
                  <a:extLst>
                    <a:ext uri="{9D8B030D-6E8A-4147-A177-3AD203B41FA5}">
                      <a16:colId xmlns:a16="http://schemas.microsoft.com/office/drawing/2014/main" val="20000"/>
                    </a:ext>
                  </a:extLst>
                </a:gridCol>
                <a:gridCol w="971550">
                  <a:extLst>
                    <a:ext uri="{9D8B030D-6E8A-4147-A177-3AD203B41FA5}">
                      <a16:colId xmlns:a16="http://schemas.microsoft.com/office/drawing/2014/main" val="20001"/>
                    </a:ext>
                  </a:extLst>
                </a:gridCol>
                <a:gridCol w="971550">
                  <a:extLst>
                    <a:ext uri="{9D8B030D-6E8A-4147-A177-3AD203B41FA5}">
                      <a16:colId xmlns:a16="http://schemas.microsoft.com/office/drawing/2014/main" val="20002"/>
                    </a:ext>
                  </a:extLst>
                </a:gridCol>
                <a:gridCol w="971550">
                  <a:extLst>
                    <a:ext uri="{9D8B030D-6E8A-4147-A177-3AD203B41FA5}">
                      <a16:colId xmlns:a16="http://schemas.microsoft.com/office/drawing/2014/main" val="20003"/>
                    </a:ext>
                  </a:extLst>
                </a:gridCol>
                <a:gridCol w="971550">
                  <a:extLst>
                    <a:ext uri="{9D8B030D-6E8A-4147-A177-3AD203B41FA5}">
                      <a16:colId xmlns:a16="http://schemas.microsoft.com/office/drawing/2014/main" val="20004"/>
                    </a:ext>
                  </a:extLst>
                </a:gridCol>
                <a:gridCol w="971550">
                  <a:extLst>
                    <a:ext uri="{9D8B030D-6E8A-4147-A177-3AD203B41FA5}">
                      <a16:colId xmlns:a16="http://schemas.microsoft.com/office/drawing/2014/main" val="20005"/>
                    </a:ext>
                  </a:extLst>
                </a:gridCol>
                <a:gridCol w="971550">
                  <a:extLst>
                    <a:ext uri="{9D8B030D-6E8A-4147-A177-3AD203B41FA5}">
                      <a16:colId xmlns:a16="http://schemas.microsoft.com/office/drawing/2014/main" val="20006"/>
                    </a:ext>
                  </a:extLst>
                </a:gridCol>
                <a:gridCol w="971550">
                  <a:extLst>
                    <a:ext uri="{9D8B030D-6E8A-4147-A177-3AD203B41FA5}">
                      <a16:colId xmlns:a16="http://schemas.microsoft.com/office/drawing/2014/main" val="20007"/>
                    </a:ext>
                  </a:extLst>
                </a:gridCol>
              </a:tblGrid>
              <a:tr h="61436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产量</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u</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i</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1436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15</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6</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13</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1436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16</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9</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22</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13</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16</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15950">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8</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5</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11</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5</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1436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12</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18</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9</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0" i="0" u="none" strike="noStrike" cap="none" normalizeH="0" baseline="0">
                          <a:ln>
                            <a:noFill/>
                          </a:ln>
                          <a:solidFill>
                            <a:schemeClr val="accent2"/>
                          </a:solidFill>
                          <a:effectLst/>
                          <a:latin typeface="Times New Roman" panose="02020603050405020304" pitchFamily="18" charset="0"/>
                          <a:ea typeface="宋体" panose="02010600030101010101" pitchFamily="2" charset="-122"/>
                        </a:rPr>
                        <a:t>10</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1436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zh-CN" altLang="en-US"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销量</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14363">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v</a:t>
                      </a:r>
                      <a:r>
                        <a:rPr kumimoji="0" lang="en-US" altLang="zh-CN" sz="28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j</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9</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21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r>
                        <a:rPr kumimoji="0" lang="en-US" altLang="zh-CN" sz="28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accent1"/>
                        </a:buClr>
                        <a:buSzPct val="65000"/>
                        <a:buFont typeface="Wingdings" panose="05000000000000000000" pitchFamily="2" charset="2"/>
                        <a:defRPr sz="2800" b="1">
                          <a:solidFill>
                            <a:schemeClr val="tx1"/>
                          </a:solidFill>
                          <a:latin typeface="Arial" panose="020B0604020202020204" pitchFamily="34" charset="0"/>
                          <a:ea typeface="宋体" panose="02010600030101010101" pitchFamily="2" charset="-122"/>
                        </a:defRPr>
                      </a:lvl1pPr>
                      <a:lvl2pPr marL="742950" indent="-285750" eaLnBrk="0" hangingPunct="0">
                        <a:spcBef>
                          <a:spcPct val="20000"/>
                        </a:spcBef>
                        <a:buClr>
                          <a:schemeClr val="accent2"/>
                        </a:buClr>
                        <a:buSzPct val="60000"/>
                        <a:buFont typeface="Wingdings" panose="05000000000000000000" pitchFamily="2" charset="2"/>
                        <a:defRPr sz="2400" b="1">
                          <a:solidFill>
                            <a:schemeClr val="tx1"/>
                          </a:solidFill>
                          <a:latin typeface="Arial" panose="020B0604020202020204" pitchFamily="34" charset="0"/>
                          <a:ea typeface="宋体" panose="02010600030101010101" pitchFamily="2" charset="-122"/>
                        </a:defRPr>
                      </a:lvl2pPr>
                      <a:lvl3pPr marL="1143000" indent="-228600" eaLnBrk="0" hangingPunct="0">
                        <a:spcBef>
                          <a:spcPct val="20000"/>
                        </a:spcBef>
                        <a:buClr>
                          <a:schemeClr val="accent1"/>
                        </a:buClr>
                        <a:buSzPct val="65000"/>
                        <a:buFont typeface="Wingdings" panose="05000000000000000000" pitchFamily="2" charset="2"/>
                        <a:defRPr sz="2000" b="1">
                          <a:solidFill>
                            <a:schemeClr val="tx1"/>
                          </a:solidFill>
                          <a:latin typeface="Arial" panose="020B0604020202020204" pitchFamily="34" charset="0"/>
                          <a:ea typeface="宋体" panose="02010600030101010101" pitchFamily="2" charset="-122"/>
                        </a:defRPr>
                      </a:lvl3pPr>
                      <a:lvl4pPr marL="1600200" indent="-228600" eaLnBrk="0" hangingPunct="0">
                        <a:spcBef>
                          <a:spcPct val="20000"/>
                        </a:spcBef>
                        <a:buClr>
                          <a:schemeClr val="accent2"/>
                        </a:buClr>
                        <a:buSzPct val="70000"/>
                        <a:buFont typeface="Wingdings" panose="05000000000000000000" pitchFamily="2" charset="2"/>
                        <a:defRPr sz="1600">
                          <a:solidFill>
                            <a:schemeClr val="tx1"/>
                          </a:solidFill>
                          <a:latin typeface="Arial" panose="020B0604020202020204" pitchFamily="34" charset="0"/>
                          <a:ea typeface="宋体" panose="02010600030101010101" pitchFamily="2" charset="-122"/>
                        </a:defRPr>
                      </a:lvl4pPr>
                      <a:lvl5pPr marL="2057400" indent="-228600" eaLnBrk="0" hangingPunct="0">
                        <a:spcBef>
                          <a:spcPct val="20000"/>
                        </a:spcBef>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75000"/>
                        <a:buFont typeface="Wingdings" panose="05000000000000000000" pitchFamily="2" charset="2"/>
                        <a:defRPr sz="1400">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20000"/>
                        </a:spcBef>
                        <a:spcAft>
                          <a:spcPct val="0"/>
                        </a:spcAft>
                        <a:buClr>
                          <a:schemeClr val="accent1"/>
                        </a:buClr>
                        <a:buSzPct val="65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35246" name="Text Box 81">
            <a:extLst>
              <a:ext uri="{FF2B5EF4-FFF2-40B4-BE49-F238E27FC236}">
                <a16:creationId xmlns:a16="http://schemas.microsoft.com/office/drawing/2014/main" id="{196FC0BA-78E4-48FF-B6BA-5495ECD7B93A}"/>
              </a:ext>
            </a:extLst>
          </p:cNvPr>
          <p:cNvSpPr txBox="1">
            <a:spLocks noChangeArrowheads="1"/>
          </p:cNvSpPr>
          <p:nvPr/>
        </p:nvSpPr>
        <p:spPr bwMode="auto">
          <a:xfrm>
            <a:off x="3733800" y="26670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12</a:t>
            </a:r>
          </a:p>
        </p:txBody>
      </p:sp>
      <p:sp>
        <p:nvSpPr>
          <p:cNvPr id="135247" name="Text Box 82">
            <a:extLst>
              <a:ext uri="{FF2B5EF4-FFF2-40B4-BE49-F238E27FC236}">
                <a16:creationId xmlns:a16="http://schemas.microsoft.com/office/drawing/2014/main" id="{277911FD-39EC-4988-9D6C-D1C5398882CB}"/>
              </a:ext>
            </a:extLst>
          </p:cNvPr>
          <p:cNvSpPr txBox="1">
            <a:spLocks noChangeArrowheads="1"/>
          </p:cNvSpPr>
          <p:nvPr/>
        </p:nvSpPr>
        <p:spPr bwMode="auto">
          <a:xfrm>
            <a:off x="1828800" y="32766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4</a:t>
            </a:r>
          </a:p>
        </p:txBody>
      </p:sp>
      <p:sp>
        <p:nvSpPr>
          <p:cNvPr id="135248" name="Text Box 84">
            <a:extLst>
              <a:ext uri="{FF2B5EF4-FFF2-40B4-BE49-F238E27FC236}">
                <a16:creationId xmlns:a16="http://schemas.microsoft.com/office/drawing/2014/main" id="{1FA085BB-7559-4C9D-9987-8D8541507174}"/>
              </a:ext>
            </a:extLst>
          </p:cNvPr>
          <p:cNvSpPr txBox="1">
            <a:spLocks noChangeArrowheads="1"/>
          </p:cNvSpPr>
          <p:nvPr/>
        </p:nvSpPr>
        <p:spPr bwMode="auto">
          <a:xfrm>
            <a:off x="2819400" y="32766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6</a:t>
            </a:r>
          </a:p>
        </p:txBody>
      </p:sp>
      <p:sp>
        <p:nvSpPr>
          <p:cNvPr id="135249" name="Text Box 85">
            <a:extLst>
              <a:ext uri="{FF2B5EF4-FFF2-40B4-BE49-F238E27FC236}">
                <a16:creationId xmlns:a16="http://schemas.microsoft.com/office/drawing/2014/main" id="{27C35E13-EA08-44BA-9F3D-652E9D3C3148}"/>
              </a:ext>
            </a:extLst>
          </p:cNvPr>
          <p:cNvSpPr txBox="1">
            <a:spLocks noChangeArrowheads="1"/>
          </p:cNvSpPr>
          <p:nvPr/>
        </p:nvSpPr>
        <p:spPr bwMode="auto">
          <a:xfrm>
            <a:off x="4724400" y="32004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8</a:t>
            </a:r>
          </a:p>
        </p:txBody>
      </p:sp>
      <p:sp>
        <p:nvSpPr>
          <p:cNvPr id="135250" name="Text Box 86">
            <a:extLst>
              <a:ext uri="{FF2B5EF4-FFF2-40B4-BE49-F238E27FC236}">
                <a16:creationId xmlns:a16="http://schemas.microsoft.com/office/drawing/2014/main" id="{3932B47C-3323-4677-9DFE-A9468116DD7E}"/>
              </a:ext>
            </a:extLst>
          </p:cNvPr>
          <p:cNvSpPr txBox="1">
            <a:spLocks noChangeArrowheads="1"/>
          </p:cNvSpPr>
          <p:nvPr/>
        </p:nvSpPr>
        <p:spPr bwMode="auto">
          <a:xfrm>
            <a:off x="5791200" y="38862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6</a:t>
            </a:r>
          </a:p>
        </p:txBody>
      </p:sp>
      <p:sp>
        <p:nvSpPr>
          <p:cNvPr id="135251" name="Text Box 87">
            <a:extLst>
              <a:ext uri="{FF2B5EF4-FFF2-40B4-BE49-F238E27FC236}">
                <a16:creationId xmlns:a16="http://schemas.microsoft.com/office/drawing/2014/main" id="{E96B1EFD-6459-4498-8D72-9158172869F7}"/>
              </a:ext>
            </a:extLst>
          </p:cNvPr>
          <p:cNvSpPr txBox="1">
            <a:spLocks noChangeArrowheads="1"/>
          </p:cNvSpPr>
          <p:nvPr/>
        </p:nvSpPr>
        <p:spPr bwMode="auto">
          <a:xfrm>
            <a:off x="5715000" y="44958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5</a:t>
            </a:r>
          </a:p>
        </p:txBody>
      </p:sp>
      <p:sp>
        <p:nvSpPr>
          <p:cNvPr id="135252" name="Text Box 88">
            <a:extLst>
              <a:ext uri="{FF2B5EF4-FFF2-40B4-BE49-F238E27FC236}">
                <a16:creationId xmlns:a16="http://schemas.microsoft.com/office/drawing/2014/main" id="{57C9F389-E61A-462F-A5B6-A8CBB365AB4B}"/>
              </a:ext>
            </a:extLst>
          </p:cNvPr>
          <p:cNvSpPr txBox="1">
            <a:spLocks noChangeArrowheads="1"/>
          </p:cNvSpPr>
          <p:nvPr/>
        </p:nvSpPr>
        <p:spPr bwMode="auto">
          <a:xfrm>
            <a:off x="2743200" y="44958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10</a:t>
            </a:r>
          </a:p>
        </p:txBody>
      </p:sp>
      <p:sp>
        <p:nvSpPr>
          <p:cNvPr id="135253" name="Text Box 89">
            <a:extLst>
              <a:ext uri="{FF2B5EF4-FFF2-40B4-BE49-F238E27FC236}">
                <a16:creationId xmlns:a16="http://schemas.microsoft.com/office/drawing/2014/main" id="{94EDE035-C620-4FFD-B651-544BD75179A9}"/>
              </a:ext>
            </a:extLst>
          </p:cNvPr>
          <p:cNvSpPr txBox="1">
            <a:spLocks noChangeArrowheads="1"/>
          </p:cNvSpPr>
          <p:nvPr/>
        </p:nvSpPr>
        <p:spPr bwMode="auto">
          <a:xfrm>
            <a:off x="3733800" y="38862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u="sng"/>
              <a:t>0</a:t>
            </a:r>
          </a:p>
        </p:txBody>
      </p:sp>
      <p:sp>
        <p:nvSpPr>
          <p:cNvPr id="203866" name="Rectangle 90">
            <a:extLst>
              <a:ext uri="{FF2B5EF4-FFF2-40B4-BE49-F238E27FC236}">
                <a16:creationId xmlns:a16="http://schemas.microsoft.com/office/drawing/2014/main" id="{102372D2-D4CB-4C61-9473-7228FD2F45FA}"/>
              </a:ext>
            </a:extLst>
          </p:cNvPr>
          <p:cNvSpPr>
            <a:spLocks noChangeArrowheads="1"/>
          </p:cNvSpPr>
          <p:nvPr/>
        </p:nvSpPr>
        <p:spPr bwMode="auto">
          <a:xfrm>
            <a:off x="3048000" y="4114800"/>
            <a:ext cx="3048000" cy="609600"/>
          </a:xfrm>
          <a:prstGeom prst="rect">
            <a:avLst/>
          </a:prstGeom>
          <a:noFill/>
          <a:ln w="28575">
            <a:solidFill>
              <a:srgbClr val="FF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203867" name="Text Box 91">
            <a:extLst>
              <a:ext uri="{FF2B5EF4-FFF2-40B4-BE49-F238E27FC236}">
                <a16:creationId xmlns:a16="http://schemas.microsoft.com/office/drawing/2014/main" id="{E718F0D4-EF9A-4CE9-B11B-2EDEB52C6EEB}"/>
              </a:ext>
            </a:extLst>
          </p:cNvPr>
          <p:cNvSpPr txBox="1">
            <a:spLocks noChangeArrowheads="1"/>
          </p:cNvSpPr>
          <p:nvPr/>
        </p:nvSpPr>
        <p:spPr bwMode="auto">
          <a:xfrm>
            <a:off x="6019800" y="41148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99"/>
                </a:solidFill>
              </a:rPr>
              <a:t>+5</a:t>
            </a:r>
          </a:p>
        </p:txBody>
      </p:sp>
      <p:sp>
        <p:nvSpPr>
          <p:cNvPr id="203868" name="Text Box 92">
            <a:extLst>
              <a:ext uri="{FF2B5EF4-FFF2-40B4-BE49-F238E27FC236}">
                <a16:creationId xmlns:a16="http://schemas.microsoft.com/office/drawing/2014/main" id="{1F9E2D65-128C-4385-8B7C-8E05F24D4326}"/>
              </a:ext>
            </a:extLst>
          </p:cNvPr>
          <p:cNvSpPr txBox="1">
            <a:spLocks noChangeArrowheads="1"/>
          </p:cNvSpPr>
          <p:nvPr/>
        </p:nvSpPr>
        <p:spPr bwMode="auto">
          <a:xfrm>
            <a:off x="5867400" y="47244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99"/>
                </a:solidFill>
              </a:rPr>
              <a:t>-5</a:t>
            </a:r>
          </a:p>
        </p:txBody>
      </p:sp>
      <p:sp>
        <p:nvSpPr>
          <p:cNvPr id="203869" name="Text Box 93">
            <a:extLst>
              <a:ext uri="{FF2B5EF4-FFF2-40B4-BE49-F238E27FC236}">
                <a16:creationId xmlns:a16="http://schemas.microsoft.com/office/drawing/2014/main" id="{C6CAE39B-E7C2-4583-A8CE-F3C39902235C}"/>
              </a:ext>
            </a:extLst>
          </p:cNvPr>
          <p:cNvSpPr txBox="1">
            <a:spLocks noChangeArrowheads="1"/>
          </p:cNvSpPr>
          <p:nvPr/>
        </p:nvSpPr>
        <p:spPr bwMode="auto">
          <a:xfrm>
            <a:off x="3048000" y="47244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99"/>
                </a:solidFill>
              </a:rPr>
              <a:t>+5</a:t>
            </a:r>
          </a:p>
        </p:txBody>
      </p:sp>
      <p:sp>
        <p:nvSpPr>
          <p:cNvPr id="203871" name="Text Box 95">
            <a:extLst>
              <a:ext uri="{FF2B5EF4-FFF2-40B4-BE49-F238E27FC236}">
                <a16:creationId xmlns:a16="http://schemas.microsoft.com/office/drawing/2014/main" id="{28F4CC03-E891-4DCD-BAF3-99A331A82108}"/>
              </a:ext>
            </a:extLst>
          </p:cNvPr>
          <p:cNvSpPr txBox="1">
            <a:spLocks noChangeArrowheads="1"/>
          </p:cNvSpPr>
          <p:nvPr/>
        </p:nvSpPr>
        <p:spPr bwMode="auto">
          <a:xfrm>
            <a:off x="7086600" y="40386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99"/>
                </a:solidFill>
              </a:rPr>
              <a:t>+5</a:t>
            </a:r>
          </a:p>
        </p:txBody>
      </p:sp>
      <p:sp>
        <p:nvSpPr>
          <p:cNvPr id="203872" name="Text Box 96">
            <a:extLst>
              <a:ext uri="{FF2B5EF4-FFF2-40B4-BE49-F238E27FC236}">
                <a16:creationId xmlns:a16="http://schemas.microsoft.com/office/drawing/2014/main" id="{CA5544DB-D3A6-4ABE-9BD1-E42703027BF3}"/>
              </a:ext>
            </a:extLst>
          </p:cNvPr>
          <p:cNvSpPr txBox="1">
            <a:spLocks noChangeArrowheads="1"/>
          </p:cNvSpPr>
          <p:nvPr/>
        </p:nvSpPr>
        <p:spPr bwMode="auto">
          <a:xfrm>
            <a:off x="3200400" y="5334000"/>
            <a:ext cx="60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99"/>
                </a:solidFill>
              </a:rPr>
              <a:t>+5</a:t>
            </a:r>
          </a:p>
        </p:txBody>
      </p:sp>
      <p:grpSp>
        <p:nvGrpSpPr>
          <p:cNvPr id="2" name="组合 29">
            <a:extLst>
              <a:ext uri="{FF2B5EF4-FFF2-40B4-BE49-F238E27FC236}">
                <a16:creationId xmlns:a16="http://schemas.microsoft.com/office/drawing/2014/main" id="{AA48AA79-8858-460B-85DA-47B0A8DFE8CB}"/>
              </a:ext>
            </a:extLst>
          </p:cNvPr>
          <p:cNvGrpSpPr>
            <a:grpSpLocks/>
          </p:cNvGrpSpPr>
          <p:nvPr/>
        </p:nvGrpSpPr>
        <p:grpSpPr bwMode="auto">
          <a:xfrm>
            <a:off x="2895600" y="304800"/>
            <a:ext cx="3962400" cy="3814763"/>
            <a:chOff x="4848894" y="4107238"/>
            <a:chExt cx="2448178" cy="3820026"/>
          </a:xfrm>
        </p:grpSpPr>
        <p:sp>
          <p:nvSpPr>
            <p:cNvPr id="135261" name="右箭头 31">
              <a:extLst>
                <a:ext uri="{FF2B5EF4-FFF2-40B4-BE49-F238E27FC236}">
                  <a16:creationId xmlns:a16="http://schemas.microsoft.com/office/drawing/2014/main" id="{95EAF26A-1202-4021-91A6-DFF38363BDD9}"/>
                </a:ext>
              </a:extLst>
            </p:cNvPr>
            <p:cNvSpPr>
              <a:spLocks noChangeArrowheads="1"/>
            </p:cNvSpPr>
            <p:nvPr/>
          </p:nvSpPr>
          <p:spPr bwMode="auto">
            <a:xfrm rot="5400000">
              <a:off x="4384096" y="6294447"/>
              <a:ext cx="3133382" cy="132251"/>
            </a:xfrm>
            <a:prstGeom prst="rightArrow">
              <a:avLst>
                <a:gd name="adj1" fmla="val 50000"/>
                <a:gd name="adj2" fmla="val 50018"/>
              </a:avLst>
            </a:prstGeom>
            <a:solidFill>
              <a:srgbClr val="FF00FF"/>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anchor="ctr" anchorCtr="1"/>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kumimoji="1" lang="zh-CN" altLang="en-US" sz="1200">
                <a:solidFill>
                  <a:srgbClr val="FF0000"/>
                </a:solidFill>
                <a:latin typeface="Times New Roman" panose="02020603050405020304" pitchFamily="18" charset="0"/>
              </a:endParaRPr>
            </a:p>
          </p:txBody>
        </p:sp>
        <p:sp>
          <p:nvSpPr>
            <p:cNvPr id="135262" name="矩形 30">
              <a:extLst>
                <a:ext uri="{FF2B5EF4-FFF2-40B4-BE49-F238E27FC236}">
                  <a16:creationId xmlns:a16="http://schemas.microsoft.com/office/drawing/2014/main" id="{622E681A-36FA-40AE-8E42-B203D1F96E74}"/>
                </a:ext>
              </a:extLst>
            </p:cNvPr>
            <p:cNvSpPr>
              <a:spLocks noChangeArrowheads="1"/>
            </p:cNvSpPr>
            <p:nvPr/>
          </p:nvSpPr>
          <p:spPr bwMode="auto">
            <a:xfrm>
              <a:off x="4848894" y="4107238"/>
              <a:ext cx="2448178" cy="585495"/>
            </a:xfrm>
            <a:prstGeom prst="rect">
              <a:avLst/>
            </a:prstGeom>
            <a:noFill/>
            <a:ln w="19050">
              <a:solidFill>
                <a:srgbClr val="FF0000"/>
              </a:solidFill>
              <a:prstDash val="sysDash"/>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i="1">
                  <a:solidFill>
                    <a:srgbClr val="FF0000"/>
                  </a:solidFill>
                  <a:latin typeface="Times New Roman" panose="02020603050405020304" pitchFamily="18" charset="0"/>
                  <a:cs typeface="Times New Roman" panose="02020603050405020304" pitchFamily="18" charset="0"/>
                </a:rPr>
                <a:t>原运价</a:t>
              </a:r>
              <a:r>
                <a:rPr lang="en-US" altLang="zh-CN" sz="1600" b="1" i="1">
                  <a:solidFill>
                    <a:srgbClr val="FF0000"/>
                  </a:solidFill>
                  <a:latin typeface="Times New Roman" panose="02020603050405020304" pitchFamily="18" charset="0"/>
                  <a:cs typeface="Times New Roman" panose="02020603050405020304" pitchFamily="18" charset="0"/>
                </a:rPr>
                <a:t>: 0×5+6×5+5×10+10×4=120</a:t>
              </a:r>
            </a:p>
            <a:p>
              <a:pPr eaLnBrk="1" hangingPunct="1"/>
              <a:r>
                <a:rPr lang="zh-CN" altLang="en-US" sz="1600" b="1" i="1">
                  <a:solidFill>
                    <a:srgbClr val="FF0000"/>
                  </a:solidFill>
                  <a:latin typeface="Times New Roman" panose="02020603050405020304" pitchFamily="18" charset="0"/>
                  <a:cs typeface="Times New Roman" panose="02020603050405020304" pitchFamily="18" charset="0"/>
                </a:rPr>
                <a:t>现运价</a:t>
              </a:r>
              <a:r>
                <a:rPr lang="en-US" altLang="zh-CN" sz="1600" b="1" i="1">
                  <a:solidFill>
                    <a:srgbClr val="FF0000"/>
                  </a:solidFill>
                  <a:latin typeface="Times New Roman" panose="02020603050405020304" pitchFamily="18" charset="0"/>
                  <a:cs typeface="Times New Roman" panose="02020603050405020304" pitchFamily="18" charset="0"/>
                </a:rPr>
                <a:t>:0×5+11×5+0×10+15×4=115</a:t>
              </a:r>
              <a:endParaRPr lang="zh-CN" altLang="en-US" sz="1600" b="1" i="1" baseline="30000">
                <a:solidFill>
                  <a:srgbClr val="FF0000"/>
                </a:solidFill>
                <a:latin typeface="Times New Roman" panose="02020603050405020304" pitchFamily="18" charset="0"/>
                <a:cs typeface="Times New Roman" panose="02020603050405020304"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387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386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0386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0386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03869"/>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387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3" presetClass="entr" presetSubtype="1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blinds(horizontal)">
                                      <p:cBhvr>
                                        <p:cTn id="3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866" grpId="0" animBg="1"/>
      <p:bldP spid="203867" grpId="0"/>
      <p:bldP spid="203868" grpId="0"/>
      <p:bldP spid="203869" grpId="0"/>
      <p:bldP spid="203871" grpId="0"/>
      <p:bldP spid="203872"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a:extLst>
              <a:ext uri="{FF2B5EF4-FFF2-40B4-BE49-F238E27FC236}">
                <a16:creationId xmlns:a16="http://schemas.microsoft.com/office/drawing/2014/main" id="{1992E221-E61D-4B41-9150-871F76D6B0FF}"/>
              </a:ext>
            </a:extLst>
          </p:cNvPr>
          <p:cNvSpPr>
            <a:spLocks noGrp="1" noChangeArrowheads="1"/>
          </p:cNvSpPr>
          <p:nvPr>
            <p:ph type="title"/>
          </p:nvPr>
        </p:nvSpPr>
        <p:spPr/>
        <p:txBody>
          <a:bodyPr/>
          <a:lstStyle/>
          <a:p>
            <a:pPr eaLnBrk="1" hangingPunct="1"/>
            <a:r>
              <a:rPr lang="zh-CN" altLang="en-US"/>
              <a:t>运输悖论</a:t>
            </a:r>
          </a:p>
        </p:txBody>
      </p:sp>
      <p:sp>
        <p:nvSpPr>
          <p:cNvPr id="136195" name="文本占位符 18">
            <a:extLst>
              <a:ext uri="{FF2B5EF4-FFF2-40B4-BE49-F238E27FC236}">
                <a16:creationId xmlns:a16="http://schemas.microsoft.com/office/drawing/2014/main" id="{5FF16315-43D1-453E-9095-1A50136B13D5}"/>
              </a:ext>
            </a:extLst>
          </p:cNvPr>
          <p:cNvSpPr>
            <a:spLocks noGrp="1" noChangeArrowheads="1"/>
          </p:cNvSpPr>
          <p:nvPr>
            <p:ph type="body" sz="half" idx="1"/>
          </p:nvPr>
        </p:nvSpPr>
        <p:spPr>
          <a:xfrm>
            <a:off x="457200" y="990600"/>
            <a:ext cx="8458200" cy="5410200"/>
          </a:xfrm>
        </p:spPr>
        <p:txBody>
          <a:bodyPr/>
          <a:lstStyle/>
          <a:p>
            <a:r>
              <a:rPr lang="en-US" altLang="zh-CN" sz="2400"/>
              <a:t>1982 </a:t>
            </a:r>
            <a:r>
              <a:rPr lang="zh-CN" altLang="en-US" sz="2400"/>
              <a:t>年周奇在</a:t>
            </a:r>
            <a:r>
              <a:rPr lang="en-US" altLang="zh-CN" sz="2400"/>
              <a:t>《</a:t>
            </a:r>
            <a:r>
              <a:rPr lang="zh-CN" altLang="en-US" sz="2400"/>
              <a:t>运筹学杂志</a:t>
            </a:r>
            <a:r>
              <a:rPr lang="en-US" altLang="zh-CN" sz="2400"/>
              <a:t>》</a:t>
            </a:r>
            <a:r>
              <a:rPr lang="zh-CN" altLang="en-US" sz="2400"/>
              <a:t>上刊登了“运输问题悖论”一文</a:t>
            </a:r>
            <a:r>
              <a:rPr lang="en-US" altLang="zh-CN" sz="2400"/>
              <a:t>, </a:t>
            </a:r>
            <a:r>
              <a:rPr lang="zh-CN" altLang="en-US" sz="2400"/>
              <a:t>对运输问题悖论做了初步界定。认为运输问题悖论是指供销平衡的情况下</a:t>
            </a:r>
            <a:r>
              <a:rPr lang="en-US" altLang="zh-CN" sz="2400"/>
              <a:t>, </a:t>
            </a:r>
            <a:r>
              <a:rPr lang="zh-CN" altLang="en-US" sz="2400"/>
              <a:t>在多个供应地多个需求地之间进行货物的调配</a:t>
            </a:r>
            <a:r>
              <a:rPr lang="en-US" altLang="zh-CN" sz="2400"/>
              <a:t>, </a:t>
            </a:r>
            <a:r>
              <a:rPr lang="zh-CN" altLang="en-US" sz="2400"/>
              <a:t>已经运用表上作业法得到了最优的运输方案</a:t>
            </a:r>
            <a:r>
              <a:rPr lang="en-US" altLang="zh-CN" sz="2400"/>
              <a:t>, </a:t>
            </a:r>
            <a:r>
              <a:rPr lang="zh-CN" altLang="en-US" sz="2400"/>
              <a:t>但是在其中某一个供应地增加产出量</a:t>
            </a:r>
            <a:r>
              <a:rPr lang="en-US" altLang="zh-CN" sz="2400"/>
              <a:t>, </a:t>
            </a:r>
            <a:r>
              <a:rPr lang="zh-CN" altLang="en-US" sz="2400"/>
              <a:t>同时在某一个需求地增加需求量</a:t>
            </a:r>
            <a:r>
              <a:rPr lang="en-US" altLang="zh-CN" sz="2400"/>
              <a:t>, </a:t>
            </a:r>
            <a:r>
              <a:rPr lang="zh-CN" altLang="en-US" sz="2400"/>
              <a:t>而各条路线的运费不变</a:t>
            </a:r>
            <a:r>
              <a:rPr lang="en-US" altLang="zh-CN" sz="2400"/>
              <a:t>,</a:t>
            </a:r>
            <a:r>
              <a:rPr lang="zh-CN" altLang="en-US" sz="2400"/>
              <a:t>其他供应地的供应量和需求地的需求量也不变时</a:t>
            </a:r>
            <a:r>
              <a:rPr lang="en-US" altLang="zh-CN" sz="2400"/>
              <a:t>, </a:t>
            </a:r>
            <a:r>
              <a:rPr lang="zh-CN" altLang="en-US" sz="2400"/>
              <a:t>会出现总运量增加</a:t>
            </a:r>
            <a:r>
              <a:rPr lang="en-US" altLang="zh-CN" sz="2400"/>
              <a:t>, </a:t>
            </a:r>
            <a:r>
              <a:rPr lang="zh-CN" altLang="en-US" sz="2400"/>
              <a:t>总运费却减少的情况。但是</a:t>
            </a:r>
            <a:r>
              <a:rPr lang="en-US" altLang="zh-CN" sz="2400"/>
              <a:t>, </a:t>
            </a:r>
            <a:r>
              <a:rPr lang="zh-CN" altLang="en-US" sz="2400"/>
              <a:t>周奇并没有进一步探究运输问题悖论产生的条件以及其中隐含的规律。</a:t>
            </a:r>
          </a:p>
          <a:p>
            <a:r>
              <a:rPr lang="en-US" altLang="zh-CN" sz="2400"/>
              <a:t>1984 </a:t>
            </a:r>
            <a:r>
              <a:rPr lang="zh-CN" altLang="en-US" sz="2400"/>
              <a:t>年</a:t>
            </a:r>
            <a:r>
              <a:rPr lang="en-US" altLang="zh-CN" sz="2400"/>
              <a:t>, </a:t>
            </a:r>
            <a:r>
              <a:rPr lang="zh-CN" altLang="en-US" sz="2400"/>
              <a:t>林耘首先在</a:t>
            </a:r>
            <a:r>
              <a:rPr lang="en-US" altLang="zh-CN" sz="2400"/>
              <a:t>《</a:t>
            </a:r>
            <a:r>
              <a:rPr lang="zh-CN" altLang="en-US" sz="2400"/>
              <a:t>运筹学杂志</a:t>
            </a:r>
            <a:r>
              <a:rPr lang="en-US" altLang="zh-CN" sz="2400"/>
              <a:t>》</a:t>
            </a:r>
            <a:r>
              <a:rPr lang="zh-CN" altLang="en-US" sz="2400"/>
              <a:t>发表的“谈运输问题‘悖论’产生的条件”一文中认为运输问题悖论产生是因为存在“负费用路”。他依据表上作业法</a:t>
            </a:r>
            <a:r>
              <a:rPr lang="en-US" altLang="zh-CN" sz="2400"/>
              <a:t>, </a:t>
            </a:r>
            <a:r>
              <a:rPr lang="zh-CN" altLang="en-US" sz="2400"/>
              <a:t>利用位势和对偶关系</a:t>
            </a:r>
            <a:r>
              <a:rPr lang="en-US" altLang="zh-CN" sz="2400"/>
              <a:t>, </a:t>
            </a:r>
            <a:r>
              <a:rPr lang="zh-CN" altLang="en-US" sz="2400"/>
              <a:t>给出在非退化情形</a:t>
            </a:r>
            <a:r>
              <a:rPr lang="en-US" altLang="zh-CN" sz="2400"/>
              <a:t>, </a:t>
            </a:r>
            <a:r>
              <a:rPr lang="zh-CN" altLang="en-US" sz="2400"/>
              <a:t>产生悖论的充要条件是存在负费用路并推广到一般线性规划悖论。</a:t>
            </a:r>
          </a:p>
        </p:txBody>
      </p:sp>
    </p:spTree>
  </p:cSld>
  <p:clrMapOvr>
    <a:masterClrMapping/>
  </p:clrMapOvr>
</p:sld>
</file>

<file path=ppt/theme/theme1.xml><?xml version="1.0" encoding="utf-8"?>
<a:theme xmlns:a="http://schemas.openxmlformats.org/drawingml/2006/main" name="绪论">
  <a:themeElements>
    <a:clrScheme name="绪论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绪论">
      <a:majorFont>
        <a:latin typeface="Garamond"/>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绪论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绪论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绪论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绪论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绪论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绪论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绪论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绪论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绪论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绪论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themeOverride>
</file>

<file path=docProps/app.xml><?xml version="1.0" encoding="utf-8"?>
<Properties xmlns="http://schemas.openxmlformats.org/officeDocument/2006/extended-properties" xmlns:vt="http://schemas.openxmlformats.org/officeDocument/2006/docPropsVTypes">
  <Template/>
  <TotalTime/>
  <Words>10622</Words>
  <Application>Microsoft Office PowerPoint</Application>
  <PresentationFormat>全屏显示(4:3)</PresentationFormat>
  <Paragraphs>3436</Paragraphs>
  <Slides>122</Slides>
  <Notes>8</Notes>
  <HiddenSlides>0</HiddenSlides>
  <MMClips>0</MMClips>
  <ScaleCrop>false</ScaleCrop>
  <HeadingPairs>
    <vt:vector size="8" baseType="variant">
      <vt:variant>
        <vt:lpstr>已用的字体</vt:lpstr>
      </vt:variant>
      <vt:variant>
        <vt:i4>13</vt:i4>
      </vt:variant>
      <vt:variant>
        <vt:lpstr>主题</vt:lpstr>
      </vt:variant>
      <vt:variant>
        <vt:i4>1</vt:i4>
      </vt:variant>
      <vt:variant>
        <vt:lpstr>嵌入 OLE 服务器</vt:lpstr>
      </vt:variant>
      <vt:variant>
        <vt:i4>4</vt:i4>
      </vt:variant>
      <vt:variant>
        <vt:lpstr>幻灯片标题</vt:lpstr>
      </vt:variant>
      <vt:variant>
        <vt:i4>122</vt:i4>
      </vt:variant>
    </vt:vector>
  </HeadingPairs>
  <TitlesOfParts>
    <vt:vector size="140" baseType="lpstr">
      <vt:lpstr>PMingLiU</vt:lpstr>
      <vt:lpstr>System</vt:lpstr>
      <vt:lpstr>黑体</vt:lpstr>
      <vt:lpstr>华文细黑</vt:lpstr>
      <vt:lpstr>楷体_GB2312</vt:lpstr>
      <vt:lpstr>宋体</vt:lpstr>
      <vt:lpstr>Arial</vt:lpstr>
      <vt:lpstr>Calibri</vt:lpstr>
      <vt:lpstr>Courier New</vt:lpstr>
      <vt:lpstr>Garamond</vt:lpstr>
      <vt:lpstr>Symbol</vt:lpstr>
      <vt:lpstr>Times New Roman</vt:lpstr>
      <vt:lpstr>Wingdings</vt:lpstr>
      <vt:lpstr>绪论</vt:lpstr>
      <vt:lpstr>Document</vt:lpstr>
      <vt:lpstr>Equation</vt:lpstr>
      <vt:lpstr>公式</vt:lpstr>
      <vt:lpstr>图片</vt:lpstr>
      <vt:lpstr> 运 筹 学</vt:lpstr>
      <vt:lpstr>第四章</vt:lpstr>
      <vt:lpstr>本章学习要求</vt:lpstr>
      <vt:lpstr>第四章之第一节</vt:lpstr>
      <vt:lpstr>运输问题的引例</vt:lpstr>
      <vt:lpstr>线性规划模型</vt:lpstr>
      <vt:lpstr>运输问题系数矩阵</vt:lpstr>
      <vt:lpstr>典型问题描述</vt:lpstr>
      <vt:lpstr>网络图</vt:lpstr>
      <vt:lpstr>运输表</vt:lpstr>
      <vt:lpstr>产销平衡下的数学模型</vt:lpstr>
      <vt:lpstr>PowerPoint 演示文稿</vt:lpstr>
      <vt:lpstr>PowerPoint 演示文稿</vt:lpstr>
      <vt:lpstr>系数矩阵P (Pij)</vt:lpstr>
      <vt:lpstr>基在运输表中的表示</vt:lpstr>
      <vt:lpstr>非基变量的表示</vt:lpstr>
      <vt:lpstr>闭回路的概念</vt:lpstr>
      <vt:lpstr>闭回路的特征</vt:lpstr>
      <vt:lpstr>第三章之第二节</vt:lpstr>
      <vt:lpstr>表上作业法过程</vt:lpstr>
      <vt:lpstr>单纯形法计算步骤</vt:lpstr>
      <vt:lpstr>PowerPoint 演示文稿</vt:lpstr>
      <vt:lpstr>PowerPoint 演示文稿</vt:lpstr>
      <vt:lpstr>PowerPoint 演示文稿</vt:lpstr>
      <vt:lpstr>PowerPoint 演示文稿</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确定初始基可行解</vt:lpstr>
      <vt:lpstr>最小元素法VS参考目标</vt:lpstr>
      <vt:lpstr>遗憾的是：还没有得到最优结果</vt:lpstr>
      <vt:lpstr>最小元素法的缺点</vt:lpstr>
      <vt:lpstr>最小元素法的缺点</vt:lpstr>
      <vt:lpstr>伏格尔法（Vogel法）</vt:lpstr>
      <vt:lpstr>伏格尔法（Vogel法）</vt:lpstr>
      <vt:lpstr>伏格尔法</vt:lpstr>
      <vt:lpstr>伏格尔法</vt:lpstr>
      <vt:lpstr>伏格尔法</vt:lpstr>
      <vt:lpstr>伏格尔法</vt:lpstr>
      <vt:lpstr>伏格尔法</vt:lpstr>
      <vt:lpstr>伏格尔法VS 最小元素法</vt:lpstr>
      <vt:lpstr>思考题</vt:lpstr>
      <vt:lpstr>伏格尔法</vt:lpstr>
      <vt:lpstr>伏格尔法</vt:lpstr>
      <vt:lpstr>伏格尔法</vt:lpstr>
      <vt:lpstr>让最小元素法不再遗憾</vt:lpstr>
      <vt:lpstr>最小元素法VS参考目标</vt:lpstr>
      <vt:lpstr>最优解判断</vt:lpstr>
      <vt:lpstr>为什么闭回路存在且唯一？</vt:lpstr>
      <vt:lpstr>为什么闭回路存在且唯一？</vt:lpstr>
      <vt:lpstr>闭回路存在且唯一为什么重要？</vt:lpstr>
      <vt:lpstr>闭回路法</vt:lpstr>
      <vt:lpstr>闭回路法</vt:lpstr>
      <vt:lpstr>闭回路法(与什么游戏很像？)</vt:lpstr>
      <vt:lpstr>闭回路法的不足（最优解判断）</vt:lpstr>
      <vt:lpstr>系数矩阵P (Pij)</vt:lpstr>
      <vt:lpstr>位势法(对偶变量法)</vt:lpstr>
      <vt:lpstr>位势法解释(对偶形式)</vt:lpstr>
      <vt:lpstr>对偶问题</vt:lpstr>
      <vt:lpstr>位势法解释</vt:lpstr>
      <vt:lpstr>位势法解释</vt:lpstr>
      <vt:lpstr>PowerPoint 演示文稿</vt:lpstr>
      <vt:lpstr>为什么称为位势？（个人见解）</vt:lpstr>
      <vt:lpstr>解的改进—闭回路调整法</vt:lpstr>
      <vt:lpstr>例子-位势法和闭回路法</vt:lpstr>
      <vt:lpstr>例子-位势法和闭回路法</vt:lpstr>
      <vt:lpstr>例子-位势法和闭回路法</vt:lpstr>
      <vt:lpstr>解的改进-闭回路法</vt:lpstr>
      <vt:lpstr>表上作业法</vt:lpstr>
      <vt:lpstr>解的改进-闭回路法</vt:lpstr>
      <vt:lpstr>闭回路调整法</vt:lpstr>
      <vt:lpstr>闭回路调整法</vt:lpstr>
      <vt:lpstr>让最小元素法不再遗憾</vt:lpstr>
      <vt:lpstr>表上作业法计算步骤</vt:lpstr>
      <vt:lpstr>表上作业法计算中的问题说明</vt:lpstr>
      <vt:lpstr>表上作业法计算中的问题说明</vt:lpstr>
      <vt:lpstr>表上作业法计算中的问题说明</vt:lpstr>
      <vt:lpstr>表上作业法计算中的问题说明</vt:lpstr>
      <vt:lpstr>表上作业法VS单纯形法</vt:lpstr>
      <vt:lpstr>第 3 节 </vt:lpstr>
      <vt:lpstr>产销不平衡处理思路</vt:lpstr>
      <vt:lpstr>产销平衡</vt:lpstr>
      <vt:lpstr>产大于销</vt:lpstr>
      <vt:lpstr>产大于销</vt:lpstr>
      <vt:lpstr>产大于销</vt:lpstr>
      <vt:lpstr>销大于产</vt:lpstr>
      <vt:lpstr>销大于产</vt:lpstr>
      <vt:lpstr>销大于产</vt:lpstr>
      <vt:lpstr>例子</vt:lpstr>
      <vt:lpstr>例子</vt:lpstr>
      <vt:lpstr>例子</vt:lpstr>
      <vt:lpstr>例子</vt:lpstr>
      <vt:lpstr>例子</vt:lpstr>
      <vt:lpstr>例子</vt:lpstr>
      <vt:lpstr>例子</vt:lpstr>
      <vt:lpstr>第 4 节 </vt:lpstr>
      <vt:lpstr>生产与储存问题</vt:lpstr>
      <vt:lpstr>生产与储存问题</vt:lpstr>
      <vt:lpstr>生产与储存问题</vt:lpstr>
      <vt:lpstr>生产与储存问题</vt:lpstr>
      <vt:lpstr>生产与储存问题</vt:lpstr>
      <vt:lpstr>Lingo解决生产与储存问题</vt:lpstr>
      <vt:lpstr>Lingo解决生产与储存问题</vt:lpstr>
      <vt:lpstr>本章小结</vt:lpstr>
      <vt:lpstr>课后练习题（运筹学第4版）</vt:lpstr>
      <vt:lpstr>课后练习题  4.3</vt:lpstr>
      <vt:lpstr>参考文献</vt:lpstr>
      <vt:lpstr>转运问题</vt:lpstr>
      <vt:lpstr>转运问题</vt:lpstr>
      <vt:lpstr>转运问题</vt:lpstr>
      <vt:lpstr>转运问题</vt:lpstr>
      <vt:lpstr>运输悖论</vt:lpstr>
      <vt:lpstr>运输悖论</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dc:title>PowerPoint Presentation</dc:title>
  <cp:revision>1102</cp:revision>
</cp:coreProperties>
</file>

<file path=docProps/custom.xml><?xml version="1.0" encoding="utf-8"?>
<Properties xmlns="http://schemas.openxmlformats.org/officeDocument/2006/custom-properties"/>
</file>