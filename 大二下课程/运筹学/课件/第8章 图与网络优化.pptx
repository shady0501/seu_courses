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91"/>
  </p:notesMasterIdLst>
  <p:sldIdLst>
    <p:sldId id="280" r:id="rId2"/>
    <p:sldId id="256" r:id="rId3"/>
    <p:sldId id="281" r:id="rId4"/>
    <p:sldId id="362" r:id="rId5"/>
    <p:sldId id="282" r:id="rId6"/>
    <p:sldId id="283" r:id="rId7"/>
    <p:sldId id="358" r:id="rId8"/>
    <p:sldId id="284" r:id="rId9"/>
    <p:sldId id="364" r:id="rId10"/>
    <p:sldId id="285" r:id="rId11"/>
    <p:sldId id="286" r:id="rId12"/>
    <p:sldId id="287" r:id="rId13"/>
    <p:sldId id="350" r:id="rId14"/>
    <p:sldId id="351" r:id="rId15"/>
    <p:sldId id="357" r:id="rId16"/>
    <p:sldId id="352" r:id="rId17"/>
    <p:sldId id="353" r:id="rId18"/>
    <p:sldId id="354" r:id="rId19"/>
    <p:sldId id="355" r:id="rId20"/>
    <p:sldId id="356" r:id="rId21"/>
    <p:sldId id="288" r:id="rId22"/>
    <p:sldId id="289" r:id="rId23"/>
    <p:sldId id="305" r:id="rId24"/>
    <p:sldId id="306" r:id="rId25"/>
    <p:sldId id="307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59" r:id="rId41"/>
    <p:sldId id="365" r:id="rId42"/>
    <p:sldId id="366" r:id="rId43"/>
    <p:sldId id="367" r:id="rId44"/>
    <p:sldId id="360" r:id="rId45"/>
    <p:sldId id="308" r:id="rId46"/>
    <p:sldId id="309" r:id="rId47"/>
    <p:sldId id="369" r:id="rId48"/>
    <p:sldId id="368" r:id="rId49"/>
    <p:sldId id="310" r:id="rId50"/>
    <p:sldId id="311" r:id="rId51"/>
    <p:sldId id="312" r:id="rId52"/>
    <p:sldId id="316" r:id="rId53"/>
    <p:sldId id="317" r:id="rId54"/>
    <p:sldId id="374" r:id="rId55"/>
    <p:sldId id="373" r:id="rId56"/>
    <p:sldId id="375" r:id="rId57"/>
    <p:sldId id="372" r:id="rId58"/>
    <p:sldId id="370" r:id="rId59"/>
    <p:sldId id="376" r:id="rId60"/>
    <p:sldId id="315" r:id="rId61"/>
    <p:sldId id="314" r:id="rId62"/>
    <p:sldId id="333" r:id="rId63"/>
    <p:sldId id="363" r:id="rId64"/>
    <p:sldId id="318" r:id="rId65"/>
    <p:sldId id="361" r:id="rId66"/>
    <p:sldId id="319" r:id="rId67"/>
    <p:sldId id="320" r:id="rId68"/>
    <p:sldId id="321" r:id="rId69"/>
    <p:sldId id="322" r:id="rId70"/>
    <p:sldId id="323" r:id="rId71"/>
    <p:sldId id="325" r:id="rId72"/>
    <p:sldId id="327" r:id="rId73"/>
    <p:sldId id="326" r:id="rId74"/>
    <p:sldId id="377" r:id="rId75"/>
    <p:sldId id="379" r:id="rId76"/>
    <p:sldId id="378" r:id="rId77"/>
    <p:sldId id="380" r:id="rId78"/>
    <p:sldId id="328" r:id="rId79"/>
    <p:sldId id="329" r:id="rId80"/>
    <p:sldId id="330" r:id="rId81"/>
    <p:sldId id="348" r:id="rId82"/>
    <p:sldId id="331" r:id="rId83"/>
    <p:sldId id="332" r:id="rId84"/>
    <p:sldId id="334" r:id="rId85"/>
    <p:sldId id="335" r:id="rId86"/>
    <p:sldId id="336" r:id="rId87"/>
    <p:sldId id="337" r:id="rId88"/>
    <p:sldId id="338" r:id="rId89"/>
    <p:sldId id="339" r:id="rId9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9DA"/>
    <a:srgbClr val="000080"/>
    <a:srgbClr val="6C04AC"/>
    <a:srgbClr val="6699FF"/>
    <a:srgbClr val="000099"/>
    <a:srgbClr val="FF3300"/>
    <a:srgbClr val="FFFF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5073" autoAdjust="0"/>
  </p:normalViewPr>
  <p:slideViewPr>
    <p:cSldViewPr>
      <p:cViewPr varScale="1">
        <p:scale>
          <a:sx n="59" d="100"/>
          <a:sy n="59" d="100"/>
        </p:scale>
        <p:origin x="1947" y="45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D6047AC-039A-4E86-8307-EEF9DE47B9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07E02C-F9C2-4302-A443-B920E9F1D4F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1200"/>
            </a:lvl1pPr>
          </a:lstStyle>
          <a:p>
            <a:pPr>
              <a:defRPr/>
            </a:pPr>
            <a:fld id="{C5A82262-D7A7-4642-AD68-167709399FF9}" type="datetimeFigureOut">
              <a:rPr lang="zh-CN" altLang="en-US"/>
              <a:pPr>
                <a:defRPr/>
              </a:pPr>
              <a:t>2023/5/24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F5A5E96-3D2F-4B84-B2F3-EFB9AC4905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4FE13954-4D64-4FED-9C25-07A64A6D5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EF2193-DCC2-47BD-B1D9-906F074FF39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C078E4-AEB8-49BE-A2F8-819124477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1200"/>
            </a:lvl1pPr>
          </a:lstStyle>
          <a:p>
            <a:pPr>
              <a:defRPr/>
            </a:pPr>
            <a:fld id="{D6FD86F9-DE7A-4726-A8BE-75264D4F827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有四个奇点。我们先连接</a:t>
            </a:r>
            <a:r>
              <a:rPr lang="en-US" altLang="zh-CN" dirty="0"/>
              <a:t>v2 v3</a:t>
            </a:r>
            <a:r>
              <a:rPr lang="zh-CN" altLang="en-US" dirty="0"/>
              <a:t>，</a:t>
            </a:r>
            <a:r>
              <a:rPr lang="en-US" altLang="zh-CN" dirty="0"/>
              <a:t>v3 v4</a:t>
            </a:r>
            <a:r>
              <a:rPr lang="zh-CN" altLang="en-US" dirty="0"/>
              <a:t>。我们连接</a:t>
            </a:r>
            <a:r>
              <a:rPr lang="en-US" altLang="zh-CN" dirty="0"/>
              <a:t>v6 v5 </a:t>
            </a:r>
            <a:r>
              <a:rPr lang="en-US" altLang="zh-CN" dirty="0" err="1"/>
              <a:t>v5</a:t>
            </a:r>
            <a:r>
              <a:rPr lang="en-US" altLang="zh-CN" dirty="0"/>
              <a:t> v4 </a:t>
            </a:r>
            <a:r>
              <a:rPr lang="en-US" altLang="zh-CN" dirty="0" err="1"/>
              <a:t>v4</a:t>
            </a:r>
            <a:r>
              <a:rPr lang="zh-CN" altLang="en-US" dirty="0"/>
              <a:t>变成奇点了，所以</a:t>
            </a:r>
            <a:r>
              <a:rPr lang="en-US" altLang="zh-CN" dirty="0"/>
              <a:t>v4 v3 </a:t>
            </a:r>
            <a:r>
              <a:rPr lang="en-US" altLang="zh-CN" dirty="0" err="1"/>
              <a:t>v3</a:t>
            </a:r>
            <a:r>
              <a:rPr lang="en-US" altLang="zh-CN" dirty="0"/>
              <a:t> v2 </a:t>
            </a:r>
            <a:r>
              <a:rPr lang="en-US" altLang="zh-CN" dirty="0" err="1"/>
              <a:t>v2</a:t>
            </a:r>
            <a:r>
              <a:rPr lang="en-US" altLang="zh-CN" dirty="0"/>
              <a:t> v1 </a:t>
            </a:r>
            <a:r>
              <a:rPr lang="en-US" altLang="zh-CN" dirty="0" err="1"/>
              <a:t>v1</a:t>
            </a:r>
            <a:r>
              <a:rPr lang="en-US" altLang="zh-CN" dirty="0"/>
              <a:t> v8.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034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我们从起点</a:t>
            </a:r>
            <a:r>
              <a:rPr lang="en-US" altLang="zh-CN" dirty="0"/>
              <a:t>v1</a:t>
            </a:r>
            <a:r>
              <a:rPr lang="zh-CN" altLang="en-US" dirty="0"/>
              <a:t>，逐步给每个结点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j</a:t>
            </a:r>
            <a:r>
              <a:rPr lang="zh-CN" altLang="en-US" dirty="0"/>
              <a:t>标号</a:t>
            </a:r>
            <a:r>
              <a:rPr lang="en-US" altLang="zh-CN" dirty="0"/>
              <a:t>[</a:t>
            </a:r>
            <a:r>
              <a:rPr lang="en-US" altLang="zh-CN" dirty="0" err="1"/>
              <a:t>d</a:t>
            </a:r>
            <a:r>
              <a:rPr lang="en-US" altLang="zh-CN" baseline="-25000" dirty="0" err="1"/>
              <a:t>j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en-US" altLang="zh-CN" baseline="-25000" dirty="0"/>
              <a:t>i</a:t>
            </a:r>
            <a:r>
              <a:rPr lang="en-US" altLang="zh-CN" dirty="0"/>
              <a:t>]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302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现在只有</a:t>
                </a:r>
                <a:r>
                  <a:rPr lang="en-US" altLang="zh-CN" dirty="0"/>
                  <a:t>v1</a:t>
                </a:r>
                <a:r>
                  <a:rPr lang="zh-CN" altLang="en-US" dirty="0"/>
                  <a:t>已经标号</a:t>
                </a:r>
                <a:r>
                  <a:rPr lang="en-US" altLang="zh-CN" dirty="0"/>
                  <a:t>,v1</a:t>
                </a:r>
                <a:r>
                  <a:rPr lang="zh-CN" altLang="en-US" dirty="0"/>
                  <a:t>通过有向弧连接的是</a:t>
                </a:r>
                <a:r>
                  <a:rPr lang="en-US" altLang="zh-CN" dirty="0"/>
                  <a:t>v2 v3 v4. </a:t>
                </a:r>
                <a:r>
                  <a:rPr lang="zh-CN" altLang="en-US" dirty="0"/>
                  <a:t>我们来比较</a:t>
                </a:r>
                <a:r>
                  <a:rPr lang="en-US" altLang="zh-CN" dirty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𝟏𝟒</m:t>
                        </m:r>
                      </m:sub>
                    </m:sSub>
                  </m:oMath>
                </a14:m>
                <a:r>
                  <a:rPr lang="en-US" altLang="zh-CN" dirty="0"/>
                  <a:t>}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d1=0 c14</a:t>
                </a:r>
                <a:r>
                  <a:rPr lang="zh-CN" altLang="en-US" dirty="0"/>
                  <a:t>最小，所以</a:t>
                </a:r>
                <a:r>
                  <a:rPr lang="en-US" altLang="zh-CN" dirty="0"/>
                  <a:t>V4</a:t>
                </a:r>
                <a:r>
                  <a:rPr lang="zh-CN" altLang="en-US" dirty="0"/>
                  <a:t>标上号</a:t>
                </a:r>
                <a:r>
                  <a:rPr lang="en-US" altLang="zh-CN" dirty="0"/>
                  <a:t>[1 V1].V1</a:t>
                </a:r>
                <a:r>
                  <a:rPr lang="zh-CN" altLang="en-US" dirty="0"/>
                  <a:t>代表最优路径前一节点为</a:t>
                </a:r>
                <a:r>
                  <a:rPr lang="en-US" altLang="zh-CN" dirty="0"/>
                  <a:t>v1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现在只有</a:t>
                </a:r>
                <a:r>
                  <a:rPr lang="en-US" altLang="zh-CN" dirty="0"/>
                  <a:t>v1</a:t>
                </a:r>
                <a:r>
                  <a:rPr lang="zh-CN" altLang="en-US" dirty="0"/>
                  <a:t>已经标号</a:t>
                </a:r>
                <a:r>
                  <a:rPr lang="en-US" altLang="zh-CN" dirty="0"/>
                  <a:t>,v1</a:t>
                </a:r>
                <a:r>
                  <a:rPr lang="zh-CN" altLang="en-US" dirty="0"/>
                  <a:t>通过有向弧连接的是</a:t>
                </a:r>
                <a:r>
                  <a:rPr lang="en-US" altLang="zh-CN" dirty="0"/>
                  <a:t>v2 v3 v4. </a:t>
                </a:r>
                <a:r>
                  <a:rPr lang="zh-CN" altLang="en-US" dirty="0"/>
                  <a:t>我们来比较</a:t>
                </a:r>
                <a:r>
                  <a:rPr lang="en-US" altLang="zh-CN" dirty="0"/>
                  <a:t>{</a:t>
                </a:r>
                <a:r>
                  <a:rPr lang="en-US" altLang="zh-CN" b="1" i="0">
                    <a:latin typeface="Cambria Math" panose="02040503050406030204" pitchFamily="18" charset="0"/>
                  </a:rPr>
                  <a:t>𝒅_𝟏+𝒄_𝟏𝟐,</a:t>
                </a:r>
                <a:r>
                  <a:rPr lang="en-US" altLang="zh-CN" i="0">
                    <a:latin typeface="Cambria Math" panose="02040503050406030204" pitchFamily="18" charset="0"/>
                  </a:rPr>
                  <a:t>𝒅_𝟏+𝒄_𝟏</a:t>
                </a:r>
                <a:r>
                  <a:rPr lang="en-US" altLang="zh-CN" b="1" i="0">
                    <a:latin typeface="Cambria Math" panose="02040503050406030204" pitchFamily="18" charset="0"/>
                  </a:rPr>
                  <a:t>𝟑,</a:t>
                </a:r>
                <a:r>
                  <a:rPr lang="en-US" altLang="zh-CN" i="0">
                    <a:latin typeface="Cambria Math" panose="02040503050406030204" pitchFamily="18" charset="0"/>
                  </a:rPr>
                  <a:t>𝒅_𝟏+</a:t>
                </a:r>
                <a:r>
                  <a:rPr lang="en-US" altLang="zh-CN" b="1" i="0">
                    <a:latin typeface="Cambria Math" panose="02040503050406030204" pitchFamily="18" charset="0"/>
                  </a:rPr>
                  <a:t>𝒄_𝟏𝟒</a:t>
                </a:r>
                <a:r>
                  <a:rPr lang="en-US" altLang="zh-CN" dirty="0"/>
                  <a:t>}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d1=0 c14</a:t>
                </a:r>
                <a:r>
                  <a:rPr lang="zh-CN" altLang="en-US" dirty="0"/>
                  <a:t>最小，所以</a:t>
                </a:r>
                <a:r>
                  <a:rPr lang="en-US" altLang="zh-CN" dirty="0"/>
                  <a:t>V4</a:t>
                </a:r>
                <a:r>
                  <a:rPr lang="zh-CN" altLang="en-US" dirty="0"/>
                  <a:t>标上号</a:t>
                </a:r>
                <a:r>
                  <a:rPr lang="en-US" altLang="zh-CN" dirty="0"/>
                  <a:t>[1 V1].V1</a:t>
                </a:r>
                <a:r>
                  <a:rPr lang="zh-CN" altLang="en-US" dirty="0"/>
                  <a:t>代表最优路径前一节点为</a:t>
                </a:r>
                <a:r>
                  <a:rPr lang="en-US" altLang="zh-CN" dirty="0"/>
                  <a:t>v1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15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/>
                  <a:t>现在只有</a:t>
                </a:r>
                <a:r>
                  <a:rPr lang="en-US" altLang="zh-CN" dirty="0"/>
                  <a:t>v1 v4</a:t>
                </a:r>
                <a:r>
                  <a:rPr lang="zh-CN" altLang="en-US" dirty="0"/>
                  <a:t>已经标号</a:t>
                </a:r>
                <a:r>
                  <a:rPr lang="en-US" altLang="zh-CN" dirty="0"/>
                  <a:t>,v1</a:t>
                </a:r>
                <a:r>
                  <a:rPr lang="zh-CN" altLang="en-US" dirty="0"/>
                  <a:t>通过有向弧连接的是</a:t>
                </a:r>
                <a:r>
                  <a:rPr lang="en-US" altLang="zh-CN" dirty="0"/>
                  <a:t>v2 v3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v4</a:t>
                </a:r>
                <a:r>
                  <a:rPr lang="zh-CN" altLang="en-US" dirty="0"/>
                  <a:t>是</a:t>
                </a:r>
                <a:r>
                  <a:rPr lang="en-US" altLang="zh-CN" dirty="0"/>
                  <a:t> v6. </a:t>
                </a:r>
                <a:r>
                  <a:rPr lang="zh-CN" altLang="en-US" dirty="0"/>
                  <a:t>我们来比较</a:t>
                </a:r>
                <a:r>
                  <a:rPr lang="en-US" altLang="zh-CN" dirty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𝟒𝟔</m:t>
                        </m:r>
                      </m:sub>
                    </m:sSub>
                  </m:oMath>
                </a14:m>
                <a:r>
                  <a:rPr lang="en-US" altLang="zh-CN" dirty="0"/>
                  <a:t>}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d1=0 d4=1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b="1" i="1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altLang="zh-CN" dirty="0"/>
                  <a:t>_13 </a:t>
                </a:r>
                <a:r>
                  <a:rPr lang="zh-CN" altLang="en-US" dirty="0"/>
                  <a:t>最小，所以</a:t>
                </a:r>
                <a:r>
                  <a:rPr lang="en-US" altLang="zh-CN" dirty="0"/>
                  <a:t>V3</a:t>
                </a:r>
                <a:r>
                  <a:rPr lang="zh-CN" altLang="en-US" dirty="0"/>
                  <a:t>标上号</a:t>
                </a:r>
                <a:r>
                  <a:rPr lang="en-US" altLang="zh-CN" dirty="0"/>
                  <a:t>[3 V1].V1</a:t>
                </a:r>
                <a:r>
                  <a:rPr lang="zh-CN" altLang="en-US" dirty="0"/>
                  <a:t>代表最优路径前一节点为</a:t>
                </a:r>
                <a:r>
                  <a:rPr lang="en-US" altLang="zh-CN" dirty="0"/>
                  <a:t>v1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/>
                  <a:t>现在只有</a:t>
                </a:r>
                <a:r>
                  <a:rPr lang="en-US" altLang="zh-CN" dirty="0"/>
                  <a:t>v1</a:t>
                </a:r>
                <a:r>
                  <a:rPr lang="zh-CN" altLang="en-US" dirty="0"/>
                  <a:t>已经标号</a:t>
                </a:r>
                <a:r>
                  <a:rPr lang="en-US" altLang="zh-CN" dirty="0"/>
                  <a:t>,v1</a:t>
                </a:r>
                <a:r>
                  <a:rPr lang="zh-CN" altLang="en-US" dirty="0"/>
                  <a:t>通过有向弧连接的是</a:t>
                </a:r>
                <a:r>
                  <a:rPr lang="en-US" altLang="zh-CN" dirty="0"/>
                  <a:t>v2 v3 v6. </a:t>
                </a:r>
                <a:r>
                  <a:rPr lang="zh-CN" altLang="en-US" dirty="0"/>
                  <a:t>我们来比较</a:t>
                </a:r>
                <a:r>
                  <a:rPr lang="en-US" altLang="zh-CN" dirty="0"/>
                  <a:t>{</a:t>
                </a:r>
                <a:r>
                  <a:rPr lang="en-US" altLang="zh-CN" b="1" i="0">
                    <a:latin typeface="Cambria Math" panose="02040503050406030204" pitchFamily="18" charset="0"/>
                  </a:rPr>
                  <a:t>𝒅_𝟏+𝒄_𝟏𝟐,</a:t>
                </a:r>
                <a:r>
                  <a:rPr lang="en-US" altLang="zh-CN" i="0">
                    <a:latin typeface="Cambria Math" panose="02040503050406030204" pitchFamily="18" charset="0"/>
                  </a:rPr>
                  <a:t>𝒅_𝟏+𝒄_𝟏</a:t>
                </a:r>
                <a:r>
                  <a:rPr lang="en-US" altLang="zh-CN" b="1" i="0">
                    <a:latin typeface="Cambria Math" panose="02040503050406030204" pitchFamily="18" charset="0"/>
                  </a:rPr>
                  <a:t>𝟑,</a:t>
                </a:r>
                <a:r>
                  <a:rPr lang="en-US" altLang="zh-CN" i="0">
                    <a:latin typeface="Cambria Math" panose="02040503050406030204" pitchFamily="18" charset="0"/>
                  </a:rPr>
                  <a:t>𝒅_</a:t>
                </a:r>
                <a:r>
                  <a:rPr lang="en-US" altLang="zh-CN" b="0" i="0">
                    <a:latin typeface="Cambria Math" panose="02040503050406030204" pitchFamily="18" charset="0"/>
                  </a:rPr>
                  <a:t>4</a:t>
                </a:r>
                <a:r>
                  <a:rPr lang="en-US" altLang="zh-CN" i="0">
                    <a:latin typeface="Cambria Math" panose="02040503050406030204" pitchFamily="18" charset="0"/>
                  </a:rPr>
                  <a:t>+</a:t>
                </a:r>
                <a:r>
                  <a:rPr lang="en-US" altLang="zh-CN" b="1" i="0">
                    <a:latin typeface="Cambria Math" panose="02040503050406030204" pitchFamily="18" charset="0"/>
                  </a:rPr>
                  <a:t>𝒄_𝟒𝟔</a:t>
                </a:r>
                <a:r>
                  <a:rPr lang="en-US" altLang="zh-CN" dirty="0"/>
                  <a:t>}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d1=0 d4=1 </a:t>
                </a:r>
                <a:r>
                  <a:rPr lang="en-US" altLang="zh-CN" b="1" i="0">
                    <a:latin typeface="Cambria Math" panose="02040503050406030204" pitchFamily="18" charset="0"/>
                  </a:rPr>
                  <a:t>𝒅_𝟏+c</a:t>
                </a:r>
                <a:r>
                  <a:rPr lang="en-US" altLang="zh-CN" dirty="0"/>
                  <a:t>_13 </a:t>
                </a:r>
                <a:r>
                  <a:rPr lang="zh-CN" altLang="en-US" dirty="0"/>
                  <a:t>最小，所以</a:t>
                </a:r>
                <a:r>
                  <a:rPr lang="en-US" altLang="zh-CN" dirty="0"/>
                  <a:t>V3</a:t>
                </a:r>
                <a:r>
                  <a:rPr lang="zh-CN" altLang="en-US" dirty="0"/>
                  <a:t>标上号</a:t>
                </a:r>
                <a:r>
                  <a:rPr lang="en-US" altLang="zh-CN" dirty="0"/>
                  <a:t>[3 V1].V1</a:t>
                </a:r>
                <a:r>
                  <a:rPr lang="zh-CN" altLang="en-US" dirty="0"/>
                  <a:t>代表最优路径前一节点为</a:t>
                </a:r>
                <a:r>
                  <a:rPr lang="en-US" altLang="zh-CN" dirty="0"/>
                  <a:t>v1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340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547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根据动态规划的斯路，应有 从起点</a:t>
            </a:r>
            <a:r>
              <a:rPr lang="en-US" altLang="zh-CN" dirty="0"/>
              <a:t>vs</a:t>
            </a:r>
            <a:r>
              <a:rPr lang="zh-CN" altLang="en-US" dirty="0"/>
              <a:t>到</a:t>
            </a:r>
            <a:r>
              <a:rPr lang="en-US" altLang="zh-CN" dirty="0" err="1"/>
              <a:t>vj</a:t>
            </a:r>
            <a:r>
              <a:rPr lang="zh-CN" altLang="en-US" dirty="0"/>
              <a:t>的最短路 </a:t>
            </a:r>
            <a:r>
              <a:rPr lang="en-US" altLang="zh-CN" dirty="0"/>
              <a:t>d(</a:t>
            </a:r>
            <a:r>
              <a:rPr lang="en-US" altLang="zh-CN" dirty="0" err="1"/>
              <a:t>vs,vj</a:t>
            </a:r>
            <a:r>
              <a:rPr lang="en-US" altLang="zh-CN" dirty="0"/>
              <a:t>) = </a:t>
            </a:r>
            <a:r>
              <a:rPr lang="en-US" altLang="zh-CN" dirty="0" err="1"/>
              <a:t>min_i</a:t>
            </a:r>
            <a:r>
              <a:rPr lang="en-US" altLang="zh-CN" dirty="0"/>
              <a:t> d(</a:t>
            </a:r>
            <a:r>
              <a:rPr lang="en-US" altLang="zh-CN" dirty="0" err="1"/>
              <a:t>vs,vi</a:t>
            </a:r>
            <a:r>
              <a:rPr lang="en-US" altLang="zh-CN" dirty="0"/>
              <a:t>) + </a:t>
            </a:r>
            <a:r>
              <a:rPr lang="en-US" altLang="zh-CN" dirty="0" err="1"/>
              <a:t>w_ij</a:t>
            </a:r>
            <a:r>
              <a:rPr lang="zh-CN" altLang="en-US" dirty="0"/>
              <a:t>，先到</a:t>
            </a:r>
            <a:r>
              <a:rPr lang="en-US" altLang="zh-CN" dirty="0" err="1"/>
              <a:t>i</a:t>
            </a:r>
            <a:r>
              <a:rPr lang="zh-CN" altLang="en-US" dirty="0"/>
              <a:t>点的最短路，再跑到</a:t>
            </a:r>
            <a:r>
              <a:rPr lang="en-US" altLang="zh-CN" dirty="0"/>
              <a:t>j</a:t>
            </a:r>
            <a:r>
              <a:rPr lang="zh-CN" altLang="en-US" dirty="0"/>
              <a:t>点。选择一个最小的</a:t>
            </a:r>
            <a:r>
              <a:rPr lang="en-US" altLang="zh-CN" dirty="0" err="1"/>
              <a:t>i</a:t>
            </a:r>
            <a:r>
              <a:rPr lang="zh-CN" altLang="en-US" dirty="0"/>
              <a:t>点。问题就在于怎么把</a:t>
            </a:r>
            <a:r>
              <a:rPr lang="en-US" altLang="zh-CN" dirty="0"/>
              <a:t>d(</a:t>
            </a:r>
            <a:r>
              <a:rPr lang="en-US" altLang="zh-CN" dirty="0" err="1"/>
              <a:t>vs,vi</a:t>
            </a:r>
            <a:r>
              <a:rPr lang="en-US" altLang="zh-CN" dirty="0"/>
              <a:t>) </a:t>
            </a:r>
            <a:r>
              <a:rPr lang="zh-CN" altLang="en-US" dirty="0"/>
              <a:t>给求出来？使用递推求解的方法。我们以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67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初始状态为起始点到各点直接连线的弧的权重。只有</a:t>
            </a:r>
            <a:r>
              <a:rPr lang="en-US" altLang="zh-CN" dirty="0"/>
              <a:t>2 3 4 </a:t>
            </a:r>
            <a:r>
              <a:rPr lang="zh-CN" altLang="en-US" dirty="0"/>
              <a:t>有直接的弧相连，所以填上相应的权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81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d</a:t>
            </a:r>
            <a:r>
              <a:rPr lang="en-US" altLang="zh-CN" sz="1200" baseline="30000" dirty="0"/>
              <a:t>1 </a:t>
            </a:r>
            <a:r>
              <a:rPr lang="en-US" altLang="zh-CN" sz="1200" dirty="0"/>
              <a:t>(v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,v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)+w</a:t>
            </a:r>
            <a:r>
              <a:rPr lang="en-US" altLang="zh-CN" sz="1200" baseline="-25000" dirty="0"/>
              <a:t>12 , </a:t>
            </a:r>
            <a:r>
              <a:rPr lang="en-US" altLang="zh-CN" sz="1200" dirty="0"/>
              <a:t>d</a:t>
            </a:r>
            <a:r>
              <a:rPr lang="en-US" altLang="zh-CN" sz="1200" baseline="30000" dirty="0"/>
              <a:t>1 </a:t>
            </a:r>
            <a:r>
              <a:rPr lang="en-US" altLang="zh-CN" sz="1200" dirty="0"/>
              <a:t>(v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,v</a:t>
            </a:r>
            <a:r>
              <a:rPr lang="en-US" altLang="zh-CN" sz="1200" baseline="-25000" dirty="0"/>
              <a:t>2</a:t>
            </a:r>
            <a:r>
              <a:rPr lang="en-US" altLang="zh-CN" sz="1200" dirty="0"/>
              <a:t>)+w</a:t>
            </a:r>
            <a:r>
              <a:rPr lang="en-US" altLang="zh-CN" sz="1200" baseline="-25000" dirty="0"/>
              <a:t>22 </a:t>
            </a:r>
            <a:r>
              <a:rPr lang="en-US" altLang="zh-CN" sz="1200" dirty="0"/>
              <a:t>d</a:t>
            </a:r>
            <a:r>
              <a:rPr lang="en-US" altLang="zh-CN" sz="1200" baseline="30000" dirty="0"/>
              <a:t>1 </a:t>
            </a:r>
            <a:r>
              <a:rPr lang="en-US" altLang="zh-CN" sz="1200" dirty="0"/>
              <a:t>(v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,v</a:t>
            </a:r>
            <a:r>
              <a:rPr lang="en-US" altLang="zh-CN" sz="1200" baseline="-25000" dirty="0"/>
              <a:t>3</a:t>
            </a:r>
            <a:r>
              <a:rPr lang="en-US" altLang="zh-CN" sz="1200" dirty="0"/>
              <a:t>)+w</a:t>
            </a:r>
            <a:r>
              <a:rPr lang="en-US" altLang="zh-CN" sz="1200" baseline="-25000" dirty="0"/>
              <a:t>32</a:t>
            </a:r>
            <a:r>
              <a:rPr lang="en-US" altLang="zh-CN" sz="1200" dirty="0"/>
              <a:t>d</a:t>
            </a:r>
            <a:r>
              <a:rPr lang="en-US" altLang="zh-CN" sz="1200" baseline="30000" dirty="0"/>
              <a:t>1 </a:t>
            </a:r>
            <a:r>
              <a:rPr lang="en-US" altLang="zh-CN" sz="1200" dirty="0"/>
              <a:t>(v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,v</a:t>
            </a:r>
            <a:r>
              <a:rPr lang="en-US" altLang="zh-CN" sz="1200" baseline="-25000" dirty="0"/>
              <a:t>4</a:t>
            </a:r>
            <a:r>
              <a:rPr lang="en-US" altLang="zh-CN" sz="1200" dirty="0"/>
              <a:t>)+w</a:t>
            </a:r>
            <a:r>
              <a:rPr lang="en-US" altLang="zh-CN" sz="1200" baseline="-25000" dirty="0"/>
              <a:t>42 </a:t>
            </a:r>
            <a:r>
              <a:rPr lang="en-US" altLang="zh-CN" sz="1200" baseline="0" dirty="0"/>
              <a:t>= min(0+-1, -1+0, -2-3, 3+infty)</a:t>
            </a:r>
            <a:endParaRPr lang="zh-CN" altLang="en-US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9798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d</a:t>
            </a:r>
            <a:r>
              <a:rPr lang="en-US" altLang="zh-CN" sz="1200" baseline="30000" dirty="0"/>
              <a:t>1 </a:t>
            </a:r>
            <a:r>
              <a:rPr lang="en-US" altLang="zh-CN" sz="1200" dirty="0"/>
              <a:t>(v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,v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)+w</a:t>
            </a:r>
            <a:r>
              <a:rPr lang="en-US" altLang="zh-CN" sz="1200" baseline="-25000" dirty="0"/>
              <a:t>12 , </a:t>
            </a:r>
            <a:r>
              <a:rPr lang="en-US" altLang="zh-CN" sz="1200" dirty="0"/>
              <a:t>d</a:t>
            </a:r>
            <a:r>
              <a:rPr lang="en-US" altLang="zh-CN" sz="1200" baseline="30000" dirty="0"/>
              <a:t>1 </a:t>
            </a:r>
            <a:r>
              <a:rPr lang="en-US" altLang="zh-CN" sz="1200" dirty="0"/>
              <a:t>(v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,v</a:t>
            </a:r>
            <a:r>
              <a:rPr lang="en-US" altLang="zh-CN" sz="1200" baseline="-25000" dirty="0"/>
              <a:t>2</a:t>
            </a:r>
            <a:r>
              <a:rPr lang="en-US" altLang="zh-CN" sz="1200" dirty="0"/>
              <a:t>)+w</a:t>
            </a:r>
            <a:r>
              <a:rPr lang="en-US" altLang="zh-CN" sz="1200" baseline="-25000" dirty="0"/>
              <a:t>22 </a:t>
            </a:r>
            <a:r>
              <a:rPr lang="en-US" altLang="zh-CN" sz="1200" dirty="0"/>
              <a:t>d</a:t>
            </a:r>
            <a:r>
              <a:rPr lang="en-US" altLang="zh-CN" sz="1200" baseline="30000" dirty="0"/>
              <a:t>1 </a:t>
            </a:r>
            <a:r>
              <a:rPr lang="en-US" altLang="zh-CN" sz="1200" dirty="0"/>
              <a:t>(v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,v</a:t>
            </a:r>
            <a:r>
              <a:rPr lang="en-US" altLang="zh-CN" sz="1200" baseline="-25000" dirty="0"/>
              <a:t>3</a:t>
            </a:r>
            <a:r>
              <a:rPr lang="en-US" altLang="zh-CN" sz="1200" dirty="0"/>
              <a:t>)+w</a:t>
            </a:r>
            <a:r>
              <a:rPr lang="en-US" altLang="zh-CN" sz="1200" baseline="-25000" dirty="0"/>
              <a:t>32</a:t>
            </a:r>
            <a:r>
              <a:rPr lang="en-US" altLang="zh-CN" sz="1200" dirty="0"/>
              <a:t>d</a:t>
            </a:r>
            <a:r>
              <a:rPr lang="en-US" altLang="zh-CN" sz="1200" baseline="30000" dirty="0"/>
              <a:t>1 </a:t>
            </a:r>
            <a:r>
              <a:rPr lang="en-US" altLang="zh-CN" sz="1200" dirty="0"/>
              <a:t>(v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,v</a:t>
            </a:r>
            <a:r>
              <a:rPr lang="en-US" altLang="zh-CN" sz="1200" baseline="-25000" dirty="0"/>
              <a:t>4</a:t>
            </a:r>
            <a:r>
              <a:rPr lang="en-US" altLang="zh-CN" sz="1200" dirty="0"/>
              <a:t>)+w</a:t>
            </a:r>
            <a:r>
              <a:rPr lang="en-US" altLang="zh-CN" sz="1200" baseline="-25000" dirty="0"/>
              <a:t>42 </a:t>
            </a:r>
            <a:r>
              <a:rPr lang="en-US" altLang="zh-CN" sz="1200" baseline="0" dirty="0"/>
              <a:t>= min(0+-1, -1+0, -2-3, 3+infty)</a:t>
            </a:r>
            <a:endParaRPr lang="zh-CN" altLang="en-US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953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d</a:t>
            </a:r>
            <a:r>
              <a:rPr lang="en-US" altLang="zh-CN" sz="1200" baseline="30000" dirty="0"/>
              <a:t>1 </a:t>
            </a:r>
            <a:r>
              <a:rPr lang="en-US" altLang="zh-CN" sz="1200" dirty="0"/>
              <a:t>(v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,v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)+w</a:t>
            </a:r>
            <a:r>
              <a:rPr lang="en-US" altLang="zh-CN" sz="1200" baseline="-25000" dirty="0"/>
              <a:t>12 , </a:t>
            </a:r>
            <a:r>
              <a:rPr lang="en-US" altLang="zh-CN" sz="1200" dirty="0"/>
              <a:t>d</a:t>
            </a:r>
            <a:r>
              <a:rPr lang="en-US" altLang="zh-CN" sz="1200" baseline="30000" dirty="0"/>
              <a:t>1 </a:t>
            </a:r>
            <a:r>
              <a:rPr lang="en-US" altLang="zh-CN" sz="1200" dirty="0"/>
              <a:t>(v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,v</a:t>
            </a:r>
            <a:r>
              <a:rPr lang="en-US" altLang="zh-CN" sz="1200" baseline="-25000" dirty="0"/>
              <a:t>2</a:t>
            </a:r>
            <a:r>
              <a:rPr lang="en-US" altLang="zh-CN" sz="1200" dirty="0"/>
              <a:t>)+w</a:t>
            </a:r>
            <a:r>
              <a:rPr lang="en-US" altLang="zh-CN" sz="1200" baseline="-25000" dirty="0"/>
              <a:t>22 </a:t>
            </a:r>
            <a:r>
              <a:rPr lang="en-US" altLang="zh-CN" sz="1200" dirty="0"/>
              <a:t>d</a:t>
            </a:r>
            <a:r>
              <a:rPr lang="en-US" altLang="zh-CN" sz="1200" baseline="30000" dirty="0"/>
              <a:t>1 </a:t>
            </a:r>
            <a:r>
              <a:rPr lang="en-US" altLang="zh-CN" sz="1200" dirty="0"/>
              <a:t>(v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,v</a:t>
            </a:r>
            <a:r>
              <a:rPr lang="en-US" altLang="zh-CN" sz="1200" baseline="-25000" dirty="0"/>
              <a:t>3</a:t>
            </a:r>
            <a:r>
              <a:rPr lang="en-US" altLang="zh-CN" sz="1200" dirty="0"/>
              <a:t>)+w</a:t>
            </a:r>
            <a:r>
              <a:rPr lang="en-US" altLang="zh-CN" sz="1200" baseline="-25000" dirty="0"/>
              <a:t>32</a:t>
            </a:r>
            <a:r>
              <a:rPr lang="en-US" altLang="zh-CN" sz="1200" dirty="0"/>
              <a:t>d</a:t>
            </a:r>
            <a:r>
              <a:rPr lang="en-US" altLang="zh-CN" sz="1200" baseline="30000" dirty="0"/>
              <a:t>1 </a:t>
            </a:r>
            <a:r>
              <a:rPr lang="en-US" altLang="zh-CN" sz="1200" dirty="0"/>
              <a:t>(v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,v</a:t>
            </a:r>
            <a:r>
              <a:rPr lang="en-US" altLang="zh-CN" sz="1200" baseline="-25000" dirty="0"/>
              <a:t>4</a:t>
            </a:r>
            <a:r>
              <a:rPr lang="en-US" altLang="zh-CN" sz="1200" dirty="0"/>
              <a:t>)+w</a:t>
            </a:r>
            <a:r>
              <a:rPr lang="en-US" altLang="zh-CN" sz="1200" baseline="-25000" dirty="0"/>
              <a:t>42 </a:t>
            </a:r>
            <a:r>
              <a:rPr lang="en-US" altLang="zh-CN" sz="1200" baseline="0" dirty="0"/>
              <a:t>= min(0+-1, -1+0, -2-3, 3+infty)</a:t>
            </a:r>
            <a:endParaRPr lang="zh-CN" altLang="en-US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79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>
            <a:extLst>
              <a:ext uri="{FF2B5EF4-FFF2-40B4-BE49-F238E27FC236}">
                <a16:creationId xmlns:a16="http://schemas.microsoft.com/office/drawing/2014/main" id="{9A2231C5-C599-4B3F-B8E3-6EC67E7F5D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备注占位符 2">
            <a:extLst>
              <a:ext uri="{FF2B5EF4-FFF2-40B4-BE49-F238E27FC236}">
                <a16:creationId xmlns:a16="http://schemas.microsoft.com/office/drawing/2014/main" id="{188B6634-B600-47C8-8E4B-D07648AC6E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1</a:t>
            </a:r>
            <a:r>
              <a:rPr lang="zh-CN" altLang="en-US"/>
              <a:t>、注意数字概念的区别，容量</a:t>
            </a:r>
            <a:r>
              <a:rPr lang="en-US" altLang="zh-CN"/>
              <a:t>/</a:t>
            </a:r>
            <a:r>
              <a:rPr lang="zh-CN" altLang="en-US"/>
              <a:t>流量</a:t>
            </a:r>
            <a:endParaRPr lang="en-US" altLang="zh-CN"/>
          </a:p>
          <a:p>
            <a:r>
              <a:rPr lang="en-US" altLang="zh-CN"/>
              <a:t>2</a:t>
            </a:r>
            <a:r>
              <a:rPr lang="zh-CN" altLang="en-US"/>
              <a:t>、注意观察数字之间的规律。</a:t>
            </a:r>
            <a:endParaRPr lang="en-US" altLang="zh-CN"/>
          </a:p>
          <a:p>
            <a:r>
              <a:rPr lang="en-US" altLang="zh-CN"/>
              <a:t>3</a:t>
            </a:r>
            <a:r>
              <a:rPr lang="zh-CN" altLang="en-US"/>
              <a:t>、总流量怎么看？</a:t>
            </a:r>
            <a:endParaRPr lang="en-US" altLang="zh-CN"/>
          </a:p>
          <a:p>
            <a:r>
              <a:rPr lang="en-US" altLang="zh-CN"/>
              <a:t>4</a:t>
            </a:r>
            <a:r>
              <a:rPr lang="zh-CN" altLang="en-US"/>
              <a:t>、实际应用中广泛存在：交通流、信息流、现金流、水流</a:t>
            </a:r>
          </a:p>
        </p:txBody>
      </p:sp>
      <p:sp>
        <p:nvSpPr>
          <p:cNvPr id="47108" name="灯片编号占位符 3">
            <a:extLst>
              <a:ext uri="{FF2B5EF4-FFF2-40B4-BE49-F238E27FC236}">
                <a16:creationId xmlns:a16="http://schemas.microsoft.com/office/drawing/2014/main" id="{818E8134-422F-4785-9FBA-738AC75CE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21C59D7-BE77-48DB-9D9D-6AC1C0F6638A}" type="slidenum">
              <a:rPr lang="zh-CN" altLang="en-US" sz="1200" smtClean="0"/>
              <a:pPr/>
              <a:t>46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>
            <a:extLst>
              <a:ext uri="{FF2B5EF4-FFF2-40B4-BE49-F238E27FC236}">
                <a16:creationId xmlns:a16="http://schemas.microsoft.com/office/drawing/2014/main" id="{9A2231C5-C599-4B3F-B8E3-6EC67E7F5D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备注占位符 2">
            <a:extLst>
              <a:ext uri="{FF2B5EF4-FFF2-40B4-BE49-F238E27FC236}">
                <a16:creationId xmlns:a16="http://schemas.microsoft.com/office/drawing/2014/main" id="{188B6634-B600-47C8-8E4B-D07648AC6E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第二种运输方法，显然是可行的而且运量更大了。我们但是很多地方还是</a:t>
            </a:r>
            <a:r>
              <a:rPr lang="en-US" altLang="zh-CN" dirty="0"/>
              <a:t>0</a:t>
            </a:r>
            <a:r>
              <a:rPr lang="zh-CN" altLang="en-US" dirty="0"/>
              <a:t>，我们可以调整运量，使运量更大</a:t>
            </a:r>
          </a:p>
        </p:txBody>
      </p:sp>
      <p:sp>
        <p:nvSpPr>
          <p:cNvPr id="47108" name="灯片编号占位符 3">
            <a:extLst>
              <a:ext uri="{FF2B5EF4-FFF2-40B4-BE49-F238E27FC236}">
                <a16:creationId xmlns:a16="http://schemas.microsoft.com/office/drawing/2014/main" id="{818E8134-422F-4785-9FBA-738AC75CE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21C59D7-BE77-48DB-9D9D-6AC1C0F6638A}" type="slidenum">
              <a:rPr lang="zh-CN" altLang="en-US" sz="1200" smtClean="0"/>
              <a:pPr/>
              <a:t>47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2527398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>
            <a:extLst>
              <a:ext uri="{FF2B5EF4-FFF2-40B4-BE49-F238E27FC236}">
                <a16:creationId xmlns:a16="http://schemas.microsoft.com/office/drawing/2014/main" id="{9A2231C5-C599-4B3F-B8E3-6EC67E7F5D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备注占位符 2">
            <a:extLst>
              <a:ext uri="{FF2B5EF4-FFF2-40B4-BE49-F238E27FC236}">
                <a16:creationId xmlns:a16="http://schemas.microsoft.com/office/drawing/2014/main" id="{188B6634-B600-47C8-8E4B-D07648AC6E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1</a:t>
            </a:r>
            <a:r>
              <a:rPr lang="zh-CN" altLang="en-US"/>
              <a:t>、注意数字概念的区别，容量</a:t>
            </a:r>
            <a:r>
              <a:rPr lang="en-US" altLang="zh-CN"/>
              <a:t>/</a:t>
            </a:r>
            <a:r>
              <a:rPr lang="zh-CN" altLang="en-US"/>
              <a:t>流量</a:t>
            </a:r>
            <a:endParaRPr lang="en-US" altLang="zh-CN"/>
          </a:p>
          <a:p>
            <a:r>
              <a:rPr lang="en-US" altLang="zh-CN"/>
              <a:t>2</a:t>
            </a:r>
            <a:r>
              <a:rPr lang="zh-CN" altLang="en-US"/>
              <a:t>、注意观察数字之间的规律。</a:t>
            </a:r>
            <a:endParaRPr lang="en-US" altLang="zh-CN"/>
          </a:p>
          <a:p>
            <a:r>
              <a:rPr lang="en-US" altLang="zh-CN"/>
              <a:t>3</a:t>
            </a:r>
            <a:r>
              <a:rPr lang="zh-CN" altLang="en-US"/>
              <a:t>、总流量怎么看？</a:t>
            </a:r>
            <a:endParaRPr lang="en-US" altLang="zh-CN"/>
          </a:p>
          <a:p>
            <a:r>
              <a:rPr lang="en-US" altLang="zh-CN"/>
              <a:t>4</a:t>
            </a:r>
            <a:r>
              <a:rPr lang="zh-CN" altLang="en-US"/>
              <a:t>、实际应用中广泛存在：交通流、信息流、现金流、水流</a:t>
            </a:r>
          </a:p>
        </p:txBody>
      </p:sp>
      <p:sp>
        <p:nvSpPr>
          <p:cNvPr id="47108" name="灯片编号占位符 3">
            <a:extLst>
              <a:ext uri="{FF2B5EF4-FFF2-40B4-BE49-F238E27FC236}">
                <a16:creationId xmlns:a16="http://schemas.microsoft.com/office/drawing/2014/main" id="{818E8134-422F-4785-9FBA-738AC75CE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21C59D7-BE77-48DB-9D9D-6AC1C0F6638A}" type="slidenum">
              <a:rPr lang="zh-CN" altLang="en-US" sz="1200" smtClean="0"/>
              <a:pPr/>
              <a:t>48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2726926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>
            <a:extLst>
              <a:ext uri="{FF2B5EF4-FFF2-40B4-BE49-F238E27FC236}">
                <a16:creationId xmlns:a16="http://schemas.microsoft.com/office/drawing/2014/main" id="{ECD7AFA8-C45D-431C-813C-F5EDABD355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备注占位符 2">
            <a:extLst>
              <a:ext uri="{FF2B5EF4-FFF2-40B4-BE49-F238E27FC236}">
                <a16:creationId xmlns:a16="http://schemas.microsoft.com/office/drawing/2014/main" id="{681A6956-D4AF-4916-8A8C-506AF9811F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是一个规划问题，变量的数量是弧的数量，每一条弧上定义一个变量。</a:t>
            </a:r>
          </a:p>
        </p:txBody>
      </p:sp>
      <p:sp>
        <p:nvSpPr>
          <p:cNvPr id="49156" name="灯片编号占位符 3">
            <a:extLst>
              <a:ext uri="{FF2B5EF4-FFF2-40B4-BE49-F238E27FC236}">
                <a16:creationId xmlns:a16="http://schemas.microsoft.com/office/drawing/2014/main" id="{F5D4BC93-172F-4ADB-9522-71096C38F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8FFB575-9063-4DDE-A360-3227AA0436C1}" type="slidenum">
              <a:rPr lang="zh-CN" altLang="en-US" sz="1200" smtClean="0"/>
              <a:pPr/>
              <a:t>49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平衡条件的意义是，对于中间节点，输入等于输出。我们记输出为正，那么就要使得起点的输出最大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552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>
            <a:extLst>
              <a:ext uri="{FF2B5EF4-FFF2-40B4-BE49-F238E27FC236}">
                <a16:creationId xmlns:a16="http://schemas.microsoft.com/office/drawing/2014/main" id="{9397768A-C6C1-4DE8-8D20-B46D951962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备注占位符 2">
            <a:extLst>
              <a:ext uri="{FF2B5EF4-FFF2-40B4-BE49-F238E27FC236}">
                <a16:creationId xmlns:a16="http://schemas.microsoft.com/office/drawing/2014/main" id="{C3ED7D84-563C-46C5-A1F2-1AEDD884194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Q</a:t>
            </a:r>
            <a:r>
              <a:rPr lang="zh-CN" altLang="en-US" dirty="0"/>
              <a:t>：截集是什么？把截集去掉，会怎样？截集就是我们从起点团簇 向终点团簇的通道，没有别的路可以走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8372" name="灯片编号占位符 3">
            <a:extLst>
              <a:ext uri="{FF2B5EF4-FFF2-40B4-BE49-F238E27FC236}">
                <a16:creationId xmlns:a16="http://schemas.microsoft.com/office/drawing/2014/main" id="{28CA2721-E468-4441-80CD-144221EF2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6AEDE39-9598-4CD3-9B16-84DF8ED24BE1}" type="slidenum">
              <a:rPr lang="zh-CN" altLang="en-US" sz="1200" smtClean="0"/>
              <a:pPr/>
              <a:t>52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>
            <a:extLst>
              <a:ext uri="{FF2B5EF4-FFF2-40B4-BE49-F238E27FC236}">
                <a16:creationId xmlns:a16="http://schemas.microsoft.com/office/drawing/2014/main" id="{B65A2B90-F665-45AD-8351-23002D9D26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备注占位符 2">
            <a:extLst>
              <a:ext uri="{FF2B5EF4-FFF2-40B4-BE49-F238E27FC236}">
                <a16:creationId xmlns:a16="http://schemas.microsoft.com/office/drawing/2014/main" id="{4B600D9D-5BED-4DF3-B991-1B5D5C8E717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举例，图书馆运书问题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提问，实际流量应该是多少</a:t>
            </a:r>
          </a:p>
        </p:txBody>
      </p:sp>
      <p:sp>
        <p:nvSpPr>
          <p:cNvPr id="60420" name="灯片编号占位符 3">
            <a:extLst>
              <a:ext uri="{FF2B5EF4-FFF2-40B4-BE49-F238E27FC236}">
                <a16:creationId xmlns:a16="http://schemas.microsoft.com/office/drawing/2014/main" id="{497BE558-B005-4E9A-A060-8947584ED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F1E7EAB-ED4B-4BC0-9607-63F20ECBEBEB}" type="slidenum">
              <a:rPr lang="zh-CN" altLang="en-US" sz="1200" smtClean="0"/>
              <a:pPr/>
              <a:t>53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V4</a:t>
            </a:r>
            <a:r>
              <a:rPr lang="zh-CN" altLang="en-US" dirty="0"/>
              <a:t>输入加了</a:t>
            </a:r>
            <a:r>
              <a:rPr lang="en-US" altLang="zh-CN" dirty="0"/>
              <a:t>5</a:t>
            </a:r>
            <a:r>
              <a:rPr lang="zh-CN" altLang="en-US" dirty="0"/>
              <a:t>，另一个输出要减</a:t>
            </a:r>
            <a:r>
              <a:rPr lang="en-US" altLang="zh-CN" dirty="0"/>
              <a:t>5 </a:t>
            </a:r>
            <a:r>
              <a:rPr lang="zh-CN" altLang="en-US" dirty="0"/>
              <a:t>（</a:t>
            </a:r>
            <a:r>
              <a:rPr lang="en-US" altLang="zh-CN" dirty="0"/>
              <a:t>v3 v4</a:t>
            </a:r>
            <a:r>
              <a:rPr lang="zh-CN" altLang="en-US" dirty="0"/>
              <a:t>要减去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2036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V4</a:t>
            </a:r>
            <a:r>
              <a:rPr lang="zh-CN" altLang="en-US" dirty="0"/>
              <a:t>输入加了</a:t>
            </a:r>
            <a:r>
              <a:rPr lang="en-US" altLang="zh-CN" dirty="0"/>
              <a:t>5</a:t>
            </a:r>
            <a:r>
              <a:rPr lang="zh-CN" altLang="en-US" dirty="0"/>
              <a:t>，另一个输出要减</a:t>
            </a:r>
            <a:r>
              <a:rPr lang="en-US" altLang="zh-CN" dirty="0"/>
              <a:t>5 </a:t>
            </a:r>
            <a:r>
              <a:rPr lang="zh-CN" altLang="en-US" dirty="0"/>
              <a:t>（</a:t>
            </a:r>
            <a:r>
              <a:rPr lang="en-US" altLang="zh-CN" dirty="0"/>
              <a:t>v3 v4</a:t>
            </a:r>
            <a:r>
              <a:rPr lang="zh-CN" altLang="en-US" dirty="0"/>
              <a:t>要减去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2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>
            <a:extLst>
              <a:ext uri="{FF2B5EF4-FFF2-40B4-BE49-F238E27FC236}">
                <a16:creationId xmlns:a16="http://schemas.microsoft.com/office/drawing/2014/main" id="{EF422AFD-E5E1-4C05-9F06-CAE65489F2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备注占位符 2">
            <a:extLst>
              <a:ext uri="{FF2B5EF4-FFF2-40B4-BE49-F238E27FC236}">
                <a16:creationId xmlns:a16="http://schemas.microsoft.com/office/drawing/2014/main" id="{728B111E-602A-4B6B-8B2A-82FD3F7A226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1</a:t>
            </a:r>
            <a:r>
              <a:rPr lang="zh-CN" altLang="en-US"/>
              <a:t>、增广链是基于某个可行流的。</a:t>
            </a:r>
            <a:endParaRPr lang="en-US" altLang="zh-CN"/>
          </a:p>
          <a:p>
            <a:r>
              <a:rPr lang="en-US" altLang="zh-CN"/>
              <a:t>2</a:t>
            </a:r>
            <a:r>
              <a:rPr lang="zh-CN" altLang="en-US"/>
              <a:t>、无向图中的链，有向图中的路</a:t>
            </a:r>
          </a:p>
        </p:txBody>
      </p:sp>
      <p:sp>
        <p:nvSpPr>
          <p:cNvPr id="55300" name="灯片编号占位符 3">
            <a:extLst>
              <a:ext uri="{FF2B5EF4-FFF2-40B4-BE49-F238E27FC236}">
                <a16:creationId xmlns:a16="http://schemas.microsoft.com/office/drawing/2014/main" id="{74143084-1E81-49AA-8DC2-59AECC7A9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E33D605-B8E3-43D6-ADD9-A355E997C1CB}" type="slidenum">
              <a:rPr lang="zh-CN" altLang="en-US" sz="1200" smtClean="0"/>
              <a:pPr/>
              <a:t>61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链的下一个节点怎么取？只要是正向弧没有饱和，或者负向弧没有等于零都可以。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5088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V3 V5</a:t>
            </a:r>
            <a:r>
              <a:rPr lang="zh-CN" altLang="en-US" dirty="0"/>
              <a:t>是正向弧且饱和了，不能选，只能选</a:t>
            </a:r>
            <a:r>
              <a:rPr lang="en-US" altLang="zh-CN" dirty="0"/>
              <a:t>V3 V2 </a:t>
            </a:r>
            <a:r>
              <a:rPr lang="zh-CN" altLang="en-US" dirty="0"/>
              <a:t>负向弧，是非零的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2492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依次标记下去得到一条链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1101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取链上标记的最大值作为</a:t>
            </a:r>
            <a:r>
              <a:rPr lang="en-US" altLang="zh-CN" dirty="0"/>
              <a:t>theta</a:t>
            </a:r>
            <a:r>
              <a:rPr lang="zh-CN" altLang="en-US" dirty="0"/>
              <a:t>，进行调整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7386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 </a:t>
            </a:r>
            <a:r>
              <a:rPr lang="en-US" altLang="zh-CN" dirty="0"/>
              <a:t>v3-v2</a:t>
            </a:r>
            <a:r>
              <a:rPr lang="zh-CN" altLang="en-US" dirty="0"/>
              <a:t>是负向弧，标号是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0560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调整完了之后我们发现没有再调整的空间了。</a:t>
            </a:r>
            <a:r>
              <a:rPr lang="en-US" altLang="zh-CN" dirty="0"/>
              <a:t>Vs</a:t>
            </a:r>
            <a:r>
              <a:rPr lang="zh-CN" altLang="en-US" dirty="0"/>
              <a:t>只能到</a:t>
            </a:r>
            <a:r>
              <a:rPr lang="en-US" altLang="zh-CN" dirty="0"/>
              <a:t>V3</a:t>
            </a:r>
            <a:r>
              <a:rPr lang="zh-CN" altLang="en-US" dirty="0"/>
              <a:t>，</a:t>
            </a:r>
            <a:r>
              <a:rPr lang="en-US" altLang="zh-CN" dirty="0"/>
              <a:t>V3</a:t>
            </a:r>
            <a:r>
              <a:rPr lang="zh-CN" altLang="en-US" dirty="0"/>
              <a:t>正向都饱和，负向都为零，没有增广链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4258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从最优解出发开始标号，标号无法进行是，将已标号节点设置为</a:t>
            </a:r>
            <a:r>
              <a:rPr lang="en-US" altLang="zh-CN" dirty="0"/>
              <a:t>V1</a:t>
            </a:r>
            <a:r>
              <a:rPr lang="zh-CN" altLang="en-US" dirty="0"/>
              <a:t>，未标号设置为</a:t>
            </a:r>
            <a:r>
              <a:rPr lang="en-US" altLang="zh-CN" dirty="0"/>
              <a:t>V1bar</a:t>
            </a:r>
            <a:r>
              <a:rPr lang="zh-CN" altLang="en-US" dirty="0"/>
              <a:t>，此时获得最小截集合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FD86F9-DE7A-4726-A8BE-75264D4F8278}" type="slidenum">
              <a:rPr lang="zh-CN" altLang="en-US" smtClean="0"/>
              <a:pPr>
                <a:defRPr/>
              </a:pPr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614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FDD112B0-F951-491C-A814-59B9A340A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A78C57B8-4E74-433D-8C60-9D96EE1094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" name="Picture 9" descr="校徽">
            <a:extLst>
              <a:ext uri="{FF2B5EF4-FFF2-40B4-BE49-F238E27FC236}">
                <a16:creationId xmlns:a16="http://schemas.microsoft.com/office/drawing/2014/main" id="{E738B8AB-20F3-4B90-9994-FBA4A1BF5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52400"/>
            <a:ext cx="990600" cy="96678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7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2997200"/>
            <a:ext cx="65532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60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6E1B039-19A8-48AE-84A2-0466574A57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6DDAC00-2DC2-42F2-B3AB-22EDC56D40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C93775C-B59A-4B55-92F9-1FAD1D1531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87BB0B-ED9F-43B9-B168-2328CC0167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230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4D90A3-6185-4964-87D7-425B06FB21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48C034-8953-4D64-9431-AE3A41B51C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8E23374-950F-4AB6-AD88-F011EEECBD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6DFD1C-A3B6-4C65-8A4E-47637FCCD9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0301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69B958-ACC6-46C7-AEB5-99A455A813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ACD090A-C5BA-4991-A862-4A4F119470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86C99B-4085-431B-9A19-7F1285FDAD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43F915-D443-4F73-8C71-C306BCB543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422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4C5511-B196-4660-8073-325B7E85B5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12FAE8-C88C-4BC1-8946-90C0822D99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40880F-C1E3-45CB-A3D5-4738F36DCD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7C9DFF-48CC-4369-AE71-A1DC774BE1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366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EAF1A7C-CF4F-40BB-B29F-4B625183DE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BEFE269-FB02-4C5F-96D6-A3DF484C9F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3D12948-2B17-4BC5-856E-32B152BC04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571F50-2424-4B48-97D0-47835A01F3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9504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65D7726-F9D4-4C92-A971-B41EEAAAE7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8060EC4-4C89-442C-87DB-1495960C76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B8A40E-A7F6-48D6-9B5A-D08B3B7E9E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7500E0-2298-4471-ADBC-A98B5D1BA8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618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BEE1B20-0FBE-47E7-B1AC-219B2F3B97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9A3C4C2-9FAB-4DC9-AF8F-A76AB6CC9C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E3A7119-4CCA-46FF-A25C-962E99F30A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4CDFD5-7E2A-43AE-AD52-082F1D42AA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2271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5F7DC5-A327-4416-88E7-CDA6309C0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E2ECAC-A948-410A-91DD-53E17B6BEE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C4083E-11A3-4589-A385-F927D77E79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15DA17-0AB8-4920-A0B1-7A66D97C24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929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6489ED-F780-43A6-BB48-560F192399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225436-78C6-438C-9790-4D780062F9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481B0E-4575-4A3B-A495-C87BCC4088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066279-7903-432C-BF46-EEED301E24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2172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FE8A4D-F36F-41D7-A702-6D146FC6D4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A49CAF-6ADD-473E-9080-CDBC37743B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F54419-B719-45F0-8D68-BEC5799C49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FF573E-CE78-4AB4-9D2B-1B08CA483C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1761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5575"/>
            <a:ext cx="2057400" cy="59753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5575"/>
            <a:ext cx="6019800" cy="59753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7F8DCA5-214A-4990-BEEC-0D99A2A853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4D55BE-372D-4A9B-B325-CC14F72C5D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91003CC-02F0-4258-BE2C-7A203D5D8E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900512-6EBE-4A67-A0DA-0DC4210FF7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5062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9112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43000"/>
            <a:ext cx="4038600" cy="4987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4987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A7E11A-C93F-4767-AB1C-6A4768FE59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B25A3D-8BBE-436B-9B09-A3937D65A0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F775DD-6647-4827-8D75-74157E47B9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B4F3E6-835B-4756-8567-A232B208B5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89695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9112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43000"/>
            <a:ext cx="4038600" cy="4987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038600" cy="2417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13163"/>
            <a:ext cx="4038600" cy="2417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944EAB0-AF53-4843-8975-8937D7DF66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0A5B0BF-1183-4187-9CC1-D9A30E4F85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EFDD0B6-6082-4B0F-A30F-EA2AF1B9FE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04D34F-E2C9-44A7-B5F8-57225B2C87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4341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859694D-70B1-41A1-B69E-746127CCC9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5575"/>
            <a:ext cx="82296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351F584-CE9F-4273-811F-949F0E040A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3000"/>
            <a:ext cx="8229600" cy="498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6132" name="Rectangle 4">
            <a:extLst>
              <a:ext uri="{FF2B5EF4-FFF2-40B4-BE49-F238E27FC236}">
                <a16:creationId xmlns:a16="http://schemas.microsoft.com/office/drawing/2014/main" id="{B1F42936-53D0-4759-9885-4A1656AE814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6133" name="Rectangle 5">
            <a:extLst>
              <a:ext uri="{FF2B5EF4-FFF2-40B4-BE49-F238E27FC236}">
                <a16:creationId xmlns:a16="http://schemas.microsoft.com/office/drawing/2014/main" id="{7FE683FF-B433-430B-9B8E-33E6037EBB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6134" name="Rectangle 6">
            <a:extLst>
              <a:ext uri="{FF2B5EF4-FFF2-40B4-BE49-F238E27FC236}">
                <a16:creationId xmlns:a16="http://schemas.microsoft.com/office/drawing/2014/main" id="{54E64299-A7BC-44F1-B0B7-96E2622A169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FB4CC4F1-3E86-4FD2-A489-39F27FF752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Freeform 7">
            <a:extLst>
              <a:ext uri="{FF2B5EF4-FFF2-40B4-BE49-F238E27FC236}">
                <a16:creationId xmlns:a16="http://schemas.microsoft.com/office/drawing/2014/main" id="{CBD6BE64-5140-4E50-9D70-A8357FEAB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836A0832-6C05-40C6-9DB4-9DC1A49524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33" name="Picture 9" descr="校徽">
            <a:extLst>
              <a:ext uri="{FF2B5EF4-FFF2-40B4-BE49-F238E27FC236}">
                <a16:creationId xmlns:a16="http://schemas.microsoft.com/office/drawing/2014/main" id="{67F7E445-BDC4-422F-B70D-7783D4219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225425"/>
            <a:ext cx="785813" cy="76517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800" b="1">
          <a:solidFill>
            <a:schemeClr val="tx1"/>
          </a:solidFill>
          <a:latin typeface="+mn-lt"/>
          <a:ea typeface="+mn-ea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+mn-ea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xuji@se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5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5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2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5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3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5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6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0.w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1.wmf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3.wmf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F0941C7-19AF-4676-B305-F48D5A499BE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2133600"/>
          </a:xfrm>
        </p:spPr>
        <p:txBody>
          <a:bodyPr/>
          <a:lstStyle/>
          <a:p>
            <a:pPr algn="ctr" eaLnBrk="1" hangingPunct="1"/>
            <a:br>
              <a:rPr lang="en-US" altLang="zh-CN" b="0"/>
            </a:br>
            <a:r>
              <a:rPr lang="zh-CN" altLang="en-US" sz="6000"/>
              <a:t>运  筹  学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EB53D9F-1E47-41A5-8214-ECE2BC14EFC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981200" y="4191000"/>
            <a:ext cx="6553200" cy="1981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3600" b="0" dirty="0">
                <a:latin typeface="楷体_GB2312" pitchFamily="49" charset="-122"/>
                <a:ea typeface="楷体_GB2312" pitchFamily="49" charset="-122"/>
              </a:rPr>
              <a:t>季  续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600" b="0" dirty="0">
                <a:hlinkClick r:id="rId2"/>
              </a:rPr>
              <a:t>xuji@seu.edu.cn</a:t>
            </a:r>
            <a:endParaRPr lang="en-US" altLang="zh-CN" sz="3600" b="0" dirty="0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E2E319A-1C1D-4FBA-9651-8458B1AFCDD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第七章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6CBDF8E-5FE4-4CBB-A9B5-15B2077F155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图与网络优化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4608B3A-E8C6-4A43-819C-F312D8292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图论起源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6127B58-AF35-4E45-830D-AFF9FEA2449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eaLnBrk="1" hangingPunct="1"/>
            <a:endParaRPr lang="en-US" altLang="zh-CN">
              <a:latin typeface="宋体" panose="02010600030101010101" pitchFamily="2" charset="-122"/>
            </a:endParaRPr>
          </a:p>
          <a:p>
            <a:pPr eaLnBrk="1" hangingPunct="1"/>
            <a:endParaRPr lang="en-US" altLang="zh-CN">
              <a:latin typeface="宋体" panose="02010600030101010101" pitchFamily="2" charset="-122"/>
            </a:endParaRPr>
          </a:p>
          <a:p>
            <a:pPr eaLnBrk="1" hangingPunct="1"/>
            <a:endParaRPr lang="en-US" altLang="zh-CN">
              <a:latin typeface="宋体" panose="02010600030101010101" pitchFamily="2" charset="-122"/>
            </a:endParaRPr>
          </a:p>
          <a:p>
            <a:pPr eaLnBrk="1" hangingPunct="1"/>
            <a:endParaRPr lang="en-US" altLang="zh-CN">
              <a:latin typeface="宋体" panose="02010600030101010101" pitchFamily="2" charset="-122"/>
            </a:endParaRPr>
          </a:p>
          <a:p>
            <a:pPr eaLnBrk="1" hangingPunct="1"/>
            <a:endParaRPr lang="en-US" altLang="zh-CN">
              <a:latin typeface="宋体" panose="02010600030101010101" pitchFamily="2" charset="-122"/>
            </a:endParaRPr>
          </a:p>
          <a:p>
            <a:pPr eaLnBrk="1" hangingPunct="1"/>
            <a:endParaRPr lang="en-US" altLang="zh-CN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哥尼斯堡七桥问题</a:t>
            </a:r>
          </a:p>
          <a:p>
            <a:pPr lvl="1" eaLnBrk="1" hangingPunct="1"/>
            <a:r>
              <a:rPr lang="zh-CN" altLang="en-US">
                <a:latin typeface="宋体" panose="02010600030101010101" pitchFamily="2" charset="-122"/>
              </a:rPr>
              <a:t>能否从任一处出发，走过七座桥，且每座桥只走一次，最后回到出发点？</a:t>
            </a:r>
          </a:p>
          <a:p>
            <a:pPr eaLnBrk="1" hangingPunct="1"/>
            <a:endParaRPr lang="en-US" altLang="zh-CN" b="0">
              <a:latin typeface="宋体" panose="02010600030101010101" pitchFamily="2" charset="-122"/>
            </a:endParaRPr>
          </a:p>
        </p:txBody>
      </p:sp>
      <p:grpSp>
        <p:nvGrpSpPr>
          <p:cNvPr id="6148" name="Group 25">
            <a:extLst>
              <a:ext uri="{FF2B5EF4-FFF2-40B4-BE49-F238E27FC236}">
                <a16:creationId xmlns:a16="http://schemas.microsoft.com/office/drawing/2014/main" id="{09231426-F8CC-4A58-A6BB-C03B30949E6A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524000"/>
            <a:ext cx="3594100" cy="2362200"/>
            <a:chOff x="528" y="1824"/>
            <a:chExt cx="2264" cy="1488"/>
          </a:xfrm>
        </p:grpSpPr>
        <p:sp>
          <p:nvSpPr>
            <p:cNvPr id="6151" name="Rectangle 4">
              <a:extLst>
                <a:ext uri="{FF2B5EF4-FFF2-40B4-BE49-F238E27FC236}">
                  <a16:creationId xmlns:a16="http://schemas.microsoft.com/office/drawing/2014/main" id="{974F9D16-89EA-4318-8D80-8E34B1BE8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24"/>
              <a:ext cx="2160" cy="14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6152" name="Freeform 7">
              <a:extLst>
                <a:ext uri="{FF2B5EF4-FFF2-40B4-BE49-F238E27FC236}">
                  <a16:creationId xmlns:a16="http://schemas.microsoft.com/office/drawing/2014/main" id="{D0A30004-52BA-4AC0-A5F4-F844DA692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" y="2016"/>
              <a:ext cx="2264" cy="1256"/>
            </a:xfrm>
            <a:custGeom>
              <a:avLst/>
              <a:gdLst>
                <a:gd name="T0" fmla="*/ 56 w 2264"/>
                <a:gd name="T1" fmla="*/ 1008 h 1256"/>
                <a:gd name="T2" fmla="*/ 392 w 2264"/>
                <a:gd name="T3" fmla="*/ 1104 h 1256"/>
                <a:gd name="T4" fmla="*/ 968 w 2264"/>
                <a:gd name="T5" fmla="*/ 912 h 1256"/>
                <a:gd name="T6" fmla="*/ 1496 w 2264"/>
                <a:gd name="T7" fmla="*/ 864 h 1256"/>
                <a:gd name="T8" fmla="*/ 1736 w 2264"/>
                <a:gd name="T9" fmla="*/ 1008 h 1256"/>
                <a:gd name="T10" fmla="*/ 2168 w 2264"/>
                <a:gd name="T11" fmla="*/ 1104 h 1256"/>
                <a:gd name="T12" fmla="*/ 2216 w 2264"/>
                <a:gd name="T13" fmla="*/ 1104 h 1256"/>
                <a:gd name="T14" fmla="*/ 2216 w 2264"/>
                <a:gd name="T15" fmla="*/ 192 h 1256"/>
                <a:gd name="T16" fmla="*/ 2216 w 2264"/>
                <a:gd name="T17" fmla="*/ 96 h 1256"/>
                <a:gd name="T18" fmla="*/ 1928 w 2264"/>
                <a:gd name="T19" fmla="*/ 0 h 1256"/>
                <a:gd name="T20" fmla="*/ 1304 w 2264"/>
                <a:gd name="T21" fmla="*/ 96 h 1256"/>
                <a:gd name="T22" fmla="*/ 968 w 2264"/>
                <a:gd name="T23" fmla="*/ 192 h 1256"/>
                <a:gd name="T24" fmla="*/ 584 w 2264"/>
                <a:gd name="T25" fmla="*/ 96 h 1256"/>
                <a:gd name="T26" fmla="*/ 248 w 2264"/>
                <a:gd name="T27" fmla="*/ 0 h 1256"/>
                <a:gd name="T28" fmla="*/ 104 w 2264"/>
                <a:gd name="T29" fmla="*/ 96 h 1256"/>
                <a:gd name="T30" fmla="*/ 56 w 2264"/>
                <a:gd name="T31" fmla="*/ 96 h 1256"/>
                <a:gd name="T32" fmla="*/ 56 w 2264"/>
                <a:gd name="T33" fmla="*/ 192 h 1256"/>
                <a:gd name="T34" fmla="*/ 56 w 2264"/>
                <a:gd name="T35" fmla="*/ 1008 h 125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264"/>
                <a:gd name="T55" fmla="*/ 0 h 1256"/>
                <a:gd name="T56" fmla="*/ 2264 w 2264"/>
                <a:gd name="T57" fmla="*/ 1256 h 125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264" h="1256">
                  <a:moveTo>
                    <a:pt x="56" y="1008"/>
                  </a:moveTo>
                  <a:cubicBezTo>
                    <a:pt x="112" y="1160"/>
                    <a:pt x="240" y="1120"/>
                    <a:pt x="392" y="1104"/>
                  </a:cubicBezTo>
                  <a:cubicBezTo>
                    <a:pt x="544" y="1088"/>
                    <a:pt x="784" y="952"/>
                    <a:pt x="968" y="912"/>
                  </a:cubicBezTo>
                  <a:cubicBezTo>
                    <a:pt x="1152" y="872"/>
                    <a:pt x="1368" y="848"/>
                    <a:pt x="1496" y="864"/>
                  </a:cubicBezTo>
                  <a:cubicBezTo>
                    <a:pt x="1624" y="880"/>
                    <a:pt x="1624" y="968"/>
                    <a:pt x="1736" y="1008"/>
                  </a:cubicBezTo>
                  <a:cubicBezTo>
                    <a:pt x="1848" y="1048"/>
                    <a:pt x="2088" y="1088"/>
                    <a:pt x="2168" y="1104"/>
                  </a:cubicBezTo>
                  <a:cubicBezTo>
                    <a:pt x="2248" y="1120"/>
                    <a:pt x="2208" y="1256"/>
                    <a:pt x="2216" y="1104"/>
                  </a:cubicBezTo>
                  <a:cubicBezTo>
                    <a:pt x="2224" y="952"/>
                    <a:pt x="2216" y="360"/>
                    <a:pt x="2216" y="192"/>
                  </a:cubicBezTo>
                  <a:cubicBezTo>
                    <a:pt x="2216" y="24"/>
                    <a:pt x="2264" y="128"/>
                    <a:pt x="2216" y="96"/>
                  </a:cubicBezTo>
                  <a:cubicBezTo>
                    <a:pt x="2168" y="64"/>
                    <a:pt x="2080" y="0"/>
                    <a:pt x="1928" y="0"/>
                  </a:cubicBezTo>
                  <a:cubicBezTo>
                    <a:pt x="1776" y="0"/>
                    <a:pt x="1464" y="64"/>
                    <a:pt x="1304" y="96"/>
                  </a:cubicBezTo>
                  <a:cubicBezTo>
                    <a:pt x="1144" y="128"/>
                    <a:pt x="1088" y="192"/>
                    <a:pt x="968" y="192"/>
                  </a:cubicBezTo>
                  <a:cubicBezTo>
                    <a:pt x="848" y="192"/>
                    <a:pt x="704" y="128"/>
                    <a:pt x="584" y="96"/>
                  </a:cubicBezTo>
                  <a:cubicBezTo>
                    <a:pt x="464" y="64"/>
                    <a:pt x="328" y="0"/>
                    <a:pt x="248" y="0"/>
                  </a:cubicBezTo>
                  <a:cubicBezTo>
                    <a:pt x="168" y="0"/>
                    <a:pt x="136" y="80"/>
                    <a:pt x="104" y="96"/>
                  </a:cubicBezTo>
                  <a:cubicBezTo>
                    <a:pt x="72" y="112"/>
                    <a:pt x="64" y="80"/>
                    <a:pt x="56" y="96"/>
                  </a:cubicBezTo>
                  <a:cubicBezTo>
                    <a:pt x="48" y="112"/>
                    <a:pt x="56" y="40"/>
                    <a:pt x="56" y="192"/>
                  </a:cubicBezTo>
                  <a:cubicBezTo>
                    <a:pt x="56" y="344"/>
                    <a:pt x="0" y="856"/>
                    <a:pt x="56" y="1008"/>
                  </a:cubicBezTo>
                  <a:close/>
                </a:path>
              </a:pathLst>
            </a:cu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3" name="Oval 8">
              <a:extLst>
                <a:ext uri="{FF2B5EF4-FFF2-40B4-BE49-F238E27FC236}">
                  <a16:creationId xmlns:a16="http://schemas.microsoft.com/office/drawing/2014/main" id="{24407E8D-2574-46A6-A8EA-E3A55C3DD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352"/>
              <a:ext cx="528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6154" name="Oval 9">
              <a:extLst>
                <a:ext uri="{FF2B5EF4-FFF2-40B4-BE49-F238E27FC236}">
                  <a16:creationId xmlns:a16="http://schemas.microsoft.com/office/drawing/2014/main" id="{1266C010-4259-4D35-834F-7BF485492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256"/>
              <a:ext cx="768" cy="43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6155" name="Rectangle 10">
              <a:extLst>
                <a:ext uri="{FF2B5EF4-FFF2-40B4-BE49-F238E27FC236}">
                  <a16:creationId xmlns:a16="http://schemas.microsoft.com/office/drawing/2014/main" id="{F962EA80-65DE-41F4-9D4F-7EB67EAA831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60000">
              <a:off x="1296" y="2112"/>
              <a:ext cx="48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6156" name="Rectangle 11">
              <a:extLst>
                <a:ext uri="{FF2B5EF4-FFF2-40B4-BE49-F238E27FC236}">
                  <a16:creationId xmlns:a16="http://schemas.microsoft.com/office/drawing/2014/main" id="{9177E459-31CE-4233-8030-B704B9AB00E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20000">
              <a:off x="960" y="1968"/>
              <a:ext cx="48" cy="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6157" name="Rectangle 12">
              <a:extLst>
                <a:ext uri="{FF2B5EF4-FFF2-40B4-BE49-F238E27FC236}">
                  <a16:creationId xmlns:a16="http://schemas.microsoft.com/office/drawing/2014/main" id="{3B1198B0-6875-4968-B653-ABB6DA250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592"/>
              <a:ext cx="48" cy="5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6158" name="Rectangle 13">
              <a:extLst>
                <a:ext uri="{FF2B5EF4-FFF2-40B4-BE49-F238E27FC236}">
                  <a16:creationId xmlns:a16="http://schemas.microsoft.com/office/drawing/2014/main" id="{A5FEDF06-1671-439B-8BA0-6A7BA1860B2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500000">
              <a:off x="1248" y="2592"/>
              <a:ext cx="48" cy="4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6159" name="Rectangle 14">
              <a:extLst>
                <a:ext uri="{FF2B5EF4-FFF2-40B4-BE49-F238E27FC236}">
                  <a16:creationId xmlns:a16="http://schemas.microsoft.com/office/drawing/2014/main" id="{34861128-9329-4D84-A964-FEA06FB7B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496"/>
              <a:ext cx="576" cy="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6160" name="Rectangle 15">
              <a:extLst>
                <a:ext uri="{FF2B5EF4-FFF2-40B4-BE49-F238E27FC236}">
                  <a16:creationId xmlns:a16="http://schemas.microsoft.com/office/drawing/2014/main" id="{D39CCBCF-9F42-43E9-8450-5525CC9FF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68"/>
              <a:ext cx="48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6161" name="Rectangle 16">
              <a:extLst>
                <a:ext uri="{FF2B5EF4-FFF2-40B4-BE49-F238E27FC236}">
                  <a16:creationId xmlns:a16="http://schemas.microsoft.com/office/drawing/2014/main" id="{285F6E86-256F-48AE-83CB-5309192EE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592"/>
              <a:ext cx="48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6162" name="Text Box 17">
              <a:extLst>
                <a:ext uri="{FF2B5EF4-FFF2-40B4-BE49-F238E27FC236}">
                  <a16:creationId xmlns:a16="http://schemas.microsoft.com/office/drawing/2014/main" id="{CA28FC6C-77F5-4A38-8309-6AD4A5621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99"/>
                  </a:solidFill>
                </a:rPr>
                <a:t>A</a:t>
              </a:r>
            </a:p>
          </p:txBody>
        </p:sp>
        <p:sp>
          <p:nvSpPr>
            <p:cNvPr id="6163" name="Text Box 18">
              <a:extLst>
                <a:ext uri="{FF2B5EF4-FFF2-40B4-BE49-F238E27FC236}">
                  <a16:creationId xmlns:a16="http://schemas.microsoft.com/office/drawing/2014/main" id="{FBA09718-2CAB-4C0F-8B07-D190DC48A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9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99"/>
                  </a:solidFill>
                </a:rPr>
                <a:t>B</a:t>
              </a:r>
            </a:p>
          </p:txBody>
        </p:sp>
        <p:sp>
          <p:nvSpPr>
            <p:cNvPr id="6164" name="Text Box 19">
              <a:extLst>
                <a:ext uri="{FF2B5EF4-FFF2-40B4-BE49-F238E27FC236}">
                  <a16:creationId xmlns:a16="http://schemas.microsoft.com/office/drawing/2014/main" id="{A47D13CC-13EE-4D86-9718-193E37802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99"/>
                  </a:solidFill>
                </a:rPr>
                <a:t>C</a:t>
              </a:r>
            </a:p>
          </p:txBody>
        </p:sp>
        <p:sp>
          <p:nvSpPr>
            <p:cNvPr id="6165" name="Text Box 20">
              <a:extLst>
                <a:ext uri="{FF2B5EF4-FFF2-40B4-BE49-F238E27FC236}">
                  <a16:creationId xmlns:a16="http://schemas.microsoft.com/office/drawing/2014/main" id="{37D07BB9-EF4B-47C9-B306-650600F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99"/>
                  </a:solidFill>
                </a:rPr>
                <a:t>D</a:t>
              </a:r>
            </a:p>
          </p:txBody>
        </p:sp>
      </p:grpSp>
      <p:graphicFrame>
        <p:nvGraphicFramePr>
          <p:cNvPr id="216087" name="Object 23">
            <a:extLst>
              <a:ext uri="{FF2B5EF4-FFF2-40B4-BE49-F238E27FC236}">
                <a16:creationId xmlns:a16="http://schemas.microsoft.com/office/drawing/2014/main" id="{52F85A77-CF87-45CC-8E5A-5CE35BFC8B0E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5486400" y="1219200"/>
          <a:ext cx="3400425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9" name="VISIO" r:id="rId3" imgW="2299716" imgH="2115312" progId="Visio.Drawing.4">
                  <p:embed/>
                </p:oleObj>
              </mc:Choice>
              <mc:Fallback>
                <p:oleObj name="VISIO" r:id="rId3" imgW="2299716" imgH="2115312" progId="Visio.Drawing.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219200"/>
                        <a:ext cx="3400425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90" name="AutoShape 26">
            <a:extLst>
              <a:ext uri="{FF2B5EF4-FFF2-40B4-BE49-F238E27FC236}">
                <a16:creationId xmlns:a16="http://schemas.microsoft.com/office/drawing/2014/main" id="{8B6F2820-19B5-4061-8B38-95C72E83C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514600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21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9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F64BD7A3-BD08-48CE-8B24-439CEC95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7171" name="文本占位符 2">
            <a:extLst>
              <a:ext uri="{FF2B5EF4-FFF2-40B4-BE49-F238E27FC236}">
                <a16:creationId xmlns:a16="http://schemas.microsoft.com/office/drawing/2014/main" id="{69121374-FC06-462E-8F62-9287AB97491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143000"/>
            <a:ext cx="7543800" cy="4987925"/>
          </a:xfrm>
        </p:spPr>
        <p:txBody>
          <a:bodyPr/>
          <a:lstStyle/>
          <a:p>
            <a:r>
              <a:rPr lang="zh-CN" altLang="en-US"/>
              <a:t>研讨内容</a:t>
            </a:r>
            <a:endParaRPr lang="en-US" altLang="zh-CN"/>
          </a:p>
          <a:p>
            <a:pPr lvl="1"/>
            <a:r>
              <a:rPr lang="zh-CN" altLang="en-US"/>
              <a:t>最小支撑树问题</a:t>
            </a:r>
            <a:endParaRPr lang="en-US" altLang="zh-CN"/>
          </a:p>
          <a:p>
            <a:pPr lvl="1"/>
            <a:r>
              <a:rPr lang="zh-CN" altLang="en-US"/>
              <a:t>中国邮递员问题</a:t>
            </a:r>
            <a:endParaRPr lang="en-US" altLang="zh-CN"/>
          </a:p>
          <a:p>
            <a:pPr lvl="1"/>
            <a:r>
              <a:rPr lang="zh-CN" altLang="en-US"/>
              <a:t>最短路问题</a:t>
            </a:r>
            <a:endParaRPr lang="en-US" altLang="zh-CN"/>
          </a:p>
          <a:p>
            <a:pPr lvl="1"/>
            <a:endParaRPr lang="en-US" altLang="zh-CN"/>
          </a:p>
          <a:p>
            <a:r>
              <a:rPr lang="zh-CN" altLang="en-US"/>
              <a:t>最大流问题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7672BD79-F0AD-4EA2-8B5E-7F8340FDFBA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第七章之第一节</a:t>
            </a:r>
          </a:p>
        </p:txBody>
      </p:sp>
      <p:sp>
        <p:nvSpPr>
          <p:cNvPr id="8195" name="Rectangle 5">
            <a:extLst>
              <a:ext uri="{FF2B5EF4-FFF2-40B4-BE49-F238E27FC236}">
                <a16:creationId xmlns:a16="http://schemas.microsoft.com/office/drawing/2014/main" id="{B4B73ED5-8EC9-4D7C-A814-F606E40AB3B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图的基本概念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5C06C46-D87C-49EA-A358-364A6A9194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  <a:r>
              <a:rPr lang="zh-CN" altLang="en-US"/>
              <a:t>图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C86EF971-39C2-4060-9B57-71ACEA63613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001000" cy="4987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由点及点之间的连线组成</a:t>
            </a:r>
            <a:endParaRPr lang="en-US" altLang="zh-CN"/>
          </a:p>
          <a:p>
            <a:pPr eaLnBrk="1" hangingPunct="1">
              <a:lnSpc>
                <a:spcPct val="90000"/>
              </a:lnSpc>
            </a:pPr>
            <a:endParaRPr lang="en-US" altLang="zh-CN"/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点表示对象</a:t>
            </a:r>
            <a:endParaRPr lang="en-US" altLang="zh-CN"/>
          </a:p>
          <a:p>
            <a:pPr lvl="1" eaLnBrk="1" hangingPunct="1">
              <a:lnSpc>
                <a:spcPct val="90000"/>
              </a:lnSpc>
            </a:pPr>
            <a:endParaRPr lang="en-US" altLang="zh-CN"/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连线表示对象之间的关系</a:t>
            </a:r>
            <a:endParaRPr lang="en-US" altLang="zh-CN"/>
          </a:p>
        </p:txBody>
      </p:sp>
      <p:sp>
        <p:nvSpPr>
          <p:cNvPr id="9220" name="Text Box 12">
            <a:extLst>
              <a:ext uri="{FF2B5EF4-FFF2-40B4-BE49-F238E27FC236}">
                <a16:creationId xmlns:a16="http://schemas.microsoft.com/office/drawing/2014/main" id="{628EA4ED-B907-4DA7-B04E-12FF6F47A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800600"/>
            <a:ext cx="167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9A6F31C-E325-4193-9C2A-796D65AE2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  <a:r>
              <a:rPr lang="zh-CN" altLang="en-US"/>
              <a:t>图</a:t>
            </a:r>
          </a:p>
        </p:txBody>
      </p:sp>
      <p:sp>
        <p:nvSpPr>
          <p:cNvPr id="220163" name="Rectangle 3">
            <a:extLst>
              <a:ext uri="{FF2B5EF4-FFF2-40B4-BE49-F238E27FC236}">
                <a16:creationId xmlns:a16="http://schemas.microsoft.com/office/drawing/2014/main" id="{3DBF1523-3454-44D5-9635-9A2CD9F4A00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001000" cy="4987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无向图，记作</a:t>
            </a:r>
            <a:r>
              <a:rPr lang="en-US" altLang="zh-CN" dirty="0">
                <a:solidFill>
                  <a:srgbClr val="FF3300"/>
                </a:solidFill>
              </a:rPr>
              <a:t>G= (V, 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V,E</a:t>
            </a:r>
            <a:r>
              <a:rPr lang="zh-CN" altLang="en-US" dirty="0"/>
              <a:t>分别为点集合和边集合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, 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j</a:t>
            </a:r>
            <a:r>
              <a:rPr lang="zh-CN" altLang="en-US" dirty="0"/>
              <a:t>之间的边记为 </a:t>
            </a:r>
            <a:r>
              <a:rPr lang="en-US" altLang="zh-CN" dirty="0">
                <a:solidFill>
                  <a:srgbClr val="FF3300"/>
                </a:solidFill>
              </a:rPr>
              <a:t>[</a:t>
            </a:r>
            <a:r>
              <a:rPr lang="en-US" altLang="zh-CN" i="1" dirty="0">
                <a:solidFill>
                  <a:srgbClr val="FF3300"/>
                </a:solidFill>
              </a:rPr>
              <a:t>v</a:t>
            </a:r>
            <a:r>
              <a:rPr lang="en-US" altLang="zh-CN" i="1" baseline="-25000" dirty="0">
                <a:solidFill>
                  <a:srgbClr val="FF3300"/>
                </a:solidFill>
              </a:rPr>
              <a:t>i</a:t>
            </a:r>
            <a:r>
              <a:rPr lang="en-US" altLang="zh-CN" dirty="0">
                <a:solidFill>
                  <a:srgbClr val="FF3300"/>
                </a:solidFill>
              </a:rPr>
              <a:t>, </a:t>
            </a:r>
            <a:r>
              <a:rPr lang="en-US" altLang="zh-CN" i="1" dirty="0" err="1">
                <a:solidFill>
                  <a:srgbClr val="FF3300"/>
                </a:solidFill>
              </a:rPr>
              <a:t>v</a:t>
            </a:r>
            <a:r>
              <a:rPr lang="en-US" altLang="zh-CN" i="1" baseline="-25000" dirty="0" err="1">
                <a:solidFill>
                  <a:srgbClr val="FF3300"/>
                </a:solidFill>
              </a:rPr>
              <a:t>j</a:t>
            </a:r>
            <a:r>
              <a:rPr lang="en-US" altLang="zh-CN" dirty="0">
                <a:solidFill>
                  <a:srgbClr val="FF3300"/>
                </a:solidFill>
              </a:rPr>
              <a:t>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v</a:t>
            </a:r>
            <a:r>
              <a:rPr lang="zh-CN" altLang="en-US" dirty="0"/>
              <a:t>连接的边的个数 </a:t>
            </a:r>
            <a:r>
              <a:rPr lang="en-US" altLang="zh-CN" dirty="0"/>
              <a:t>d(</a:t>
            </a:r>
            <a:r>
              <a:rPr lang="en-US" altLang="zh-CN" i="1" dirty="0"/>
              <a:t>v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有向图，记作 </a:t>
            </a:r>
            <a:r>
              <a:rPr lang="en-US" altLang="zh-CN" dirty="0">
                <a:solidFill>
                  <a:srgbClr val="FF3300"/>
                </a:solidFill>
              </a:rPr>
              <a:t>D= (V, A)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V,A</a:t>
            </a:r>
            <a:r>
              <a:rPr lang="zh-CN" altLang="en-US" dirty="0"/>
              <a:t>分别为点集合和弧集合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zh-CN" altLang="en-US" dirty="0"/>
              <a:t>指向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j</a:t>
            </a:r>
            <a:r>
              <a:rPr lang="zh-CN" altLang="en-US" dirty="0"/>
              <a:t>的弧记为</a:t>
            </a:r>
            <a:r>
              <a:rPr lang="en-US" altLang="zh-CN" dirty="0">
                <a:solidFill>
                  <a:srgbClr val="FF3300"/>
                </a:solidFill>
              </a:rPr>
              <a:t>(</a:t>
            </a:r>
            <a:r>
              <a:rPr lang="en-US" altLang="zh-CN" i="1" dirty="0">
                <a:solidFill>
                  <a:srgbClr val="FF3300"/>
                </a:solidFill>
              </a:rPr>
              <a:t>v</a:t>
            </a:r>
            <a:r>
              <a:rPr lang="en-US" altLang="zh-CN" i="1" baseline="-25000" dirty="0">
                <a:solidFill>
                  <a:srgbClr val="FF3300"/>
                </a:solidFill>
              </a:rPr>
              <a:t>i</a:t>
            </a:r>
            <a:r>
              <a:rPr lang="en-US" altLang="zh-CN" dirty="0">
                <a:solidFill>
                  <a:srgbClr val="FF3300"/>
                </a:solidFill>
              </a:rPr>
              <a:t>, </a:t>
            </a:r>
            <a:r>
              <a:rPr lang="en-US" altLang="zh-CN" i="1" dirty="0" err="1">
                <a:solidFill>
                  <a:srgbClr val="FF3300"/>
                </a:solidFill>
              </a:rPr>
              <a:t>v</a:t>
            </a:r>
            <a:r>
              <a:rPr lang="en-US" altLang="zh-CN" i="1" baseline="-25000" dirty="0" err="1">
                <a:solidFill>
                  <a:srgbClr val="FF3300"/>
                </a:solidFill>
              </a:rPr>
              <a:t>j</a:t>
            </a:r>
            <a:r>
              <a:rPr lang="en-US" altLang="zh-CN" dirty="0">
                <a:solidFill>
                  <a:srgbClr val="FF3300"/>
                </a:solidFill>
              </a:rPr>
              <a:t>)</a:t>
            </a:r>
          </a:p>
        </p:txBody>
      </p:sp>
      <p:graphicFrame>
        <p:nvGraphicFramePr>
          <p:cNvPr id="220169" name="Object 9">
            <a:extLst>
              <a:ext uri="{FF2B5EF4-FFF2-40B4-BE49-F238E27FC236}">
                <a16:creationId xmlns:a16="http://schemas.microsoft.com/office/drawing/2014/main" id="{21CCD404-7EF9-4256-82C7-4A58C7C694CA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5867400" y="1219200"/>
          <a:ext cx="2209800" cy="203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3" name="SmartDraw" r:id="rId3" imgW="3099816" imgH="2848356" progId="SmartDraw.2">
                  <p:embed/>
                </p:oleObj>
              </mc:Choice>
              <mc:Fallback>
                <p:oleObj name="SmartDraw" r:id="rId3" imgW="3099816" imgH="2848356" progId="SmartDraw.2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219200"/>
                        <a:ext cx="2209800" cy="203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 Box 12">
            <a:extLst>
              <a:ext uri="{FF2B5EF4-FFF2-40B4-BE49-F238E27FC236}">
                <a16:creationId xmlns:a16="http://schemas.microsoft.com/office/drawing/2014/main" id="{3FBC4ED4-EED3-4C8E-8873-A6B401699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800600"/>
            <a:ext cx="167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b="0">
              <a:latin typeface="Arial" panose="020B0604020202020204" pitchFamily="34" charset="0"/>
            </a:endParaRPr>
          </a:p>
        </p:txBody>
      </p:sp>
      <p:graphicFrame>
        <p:nvGraphicFramePr>
          <p:cNvPr id="220173" name="Object 13">
            <a:extLst>
              <a:ext uri="{FF2B5EF4-FFF2-40B4-BE49-F238E27FC236}">
                <a16:creationId xmlns:a16="http://schemas.microsoft.com/office/drawing/2014/main" id="{B9F95015-7CFD-4D52-90B5-335454531F4F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019800" y="3886200"/>
          <a:ext cx="2286000" cy="210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4" name="SmartDraw" r:id="rId5" imgW="3099816" imgH="2848356" progId="SmartDraw.2">
                  <p:embed/>
                </p:oleObj>
              </mc:Choice>
              <mc:Fallback>
                <p:oleObj name="SmartDraw" r:id="rId5" imgW="3099816" imgH="2848356" progId="SmartDraw.2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886200"/>
                        <a:ext cx="2286000" cy="210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4AFFC73-9852-4A52-8DC7-4ECD899FA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  <a:r>
              <a:rPr lang="zh-CN" altLang="en-US"/>
              <a:t>链与路、圈与回路</a:t>
            </a:r>
          </a:p>
        </p:txBody>
      </p:sp>
      <p:sp>
        <p:nvSpPr>
          <p:cNvPr id="221187" name="Rectangle 3">
            <a:extLst>
              <a:ext uri="{FF2B5EF4-FFF2-40B4-BE49-F238E27FC236}">
                <a16:creationId xmlns:a16="http://schemas.microsoft.com/office/drawing/2014/main" id="{D8BF6970-6A52-46F8-BC84-915477AB0F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无向图</a:t>
            </a:r>
          </a:p>
          <a:p>
            <a:pPr lvl="1" eaLnBrk="1" hangingPunct="1"/>
            <a:r>
              <a:rPr lang="zh-CN" altLang="en-US"/>
              <a:t>链：点边交错的序列</a:t>
            </a:r>
          </a:p>
          <a:p>
            <a:pPr lvl="1" eaLnBrk="1" hangingPunct="1"/>
            <a:r>
              <a:rPr lang="zh-CN" altLang="en-US"/>
              <a:t>圈：起点</a:t>
            </a:r>
            <a:r>
              <a:rPr lang="en-US" altLang="zh-CN"/>
              <a:t>=</a:t>
            </a:r>
            <a:r>
              <a:rPr lang="zh-CN" altLang="en-US"/>
              <a:t>终点的链</a:t>
            </a:r>
          </a:p>
          <a:p>
            <a:pPr eaLnBrk="1" hangingPunct="1"/>
            <a:endParaRPr lang="zh-CN" altLang="en-US"/>
          </a:p>
          <a:p>
            <a:pPr eaLnBrk="1" hangingPunct="1"/>
            <a:r>
              <a:rPr lang="zh-CN" altLang="en-US"/>
              <a:t>有向图</a:t>
            </a:r>
          </a:p>
          <a:p>
            <a:pPr lvl="1" eaLnBrk="1" hangingPunct="1"/>
            <a:r>
              <a:rPr lang="zh-CN" altLang="en-US"/>
              <a:t>路：点弧交错的序列</a:t>
            </a:r>
          </a:p>
          <a:p>
            <a:pPr lvl="1" eaLnBrk="1" hangingPunct="1"/>
            <a:r>
              <a:rPr lang="zh-CN" altLang="en-US"/>
              <a:t>回路：起点</a:t>
            </a:r>
            <a:r>
              <a:rPr lang="en-US" altLang="zh-CN"/>
              <a:t>=</a:t>
            </a:r>
            <a:r>
              <a:rPr lang="zh-CN" altLang="en-US"/>
              <a:t>终点的路</a:t>
            </a:r>
          </a:p>
        </p:txBody>
      </p:sp>
      <p:pic>
        <p:nvPicPr>
          <p:cNvPr id="221189" name="Picture 5">
            <a:extLst>
              <a:ext uri="{FF2B5EF4-FFF2-40B4-BE49-F238E27FC236}">
                <a16:creationId xmlns:a16="http://schemas.microsoft.com/office/drawing/2014/main" id="{192923AB-9B94-485B-A40C-279753F0B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219200"/>
            <a:ext cx="3095625" cy="223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1190" name="Picture 6">
            <a:extLst>
              <a:ext uri="{FF2B5EF4-FFF2-40B4-BE49-F238E27FC236}">
                <a16:creationId xmlns:a16="http://schemas.microsoft.com/office/drawing/2014/main" id="{623ABA78-0649-408E-B8C1-E1B6793A8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886200"/>
            <a:ext cx="2970213" cy="227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0" name="AutoShape 11">
            <a:extLst>
              <a:ext uri="{FF2B5EF4-FFF2-40B4-BE49-F238E27FC236}">
                <a16:creationId xmlns:a16="http://schemas.microsoft.com/office/drawing/2014/main" id="{D1D52B25-D038-4B6B-9189-831FB1AC6E6F}"/>
              </a:ext>
            </a:extLst>
          </p:cNvPr>
          <p:cNvCxnSpPr>
            <a:cxnSpLocks noChangeShapeType="1"/>
            <a:stCxn id="221187" idx="0"/>
            <a:endCxn id="221187" idx="0"/>
          </p:cNvCxnSpPr>
          <p:nvPr/>
        </p:nvCxnSpPr>
        <p:spPr bwMode="auto">
          <a:xfrm>
            <a:off x="4572000" y="1143000"/>
            <a:ext cx="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1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21C8B-6B92-44C3-BD98-4D4E6D933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初等圈与简单圈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D22539-554E-49D0-BD3A-E3BADA379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r>
              <a:rPr lang="zh-CN" altLang="en-US" dirty="0"/>
              <a:t>初等圈：圈经过的顶点都不相同</a:t>
            </a:r>
            <a:endParaRPr lang="en-US" altLang="zh-CN" dirty="0"/>
          </a:p>
          <a:p>
            <a:r>
              <a:rPr lang="zh-CN" altLang="en-US" dirty="0"/>
              <a:t>简单圈：圈经过的边都不相同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B1CCC7C-45DB-431E-800E-6A871215392D}"/>
              </a:ext>
            </a:extLst>
          </p:cNvPr>
          <p:cNvSpPr/>
          <p:nvPr/>
        </p:nvSpPr>
        <p:spPr bwMode="auto">
          <a:xfrm>
            <a:off x="3033823" y="3150782"/>
            <a:ext cx="1796903" cy="1541721"/>
          </a:xfrm>
          <a:custGeom>
            <a:avLst/>
            <a:gdLst>
              <a:gd name="connsiteX0" fmla="*/ 0 w 1796903"/>
              <a:gd name="connsiteY0" fmla="*/ 287079 h 1541721"/>
              <a:gd name="connsiteX1" fmla="*/ 1733107 w 1796903"/>
              <a:gd name="connsiteY1" fmla="*/ 0 h 1541721"/>
              <a:gd name="connsiteX2" fmla="*/ 1796903 w 1796903"/>
              <a:gd name="connsiteY2" fmla="*/ 1318437 h 1541721"/>
              <a:gd name="connsiteX3" fmla="*/ 191386 w 1796903"/>
              <a:gd name="connsiteY3" fmla="*/ 1541721 h 1541721"/>
              <a:gd name="connsiteX4" fmla="*/ 0 w 1796903"/>
              <a:gd name="connsiteY4" fmla="*/ 287079 h 1541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6903" h="1541721">
                <a:moveTo>
                  <a:pt x="0" y="287079"/>
                </a:moveTo>
                <a:lnTo>
                  <a:pt x="1733107" y="0"/>
                </a:lnTo>
                <a:lnTo>
                  <a:pt x="1796903" y="1318437"/>
                </a:lnTo>
                <a:lnTo>
                  <a:pt x="191386" y="1541721"/>
                </a:lnTo>
                <a:lnTo>
                  <a:pt x="0" y="287079"/>
                </a:lnTo>
                <a:close/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00253F6E-3C48-4B44-BE82-804417CC7A8D}"/>
              </a:ext>
            </a:extLst>
          </p:cNvPr>
          <p:cNvSpPr/>
          <p:nvPr/>
        </p:nvSpPr>
        <p:spPr bwMode="auto">
          <a:xfrm>
            <a:off x="4572000" y="2985977"/>
            <a:ext cx="1892595" cy="2743200"/>
          </a:xfrm>
          <a:custGeom>
            <a:avLst/>
            <a:gdLst>
              <a:gd name="connsiteX0" fmla="*/ 191386 w 1892595"/>
              <a:gd name="connsiteY0" fmla="*/ 180754 h 2743200"/>
              <a:gd name="connsiteX1" fmla="*/ 1435395 w 1892595"/>
              <a:gd name="connsiteY1" fmla="*/ 0 h 2743200"/>
              <a:gd name="connsiteX2" fmla="*/ 255181 w 1892595"/>
              <a:gd name="connsiteY2" fmla="*/ 1477926 h 2743200"/>
              <a:gd name="connsiteX3" fmla="*/ 0 w 1892595"/>
              <a:gd name="connsiteY3" fmla="*/ 2743200 h 2743200"/>
              <a:gd name="connsiteX4" fmla="*/ 1892595 w 1892595"/>
              <a:gd name="connsiteY4" fmla="*/ 2551814 h 2743200"/>
              <a:gd name="connsiteX5" fmla="*/ 1424763 w 1892595"/>
              <a:gd name="connsiteY5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92595" h="2743200">
                <a:moveTo>
                  <a:pt x="191386" y="180754"/>
                </a:moveTo>
                <a:lnTo>
                  <a:pt x="1435395" y="0"/>
                </a:lnTo>
                <a:lnTo>
                  <a:pt x="255181" y="1477926"/>
                </a:lnTo>
                <a:lnTo>
                  <a:pt x="0" y="2743200"/>
                </a:lnTo>
                <a:lnTo>
                  <a:pt x="1892595" y="2551814"/>
                </a:lnTo>
                <a:lnTo>
                  <a:pt x="1424763" y="0"/>
                </a:ln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54050D4A-2814-4AA0-A570-33A7963AE116}"/>
              </a:ext>
            </a:extLst>
          </p:cNvPr>
          <p:cNvSpPr/>
          <p:nvPr/>
        </p:nvSpPr>
        <p:spPr bwMode="auto">
          <a:xfrm>
            <a:off x="3030279" y="2998381"/>
            <a:ext cx="3455581" cy="2721935"/>
          </a:xfrm>
          <a:custGeom>
            <a:avLst/>
            <a:gdLst>
              <a:gd name="connsiteX0" fmla="*/ 1733107 w 3455581"/>
              <a:gd name="connsiteY0" fmla="*/ 148856 h 2721935"/>
              <a:gd name="connsiteX1" fmla="*/ 0 w 3455581"/>
              <a:gd name="connsiteY1" fmla="*/ 435935 h 2721935"/>
              <a:gd name="connsiteX2" fmla="*/ 212651 w 3455581"/>
              <a:gd name="connsiteY2" fmla="*/ 1701210 h 2721935"/>
              <a:gd name="connsiteX3" fmla="*/ 1807535 w 3455581"/>
              <a:gd name="connsiteY3" fmla="*/ 1456661 h 2721935"/>
              <a:gd name="connsiteX4" fmla="*/ 1541721 w 3455581"/>
              <a:gd name="connsiteY4" fmla="*/ 2721935 h 2721935"/>
              <a:gd name="connsiteX5" fmla="*/ 3455581 w 3455581"/>
              <a:gd name="connsiteY5" fmla="*/ 2530549 h 2721935"/>
              <a:gd name="connsiteX6" fmla="*/ 2966484 w 3455581"/>
              <a:gd name="connsiteY6" fmla="*/ 0 h 2721935"/>
              <a:gd name="connsiteX7" fmla="*/ 1839433 w 3455581"/>
              <a:gd name="connsiteY7" fmla="*/ 1403498 h 2721935"/>
              <a:gd name="connsiteX8" fmla="*/ 1733107 w 3455581"/>
              <a:gd name="connsiteY8" fmla="*/ 148856 h 272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5581" h="2721935">
                <a:moveTo>
                  <a:pt x="1733107" y="148856"/>
                </a:moveTo>
                <a:lnTo>
                  <a:pt x="0" y="435935"/>
                </a:lnTo>
                <a:lnTo>
                  <a:pt x="212651" y="1701210"/>
                </a:lnTo>
                <a:lnTo>
                  <a:pt x="1807535" y="1456661"/>
                </a:lnTo>
                <a:lnTo>
                  <a:pt x="1541721" y="2721935"/>
                </a:lnTo>
                <a:lnTo>
                  <a:pt x="3455581" y="2530549"/>
                </a:lnTo>
                <a:lnTo>
                  <a:pt x="2966484" y="0"/>
                </a:lnTo>
                <a:lnTo>
                  <a:pt x="1839433" y="1403498"/>
                </a:lnTo>
                <a:lnTo>
                  <a:pt x="1733107" y="148856"/>
                </a:lnTo>
                <a:close/>
              </a:path>
            </a:pathLst>
          </a:cu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627A6D-46D2-4156-879E-BD2BE48A8AD6}"/>
              </a:ext>
            </a:extLst>
          </p:cNvPr>
          <p:cNvSpPr txBox="1"/>
          <p:nvPr/>
        </p:nvSpPr>
        <p:spPr>
          <a:xfrm>
            <a:off x="2818966" y="298420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494119-4BA0-42B9-A160-1872909F40C8}"/>
              </a:ext>
            </a:extLst>
          </p:cNvPr>
          <p:cNvSpPr txBox="1"/>
          <p:nvPr/>
        </p:nvSpPr>
        <p:spPr>
          <a:xfrm>
            <a:off x="2921259" y="455756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19DF89-B466-45B2-8BCE-B89859C0BB79}"/>
              </a:ext>
            </a:extLst>
          </p:cNvPr>
          <p:cNvSpPr txBox="1"/>
          <p:nvPr/>
        </p:nvSpPr>
        <p:spPr>
          <a:xfrm>
            <a:off x="4405169" y="442157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ECE681-7E51-433D-9774-D59A7C7B9FB0}"/>
              </a:ext>
            </a:extLst>
          </p:cNvPr>
          <p:cNvSpPr txBox="1"/>
          <p:nvPr/>
        </p:nvSpPr>
        <p:spPr>
          <a:xfrm>
            <a:off x="4223068" y="552580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A09DC2A-88FC-43F5-83DE-55D9ADF92B34}"/>
              </a:ext>
            </a:extLst>
          </p:cNvPr>
          <p:cNvSpPr txBox="1"/>
          <p:nvPr/>
        </p:nvSpPr>
        <p:spPr>
          <a:xfrm>
            <a:off x="6515072" y="52234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9C55F19-4B82-44D4-9853-67E9B2683E7C}"/>
              </a:ext>
            </a:extLst>
          </p:cNvPr>
          <p:cNvSpPr txBox="1"/>
          <p:nvPr/>
        </p:nvSpPr>
        <p:spPr>
          <a:xfrm>
            <a:off x="6004710" y="265372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85AC7F1-61AB-4516-AD32-40A515AE5E67}"/>
              </a:ext>
            </a:extLst>
          </p:cNvPr>
          <p:cNvSpPr txBox="1"/>
          <p:nvPr/>
        </p:nvSpPr>
        <p:spPr>
          <a:xfrm>
            <a:off x="4536070" y="265372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2624722-B1B1-42E7-8E04-47F74F029A95}"/>
              </a:ext>
            </a:extLst>
          </p:cNvPr>
          <p:cNvSpPr txBox="1"/>
          <p:nvPr/>
        </p:nvSpPr>
        <p:spPr>
          <a:xfrm>
            <a:off x="1308423" y="5945515"/>
            <a:ext cx="6819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7-1-2-3-4-5-6-3-7 </a:t>
            </a:r>
            <a:r>
              <a:rPr lang="zh-CN" altLang="en-US" dirty="0"/>
              <a:t>为简单圈，但不是初等圈</a:t>
            </a:r>
          </a:p>
        </p:txBody>
      </p:sp>
    </p:spTree>
    <p:extLst>
      <p:ext uri="{BB962C8B-B14F-4D97-AF65-F5344CB8AC3E}">
        <p14:creationId xmlns:p14="http://schemas.microsoft.com/office/powerpoint/2010/main" val="2952184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86CE927-9E81-453D-800F-A27E4C6382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连通图</a:t>
            </a: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7183F11B-4FD4-4AF4-9DFB-120D946A73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任何两点之间至少存在一条链的图称为</a:t>
            </a:r>
            <a:r>
              <a:rPr lang="zh-CN" altLang="en-US">
                <a:solidFill>
                  <a:srgbClr val="FF3300"/>
                </a:solidFill>
              </a:rPr>
              <a:t>连通图</a:t>
            </a:r>
            <a:r>
              <a:rPr lang="zh-CN" altLang="en-US"/>
              <a:t>，否则为</a:t>
            </a:r>
            <a:r>
              <a:rPr lang="zh-CN" altLang="en-US">
                <a:solidFill>
                  <a:srgbClr val="FF3300"/>
                </a:solidFill>
              </a:rPr>
              <a:t>不连通图</a:t>
            </a:r>
          </a:p>
          <a:p>
            <a:pPr lvl="1" eaLnBrk="1" hangingPunct="1"/>
            <a:r>
              <a:rPr lang="zh-CN" altLang="en-US"/>
              <a:t>不连通图</a:t>
            </a:r>
            <a:r>
              <a:rPr lang="en-US" altLang="zh-CN"/>
              <a:t>G</a:t>
            </a:r>
            <a:r>
              <a:rPr lang="zh-CN" altLang="en-US"/>
              <a:t>的每个连通部分称为</a:t>
            </a:r>
            <a:r>
              <a:rPr lang="en-US" altLang="zh-CN"/>
              <a:t>G</a:t>
            </a:r>
            <a:r>
              <a:rPr lang="zh-CN" altLang="en-US"/>
              <a:t>的</a:t>
            </a:r>
            <a:r>
              <a:rPr lang="zh-CN" altLang="en-US">
                <a:solidFill>
                  <a:srgbClr val="FF3300"/>
                </a:solidFill>
              </a:rPr>
              <a:t>连通分图</a:t>
            </a:r>
          </a:p>
        </p:txBody>
      </p:sp>
      <p:cxnSp>
        <p:nvCxnSpPr>
          <p:cNvPr id="12292" name="AutoShape 4">
            <a:extLst>
              <a:ext uri="{FF2B5EF4-FFF2-40B4-BE49-F238E27FC236}">
                <a16:creationId xmlns:a16="http://schemas.microsoft.com/office/drawing/2014/main" id="{44A254F5-F162-40D1-9E0F-B4A5EA1AFF58}"/>
              </a:ext>
            </a:extLst>
          </p:cNvPr>
          <p:cNvCxnSpPr>
            <a:cxnSpLocks noChangeShapeType="1"/>
            <a:stCxn id="222211" idx="1"/>
            <a:endCxn id="222211" idx="1"/>
          </p:cNvCxnSpPr>
          <p:nvPr/>
        </p:nvCxnSpPr>
        <p:spPr bwMode="auto">
          <a:xfrm>
            <a:off x="457200" y="3636963"/>
            <a:ext cx="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Group 40">
            <a:extLst>
              <a:ext uri="{FF2B5EF4-FFF2-40B4-BE49-F238E27FC236}">
                <a16:creationId xmlns:a16="http://schemas.microsoft.com/office/drawing/2014/main" id="{81984A5A-2F87-4603-97B1-E548AEAAA710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3352800"/>
            <a:ext cx="6705600" cy="2438400"/>
            <a:chOff x="960" y="2112"/>
            <a:chExt cx="4224" cy="1536"/>
          </a:xfrm>
        </p:grpSpPr>
        <p:sp>
          <p:nvSpPr>
            <p:cNvPr id="12294" name="Line 35">
              <a:extLst>
                <a:ext uri="{FF2B5EF4-FFF2-40B4-BE49-F238E27FC236}">
                  <a16:creationId xmlns:a16="http://schemas.microsoft.com/office/drawing/2014/main" id="{8111E0FC-ADE5-4AFD-94C9-69AD9E0E9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3168"/>
              <a:ext cx="288" cy="384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5" name="Line 33">
              <a:extLst>
                <a:ext uri="{FF2B5EF4-FFF2-40B4-BE49-F238E27FC236}">
                  <a16:creationId xmlns:a16="http://schemas.microsoft.com/office/drawing/2014/main" id="{0ADFA41F-CA77-4CE2-8675-2F1ECDEF9F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2256"/>
              <a:ext cx="48" cy="912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6" name="Oval 23">
              <a:extLst>
                <a:ext uri="{FF2B5EF4-FFF2-40B4-BE49-F238E27FC236}">
                  <a16:creationId xmlns:a16="http://schemas.microsoft.com/office/drawing/2014/main" id="{30F8475F-A255-4F24-BF85-79FBCA7D2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160"/>
              <a:ext cx="144" cy="144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12297" name="Oval 25">
              <a:extLst>
                <a:ext uri="{FF2B5EF4-FFF2-40B4-BE49-F238E27FC236}">
                  <a16:creationId xmlns:a16="http://schemas.microsoft.com/office/drawing/2014/main" id="{92C04501-15AD-4E55-BDE6-5D074A7A8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976"/>
              <a:ext cx="144" cy="144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12298" name="Oval 26">
              <a:extLst>
                <a:ext uri="{FF2B5EF4-FFF2-40B4-BE49-F238E27FC236}">
                  <a16:creationId xmlns:a16="http://schemas.microsoft.com/office/drawing/2014/main" id="{39136272-3553-4767-A442-9D7252690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504"/>
              <a:ext cx="144" cy="144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12299" name="Oval 27">
              <a:extLst>
                <a:ext uri="{FF2B5EF4-FFF2-40B4-BE49-F238E27FC236}">
                  <a16:creationId xmlns:a16="http://schemas.microsoft.com/office/drawing/2014/main" id="{08817874-0378-47BA-A2C6-90621794B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112"/>
              <a:ext cx="144" cy="144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12300" name="Oval 28">
              <a:extLst>
                <a:ext uri="{FF2B5EF4-FFF2-40B4-BE49-F238E27FC236}">
                  <a16:creationId xmlns:a16="http://schemas.microsoft.com/office/drawing/2014/main" id="{C73F678C-8583-4196-8D43-DD051B4B2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072"/>
              <a:ext cx="144" cy="144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12301" name="Oval 29">
              <a:extLst>
                <a:ext uri="{FF2B5EF4-FFF2-40B4-BE49-F238E27FC236}">
                  <a16:creationId xmlns:a16="http://schemas.microsoft.com/office/drawing/2014/main" id="{644207E8-643F-433C-9122-017ECB85F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208"/>
              <a:ext cx="144" cy="144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12302" name="Oval 30">
              <a:extLst>
                <a:ext uri="{FF2B5EF4-FFF2-40B4-BE49-F238E27FC236}">
                  <a16:creationId xmlns:a16="http://schemas.microsoft.com/office/drawing/2014/main" id="{26F66F23-293E-47A4-9DCE-148EC52AD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832"/>
              <a:ext cx="144" cy="144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12303" name="Oval 31">
              <a:extLst>
                <a:ext uri="{FF2B5EF4-FFF2-40B4-BE49-F238E27FC236}">
                  <a16:creationId xmlns:a16="http://schemas.microsoft.com/office/drawing/2014/main" id="{9ABBC4A7-B2A5-4614-A76B-94E23E3E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408"/>
              <a:ext cx="144" cy="144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12304" name="Line 32">
              <a:extLst>
                <a:ext uri="{FF2B5EF4-FFF2-40B4-BE49-F238E27FC236}">
                  <a16:creationId xmlns:a16="http://schemas.microsoft.com/office/drawing/2014/main" id="{3ADC7996-E7EA-4E4D-B19C-368EBD0437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2160"/>
              <a:ext cx="1056" cy="48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5" name="Line 34">
              <a:extLst>
                <a:ext uri="{FF2B5EF4-FFF2-40B4-BE49-F238E27FC236}">
                  <a16:creationId xmlns:a16="http://schemas.microsoft.com/office/drawing/2014/main" id="{AF65CB5A-06F5-465E-AFBB-54B2F2FB8A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072"/>
              <a:ext cx="1008" cy="48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6" name="Line 36">
              <a:extLst>
                <a:ext uri="{FF2B5EF4-FFF2-40B4-BE49-F238E27FC236}">
                  <a16:creationId xmlns:a16="http://schemas.microsoft.com/office/drawing/2014/main" id="{E6ED85C5-C0A9-4CE4-8DB6-C83B1A6457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304"/>
              <a:ext cx="48" cy="672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7" name="Line 37">
              <a:extLst>
                <a:ext uri="{FF2B5EF4-FFF2-40B4-BE49-F238E27FC236}">
                  <a16:creationId xmlns:a16="http://schemas.microsoft.com/office/drawing/2014/main" id="{199C4197-8526-4B77-821A-B46EE3174E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8" y="2352"/>
              <a:ext cx="384" cy="528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8" name="Line 38">
              <a:extLst>
                <a:ext uri="{FF2B5EF4-FFF2-40B4-BE49-F238E27FC236}">
                  <a16:creationId xmlns:a16="http://schemas.microsoft.com/office/drawing/2014/main" id="{66D5CCA0-ACDA-4CCD-9BB1-22D8830D8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352"/>
              <a:ext cx="144" cy="1056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9" name="Text Box 39">
              <a:extLst>
                <a:ext uri="{FF2B5EF4-FFF2-40B4-BE49-F238E27FC236}">
                  <a16:creationId xmlns:a16="http://schemas.microsoft.com/office/drawing/2014/main" id="{12DA095F-E714-48CB-B2DE-E255F2764F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448"/>
              <a:ext cx="1296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不连通图，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两个连通分图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6799F58-8EB8-49F1-8511-1ED029B1E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支撑子图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432E495-2630-469B-854A-A90EC3298A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2286000"/>
          </a:xfrm>
        </p:spPr>
        <p:txBody>
          <a:bodyPr/>
          <a:lstStyle/>
          <a:p>
            <a:pPr eaLnBrk="1" hangingPunct="1"/>
            <a:r>
              <a:rPr lang="zh-CN" altLang="en-US"/>
              <a:t>图</a:t>
            </a:r>
            <a:r>
              <a:rPr lang="en-US" altLang="zh-CN"/>
              <a:t>G=(V</a:t>
            </a:r>
            <a:r>
              <a:rPr lang="zh-CN" altLang="en-US"/>
              <a:t>，</a:t>
            </a:r>
            <a:r>
              <a:rPr lang="en-US" altLang="zh-CN"/>
              <a:t>E) </a:t>
            </a:r>
            <a:r>
              <a:rPr lang="zh-CN" altLang="en-US"/>
              <a:t>和 </a:t>
            </a:r>
            <a:r>
              <a:rPr lang="en-US" altLang="zh-CN"/>
              <a:t>G'=(V '</a:t>
            </a:r>
            <a:r>
              <a:rPr lang="zh-CN" altLang="en-US"/>
              <a:t>，</a:t>
            </a:r>
            <a:r>
              <a:rPr lang="en-US" altLang="zh-CN"/>
              <a:t>E ')</a:t>
            </a:r>
            <a:r>
              <a:rPr lang="zh-CN" altLang="en-US"/>
              <a:t>，若</a:t>
            </a:r>
            <a:r>
              <a:rPr lang="en-US" altLang="zh-CN"/>
              <a:t>V =V '</a:t>
            </a:r>
            <a:r>
              <a:rPr lang="zh-CN" altLang="en-US"/>
              <a:t>且</a:t>
            </a:r>
            <a:r>
              <a:rPr lang="en-US" altLang="zh-CN"/>
              <a:t>E '     E </a:t>
            </a:r>
            <a:r>
              <a:rPr lang="zh-CN" altLang="en-US"/>
              <a:t>，则称</a:t>
            </a:r>
            <a:r>
              <a:rPr lang="en-US" altLang="zh-CN"/>
              <a:t>G'</a:t>
            </a:r>
            <a:r>
              <a:rPr lang="zh-CN" altLang="en-US"/>
              <a:t>为</a:t>
            </a:r>
            <a:r>
              <a:rPr lang="en-US" altLang="zh-CN"/>
              <a:t>G</a:t>
            </a:r>
            <a:r>
              <a:rPr lang="zh-CN" altLang="en-US"/>
              <a:t>的支撑子图</a:t>
            </a:r>
          </a:p>
          <a:p>
            <a:pPr eaLnBrk="1" hangingPunct="1"/>
            <a:endParaRPr lang="en-US" altLang="zh-CN"/>
          </a:p>
        </p:txBody>
      </p:sp>
      <p:graphicFrame>
        <p:nvGraphicFramePr>
          <p:cNvPr id="13316" name="Object 4">
            <a:extLst>
              <a:ext uri="{FF2B5EF4-FFF2-40B4-BE49-F238E27FC236}">
                <a16:creationId xmlns:a16="http://schemas.microsoft.com/office/drawing/2014/main" id="{6550FAB8-8773-4992-B0CF-0E4ED69CEC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1727200"/>
          <a:ext cx="609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7" name="公式" r:id="rId3" imgW="152268" imgH="152268" progId="Equation.3">
                  <p:embed/>
                </p:oleObj>
              </mc:Choice>
              <mc:Fallback>
                <p:oleObj name="公式" r:id="rId3" imgW="152268" imgH="15226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727200"/>
                        <a:ext cx="609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6">
            <a:extLst>
              <a:ext uri="{FF2B5EF4-FFF2-40B4-BE49-F238E27FC236}">
                <a16:creationId xmlns:a16="http://schemas.microsoft.com/office/drawing/2014/main" id="{DD21CDE6-6B79-433A-ADC4-B940DAB5901A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138488"/>
            <a:ext cx="1295400" cy="3186112"/>
            <a:chOff x="1392" y="1977"/>
            <a:chExt cx="816" cy="2007"/>
          </a:xfrm>
        </p:grpSpPr>
        <p:sp>
          <p:nvSpPr>
            <p:cNvPr id="13330" name="Oval 6">
              <a:extLst>
                <a:ext uri="{FF2B5EF4-FFF2-40B4-BE49-F238E27FC236}">
                  <a16:creationId xmlns:a16="http://schemas.microsoft.com/office/drawing/2014/main" id="{F0985521-4950-4C5D-A5C5-B6EA6E43B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977"/>
              <a:ext cx="96" cy="96"/>
            </a:xfrm>
            <a:prstGeom prst="ellipse">
              <a:avLst/>
            </a:prstGeom>
            <a:solidFill>
              <a:srgbClr val="3366FF"/>
            </a:solidFill>
            <a:ln w="3175">
              <a:solidFill>
                <a:srgbClr val="3366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13331" name="Oval 7">
              <a:extLst>
                <a:ext uri="{FF2B5EF4-FFF2-40B4-BE49-F238E27FC236}">
                  <a16:creationId xmlns:a16="http://schemas.microsoft.com/office/drawing/2014/main" id="{06197EE4-BE8D-44B9-9CBE-6FE91DD72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409"/>
              <a:ext cx="96" cy="96"/>
            </a:xfrm>
            <a:prstGeom prst="ellipse">
              <a:avLst/>
            </a:prstGeom>
            <a:solidFill>
              <a:srgbClr val="3366FF"/>
            </a:solidFill>
            <a:ln w="3175">
              <a:solidFill>
                <a:srgbClr val="3366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13332" name="Oval 8">
              <a:extLst>
                <a:ext uri="{FF2B5EF4-FFF2-40B4-BE49-F238E27FC236}">
                  <a16:creationId xmlns:a16="http://schemas.microsoft.com/office/drawing/2014/main" id="{DEE1D67E-EBD7-4ACB-B6E5-8921C7198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409"/>
              <a:ext cx="96" cy="96"/>
            </a:xfrm>
            <a:prstGeom prst="ellipse">
              <a:avLst/>
            </a:prstGeom>
            <a:solidFill>
              <a:srgbClr val="3366FF"/>
            </a:solidFill>
            <a:ln w="3175">
              <a:solidFill>
                <a:srgbClr val="3366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13333" name="Oval 9">
              <a:extLst>
                <a:ext uri="{FF2B5EF4-FFF2-40B4-BE49-F238E27FC236}">
                  <a16:creationId xmlns:a16="http://schemas.microsoft.com/office/drawing/2014/main" id="{CFAE446C-B747-4AC9-BC5E-51A31BE4A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417"/>
              <a:ext cx="96" cy="96"/>
            </a:xfrm>
            <a:prstGeom prst="ellipse">
              <a:avLst/>
            </a:prstGeom>
            <a:solidFill>
              <a:srgbClr val="3366FF"/>
            </a:solidFill>
            <a:ln w="3175">
              <a:solidFill>
                <a:srgbClr val="3366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13334" name="Oval 10">
              <a:extLst>
                <a:ext uri="{FF2B5EF4-FFF2-40B4-BE49-F238E27FC236}">
                  <a16:creationId xmlns:a16="http://schemas.microsoft.com/office/drawing/2014/main" id="{EDF05991-4479-4C5C-809E-1567BAAFF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417"/>
              <a:ext cx="96" cy="96"/>
            </a:xfrm>
            <a:prstGeom prst="ellipse">
              <a:avLst/>
            </a:prstGeom>
            <a:solidFill>
              <a:srgbClr val="3366FF"/>
            </a:solidFill>
            <a:ln w="3175">
              <a:solidFill>
                <a:srgbClr val="3366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13335" name="Line 11">
              <a:extLst>
                <a:ext uri="{FF2B5EF4-FFF2-40B4-BE49-F238E27FC236}">
                  <a16:creationId xmlns:a16="http://schemas.microsoft.com/office/drawing/2014/main" id="{41B8FCE7-0012-47C3-96B2-EF9D29E700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2073"/>
              <a:ext cx="336" cy="336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6" name="Line 12">
              <a:extLst>
                <a:ext uri="{FF2B5EF4-FFF2-40B4-BE49-F238E27FC236}">
                  <a16:creationId xmlns:a16="http://schemas.microsoft.com/office/drawing/2014/main" id="{A79EA1F1-DA49-4F92-BB5B-AC93D0ABB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073"/>
              <a:ext cx="240" cy="336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7" name="Line 13">
              <a:extLst>
                <a:ext uri="{FF2B5EF4-FFF2-40B4-BE49-F238E27FC236}">
                  <a16:creationId xmlns:a16="http://schemas.microsoft.com/office/drawing/2014/main" id="{950BA545-C908-4AB8-9B3A-CEC1876CE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505"/>
              <a:ext cx="0" cy="96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8" name="Line 14">
              <a:extLst>
                <a:ext uri="{FF2B5EF4-FFF2-40B4-BE49-F238E27FC236}">
                  <a16:creationId xmlns:a16="http://schemas.microsoft.com/office/drawing/2014/main" id="{E115EC13-0AC3-4CB6-91E3-7D56603E1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457"/>
              <a:ext cx="672" cy="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9" name="Line 15">
              <a:extLst>
                <a:ext uri="{FF2B5EF4-FFF2-40B4-BE49-F238E27FC236}">
                  <a16:creationId xmlns:a16="http://schemas.microsoft.com/office/drawing/2014/main" id="{1F6A973D-1173-4D7D-BBAC-C33C54682A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457"/>
              <a:ext cx="0" cy="1056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0" name="Line 16">
              <a:extLst>
                <a:ext uri="{FF2B5EF4-FFF2-40B4-BE49-F238E27FC236}">
                  <a16:creationId xmlns:a16="http://schemas.microsoft.com/office/drawing/2014/main" id="{21A2938B-C211-4A0D-900A-44B4F0ED3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465"/>
              <a:ext cx="672" cy="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1" name="Line 17">
              <a:extLst>
                <a:ext uri="{FF2B5EF4-FFF2-40B4-BE49-F238E27FC236}">
                  <a16:creationId xmlns:a16="http://schemas.microsoft.com/office/drawing/2014/main" id="{11ABEB5E-1C00-40B0-B5AE-B4348A71C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457"/>
              <a:ext cx="672" cy="1008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2" name="Freeform 20">
              <a:extLst>
                <a:ext uri="{FF2B5EF4-FFF2-40B4-BE49-F238E27FC236}">
                  <a16:creationId xmlns:a16="http://schemas.microsoft.com/office/drawing/2014/main" id="{2AA77A2C-326C-45A7-A326-084E9A020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2265"/>
              <a:ext cx="672" cy="144"/>
            </a:xfrm>
            <a:custGeom>
              <a:avLst/>
              <a:gdLst>
                <a:gd name="T0" fmla="*/ 0 w 672"/>
                <a:gd name="T1" fmla="*/ 144 h 144"/>
                <a:gd name="T2" fmla="*/ 384 w 672"/>
                <a:gd name="T3" fmla="*/ 0 h 144"/>
                <a:gd name="T4" fmla="*/ 672 w 672"/>
                <a:gd name="T5" fmla="*/ 144 h 144"/>
                <a:gd name="T6" fmla="*/ 0 60000 65536"/>
                <a:gd name="T7" fmla="*/ 0 60000 65536"/>
                <a:gd name="T8" fmla="*/ 0 60000 65536"/>
                <a:gd name="T9" fmla="*/ 0 w 672"/>
                <a:gd name="T10" fmla="*/ 0 h 144"/>
                <a:gd name="T11" fmla="*/ 672 w 672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144">
                  <a:moveTo>
                    <a:pt x="0" y="144"/>
                  </a:moveTo>
                  <a:cubicBezTo>
                    <a:pt x="136" y="72"/>
                    <a:pt x="272" y="0"/>
                    <a:pt x="384" y="0"/>
                  </a:cubicBezTo>
                  <a:cubicBezTo>
                    <a:pt x="496" y="0"/>
                    <a:pt x="584" y="72"/>
                    <a:pt x="672" y="144"/>
                  </a:cubicBezTo>
                </a:path>
              </a:pathLst>
            </a:cu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3" name="Text Box 34">
              <a:extLst>
                <a:ext uri="{FF2B5EF4-FFF2-40B4-BE49-F238E27FC236}">
                  <a16:creationId xmlns:a16="http://schemas.microsoft.com/office/drawing/2014/main" id="{8273917B-2E57-48AC-885D-9783AEDC2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3657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图 </a:t>
              </a:r>
              <a:r>
                <a:rPr lang="en-US" altLang="zh-CN" sz="2800">
                  <a:solidFill>
                    <a:schemeClr val="accent2"/>
                  </a:solidFill>
                </a:rPr>
                <a:t>G</a:t>
              </a:r>
            </a:p>
          </p:txBody>
        </p:sp>
      </p:grpSp>
      <p:grpSp>
        <p:nvGrpSpPr>
          <p:cNvPr id="3" name="Group 37">
            <a:extLst>
              <a:ext uri="{FF2B5EF4-FFF2-40B4-BE49-F238E27FC236}">
                <a16:creationId xmlns:a16="http://schemas.microsoft.com/office/drawing/2014/main" id="{FEFA7572-7D37-46ED-A4CF-D3F304530840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3124200"/>
            <a:ext cx="1676400" cy="3262313"/>
            <a:chOff x="3456" y="1968"/>
            <a:chExt cx="1056" cy="2055"/>
          </a:xfrm>
        </p:grpSpPr>
        <p:sp>
          <p:nvSpPr>
            <p:cNvPr id="13319" name="Oval 21">
              <a:extLst>
                <a:ext uri="{FF2B5EF4-FFF2-40B4-BE49-F238E27FC236}">
                  <a16:creationId xmlns:a16="http://schemas.microsoft.com/office/drawing/2014/main" id="{60D2EB7F-7D6C-4F7B-89E2-ACDF40076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968"/>
              <a:ext cx="96" cy="96"/>
            </a:xfrm>
            <a:prstGeom prst="ellipse">
              <a:avLst/>
            </a:prstGeom>
            <a:solidFill>
              <a:srgbClr val="3366FF"/>
            </a:solidFill>
            <a:ln w="3175">
              <a:solidFill>
                <a:srgbClr val="3366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13320" name="Oval 22">
              <a:extLst>
                <a:ext uri="{FF2B5EF4-FFF2-40B4-BE49-F238E27FC236}">
                  <a16:creationId xmlns:a16="http://schemas.microsoft.com/office/drawing/2014/main" id="{0457AD42-8BBE-47FE-88FA-3AAA120D7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400"/>
              <a:ext cx="96" cy="96"/>
            </a:xfrm>
            <a:prstGeom prst="ellipse">
              <a:avLst/>
            </a:prstGeom>
            <a:solidFill>
              <a:srgbClr val="3366FF"/>
            </a:solidFill>
            <a:ln w="3175">
              <a:solidFill>
                <a:srgbClr val="3366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13321" name="Oval 23">
              <a:extLst>
                <a:ext uri="{FF2B5EF4-FFF2-40B4-BE49-F238E27FC236}">
                  <a16:creationId xmlns:a16="http://schemas.microsoft.com/office/drawing/2014/main" id="{E000CBDC-5178-46C2-89D1-655E9E128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400"/>
              <a:ext cx="96" cy="96"/>
            </a:xfrm>
            <a:prstGeom prst="ellipse">
              <a:avLst/>
            </a:prstGeom>
            <a:solidFill>
              <a:srgbClr val="3366FF"/>
            </a:solidFill>
            <a:ln w="3175">
              <a:solidFill>
                <a:srgbClr val="3366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13322" name="Oval 24">
              <a:extLst>
                <a:ext uri="{FF2B5EF4-FFF2-40B4-BE49-F238E27FC236}">
                  <a16:creationId xmlns:a16="http://schemas.microsoft.com/office/drawing/2014/main" id="{0AF2007A-6BC5-4555-AE60-1A6533586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408"/>
              <a:ext cx="96" cy="96"/>
            </a:xfrm>
            <a:prstGeom prst="ellipse">
              <a:avLst/>
            </a:prstGeom>
            <a:solidFill>
              <a:srgbClr val="3366FF"/>
            </a:solidFill>
            <a:ln w="3175">
              <a:solidFill>
                <a:srgbClr val="3366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13323" name="Oval 25">
              <a:extLst>
                <a:ext uri="{FF2B5EF4-FFF2-40B4-BE49-F238E27FC236}">
                  <a16:creationId xmlns:a16="http://schemas.microsoft.com/office/drawing/2014/main" id="{292F995C-3080-47E1-A908-65ACED085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3408"/>
              <a:ext cx="96" cy="96"/>
            </a:xfrm>
            <a:prstGeom prst="ellipse">
              <a:avLst/>
            </a:prstGeom>
            <a:solidFill>
              <a:srgbClr val="3366FF"/>
            </a:solidFill>
            <a:ln w="3175">
              <a:solidFill>
                <a:srgbClr val="3366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13324" name="Line 26">
              <a:extLst>
                <a:ext uri="{FF2B5EF4-FFF2-40B4-BE49-F238E27FC236}">
                  <a16:creationId xmlns:a16="http://schemas.microsoft.com/office/drawing/2014/main" id="{46A39A07-F11B-4CCD-898F-69AFFB4AB2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2064"/>
              <a:ext cx="336" cy="336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5" name="Line 28">
              <a:extLst>
                <a:ext uri="{FF2B5EF4-FFF2-40B4-BE49-F238E27FC236}">
                  <a16:creationId xmlns:a16="http://schemas.microsoft.com/office/drawing/2014/main" id="{F983CE62-629B-491D-8E59-0906B283C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2496"/>
              <a:ext cx="0" cy="96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6" name="Line 29">
              <a:extLst>
                <a:ext uri="{FF2B5EF4-FFF2-40B4-BE49-F238E27FC236}">
                  <a16:creationId xmlns:a16="http://schemas.microsoft.com/office/drawing/2014/main" id="{3F66B36C-8D40-4B92-99E9-862E03A0CD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2448"/>
              <a:ext cx="672" cy="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7" name="Line 30">
              <a:extLst>
                <a:ext uri="{FF2B5EF4-FFF2-40B4-BE49-F238E27FC236}">
                  <a16:creationId xmlns:a16="http://schemas.microsoft.com/office/drawing/2014/main" id="{8529FDF8-208E-4EFA-9DB7-2C5CD61FD0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448"/>
              <a:ext cx="0" cy="1056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8" name="Line 31">
              <a:extLst>
                <a:ext uri="{FF2B5EF4-FFF2-40B4-BE49-F238E27FC236}">
                  <a16:creationId xmlns:a16="http://schemas.microsoft.com/office/drawing/2014/main" id="{B42CD58C-D318-4E94-8520-4B95E83A67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456"/>
              <a:ext cx="672" cy="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9" name="Text Box 35">
              <a:extLst>
                <a:ext uri="{FF2B5EF4-FFF2-40B4-BE49-F238E27FC236}">
                  <a16:creationId xmlns:a16="http://schemas.microsoft.com/office/drawing/2014/main" id="{0BA667C2-F681-4B91-B9E3-052E3B04A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696"/>
              <a:ext cx="8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图 </a:t>
              </a:r>
              <a:r>
                <a:rPr lang="en-US" altLang="zh-CN" sz="2800">
                  <a:solidFill>
                    <a:schemeClr val="accent2"/>
                  </a:solidFill>
                </a:rPr>
                <a:t>G </a:t>
              </a:r>
              <a:r>
                <a:rPr lang="en-US" altLang="zh-CN" sz="2800">
                  <a:solidFill>
                    <a:schemeClr val="accent2"/>
                  </a:solidFill>
                  <a:latin typeface="Arial" panose="020B0604020202020204" pitchFamily="34" charset="0"/>
                </a:rPr>
                <a:t>'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676D069-4C31-4894-85A0-43CCAE270E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赋权图（网络）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8B0B281-A212-4423-8581-DE4749CC24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图的每条边都有一个表示一定实际含义的权数，称为赋权图。记作</a:t>
            </a:r>
            <a:r>
              <a:rPr lang="en-US" altLang="zh-CN"/>
              <a:t>D=(V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zh-CN" altLang="en-US"/>
              <a:t>，</a:t>
            </a:r>
            <a:r>
              <a:rPr lang="en-US" altLang="zh-CN"/>
              <a:t>C)</a:t>
            </a:r>
          </a:p>
          <a:p>
            <a:pPr eaLnBrk="1" hangingPunct="1"/>
            <a:endParaRPr lang="en-US" altLang="zh-CN"/>
          </a:p>
        </p:txBody>
      </p:sp>
      <p:grpSp>
        <p:nvGrpSpPr>
          <p:cNvPr id="2" name="Group 31">
            <a:extLst>
              <a:ext uri="{FF2B5EF4-FFF2-40B4-BE49-F238E27FC236}">
                <a16:creationId xmlns:a16="http://schemas.microsoft.com/office/drawing/2014/main" id="{BD2BDC48-453B-41EB-9451-554E5B3B9965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2286000"/>
            <a:ext cx="3581400" cy="4267200"/>
            <a:chOff x="1536" y="1296"/>
            <a:chExt cx="2256" cy="2688"/>
          </a:xfrm>
        </p:grpSpPr>
        <p:grpSp>
          <p:nvGrpSpPr>
            <p:cNvPr id="14341" name="Group 17">
              <a:extLst>
                <a:ext uri="{FF2B5EF4-FFF2-40B4-BE49-F238E27FC236}">
                  <a16:creationId xmlns:a16="http://schemas.microsoft.com/office/drawing/2014/main" id="{63F1806F-ADA9-4009-BD1A-109DC06F66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1632"/>
              <a:ext cx="1536" cy="2304"/>
              <a:chOff x="1392" y="1977"/>
              <a:chExt cx="816" cy="1536"/>
            </a:xfrm>
          </p:grpSpPr>
          <p:sp>
            <p:nvSpPr>
              <p:cNvPr id="14355" name="Oval 4">
                <a:extLst>
                  <a:ext uri="{FF2B5EF4-FFF2-40B4-BE49-F238E27FC236}">
                    <a16:creationId xmlns:a16="http://schemas.microsoft.com/office/drawing/2014/main" id="{6C19BF4A-7A43-4725-9ABD-C602244D9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977"/>
                <a:ext cx="96" cy="96"/>
              </a:xfrm>
              <a:prstGeom prst="ellipse">
                <a:avLst/>
              </a:prstGeom>
              <a:solidFill>
                <a:srgbClr val="3366FF"/>
              </a:solidFill>
              <a:ln w="3175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/>
              </a:p>
            </p:txBody>
          </p:sp>
          <p:sp>
            <p:nvSpPr>
              <p:cNvPr id="14356" name="Oval 5">
                <a:extLst>
                  <a:ext uri="{FF2B5EF4-FFF2-40B4-BE49-F238E27FC236}">
                    <a16:creationId xmlns:a16="http://schemas.microsoft.com/office/drawing/2014/main" id="{D950CB76-825E-4E96-9167-0759C7FEAF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2409"/>
                <a:ext cx="96" cy="96"/>
              </a:xfrm>
              <a:prstGeom prst="ellipse">
                <a:avLst/>
              </a:prstGeom>
              <a:solidFill>
                <a:srgbClr val="3366FF"/>
              </a:solidFill>
              <a:ln w="3175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/>
              </a:p>
            </p:txBody>
          </p:sp>
          <p:sp>
            <p:nvSpPr>
              <p:cNvPr id="14357" name="Oval 6">
                <a:extLst>
                  <a:ext uri="{FF2B5EF4-FFF2-40B4-BE49-F238E27FC236}">
                    <a16:creationId xmlns:a16="http://schemas.microsoft.com/office/drawing/2014/main" id="{DA46833F-DB36-4B39-AEA3-338335B76A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409"/>
                <a:ext cx="96" cy="96"/>
              </a:xfrm>
              <a:prstGeom prst="ellipse">
                <a:avLst/>
              </a:prstGeom>
              <a:solidFill>
                <a:srgbClr val="3366FF"/>
              </a:solidFill>
              <a:ln w="3175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/>
              </a:p>
            </p:txBody>
          </p:sp>
          <p:sp>
            <p:nvSpPr>
              <p:cNvPr id="14358" name="Oval 7">
                <a:extLst>
                  <a:ext uri="{FF2B5EF4-FFF2-40B4-BE49-F238E27FC236}">
                    <a16:creationId xmlns:a16="http://schemas.microsoft.com/office/drawing/2014/main" id="{A419E300-D0B4-4F0F-BA5A-74F368DEF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417"/>
                <a:ext cx="96" cy="96"/>
              </a:xfrm>
              <a:prstGeom prst="ellipse">
                <a:avLst/>
              </a:prstGeom>
              <a:solidFill>
                <a:srgbClr val="3366FF"/>
              </a:solidFill>
              <a:ln w="3175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/>
              </a:p>
            </p:txBody>
          </p:sp>
          <p:sp>
            <p:nvSpPr>
              <p:cNvPr id="14359" name="Oval 8">
                <a:extLst>
                  <a:ext uri="{FF2B5EF4-FFF2-40B4-BE49-F238E27FC236}">
                    <a16:creationId xmlns:a16="http://schemas.microsoft.com/office/drawing/2014/main" id="{038E9B56-3BCB-41AC-A211-887CA7442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417"/>
                <a:ext cx="96" cy="96"/>
              </a:xfrm>
              <a:prstGeom prst="ellipse">
                <a:avLst/>
              </a:prstGeom>
              <a:solidFill>
                <a:srgbClr val="3366FF"/>
              </a:solidFill>
              <a:ln w="3175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/>
              </a:p>
            </p:txBody>
          </p:sp>
          <p:sp>
            <p:nvSpPr>
              <p:cNvPr id="14360" name="Line 9">
                <a:extLst>
                  <a:ext uri="{FF2B5EF4-FFF2-40B4-BE49-F238E27FC236}">
                    <a16:creationId xmlns:a16="http://schemas.microsoft.com/office/drawing/2014/main" id="{FD18A2DF-48AB-40CC-8D20-CAFCCB4119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0" y="2073"/>
                <a:ext cx="336" cy="336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1" name="Line 10">
                <a:extLst>
                  <a:ext uri="{FF2B5EF4-FFF2-40B4-BE49-F238E27FC236}">
                    <a16:creationId xmlns:a16="http://schemas.microsoft.com/office/drawing/2014/main" id="{80062494-D66A-4538-B802-9FC1106F80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073"/>
                <a:ext cx="240" cy="336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2" name="Line 11">
                <a:extLst>
                  <a:ext uri="{FF2B5EF4-FFF2-40B4-BE49-F238E27FC236}">
                    <a16:creationId xmlns:a16="http://schemas.microsoft.com/office/drawing/2014/main" id="{678B11F4-CC59-42AB-B28E-CC108E785E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505"/>
                <a:ext cx="0" cy="960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3" name="Line 12">
                <a:extLst>
                  <a:ext uri="{FF2B5EF4-FFF2-40B4-BE49-F238E27FC236}">
                    <a16:creationId xmlns:a16="http://schemas.microsoft.com/office/drawing/2014/main" id="{2D8E100C-1F62-4EFE-AE49-0B91F6B9BD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457"/>
                <a:ext cx="672" cy="0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4" name="Line 13">
                <a:extLst>
                  <a:ext uri="{FF2B5EF4-FFF2-40B4-BE49-F238E27FC236}">
                    <a16:creationId xmlns:a16="http://schemas.microsoft.com/office/drawing/2014/main" id="{F1F66879-7C4E-466E-ACBE-9C58E0DDCA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2457"/>
                <a:ext cx="0" cy="1056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5" name="Line 14">
                <a:extLst>
                  <a:ext uri="{FF2B5EF4-FFF2-40B4-BE49-F238E27FC236}">
                    <a16:creationId xmlns:a16="http://schemas.microsoft.com/office/drawing/2014/main" id="{D8E7A790-EC9F-440A-9184-234044378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3465"/>
                <a:ext cx="672" cy="0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6" name="Line 15">
                <a:extLst>
                  <a:ext uri="{FF2B5EF4-FFF2-40B4-BE49-F238E27FC236}">
                    <a16:creationId xmlns:a16="http://schemas.microsoft.com/office/drawing/2014/main" id="{91D533D1-3CF1-4AF7-BC87-536DF5BE24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457"/>
                <a:ext cx="672" cy="1008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7" name="Freeform 16">
                <a:extLst>
                  <a:ext uri="{FF2B5EF4-FFF2-40B4-BE49-F238E27FC236}">
                    <a16:creationId xmlns:a16="http://schemas.microsoft.com/office/drawing/2014/main" id="{A34C0429-890E-4FE7-8340-C2377FF631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0" y="2265"/>
                <a:ext cx="672" cy="144"/>
              </a:xfrm>
              <a:custGeom>
                <a:avLst/>
                <a:gdLst>
                  <a:gd name="T0" fmla="*/ 0 w 672"/>
                  <a:gd name="T1" fmla="*/ 144 h 144"/>
                  <a:gd name="T2" fmla="*/ 384 w 672"/>
                  <a:gd name="T3" fmla="*/ 0 h 144"/>
                  <a:gd name="T4" fmla="*/ 672 w 672"/>
                  <a:gd name="T5" fmla="*/ 144 h 144"/>
                  <a:gd name="T6" fmla="*/ 0 60000 65536"/>
                  <a:gd name="T7" fmla="*/ 0 60000 65536"/>
                  <a:gd name="T8" fmla="*/ 0 60000 65536"/>
                  <a:gd name="T9" fmla="*/ 0 w 672"/>
                  <a:gd name="T10" fmla="*/ 0 h 144"/>
                  <a:gd name="T11" fmla="*/ 672 w 672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72" h="144">
                    <a:moveTo>
                      <a:pt x="0" y="144"/>
                    </a:moveTo>
                    <a:cubicBezTo>
                      <a:pt x="136" y="72"/>
                      <a:pt x="272" y="0"/>
                      <a:pt x="384" y="0"/>
                    </a:cubicBezTo>
                    <a:cubicBezTo>
                      <a:pt x="496" y="0"/>
                      <a:pt x="584" y="72"/>
                      <a:pt x="672" y="144"/>
                    </a:cubicBezTo>
                  </a:path>
                </a:pathLst>
              </a:custGeom>
              <a:noFill/>
              <a:ln w="28575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342" name="Text Box 18">
              <a:extLst>
                <a:ext uri="{FF2B5EF4-FFF2-40B4-BE49-F238E27FC236}">
                  <a16:creationId xmlns:a16="http://schemas.microsoft.com/office/drawing/2014/main" id="{BDCC662E-9BAD-4A08-AA94-441B1CDAF0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14343" name="Text Box 19">
              <a:extLst>
                <a:ext uri="{FF2B5EF4-FFF2-40B4-BE49-F238E27FC236}">
                  <a16:creationId xmlns:a16="http://schemas.microsoft.com/office/drawing/2014/main" id="{64012B13-BB9B-4483-9D82-BEBE1AF7F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92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</a:rPr>
                <a:t>9</a:t>
              </a:r>
            </a:p>
          </p:txBody>
        </p:sp>
        <p:sp>
          <p:nvSpPr>
            <p:cNvPr id="14344" name="Text Box 20">
              <a:extLst>
                <a:ext uri="{FF2B5EF4-FFF2-40B4-BE49-F238E27FC236}">
                  <a16:creationId xmlns:a16="http://schemas.microsoft.com/office/drawing/2014/main" id="{C4C41EE2-5376-44A3-95CF-C5AF14CFB4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3609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14345" name="Text Box 21">
              <a:extLst>
                <a:ext uri="{FF2B5EF4-FFF2-40B4-BE49-F238E27FC236}">
                  <a16:creationId xmlns:a16="http://schemas.microsoft.com/office/drawing/2014/main" id="{4EB840B7-49E7-4DC7-A10F-ED88AE518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72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14346" name="Text Box 22">
              <a:extLst>
                <a:ext uri="{FF2B5EF4-FFF2-40B4-BE49-F238E27FC236}">
                  <a16:creationId xmlns:a16="http://schemas.microsoft.com/office/drawing/2014/main" id="{896FCD38-2346-437B-874A-62577A70C9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824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14347" name="Text Box 23">
              <a:extLst>
                <a:ext uri="{FF2B5EF4-FFF2-40B4-BE49-F238E27FC236}">
                  <a16:creationId xmlns:a16="http://schemas.microsoft.com/office/drawing/2014/main" id="{F88745EF-6185-4D55-88E8-583AFAA032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72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14348" name="Text Box 24">
              <a:extLst>
                <a:ext uri="{FF2B5EF4-FFF2-40B4-BE49-F238E27FC236}">
                  <a16:creationId xmlns:a16="http://schemas.microsoft.com/office/drawing/2014/main" id="{E2ECEFEB-7070-4B01-9A48-9631444722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937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14349" name="Text Box 25">
              <a:extLst>
                <a:ext uri="{FF2B5EF4-FFF2-40B4-BE49-F238E27FC236}">
                  <a16:creationId xmlns:a16="http://schemas.microsoft.com/office/drawing/2014/main" id="{D9518460-D98C-4B82-BC6D-13A0C6148A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313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14350" name="Text Box 26">
              <a:extLst>
                <a:ext uri="{FF2B5EF4-FFF2-40B4-BE49-F238E27FC236}">
                  <a16:creationId xmlns:a16="http://schemas.microsoft.com/office/drawing/2014/main" id="{868D9827-0996-4586-9EB0-018A4BE4C5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112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i="1">
                  <a:solidFill>
                    <a:srgbClr val="000099"/>
                  </a:solidFill>
                </a:rPr>
                <a:t>v</a:t>
              </a:r>
              <a:r>
                <a:rPr lang="en-US" altLang="zh-CN" baseline="-25000">
                  <a:solidFill>
                    <a:srgbClr val="000099"/>
                  </a:solidFill>
                </a:rPr>
                <a:t>1</a:t>
              </a:r>
            </a:p>
          </p:txBody>
        </p:sp>
        <p:sp>
          <p:nvSpPr>
            <p:cNvPr id="14351" name="Text Box 27">
              <a:extLst>
                <a:ext uri="{FF2B5EF4-FFF2-40B4-BE49-F238E27FC236}">
                  <a16:creationId xmlns:a16="http://schemas.microsoft.com/office/drawing/2014/main" id="{E44E6C5E-55A3-4B69-9A18-D72CCE606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296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i="1">
                  <a:solidFill>
                    <a:srgbClr val="000099"/>
                  </a:solidFill>
                </a:rPr>
                <a:t>v</a:t>
              </a:r>
              <a:r>
                <a:rPr lang="en-US" altLang="zh-CN" baseline="-25000">
                  <a:solidFill>
                    <a:srgbClr val="000099"/>
                  </a:solidFill>
                </a:rPr>
                <a:t>2</a:t>
              </a:r>
            </a:p>
          </p:txBody>
        </p:sp>
        <p:sp>
          <p:nvSpPr>
            <p:cNvPr id="14352" name="Text Box 28">
              <a:extLst>
                <a:ext uri="{FF2B5EF4-FFF2-40B4-BE49-F238E27FC236}">
                  <a16:creationId xmlns:a16="http://schemas.microsoft.com/office/drawing/2014/main" id="{C1FD33E5-4CD0-45F5-97AE-C87975EAD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160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i="1">
                  <a:solidFill>
                    <a:srgbClr val="000099"/>
                  </a:solidFill>
                </a:rPr>
                <a:t>v</a:t>
              </a:r>
              <a:r>
                <a:rPr lang="en-US" altLang="zh-CN" baseline="-25000">
                  <a:solidFill>
                    <a:srgbClr val="000099"/>
                  </a:solidFill>
                </a:rPr>
                <a:t>3</a:t>
              </a:r>
            </a:p>
          </p:txBody>
        </p:sp>
        <p:sp>
          <p:nvSpPr>
            <p:cNvPr id="14353" name="Text Box 29">
              <a:extLst>
                <a:ext uri="{FF2B5EF4-FFF2-40B4-BE49-F238E27FC236}">
                  <a16:creationId xmlns:a16="http://schemas.microsoft.com/office/drawing/2014/main" id="{ECA5FFAF-0FCA-48F5-B6AD-2D0396C660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3619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i="1">
                  <a:solidFill>
                    <a:srgbClr val="000099"/>
                  </a:solidFill>
                </a:rPr>
                <a:t>v</a:t>
              </a:r>
              <a:r>
                <a:rPr lang="en-US" altLang="zh-CN" baseline="-25000">
                  <a:solidFill>
                    <a:srgbClr val="000099"/>
                  </a:solidFill>
                </a:rPr>
                <a:t>4</a:t>
              </a:r>
            </a:p>
          </p:txBody>
        </p:sp>
        <p:sp>
          <p:nvSpPr>
            <p:cNvPr id="14354" name="Text Box 30">
              <a:extLst>
                <a:ext uri="{FF2B5EF4-FFF2-40B4-BE49-F238E27FC236}">
                  <a16:creationId xmlns:a16="http://schemas.microsoft.com/office/drawing/2014/main" id="{BC41B1EC-49E1-43CC-80CD-F8F838BE71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3619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i="1">
                  <a:solidFill>
                    <a:srgbClr val="000099"/>
                  </a:solidFill>
                </a:rPr>
                <a:t>v</a:t>
              </a:r>
              <a:r>
                <a:rPr lang="en-US" altLang="zh-CN" baseline="-25000">
                  <a:solidFill>
                    <a:srgbClr val="000099"/>
                  </a:solidFill>
                </a:rPr>
                <a:t>5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9CDFEFF7-2812-4D89-9A45-B84AD5DD7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七桥问题的解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FFB3BD-B47C-4A67-B99E-D7802320A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若存在一个简单圈，过且仅过每边一次，则称这个圈为</a:t>
            </a:r>
            <a:r>
              <a:rPr lang="zh-CN" altLang="en-US" dirty="0">
                <a:solidFill>
                  <a:srgbClr val="FF0000"/>
                </a:solidFill>
              </a:rPr>
              <a:t>欧拉圈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存在欧拉圈的图称为</a:t>
            </a:r>
            <a:r>
              <a:rPr lang="zh-CN" altLang="en-US" dirty="0">
                <a:solidFill>
                  <a:srgbClr val="FF0000"/>
                </a:solidFill>
              </a:rPr>
              <a:t>欧拉图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连通图 </a:t>
            </a:r>
            <a:r>
              <a:rPr lang="en-US" altLang="zh-CN" dirty="0">
                <a:latin typeface="宋体" panose="02010600030101010101" pitchFamily="2" charset="-122"/>
              </a:rPr>
              <a:t>G </a:t>
            </a:r>
            <a:r>
              <a:rPr lang="zh-CN" altLang="en-US" dirty="0">
                <a:latin typeface="宋体" panose="02010600030101010101" pitchFamily="2" charset="-122"/>
              </a:rPr>
              <a:t>是欧拉图当且仅当 </a:t>
            </a:r>
            <a:r>
              <a:rPr lang="en-US" altLang="zh-CN" dirty="0">
                <a:latin typeface="宋体" panose="02010600030101010101" pitchFamily="2" charset="-122"/>
              </a:rPr>
              <a:t>G </a:t>
            </a:r>
            <a:r>
              <a:rPr lang="zh-CN" altLang="en-US" dirty="0">
                <a:latin typeface="宋体" panose="02010600030101010101" pitchFamily="2" charset="-122"/>
              </a:rPr>
              <a:t>中无奇点</a:t>
            </a:r>
          </a:p>
          <a:p>
            <a:pPr eaLnBrk="1" hangingPunct="1"/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1BE74B1-3936-4435-96D2-BCA51D9F7D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6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4600">
                <a:latin typeface="Times New Roman" panose="02020603050405020304" pitchFamily="18" charset="0"/>
                <a:ea typeface="楷体_GB2312" pitchFamily="49" charset="-122"/>
              </a:rPr>
              <a:t>hinese </a:t>
            </a:r>
            <a:r>
              <a:rPr lang="en-US" altLang="zh-CN" sz="46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4600">
                <a:latin typeface="Times New Roman" panose="02020603050405020304" pitchFamily="18" charset="0"/>
                <a:ea typeface="楷体_GB2312" pitchFamily="49" charset="-122"/>
              </a:rPr>
              <a:t>ostman </a:t>
            </a:r>
            <a:r>
              <a:rPr lang="en-US" altLang="zh-CN" sz="46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4600">
                <a:latin typeface="Times New Roman" panose="02020603050405020304" pitchFamily="18" charset="0"/>
                <a:ea typeface="楷体_GB2312" pitchFamily="49" charset="-122"/>
              </a:rPr>
              <a:t>roblem</a:t>
            </a:r>
          </a:p>
        </p:txBody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18556D8D-7A24-4215-BC71-0B1685F448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zh-CN" dirty="0">
                <a:latin typeface="宋体" panose="02010600030101010101" pitchFamily="2" charset="-122"/>
              </a:rPr>
              <a:t>管梅谷</a:t>
            </a:r>
            <a:r>
              <a:rPr lang="zh-CN" altLang="en-US" dirty="0">
                <a:latin typeface="宋体" panose="02010600030101010101" pitchFamily="2" charset="-122"/>
              </a:rPr>
              <a:t>于</a:t>
            </a:r>
            <a:r>
              <a:rPr lang="zh-CN" altLang="zh-CN" dirty="0">
                <a:latin typeface="宋体" panose="02010600030101010101" pitchFamily="2" charset="-122"/>
              </a:rPr>
              <a:t>1962年首先提出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从邮局出发，走遍邮区的所有街道</a:t>
            </a:r>
            <a:r>
              <a:rPr lang="zh-CN" altLang="en-US" dirty="0">
                <a:solidFill>
                  <a:srgbClr val="FF3300"/>
                </a:solidFill>
              </a:rPr>
              <a:t>至少一次</a:t>
            </a:r>
            <a:r>
              <a:rPr lang="zh-CN" altLang="en-US" dirty="0"/>
              <a:t>再回到邮局，如何走使总路程最短？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给定连通图 </a:t>
            </a:r>
            <a:r>
              <a:rPr lang="en-US" altLang="zh-CN" dirty="0"/>
              <a:t>G</a:t>
            </a:r>
            <a:r>
              <a:rPr lang="zh-CN" altLang="en-US" dirty="0"/>
              <a:t>，要求一个经过每条边的总权最小的圈（不一定是简单圈）</a:t>
            </a:r>
          </a:p>
          <a:p>
            <a:pPr lvl="1" eaLnBrk="1" hangingPunct="1"/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3" grpId="0" build="p" bldLvl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0D59C85F-F98F-4427-AF22-CF616F5C9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338013-747C-478B-AC68-CA4E3CE1B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若</a:t>
            </a:r>
            <a:r>
              <a:rPr lang="en-US" altLang="zh-CN"/>
              <a:t>G</a:t>
            </a:r>
            <a:r>
              <a:rPr lang="zh-CN" altLang="en-US"/>
              <a:t>为偶图，必存在欧拉圈，即为所求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若</a:t>
            </a:r>
            <a:r>
              <a:rPr lang="en-US" altLang="zh-CN"/>
              <a:t>G</a:t>
            </a:r>
            <a:r>
              <a:rPr lang="zh-CN" altLang="en-US"/>
              <a:t>中有奇点，必然一些边要重复经过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在</a:t>
            </a:r>
            <a:r>
              <a:rPr lang="en-US" altLang="zh-CN"/>
              <a:t>G</a:t>
            </a:r>
            <a:r>
              <a:rPr lang="zh-CN" altLang="en-US"/>
              <a:t>上添加权和最少的重复边，使其成为偶图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CD26D3B-9E27-4F28-A295-C37E19889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奇偶点图上作业法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3570F265-BC22-4880-9BCC-C21B63D52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1981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1</a:t>
            </a:r>
            <a:r>
              <a:rPr lang="zh-CN" altLang="en-US"/>
              <a:t>）确定初始可行方案</a:t>
            </a:r>
          </a:p>
          <a:p>
            <a:pPr lvl="1" eaLnBrk="1" hangingPunct="1"/>
            <a:r>
              <a:rPr lang="zh-CN" altLang="en-US"/>
              <a:t>图的奇点个数为偶数，将它们配对</a:t>
            </a:r>
          </a:p>
        </p:txBody>
      </p:sp>
      <p:sp>
        <p:nvSpPr>
          <p:cNvPr id="18436" name="Oval 4">
            <a:extLst>
              <a:ext uri="{FF2B5EF4-FFF2-40B4-BE49-F238E27FC236}">
                <a16:creationId xmlns:a16="http://schemas.microsoft.com/office/drawing/2014/main" id="{ADD94E3C-7A7B-49E6-8190-55CB98549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99013" name="Oval 5">
            <a:extLst>
              <a:ext uri="{FF2B5EF4-FFF2-40B4-BE49-F238E27FC236}">
                <a16:creationId xmlns:a16="http://schemas.microsoft.com/office/drawing/2014/main" id="{B5189E21-4FBF-46F3-B378-2E353E173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419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8438" name="Oval 6">
            <a:extLst>
              <a:ext uri="{FF2B5EF4-FFF2-40B4-BE49-F238E27FC236}">
                <a16:creationId xmlns:a16="http://schemas.microsoft.com/office/drawing/2014/main" id="{CAB8D32D-107F-45A8-AE82-1655500AE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638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99015" name="Oval 7">
            <a:extLst>
              <a:ext uri="{FF2B5EF4-FFF2-40B4-BE49-F238E27FC236}">
                <a16:creationId xmlns:a16="http://schemas.microsoft.com/office/drawing/2014/main" id="{DA51D424-941D-475D-9425-9F829723E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638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8440" name="Oval 8">
            <a:extLst>
              <a:ext uri="{FF2B5EF4-FFF2-40B4-BE49-F238E27FC236}">
                <a16:creationId xmlns:a16="http://schemas.microsoft.com/office/drawing/2014/main" id="{4FFC80A0-BDAF-4350-BEE3-610792C4F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638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99017" name="Oval 9">
            <a:extLst>
              <a:ext uri="{FF2B5EF4-FFF2-40B4-BE49-F238E27FC236}">
                <a16:creationId xmlns:a16="http://schemas.microsoft.com/office/drawing/2014/main" id="{05D5BCC8-DEDE-42DC-9074-D4040E92E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419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8442" name="Oval 10">
            <a:extLst>
              <a:ext uri="{FF2B5EF4-FFF2-40B4-BE49-F238E27FC236}">
                <a16:creationId xmlns:a16="http://schemas.microsoft.com/office/drawing/2014/main" id="{A0A77FF0-6422-495E-BF8F-6D6875B30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200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99019" name="Oval 11">
            <a:extLst>
              <a:ext uri="{FF2B5EF4-FFF2-40B4-BE49-F238E27FC236}">
                <a16:creationId xmlns:a16="http://schemas.microsoft.com/office/drawing/2014/main" id="{61824A11-1FA5-40E1-A05F-3FA7CE674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200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8444" name="Oval 12">
            <a:extLst>
              <a:ext uri="{FF2B5EF4-FFF2-40B4-BE49-F238E27FC236}">
                <a16:creationId xmlns:a16="http://schemas.microsoft.com/office/drawing/2014/main" id="{DA8E0F9D-573F-467F-A17D-AD9DC87D6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419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8445" name="Line 13">
            <a:extLst>
              <a:ext uri="{FF2B5EF4-FFF2-40B4-BE49-F238E27FC236}">
                <a16:creationId xmlns:a16="http://schemas.microsoft.com/office/drawing/2014/main" id="{78574AEE-3DE4-4E2B-A196-003A085862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4290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6" name="Line 14">
            <a:extLst>
              <a:ext uri="{FF2B5EF4-FFF2-40B4-BE49-F238E27FC236}">
                <a16:creationId xmlns:a16="http://schemas.microsoft.com/office/drawing/2014/main" id="{ECC39B4A-32AA-4EDB-BF2E-B71F8D5890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4290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7" name="Line 15">
            <a:extLst>
              <a:ext uri="{FF2B5EF4-FFF2-40B4-BE49-F238E27FC236}">
                <a16:creationId xmlns:a16="http://schemas.microsoft.com/office/drawing/2014/main" id="{7F896859-3207-4AC1-AD8B-D2C70923B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5814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8" name="Line 16">
            <a:extLst>
              <a:ext uri="{FF2B5EF4-FFF2-40B4-BE49-F238E27FC236}">
                <a16:creationId xmlns:a16="http://schemas.microsoft.com/office/drawing/2014/main" id="{8B947B72-BE34-45FD-8347-2277EBF10A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8006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9" name="Line 17">
            <a:extLst>
              <a:ext uri="{FF2B5EF4-FFF2-40B4-BE49-F238E27FC236}">
                <a16:creationId xmlns:a16="http://schemas.microsoft.com/office/drawing/2014/main" id="{3AB98571-B024-4DC9-B34B-2EB1AA7D93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8674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0" name="Line 18">
            <a:extLst>
              <a:ext uri="{FF2B5EF4-FFF2-40B4-BE49-F238E27FC236}">
                <a16:creationId xmlns:a16="http://schemas.microsoft.com/office/drawing/2014/main" id="{936DED76-6E93-4852-8983-59EC702885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5867400"/>
            <a:ext cx="2362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1" name="Line 19">
            <a:extLst>
              <a:ext uri="{FF2B5EF4-FFF2-40B4-BE49-F238E27FC236}">
                <a16:creationId xmlns:a16="http://schemas.microsoft.com/office/drawing/2014/main" id="{AA740DCC-FE82-4705-92C7-57B73167BB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4800600"/>
            <a:ext cx="457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2" name="Line 20">
            <a:extLst>
              <a:ext uri="{FF2B5EF4-FFF2-40B4-BE49-F238E27FC236}">
                <a16:creationId xmlns:a16="http://schemas.microsoft.com/office/drawing/2014/main" id="{83F6AB15-0719-4584-B1C8-65513BFF04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3581400"/>
            <a:ext cx="457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3" name="Line 21">
            <a:extLst>
              <a:ext uri="{FF2B5EF4-FFF2-40B4-BE49-F238E27FC236}">
                <a16:creationId xmlns:a16="http://schemas.microsoft.com/office/drawing/2014/main" id="{3314FEFA-1A17-4CAB-8E01-D82CC70610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6482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4" name="Line 22">
            <a:extLst>
              <a:ext uri="{FF2B5EF4-FFF2-40B4-BE49-F238E27FC236}">
                <a16:creationId xmlns:a16="http://schemas.microsoft.com/office/drawing/2014/main" id="{1EBD7CE3-F4D3-4D1D-9479-026127CAB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46482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5" name="Line 23">
            <a:extLst>
              <a:ext uri="{FF2B5EF4-FFF2-40B4-BE49-F238E27FC236}">
                <a16:creationId xmlns:a16="http://schemas.microsoft.com/office/drawing/2014/main" id="{2909AB2E-BFC7-4DE5-A422-7DAC1A7A69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5814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6" name="Line 24">
            <a:extLst>
              <a:ext uri="{FF2B5EF4-FFF2-40B4-BE49-F238E27FC236}">
                <a16:creationId xmlns:a16="http://schemas.microsoft.com/office/drawing/2014/main" id="{1EA581AB-424A-4054-BC2F-1A1E019EE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8006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7" name="Text Box 25">
            <a:extLst>
              <a:ext uri="{FF2B5EF4-FFF2-40B4-BE49-F238E27FC236}">
                <a16:creationId xmlns:a16="http://schemas.microsoft.com/office/drawing/2014/main" id="{88F2B8DD-A108-4263-925E-4A8782FCF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048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2</a:t>
            </a:r>
          </a:p>
        </p:txBody>
      </p:sp>
      <p:sp>
        <p:nvSpPr>
          <p:cNvPr id="18458" name="Text Box 26">
            <a:extLst>
              <a:ext uri="{FF2B5EF4-FFF2-40B4-BE49-F238E27FC236}">
                <a16:creationId xmlns:a16="http://schemas.microsoft.com/office/drawing/2014/main" id="{517E6BDE-D095-44DF-8085-36FA415E0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7338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5</a:t>
            </a:r>
          </a:p>
        </p:txBody>
      </p:sp>
      <p:sp>
        <p:nvSpPr>
          <p:cNvPr id="18459" name="Text Box 27">
            <a:extLst>
              <a:ext uri="{FF2B5EF4-FFF2-40B4-BE49-F238E27FC236}">
                <a16:creationId xmlns:a16="http://schemas.microsoft.com/office/drawing/2014/main" id="{9BDC164C-8848-4A56-BEEA-B6FB0D301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3434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6</a:t>
            </a:r>
          </a:p>
        </p:txBody>
      </p:sp>
      <p:sp>
        <p:nvSpPr>
          <p:cNvPr id="18460" name="Text Box 28">
            <a:extLst>
              <a:ext uri="{FF2B5EF4-FFF2-40B4-BE49-F238E27FC236}">
                <a16:creationId xmlns:a16="http://schemas.microsoft.com/office/drawing/2014/main" id="{8F0324E9-2B87-40E9-B95D-FEAD4C72B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953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5</a:t>
            </a:r>
          </a:p>
        </p:txBody>
      </p:sp>
      <p:sp>
        <p:nvSpPr>
          <p:cNvPr id="18461" name="Text Box 29">
            <a:extLst>
              <a:ext uri="{FF2B5EF4-FFF2-40B4-BE49-F238E27FC236}">
                <a16:creationId xmlns:a16="http://schemas.microsoft.com/office/drawing/2014/main" id="{A77EA65F-E0D1-4059-B778-B444746EB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4864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9</a:t>
            </a:r>
          </a:p>
        </p:txBody>
      </p:sp>
      <p:sp>
        <p:nvSpPr>
          <p:cNvPr id="18462" name="Text Box 30">
            <a:extLst>
              <a:ext uri="{FF2B5EF4-FFF2-40B4-BE49-F238E27FC236}">
                <a16:creationId xmlns:a16="http://schemas.microsoft.com/office/drawing/2014/main" id="{7687BAFE-512D-408B-9791-0887AA80E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048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18463" name="Text Box 31">
            <a:extLst>
              <a:ext uri="{FF2B5EF4-FFF2-40B4-BE49-F238E27FC236}">
                <a16:creationId xmlns:a16="http://schemas.microsoft.com/office/drawing/2014/main" id="{4D69E7A8-9473-4492-99B8-98C2129CB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810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3</a:t>
            </a:r>
          </a:p>
        </p:txBody>
      </p:sp>
      <p:sp>
        <p:nvSpPr>
          <p:cNvPr id="18464" name="Text Box 32">
            <a:extLst>
              <a:ext uri="{FF2B5EF4-FFF2-40B4-BE49-F238E27FC236}">
                <a16:creationId xmlns:a16="http://schemas.microsoft.com/office/drawing/2014/main" id="{B1C5CF6C-6001-46EC-9731-158785241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0292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18465" name="Text Box 33">
            <a:extLst>
              <a:ext uri="{FF2B5EF4-FFF2-40B4-BE49-F238E27FC236}">
                <a16:creationId xmlns:a16="http://schemas.microsoft.com/office/drawing/2014/main" id="{9CBEFB1B-AFD8-4168-8534-A3DF3167C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2672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18466" name="Text Box 34">
            <a:extLst>
              <a:ext uri="{FF2B5EF4-FFF2-40B4-BE49-F238E27FC236}">
                <a16:creationId xmlns:a16="http://schemas.microsoft.com/office/drawing/2014/main" id="{F354664D-6CFA-4461-AC78-9AAA90180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470525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18467" name="Text Box 35">
            <a:extLst>
              <a:ext uri="{FF2B5EF4-FFF2-40B4-BE49-F238E27FC236}">
                <a16:creationId xmlns:a16="http://schemas.microsoft.com/office/drawing/2014/main" id="{29ACC622-06BB-48A4-9A27-E73358B03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810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3</a:t>
            </a:r>
          </a:p>
        </p:txBody>
      </p:sp>
      <p:sp>
        <p:nvSpPr>
          <p:cNvPr id="18468" name="Text Box 36">
            <a:extLst>
              <a:ext uri="{FF2B5EF4-FFF2-40B4-BE49-F238E27FC236}">
                <a16:creationId xmlns:a16="http://schemas.microsoft.com/office/drawing/2014/main" id="{85EE8CA5-4830-46B3-8C0E-F356EAE01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953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2990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990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2990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2990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2990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2990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3" grpId="0" animBg="1"/>
      <p:bldP spid="299015" grpId="0" animBg="1"/>
      <p:bldP spid="299017" grpId="0" animBg="1"/>
      <p:bldP spid="2990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F5645BA-4E7F-4062-8194-A651E12F22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奇偶点图上作业法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F8DF621-9E7D-44B5-B410-3D6F8BA970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1981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1</a:t>
            </a:r>
            <a:r>
              <a:rPr lang="zh-CN" altLang="en-US"/>
              <a:t>）确定初始可行方案</a:t>
            </a:r>
          </a:p>
          <a:p>
            <a:pPr lvl="1" eaLnBrk="1" hangingPunct="1"/>
            <a:r>
              <a:rPr lang="zh-CN" altLang="en-US"/>
              <a:t>将每对奇点之间的链，作为重复边加入图中</a:t>
            </a:r>
          </a:p>
        </p:txBody>
      </p:sp>
      <p:sp>
        <p:nvSpPr>
          <p:cNvPr id="19460" name="Oval 4">
            <a:extLst>
              <a:ext uri="{FF2B5EF4-FFF2-40B4-BE49-F238E27FC236}">
                <a16:creationId xmlns:a16="http://schemas.microsoft.com/office/drawing/2014/main" id="{53205ADE-9829-4293-B62B-8ACBB539A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461" name="Oval 5">
            <a:extLst>
              <a:ext uri="{FF2B5EF4-FFF2-40B4-BE49-F238E27FC236}">
                <a16:creationId xmlns:a16="http://schemas.microsoft.com/office/drawing/2014/main" id="{35FB749E-EF32-40E8-A426-200B92397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419600"/>
            <a:ext cx="381000" cy="381000"/>
          </a:xfrm>
          <a:prstGeom prst="ellipse">
            <a:avLst/>
          </a:prstGeom>
          <a:solidFill>
            <a:srgbClr val="6C04A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9462" name="Oval 6">
            <a:extLst>
              <a:ext uri="{FF2B5EF4-FFF2-40B4-BE49-F238E27FC236}">
                <a16:creationId xmlns:a16="http://schemas.microsoft.com/office/drawing/2014/main" id="{E8E58F76-652E-4C04-B8ED-FEF613FC5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638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463" name="Oval 7">
            <a:extLst>
              <a:ext uri="{FF2B5EF4-FFF2-40B4-BE49-F238E27FC236}">
                <a16:creationId xmlns:a16="http://schemas.microsoft.com/office/drawing/2014/main" id="{A20BBB0C-AEB1-48F1-9110-B16A5F384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638800"/>
            <a:ext cx="381000" cy="381000"/>
          </a:xfrm>
          <a:prstGeom prst="ellipse">
            <a:avLst/>
          </a:prstGeom>
          <a:solidFill>
            <a:srgbClr val="6C04A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464" name="Oval 8">
            <a:extLst>
              <a:ext uri="{FF2B5EF4-FFF2-40B4-BE49-F238E27FC236}">
                <a16:creationId xmlns:a16="http://schemas.microsoft.com/office/drawing/2014/main" id="{0466A784-C813-4E56-AFB8-AC23002CF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638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9465" name="Oval 9">
            <a:extLst>
              <a:ext uri="{FF2B5EF4-FFF2-40B4-BE49-F238E27FC236}">
                <a16:creationId xmlns:a16="http://schemas.microsoft.com/office/drawing/2014/main" id="{D89F3C12-FAE7-41E6-818B-763F1BE36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4196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9466" name="Oval 10">
            <a:extLst>
              <a:ext uri="{FF2B5EF4-FFF2-40B4-BE49-F238E27FC236}">
                <a16:creationId xmlns:a16="http://schemas.microsoft.com/office/drawing/2014/main" id="{2018B1C6-EFDA-4A4B-9789-5E5C8D979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200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9467" name="Oval 11">
            <a:extLst>
              <a:ext uri="{FF2B5EF4-FFF2-40B4-BE49-F238E27FC236}">
                <a16:creationId xmlns:a16="http://schemas.microsoft.com/office/drawing/2014/main" id="{893743FC-8661-4BEF-8CCB-C66633D1A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2004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9468" name="Oval 12">
            <a:extLst>
              <a:ext uri="{FF2B5EF4-FFF2-40B4-BE49-F238E27FC236}">
                <a16:creationId xmlns:a16="http://schemas.microsoft.com/office/drawing/2014/main" id="{5D7EE8C2-3850-4D26-8524-7F17C5A6B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419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9469" name="Line 13">
            <a:extLst>
              <a:ext uri="{FF2B5EF4-FFF2-40B4-BE49-F238E27FC236}">
                <a16:creationId xmlns:a16="http://schemas.microsoft.com/office/drawing/2014/main" id="{A22DD592-DF42-4906-B391-4E0C702358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4290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0" name="Line 14">
            <a:extLst>
              <a:ext uri="{FF2B5EF4-FFF2-40B4-BE49-F238E27FC236}">
                <a16:creationId xmlns:a16="http://schemas.microsoft.com/office/drawing/2014/main" id="{54362B37-2B9A-4B56-BCB6-58BC2D2EDE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4290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1" name="Line 15">
            <a:extLst>
              <a:ext uri="{FF2B5EF4-FFF2-40B4-BE49-F238E27FC236}">
                <a16:creationId xmlns:a16="http://schemas.microsoft.com/office/drawing/2014/main" id="{C4E73B58-0D41-4FEC-A7E7-76429C24F8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5814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2" name="Line 16">
            <a:extLst>
              <a:ext uri="{FF2B5EF4-FFF2-40B4-BE49-F238E27FC236}">
                <a16:creationId xmlns:a16="http://schemas.microsoft.com/office/drawing/2014/main" id="{E4933EEF-3C36-4167-9E74-00833CF1A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8006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3" name="Line 17">
            <a:extLst>
              <a:ext uri="{FF2B5EF4-FFF2-40B4-BE49-F238E27FC236}">
                <a16:creationId xmlns:a16="http://schemas.microsoft.com/office/drawing/2014/main" id="{A6DECD49-3619-462F-AB29-10696DC123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8674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4" name="Line 18">
            <a:extLst>
              <a:ext uri="{FF2B5EF4-FFF2-40B4-BE49-F238E27FC236}">
                <a16:creationId xmlns:a16="http://schemas.microsoft.com/office/drawing/2014/main" id="{8D740EEE-402E-4A17-8AD5-06E7FFA967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5867400"/>
            <a:ext cx="2362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5" name="Line 19">
            <a:extLst>
              <a:ext uri="{FF2B5EF4-FFF2-40B4-BE49-F238E27FC236}">
                <a16:creationId xmlns:a16="http://schemas.microsoft.com/office/drawing/2014/main" id="{4DECD91A-E45C-4AEE-84E4-87ACBF1AEC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4800600"/>
            <a:ext cx="457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6" name="Line 20">
            <a:extLst>
              <a:ext uri="{FF2B5EF4-FFF2-40B4-BE49-F238E27FC236}">
                <a16:creationId xmlns:a16="http://schemas.microsoft.com/office/drawing/2014/main" id="{180CD9EA-9382-4946-848D-96F2C08E74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3581400"/>
            <a:ext cx="457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7" name="Line 21">
            <a:extLst>
              <a:ext uri="{FF2B5EF4-FFF2-40B4-BE49-F238E27FC236}">
                <a16:creationId xmlns:a16="http://schemas.microsoft.com/office/drawing/2014/main" id="{59F9EBB9-AE3F-40F5-9DA2-C329E23694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6482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8" name="Line 22">
            <a:extLst>
              <a:ext uri="{FF2B5EF4-FFF2-40B4-BE49-F238E27FC236}">
                <a16:creationId xmlns:a16="http://schemas.microsoft.com/office/drawing/2014/main" id="{573FF24D-AFE0-470A-9747-F56B98E8F2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46482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9" name="Line 23">
            <a:extLst>
              <a:ext uri="{FF2B5EF4-FFF2-40B4-BE49-F238E27FC236}">
                <a16:creationId xmlns:a16="http://schemas.microsoft.com/office/drawing/2014/main" id="{3621B486-5C2C-478B-ABD7-002DE96C48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5814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0" name="Line 24">
            <a:extLst>
              <a:ext uri="{FF2B5EF4-FFF2-40B4-BE49-F238E27FC236}">
                <a16:creationId xmlns:a16="http://schemas.microsoft.com/office/drawing/2014/main" id="{136ED9CC-7771-4C08-8E4E-918356201C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8006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1" name="Text Box 25">
            <a:extLst>
              <a:ext uri="{FF2B5EF4-FFF2-40B4-BE49-F238E27FC236}">
                <a16:creationId xmlns:a16="http://schemas.microsoft.com/office/drawing/2014/main" id="{C3AB45A1-EADB-43F3-8947-5ED109712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048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2</a:t>
            </a:r>
          </a:p>
        </p:txBody>
      </p:sp>
      <p:sp>
        <p:nvSpPr>
          <p:cNvPr id="19482" name="Text Box 26">
            <a:extLst>
              <a:ext uri="{FF2B5EF4-FFF2-40B4-BE49-F238E27FC236}">
                <a16:creationId xmlns:a16="http://schemas.microsoft.com/office/drawing/2014/main" id="{A24F6805-E68E-4EE0-8E27-ACD08BA2E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7338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5</a:t>
            </a:r>
          </a:p>
        </p:txBody>
      </p:sp>
      <p:sp>
        <p:nvSpPr>
          <p:cNvPr id="19483" name="Text Box 27">
            <a:extLst>
              <a:ext uri="{FF2B5EF4-FFF2-40B4-BE49-F238E27FC236}">
                <a16:creationId xmlns:a16="http://schemas.microsoft.com/office/drawing/2014/main" id="{248EC61C-F087-4369-87BC-03848DF3D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3434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6</a:t>
            </a:r>
          </a:p>
        </p:txBody>
      </p:sp>
      <p:sp>
        <p:nvSpPr>
          <p:cNvPr id="19484" name="Text Box 28">
            <a:extLst>
              <a:ext uri="{FF2B5EF4-FFF2-40B4-BE49-F238E27FC236}">
                <a16:creationId xmlns:a16="http://schemas.microsoft.com/office/drawing/2014/main" id="{DBD34491-7F39-4EF0-8E38-D609584F0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953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5</a:t>
            </a:r>
          </a:p>
        </p:txBody>
      </p:sp>
      <p:sp>
        <p:nvSpPr>
          <p:cNvPr id="19485" name="Text Box 29">
            <a:extLst>
              <a:ext uri="{FF2B5EF4-FFF2-40B4-BE49-F238E27FC236}">
                <a16:creationId xmlns:a16="http://schemas.microsoft.com/office/drawing/2014/main" id="{600456A4-4832-4A3A-9E9D-A9BA26010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4864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9</a:t>
            </a:r>
          </a:p>
        </p:txBody>
      </p:sp>
      <p:sp>
        <p:nvSpPr>
          <p:cNvPr id="19486" name="Text Box 30">
            <a:extLst>
              <a:ext uri="{FF2B5EF4-FFF2-40B4-BE49-F238E27FC236}">
                <a16:creationId xmlns:a16="http://schemas.microsoft.com/office/drawing/2014/main" id="{BA11D4DE-EA43-498F-AB14-B12C83981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048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19487" name="Text Box 31">
            <a:extLst>
              <a:ext uri="{FF2B5EF4-FFF2-40B4-BE49-F238E27FC236}">
                <a16:creationId xmlns:a16="http://schemas.microsoft.com/office/drawing/2014/main" id="{0DACBE4B-3BD9-485F-9148-EC507627C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810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3</a:t>
            </a:r>
          </a:p>
        </p:txBody>
      </p:sp>
      <p:sp>
        <p:nvSpPr>
          <p:cNvPr id="19488" name="Text Box 32">
            <a:extLst>
              <a:ext uri="{FF2B5EF4-FFF2-40B4-BE49-F238E27FC236}">
                <a16:creationId xmlns:a16="http://schemas.microsoft.com/office/drawing/2014/main" id="{67969E7B-AF3B-465B-8B31-8505E999C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0292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19489" name="Text Box 33">
            <a:extLst>
              <a:ext uri="{FF2B5EF4-FFF2-40B4-BE49-F238E27FC236}">
                <a16:creationId xmlns:a16="http://schemas.microsoft.com/office/drawing/2014/main" id="{1FED8F30-5717-45A3-9B3A-252D58C07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2672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19490" name="Text Box 34">
            <a:extLst>
              <a:ext uri="{FF2B5EF4-FFF2-40B4-BE49-F238E27FC236}">
                <a16:creationId xmlns:a16="http://schemas.microsoft.com/office/drawing/2014/main" id="{14AD4966-3898-4755-86D1-37E93918C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470525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19491" name="Text Box 35">
            <a:extLst>
              <a:ext uri="{FF2B5EF4-FFF2-40B4-BE49-F238E27FC236}">
                <a16:creationId xmlns:a16="http://schemas.microsoft.com/office/drawing/2014/main" id="{27801601-E2E0-42DF-9C44-D7EE6458C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810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3</a:t>
            </a:r>
          </a:p>
        </p:txBody>
      </p:sp>
      <p:sp>
        <p:nvSpPr>
          <p:cNvPr id="19492" name="Text Box 36">
            <a:extLst>
              <a:ext uri="{FF2B5EF4-FFF2-40B4-BE49-F238E27FC236}">
                <a16:creationId xmlns:a16="http://schemas.microsoft.com/office/drawing/2014/main" id="{13CD3160-3C35-4096-A8CB-7F4A70268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953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7</a:t>
            </a:r>
          </a:p>
        </p:txBody>
      </p:sp>
      <p:sp>
        <p:nvSpPr>
          <p:cNvPr id="300071" name="Freeform 39">
            <a:extLst>
              <a:ext uri="{FF2B5EF4-FFF2-40B4-BE49-F238E27FC236}">
                <a16:creationId xmlns:a16="http://schemas.microsoft.com/office/drawing/2014/main" id="{A2A55064-45FD-4521-9927-9EB99C59A5E1}"/>
              </a:ext>
            </a:extLst>
          </p:cNvPr>
          <p:cNvSpPr>
            <a:spLocks/>
          </p:cNvSpPr>
          <p:nvPr/>
        </p:nvSpPr>
        <p:spPr bwMode="auto">
          <a:xfrm>
            <a:off x="1752600" y="4800600"/>
            <a:ext cx="500063" cy="838200"/>
          </a:xfrm>
          <a:custGeom>
            <a:avLst/>
            <a:gdLst>
              <a:gd name="T0" fmla="*/ 0 w 315"/>
              <a:gd name="T1" fmla="*/ 2147483646 h 528"/>
              <a:gd name="T2" fmla="*/ 2147483646 w 315"/>
              <a:gd name="T3" fmla="*/ 2147483646 h 528"/>
              <a:gd name="T4" fmla="*/ 2147483646 w 315"/>
              <a:gd name="T5" fmla="*/ 0 h 528"/>
              <a:gd name="T6" fmla="*/ 0 60000 65536"/>
              <a:gd name="T7" fmla="*/ 0 60000 65536"/>
              <a:gd name="T8" fmla="*/ 0 60000 65536"/>
              <a:gd name="T9" fmla="*/ 0 w 315"/>
              <a:gd name="T10" fmla="*/ 0 h 528"/>
              <a:gd name="T11" fmla="*/ 315 w 315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5" h="528">
                <a:moveTo>
                  <a:pt x="0" y="528"/>
                </a:moveTo>
                <a:cubicBezTo>
                  <a:pt x="44" y="491"/>
                  <a:pt x="219" y="392"/>
                  <a:pt x="267" y="304"/>
                </a:cubicBezTo>
                <a:cubicBezTo>
                  <a:pt x="315" y="216"/>
                  <a:pt x="284" y="63"/>
                  <a:pt x="288" y="0"/>
                </a:cubicBezTo>
              </a:path>
            </a:pathLst>
          </a:custGeom>
          <a:noFill/>
          <a:ln w="28575">
            <a:solidFill>
              <a:srgbClr val="6C04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72" name="Freeform 40">
            <a:extLst>
              <a:ext uri="{FF2B5EF4-FFF2-40B4-BE49-F238E27FC236}">
                <a16:creationId xmlns:a16="http://schemas.microsoft.com/office/drawing/2014/main" id="{01E2771D-5EAE-4921-AD5C-77AEFD5699BC}"/>
              </a:ext>
            </a:extLst>
          </p:cNvPr>
          <p:cNvSpPr>
            <a:spLocks/>
          </p:cNvSpPr>
          <p:nvPr/>
        </p:nvSpPr>
        <p:spPr bwMode="auto">
          <a:xfrm>
            <a:off x="1905000" y="5562600"/>
            <a:ext cx="2362200" cy="306388"/>
          </a:xfrm>
          <a:custGeom>
            <a:avLst/>
            <a:gdLst>
              <a:gd name="T0" fmla="*/ 0 w 1488"/>
              <a:gd name="T1" fmla="*/ 2147483646 h 140"/>
              <a:gd name="T2" fmla="*/ 2147483646 w 1488"/>
              <a:gd name="T3" fmla="*/ 0 h 140"/>
              <a:gd name="T4" fmla="*/ 2147483646 w 1488"/>
              <a:gd name="T5" fmla="*/ 2147483646 h 140"/>
              <a:gd name="T6" fmla="*/ 0 60000 65536"/>
              <a:gd name="T7" fmla="*/ 0 60000 65536"/>
              <a:gd name="T8" fmla="*/ 0 60000 65536"/>
              <a:gd name="T9" fmla="*/ 0 w 1488"/>
              <a:gd name="T10" fmla="*/ 0 h 140"/>
              <a:gd name="T11" fmla="*/ 1488 w 1488"/>
              <a:gd name="T12" fmla="*/ 140 h 1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88" h="140">
                <a:moveTo>
                  <a:pt x="0" y="139"/>
                </a:moveTo>
                <a:cubicBezTo>
                  <a:pt x="115" y="116"/>
                  <a:pt x="445" y="0"/>
                  <a:pt x="693" y="0"/>
                </a:cubicBezTo>
                <a:cubicBezTo>
                  <a:pt x="941" y="0"/>
                  <a:pt x="1323" y="111"/>
                  <a:pt x="1488" y="140"/>
                </a:cubicBezTo>
              </a:path>
            </a:pathLst>
          </a:custGeom>
          <a:noFill/>
          <a:ln w="28575">
            <a:solidFill>
              <a:srgbClr val="6C04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73" name="Freeform 41">
            <a:extLst>
              <a:ext uri="{FF2B5EF4-FFF2-40B4-BE49-F238E27FC236}">
                <a16:creationId xmlns:a16="http://schemas.microsoft.com/office/drawing/2014/main" id="{C80CDEF3-285B-4005-8403-42EE2F0D4B67}"/>
              </a:ext>
            </a:extLst>
          </p:cNvPr>
          <p:cNvSpPr>
            <a:spLocks/>
          </p:cNvSpPr>
          <p:nvPr/>
        </p:nvSpPr>
        <p:spPr bwMode="auto">
          <a:xfrm>
            <a:off x="3200400" y="3106738"/>
            <a:ext cx="1066800" cy="323850"/>
          </a:xfrm>
          <a:custGeom>
            <a:avLst/>
            <a:gdLst>
              <a:gd name="T0" fmla="*/ 0 w 672"/>
              <a:gd name="T1" fmla="*/ 2147483646 h 204"/>
              <a:gd name="T2" fmla="*/ 2147483646 w 672"/>
              <a:gd name="T3" fmla="*/ 0 h 204"/>
              <a:gd name="T4" fmla="*/ 2147483646 w 672"/>
              <a:gd name="T5" fmla="*/ 2147483646 h 204"/>
              <a:gd name="T6" fmla="*/ 0 60000 65536"/>
              <a:gd name="T7" fmla="*/ 0 60000 65536"/>
              <a:gd name="T8" fmla="*/ 0 60000 65536"/>
              <a:gd name="T9" fmla="*/ 0 w 672"/>
              <a:gd name="T10" fmla="*/ 0 h 204"/>
              <a:gd name="T11" fmla="*/ 672 w 672"/>
              <a:gd name="T12" fmla="*/ 204 h 2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204">
                <a:moveTo>
                  <a:pt x="0" y="203"/>
                </a:moveTo>
                <a:cubicBezTo>
                  <a:pt x="56" y="169"/>
                  <a:pt x="222" y="0"/>
                  <a:pt x="334" y="0"/>
                </a:cubicBezTo>
                <a:cubicBezTo>
                  <a:pt x="446" y="0"/>
                  <a:pt x="602" y="162"/>
                  <a:pt x="672" y="204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74" name="Freeform 42">
            <a:extLst>
              <a:ext uri="{FF2B5EF4-FFF2-40B4-BE49-F238E27FC236}">
                <a16:creationId xmlns:a16="http://schemas.microsoft.com/office/drawing/2014/main" id="{8718B36A-D057-4590-A9B5-2E2F7970CE17}"/>
              </a:ext>
            </a:extLst>
          </p:cNvPr>
          <p:cNvSpPr>
            <a:spLocks/>
          </p:cNvSpPr>
          <p:nvPr/>
        </p:nvSpPr>
        <p:spPr bwMode="auto">
          <a:xfrm>
            <a:off x="2405063" y="3581400"/>
            <a:ext cx="490537" cy="838200"/>
          </a:xfrm>
          <a:custGeom>
            <a:avLst/>
            <a:gdLst>
              <a:gd name="T0" fmla="*/ 2147483646 w 309"/>
              <a:gd name="T1" fmla="*/ 2147483646 h 528"/>
              <a:gd name="T2" fmla="*/ 2147483646 w 309"/>
              <a:gd name="T3" fmla="*/ 2147483646 h 528"/>
              <a:gd name="T4" fmla="*/ 2147483646 w 309"/>
              <a:gd name="T5" fmla="*/ 0 h 528"/>
              <a:gd name="T6" fmla="*/ 0 60000 65536"/>
              <a:gd name="T7" fmla="*/ 0 60000 65536"/>
              <a:gd name="T8" fmla="*/ 0 60000 65536"/>
              <a:gd name="T9" fmla="*/ 0 w 309"/>
              <a:gd name="T10" fmla="*/ 0 h 528"/>
              <a:gd name="T11" fmla="*/ 309 w 309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9" h="528">
                <a:moveTo>
                  <a:pt x="21" y="528"/>
                </a:moveTo>
                <a:cubicBezTo>
                  <a:pt x="25" y="471"/>
                  <a:pt x="0" y="273"/>
                  <a:pt x="48" y="185"/>
                </a:cubicBezTo>
                <a:cubicBezTo>
                  <a:pt x="96" y="97"/>
                  <a:pt x="255" y="39"/>
                  <a:pt x="309" y="0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75" name="Freeform 43">
            <a:extLst>
              <a:ext uri="{FF2B5EF4-FFF2-40B4-BE49-F238E27FC236}">
                <a16:creationId xmlns:a16="http://schemas.microsoft.com/office/drawing/2014/main" id="{3E12DAAC-46AB-4EE8-AD86-A4DE7010527A}"/>
              </a:ext>
            </a:extLst>
          </p:cNvPr>
          <p:cNvSpPr>
            <a:spLocks/>
          </p:cNvSpPr>
          <p:nvPr/>
        </p:nvSpPr>
        <p:spPr bwMode="auto">
          <a:xfrm>
            <a:off x="1600200" y="4800600"/>
            <a:ext cx="609600" cy="838200"/>
          </a:xfrm>
          <a:custGeom>
            <a:avLst/>
            <a:gdLst>
              <a:gd name="T0" fmla="*/ 2147483646 w 407"/>
              <a:gd name="T1" fmla="*/ 2147483646 h 528"/>
              <a:gd name="T2" fmla="*/ 2147483646 w 407"/>
              <a:gd name="T3" fmla="*/ 2147483646 h 528"/>
              <a:gd name="T4" fmla="*/ 2147483646 w 407"/>
              <a:gd name="T5" fmla="*/ 0 h 528"/>
              <a:gd name="T6" fmla="*/ 0 60000 65536"/>
              <a:gd name="T7" fmla="*/ 0 60000 65536"/>
              <a:gd name="T8" fmla="*/ 0 60000 65536"/>
              <a:gd name="T9" fmla="*/ 0 w 407"/>
              <a:gd name="T10" fmla="*/ 0 h 528"/>
              <a:gd name="T11" fmla="*/ 407 w 407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7" h="528">
                <a:moveTo>
                  <a:pt x="119" y="528"/>
                </a:moveTo>
                <a:cubicBezTo>
                  <a:pt x="107" y="460"/>
                  <a:pt x="0" y="209"/>
                  <a:pt x="48" y="121"/>
                </a:cubicBezTo>
                <a:cubicBezTo>
                  <a:pt x="96" y="33"/>
                  <a:pt x="332" y="25"/>
                  <a:pt x="407" y="0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76" name="Freeform 44">
            <a:extLst>
              <a:ext uri="{FF2B5EF4-FFF2-40B4-BE49-F238E27FC236}">
                <a16:creationId xmlns:a16="http://schemas.microsoft.com/office/drawing/2014/main" id="{982FF72A-ACA8-4B8E-B3CA-25DD55D01171}"/>
              </a:ext>
            </a:extLst>
          </p:cNvPr>
          <p:cNvSpPr>
            <a:spLocks/>
          </p:cNvSpPr>
          <p:nvPr/>
        </p:nvSpPr>
        <p:spPr bwMode="auto">
          <a:xfrm>
            <a:off x="1905000" y="5867400"/>
            <a:ext cx="2362200" cy="242888"/>
          </a:xfrm>
          <a:custGeom>
            <a:avLst/>
            <a:gdLst>
              <a:gd name="T0" fmla="*/ 0 w 1488"/>
              <a:gd name="T1" fmla="*/ 0 h 153"/>
              <a:gd name="T2" fmla="*/ 2147483646 w 1488"/>
              <a:gd name="T3" fmla="*/ 2147483646 h 153"/>
              <a:gd name="T4" fmla="*/ 2147483646 w 1488"/>
              <a:gd name="T5" fmla="*/ 2147483646 h 153"/>
              <a:gd name="T6" fmla="*/ 0 60000 65536"/>
              <a:gd name="T7" fmla="*/ 0 60000 65536"/>
              <a:gd name="T8" fmla="*/ 0 60000 65536"/>
              <a:gd name="T9" fmla="*/ 0 w 1488"/>
              <a:gd name="T10" fmla="*/ 0 h 153"/>
              <a:gd name="T11" fmla="*/ 1488 w 1488"/>
              <a:gd name="T12" fmla="*/ 153 h 1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88" h="153">
                <a:moveTo>
                  <a:pt x="0" y="0"/>
                </a:moveTo>
                <a:cubicBezTo>
                  <a:pt x="114" y="25"/>
                  <a:pt x="435" y="153"/>
                  <a:pt x="683" y="153"/>
                </a:cubicBezTo>
                <a:cubicBezTo>
                  <a:pt x="931" y="153"/>
                  <a:pt x="1320" y="33"/>
                  <a:pt x="1488" y="1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77" name="Freeform 45">
            <a:extLst>
              <a:ext uri="{FF2B5EF4-FFF2-40B4-BE49-F238E27FC236}">
                <a16:creationId xmlns:a16="http://schemas.microsoft.com/office/drawing/2014/main" id="{C373206E-FF8B-43FF-ABF8-2D84FD85F5F5}"/>
              </a:ext>
            </a:extLst>
          </p:cNvPr>
          <p:cNvSpPr>
            <a:spLocks/>
          </p:cNvSpPr>
          <p:nvPr/>
        </p:nvSpPr>
        <p:spPr bwMode="auto">
          <a:xfrm>
            <a:off x="4648200" y="5867400"/>
            <a:ext cx="1219200" cy="200025"/>
          </a:xfrm>
          <a:custGeom>
            <a:avLst/>
            <a:gdLst>
              <a:gd name="T0" fmla="*/ 0 w 768"/>
              <a:gd name="T1" fmla="*/ 0 h 126"/>
              <a:gd name="T2" fmla="*/ 2147483646 w 768"/>
              <a:gd name="T3" fmla="*/ 2147483646 h 126"/>
              <a:gd name="T4" fmla="*/ 2147483646 w 768"/>
              <a:gd name="T5" fmla="*/ 2147483646 h 126"/>
              <a:gd name="T6" fmla="*/ 0 60000 65536"/>
              <a:gd name="T7" fmla="*/ 0 60000 65536"/>
              <a:gd name="T8" fmla="*/ 0 60000 65536"/>
              <a:gd name="T9" fmla="*/ 0 w 768"/>
              <a:gd name="T10" fmla="*/ 0 h 126"/>
              <a:gd name="T11" fmla="*/ 768 w 768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8" h="126">
                <a:moveTo>
                  <a:pt x="0" y="0"/>
                </a:moveTo>
                <a:cubicBezTo>
                  <a:pt x="60" y="21"/>
                  <a:pt x="235" y="126"/>
                  <a:pt x="363" y="126"/>
                </a:cubicBezTo>
                <a:cubicBezTo>
                  <a:pt x="491" y="126"/>
                  <a:pt x="684" y="27"/>
                  <a:pt x="768" y="1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78" name="Freeform 46">
            <a:extLst>
              <a:ext uri="{FF2B5EF4-FFF2-40B4-BE49-F238E27FC236}">
                <a16:creationId xmlns:a16="http://schemas.microsoft.com/office/drawing/2014/main" id="{5C443EA8-DDEF-4308-AC79-15A5C5070591}"/>
              </a:ext>
            </a:extLst>
          </p:cNvPr>
          <p:cNvSpPr>
            <a:spLocks/>
          </p:cNvSpPr>
          <p:nvPr/>
        </p:nvSpPr>
        <p:spPr bwMode="auto">
          <a:xfrm>
            <a:off x="6096000" y="4800600"/>
            <a:ext cx="174625" cy="838200"/>
          </a:xfrm>
          <a:custGeom>
            <a:avLst/>
            <a:gdLst>
              <a:gd name="T0" fmla="*/ 0 w 110"/>
              <a:gd name="T1" fmla="*/ 0 h 528"/>
              <a:gd name="T2" fmla="*/ 2147483646 w 110"/>
              <a:gd name="T3" fmla="*/ 2147483646 h 528"/>
              <a:gd name="T4" fmla="*/ 2147483646 w 110"/>
              <a:gd name="T5" fmla="*/ 2147483646 h 528"/>
              <a:gd name="T6" fmla="*/ 0 60000 65536"/>
              <a:gd name="T7" fmla="*/ 0 60000 65536"/>
              <a:gd name="T8" fmla="*/ 0 60000 65536"/>
              <a:gd name="T9" fmla="*/ 0 w 110"/>
              <a:gd name="T10" fmla="*/ 0 h 528"/>
              <a:gd name="T11" fmla="*/ 110 w 110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" h="528">
                <a:moveTo>
                  <a:pt x="0" y="0"/>
                </a:moveTo>
                <a:cubicBezTo>
                  <a:pt x="18" y="46"/>
                  <a:pt x="110" y="189"/>
                  <a:pt x="110" y="277"/>
                </a:cubicBezTo>
                <a:cubicBezTo>
                  <a:pt x="110" y="365"/>
                  <a:pt x="24" y="476"/>
                  <a:pt x="1" y="528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1AC0AC2-FE90-48AF-A6A5-2DB079E8EA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奇偶点图上作业法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02935377-4493-4B2D-98D6-BBB9F33ABA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1981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2</a:t>
            </a:r>
            <a:r>
              <a:rPr lang="zh-CN" altLang="en-US"/>
              <a:t>）调整可行方案</a:t>
            </a:r>
          </a:p>
          <a:p>
            <a:pPr lvl="1" eaLnBrk="1" hangingPunct="1"/>
            <a:r>
              <a:rPr lang="zh-CN" altLang="en-US"/>
              <a:t>每条边上至多有一条重复边</a:t>
            </a:r>
          </a:p>
        </p:txBody>
      </p:sp>
      <p:sp>
        <p:nvSpPr>
          <p:cNvPr id="20484" name="Oval 4">
            <a:extLst>
              <a:ext uri="{FF2B5EF4-FFF2-40B4-BE49-F238E27FC236}">
                <a16:creationId xmlns:a16="http://schemas.microsoft.com/office/drawing/2014/main" id="{6B17C0CD-23AA-40AF-977A-8803883CC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0485" name="Oval 5">
            <a:extLst>
              <a:ext uri="{FF2B5EF4-FFF2-40B4-BE49-F238E27FC236}">
                <a16:creationId xmlns:a16="http://schemas.microsoft.com/office/drawing/2014/main" id="{CCFCE20A-A11F-4F1F-9854-F10117B51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419600"/>
            <a:ext cx="381000" cy="381000"/>
          </a:xfrm>
          <a:prstGeom prst="ellipse">
            <a:avLst/>
          </a:prstGeom>
          <a:solidFill>
            <a:srgbClr val="6C04A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0486" name="Oval 6">
            <a:extLst>
              <a:ext uri="{FF2B5EF4-FFF2-40B4-BE49-F238E27FC236}">
                <a16:creationId xmlns:a16="http://schemas.microsoft.com/office/drawing/2014/main" id="{F492CB61-FDE5-4220-B47B-4AC020F80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638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0487" name="Oval 7">
            <a:extLst>
              <a:ext uri="{FF2B5EF4-FFF2-40B4-BE49-F238E27FC236}">
                <a16:creationId xmlns:a16="http://schemas.microsoft.com/office/drawing/2014/main" id="{289E23FB-83F2-4CAA-A436-6ACC70E1B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638800"/>
            <a:ext cx="381000" cy="381000"/>
          </a:xfrm>
          <a:prstGeom prst="ellipse">
            <a:avLst/>
          </a:prstGeom>
          <a:solidFill>
            <a:srgbClr val="6C04A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0488" name="Oval 8">
            <a:extLst>
              <a:ext uri="{FF2B5EF4-FFF2-40B4-BE49-F238E27FC236}">
                <a16:creationId xmlns:a16="http://schemas.microsoft.com/office/drawing/2014/main" id="{02783F6A-E36A-4175-99B1-E116DE448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638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0489" name="Oval 9">
            <a:extLst>
              <a:ext uri="{FF2B5EF4-FFF2-40B4-BE49-F238E27FC236}">
                <a16:creationId xmlns:a16="http://schemas.microsoft.com/office/drawing/2014/main" id="{5D821061-CFA7-459D-96F4-1E550DE63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4196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0490" name="Oval 10">
            <a:extLst>
              <a:ext uri="{FF2B5EF4-FFF2-40B4-BE49-F238E27FC236}">
                <a16:creationId xmlns:a16="http://schemas.microsoft.com/office/drawing/2014/main" id="{B03987E1-C263-45AF-9D9A-28E806BEE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200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0491" name="Oval 11">
            <a:extLst>
              <a:ext uri="{FF2B5EF4-FFF2-40B4-BE49-F238E27FC236}">
                <a16:creationId xmlns:a16="http://schemas.microsoft.com/office/drawing/2014/main" id="{C81CBA31-F489-4461-8490-3FDEA631F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2004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20492" name="Oval 12">
            <a:extLst>
              <a:ext uri="{FF2B5EF4-FFF2-40B4-BE49-F238E27FC236}">
                <a16:creationId xmlns:a16="http://schemas.microsoft.com/office/drawing/2014/main" id="{7F25C490-EA22-4624-8E20-DD79758E9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419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0493" name="Line 13">
            <a:extLst>
              <a:ext uri="{FF2B5EF4-FFF2-40B4-BE49-F238E27FC236}">
                <a16:creationId xmlns:a16="http://schemas.microsoft.com/office/drawing/2014/main" id="{587DC813-636E-4121-A655-20A59DC4A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4290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4" name="Line 14">
            <a:extLst>
              <a:ext uri="{FF2B5EF4-FFF2-40B4-BE49-F238E27FC236}">
                <a16:creationId xmlns:a16="http://schemas.microsoft.com/office/drawing/2014/main" id="{4FAA410B-978A-4745-AD25-99C34A33C0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4290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5" name="Line 15">
            <a:extLst>
              <a:ext uri="{FF2B5EF4-FFF2-40B4-BE49-F238E27FC236}">
                <a16:creationId xmlns:a16="http://schemas.microsoft.com/office/drawing/2014/main" id="{25572DEE-D64F-4A63-BFBB-29DABA9E34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5814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6" name="Line 16">
            <a:extLst>
              <a:ext uri="{FF2B5EF4-FFF2-40B4-BE49-F238E27FC236}">
                <a16:creationId xmlns:a16="http://schemas.microsoft.com/office/drawing/2014/main" id="{6AFBC1F2-6B7F-4052-93F4-D4F9445CB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8006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7" name="Line 17">
            <a:extLst>
              <a:ext uri="{FF2B5EF4-FFF2-40B4-BE49-F238E27FC236}">
                <a16:creationId xmlns:a16="http://schemas.microsoft.com/office/drawing/2014/main" id="{AFE9ED41-1800-463F-BD0A-49ECB81A9A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8674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8" name="Line 18">
            <a:extLst>
              <a:ext uri="{FF2B5EF4-FFF2-40B4-BE49-F238E27FC236}">
                <a16:creationId xmlns:a16="http://schemas.microsoft.com/office/drawing/2014/main" id="{2DAE5584-B6C4-4EA2-996B-CFDE69BCE1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5867400"/>
            <a:ext cx="2362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9" name="Line 19">
            <a:extLst>
              <a:ext uri="{FF2B5EF4-FFF2-40B4-BE49-F238E27FC236}">
                <a16:creationId xmlns:a16="http://schemas.microsoft.com/office/drawing/2014/main" id="{C15D6747-AED3-49ED-90F2-F1197B29CA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4800600"/>
            <a:ext cx="457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0" name="Line 20">
            <a:extLst>
              <a:ext uri="{FF2B5EF4-FFF2-40B4-BE49-F238E27FC236}">
                <a16:creationId xmlns:a16="http://schemas.microsoft.com/office/drawing/2014/main" id="{743F332B-BA75-4C38-9BD3-B53AAF9876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3581400"/>
            <a:ext cx="457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1" name="Line 21">
            <a:extLst>
              <a:ext uri="{FF2B5EF4-FFF2-40B4-BE49-F238E27FC236}">
                <a16:creationId xmlns:a16="http://schemas.microsoft.com/office/drawing/2014/main" id="{4832EEDD-1093-4B7A-9CB4-3C01D7A254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6482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2" name="Line 22">
            <a:extLst>
              <a:ext uri="{FF2B5EF4-FFF2-40B4-BE49-F238E27FC236}">
                <a16:creationId xmlns:a16="http://schemas.microsoft.com/office/drawing/2014/main" id="{5EE4A9E9-3548-44DB-AA21-63281AF50D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46482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3" name="Line 23">
            <a:extLst>
              <a:ext uri="{FF2B5EF4-FFF2-40B4-BE49-F238E27FC236}">
                <a16:creationId xmlns:a16="http://schemas.microsoft.com/office/drawing/2014/main" id="{BDD4DDC4-D41E-4071-9741-0EA07BF94B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5814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4" name="Line 24">
            <a:extLst>
              <a:ext uri="{FF2B5EF4-FFF2-40B4-BE49-F238E27FC236}">
                <a16:creationId xmlns:a16="http://schemas.microsoft.com/office/drawing/2014/main" id="{B590657C-FD80-4456-A4F8-E2F4D2072D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8006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5" name="Text Box 25">
            <a:extLst>
              <a:ext uri="{FF2B5EF4-FFF2-40B4-BE49-F238E27FC236}">
                <a16:creationId xmlns:a16="http://schemas.microsoft.com/office/drawing/2014/main" id="{998A003A-7AC8-4903-8BBB-82685DDC4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048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2</a:t>
            </a:r>
          </a:p>
        </p:txBody>
      </p:sp>
      <p:sp>
        <p:nvSpPr>
          <p:cNvPr id="20506" name="Text Box 26">
            <a:extLst>
              <a:ext uri="{FF2B5EF4-FFF2-40B4-BE49-F238E27FC236}">
                <a16:creationId xmlns:a16="http://schemas.microsoft.com/office/drawing/2014/main" id="{2EC1622D-DD6C-4382-925C-D846FB535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7338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5</a:t>
            </a:r>
          </a:p>
        </p:txBody>
      </p:sp>
      <p:sp>
        <p:nvSpPr>
          <p:cNvPr id="20507" name="Text Box 27">
            <a:extLst>
              <a:ext uri="{FF2B5EF4-FFF2-40B4-BE49-F238E27FC236}">
                <a16:creationId xmlns:a16="http://schemas.microsoft.com/office/drawing/2014/main" id="{8AF70B06-DB6B-4359-A4E2-D15AA2AB9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3434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6</a:t>
            </a:r>
          </a:p>
        </p:txBody>
      </p:sp>
      <p:sp>
        <p:nvSpPr>
          <p:cNvPr id="20508" name="Text Box 28">
            <a:extLst>
              <a:ext uri="{FF2B5EF4-FFF2-40B4-BE49-F238E27FC236}">
                <a16:creationId xmlns:a16="http://schemas.microsoft.com/office/drawing/2014/main" id="{598D6E76-5916-442C-ADF0-0CC5E37CF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953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5</a:t>
            </a:r>
          </a:p>
        </p:txBody>
      </p:sp>
      <p:sp>
        <p:nvSpPr>
          <p:cNvPr id="20509" name="Text Box 29">
            <a:extLst>
              <a:ext uri="{FF2B5EF4-FFF2-40B4-BE49-F238E27FC236}">
                <a16:creationId xmlns:a16="http://schemas.microsoft.com/office/drawing/2014/main" id="{40A08365-2397-4C8D-B8E4-7979CB84E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4864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9</a:t>
            </a:r>
          </a:p>
        </p:txBody>
      </p:sp>
      <p:sp>
        <p:nvSpPr>
          <p:cNvPr id="20510" name="Text Box 30">
            <a:extLst>
              <a:ext uri="{FF2B5EF4-FFF2-40B4-BE49-F238E27FC236}">
                <a16:creationId xmlns:a16="http://schemas.microsoft.com/office/drawing/2014/main" id="{8F8A1BD4-00BF-4006-9585-7B86DFF13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048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20511" name="Text Box 31">
            <a:extLst>
              <a:ext uri="{FF2B5EF4-FFF2-40B4-BE49-F238E27FC236}">
                <a16:creationId xmlns:a16="http://schemas.microsoft.com/office/drawing/2014/main" id="{909584B3-CEA2-4E6A-89F7-4E12E6E52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810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3</a:t>
            </a:r>
          </a:p>
        </p:txBody>
      </p:sp>
      <p:sp>
        <p:nvSpPr>
          <p:cNvPr id="20512" name="Text Box 32">
            <a:extLst>
              <a:ext uri="{FF2B5EF4-FFF2-40B4-BE49-F238E27FC236}">
                <a16:creationId xmlns:a16="http://schemas.microsoft.com/office/drawing/2014/main" id="{84908019-EE49-429A-AE46-D42E963B3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0292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20513" name="Text Box 33">
            <a:extLst>
              <a:ext uri="{FF2B5EF4-FFF2-40B4-BE49-F238E27FC236}">
                <a16:creationId xmlns:a16="http://schemas.microsoft.com/office/drawing/2014/main" id="{3DB50917-B6B5-44A8-8F8C-4AEC81C3F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2672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20514" name="Text Box 34">
            <a:extLst>
              <a:ext uri="{FF2B5EF4-FFF2-40B4-BE49-F238E27FC236}">
                <a16:creationId xmlns:a16="http://schemas.microsoft.com/office/drawing/2014/main" id="{B68F8CC1-44D7-4F86-8211-AB8E391A0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470525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20515" name="Text Box 35">
            <a:extLst>
              <a:ext uri="{FF2B5EF4-FFF2-40B4-BE49-F238E27FC236}">
                <a16:creationId xmlns:a16="http://schemas.microsoft.com/office/drawing/2014/main" id="{3D6B79A1-575D-45CD-82F1-C4861BC75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810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3</a:t>
            </a:r>
          </a:p>
        </p:txBody>
      </p:sp>
      <p:sp>
        <p:nvSpPr>
          <p:cNvPr id="20516" name="Text Box 36">
            <a:extLst>
              <a:ext uri="{FF2B5EF4-FFF2-40B4-BE49-F238E27FC236}">
                <a16:creationId xmlns:a16="http://schemas.microsoft.com/office/drawing/2014/main" id="{6FA9B6BE-5F75-43C1-9F34-95819B89F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953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7</a:t>
            </a:r>
          </a:p>
        </p:txBody>
      </p:sp>
      <p:sp>
        <p:nvSpPr>
          <p:cNvPr id="301093" name="Freeform 37">
            <a:extLst>
              <a:ext uri="{FF2B5EF4-FFF2-40B4-BE49-F238E27FC236}">
                <a16:creationId xmlns:a16="http://schemas.microsoft.com/office/drawing/2014/main" id="{11E178E6-EF8F-42F4-A5E1-5D9D87B0561E}"/>
              </a:ext>
            </a:extLst>
          </p:cNvPr>
          <p:cNvSpPr>
            <a:spLocks/>
          </p:cNvSpPr>
          <p:nvPr/>
        </p:nvSpPr>
        <p:spPr bwMode="auto">
          <a:xfrm>
            <a:off x="1752600" y="4800600"/>
            <a:ext cx="500063" cy="838200"/>
          </a:xfrm>
          <a:custGeom>
            <a:avLst/>
            <a:gdLst>
              <a:gd name="T0" fmla="*/ 0 w 315"/>
              <a:gd name="T1" fmla="*/ 2147483646 h 528"/>
              <a:gd name="T2" fmla="*/ 2147483646 w 315"/>
              <a:gd name="T3" fmla="*/ 2147483646 h 528"/>
              <a:gd name="T4" fmla="*/ 2147483646 w 315"/>
              <a:gd name="T5" fmla="*/ 0 h 528"/>
              <a:gd name="T6" fmla="*/ 0 60000 65536"/>
              <a:gd name="T7" fmla="*/ 0 60000 65536"/>
              <a:gd name="T8" fmla="*/ 0 60000 65536"/>
              <a:gd name="T9" fmla="*/ 0 w 315"/>
              <a:gd name="T10" fmla="*/ 0 h 528"/>
              <a:gd name="T11" fmla="*/ 315 w 315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5" h="528">
                <a:moveTo>
                  <a:pt x="0" y="528"/>
                </a:moveTo>
                <a:cubicBezTo>
                  <a:pt x="44" y="491"/>
                  <a:pt x="219" y="392"/>
                  <a:pt x="267" y="304"/>
                </a:cubicBezTo>
                <a:cubicBezTo>
                  <a:pt x="315" y="216"/>
                  <a:pt x="284" y="63"/>
                  <a:pt x="288" y="0"/>
                </a:cubicBezTo>
              </a:path>
            </a:pathLst>
          </a:custGeom>
          <a:noFill/>
          <a:ln w="28575">
            <a:solidFill>
              <a:srgbClr val="6C04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1094" name="Freeform 38">
            <a:extLst>
              <a:ext uri="{FF2B5EF4-FFF2-40B4-BE49-F238E27FC236}">
                <a16:creationId xmlns:a16="http://schemas.microsoft.com/office/drawing/2014/main" id="{8FAE2ECF-BA82-445A-8F3A-571B96A55611}"/>
              </a:ext>
            </a:extLst>
          </p:cNvPr>
          <p:cNvSpPr>
            <a:spLocks/>
          </p:cNvSpPr>
          <p:nvPr/>
        </p:nvSpPr>
        <p:spPr bwMode="auto">
          <a:xfrm>
            <a:off x="1905000" y="5562600"/>
            <a:ext cx="2362200" cy="306388"/>
          </a:xfrm>
          <a:custGeom>
            <a:avLst/>
            <a:gdLst>
              <a:gd name="T0" fmla="*/ 0 w 1488"/>
              <a:gd name="T1" fmla="*/ 2147483646 h 140"/>
              <a:gd name="T2" fmla="*/ 2147483646 w 1488"/>
              <a:gd name="T3" fmla="*/ 0 h 140"/>
              <a:gd name="T4" fmla="*/ 2147483646 w 1488"/>
              <a:gd name="T5" fmla="*/ 2147483646 h 140"/>
              <a:gd name="T6" fmla="*/ 0 60000 65536"/>
              <a:gd name="T7" fmla="*/ 0 60000 65536"/>
              <a:gd name="T8" fmla="*/ 0 60000 65536"/>
              <a:gd name="T9" fmla="*/ 0 w 1488"/>
              <a:gd name="T10" fmla="*/ 0 h 140"/>
              <a:gd name="T11" fmla="*/ 1488 w 1488"/>
              <a:gd name="T12" fmla="*/ 140 h 1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88" h="140">
                <a:moveTo>
                  <a:pt x="0" y="139"/>
                </a:moveTo>
                <a:cubicBezTo>
                  <a:pt x="115" y="116"/>
                  <a:pt x="445" y="0"/>
                  <a:pt x="693" y="0"/>
                </a:cubicBezTo>
                <a:cubicBezTo>
                  <a:pt x="941" y="0"/>
                  <a:pt x="1323" y="111"/>
                  <a:pt x="1488" y="140"/>
                </a:cubicBezTo>
              </a:path>
            </a:pathLst>
          </a:custGeom>
          <a:noFill/>
          <a:ln w="28575">
            <a:solidFill>
              <a:srgbClr val="6C04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9" name="Freeform 39">
            <a:extLst>
              <a:ext uri="{FF2B5EF4-FFF2-40B4-BE49-F238E27FC236}">
                <a16:creationId xmlns:a16="http://schemas.microsoft.com/office/drawing/2014/main" id="{C8F93B96-B403-4298-9926-97BE34DEE737}"/>
              </a:ext>
            </a:extLst>
          </p:cNvPr>
          <p:cNvSpPr>
            <a:spLocks/>
          </p:cNvSpPr>
          <p:nvPr/>
        </p:nvSpPr>
        <p:spPr bwMode="auto">
          <a:xfrm>
            <a:off x="3200400" y="3106738"/>
            <a:ext cx="1066800" cy="323850"/>
          </a:xfrm>
          <a:custGeom>
            <a:avLst/>
            <a:gdLst>
              <a:gd name="T0" fmla="*/ 0 w 672"/>
              <a:gd name="T1" fmla="*/ 2147483646 h 204"/>
              <a:gd name="T2" fmla="*/ 2147483646 w 672"/>
              <a:gd name="T3" fmla="*/ 0 h 204"/>
              <a:gd name="T4" fmla="*/ 2147483646 w 672"/>
              <a:gd name="T5" fmla="*/ 2147483646 h 204"/>
              <a:gd name="T6" fmla="*/ 0 60000 65536"/>
              <a:gd name="T7" fmla="*/ 0 60000 65536"/>
              <a:gd name="T8" fmla="*/ 0 60000 65536"/>
              <a:gd name="T9" fmla="*/ 0 w 672"/>
              <a:gd name="T10" fmla="*/ 0 h 204"/>
              <a:gd name="T11" fmla="*/ 672 w 672"/>
              <a:gd name="T12" fmla="*/ 204 h 2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204">
                <a:moveTo>
                  <a:pt x="0" y="203"/>
                </a:moveTo>
                <a:cubicBezTo>
                  <a:pt x="56" y="169"/>
                  <a:pt x="222" y="0"/>
                  <a:pt x="334" y="0"/>
                </a:cubicBezTo>
                <a:cubicBezTo>
                  <a:pt x="446" y="0"/>
                  <a:pt x="602" y="162"/>
                  <a:pt x="672" y="204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0" name="Freeform 40">
            <a:extLst>
              <a:ext uri="{FF2B5EF4-FFF2-40B4-BE49-F238E27FC236}">
                <a16:creationId xmlns:a16="http://schemas.microsoft.com/office/drawing/2014/main" id="{7A7D0402-A2F4-48F2-908E-08BEECD31524}"/>
              </a:ext>
            </a:extLst>
          </p:cNvPr>
          <p:cNvSpPr>
            <a:spLocks/>
          </p:cNvSpPr>
          <p:nvPr/>
        </p:nvSpPr>
        <p:spPr bwMode="auto">
          <a:xfrm>
            <a:off x="2405063" y="3581400"/>
            <a:ext cx="490537" cy="838200"/>
          </a:xfrm>
          <a:custGeom>
            <a:avLst/>
            <a:gdLst>
              <a:gd name="T0" fmla="*/ 2147483646 w 309"/>
              <a:gd name="T1" fmla="*/ 2147483646 h 528"/>
              <a:gd name="T2" fmla="*/ 2147483646 w 309"/>
              <a:gd name="T3" fmla="*/ 2147483646 h 528"/>
              <a:gd name="T4" fmla="*/ 2147483646 w 309"/>
              <a:gd name="T5" fmla="*/ 0 h 528"/>
              <a:gd name="T6" fmla="*/ 0 60000 65536"/>
              <a:gd name="T7" fmla="*/ 0 60000 65536"/>
              <a:gd name="T8" fmla="*/ 0 60000 65536"/>
              <a:gd name="T9" fmla="*/ 0 w 309"/>
              <a:gd name="T10" fmla="*/ 0 h 528"/>
              <a:gd name="T11" fmla="*/ 309 w 309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9" h="528">
                <a:moveTo>
                  <a:pt x="21" y="528"/>
                </a:moveTo>
                <a:cubicBezTo>
                  <a:pt x="25" y="471"/>
                  <a:pt x="0" y="273"/>
                  <a:pt x="48" y="185"/>
                </a:cubicBezTo>
                <a:cubicBezTo>
                  <a:pt x="96" y="97"/>
                  <a:pt x="255" y="39"/>
                  <a:pt x="309" y="0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1097" name="Freeform 41">
            <a:extLst>
              <a:ext uri="{FF2B5EF4-FFF2-40B4-BE49-F238E27FC236}">
                <a16:creationId xmlns:a16="http://schemas.microsoft.com/office/drawing/2014/main" id="{E477CD0F-5D8E-45C6-9C4A-914252EDFD63}"/>
              </a:ext>
            </a:extLst>
          </p:cNvPr>
          <p:cNvSpPr>
            <a:spLocks/>
          </p:cNvSpPr>
          <p:nvPr/>
        </p:nvSpPr>
        <p:spPr bwMode="auto">
          <a:xfrm>
            <a:off x="1600200" y="4800600"/>
            <a:ext cx="609600" cy="838200"/>
          </a:xfrm>
          <a:custGeom>
            <a:avLst/>
            <a:gdLst>
              <a:gd name="T0" fmla="*/ 2147483646 w 407"/>
              <a:gd name="T1" fmla="*/ 2147483646 h 528"/>
              <a:gd name="T2" fmla="*/ 2147483646 w 407"/>
              <a:gd name="T3" fmla="*/ 2147483646 h 528"/>
              <a:gd name="T4" fmla="*/ 2147483646 w 407"/>
              <a:gd name="T5" fmla="*/ 0 h 528"/>
              <a:gd name="T6" fmla="*/ 0 60000 65536"/>
              <a:gd name="T7" fmla="*/ 0 60000 65536"/>
              <a:gd name="T8" fmla="*/ 0 60000 65536"/>
              <a:gd name="T9" fmla="*/ 0 w 407"/>
              <a:gd name="T10" fmla="*/ 0 h 528"/>
              <a:gd name="T11" fmla="*/ 407 w 407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7" h="528">
                <a:moveTo>
                  <a:pt x="119" y="528"/>
                </a:moveTo>
                <a:cubicBezTo>
                  <a:pt x="107" y="460"/>
                  <a:pt x="0" y="209"/>
                  <a:pt x="48" y="121"/>
                </a:cubicBezTo>
                <a:cubicBezTo>
                  <a:pt x="96" y="33"/>
                  <a:pt x="332" y="25"/>
                  <a:pt x="407" y="0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1098" name="Freeform 42">
            <a:extLst>
              <a:ext uri="{FF2B5EF4-FFF2-40B4-BE49-F238E27FC236}">
                <a16:creationId xmlns:a16="http://schemas.microsoft.com/office/drawing/2014/main" id="{16CD496F-48AF-429A-9A9F-4AA44E4E2764}"/>
              </a:ext>
            </a:extLst>
          </p:cNvPr>
          <p:cNvSpPr>
            <a:spLocks/>
          </p:cNvSpPr>
          <p:nvPr/>
        </p:nvSpPr>
        <p:spPr bwMode="auto">
          <a:xfrm>
            <a:off x="1905000" y="5867400"/>
            <a:ext cx="2362200" cy="242888"/>
          </a:xfrm>
          <a:custGeom>
            <a:avLst/>
            <a:gdLst>
              <a:gd name="T0" fmla="*/ 0 w 1488"/>
              <a:gd name="T1" fmla="*/ 0 h 153"/>
              <a:gd name="T2" fmla="*/ 2147483646 w 1488"/>
              <a:gd name="T3" fmla="*/ 2147483646 h 153"/>
              <a:gd name="T4" fmla="*/ 2147483646 w 1488"/>
              <a:gd name="T5" fmla="*/ 2147483646 h 153"/>
              <a:gd name="T6" fmla="*/ 0 60000 65536"/>
              <a:gd name="T7" fmla="*/ 0 60000 65536"/>
              <a:gd name="T8" fmla="*/ 0 60000 65536"/>
              <a:gd name="T9" fmla="*/ 0 w 1488"/>
              <a:gd name="T10" fmla="*/ 0 h 153"/>
              <a:gd name="T11" fmla="*/ 1488 w 1488"/>
              <a:gd name="T12" fmla="*/ 153 h 1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88" h="153">
                <a:moveTo>
                  <a:pt x="0" y="0"/>
                </a:moveTo>
                <a:cubicBezTo>
                  <a:pt x="114" y="25"/>
                  <a:pt x="435" y="153"/>
                  <a:pt x="683" y="153"/>
                </a:cubicBezTo>
                <a:cubicBezTo>
                  <a:pt x="931" y="153"/>
                  <a:pt x="1320" y="33"/>
                  <a:pt x="1488" y="1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3" name="Freeform 43">
            <a:extLst>
              <a:ext uri="{FF2B5EF4-FFF2-40B4-BE49-F238E27FC236}">
                <a16:creationId xmlns:a16="http://schemas.microsoft.com/office/drawing/2014/main" id="{212481D8-0A16-4A45-9BBA-2BC70095993B}"/>
              </a:ext>
            </a:extLst>
          </p:cNvPr>
          <p:cNvSpPr>
            <a:spLocks/>
          </p:cNvSpPr>
          <p:nvPr/>
        </p:nvSpPr>
        <p:spPr bwMode="auto">
          <a:xfrm>
            <a:off x="4648200" y="5867400"/>
            <a:ext cx="1219200" cy="200025"/>
          </a:xfrm>
          <a:custGeom>
            <a:avLst/>
            <a:gdLst>
              <a:gd name="T0" fmla="*/ 0 w 768"/>
              <a:gd name="T1" fmla="*/ 0 h 126"/>
              <a:gd name="T2" fmla="*/ 2147483646 w 768"/>
              <a:gd name="T3" fmla="*/ 2147483646 h 126"/>
              <a:gd name="T4" fmla="*/ 2147483646 w 768"/>
              <a:gd name="T5" fmla="*/ 2147483646 h 126"/>
              <a:gd name="T6" fmla="*/ 0 60000 65536"/>
              <a:gd name="T7" fmla="*/ 0 60000 65536"/>
              <a:gd name="T8" fmla="*/ 0 60000 65536"/>
              <a:gd name="T9" fmla="*/ 0 w 768"/>
              <a:gd name="T10" fmla="*/ 0 h 126"/>
              <a:gd name="T11" fmla="*/ 768 w 768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8" h="126">
                <a:moveTo>
                  <a:pt x="0" y="0"/>
                </a:moveTo>
                <a:cubicBezTo>
                  <a:pt x="60" y="21"/>
                  <a:pt x="235" y="126"/>
                  <a:pt x="363" y="126"/>
                </a:cubicBezTo>
                <a:cubicBezTo>
                  <a:pt x="491" y="126"/>
                  <a:pt x="684" y="27"/>
                  <a:pt x="768" y="1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4" name="Freeform 44">
            <a:extLst>
              <a:ext uri="{FF2B5EF4-FFF2-40B4-BE49-F238E27FC236}">
                <a16:creationId xmlns:a16="http://schemas.microsoft.com/office/drawing/2014/main" id="{4C484E78-2541-484A-9ADC-42C3752379D2}"/>
              </a:ext>
            </a:extLst>
          </p:cNvPr>
          <p:cNvSpPr>
            <a:spLocks/>
          </p:cNvSpPr>
          <p:nvPr/>
        </p:nvSpPr>
        <p:spPr bwMode="auto">
          <a:xfrm>
            <a:off x="6096000" y="4800600"/>
            <a:ext cx="174625" cy="838200"/>
          </a:xfrm>
          <a:custGeom>
            <a:avLst/>
            <a:gdLst>
              <a:gd name="T0" fmla="*/ 0 w 110"/>
              <a:gd name="T1" fmla="*/ 0 h 528"/>
              <a:gd name="T2" fmla="*/ 2147483646 w 110"/>
              <a:gd name="T3" fmla="*/ 2147483646 h 528"/>
              <a:gd name="T4" fmla="*/ 2147483646 w 110"/>
              <a:gd name="T5" fmla="*/ 2147483646 h 528"/>
              <a:gd name="T6" fmla="*/ 0 60000 65536"/>
              <a:gd name="T7" fmla="*/ 0 60000 65536"/>
              <a:gd name="T8" fmla="*/ 0 60000 65536"/>
              <a:gd name="T9" fmla="*/ 0 w 110"/>
              <a:gd name="T10" fmla="*/ 0 h 528"/>
              <a:gd name="T11" fmla="*/ 110 w 110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" h="528">
                <a:moveTo>
                  <a:pt x="0" y="0"/>
                </a:moveTo>
                <a:cubicBezTo>
                  <a:pt x="18" y="46"/>
                  <a:pt x="110" y="189"/>
                  <a:pt x="110" y="277"/>
                </a:cubicBezTo>
                <a:cubicBezTo>
                  <a:pt x="110" y="365"/>
                  <a:pt x="24" y="476"/>
                  <a:pt x="1" y="528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B0AF5A9-4796-4B22-AE9B-984F23C52C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奇偶点图上作业法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D024139-0D8B-4BF7-BF13-2237210FC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1981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2</a:t>
            </a:r>
            <a:r>
              <a:rPr lang="zh-CN" altLang="en-US"/>
              <a:t>）调整可行方案</a:t>
            </a:r>
          </a:p>
          <a:p>
            <a:pPr lvl="1" eaLnBrk="1" hangingPunct="1"/>
            <a:r>
              <a:rPr lang="zh-CN" altLang="en-US"/>
              <a:t>每条边上至多有一条重复边</a:t>
            </a:r>
          </a:p>
          <a:p>
            <a:pPr lvl="1" eaLnBrk="1" hangingPunct="1"/>
            <a:r>
              <a:rPr lang="zh-CN" altLang="en-US"/>
              <a:t>每个圈上重复边的总权不大于该圈总权的一半</a:t>
            </a:r>
          </a:p>
        </p:txBody>
      </p:sp>
      <p:sp>
        <p:nvSpPr>
          <p:cNvPr id="21508" name="Oval 4">
            <a:extLst>
              <a:ext uri="{FF2B5EF4-FFF2-40B4-BE49-F238E27FC236}">
                <a16:creationId xmlns:a16="http://schemas.microsoft.com/office/drawing/2014/main" id="{2AA8C573-F570-403C-8EEF-EC5C1EFD4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1509" name="Oval 5">
            <a:extLst>
              <a:ext uri="{FF2B5EF4-FFF2-40B4-BE49-F238E27FC236}">
                <a16:creationId xmlns:a16="http://schemas.microsoft.com/office/drawing/2014/main" id="{62E52494-A095-4938-9F11-D1DA281A0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419600"/>
            <a:ext cx="381000" cy="381000"/>
          </a:xfrm>
          <a:prstGeom prst="ellipse">
            <a:avLst/>
          </a:prstGeom>
          <a:solidFill>
            <a:srgbClr val="6C04A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510" name="Oval 6">
            <a:extLst>
              <a:ext uri="{FF2B5EF4-FFF2-40B4-BE49-F238E27FC236}">
                <a16:creationId xmlns:a16="http://schemas.microsoft.com/office/drawing/2014/main" id="{BC0D0ADA-C792-4FA6-B7D1-AEF5D434E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638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1511" name="Oval 7">
            <a:extLst>
              <a:ext uri="{FF2B5EF4-FFF2-40B4-BE49-F238E27FC236}">
                <a16:creationId xmlns:a16="http://schemas.microsoft.com/office/drawing/2014/main" id="{486350CA-141F-4F81-A6DF-371BB5C1C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638800"/>
            <a:ext cx="381000" cy="381000"/>
          </a:xfrm>
          <a:prstGeom prst="ellipse">
            <a:avLst/>
          </a:prstGeom>
          <a:solidFill>
            <a:srgbClr val="6C04A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1512" name="Oval 8">
            <a:extLst>
              <a:ext uri="{FF2B5EF4-FFF2-40B4-BE49-F238E27FC236}">
                <a16:creationId xmlns:a16="http://schemas.microsoft.com/office/drawing/2014/main" id="{9540C044-683B-4D61-BEC5-D437450C6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638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1513" name="Oval 9">
            <a:extLst>
              <a:ext uri="{FF2B5EF4-FFF2-40B4-BE49-F238E27FC236}">
                <a16:creationId xmlns:a16="http://schemas.microsoft.com/office/drawing/2014/main" id="{153170BC-420D-4FC0-AEEC-3E1870B65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4196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1514" name="Oval 10">
            <a:extLst>
              <a:ext uri="{FF2B5EF4-FFF2-40B4-BE49-F238E27FC236}">
                <a16:creationId xmlns:a16="http://schemas.microsoft.com/office/drawing/2014/main" id="{9297EBF6-C65B-44DC-BF60-36E1435E4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200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1515" name="Oval 11">
            <a:extLst>
              <a:ext uri="{FF2B5EF4-FFF2-40B4-BE49-F238E27FC236}">
                <a16:creationId xmlns:a16="http://schemas.microsoft.com/office/drawing/2014/main" id="{5A8319AB-A295-435E-BE50-33CBDB44F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2004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21516" name="Oval 12">
            <a:extLst>
              <a:ext uri="{FF2B5EF4-FFF2-40B4-BE49-F238E27FC236}">
                <a16:creationId xmlns:a16="http://schemas.microsoft.com/office/drawing/2014/main" id="{A95349E9-0BE5-43EF-AD0B-C04DE88DE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419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1517" name="Line 13">
            <a:extLst>
              <a:ext uri="{FF2B5EF4-FFF2-40B4-BE49-F238E27FC236}">
                <a16:creationId xmlns:a16="http://schemas.microsoft.com/office/drawing/2014/main" id="{8B9AD94F-0372-4C0E-BD95-70475BF362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4290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8" name="Line 14">
            <a:extLst>
              <a:ext uri="{FF2B5EF4-FFF2-40B4-BE49-F238E27FC236}">
                <a16:creationId xmlns:a16="http://schemas.microsoft.com/office/drawing/2014/main" id="{8A6F6107-CD0D-4369-B8DF-02B341488E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4290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9" name="Line 15">
            <a:extLst>
              <a:ext uri="{FF2B5EF4-FFF2-40B4-BE49-F238E27FC236}">
                <a16:creationId xmlns:a16="http://schemas.microsoft.com/office/drawing/2014/main" id="{01C2DA75-76FA-4F99-A3AD-F31F937308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5814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0" name="Line 16">
            <a:extLst>
              <a:ext uri="{FF2B5EF4-FFF2-40B4-BE49-F238E27FC236}">
                <a16:creationId xmlns:a16="http://schemas.microsoft.com/office/drawing/2014/main" id="{B8853D12-3214-4D65-AF59-CD9B64A34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8006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1" name="Line 17">
            <a:extLst>
              <a:ext uri="{FF2B5EF4-FFF2-40B4-BE49-F238E27FC236}">
                <a16:creationId xmlns:a16="http://schemas.microsoft.com/office/drawing/2014/main" id="{1D425444-1F10-4D66-AD11-A4FA747A54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8674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2" name="Line 18">
            <a:extLst>
              <a:ext uri="{FF2B5EF4-FFF2-40B4-BE49-F238E27FC236}">
                <a16:creationId xmlns:a16="http://schemas.microsoft.com/office/drawing/2014/main" id="{ADABAC16-F9F5-49BE-BF0D-52B772A2F1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5867400"/>
            <a:ext cx="2362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3" name="Line 19">
            <a:extLst>
              <a:ext uri="{FF2B5EF4-FFF2-40B4-BE49-F238E27FC236}">
                <a16:creationId xmlns:a16="http://schemas.microsoft.com/office/drawing/2014/main" id="{54F457E1-E198-4A74-A543-D072D184D6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4800600"/>
            <a:ext cx="457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4" name="Line 20">
            <a:extLst>
              <a:ext uri="{FF2B5EF4-FFF2-40B4-BE49-F238E27FC236}">
                <a16:creationId xmlns:a16="http://schemas.microsoft.com/office/drawing/2014/main" id="{1988A3F1-2D4E-42F5-9411-883CECFA8E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3581400"/>
            <a:ext cx="457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5" name="Line 21">
            <a:extLst>
              <a:ext uri="{FF2B5EF4-FFF2-40B4-BE49-F238E27FC236}">
                <a16:creationId xmlns:a16="http://schemas.microsoft.com/office/drawing/2014/main" id="{56AE428D-980D-44CD-8974-CCBD6DDA40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6482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6" name="Line 22">
            <a:extLst>
              <a:ext uri="{FF2B5EF4-FFF2-40B4-BE49-F238E27FC236}">
                <a16:creationId xmlns:a16="http://schemas.microsoft.com/office/drawing/2014/main" id="{D6153B59-9F1E-4CB7-B286-F52E50FAB1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46482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7" name="Line 23">
            <a:extLst>
              <a:ext uri="{FF2B5EF4-FFF2-40B4-BE49-F238E27FC236}">
                <a16:creationId xmlns:a16="http://schemas.microsoft.com/office/drawing/2014/main" id="{99BCF068-5393-43BA-A395-8ADB2755C1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5814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8" name="Line 24">
            <a:extLst>
              <a:ext uri="{FF2B5EF4-FFF2-40B4-BE49-F238E27FC236}">
                <a16:creationId xmlns:a16="http://schemas.microsoft.com/office/drawing/2014/main" id="{E68DC6B5-9802-4FDA-85BB-F08DA583D7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8006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9" name="Text Box 25">
            <a:extLst>
              <a:ext uri="{FF2B5EF4-FFF2-40B4-BE49-F238E27FC236}">
                <a16:creationId xmlns:a16="http://schemas.microsoft.com/office/drawing/2014/main" id="{B41A12F7-59F3-4789-AB44-41125C60A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048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2</a:t>
            </a:r>
          </a:p>
        </p:txBody>
      </p:sp>
      <p:sp>
        <p:nvSpPr>
          <p:cNvPr id="21530" name="Text Box 26">
            <a:extLst>
              <a:ext uri="{FF2B5EF4-FFF2-40B4-BE49-F238E27FC236}">
                <a16:creationId xmlns:a16="http://schemas.microsoft.com/office/drawing/2014/main" id="{BE1ED7DE-AC13-44A5-AE8F-60CF13E40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7338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5</a:t>
            </a:r>
          </a:p>
        </p:txBody>
      </p:sp>
      <p:sp>
        <p:nvSpPr>
          <p:cNvPr id="21531" name="Text Box 27">
            <a:extLst>
              <a:ext uri="{FF2B5EF4-FFF2-40B4-BE49-F238E27FC236}">
                <a16:creationId xmlns:a16="http://schemas.microsoft.com/office/drawing/2014/main" id="{C9745907-099A-46D2-9397-47804567C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3434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6</a:t>
            </a:r>
          </a:p>
        </p:txBody>
      </p:sp>
      <p:sp>
        <p:nvSpPr>
          <p:cNvPr id="21532" name="Text Box 28">
            <a:extLst>
              <a:ext uri="{FF2B5EF4-FFF2-40B4-BE49-F238E27FC236}">
                <a16:creationId xmlns:a16="http://schemas.microsoft.com/office/drawing/2014/main" id="{BB7236E4-CF6D-448B-9BED-B6A7EBB50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953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5</a:t>
            </a:r>
          </a:p>
        </p:txBody>
      </p:sp>
      <p:sp>
        <p:nvSpPr>
          <p:cNvPr id="21533" name="Text Box 29">
            <a:extLst>
              <a:ext uri="{FF2B5EF4-FFF2-40B4-BE49-F238E27FC236}">
                <a16:creationId xmlns:a16="http://schemas.microsoft.com/office/drawing/2014/main" id="{7F71D0AD-5291-4C47-80BE-AA62C8442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4864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9</a:t>
            </a:r>
          </a:p>
        </p:txBody>
      </p:sp>
      <p:sp>
        <p:nvSpPr>
          <p:cNvPr id="21534" name="Text Box 30">
            <a:extLst>
              <a:ext uri="{FF2B5EF4-FFF2-40B4-BE49-F238E27FC236}">
                <a16:creationId xmlns:a16="http://schemas.microsoft.com/office/drawing/2014/main" id="{0E6C1B42-4CFD-4EBD-8515-E04DDFBA1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048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21535" name="Text Box 31">
            <a:extLst>
              <a:ext uri="{FF2B5EF4-FFF2-40B4-BE49-F238E27FC236}">
                <a16:creationId xmlns:a16="http://schemas.microsoft.com/office/drawing/2014/main" id="{224EBAA6-1B9F-4734-8999-433CADE5B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810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3</a:t>
            </a:r>
          </a:p>
        </p:txBody>
      </p:sp>
      <p:sp>
        <p:nvSpPr>
          <p:cNvPr id="21536" name="Text Box 32">
            <a:extLst>
              <a:ext uri="{FF2B5EF4-FFF2-40B4-BE49-F238E27FC236}">
                <a16:creationId xmlns:a16="http://schemas.microsoft.com/office/drawing/2014/main" id="{CF8D7752-61B5-4723-8DB6-9A385B680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0292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21537" name="Text Box 33">
            <a:extLst>
              <a:ext uri="{FF2B5EF4-FFF2-40B4-BE49-F238E27FC236}">
                <a16:creationId xmlns:a16="http://schemas.microsoft.com/office/drawing/2014/main" id="{226623E3-7CFE-44B4-884C-AB27FD34F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2672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21538" name="Text Box 34">
            <a:extLst>
              <a:ext uri="{FF2B5EF4-FFF2-40B4-BE49-F238E27FC236}">
                <a16:creationId xmlns:a16="http://schemas.microsoft.com/office/drawing/2014/main" id="{4C8E3146-AF35-4413-B4C3-2047BE2B9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470525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21539" name="Text Box 35">
            <a:extLst>
              <a:ext uri="{FF2B5EF4-FFF2-40B4-BE49-F238E27FC236}">
                <a16:creationId xmlns:a16="http://schemas.microsoft.com/office/drawing/2014/main" id="{FE48AA04-6C6A-41E3-B8F9-342C411BD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810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3</a:t>
            </a:r>
          </a:p>
        </p:txBody>
      </p:sp>
      <p:sp>
        <p:nvSpPr>
          <p:cNvPr id="21540" name="Text Box 36">
            <a:extLst>
              <a:ext uri="{FF2B5EF4-FFF2-40B4-BE49-F238E27FC236}">
                <a16:creationId xmlns:a16="http://schemas.microsoft.com/office/drawing/2014/main" id="{0680015A-2C28-4C61-A376-5389DCB22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953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7</a:t>
            </a:r>
          </a:p>
        </p:txBody>
      </p:sp>
      <p:sp>
        <p:nvSpPr>
          <p:cNvPr id="21541" name="Freeform 39">
            <a:extLst>
              <a:ext uri="{FF2B5EF4-FFF2-40B4-BE49-F238E27FC236}">
                <a16:creationId xmlns:a16="http://schemas.microsoft.com/office/drawing/2014/main" id="{CA9CA088-2740-4DAF-8B7F-4D24F7E45208}"/>
              </a:ext>
            </a:extLst>
          </p:cNvPr>
          <p:cNvSpPr>
            <a:spLocks/>
          </p:cNvSpPr>
          <p:nvPr/>
        </p:nvSpPr>
        <p:spPr bwMode="auto">
          <a:xfrm>
            <a:off x="3200400" y="3106738"/>
            <a:ext cx="1066800" cy="323850"/>
          </a:xfrm>
          <a:custGeom>
            <a:avLst/>
            <a:gdLst>
              <a:gd name="T0" fmla="*/ 0 w 672"/>
              <a:gd name="T1" fmla="*/ 2147483646 h 204"/>
              <a:gd name="T2" fmla="*/ 2147483646 w 672"/>
              <a:gd name="T3" fmla="*/ 0 h 204"/>
              <a:gd name="T4" fmla="*/ 2147483646 w 672"/>
              <a:gd name="T5" fmla="*/ 2147483646 h 204"/>
              <a:gd name="T6" fmla="*/ 0 60000 65536"/>
              <a:gd name="T7" fmla="*/ 0 60000 65536"/>
              <a:gd name="T8" fmla="*/ 0 60000 65536"/>
              <a:gd name="T9" fmla="*/ 0 w 672"/>
              <a:gd name="T10" fmla="*/ 0 h 204"/>
              <a:gd name="T11" fmla="*/ 672 w 672"/>
              <a:gd name="T12" fmla="*/ 204 h 2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204">
                <a:moveTo>
                  <a:pt x="0" y="203"/>
                </a:moveTo>
                <a:cubicBezTo>
                  <a:pt x="56" y="169"/>
                  <a:pt x="222" y="0"/>
                  <a:pt x="334" y="0"/>
                </a:cubicBezTo>
                <a:cubicBezTo>
                  <a:pt x="446" y="0"/>
                  <a:pt x="602" y="162"/>
                  <a:pt x="672" y="204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42" name="Freeform 40">
            <a:extLst>
              <a:ext uri="{FF2B5EF4-FFF2-40B4-BE49-F238E27FC236}">
                <a16:creationId xmlns:a16="http://schemas.microsoft.com/office/drawing/2014/main" id="{61ED01C4-5D80-499A-84A9-E58B63196E49}"/>
              </a:ext>
            </a:extLst>
          </p:cNvPr>
          <p:cNvSpPr>
            <a:spLocks/>
          </p:cNvSpPr>
          <p:nvPr/>
        </p:nvSpPr>
        <p:spPr bwMode="auto">
          <a:xfrm>
            <a:off x="2405063" y="3581400"/>
            <a:ext cx="490537" cy="838200"/>
          </a:xfrm>
          <a:custGeom>
            <a:avLst/>
            <a:gdLst>
              <a:gd name="T0" fmla="*/ 2147483646 w 309"/>
              <a:gd name="T1" fmla="*/ 2147483646 h 528"/>
              <a:gd name="T2" fmla="*/ 2147483646 w 309"/>
              <a:gd name="T3" fmla="*/ 2147483646 h 528"/>
              <a:gd name="T4" fmla="*/ 2147483646 w 309"/>
              <a:gd name="T5" fmla="*/ 0 h 528"/>
              <a:gd name="T6" fmla="*/ 0 60000 65536"/>
              <a:gd name="T7" fmla="*/ 0 60000 65536"/>
              <a:gd name="T8" fmla="*/ 0 60000 65536"/>
              <a:gd name="T9" fmla="*/ 0 w 309"/>
              <a:gd name="T10" fmla="*/ 0 h 528"/>
              <a:gd name="T11" fmla="*/ 309 w 309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9" h="528">
                <a:moveTo>
                  <a:pt x="21" y="528"/>
                </a:moveTo>
                <a:cubicBezTo>
                  <a:pt x="25" y="471"/>
                  <a:pt x="0" y="273"/>
                  <a:pt x="48" y="185"/>
                </a:cubicBezTo>
                <a:cubicBezTo>
                  <a:pt x="96" y="97"/>
                  <a:pt x="255" y="39"/>
                  <a:pt x="309" y="0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2123" name="Freeform 43">
            <a:extLst>
              <a:ext uri="{FF2B5EF4-FFF2-40B4-BE49-F238E27FC236}">
                <a16:creationId xmlns:a16="http://schemas.microsoft.com/office/drawing/2014/main" id="{2C351F05-EDD0-4796-BB26-7945C371C329}"/>
              </a:ext>
            </a:extLst>
          </p:cNvPr>
          <p:cNvSpPr>
            <a:spLocks/>
          </p:cNvSpPr>
          <p:nvPr/>
        </p:nvSpPr>
        <p:spPr bwMode="auto">
          <a:xfrm>
            <a:off x="4648200" y="5867400"/>
            <a:ext cx="1219200" cy="200025"/>
          </a:xfrm>
          <a:custGeom>
            <a:avLst/>
            <a:gdLst>
              <a:gd name="T0" fmla="*/ 0 w 768"/>
              <a:gd name="T1" fmla="*/ 0 h 126"/>
              <a:gd name="T2" fmla="*/ 2147483646 w 768"/>
              <a:gd name="T3" fmla="*/ 2147483646 h 126"/>
              <a:gd name="T4" fmla="*/ 2147483646 w 768"/>
              <a:gd name="T5" fmla="*/ 2147483646 h 126"/>
              <a:gd name="T6" fmla="*/ 0 60000 65536"/>
              <a:gd name="T7" fmla="*/ 0 60000 65536"/>
              <a:gd name="T8" fmla="*/ 0 60000 65536"/>
              <a:gd name="T9" fmla="*/ 0 w 768"/>
              <a:gd name="T10" fmla="*/ 0 h 126"/>
              <a:gd name="T11" fmla="*/ 768 w 768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8" h="126">
                <a:moveTo>
                  <a:pt x="0" y="0"/>
                </a:moveTo>
                <a:cubicBezTo>
                  <a:pt x="60" y="21"/>
                  <a:pt x="235" y="126"/>
                  <a:pt x="363" y="126"/>
                </a:cubicBezTo>
                <a:cubicBezTo>
                  <a:pt x="491" y="126"/>
                  <a:pt x="684" y="27"/>
                  <a:pt x="768" y="1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2124" name="Freeform 44">
            <a:extLst>
              <a:ext uri="{FF2B5EF4-FFF2-40B4-BE49-F238E27FC236}">
                <a16:creationId xmlns:a16="http://schemas.microsoft.com/office/drawing/2014/main" id="{02B16EE4-8B78-4DC4-A230-81B03F1A5120}"/>
              </a:ext>
            </a:extLst>
          </p:cNvPr>
          <p:cNvSpPr>
            <a:spLocks/>
          </p:cNvSpPr>
          <p:nvPr/>
        </p:nvSpPr>
        <p:spPr bwMode="auto">
          <a:xfrm>
            <a:off x="6096000" y="4800600"/>
            <a:ext cx="174625" cy="838200"/>
          </a:xfrm>
          <a:custGeom>
            <a:avLst/>
            <a:gdLst>
              <a:gd name="T0" fmla="*/ 0 w 110"/>
              <a:gd name="T1" fmla="*/ 0 h 528"/>
              <a:gd name="T2" fmla="*/ 2147483646 w 110"/>
              <a:gd name="T3" fmla="*/ 2147483646 h 528"/>
              <a:gd name="T4" fmla="*/ 2147483646 w 110"/>
              <a:gd name="T5" fmla="*/ 2147483646 h 528"/>
              <a:gd name="T6" fmla="*/ 0 60000 65536"/>
              <a:gd name="T7" fmla="*/ 0 60000 65536"/>
              <a:gd name="T8" fmla="*/ 0 60000 65536"/>
              <a:gd name="T9" fmla="*/ 0 w 110"/>
              <a:gd name="T10" fmla="*/ 0 h 528"/>
              <a:gd name="T11" fmla="*/ 110 w 110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" h="528">
                <a:moveTo>
                  <a:pt x="0" y="0"/>
                </a:moveTo>
                <a:cubicBezTo>
                  <a:pt x="18" y="46"/>
                  <a:pt x="110" y="189"/>
                  <a:pt x="110" y="277"/>
                </a:cubicBezTo>
                <a:cubicBezTo>
                  <a:pt x="110" y="365"/>
                  <a:pt x="24" y="476"/>
                  <a:pt x="1" y="528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2125" name="Freeform 45">
            <a:extLst>
              <a:ext uri="{FF2B5EF4-FFF2-40B4-BE49-F238E27FC236}">
                <a16:creationId xmlns:a16="http://schemas.microsoft.com/office/drawing/2014/main" id="{B8D3B087-6B39-4C70-A6BE-D8C226E71A5D}"/>
              </a:ext>
            </a:extLst>
          </p:cNvPr>
          <p:cNvSpPr>
            <a:spLocks/>
          </p:cNvSpPr>
          <p:nvPr/>
        </p:nvSpPr>
        <p:spPr bwMode="auto">
          <a:xfrm>
            <a:off x="4648200" y="4648200"/>
            <a:ext cx="1219200" cy="155575"/>
          </a:xfrm>
          <a:custGeom>
            <a:avLst/>
            <a:gdLst>
              <a:gd name="T0" fmla="*/ 0 w 768"/>
              <a:gd name="T1" fmla="*/ 0 h 98"/>
              <a:gd name="T2" fmla="*/ 2147483646 w 768"/>
              <a:gd name="T3" fmla="*/ 2147483646 h 98"/>
              <a:gd name="T4" fmla="*/ 2147483646 w 768"/>
              <a:gd name="T5" fmla="*/ 2147483646 h 98"/>
              <a:gd name="T6" fmla="*/ 0 60000 65536"/>
              <a:gd name="T7" fmla="*/ 0 60000 65536"/>
              <a:gd name="T8" fmla="*/ 0 60000 65536"/>
              <a:gd name="T9" fmla="*/ 0 w 768"/>
              <a:gd name="T10" fmla="*/ 0 h 98"/>
              <a:gd name="T11" fmla="*/ 768 w 768"/>
              <a:gd name="T12" fmla="*/ 98 h 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8" h="98">
                <a:moveTo>
                  <a:pt x="0" y="0"/>
                </a:moveTo>
                <a:cubicBezTo>
                  <a:pt x="64" y="16"/>
                  <a:pt x="254" y="98"/>
                  <a:pt x="382" y="98"/>
                </a:cubicBezTo>
                <a:cubicBezTo>
                  <a:pt x="510" y="98"/>
                  <a:pt x="688" y="21"/>
                  <a:pt x="768" y="1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2126" name="Freeform 46">
            <a:extLst>
              <a:ext uri="{FF2B5EF4-FFF2-40B4-BE49-F238E27FC236}">
                <a16:creationId xmlns:a16="http://schemas.microsoft.com/office/drawing/2014/main" id="{6141D570-5332-483D-AC7B-FD9AAB51C420}"/>
              </a:ext>
            </a:extLst>
          </p:cNvPr>
          <p:cNvSpPr>
            <a:spLocks/>
          </p:cNvSpPr>
          <p:nvPr/>
        </p:nvSpPr>
        <p:spPr bwMode="auto">
          <a:xfrm>
            <a:off x="4224338" y="4800600"/>
            <a:ext cx="196850" cy="838200"/>
          </a:xfrm>
          <a:custGeom>
            <a:avLst/>
            <a:gdLst>
              <a:gd name="T0" fmla="*/ 2147483646 w 124"/>
              <a:gd name="T1" fmla="*/ 0 h 528"/>
              <a:gd name="T2" fmla="*/ 0 w 124"/>
              <a:gd name="T3" fmla="*/ 2147483646 h 528"/>
              <a:gd name="T4" fmla="*/ 2147483646 w 124"/>
              <a:gd name="T5" fmla="*/ 2147483646 h 528"/>
              <a:gd name="T6" fmla="*/ 0 60000 65536"/>
              <a:gd name="T7" fmla="*/ 0 60000 65536"/>
              <a:gd name="T8" fmla="*/ 0 60000 65536"/>
              <a:gd name="T9" fmla="*/ 0 w 124"/>
              <a:gd name="T10" fmla="*/ 0 h 528"/>
              <a:gd name="T11" fmla="*/ 124 w 124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4" h="528">
                <a:moveTo>
                  <a:pt x="123" y="0"/>
                </a:moveTo>
                <a:cubicBezTo>
                  <a:pt x="103" y="40"/>
                  <a:pt x="0" y="152"/>
                  <a:pt x="0" y="240"/>
                </a:cubicBezTo>
                <a:cubicBezTo>
                  <a:pt x="0" y="328"/>
                  <a:pt x="98" y="468"/>
                  <a:pt x="124" y="528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0364DBB-8EBC-43C9-B85D-2F3C7CFFC5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奇偶点图上作业法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34FD78DF-14DA-4BBA-B3CA-C6AF314809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1981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3</a:t>
            </a:r>
            <a:r>
              <a:rPr lang="zh-CN" altLang="en-US"/>
              <a:t>）最优方案判断</a:t>
            </a:r>
          </a:p>
          <a:p>
            <a:pPr lvl="1" eaLnBrk="1" hangingPunct="1"/>
            <a:r>
              <a:rPr lang="zh-CN" altLang="en-US"/>
              <a:t>每条边上至多有一条重复边</a:t>
            </a:r>
          </a:p>
          <a:p>
            <a:pPr lvl="1" eaLnBrk="1" hangingPunct="1"/>
            <a:r>
              <a:rPr lang="zh-CN" altLang="en-US">
                <a:solidFill>
                  <a:srgbClr val="FF3300"/>
                </a:solidFill>
              </a:rPr>
              <a:t>每个圈</a:t>
            </a:r>
            <a:r>
              <a:rPr lang="zh-CN" altLang="en-US"/>
              <a:t>上重复边的总权不大于该圈总权的一半</a:t>
            </a:r>
          </a:p>
        </p:txBody>
      </p:sp>
      <p:sp>
        <p:nvSpPr>
          <p:cNvPr id="22532" name="Oval 4">
            <a:extLst>
              <a:ext uri="{FF2B5EF4-FFF2-40B4-BE49-F238E27FC236}">
                <a16:creationId xmlns:a16="http://schemas.microsoft.com/office/drawing/2014/main" id="{0A2555F4-D08E-4053-AAB7-1280F7132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533" name="Oval 5">
            <a:extLst>
              <a:ext uri="{FF2B5EF4-FFF2-40B4-BE49-F238E27FC236}">
                <a16:creationId xmlns:a16="http://schemas.microsoft.com/office/drawing/2014/main" id="{9127BF64-B062-4EAB-8558-A05CA78D5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419600"/>
            <a:ext cx="381000" cy="381000"/>
          </a:xfrm>
          <a:prstGeom prst="ellipse">
            <a:avLst/>
          </a:prstGeom>
          <a:solidFill>
            <a:srgbClr val="6C04A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2534" name="Oval 6">
            <a:extLst>
              <a:ext uri="{FF2B5EF4-FFF2-40B4-BE49-F238E27FC236}">
                <a16:creationId xmlns:a16="http://schemas.microsoft.com/office/drawing/2014/main" id="{E58D44C0-9331-404F-A26F-CBB937693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638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2535" name="Oval 7">
            <a:extLst>
              <a:ext uri="{FF2B5EF4-FFF2-40B4-BE49-F238E27FC236}">
                <a16:creationId xmlns:a16="http://schemas.microsoft.com/office/drawing/2014/main" id="{144ABA78-1202-4FF6-A1DE-36B9EBA9E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638800"/>
            <a:ext cx="381000" cy="381000"/>
          </a:xfrm>
          <a:prstGeom prst="ellipse">
            <a:avLst/>
          </a:prstGeom>
          <a:solidFill>
            <a:srgbClr val="6C04A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2536" name="Oval 8">
            <a:extLst>
              <a:ext uri="{FF2B5EF4-FFF2-40B4-BE49-F238E27FC236}">
                <a16:creationId xmlns:a16="http://schemas.microsoft.com/office/drawing/2014/main" id="{CAFCAB2E-0B2A-4D30-B598-8590648C7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638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2537" name="Oval 9">
            <a:extLst>
              <a:ext uri="{FF2B5EF4-FFF2-40B4-BE49-F238E27FC236}">
                <a16:creationId xmlns:a16="http://schemas.microsoft.com/office/drawing/2014/main" id="{1E7215B3-0956-4A96-9566-786398BD5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4196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2538" name="Oval 10">
            <a:extLst>
              <a:ext uri="{FF2B5EF4-FFF2-40B4-BE49-F238E27FC236}">
                <a16:creationId xmlns:a16="http://schemas.microsoft.com/office/drawing/2014/main" id="{2BC3FE1A-96C7-4746-A160-E081B85D3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200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2539" name="Oval 11">
            <a:extLst>
              <a:ext uri="{FF2B5EF4-FFF2-40B4-BE49-F238E27FC236}">
                <a16:creationId xmlns:a16="http://schemas.microsoft.com/office/drawing/2014/main" id="{81D6E458-705F-40D5-A860-219F35D28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2004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22540" name="Oval 12">
            <a:extLst>
              <a:ext uri="{FF2B5EF4-FFF2-40B4-BE49-F238E27FC236}">
                <a16:creationId xmlns:a16="http://schemas.microsoft.com/office/drawing/2014/main" id="{A815997C-1A21-48B1-B3DA-0BF78B7F4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419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</a:rPr>
              <a:t>v</a:t>
            </a:r>
            <a:r>
              <a:rPr lang="en-US" altLang="zh-CN" sz="1800" baseline="-2500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2541" name="Line 13">
            <a:extLst>
              <a:ext uri="{FF2B5EF4-FFF2-40B4-BE49-F238E27FC236}">
                <a16:creationId xmlns:a16="http://schemas.microsoft.com/office/drawing/2014/main" id="{07B08FA9-0A00-4A5A-8633-71AE14CC4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4290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2" name="Line 14">
            <a:extLst>
              <a:ext uri="{FF2B5EF4-FFF2-40B4-BE49-F238E27FC236}">
                <a16:creationId xmlns:a16="http://schemas.microsoft.com/office/drawing/2014/main" id="{D10912B0-96F2-41C8-940C-E90D51B259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4290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3" name="Line 15">
            <a:extLst>
              <a:ext uri="{FF2B5EF4-FFF2-40B4-BE49-F238E27FC236}">
                <a16:creationId xmlns:a16="http://schemas.microsoft.com/office/drawing/2014/main" id="{58919288-DD9C-419A-A491-F1ABD67439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5814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4" name="Line 16">
            <a:extLst>
              <a:ext uri="{FF2B5EF4-FFF2-40B4-BE49-F238E27FC236}">
                <a16:creationId xmlns:a16="http://schemas.microsoft.com/office/drawing/2014/main" id="{F2079F25-9A48-4685-BF5A-0052E51EB4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8006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5" name="Line 17">
            <a:extLst>
              <a:ext uri="{FF2B5EF4-FFF2-40B4-BE49-F238E27FC236}">
                <a16:creationId xmlns:a16="http://schemas.microsoft.com/office/drawing/2014/main" id="{FEDE3D79-25CE-4337-BB51-9A4F384B9E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867400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6" name="Line 18">
            <a:extLst>
              <a:ext uri="{FF2B5EF4-FFF2-40B4-BE49-F238E27FC236}">
                <a16:creationId xmlns:a16="http://schemas.microsoft.com/office/drawing/2014/main" id="{6F74FF21-333D-476A-9E29-75F13D6A7A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5867400"/>
            <a:ext cx="2362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7" name="Line 19">
            <a:extLst>
              <a:ext uri="{FF2B5EF4-FFF2-40B4-BE49-F238E27FC236}">
                <a16:creationId xmlns:a16="http://schemas.microsoft.com/office/drawing/2014/main" id="{750DD6F9-5D0B-4AC2-91C9-B1191B9FC9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4800600"/>
            <a:ext cx="457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8" name="Line 20">
            <a:extLst>
              <a:ext uri="{FF2B5EF4-FFF2-40B4-BE49-F238E27FC236}">
                <a16:creationId xmlns:a16="http://schemas.microsoft.com/office/drawing/2014/main" id="{F0C1BF35-7FF7-41EE-9FC3-A6E7FF5D14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3581400"/>
            <a:ext cx="457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9" name="Line 21">
            <a:extLst>
              <a:ext uri="{FF2B5EF4-FFF2-40B4-BE49-F238E27FC236}">
                <a16:creationId xmlns:a16="http://schemas.microsoft.com/office/drawing/2014/main" id="{B2241DDD-9E0B-4182-AECC-4367D796A5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6482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0" name="Line 22">
            <a:extLst>
              <a:ext uri="{FF2B5EF4-FFF2-40B4-BE49-F238E27FC236}">
                <a16:creationId xmlns:a16="http://schemas.microsoft.com/office/drawing/2014/main" id="{1898567B-3600-4FC3-8169-32691B59BF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46482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1" name="Line 23">
            <a:extLst>
              <a:ext uri="{FF2B5EF4-FFF2-40B4-BE49-F238E27FC236}">
                <a16:creationId xmlns:a16="http://schemas.microsoft.com/office/drawing/2014/main" id="{CB5D7108-E84F-4577-A85C-778F7D7E8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5814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2" name="Line 24">
            <a:extLst>
              <a:ext uri="{FF2B5EF4-FFF2-40B4-BE49-F238E27FC236}">
                <a16:creationId xmlns:a16="http://schemas.microsoft.com/office/drawing/2014/main" id="{DFA4C65C-22EC-406B-9A0B-0E9FBC746C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8006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3" name="Text Box 25">
            <a:extLst>
              <a:ext uri="{FF2B5EF4-FFF2-40B4-BE49-F238E27FC236}">
                <a16:creationId xmlns:a16="http://schemas.microsoft.com/office/drawing/2014/main" id="{659BE1F9-566D-4430-A80E-38434B8A0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048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2</a:t>
            </a:r>
          </a:p>
        </p:txBody>
      </p:sp>
      <p:sp>
        <p:nvSpPr>
          <p:cNvPr id="22554" name="Text Box 26">
            <a:extLst>
              <a:ext uri="{FF2B5EF4-FFF2-40B4-BE49-F238E27FC236}">
                <a16:creationId xmlns:a16="http://schemas.microsoft.com/office/drawing/2014/main" id="{1DDE94FC-E88D-4D23-AE14-D38C437CA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7338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5</a:t>
            </a:r>
          </a:p>
        </p:txBody>
      </p:sp>
      <p:sp>
        <p:nvSpPr>
          <p:cNvPr id="22555" name="Text Box 27">
            <a:extLst>
              <a:ext uri="{FF2B5EF4-FFF2-40B4-BE49-F238E27FC236}">
                <a16:creationId xmlns:a16="http://schemas.microsoft.com/office/drawing/2014/main" id="{18B2AE3C-FD28-4AD4-A938-8ED784F1A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3434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6</a:t>
            </a:r>
          </a:p>
        </p:txBody>
      </p:sp>
      <p:sp>
        <p:nvSpPr>
          <p:cNvPr id="22556" name="Text Box 28">
            <a:extLst>
              <a:ext uri="{FF2B5EF4-FFF2-40B4-BE49-F238E27FC236}">
                <a16:creationId xmlns:a16="http://schemas.microsoft.com/office/drawing/2014/main" id="{47ACA8CE-2453-41C3-9869-8E3C1A66D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953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5</a:t>
            </a:r>
          </a:p>
        </p:txBody>
      </p:sp>
      <p:sp>
        <p:nvSpPr>
          <p:cNvPr id="22557" name="Text Box 29">
            <a:extLst>
              <a:ext uri="{FF2B5EF4-FFF2-40B4-BE49-F238E27FC236}">
                <a16:creationId xmlns:a16="http://schemas.microsoft.com/office/drawing/2014/main" id="{B546799F-A405-457F-8788-F6987395D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4864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9</a:t>
            </a:r>
          </a:p>
        </p:txBody>
      </p:sp>
      <p:sp>
        <p:nvSpPr>
          <p:cNvPr id="22558" name="Text Box 30">
            <a:extLst>
              <a:ext uri="{FF2B5EF4-FFF2-40B4-BE49-F238E27FC236}">
                <a16:creationId xmlns:a16="http://schemas.microsoft.com/office/drawing/2014/main" id="{CFE68E34-BC0D-4AE4-95C9-83FCFED11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048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22559" name="Text Box 31">
            <a:extLst>
              <a:ext uri="{FF2B5EF4-FFF2-40B4-BE49-F238E27FC236}">
                <a16:creationId xmlns:a16="http://schemas.microsoft.com/office/drawing/2014/main" id="{C8879C9F-1871-4599-8D00-FDEB4DC55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810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3</a:t>
            </a:r>
          </a:p>
        </p:txBody>
      </p:sp>
      <p:sp>
        <p:nvSpPr>
          <p:cNvPr id="22560" name="Text Box 32">
            <a:extLst>
              <a:ext uri="{FF2B5EF4-FFF2-40B4-BE49-F238E27FC236}">
                <a16:creationId xmlns:a16="http://schemas.microsoft.com/office/drawing/2014/main" id="{D42CEE62-3059-4B2C-9A2A-F406BACB5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0292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22561" name="Text Box 33">
            <a:extLst>
              <a:ext uri="{FF2B5EF4-FFF2-40B4-BE49-F238E27FC236}">
                <a16:creationId xmlns:a16="http://schemas.microsoft.com/office/drawing/2014/main" id="{0F707D52-D2BF-44EC-A27D-B16801F1E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2672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22562" name="Text Box 34">
            <a:extLst>
              <a:ext uri="{FF2B5EF4-FFF2-40B4-BE49-F238E27FC236}">
                <a16:creationId xmlns:a16="http://schemas.microsoft.com/office/drawing/2014/main" id="{6AEC7FD0-1F4B-4762-A141-FF712B29F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470525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4</a:t>
            </a:r>
          </a:p>
        </p:txBody>
      </p:sp>
      <p:sp>
        <p:nvSpPr>
          <p:cNvPr id="22563" name="Text Box 35">
            <a:extLst>
              <a:ext uri="{FF2B5EF4-FFF2-40B4-BE49-F238E27FC236}">
                <a16:creationId xmlns:a16="http://schemas.microsoft.com/office/drawing/2014/main" id="{FD2F5686-1BD6-4D93-8CF9-622676FFC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810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3</a:t>
            </a:r>
          </a:p>
        </p:txBody>
      </p:sp>
      <p:sp>
        <p:nvSpPr>
          <p:cNvPr id="22564" name="Text Box 36">
            <a:extLst>
              <a:ext uri="{FF2B5EF4-FFF2-40B4-BE49-F238E27FC236}">
                <a16:creationId xmlns:a16="http://schemas.microsoft.com/office/drawing/2014/main" id="{774FE8C2-228A-4E39-88A5-819ABC326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953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7</a:t>
            </a:r>
          </a:p>
        </p:txBody>
      </p:sp>
      <p:sp>
        <p:nvSpPr>
          <p:cNvPr id="22565" name="Freeform 37">
            <a:extLst>
              <a:ext uri="{FF2B5EF4-FFF2-40B4-BE49-F238E27FC236}">
                <a16:creationId xmlns:a16="http://schemas.microsoft.com/office/drawing/2014/main" id="{2E8F8F3F-462B-4A05-A378-6DD5F15859EE}"/>
              </a:ext>
            </a:extLst>
          </p:cNvPr>
          <p:cNvSpPr>
            <a:spLocks/>
          </p:cNvSpPr>
          <p:nvPr/>
        </p:nvSpPr>
        <p:spPr bwMode="auto">
          <a:xfrm>
            <a:off x="3200400" y="3106738"/>
            <a:ext cx="1066800" cy="323850"/>
          </a:xfrm>
          <a:custGeom>
            <a:avLst/>
            <a:gdLst>
              <a:gd name="T0" fmla="*/ 0 w 672"/>
              <a:gd name="T1" fmla="*/ 2147483646 h 204"/>
              <a:gd name="T2" fmla="*/ 2147483646 w 672"/>
              <a:gd name="T3" fmla="*/ 0 h 204"/>
              <a:gd name="T4" fmla="*/ 2147483646 w 672"/>
              <a:gd name="T5" fmla="*/ 2147483646 h 204"/>
              <a:gd name="T6" fmla="*/ 0 60000 65536"/>
              <a:gd name="T7" fmla="*/ 0 60000 65536"/>
              <a:gd name="T8" fmla="*/ 0 60000 65536"/>
              <a:gd name="T9" fmla="*/ 0 w 672"/>
              <a:gd name="T10" fmla="*/ 0 h 204"/>
              <a:gd name="T11" fmla="*/ 672 w 672"/>
              <a:gd name="T12" fmla="*/ 204 h 2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204">
                <a:moveTo>
                  <a:pt x="0" y="203"/>
                </a:moveTo>
                <a:cubicBezTo>
                  <a:pt x="56" y="169"/>
                  <a:pt x="222" y="0"/>
                  <a:pt x="334" y="0"/>
                </a:cubicBezTo>
                <a:cubicBezTo>
                  <a:pt x="446" y="0"/>
                  <a:pt x="602" y="162"/>
                  <a:pt x="672" y="204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66" name="Freeform 38">
            <a:extLst>
              <a:ext uri="{FF2B5EF4-FFF2-40B4-BE49-F238E27FC236}">
                <a16:creationId xmlns:a16="http://schemas.microsoft.com/office/drawing/2014/main" id="{3866302D-0E41-42AD-A194-1217A1C1ED36}"/>
              </a:ext>
            </a:extLst>
          </p:cNvPr>
          <p:cNvSpPr>
            <a:spLocks/>
          </p:cNvSpPr>
          <p:nvPr/>
        </p:nvSpPr>
        <p:spPr bwMode="auto">
          <a:xfrm>
            <a:off x="2405063" y="3581400"/>
            <a:ext cx="490537" cy="838200"/>
          </a:xfrm>
          <a:custGeom>
            <a:avLst/>
            <a:gdLst>
              <a:gd name="T0" fmla="*/ 2147483646 w 309"/>
              <a:gd name="T1" fmla="*/ 2147483646 h 528"/>
              <a:gd name="T2" fmla="*/ 2147483646 w 309"/>
              <a:gd name="T3" fmla="*/ 2147483646 h 528"/>
              <a:gd name="T4" fmla="*/ 2147483646 w 309"/>
              <a:gd name="T5" fmla="*/ 0 h 528"/>
              <a:gd name="T6" fmla="*/ 0 60000 65536"/>
              <a:gd name="T7" fmla="*/ 0 60000 65536"/>
              <a:gd name="T8" fmla="*/ 0 60000 65536"/>
              <a:gd name="T9" fmla="*/ 0 w 309"/>
              <a:gd name="T10" fmla="*/ 0 h 528"/>
              <a:gd name="T11" fmla="*/ 309 w 309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9" h="528">
                <a:moveTo>
                  <a:pt x="21" y="528"/>
                </a:moveTo>
                <a:cubicBezTo>
                  <a:pt x="25" y="471"/>
                  <a:pt x="0" y="273"/>
                  <a:pt x="48" y="185"/>
                </a:cubicBezTo>
                <a:cubicBezTo>
                  <a:pt x="96" y="97"/>
                  <a:pt x="255" y="39"/>
                  <a:pt x="309" y="0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67" name="Freeform 41">
            <a:extLst>
              <a:ext uri="{FF2B5EF4-FFF2-40B4-BE49-F238E27FC236}">
                <a16:creationId xmlns:a16="http://schemas.microsoft.com/office/drawing/2014/main" id="{CCA7DA95-3C5C-4AEE-A77C-7103CBC70543}"/>
              </a:ext>
            </a:extLst>
          </p:cNvPr>
          <p:cNvSpPr>
            <a:spLocks/>
          </p:cNvSpPr>
          <p:nvPr/>
        </p:nvSpPr>
        <p:spPr bwMode="auto">
          <a:xfrm>
            <a:off x="4648200" y="4648200"/>
            <a:ext cx="1219200" cy="155575"/>
          </a:xfrm>
          <a:custGeom>
            <a:avLst/>
            <a:gdLst>
              <a:gd name="T0" fmla="*/ 0 w 768"/>
              <a:gd name="T1" fmla="*/ 0 h 98"/>
              <a:gd name="T2" fmla="*/ 2147483646 w 768"/>
              <a:gd name="T3" fmla="*/ 2147483646 h 98"/>
              <a:gd name="T4" fmla="*/ 2147483646 w 768"/>
              <a:gd name="T5" fmla="*/ 2147483646 h 98"/>
              <a:gd name="T6" fmla="*/ 0 60000 65536"/>
              <a:gd name="T7" fmla="*/ 0 60000 65536"/>
              <a:gd name="T8" fmla="*/ 0 60000 65536"/>
              <a:gd name="T9" fmla="*/ 0 w 768"/>
              <a:gd name="T10" fmla="*/ 0 h 98"/>
              <a:gd name="T11" fmla="*/ 768 w 768"/>
              <a:gd name="T12" fmla="*/ 98 h 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8" h="98">
                <a:moveTo>
                  <a:pt x="0" y="0"/>
                </a:moveTo>
                <a:cubicBezTo>
                  <a:pt x="64" y="16"/>
                  <a:pt x="254" y="98"/>
                  <a:pt x="382" y="98"/>
                </a:cubicBezTo>
                <a:cubicBezTo>
                  <a:pt x="510" y="98"/>
                  <a:pt x="688" y="21"/>
                  <a:pt x="768" y="1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68" name="Freeform 42">
            <a:extLst>
              <a:ext uri="{FF2B5EF4-FFF2-40B4-BE49-F238E27FC236}">
                <a16:creationId xmlns:a16="http://schemas.microsoft.com/office/drawing/2014/main" id="{63E49108-D050-4E32-9121-DE9B7456D156}"/>
              </a:ext>
            </a:extLst>
          </p:cNvPr>
          <p:cNvSpPr>
            <a:spLocks/>
          </p:cNvSpPr>
          <p:nvPr/>
        </p:nvSpPr>
        <p:spPr bwMode="auto">
          <a:xfrm>
            <a:off x="4224338" y="4800600"/>
            <a:ext cx="196850" cy="838200"/>
          </a:xfrm>
          <a:custGeom>
            <a:avLst/>
            <a:gdLst>
              <a:gd name="T0" fmla="*/ 2147483646 w 124"/>
              <a:gd name="T1" fmla="*/ 0 h 528"/>
              <a:gd name="T2" fmla="*/ 0 w 124"/>
              <a:gd name="T3" fmla="*/ 2147483646 h 528"/>
              <a:gd name="T4" fmla="*/ 2147483646 w 124"/>
              <a:gd name="T5" fmla="*/ 2147483646 h 528"/>
              <a:gd name="T6" fmla="*/ 0 60000 65536"/>
              <a:gd name="T7" fmla="*/ 0 60000 65536"/>
              <a:gd name="T8" fmla="*/ 0 60000 65536"/>
              <a:gd name="T9" fmla="*/ 0 w 124"/>
              <a:gd name="T10" fmla="*/ 0 h 528"/>
              <a:gd name="T11" fmla="*/ 124 w 124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4" h="528">
                <a:moveTo>
                  <a:pt x="123" y="0"/>
                </a:moveTo>
                <a:cubicBezTo>
                  <a:pt x="103" y="40"/>
                  <a:pt x="0" y="152"/>
                  <a:pt x="0" y="240"/>
                </a:cubicBezTo>
                <a:cubicBezTo>
                  <a:pt x="0" y="328"/>
                  <a:pt x="98" y="468"/>
                  <a:pt x="124" y="528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1" name="Rectangle 3">
            <a:extLst>
              <a:ext uri="{FF2B5EF4-FFF2-40B4-BE49-F238E27FC236}">
                <a16:creationId xmlns:a16="http://schemas.microsoft.com/office/drawing/2014/main" id="{3343A455-2014-4135-A504-B76B38EA74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无圈连通图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以下哪一个是树？</a:t>
            </a:r>
          </a:p>
          <a:p>
            <a:pPr eaLnBrk="1" hangingPunct="1">
              <a:lnSpc>
                <a:spcPct val="90000"/>
              </a:lnSpc>
            </a:pPr>
            <a:endParaRPr lang="zh-CN" altLang="en-US"/>
          </a:p>
          <a:p>
            <a:pPr eaLnBrk="1" hangingPunct="1">
              <a:lnSpc>
                <a:spcPct val="90000"/>
              </a:lnSpc>
            </a:pPr>
            <a:endParaRPr lang="zh-CN" altLang="en-US"/>
          </a:p>
          <a:p>
            <a:pPr eaLnBrk="1" hangingPunct="1">
              <a:lnSpc>
                <a:spcPct val="90000"/>
              </a:lnSpc>
            </a:pPr>
            <a:endParaRPr lang="zh-CN" altLang="en-US"/>
          </a:p>
          <a:p>
            <a:pPr eaLnBrk="1" hangingPunct="1">
              <a:lnSpc>
                <a:spcPct val="90000"/>
              </a:lnSpc>
            </a:pPr>
            <a:endParaRPr lang="zh-CN" altLang="en-US"/>
          </a:p>
          <a:p>
            <a:pPr eaLnBrk="1" hangingPunct="1">
              <a:lnSpc>
                <a:spcPct val="90000"/>
              </a:lnSpc>
            </a:pPr>
            <a:endParaRPr lang="zh-CN" altLang="en-US"/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任意两个顶点之间有且仅有一条链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树是使图保持连通且具有最少边数的图形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边数</a:t>
            </a:r>
            <a:r>
              <a:rPr lang="en-US" altLang="zh-CN"/>
              <a:t>=</a:t>
            </a:r>
            <a:r>
              <a:rPr lang="zh-CN" altLang="en-US"/>
              <a:t>顶点数</a:t>
            </a:r>
            <a:r>
              <a:rPr lang="en-US" altLang="zh-CN"/>
              <a:t>-1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517CBA38-C449-4825-99AC-366BEDE044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树</a:t>
            </a:r>
          </a:p>
        </p:txBody>
      </p:sp>
      <p:grpSp>
        <p:nvGrpSpPr>
          <p:cNvPr id="2" name="Group 34">
            <a:extLst>
              <a:ext uri="{FF2B5EF4-FFF2-40B4-BE49-F238E27FC236}">
                <a16:creationId xmlns:a16="http://schemas.microsoft.com/office/drawing/2014/main" id="{51B5B218-C1EA-44D3-9A3B-FA98CA964AC7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2133600"/>
            <a:ext cx="6096000" cy="2590800"/>
            <a:chOff x="960" y="1344"/>
            <a:chExt cx="3840" cy="1632"/>
          </a:xfrm>
        </p:grpSpPr>
        <p:sp>
          <p:nvSpPr>
            <p:cNvPr id="23557" name="Oval 4">
              <a:extLst>
                <a:ext uri="{FF2B5EF4-FFF2-40B4-BE49-F238E27FC236}">
                  <a16:creationId xmlns:a16="http://schemas.microsoft.com/office/drawing/2014/main" id="{A4C94362-68D6-4AAE-B8B6-F719E6380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536"/>
              <a:ext cx="96" cy="92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rgbClr val="6699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0">
                <a:solidFill>
                  <a:srgbClr val="6699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58" name="Oval 6">
              <a:extLst>
                <a:ext uri="{FF2B5EF4-FFF2-40B4-BE49-F238E27FC236}">
                  <a16:creationId xmlns:a16="http://schemas.microsoft.com/office/drawing/2014/main" id="{9886C389-4E74-466B-AFC1-EEBFCB06A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995"/>
              <a:ext cx="96" cy="92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rgbClr val="6699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0">
                <a:solidFill>
                  <a:srgbClr val="6699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59" name="Oval 7">
              <a:extLst>
                <a:ext uri="{FF2B5EF4-FFF2-40B4-BE49-F238E27FC236}">
                  <a16:creationId xmlns:a16="http://schemas.microsoft.com/office/drawing/2014/main" id="{C57EF9B3-0DBC-4A2A-B38A-2CD41B3F4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500"/>
              <a:ext cx="96" cy="92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rgbClr val="6699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0">
                <a:solidFill>
                  <a:srgbClr val="6699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60" name="Oval 8">
              <a:extLst>
                <a:ext uri="{FF2B5EF4-FFF2-40B4-BE49-F238E27FC236}">
                  <a16:creationId xmlns:a16="http://schemas.microsoft.com/office/drawing/2014/main" id="{EA5852E8-D230-4945-A3E9-BB9FE8CE4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995"/>
              <a:ext cx="96" cy="92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rgbClr val="6699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0">
                <a:solidFill>
                  <a:srgbClr val="6699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61" name="Line 9">
              <a:extLst>
                <a:ext uri="{FF2B5EF4-FFF2-40B4-BE49-F238E27FC236}">
                  <a16:creationId xmlns:a16="http://schemas.microsoft.com/office/drawing/2014/main" id="{8D5786E3-8019-4FF8-9B90-B879276438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628"/>
              <a:ext cx="288" cy="413"/>
            </a:xfrm>
            <a:prstGeom prst="line">
              <a:avLst/>
            </a:prstGeom>
            <a:noFill/>
            <a:ln w="28575">
              <a:solidFill>
                <a:srgbClr val="66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2" name="Line 10">
              <a:extLst>
                <a:ext uri="{FF2B5EF4-FFF2-40B4-BE49-F238E27FC236}">
                  <a16:creationId xmlns:a16="http://schemas.microsoft.com/office/drawing/2014/main" id="{D4F38851-145F-4D14-AFD3-AAAD372F6D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628"/>
              <a:ext cx="384" cy="413"/>
            </a:xfrm>
            <a:prstGeom prst="line">
              <a:avLst/>
            </a:prstGeom>
            <a:noFill/>
            <a:ln w="28575">
              <a:solidFill>
                <a:srgbClr val="66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3" name="Line 11">
              <a:extLst>
                <a:ext uri="{FF2B5EF4-FFF2-40B4-BE49-F238E27FC236}">
                  <a16:creationId xmlns:a16="http://schemas.microsoft.com/office/drawing/2014/main" id="{E1B4CB54-32EE-4060-B140-409620FD25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2087"/>
              <a:ext cx="240" cy="413"/>
            </a:xfrm>
            <a:prstGeom prst="line">
              <a:avLst/>
            </a:prstGeom>
            <a:noFill/>
            <a:ln w="28575">
              <a:solidFill>
                <a:srgbClr val="66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4" name="Line 12">
              <a:extLst>
                <a:ext uri="{FF2B5EF4-FFF2-40B4-BE49-F238E27FC236}">
                  <a16:creationId xmlns:a16="http://schemas.microsoft.com/office/drawing/2014/main" id="{97326C04-D896-4597-92C5-4E6B17D4D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087"/>
              <a:ext cx="336" cy="413"/>
            </a:xfrm>
            <a:prstGeom prst="line">
              <a:avLst/>
            </a:prstGeom>
            <a:noFill/>
            <a:ln w="28575">
              <a:solidFill>
                <a:srgbClr val="66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5" name="Oval 14">
              <a:extLst>
                <a:ext uri="{FF2B5EF4-FFF2-40B4-BE49-F238E27FC236}">
                  <a16:creationId xmlns:a16="http://schemas.microsoft.com/office/drawing/2014/main" id="{070997A3-781C-404C-9064-C3B0BED65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588"/>
              <a:ext cx="96" cy="92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rgbClr val="6699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0">
                <a:solidFill>
                  <a:srgbClr val="6699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66" name="Oval 15">
              <a:extLst>
                <a:ext uri="{FF2B5EF4-FFF2-40B4-BE49-F238E27FC236}">
                  <a16:creationId xmlns:a16="http://schemas.microsoft.com/office/drawing/2014/main" id="{FBC0F7C2-A22C-459E-8516-68A9967F5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016"/>
              <a:ext cx="96" cy="92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rgbClr val="6699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0">
                <a:solidFill>
                  <a:srgbClr val="6699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67" name="Oval 16">
              <a:extLst>
                <a:ext uri="{FF2B5EF4-FFF2-40B4-BE49-F238E27FC236}">
                  <a16:creationId xmlns:a16="http://schemas.microsoft.com/office/drawing/2014/main" id="{D182DDB3-8289-4EAE-A928-A8CDFAC32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500"/>
              <a:ext cx="96" cy="92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rgbClr val="6699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0">
                <a:solidFill>
                  <a:srgbClr val="6699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68" name="Oval 17">
              <a:extLst>
                <a:ext uri="{FF2B5EF4-FFF2-40B4-BE49-F238E27FC236}">
                  <a16:creationId xmlns:a16="http://schemas.microsoft.com/office/drawing/2014/main" id="{4D89E8EF-C7AA-4FD5-ADD5-74288E599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680"/>
              <a:ext cx="96" cy="92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rgbClr val="6699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0">
                <a:solidFill>
                  <a:srgbClr val="6699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69" name="Oval 18">
              <a:extLst>
                <a:ext uri="{FF2B5EF4-FFF2-40B4-BE49-F238E27FC236}">
                  <a16:creationId xmlns:a16="http://schemas.microsoft.com/office/drawing/2014/main" id="{A1CA6C8D-81E5-4C96-BF8C-5ADBEC844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404"/>
              <a:ext cx="96" cy="92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rgbClr val="6699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0">
                <a:solidFill>
                  <a:srgbClr val="6699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70" name="Oval 19">
              <a:extLst>
                <a:ext uri="{FF2B5EF4-FFF2-40B4-BE49-F238E27FC236}">
                  <a16:creationId xmlns:a16="http://schemas.microsoft.com/office/drawing/2014/main" id="{A6423FEE-643F-45D8-AB4F-B744202F7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344"/>
              <a:ext cx="96" cy="92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rgbClr val="6699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0">
                <a:solidFill>
                  <a:srgbClr val="6699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71" name="Oval 20">
              <a:extLst>
                <a:ext uri="{FF2B5EF4-FFF2-40B4-BE49-F238E27FC236}">
                  <a16:creationId xmlns:a16="http://schemas.microsoft.com/office/drawing/2014/main" id="{0462BC45-3973-49F8-A5B0-87DC5515A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824"/>
              <a:ext cx="96" cy="92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rgbClr val="6699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0">
                <a:solidFill>
                  <a:srgbClr val="6699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72" name="Oval 21">
              <a:extLst>
                <a:ext uri="{FF2B5EF4-FFF2-40B4-BE49-F238E27FC236}">
                  <a16:creationId xmlns:a16="http://schemas.microsoft.com/office/drawing/2014/main" id="{61BEBA2C-38DF-48C1-A8C7-375EAE953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96"/>
              <a:ext cx="96" cy="92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rgbClr val="6699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0">
                <a:solidFill>
                  <a:srgbClr val="6699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73" name="Oval 22">
              <a:extLst>
                <a:ext uri="{FF2B5EF4-FFF2-40B4-BE49-F238E27FC236}">
                  <a16:creationId xmlns:a16="http://schemas.microsoft.com/office/drawing/2014/main" id="{FB8BE61A-6214-49E1-B0C8-540E61C3C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496"/>
              <a:ext cx="96" cy="92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rgbClr val="6699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0">
                <a:solidFill>
                  <a:srgbClr val="6699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74" name="Oval 23">
              <a:extLst>
                <a:ext uri="{FF2B5EF4-FFF2-40B4-BE49-F238E27FC236}">
                  <a16:creationId xmlns:a16="http://schemas.microsoft.com/office/drawing/2014/main" id="{3B14F624-9733-4C5B-900B-72D7C3A45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968"/>
              <a:ext cx="96" cy="92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rgbClr val="6699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0">
                <a:solidFill>
                  <a:srgbClr val="6699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75" name="Line 24">
              <a:extLst>
                <a:ext uri="{FF2B5EF4-FFF2-40B4-BE49-F238E27FC236}">
                  <a16:creationId xmlns:a16="http://schemas.microsoft.com/office/drawing/2014/main" id="{71AA96EB-B8C4-4C73-ABE3-BC58F13BB1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1680"/>
              <a:ext cx="192" cy="384"/>
            </a:xfrm>
            <a:prstGeom prst="line">
              <a:avLst/>
            </a:prstGeom>
            <a:noFill/>
            <a:ln w="28575">
              <a:solidFill>
                <a:srgbClr val="66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6" name="Line 25">
              <a:extLst>
                <a:ext uri="{FF2B5EF4-FFF2-40B4-BE49-F238E27FC236}">
                  <a16:creationId xmlns:a16="http://schemas.microsoft.com/office/drawing/2014/main" id="{EAAC2630-BB7D-4066-9F68-D18AE2CCBA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064"/>
              <a:ext cx="336" cy="480"/>
            </a:xfrm>
            <a:prstGeom prst="line">
              <a:avLst/>
            </a:prstGeom>
            <a:noFill/>
            <a:ln w="28575">
              <a:solidFill>
                <a:srgbClr val="66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7" name="Line 26">
              <a:extLst>
                <a:ext uri="{FF2B5EF4-FFF2-40B4-BE49-F238E27FC236}">
                  <a16:creationId xmlns:a16="http://schemas.microsoft.com/office/drawing/2014/main" id="{589577E0-8B34-4CB7-ACCE-6ABEF4E8B6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728"/>
              <a:ext cx="0" cy="720"/>
            </a:xfrm>
            <a:prstGeom prst="line">
              <a:avLst/>
            </a:prstGeom>
            <a:noFill/>
            <a:ln w="28575">
              <a:solidFill>
                <a:srgbClr val="66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8" name="Line 27">
              <a:extLst>
                <a:ext uri="{FF2B5EF4-FFF2-40B4-BE49-F238E27FC236}">
                  <a16:creationId xmlns:a16="http://schemas.microsoft.com/office/drawing/2014/main" id="{80E81093-91B4-47D4-8012-18E42C6F09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392"/>
              <a:ext cx="336" cy="480"/>
            </a:xfrm>
            <a:prstGeom prst="line">
              <a:avLst/>
            </a:prstGeom>
            <a:noFill/>
            <a:ln w="28575">
              <a:solidFill>
                <a:srgbClr val="66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9" name="Line 28">
              <a:extLst>
                <a:ext uri="{FF2B5EF4-FFF2-40B4-BE49-F238E27FC236}">
                  <a16:creationId xmlns:a16="http://schemas.microsoft.com/office/drawing/2014/main" id="{B685CF67-63D5-4A96-B7D1-D695BFFFB3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920"/>
              <a:ext cx="528" cy="96"/>
            </a:xfrm>
            <a:prstGeom prst="line">
              <a:avLst/>
            </a:prstGeom>
            <a:noFill/>
            <a:ln w="28575">
              <a:solidFill>
                <a:srgbClr val="66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0" name="Line 29">
              <a:extLst>
                <a:ext uri="{FF2B5EF4-FFF2-40B4-BE49-F238E27FC236}">
                  <a16:creationId xmlns:a16="http://schemas.microsoft.com/office/drawing/2014/main" id="{6B1A3BD4-0FDB-4708-B677-6AC568CD33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920"/>
              <a:ext cx="48" cy="624"/>
            </a:xfrm>
            <a:prstGeom prst="line">
              <a:avLst/>
            </a:prstGeom>
            <a:noFill/>
            <a:ln w="28575">
              <a:solidFill>
                <a:srgbClr val="66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1" name="Line 30">
              <a:extLst>
                <a:ext uri="{FF2B5EF4-FFF2-40B4-BE49-F238E27FC236}">
                  <a16:creationId xmlns:a16="http://schemas.microsoft.com/office/drawing/2014/main" id="{F601A715-340A-4E65-B816-06D6654A3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872"/>
              <a:ext cx="528" cy="672"/>
            </a:xfrm>
            <a:prstGeom prst="line">
              <a:avLst/>
            </a:prstGeom>
            <a:noFill/>
            <a:ln w="28575">
              <a:solidFill>
                <a:srgbClr val="66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2" name="Text Box 31">
              <a:extLst>
                <a:ext uri="{FF2B5EF4-FFF2-40B4-BE49-F238E27FC236}">
                  <a16:creationId xmlns:a16="http://schemas.microsoft.com/office/drawing/2014/main" id="{BD927419-97F6-43DA-B513-551B71B9EF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64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Arial" panose="020B0604020202020204" pitchFamily="34" charset="0"/>
                </a:rPr>
                <a:t>(a)</a:t>
              </a:r>
            </a:p>
          </p:txBody>
        </p:sp>
        <p:sp>
          <p:nvSpPr>
            <p:cNvPr id="23583" name="Text Box 32">
              <a:extLst>
                <a:ext uri="{FF2B5EF4-FFF2-40B4-BE49-F238E27FC236}">
                  <a16:creationId xmlns:a16="http://schemas.microsoft.com/office/drawing/2014/main" id="{7F6C472E-35CD-4775-AE38-2271CD7B2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268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Arial" panose="020B0604020202020204" pitchFamily="34" charset="0"/>
                </a:rPr>
                <a:t>(b)</a:t>
              </a:r>
            </a:p>
          </p:txBody>
        </p:sp>
        <p:sp>
          <p:nvSpPr>
            <p:cNvPr id="23584" name="Text Box 33">
              <a:extLst>
                <a:ext uri="{FF2B5EF4-FFF2-40B4-BE49-F238E27FC236}">
                  <a16:creationId xmlns:a16="http://schemas.microsoft.com/office/drawing/2014/main" id="{E6C8A725-14D7-410D-BC6A-24F48799DD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68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Arial" panose="020B0604020202020204" pitchFamily="34" charset="0"/>
                </a:rPr>
                <a:t>(c)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7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27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7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7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D94D4F9-5446-4C09-A48D-DAD1EB862B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图的支撑树</a:t>
            </a:r>
          </a:p>
        </p:txBody>
      </p:sp>
      <p:sp>
        <p:nvSpPr>
          <p:cNvPr id="228355" name="Rectangle 3">
            <a:extLst>
              <a:ext uri="{FF2B5EF4-FFF2-40B4-BE49-F238E27FC236}">
                <a16:creationId xmlns:a16="http://schemas.microsoft.com/office/drawing/2014/main" id="{8536A455-332D-47CF-8B84-DF7908193B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5334000"/>
          </a:xfrm>
        </p:spPr>
        <p:txBody>
          <a:bodyPr/>
          <a:lstStyle/>
          <a:p>
            <a:pPr eaLnBrk="1" hangingPunct="1"/>
            <a:r>
              <a:rPr lang="zh-CN" altLang="en-US"/>
              <a:t>若图</a:t>
            </a:r>
            <a:r>
              <a:rPr lang="en-US" altLang="zh-CN"/>
              <a:t>G =</a:t>
            </a:r>
            <a:r>
              <a:rPr lang="zh-CN" altLang="en-US"/>
              <a:t>（</a:t>
            </a:r>
            <a:r>
              <a:rPr lang="en-US" altLang="zh-CN"/>
              <a:t>V , E</a:t>
            </a:r>
            <a:r>
              <a:rPr lang="zh-CN" altLang="en-US"/>
              <a:t>）的支撑子图 </a:t>
            </a:r>
            <a:r>
              <a:rPr lang="en-US" altLang="zh-CN"/>
              <a:t>T=</a:t>
            </a:r>
            <a:r>
              <a:rPr lang="zh-CN" altLang="en-US"/>
              <a:t>（</a:t>
            </a:r>
            <a:r>
              <a:rPr lang="en-US" altLang="zh-CN"/>
              <a:t>V , E´</a:t>
            </a:r>
            <a:r>
              <a:rPr lang="zh-CN" altLang="en-US"/>
              <a:t>）</a:t>
            </a:r>
            <a:br>
              <a:rPr lang="zh-CN" altLang="en-US"/>
            </a:br>
            <a:r>
              <a:rPr lang="zh-CN" altLang="en-US"/>
              <a:t>构成树，则称</a:t>
            </a:r>
            <a:r>
              <a:rPr lang="en-US" altLang="zh-CN"/>
              <a:t>T </a:t>
            </a:r>
            <a:r>
              <a:rPr lang="zh-CN" altLang="en-US"/>
              <a:t>为</a:t>
            </a:r>
            <a:r>
              <a:rPr lang="en-US" altLang="zh-CN"/>
              <a:t>G</a:t>
            </a:r>
            <a:r>
              <a:rPr lang="zh-CN" altLang="en-US"/>
              <a:t>的</a:t>
            </a:r>
            <a:r>
              <a:rPr lang="zh-CN" altLang="en-US">
                <a:solidFill>
                  <a:srgbClr val="FF3300"/>
                </a:solidFill>
              </a:rPr>
              <a:t>支撑树</a:t>
            </a:r>
            <a:r>
              <a:rPr lang="zh-CN" altLang="en-US"/>
              <a:t>（</a:t>
            </a:r>
            <a:r>
              <a:rPr lang="zh-CN" altLang="en-US">
                <a:solidFill>
                  <a:srgbClr val="FF3300"/>
                </a:solidFill>
              </a:rPr>
              <a:t>生成树</a:t>
            </a:r>
            <a:r>
              <a:rPr lang="zh-CN" altLang="en-US"/>
              <a:t>）</a:t>
            </a:r>
          </a:p>
          <a:p>
            <a:pPr lvl="1" eaLnBrk="1" hangingPunct="1"/>
            <a:r>
              <a:rPr lang="zh-CN" altLang="en-US"/>
              <a:t>例 </a:t>
            </a:r>
            <a:r>
              <a:rPr lang="en-US" altLang="zh-CN"/>
              <a:t>: (b)</a:t>
            </a:r>
            <a:r>
              <a:rPr lang="zh-CN" altLang="en-US"/>
              <a:t>为</a:t>
            </a:r>
            <a:r>
              <a:rPr lang="en-US" altLang="zh-CN"/>
              <a:t>(a)</a:t>
            </a:r>
            <a:r>
              <a:rPr lang="zh-CN" altLang="en-US"/>
              <a:t>的支撑树</a:t>
            </a:r>
          </a:p>
          <a:p>
            <a:pPr eaLnBrk="1" hangingPunct="1"/>
            <a:endParaRPr lang="zh-CN" altLang="en-US" sz="2800"/>
          </a:p>
          <a:p>
            <a:pPr eaLnBrk="1" hangingPunct="1"/>
            <a:endParaRPr lang="zh-CN" altLang="en-US" sz="2800"/>
          </a:p>
          <a:p>
            <a:pPr eaLnBrk="1" hangingPunct="1"/>
            <a:endParaRPr lang="zh-CN" altLang="en-US" sz="2800"/>
          </a:p>
          <a:p>
            <a:pPr eaLnBrk="1" hangingPunct="1"/>
            <a:endParaRPr lang="zh-CN" altLang="en-US" sz="2800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r>
              <a:rPr lang="zh-CN" altLang="en-US"/>
              <a:t>图</a:t>
            </a:r>
            <a:r>
              <a:rPr lang="en-US" altLang="zh-CN"/>
              <a:t>G</a:t>
            </a:r>
            <a:r>
              <a:rPr lang="zh-CN" altLang="en-US"/>
              <a:t>有支撑树的充要条件是</a:t>
            </a:r>
            <a:r>
              <a:rPr lang="zh-CN" altLang="en-US">
                <a:solidFill>
                  <a:srgbClr val="FF3300"/>
                </a:solidFill>
              </a:rPr>
              <a:t>图</a:t>
            </a:r>
            <a:r>
              <a:rPr lang="en-US" altLang="zh-CN">
                <a:solidFill>
                  <a:srgbClr val="FF3300"/>
                </a:solidFill>
              </a:rPr>
              <a:t>G</a:t>
            </a:r>
            <a:r>
              <a:rPr lang="zh-CN" altLang="en-US">
                <a:solidFill>
                  <a:srgbClr val="FF3300"/>
                </a:solidFill>
              </a:rPr>
              <a:t>是连通的</a:t>
            </a:r>
          </a:p>
        </p:txBody>
      </p:sp>
      <p:grpSp>
        <p:nvGrpSpPr>
          <p:cNvPr id="2" name="Group 78">
            <a:extLst>
              <a:ext uri="{FF2B5EF4-FFF2-40B4-BE49-F238E27FC236}">
                <a16:creationId xmlns:a16="http://schemas.microsoft.com/office/drawing/2014/main" id="{D5249A4E-F5B7-41D2-8E7B-84C7D0F4B4C7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667000"/>
            <a:ext cx="3352800" cy="2957513"/>
            <a:chOff x="576" y="1680"/>
            <a:chExt cx="2112" cy="1863"/>
          </a:xfrm>
        </p:grpSpPr>
        <p:grpSp>
          <p:nvGrpSpPr>
            <p:cNvPr id="24601" name="Group 75">
              <a:extLst>
                <a:ext uri="{FF2B5EF4-FFF2-40B4-BE49-F238E27FC236}">
                  <a16:creationId xmlns:a16="http://schemas.microsoft.com/office/drawing/2014/main" id="{9E82FE39-5FDD-41E5-9E9C-825DDFB6F4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680"/>
              <a:ext cx="2112" cy="1593"/>
              <a:chOff x="672" y="1488"/>
              <a:chExt cx="2400" cy="1651"/>
            </a:xfrm>
          </p:grpSpPr>
          <p:grpSp>
            <p:nvGrpSpPr>
              <p:cNvPr id="24603" name="Group 35">
                <a:extLst>
                  <a:ext uri="{FF2B5EF4-FFF2-40B4-BE49-F238E27FC236}">
                    <a16:creationId xmlns:a16="http://schemas.microsoft.com/office/drawing/2014/main" id="{273DF0A3-9CF2-4002-9C6F-627E6C3342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1776"/>
                <a:ext cx="1824" cy="1152"/>
                <a:chOff x="1056" y="1632"/>
                <a:chExt cx="3120" cy="1584"/>
              </a:xfrm>
            </p:grpSpPr>
            <p:sp>
              <p:nvSpPr>
                <p:cNvPr id="24610" name="Line 4">
                  <a:extLst>
                    <a:ext uri="{FF2B5EF4-FFF2-40B4-BE49-F238E27FC236}">
                      <a16:creationId xmlns:a16="http://schemas.microsoft.com/office/drawing/2014/main" id="{7E1DAAC3-F333-41ED-BDC7-AC309EFBB5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104" y="1728"/>
                  <a:ext cx="768" cy="76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11" name="Line 5">
                  <a:extLst>
                    <a:ext uri="{FF2B5EF4-FFF2-40B4-BE49-F238E27FC236}">
                      <a16:creationId xmlns:a16="http://schemas.microsoft.com/office/drawing/2014/main" id="{8DDF181E-2F39-4B44-A2AD-A37527583E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72" y="1680"/>
                  <a:ext cx="1200" cy="4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12" name="Line 6">
                  <a:extLst>
                    <a:ext uri="{FF2B5EF4-FFF2-40B4-BE49-F238E27FC236}">
                      <a16:creationId xmlns:a16="http://schemas.microsoft.com/office/drawing/2014/main" id="{9D739C05-F297-4BDB-A1B0-4F8C4432A3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8" y="1680"/>
                  <a:ext cx="960" cy="76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13" name="Line 7">
                  <a:extLst>
                    <a:ext uri="{FF2B5EF4-FFF2-40B4-BE49-F238E27FC236}">
                      <a16:creationId xmlns:a16="http://schemas.microsoft.com/office/drawing/2014/main" id="{CF5C3377-4F42-405F-8BBE-E3C0042704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2592"/>
                  <a:ext cx="816" cy="52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14" name="Line 8">
                  <a:extLst>
                    <a:ext uri="{FF2B5EF4-FFF2-40B4-BE49-F238E27FC236}">
                      <a16:creationId xmlns:a16="http://schemas.microsoft.com/office/drawing/2014/main" id="{D22BF1C3-58AC-43C7-8E59-9D1FB21C05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1728"/>
                  <a:ext cx="96" cy="13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15" name="Line 9">
                  <a:extLst>
                    <a:ext uri="{FF2B5EF4-FFF2-40B4-BE49-F238E27FC236}">
                      <a16:creationId xmlns:a16="http://schemas.microsoft.com/office/drawing/2014/main" id="{6CF4435E-75B6-44B3-A10C-BAC78BEFD9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680"/>
                  <a:ext cx="144" cy="14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16" name="Line 10">
                  <a:extLst>
                    <a:ext uri="{FF2B5EF4-FFF2-40B4-BE49-F238E27FC236}">
                      <a16:creationId xmlns:a16="http://schemas.microsoft.com/office/drawing/2014/main" id="{6287355E-C537-4DD4-A34D-E9D6CF1D6A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12" y="2448"/>
                  <a:ext cx="816" cy="72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17" name="Line 11">
                  <a:extLst>
                    <a:ext uri="{FF2B5EF4-FFF2-40B4-BE49-F238E27FC236}">
                      <a16:creationId xmlns:a16="http://schemas.microsoft.com/office/drawing/2014/main" id="{E8560767-3B47-4BDE-BF62-617DBA7DCF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68" y="1680"/>
                  <a:ext cx="1104" cy="14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18" name="Oval 12">
                  <a:extLst>
                    <a:ext uri="{FF2B5EF4-FFF2-40B4-BE49-F238E27FC236}">
                      <a16:creationId xmlns:a16="http://schemas.microsoft.com/office/drawing/2014/main" id="{17532ED8-CC6C-4196-B3FD-8CCD1CA65F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2496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q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q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2800"/>
                </a:p>
              </p:txBody>
            </p:sp>
            <p:sp>
              <p:nvSpPr>
                <p:cNvPr id="24619" name="Oval 13">
                  <a:extLst>
                    <a:ext uri="{FF2B5EF4-FFF2-40B4-BE49-F238E27FC236}">
                      <a16:creationId xmlns:a16="http://schemas.microsoft.com/office/drawing/2014/main" id="{85509509-5F00-428E-8BD4-8F706CD6E4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680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q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q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2800"/>
                </a:p>
              </p:txBody>
            </p:sp>
            <p:sp>
              <p:nvSpPr>
                <p:cNvPr id="24620" name="Oval 14">
                  <a:extLst>
                    <a:ext uri="{FF2B5EF4-FFF2-40B4-BE49-F238E27FC236}">
                      <a16:creationId xmlns:a16="http://schemas.microsoft.com/office/drawing/2014/main" id="{B51F1CCC-994A-4BBB-B33F-7A14A21235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3120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q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q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2800"/>
                </a:p>
              </p:txBody>
            </p:sp>
            <p:sp>
              <p:nvSpPr>
                <p:cNvPr id="24621" name="Oval 15">
                  <a:extLst>
                    <a:ext uri="{FF2B5EF4-FFF2-40B4-BE49-F238E27FC236}">
                      <a16:creationId xmlns:a16="http://schemas.microsoft.com/office/drawing/2014/main" id="{41EC198F-F8FC-4BA2-AFFC-B2F5B1DE11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1632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q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q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2800"/>
                </a:p>
              </p:txBody>
            </p:sp>
            <p:sp>
              <p:nvSpPr>
                <p:cNvPr id="24622" name="Oval 16">
                  <a:extLst>
                    <a:ext uri="{FF2B5EF4-FFF2-40B4-BE49-F238E27FC236}">
                      <a16:creationId xmlns:a16="http://schemas.microsoft.com/office/drawing/2014/main" id="{4E8A0111-09B6-4724-A8BB-FA14B6189B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6" y="3120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q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q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2800"/>
                </a:p>
              </p:txBody>
            </p:sp>
            <p:sp>
              <p:nvSpPr>
                <p:cNvPr id="24623" name="Oval 17">
                  <a:extLst>
                    <a:ext uri="{FF2B5EF4-FFF2-40B4-BE49-F238E27FC236}">
                      <a16:creationId xmlns:a16="http://schemas.microsoft.com/office/drawing/2014/main" id="{8B8CECE1-515B-424D-A330-2704D1EE3E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80" y="2400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q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q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2800"/>
                </a:p>
              </p:txBody>
            </p:sp>
            <p:sp>
              <p:nvSpPr>
                <p:cNvPr id="24624" name="Line 18">
                  <a:extLst>
                    <a:ext uri="{FF2B5EF4-FFF2-40B4-BE49-F238E27FC236}">
                      <a16:creationId xmlns:a16="http://schemas.microsoft.com/office/drawing/2014/main" id="{053E7893-3CCD-4B6F-AA51-8DD3C078AE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6" y="3168"/>
                  <a:ext cx="120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4604" name="Text Box 19">
                <a:extLst>
                  <a:ext uri="{FF2B5EF4-FFF2-40B4-BE49-F238E27FC236}">
                    <a16:creationId xmlns:a16="http://schemas.microsoft.com/office/drawing/2014/main" id="{CF5DC7F1-B6B6-42ED-917F-ABB4BB8A59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" y="2256"/>
                <a:ext cx="33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i="1"/>
                  <a:t>v</a:t>
                </a:r>
                <a:r>
                  <a:rPr lang="en-US" altLang="zh-CN" sz="2000" baseline="-25000"/>
                  <a:t>1</a:t>
                </a:r>
              </a:p>
            </p:txBody>
          </p:sp>
          <p:sp>
            <p:nvSpPr>
              <p:cNvPr id="24605" name="Text Box 20">
                <a:extLst>
                  <a:ext uri="{FF2B5EF4-FFF2-40B4-BE49-F238E27FC236}">
                    <a16:creationId xmlns:a16="http://schemas.microsoft.com/office/drawing/2014/main" id="{1C067448-3E32-4224-B217-05E1BB0D44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6" y="2870"/>
                <a:ext cx="33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i="1"/>
                  <a:t>v</a:t>
                </a:r>
                <a:r>
                  <a:rPr lang="en-US" altLang="zh-CN" sz="2000" baseline="-25000"/>
                  <a:t>2</a:t>
                </a:r>
              </a:p>
            </p:txBody>
          </p:sp>
          <p:sp>
            <p:nvSpPr>
              <p:cNvPr id="24606" name="Text Box 21">
                <a:extLst>
                  <a:ext uri="{FF2B5EF4-FFF2-40B4-BE49-F238E27FC236}">
                    <a16:creationId xmlns:a16="http://schemas.microsoft.com/office/drawing/2014/main" id="{22C2A727-B994-4FDE-B97A-19A41698E7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536"/>
                <a:ext cx="337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i="1"/>
                  <a:t>v</a:t>
                </a:r>
                <a:r>
                  <a:rPr lang="en-US" altLang="zh-CN" sz="2000" baseline="-25000"/>
                  <a:t>3</a:t>
                </a:r>
              </a:p>
            </p:txBody>
          </p:sp>
          <p:sp>
            <p:nvSpPr>
              <p:cNvPr id="24607" name="Text Box 22">
                <a:extLst>
                  <a:ext uri="{FF2B5EF4-FFF2-40B4-BE49-F238E27FC236}">
                    <a16:creationId xmlns:a16="http://schemas.microsoft.com/office/drawing/2014/main" id="{259ACA2E-0881-443F-B5FA-3F6E66498A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2880"/>
                <a:ext cx="33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i="1"/>
                  <a:t>v</a:t>
                </a:r>
                <a:r>
                  <a:rPr lang="en-US" altLang="zh-CN" sz="2000" baseline="-25000"/>
                  <a:t>4</a:t>
                </a:r>
              </a:p>
            </p:txBody>
          </p:sp>
          <p:sp>
            <p:nvSpPr>
              <p:cNvPr id="24608" name="Text Box 23">
                <a:extLst>
                  <a:ext uri="{FF2B5EF4-FFF2-40B4-BE49-F238E27FC236}">
                    <a16:creationId xmlns:a16="http://schemas.microsoft.com/office/drawing/2014/main" id="{BF510FE7-287F-43C9-8ECA-F9CE0D9AE6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2256"/>
                <a:ext cx="33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i="1"/>
                  <a:t>v</a:t>
                </a:r>
                <a:r>
                  <a:rPr lang="en-US" altLang="zh-CN" sz="2000" baseline="-25000"/>
                  <a:t>6</a:t>
                </a:r>
              </a:p>
            </p:txBody>
          </p:sp>
          <p:sp>
            <p:nvSpPr>
              <p:cNvPr id="24609" name="Text Box 34">
                <a:extLst>
                  <a:ext uri="{FF2B5EF4-FFF2-40B4-BE49-F238E27FC236}">
                    <a16:creationId xmlns:a16="http://schemas.microsoft.com/office/drawing/2014/main" id="{2E0BC411-ED04-42F5-A3FF-AF93E2CC0F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4" y="1488"/>
                <a:ext cx="33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i="1"/>
                  <a:t>v</a:t>
                </a:r>
                <a:r>
                  <a:rPr lang="en-US" altLang="zh-CN" sz="2000" baseline="-25000"/>
                  <a:t>5</a:t>
                </a:r>
              </a:p>
            </p:txBody>
          </p:sp>
        </p:grpSp>
        <p:sp>
          <p:nvSpPr>
            <p:cNvPr id="24602" name="Text Box 76">
              <a:extLst>
                <a:ext uri="{FF2B5EF4-FFF2-40B4-BE49-F238E27FC236}">
                  <a16:creationId xmlns:a16="http://schemas.microsoft.com/office/drawing/2014/main" id="{6D8F6B2B-F34E-49D0-8895-42B6874E6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312"/>
              <a:ext cx="6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chemeClr val="tx2"/>
                  </a:solidFill>
                  <a:latin typeface="Arial" panose="020B0604020202020204" pitchFamily="34" charset="0"/>
                </a:rPr>
                <a:t>（</a:t>
              </a:r>
              <a:r>
                <a:rPr lang="en-US" altLang="zh-CN" sz="1800">
                  <a:solidFill>
                    <a:schemeClr val="tx2"/>
                  </a:solidFill>
                  <a:latin typeface="Arial" panose="020B0604020202020204" pitchFamily="34" charset="0"/>
                </a:rPr>
                <a:t>a</a:t>
              </a:r>
              <a:r>
                <a:rPr lang="zh-CN" altLang="en-US" sz="1800">
                  <a:solidFill>
                    <a:schemeClr val="tx2"/>
                  </a:solidFill>
                  <a:latin typeface="Arial" panose="020B0604020202020204" pitchFamily="34" charset="0"/>
                </a:rPr>
                <a:t>）</a:t>
              </a:r>
            </a:p>
          </p:txBody>
        </p:sp>
      </p:grpSp>
      <p:grpSp>
        <p:nvGrpSpPr>
          <p:cNvPr id="5" name="Group 79">
            <a:extLst>
              <a:ext uri="{FF2B5EF4-FFF2-40B4-BE49-F238E27FC236}">
                <a16:creationId xmlns:a16="http://schemas.microsoft.com/office/drawing/2014/main" id="{C194569C-F14D-4BD8-8C52-23D5BD8A97A4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2768600"/>
            <a:ext cx="3352800" cy="2932113"/>
            <a:chOff x="3024" y="1744"/>
            <a:chExt cx="2112" cy="1847"/>
          </a:xfrm>
        </p:grpSpPr>
        <p:grpSp>
          <p:nvGrpSpPr>
            <p:cNvPr id="24582" name="Group 74">
              <a:extLst>
                <a:ext uri="{FF2B5EF4-FFF2-40B4-BE49-F238E27FC236}">
                  <a16:creationId xmlns:a16="http://schemas.microsoft.com/office/drawing/2014/main" id="{80F9CBC1-307F-4E12-A172-9B880C32A2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744"/>
              <a:ext cx="2112" cy="1520"/>
              <a:chOff x="2928" y="1440"/>
              <a:chExt cx="2400" cy="1666"/>
            </a:xfrm>
          </p:grpSpPr>
          <p:sp>
            <p:nvSpPr>
              <p:cNvPr id="24584" name="Line 54">
                <a:extLst>
                  <a:ext uri="{FF2B5EF4-FFF2-40B4-BE49-F238E27FC236}">
                    <a16:creationId xmlns:a16="http://schemas.microsoft.com/office/drawing/2014/main" id="{A2EA5106-8E5C-4778-9A69-7092231E73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45" y="1763"/>
                <a:ext cx="702" cy="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85" name="Line 55">
                <a:extLst>
                  <a:ext uri="{FF2B5EF4-FFF2-40B4-BE49-F238E27FC236}">
                    <a16:creationId xmlns:a16="http://schemas.microsoft.com/office/drawing/2014/main" id="{B4A60934-3795-4F39-A99D-C1787A918D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03" y="1763"/>
                <a:ext cx="561" cy="55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86" name="Line 56">
                <a:extLst>
                  <a:ext uri="{FF2B5EF4-FFF2-40B4-BE49-F238E27FC236}">
                    <a16:creationId xmlns:a16="http://schemas.microsoft.com/office/drawing/2014/main" id="{D4CF942A-B102-48A1-BC45-CCFBBE600C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6" y="2426"/>
                <a:ext cx="477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87" name="Line 57">
                <a:extLst>
                  <a:ext uri="{FF2B5EF4-FFF2-40B4-BE49-F238E27FC236}">
                    <a16:creationId xmlns:a16="http://schemas.microsoft.com/office/drawing/2014/main" id="{398F3DB0-C23B-4AE1-91AE-6C57B94055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5" y="1798"/>
                <a:ext cx="56" cy="101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88" name="Oval 61">
                <a:extLst>
                  <a:ext uri="{FF2B5EF4-FFF2-40B4-BE49-F238E27FC236}">
                    <a16:creationId xmlns:a16="http://schemas.microsoft.com/office/drawing/2014/main" id="{9350E769-F1D3-4FDB-9D52-DD670529E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356"/>
                <a:ext cx="56" cy="7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/>
              </a:p>
            </p:txBody>
          </p:sp>
          <p:sp>
            <p:nvSpPr>
              <p:cNvPr id="24589" name="Oval 62">
                <a:extLst>
                  <a:ext uri="{FF2B5EF4-FFF2-40B4-BE49-F238E27FC236}">
                    <a16:creationId xmlns:a16="http://schemas.microsoft.com/office/drawing/2014/main" id="{1C21B12D-F055-4B35-AC1B-D18840A05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7" y="1763"/>
                <a:ext cx="56" cy="7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/>
              </a:p>
            </p:txBody>
          </p:sp>
          <p:sp>
            <p:nvSpPr>
              <p:cNvPr id="24590" name="Oval 63">
                <a:extLst>
                  <a:ext uri="{FF2B5EF4-FFF2-40B4-BE49-F238E27FC236}">
                    <a16:creationId xmlns:a16="http://schemas.microsoft.com/office/drawing/2014/main" id="{A137B782-C057-4690-A18B-8C6EC0CAF0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3" y="2810"/>
                <a:ext cx="56" cy="7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/>
              </a:p>
            </p:txBody>
          </p:sp>
          <p:sp>
            <p:nvSpPr>
              <p:cNvPr id="24591" name="Oval 64">
                <a:extLst>
                  <a:ext uri="{FF2B5EF4-FFF2-40B4-BE49-F238E27FC236}">
                    <a16:creationId xmlns:a16="http://schemas.microsoft.com/office/drawing/2014/main" id="{E97E28B7-2839-40CA-9AB9-D32DA49A8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7" y="1728"/>
                <a:ext cx="56" cy="7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/>
              </a:p>
            </p:txBody>
          </p:sp>
          <p:sp>
            <p:nvSpPr>
              <p:cNvPr id="24592" name="Oval 65">
                <a:extLst>
                  <a:ext uri="{FF2B5EF4-FFF2-40B4-BE49-F238E27FC236}">
                    <a16:creationId xmlns:a16="http://schemas.microsoft.com/office/drawing/2014/main" id="{FA5C2906-144A-41A0-B3ED-D94D886910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1" y="2810"/>
                <a:ext cx="56" cy="7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/>
              </a:p>
            </p:txBody>
          </p:sp>
          <p:sp>
            <p:nvSpPr>
              <p:cNvPr id="24593" name="Oval 66">
                <a:extLst>
                  <a:ext uri="{FF2B5EF4-FFF2-40B4-BE49-F238E27FC236}">
                    <a16:creationId xmlns:a16="http://schemas.microsoft.com/office/drawing/2014/main" id="{BD7BB66C-B74A-4600-8D83-ACF12C9CEC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36" y="2287"/>
                <a:ext cx="56" cy="6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/>
              </a:p>
            </p:txBody>
          </p:sp>
          <p:sp>
            <p:nvSpPr>
              <p:cNvPr id="24594" name="Line 67">
                <a:extLst>
                  <a:ext uri="{FF2B5EF4-FFF2-40B4-BE49-F238E27FC236}">
                    <a16:creationId xmlns:a16="http://schemas.microsoft.com/office/drawing/2014/main" id="{42A3ABC2-5AF2-42B2-9B39-FE733542E8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9" y="2845"/>
                <a:ext cx="70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5" name="Text Box 68">
                <a:extLst>
                  <a:ext uri="{FF2B5EF4-FFF2-40B4-BE49-F238E27FC236}">
                    <a16:creationId xmlns:a16="http://schemas.microsoft.com/office/drawing/2014/main" id="{63D30B80-F229-4ED5-86AF-8FEB0D295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8" y="2208"/>
                <a:ext cx="336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i="1"/>
                  <a:t>v</a:t>
                </a:r>
                <a:r>
                  <a:rPr lang="en-US" altLang="zh-CN" sz="2000" baseline="-25000"/>
                  <a:t>1</a:t>
                </a:r>
              </a:p>
            </p:txBody>
          </p:sp>
          <p:sp>
            <p:nvSpPr>
              <p:cNvPr id="24596" name="Text Box 69">
                <a:extLst>
                  <a:ext uri="{FF2B5EF4-FFF2-40B4-BE49-F238E27FC236}">
                    <a16:creationId xmlns:a16="http://schemas.microsoft.com/office/drawing/2014/main" id="{205794A0-66CB-47FA-857C-A2E5EE0237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2822"/>
                <a:ext cx="336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i="1"/>
                  <a:t>v</a:t>
                </a:r>
                <a:r>
                  <a:rPr lang="en-US" altLang="zh-CN" sz="2000" baseline="-25000"/>
                  <a:t>2</a:t>
                </a:r>
              </a:p>
            </p:txBody>
          </p:sp>
          <p:sp>
            <p:nvSpPr>
              <p:cNvPr id="24597" name="Text Box 70">
                <a:extLst>
                  <a:ext uri="{FF2B5EF4-FFF2-40B4-BE49-F238E27FC236}">
                    <a16:creationId xmlns:a16="http://schemas.microsoft.com/office/drawing/2014/main" id="{4FB5CD32-E97D-4B6C-A7A7-8F56D1C2D6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4" y="1488"/>
                <a:ext cx="337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i="1"/>
                  <a:t>v</a:t>
                </a:r>
                <a:r>
                  <a:rPr lang="en-US" altLang="zh-CN" sz="2000" baseline="-25000"/>
                  <a:t>3</a:t>
                </a:r>
              </a:p>
            </p:txBody>
          </p:sp>
          <p:sp>
            <p:nvSpPr>
              <p:cNvPr id="24598" name="Text Box 71">
                <a:extLst>
                  <a:ext uri="{FF2B5EF4-FFF2-40B4-BE49-F238E27FC236}">
                    <a16:creationId xmlns:a16="http://schemas.microsoft.com/office/drawing/2014/main" id="{5A40B20F-438B-46A0-B707-A4C7365EAD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8" y="2832"/>
                <a:ext cx="336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i="1"/>
                  <a:t>v</a:t>
                </a:r>
                <a:r>
                  <a:rPr lang="en-US" altLang="zh-CN" sz="2000" baseline="-25000"/>
                  <a:t>4</a:t>
                </a:r>
              </a:p>
            </p:txBody>
          </p:sp>
          <p:sp>
            <p:nvSpPr>
              <p:cNvPr id="24599" name="Text Box 72">
                <a:extLst>
                  <a:ext uri="{FF2B5EF4-FFF2-40B4-BE49-F238E27FC236}">
                    <a16:creationId xmlns:a16="http://schemas.microsoft.com/office/drawing/2014/main" id="{24F3183A-47BE-4035-8975-01001BF47D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2208"/>
                <a:ext cx="336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i="1"/>
                  <a:t>v</a:t>
                </a:r>
                <a:r>
                  <a:rPr lang="en-US" altLang="zh-CN" sz="2000" baseline="-25000"/>
                  <a:t>6</a:t>
                </a:r>
              </a:p>
            </p:txBody>
          </p:sp>
          <p:sp>
            <p:nvSpPr>
              <p:cNvPr id="24600" name="Text Box 73">
                <a:extLst>
                  <a:ext uri="{FF2B5EF4-FFF2-40B4-BE49-F238E27FC236}">
                    <a16:creationId xmlns:a16="http://schemas.microsoft.com/office/drawing/2014/main" id="{102F6B96-747B-474A-9C34-CF7919EAEF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1440"/>
                <a:ext cx="336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i="1"/>
                  <a:t>v</a:t>
                </a:r>
                <a:r>
                  <a:rPr lang="en-US" altLang="zh-CN" sz="2000" baseline="-25000"/>
                  <a:t>5</a:t>
                </a:r>
              </a:p>
            </p:txBody>
          </p:sp>
        </p:grpSp>
        <p:sp>
          <p:nvSpPr>
            <p:cNvPr id="24583" name="Text Box 77">
              <a:extLst>
                <a:ext uri="{FF2B5EF4-FFF2-40B4-BE49-F238E27FC236}">
                  <a16:creationId xmlns:a16="http://schemas.microsoft.com/office/drawing/2014/main" id="{2D23497D-F07E-4AE4-B4C0-4397A249BA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360"/>
              <a:ext cx="6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chemeClr val="tx2"/>
                  </a:solidFill>
                  <a:latin typeface="Arial" panose="020B0604020202020204" pitchFamily="34" charset="0"/>
                </a:rPr>
                <a:t>（</a:t>
              </a:r>
              <a:r>
                <a:rPr lang="en-US" altLang="zh-CN" sz="1800">
                  <a:solidFill>
                    <a:schemeClr val="tx2"/>
                  </a:solidFill>
                  <a:latin typeface="Arial" panose="020B0604020202020204" pitchFamily="34" charset="0"/>
                </a:rPr>
                <a:t>b</a:t>
              </a:r>
              <a:r>
                <a:rPr lang="zh-CN" altLang="en-US" sz="1800">
                  <a:solidFill>
                    <a:schemeClr val="tx2"/>
                  </a:solidFill>
                  <a:latin typeface="Arial" panose="020B0604020202020204" pitchFamily="34" charset="0"/>
                </a:rPr>
                <a:t>）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28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0B73CAC-E279-4F42-9560-D3E7EFAE7A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最小支撑树</a:t>
            </a:r>
          </a:p>
        </p:txBody>
      </p:sp>
      <p:sp>
        <p:nvSpPr>
          <p:cNvPr id="248835" name="Rectangle 3">
            <a:extLst>
              <a:ext uri="{FF2B5EF4-FFF2-40B4-BE49-F238E27FC236}">
                <a16:creationId xmlns:a16="http://schemas.microsoft.com/office/drawing/2014/main" id="{96EAAC68-AC69-4465-B4AD-3D458B94E3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权和最小的支撑树为</a:t>
            </a:r>
            <a:r>
              <a:rPr lang="zh-CN" altLang="en-US">
                <a:solidFill>
                  <a:srgbClr val="FF3300"/>
                </a:solidFill>
              </a:rPr>
              <a:t>最小支撑树</a:t>
            </a:r>
          </a:p>
          <a:p>
            <a:pPr lvl="1" eaLnBrk="1" hangingPunct="1"/>
            <a:r>
              <a:rPr lang="zh-CN" altLang="en-US"/>
              <a:t>例：某工厂内联结六个车间的道路网如下图。已知道路长，求架设联结所有车间的总长最短的电话线网</a:t>
            </a:r>
          </a:p>
          <a:p>
            <a:pPr lvl="1" eaLnBrk="1" hangingPunct="1"/>
            <a:endParaRPr lang="en-US" altLang="zh-CN">
              <a:solidFill>
                <a:srgbClr val="FF3300"/>
              </a:solidFill>
            </a:endParaRPr>
          </a:p>
        </p:txBody>
      </p:sp>
      <p:grpSp>
        <p:nvGrpSpPr>
          <p:cNvPr id="2" name="Group 34">
            <a:extLst>
              <a:ext uri="{FF2B5EF4-FFF2-40B4-BE49-F238E27FC236}">
                <a16:creationId xmlns:a16="http://schemas.microsoft.com/office/drawing/2014/main" id="{1E0BC88E-8905-447E-9EF6-2AD8ED2D6598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3048000"/>
            <a:ext cx="5867400" cy="3292475"/>
            <a:chOff x="960" y="1920"/>
            <a:chExt cx="3696" cy="2074"/>
          </a:xfrm>
        </p:grpSpPr>
        <p:sp>
          <p:nvSpPr>
            <p:cNvPr id="25605" name="Line 4">
              <a:extLst>
                <a:ext uri="{FF2B5EF4-FFF2-40B4-BE49-F238E27FC236}">
                  <a16:creationId xmlns:a16="http://schemas.microsoft.com/office/drawing/2014/main" id="{4EA78CFC-1B8F-4A97-9A1D-B519FF108A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2304"/>
              <a:ext cx="768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6" name="Line 5">
              <a:extLst>
                <a:ext uri="{FF2B5EF4-FFF2-40B4-BE49-F238E27FC236}">
                  <a16:creationId xmlns:a16="http://schemas.microsoft.com/office/drawing/2014/main" id="{9DCEDA21-1CE0-45D5-9EA3-1D7DAFA686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2256"/>
              <a:ext cx="1200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7" name="Line 6">
              <a:extLst>
                <a:ext uri="{FF2B5EF4-FFF2-40B4-BE49-F238E27FC236}">
                  <a16:creationId xmlns:a16="http://schemas.microsoft.com/office/drawing/2014/main" id="{6DA106BC-4A1E-4AF1-9106-29C27D3545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256"/>
              <a:ext cx="96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8" name="Line 7">
              <a:extLst>
                <a:ext uri="{FF2B5EF4-FFF2-40B4-BE49-F238E27FC236}">
                  <a16:creationId xmlns:a16="http://schemas.microsoft.com/office/drawing/2014/main" id="{F8A9825A-E696-45A7-94D4-8A4A217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168"/>
              <a:ext cx="816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9" name="Line 8">
              <a:extLst>
                <a:ext uri="{FF2B5EF4-FFF2-40B4-BE49-F238E27FC236}">
                  <a16:creationId xmlns:a16="http://schemas.microsoft.com/office/drawing/2014/main" id="{24F8B619-C0A7-41E2-BCFF-7A491DA4F7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304"/>
              <a:ext cx="96" cy="13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0" name="Line 9">
              <a:extLst>
                <a:ext uri="{FF2B5EF4-FFF2-40B4-BE49-F238E27FC236}">
                  <a16:creationId xmlns:a16="http://schemas.microsoft.com/office/drawing/2014/main" id="{B4E3F858-521C-4ECC-9F0F-065F57D74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256"/>
              <a:ext cx="144" cy="1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1" name="Line 10">
              <a:extLst>
                <a:ext uri="{FF2B5EF4-FFF2-40B4-BE49-F238E27FC236}">
                  <a16:creationId xmlns:a16="http://schemas.microsoft.com/office/drawing/2014/main" id="{40FE8A20-E61C-4E77-95C5-A9D0830FF1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3024"/>
              <a:ext cx="816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2" name="Line 11">
              <a:extLst>
                <a:ext uri="{FF2B5EF4-FFF2-40B4-BE49-F238E27FC236}">
                  <a16:creationId xmlns:a16="http://schemas.microsoft.com/office/drawing/2014/main" id="{E18B5EEE-2FC6-4B4F-838E-B4368B447C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2256"/>
              <a:ext cx="1104" cy="1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3" name="Oval 12">
              <a:extLst>
                <a:ext uri="{FF2B5EF4-FFF2-40B4-BE49-F238E27FC236}">
                  <a16:creationId xmlns:a16="http://schemas.microsoft.com/office/drawing/2014/main" id="{69C14405-1558-4791-9AAE-CE8FA17EE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07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25614" name="Oval 13">
              <a:extLst>
                <a:ext uri="{FF2B5EF4-FFF2-40B4-BE49-F238E27FC236}">
                  <a16:creationId xmlns:a16="http://schemas.microsoft.com/office/drawing/2014/main" id="{4FE542C0-EE3C-489F-8FD5-A0371A924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25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25615" name="Oval 14">
              <a:extLst>
                <a:ext uri="{FF2B5EF4-FFF2-40B4-BE49-F238E27FC236}">
                  <a16:creationId xmlns:a16="http://schemas.microsoft.com/office/drawing/2014/main" id="{49F74784-F0DF-44A2-813D-0B40DFDA4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69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25616" name="Oval 15">
              <a:extLst>
                <a:ext uri="{FF2B5EF4-FFF2-40B4-BE49-F238E27FC236}">
                  <a16:creationId xmlns:a16="http://schemas.microsoft.com/office/drawing/2014/main" id="{3B5DFBFF-C21B-42CA-8129-49901223F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20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25617" name="Oval 16">
              <a:extLst>
                <a:ext uri="{FF2B5EF4-FFF2-40B4-BE49-F238E27FC236}">
                  <a16:creationId xmlns:a16="http://schemas.microsoft.com/office/drawing/2014/main" id="{DBBD4EFC-1A39-4C51-B875-F0FAABDF5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69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25618" name="Oval 17">
              <a:extLst>
                <a:ext uri="{FF2B5EF4-FFF2-40B4-BE49-F238E27FC236}">
                  <a16:creationId xmlns:a16="http://schemas.microsoft.com/office/drawing/2014/main" id="{1F3F4B7A-16F6-488A-8EB0-8145DDA4B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97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25619" name="Line 18">
              <a:extLst>
                <a:ext uri="{FF2B5EF4-FFF2-40B4-BE49-F238E27FC236}">
                  <a16:creationId xmlns:a16="http://schemas.microsoft.com/office/drawing/2014/main" id="{5C162E65-B06F-4137-B161-DD2B7938DD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3744"/>
              <a:ext cx="1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0" name="Text Box 19">
              <a:extLst>
                <a:ext uri="{FF2B5EF4-FFF2-40B4-BE49-F238E27FC236}">
                  <a16:creationId xmlns:a16="http://schemas.microsoft.com/office/drawing/2014/main" id="{357BC642-86AF-42A5-BF59-4331DA0EFF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976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1</a:t>
              </a:r>
            </a:p>
          </p:txBody>
        </p:sp>
        <p:sp>
          <p:nvSpPr>
            <p:cNvPr id="25621" name="Text Box 20">
              <a:extLst>
                <a:ext uri="{FF2B5EF4-FFF2-40B4-BE49-F238E27FC236}">
                  <a16:creationId xmlns:a16="http://schemas.microsoft.com/office/drawing/2014/main" id="{F3D73A47-B09F-4DB6-87EE-816DFAAB1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744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2</a:t>
              </a:r>
            </a:p>
          </p:txBody>
        </p:sp>
        <p:sp>
          <p:nvSpPr>
            <p:cNvPr id="25622" name="Text Box 21">
              <a:extLst>
                <a:ext uri="{FF2B5EF4-FFF2-40B4-BE49-F238E27FC236}">
                  <a16:creationId xmlns:a16="http://schemas.microsoft.com/office/drawing/2014/main" id="{161D6F5F-FE57-483E-82B1-571D74A6E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968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3</a:t>
              </a:r>
            </a:p>
          </p:txBody>
        </p:sp>
        <p:sp>
          <p:nvSpPr>
            <p:cNvPr id="25623" name="Text Box 22">
              <a:extLst>
                <a:ext uri="{FF2B5EF4-FFF2-40B4-BE49-F238E27FC236}">
                  <a16:creationId xmlns:a16="http://schemas.microsoft.com/office/drawing/2014/main" id="{C87A3C62-266B-49BE-8402-C242FAEF3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3696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4</a:t>
              </a:r>
            </a:p>
          </p:txBody>
        </p:sp>
        <p:sp>
          <p:nvSpPr>
            <p:cNvPr id="25624" name="Text Box 23">
              <a:extLst>
                <a:ext uri="{FF2B5EF4-FFF2-40B4-BE49-F238E27FC236}">
                  <a16:creationId xmlns:a16="http://schemas.microsoft.com/office/drawing/2014/main" id="{6AE8C9FA-2237-45CD-87B2-0D7981E30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920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5</a:t>
              </a:r>
            </a:p>
          </p:txBody>
        </p:sp>
        <p:sp>
          <p:nvSpPr>
            <p:cNvPr id="25625" name="Text Box 24">
              <a:extLst>
                <a:ext uri="{FF2B5EF4-FFF2-40B4-BE49-F238E27FC236}">
                  <a16:creationId xmlns:a16="http://schemas.microsoft.com/office/drawing/2014/main" id="{810B34F9-AF0E-49D0-AEC6-5C5A3379E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880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6</a:t>
              </a:r>
            </a:p>
          </p:txBody>
        </p:sp>
        <p:sp>
          <p:nvSpPr>
            <p:cNvPr id="25626" name="Text Box 25">
              <a:extLst>
                <a:ext uri="{FF2B5EF4-FFF2-40B4-BE49-F238E27FC236}">
                  <a16:creationId xmlns:a16="http://schemas.microsoft.com/office/drawing/2014/main" id="{75F7AB15-44C1-47A9-9562-C730DC95E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496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99"/>
                  </a:solidFill>
                </a:rPr>
                <a:t>6</a:t>
              </a:r>
            </a:p>
          </p:txBody>
        </p:sp>
        <p:sp>
          <p:nvSpPr>
            <p:cNvPr id="25627" name="Text Box 26">
              <a:extLst>
                <a:ext uri="{FF2B5EF4-FFF2-40B4-BE49-F238E27FC236}">
                  <a16:creationId xmlns:a16="http://schemas.microsoft.com/office/drawing/2014/main" id="{03ACA709-C8EC-4B39-BC60-96638FA0D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016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99"/>
                  </a:solidFill>
                </a:rPr>
                <a:t>5</a:t>
              </a:r>
            </a:p>
          </p:txBody>
        </p:sp>
        <p:sp>
          <p:nvSpPr>
            <p:cNvPr id="25628" name="Text Box 27">
              <a:extLst>
                <a:ext uri="{FF2B5EF4-FFF2-40B4-BE49-F238E27FC236}">
                  <a16:creationId xmlns:a16="http://schemas.microsoft.com/office/drawing/2014/main" id="{AB8B88A2-A69B-4E22-B79B-DE86C72C6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36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99"/>
                  </a:solidFill>
                </a:rPr>
                <a:t>5</a:t>
              </a:r>
            </a:p>
          </p:txBody>
        </p:sp>
        <p:sp>
          <p:nvSpPr>
            <p:cNvPr id="25629" name="Text Box 28">
              <a:extLst>
                <a:ext uri="{FF2B5EF4-FFF2-40B4-BE49-F238E27FC236}">
                  <a16:creationId xmlns:a16="http://schemas.microsoft.com/office/drawing/2014/main" id="{09CAC492-78D9-4135-8C10-D1ABE87877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84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99"/>
                  </a:solidFill>
                </a:rPr>
                <a:t>1</a:t>
              </a:r>
            </a:p>
          </p:txBody>
        </p:sp>
        <p:sp>
          <p:nvSpPr>
            <p:cNvPr id="25630" name="Text Box 29">
              <a:extLst>
                <a:ext uri="{FF2B5EF4-FFF2-40B4-BE49-F238E27FC236}">
                  <a16:creationId xmlns:a16="http://schemas.microsoft.com/office/drawing/2014/main" id="{997EF449-51EF-4BCA-81AD-6CBDBA480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784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99"/>
                  </a:solidFill>
                </a:rPr>
                <a:t>7</a:t>
              </a:r>
            </a:p>
          </p:txBody>
        </p:sp>
        <p:sp>
          <p:nvSpPr>
            <p:cNvPr id="25631" name="Text Box 30">
              <a:extLst>
                <a:ext uri="{FF2B5EF4-FFF2-40B4-BE49-F238E27FC236}">
                  <a16:creationId xmlns:a16="http://schemas.microsoft.com/office/drawing/2014/main" id="{7C84C62A-C3D8-4C20-B10E-594C8862DF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504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99"/>
                  </a:solidFill>
                </a:rPr>
                <a:t>2</a:t>
              </a:r>
            </a:p>
          </p:txBody>
        </p:sp>
        <p:sp>
          <p:nvSpPr>
            <p:cNvPr id="25632" name="Text Box 31">
              <a:extLst>
                <a:ext uri="{FF2B5EF4-FFF2-40B4-BE49-F238E27FC236}">
                  <a16:creationId xmlns:a16="http://schemas.microsoft.com/office/drawing/2014/main" id="{DA1B632B-05DE-4A96-8AAB-4698EF091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928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99"/>
                  </a:solidFill>
                </a:rPr>
                <a:t>3</a:t>
              </a:r>
            </a:p>
          </p:txBody>
        </p:sp>
        <p:sp>
          <p:nvSpPr>
            <p:cNvPr id="25633" name="Text Box 32">
              <a:extLst>
                <a:ext uri="{FF2B5EF4-FFF2-40B4-BE49-F238E27FC236}">
                  <a16:creationId xmlns:a16="http://schemas.microsoft.com/office/drawing/2014/main" id="{D113C2FA-51C2-4AB9-81B5-317EDE4CD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40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99"/>
                  </a:solidFill>
                </a:rPr>
                <a:t>4</a:t>
              </a:r>
            </a:p>
          </p:txBody>
        </p:sp>
        <p:sp>
          <p:nvSpPr>
            <p:cNvPr id="25634" name="Text Box 33">
              <a:extLst>
                <a:ext uri="{FF2B5EF4-FFF2-40B4-BE49-F238E27FC236}">
                  <a16:creationId xmlns:a16="http://schemas.microsoft.com/office/drawing/2014/main" id="{5ADB376E-CA29-4DB4-A03F-7FF5B0374F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312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99"/>
                  </a:solidFill>
                </a:rPr>
                <a:t>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21CF0AE-30AF-43E2-81DA-962504BAE3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避圈法</a:t>
            </a:r>
          </a:p>
        </p:txBody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4265E1AE-11D7-4CEE-8981-8D2F0401A5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/>
            <a:r>
              <a:rPr lang="zh-CN" altLang="en-US"/>
              <a:t>把边按权从小到大依次添入图中（不能构成圈）</a:t>
            </a:r>
          </a:p>
        </p:txBody>
      </p:sp>
      <p:sp>
        <p:nvSpPr>
          <p:cNvPr id="249860" name="Line 4">
            <a:extLst>
              <a:ext uri="{FF2B5EF4-FFF2-40B4-BE49-F238E27FC236}">
                <a16:creationId xmlns:a16="http://schemas.microsoft.com/office/drawing/2014/main" id="{3F871CD4-9017-42E4-B59A-EF94C54C41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200400"/>
            <a:ext cx="12192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861" name="Line 5">
            <a:extLst>
              <a:ext uri="{FF2B5EF4-FFF2-40B4-BE49-F238E27FC236}">
                <a16:creationId xmlns:a16="http://schemas.microsoft.com/office/drawing/2014/main" id="{4730D8E0-429E-4CE7-ADEB-1CB6123DF9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3124200"/>
            <a:ext cx="1905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862" name="Line 6">
            <a:extLst>
              <a:ext uri="{FF2B5EF4-FFF2-40B4-BE49-F238E27FC236}">
                <a16:creationId xmlns:a16="http://schemas.microsoft.com/office/drawing/2014/main" id="{6385AE9B-6D4B-458A-A5B0-DA76AB9AC5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124200"/>
            <a:ext cx="15240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1" name="Line 7">
            <a:extLst>
              <a:ext uri="{FF2B5EF4-FFF2-40B4-BE49-F238E27FC236}">
                <a16:creationId xmlns:a16="http://schemas.microsoft.com/office/drawing/2014/main" id="{0646B85C-EBFB-4A6F-AAB0-9A045C1E9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45720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2" name="Line 8">
            <a:extLst>
              <a:ext uri="{FF2B5EF4-FFF2-40B4-BE49-F238E27FC236}">
                <a16:creationId xmlns:a16="http://schemas.microsoft.com/office/drawing/2014/main" id="{11C71984-A283-4D2D-94A4-C778A58969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200400"/>
            <a:ext cx="1524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3" name="Line 9">
            <a:extLst>
              <a:ext uri="{FF2B5EF4-FFF2-40B4-BE49-F238E27FC236}">
                <a16:creationId xmlns:a16="http://schemas.microsoft.com/office/drawing/2014/main" id="{642852E3-BD27-4C13-9637-3C9419623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124200"/>
            <a:ext cx="22860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4" name="Line 10">
            <a:extLst>
              <a:ext uri="{FF2B5EF4-FFF2-40B4-BE49-F238E27FC236}">
                <a16:creationId xmlns:a16="http://schemas.microsoft.com/office/drawing/2014/main" id="{91392C60-1161-4352-A77E-3FE66765A0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4343400"/>
            <a:ext cx="12954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867" name="Line 11">
            <a:extLst>
              <a:ext uri="{FF2B5EF4-FFF2-40B4-BE49-F238E27FC236}">
                <a16:creationId xmlns:a16="http://schemas.microsoft.com/office/drawing/2014/main" id="{C9A56607-B479-4932-A289-27B920019F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3124200"/>
            <a:ext cx="175260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6" name="Oval 12">
            <a:extLst>
              <a:ext uri="{FF2B5EF4-FFF2-40B4-BE49-F238E27FC236}">
                <a16:creationId xmlns:a16="http://schemas.microsoft.com/office/drawing/2014/main" id="{69E0D92C-5510-4A63-987D-7B6C02C73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419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26637" name="Oval 13">
            <a:extLst>
              <a:ext uri="{FF2B5EF4-FFF2-40B4-BE49-F238E27FC236}">
                <a16:creationId xmlns:a16="http://schemas.microsoft.com/office/drawing/2014/main" id="{7684A4F3-C6BC-4940-B477-E3A13E123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124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26638" name="Oval 14">
            <a:extLst>
              <a:ext uri="{FF2B5EF4-FFF2-40B4-BE49-F238E27FC236}">
                <a16:creationId xmlns:a16="http://schemas.microsoft.com/office/drawing/2014/main" id="{7AB4106C-A0B5-4EA5-939C-0208683F1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410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26639" name="Oval 15">
            <a:extLst>
              <a:ext uri="{FF2B5EF4-FFF2-40B4-BE49-F238E27FC236}">
                <a16:creationId xmlns:a16="http://schemas.microsoft.com/office/drawing/2014/main" id="{ACAD87FA-6206-4C24-8A7B-1A4ACC3F6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048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26640" name="Oval 16">
            <a:extLst>
              <a:ext uri="{FF2B5EF4-FFF2-40B4-BE49-F238E27FC236}">
                <a16:creationId xmlns:a16="http://schemas.microsoft.com/office/drawing/2014/main" id="{C8C81DC5-6C1A-4EFE-B7B4-4DF244067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410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26641" name="Oval 17">
            <a:extLst>
              <a:ext uri="{FF2B5EF4-FFF2-40B4-BE49-F238E27FC236}">
                <a16:creationId xmlns:a16="http://schemas.microsoft.com/office/drawing/2014/main" id="{1CE33B66-4388-4E67-A91C-ACD315D97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26642" name="Line 18">
            <a:extLst>
              <a:ext uri="{FF2B5EF4-FFF2-40B4-BE49-F238E27FC236}">
                <a16:creationId xmlns:a16="http://schemas.microsoft.com/office/drawing/2014/main" id="{861365C2-25DD-4848-92D9-4DF8451D61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54864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3" name="Text Box 19">
            <a:extLst>
              <a:ext uri="{FF2B5EF4-FFF2-40B4-BE49-F238E27FC236}">
                <a16:creationId xmlns:a16="http://schemas.microsoft.com/office/drawing/2014/main" id="{2240C4B2-4824-4DBB-8A50-EC7E85A08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2672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i="1"/>
              <a:t>v</a:t>
            </a:r>
            <a:r>
              <a:rPr lang="en-US" altLang="zh-CN" sz="2000" baseline="-25000"/>
              <a:t>1</a:t>
            </a:r>
          </a:p>
        </p:txBody>
      </p:sp>
      <p:sp>
        <p:nvSpPr>
          <p:cNvPr id="26644" name="Text Box 20">
            <a:extLst>
              <a:ext uri="{FF2B5EF4-FFF2-40B4-BE49-F238E27FC236}">
                <a16:creationId xmlns:a16="http://schemas.microsoft.com/office/drawing/2014/main" id="{C24C8310-C93D-4670-92B0-33FB50DD1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486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i="1" dirty="0"/>
              <a:t>v</a:t>
            </a:r>
            <a:r>
              <a:rPr lang="en-US" altLang="zh-CN" sz="2000" baseline="-25000" dirty="0"/>
              <a:t>2</a:t>
            </a:r>
          </a:p>
        </p:txBody>
      </p:sp>
      <p:sp>
        <p:nvSpPr>
          <p:cNvPr id="26645" name="Text Box 21">
            <a:extLst>
              <a:ext uri="{FF2B5EF4-FFF2-40B4-BE49-F238E27FC236}">
                <a16:creationId xmlns:a16="http://schemas.microsoft.com/office/drawing/2014/main" id="{739A3D5F-1C4E-47A6-84C8-11812D513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6670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i="1"/>
              <a:t>v</a:t>
            </a:r>
            <a:r>
              <a:rPr lang="en-US" altLang="zh-CN" sz="2000" baseline="-25000"/>
              <a:t>3</a:t>
            </a:r>
          </a:p>
        </p:txBody>
      </p:sp>
      <p:sp>
        <p:nvSpPr>
          <p:cNvPr id="26646" name="Text Box 22">
            <a:extLst>
              <a:ext uri="{FF2B5EF4-FFF2-40B4-BE49-F238E27FC236}">
                <a16:creationId xmlns:a16="http://schemas.microsoft.com/office/drawing/2014/main" id="{99AA0661-E834-4C61-87D4-A53AC6634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4102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i="1"/>
              <a:t>v</a:t>
            </a:r>
            <a:r>
              <a:rPr lang="en-US" altLang="zh-CN" sz="2000" baseline="-25000"/>
              <a:t>4</a:t>
            </a:r>
          </a:p>
        </p:txBody>
      </p:sp>
      <p:sp>
        <p:nvSpPr>
          <p:cNvPr id="26647" name="Text Box 23">
            <a:extLst>
              <a:ext uri="{FF2B5EF4-FFF2-40B4-BE49-F238E27FC236}">
                <a16:creationId xmlns:a16="http://schemas.microsoft.com/office/drawing/2014/main" id="{C7136031-3A9B-45EA-875B-FEADBDBDA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5908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i="1"/>
              <a:t>v</a:t>
            </a:r>
            <a:r>
              <a:rPr lang="en-US" altLang="zh-CN" sz="2000" baseline="-25000"/>
              <a:t>5</a:t>
            </a:r>
          </a:p>
        </p:txBody>
      </p:sp>
      <p:sp>
        <p:nvSpPr>
          <p:cNvPr id="26648" name="Text Box 24">
            <a:extLst>
              <a:ext uri="{FF2B5EF4-FFF2-40B4-BE49-F238E27FC236}">
                <a16:creationId xmlns:a16="http://schemas.microsoft.com/office/drawing/2014/main" id="{C32A2F71-25DE-4269-B166-7ABF898A3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1148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i="1"/>
              <a:t>v</a:t>
            </a:r>
            <a:r>
              <a:rPr lang="en-US" altLang="zh-CN" sz="2000" baseline="-25000"/>
              <a:t>6</a:t>
            </a:r>
          </a:p>
        </p:txBody>
      </p:sp>
      <p:sp>
        <p:nvSpPr>
          <p:cNvPr id="249881" name="Text Box 25">
            <a:extLst>
              <a:ext uri="{FF2B5EF4-FFF2-40B4-BE49-F238E27FC236}">
                <a16:creationId xmlns:a16="http://schemas.microsoft.com/office/drawing/2014/main" id="{3CD09BE7-5E6D-403E-A013-BDC002E88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505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6</a:t>
            </a:r>
          </a:p>
        </p:txBody>
      </p:sp>
      <p:sp>
        <p:nvSpPr>
          <p:cNvPr id="249882" name="Text Box 26">
            <a:extLst>
              <a:ext uri="{FF2B5EF4-FFF2-40B4-BE49-F238E27FC236}">
                <a16:creationId xmlns:a16="http://schemas.microsoft.com/office/drawing/2014/main" id="{4EDE9D11-6634-45B0-80E1-1CA28128B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743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5</a:t>
            </a:r>
          </a:p>
        </p:txBody>
      </p:sp>
      <p:sp>
        <p:nvSpPr>
          <p:cNvPr id="26651" name="Text Box 27">
            <a:extLst>
              <a:ext uri="{FF2B5EF4-FFF2-40B4-BE49-F238E27FC236}">
                <a16:creationId xmlns:a16="http://schemas.microsoft.com/office/drawing/2014/main" id="{C939A583-CA54-4313-B450-757D6E9CC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876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5</a:t>
            </a:r>
          </a:p>
        </p:txBody>
      </p:sp>
      <p:sp>
        <p:nvSpPr>
          <p:cNvPr id="26652" name="Text Box 28">
            <a:extLst>
              <a:ext uri="{FF2B5EF4-FFF2-40B4-BE49-F238E27FC236}">
                <a16:creationId xmlns:a16="http://schemas.microsoft.com/office/drawing/2014/main" id="{70E7CD49-8724-4ED8-91A9-CA3FB4CA7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962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1</a:t>
            </a:r>
          </a:p>
        </p:txBody>
      </p:sp>
      <p:sp>
        <p:nvSpPr>
          <p:cNvPr id="249885" name="Text Box 29">
            <a:extLst>
              <a:ext uri="{FF2B5EF4-FFF2-40B4-BE49-F238E27FC236}">
                <a16:creationId xmlns:a16="http://schemas.microsoft.com/office/drawing/2014/main" id="{6EDB445E-FAA9-4CDA-AAAA-007FE6D76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962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0099"/>
                </a:solidFill>
              </a:rPr>
              <a:t>4</a:t>
            </a:r>
          </a:p>
        </p:txBody>
      </p:sp>
      <p:sp>
        <p:nvSpPr>
          <p:cNvPr id="26654" name="Text Box 30">
            <a:extLst>
              <a:ext uri="{FF2B5EF4-FFF2-40B4-BE49-F238E27FC236}">
                <a16:creationId xmlns:a16="http://schemas.microsoft.com/office/drawing/2014/main" id="{73F41E9E-858C-4311-A3B0-6356F61E3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10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2</a:t>
            </a:r>
          </a:p>
        </p:txBody>
      </p:sp>
      <p:sp>
        <p:nvSpPr>
          <p:cNvPr id="26655" name="Text Box 31">
            <a:extLst>
              <a:ext uri="{FF2B5EF4-FFF2-40B4-BE49-F238E27FC236}">
                <a16:creationId xmlns:a16="http://schemas.microsoft.com/office/drawing/2014/main" id="{29C5E415-3FEF-4A1E-A1BA-5F0BBF286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1910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3</a:t>
            </a:r>
          </a:p>
        </p:txBody>
      </p:sp>
      <p:sp>
        <p:nvSpPr>
          <p:cNvPr id="249888" name="Text Box 32">
            <a:extLst>
              <a:ext uri="{FF2B5EF4-FFF2-40B4-BE49-F238E27FC236}">
                <a16:creationId xmlns:a16="http://schemas.microsoft.com/office/drawing/2014/main" id="{B088808D-1CA5-4B04-87F0-C01CF248A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352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4</a:t>
            </a:r>
          </a:p>
        </p:txBody>
      </p:sp>
      <p:sp>
        <p:nvSpPr>
          <p:cNvPr id="26657" name="Text Box 33">
            <a:extLst>
              <a:ext uri="{FF2B5EF4-FFF2-40B4-BE49-F238E27FC236}">
                <a16:creationId xmlns:a16="http://schemas.microsoft.com/office/drawing/2014/main" id="{084D4E84-AD12-4962-A371-29BA3698A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800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0099"/>
                </a:solidFill>
              </a:rPr>
              <a:t>7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AD35EB6-1D41-4F2D-8F8B-D5515FB520D3}"/>
              </a:ext>
            </a:extLst>
          </p:cNvPr>
          <p:cNvCxnSpPr>
            <a:cxnSpLocks/>
          </p:cNvCxnSpPr>
          <p:nvPr/>
        </p:nvCxnSpPr>
        <p:spPr bwMode="auto">
          <a:xfrm>
            <a:off x="3208374" y="3313519"/>
            <a:ext cx="152400" cy="2091512"/>
          </a:xfrm>
          <a:prstGeom prst="line">
            <a:avLst/>
          </a:prstGeom>
          <a:noFill/>
          <a:ln w="76200" cap="flat" cmpd="sng" algn="ctr">
            <a:solidFill>
              <a:srgbClr val="6C04A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8AB50A4F-E2DC-49B3-AADE-5741EFEE81DE}"/>
              </a:ext>
            </a:extLst>
          </p:cNvPr>
          <p:cNvCxnSpPr>
            <a:cxnSpLocks/>
            <a:stCxn id="26642" idx="1"/>
            <a:endCxn id="26644" idx="0"/>
          </p:cNvCxnSpPr>
          <p:nvPr/>
        </p:nvCxnSpPr>
        <p:spPr bwMode="auto">
          <a:xfrm flipH="1" flipV="1">
            <a:off x="3390900" y="5486400"/>
            <a:ext cx="1943100" cy="1"/>
          </a:xfrm>
          <a:prstGeom prst="line">
            <a:avLst/>
          </a:prstGeom>
          <a:noFill/>
          <a:ln w="76200" cap="flat" cmpd="sng" algn="ctr">
            <a:solidFill>
              <a:srgbClr val="6C04A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AA6CB60-C518-4131-801A-49E2B3C5697E}"/>
              </a:ext>
            </a:extLst>
          </p:cNvPr>
          <p:cNvCxnSpPr>
            <a:cxnSpLocks/>
            <a:stCxn id="26633" idx="1"/>
            <a:endCxn id="26639" idx="4"/>
          </p:cNvCxnSpPr>
          <p:nvPr/>
        </p:nvCxnSpPr>
        <p:spPr bwMode="auto">
          <a:xfrm flipH="1" flipV="1">
            <a:off x="5181600" y="3200400"/>
            <a:ext cx="228600" cy="2286000"/>
          </a:xfrm>
          <a:prstGeom prst="line">
            <a:avLst/>
          </a:prstGeom>
          <a:noFill/>
          <a:ln w="76200" cap="flat" cmpd="sng" algn="ctr">
            <a:solidFill>
              <a:srgbClr val="6C04A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836F2302-B96E-4C89-B4EA-16E61BE4B867}"/>
              </a:ext>
            </a:extLst>
          </p:cNvPr>
          <p:cNvCxnSpPr>
            <a:cxnSpLocks/>
            <a:stCxn id="26641" idx="1"/>
            <a:endCxn id="249862" idx="0"/>
          </p:cNvCxnSpPr>
          <p:nvPr/>
        </p:nvCxnSpPr>
        <p:spPr bwMode="auto">
          <a:xfrm flipH="1" flipV="1">
            <a:off x="5257800" y="3124200"/>
            <a:ext cx="1470118" cy="1165318"/>
          </a:xfrm>
          <a:prstGeom prst="line">
            <a:avLst/>
          </a:prstGeom>
          <a:noFill/>
          <a:ln w="76200" cap="flat" cmpd="sng" algn="ctr">
            <a:solidFill>
              <a:srgbClr val="6C04A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264376FD-1444-4EE1-A8DB-082AFB652AA0}"/>
              </a:ext>
            </a:extLst>
          </p:cNvPr>
          <p:cNvCxnSpPr>
            <a:cxnSpLocks/>
            <a:stCxn id="26638" idx="1"/>
          </p:cNvCxnSpPr>
          <p:nvPr/>
        </p:nvCxnSpPr>
        <p:spPr bwMode="auto">
          <a:xfrm flipH="1" flipV="1">
            <a:off x="1975718" y="4538616"/>
            <a:ext cx="1323200" cy="893902"/>
          </a:xfrm>
          <a:prstGeom prst="line">
            <a:avLst/>
          </a:prstGeom>
          <a:noFill/>
          <a:ln w="76200" cap="flat" cmpd="sng" algn="ctr">
            <a:solidFill>
              <a:srgbClr val="6C04A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5DBAD0B-E791-4EF3-89F2-4D4B89EFE0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破圈法</a:t>
            </a:r>
          </a:p>
        </p:txBody>
      </p:sp>
      <p:sp>
        <p:nvSpPr>
          <p:cNvPr id="250883" name="Rectangle 3">
            <a:extLst>
              <a:ext uri="{FF2B5EF4-FFF2-40B4-BE49-F238E27FC236}">
                <a16:creationId xmlns:a16="http://schemas.microsoft.com/office/drawing/2014/main" id="{260629BB-93BE-4F52-ABE4-1F78C402E3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在图中找圈，并删除其中最大边。重复直至图中不存在圈</a:t>
            </a:r>
          </a:p>
        </p:txBody>
      </p:sp>
      <p:sp>
        <p:nvSpPr>
          <p:cNvPr id="34" name="Line 4">
            <a:extLst>
              <a:ext uri="{FF2B5EF4-FFF2-40B4-BE49-F238E27FC236}">
                <a16:creationId xmlns:a16="http://schemas.microsoft.com/office/drawing/2014/main" id="{6144B0B9-60CD-4D79-A007-87FAC7593A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200400"/>
            <a:ext cx="12192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5">
            <a:extLst>
              <a:ext uri="{FF2B5EF4-FFF2-40B4-BE49-F238E27FC236}">
                <a16:creationId xmlns:a16="http://schemas.microsoft.com/office/drawing/2014/main" id="{BA678481-4397-42A9-8B2E-8CB2340E1D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3124200"/>
            <a:ext cx="1905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6">
            <a:extLst>
              <a:ext uri="{FF2B5EF4-FFF2-40B4-BE49-F238E27FC236}">
                <a16:creationId xmlns:a16="http://schemas.microsoft.com/office/drawing/2014/main" id="{C3391DB7-6C74-43C1-8EB0-3F7C60EC1A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124200"/>
            <a:ext cx="15240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Line 7">
            <a:extLst>
              <a:ext uri="{FF2B5EF4-FFF2-40B4-BE49-F238E27FC236}">
                <a16:creationId xmlns:a16="http://schemas.microsoft.com/office/drawing/2014/main" id="{F5FDDF2F-B6C8-4362-B473-D17113208B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511676"/>
            <a:ext cx="1295400" cy="958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8">
            <a:extLst>
              <a:ext uri="{FF2B5EF4-FFF2-40B4-BE49-F238E27FC236}">
                <a16:creationId xmlns:a16="http://schemas.microsoft.com/office/drawing/2014/main" id="{B041A62A-45DD-4428-9BAF-07F858B3FE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200400"/>
            <a:ext cx="1524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9">
            <a:extLst>
              <a:ext uri="{FF2B5EF4-FFF2-40B4-BE49-F238E27FC236}">
                <a16:creationId xmlns:a16="http://schemas.microsoft.com/office/drawing/2014/main" id="{C0BFBA18-D4F3-4781-A3EE-1094C037E60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124200"/>
            <a:ext cx="22860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10">
            <a:extLst>
              <a:ext uri="{FF2B5EF4-FFF2-40B4-BE49-F238E27FC236}">
                <a16:creationId xmlns:a16="http://schemas.microsoft.com/office/drawing/2014/main" id="{DD839F64-5CA4-4B5D-A432-699B64D7A8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4343400"/>
            <a:ext cx="12954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11">
            <a:extLst>
              <a:ext uri="{FF2B5EF4-FFF2-40B4-BE49-F238E27FC236}">
                <a16:creationId xmlns:a16="http://schemas.microsoft.com/office/drawing/2014/main" id="{15B792ED-5CC4-4551-AF6D-7B77E2ED86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3124200"/>
            <a:ext cx="175260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Oval 12">
            <a:extLst>
              <a:ext uri="{FF2B5EF4-FFF2-40B4-BE49-F238E27FC236}">
                <a16:creationId xmlns:a16="http://schemas.microsoft.com/office/drawing/2014/main" id="{C29B3909-CCBD-4A65-81CB-9F3CA3CEB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419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43" name="Oval 13">
            <a:extLst>
              <a:ext uri="{FF2B5EF4-FFF2-40B4-BE49-F238E27FC236}">
                <a16:creationId xmlns:a16="http://schemas.microsoft.com/office/drawing/2014/main" id="{6B1B474D-EE73-46F9-968C-C05A981B9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124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44" name="Oval 14">
            <a:extLst>
              <a:ext uri="{FF2B5EF4-FFF2-40B4-BE49-F238E27FC236}">
                <a16:creationId xmlns:a16="http://schemas.microsoft.com/office/drawing/2014/main" id="{F174105E-5EA0-4C10-866E-EA3B6C78B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410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45" name="Oval 15">
            <a:extLst>
              <a:ext uri="{FF2B5EF4-FFF2-40B4-BE49-F238E27FC236}">
                <a16:creationId xmlns:a16="http://schemas.microsoft.com/office/drawing/2014/main" id="{44D44B70-FFB6-47F1-B9CC-E29120D01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048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46" name="Oval 16">
            <a:extLst>
              <a:ext uri="{FF2B5EF4-FFF2-40B4-BE49-F238E27FC236}">
                <a16:creationId xmlns:a16="http://schemas.microsoft.com/office/drawing/2014/main" id="{EEB72F9A-7043-4260-A81B-16149A4E2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410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47" name="Oval 17">
            <a:extLst>
              <a:ext uri="{FF2B5EF4-FFF2-40B4-BE49-F238E27FC236}">
                <a16:creationId xmlns:a16="http://schemas.microsoft.com/office/drawing/2014/main" id="{D003C1A9-95A4-46C1-8FE2-46FC2A234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48" name="Line 18">
            <a:extLst>
              <a:ext uri="{FF2B5EF4-FFF2-40B4-BE49-F238E27FC236}">
                <a16:creationId xmlns:a16="http://schemas.microsoft.com/office/drawing/2014/main" id="{91C3EB04-C6F1-439E-9BEA-532AC39EEA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54864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Text Box 19">
            <a:extLst>
              <a:ext uri="{FF2B5EF4-FFF2-40B4-BE49-F238E27FC236}">
                <a16:creationId xmlns:a16="http://schemas.microsoft.com/office/drawing/2014/main" id="{EDA14974-554D-487F-A8DE-CBE4DEB51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2672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i="1"/>
              <a:t>v</a:t>
            </a:r>
            <a:r>
              <a:rPr lang="en-US" altLang="zh-CN" sz="2000" baseline="-25000"/>
              <a:t>1</a:t>
            </a:r>
          </a:p>
        </p:txBody>
      </p:sp>
      <p:sp>
        <p:nvSpPr>
          <p:cNvPr id="50" name="Text Box 20">
            <a:extLst>
              <a:ext uri="{FF2B5EF4-FFF2-40B4-BE49-F238E27FC236}">
                <a16:creationId xmlns:a16="http://schemas.microsoft.com/office/drawing/2014/main" id="{1E9693B0-1A70-48FD-A766-BD3DE209F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486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i="1" dirty="0"/>
              <a:t>v</a:t>
            </a:r>
            <a:r>
              <a:rPr lang="en-US" altLang="zh-CN" sz="2000" baseline="-25000" dirty="0"/>
              <a:t>2</a:t>
            </a:r>
          </a:p>
        </p:txBody>
      </p:sp>
      <p:sp>
        <p:nvSpPr>
          <p:cNvPr id="51" name="Text Box 21">
            <a:extLst>
              <a:ext uri="{FF2B5EF4-FFF2-40B4-BE49-F238E27FC236}">
                <a16:creationId xmlns:a16="http://schemas.microsoft.com/office/drawing/2014/main" id="{11D7AF79-CAB0-4B03-AA7F-DD546ECC8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6670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i="1"/>
              <a:t>v</a:t>
            </a:r>
            <a:r>
              <a:rPr lang="en-US" altLang="zh-CN" sz="2000" baseline="-25000"/>
              <a:t>3</a:t>
            </a:r>
          </a:p>
        </p:txBody>
      </p:sp>
      <p:sp>
        <p:nvSpPr>
          <p:cNvPr id="52" name="Text Box 22">
            <a:extLst>
              <a:ext uri="{FF2B5EF4-FFF2-40B4-BE49-F238E27FC236}">
                <a16:creationId xmlns:a16="http://schemas.microsoft.com/office/drawing/2014/main" id="{4F159FF6-AD1E-40E4-A679-6715991C0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4102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i="1"/>
              <a:t>v</a:t>
            </a:r>
            <a:r>
              <a:rPr lang="en-US" altLang="zh-CN" sz="2000" baseline="-25000"/>
              <a:t>4</a:t>
            </a:r>
          </a:p>
        </p:txBody>
      </p:sp>
      <p:sp>
        <p:nvSpPr>
          <p:cNvPr id="53" name="Text Box 23">
            <a:extLst>
              <a:ext uri="{FF2B5EF4-FFF2-40B4-BE49-F238E27FC236}">
                <a16:creationId xmlns:a16="http://schemas.microsoft.com/office/drawing/2014/main" id="{D95D9500-9C21-43FA-9BA0-2BD282869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5908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i="1"/>
              <a:t>v</a:t>
            </a:r>
            <a:r>
              <a:rPr lang="en-US" altLang="zh-CN" sz="2000" baseline="-25000"/>
              <a:t>5</a:t>
            </a:r>
          </a:p>
        </p:txBody>
      </p:sp>
      <p:sp>
        <p:nvSpPr>
          <p:cNvPr id="54" name="Text Box 24">
            <a:extLst>
              <a:ext uri="{FF2B5EF4-FFF2-40B4-BE49-F238E27FC236}">
                <a16:creationId xmlns:a16="http://schemas.microsoft.com/office/drawing/2014/main" id="{C114C08A-CF6A-4F6B-89F0-E74816198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1148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i="1"/>
              <a:t>v</a:t>
            </a:r>
            <a:r>
              <a:rPr lang="en-US" altLang="zh-CN" sz="2000" baseline="-25000"/>
              <a:t>6</a:t>
            </a:r>
          </a:p>
        </p:txBody>
      </p:sp>
      <p:sp>
        <p:nvSpPr>
          <p:cNvPr id="55" name="Text Box 25">
            <a:extLst>
              <a:ext uri="{FF2B5EF4-FFF2-40B4-BE49-F238E27FC236}">
                <a16:creationId xmlns:a16="http://schemas.microsoft.com/office/drawing/2014/main" id="{48842E54-8B6E-4F36-9F52-975055982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505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6</a:t>
            </a:r>
          </a:p>
        </p:txBody>
      </p:sp>
      <p:sp>
        <p:nvSpPr>
          <p:cNvPr id="56" name="Text Box 26">
            <a:extLst>
              <a:ext uri="{FF2B5EF4-FFF2-40B4-BE49-F238E27FC236}">
                <a16:creationId xmlns:a16="http://schemas.microsoft.com/office/drawing/2014/main" id="{05AEE43D-7C71-4C17-9B04-F8CCCC2D8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743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5</a:t>
            </a:r>
          </a:p>
        </p:txBody>
      </p:sp>
      <p:sp>
        <p:nvSpPr>
          <p:cNvPr id="57" name="Text Box 27">
            <a:extLst>
              <a:ext uri="{FF2B5EF4-FFF2-40B4-BE49-F238E27FC236}">
                <a16:creationId xmlns:a16="http://schemas.microsoft.com/office/drawing/2014/main" id="{18575B38-E5D0-4CC9-AAEC-40B0E0096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876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5</a:t>
            </a:r>
          </a:p>
        </p:txBody>
      </p:sp>
      <p:sp>
        <p:nvSpPr>
          <p:cNvPr id="58" name="Text Box 28">
            <a:extLst>
              <a:ext uri="{FF2B5EF4-FFF2-40B4-BE49-F238E27FC236}">
                <a16:creationId xmlns:a16="http://schemas.microsoft.com/office/drawing/2014/main" id="{33DF618C-1735-49A7-93AC-0F9F1911F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962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1</a:t>
            </a:r>
          </a:p>
        </p:txBody>
      </p:sp>
      <p:sp>
        <p:nvSpPr>
          <p:cNvPr id="59" name="Text Box 29">
            <a:extLst>
              <a:ext uri="{FF2B5EF4-FFF2-40B4-BE49-F238E27FC236}">
                <a16:creationId xmlns:a16="http://schemas.microsoft.com/office/drawing/2014/main" id="{D67E3DC2-1E59-445A-A2C9-F404BEE7D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962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0099"/>
                </a:solidFill>
              </a:rPr>
              <a:t>4</a:t>
            </a:r>
          </a:p>
        </p:txBody>
      </p:sp>
      <p:sp>
        <p:nvSpPr>
          <p:cNvPr id="60" name="Text Box 30">
            <a:extLst>
              <a:ext uri="{FF2B5EF4-FFF2-40B4-BE49-F238E27FC236}">
                <a16:creationId xmlns:a16="http://schemas.microsoft.com/office/drawing/2014/main" id="{9756E7B2-B049-483D-A7F0-684F8B5B5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10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2</a:t>
            </a:r>
          </a:p>
        </p:txBody>
      </p:sp>
      <p:sp>
        <p:nvSpPr>
          <p:cNvPr id="61" name="Text Box 31">
            <a:extLst>
              <a:ext uri="{FF2B5EF4-FFF2-40B4-BE49-F238E27FC236}">
                <a16:creationId xmlns:a16="http://schemas.microsoft.com/office/drawing/2014/main" id="{CA218292-FC02-478B-8A02-C7D85D2FB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1910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3</a:t>
            </a:r>
          </a:p>
        </p:txBody>
      </p:sp>
      <p:sp>
        <p:nvSpPr>
          <p:cNvPr id="62" name="Text Box 32">
            <a:extLst>
              <a:ext uri="{FF2B5EF4-FFF2-40B4-BE49-F238E27FC236}">
                <a16:creationId xmlns:a16="http://schemas.microsoft.com/office/drawing/2014/main" id="{359CB00C-1704-4FAF-B318-81453896C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352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4</a:t>
            </a:r>
          </a:p>
        </p:txBody>
      </p:sp>
      <p:sp>
        <p:nvSpPr>
          <p:cNvPr id="63" name="Text Box 33">
            <a:extLst>
              <a:ext uri="{FF2B5EF4-FFF2-40B4-BE49-F238E27FC236}">
                <a16:creationId xmlns:a16="http://schemas.microsoft.com/office/drawing/2014/main" id="{F427CD09-D443-4BA4-AB13-D70F46B75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800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0099"/>
                </a:solidFill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1" grpId="2" animBg="1"/>
      <p:bldP spid="4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3558724-4AB3-4AAF-A66E-B61E2A9FFD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第七章之第二节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156639B-AF65-42D8-9CB6-43505D30D0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最短路问题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18">
            <a:extLst>
              <a:ext uri="{FF2B5EF4-FFF2-40B4-BE49-F238E27FC236}">
                <a16:creationId xmlns:a16="http://schemas.microsoft.com/office/drawing/2014/main" id="{171860A5-1637-4E2D-A323-4F61A4E292D5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962400"/>
            <a:ext cx="609600" cy="457200"/>
            <a:chOff x="672" y="2208"/>
            <a:chExt cx="384" cy="288"/>
          </a:xfrm>
        </p:grpSpPr>
        <p:sp>
          <p:nvSpPr>
            <p:cNvPr id="29759" name="Oval 5">
              <a:extLst>
                <a:ext uri="{FF2B5EF4-FFF2-40B4-BE49-F238E27FC236}">
                  <a16:creationId xmlns:a16="http://schemas.microsoft.com/office/drawing/2014/main" id="{07584A86-6606-4892-8162-DF1896FC9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29760" name="Text Box 16">
              <a:extLst>
                <a:ext uri="{FF2B5EF4-FFF2-40B4-BE49-F238E27FC236}">
                  <a16:creationId xmlns:a16="http://schemas.microsoft.com/office/drawing/2014/main" id="{EB967686-6C0F-438E-B42F-4E30D25A29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1</a:t>
              </a:r>
            </a:p>
          </p:txBody>
        </p:sp>
      </p:grpSp>
      <p:sp>
        <p:nvSpPr>
          <p:cNvPr id="29699" name="Rectangle 2">
            <a:extLst>
              <a:ext uri="{FF2B5EF4-FFF2-40B4-BE49-F238E27FC236}">
                <a16:creationId xmlns:a16="http://schemas.microsoft.com/office/drawing/2014/main" id="{A598EC3B-FB74-4B98-B78F-CE1DF8578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引例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8188EB02-78D6-42F5-955C-E3DB421D43C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5334000" cy="4987925"/>
          </a:xfrm>
        </p:spPr>
        <p:txBody>
          <a:bodyPr/>
          <a:lstStyle/>
          <a:p>
            <a:pPr eaLnBrk="1" hangingPunct="1"/>
            <a:r>
              <a:rPr lang="zh-CN" altLang="en-US"/>
              <a:t>求网络中</a:t>
            </a:r>
            <a:r>
              <a:rPr lang="en-US" altLang="zh-CN"/>
              <a:t>V</a:t>
            </a:r>
            <a:r>
              <a:rPr lang="en-US" altLang="zh-CN" baseline="-25000"/>
              <a:t>1</a:t>
            </a:r>
            <a:r>
              <a:rPr lang="zh-CN" altLang="en-US"/>
              <a:t>到</a:t>
            </a:r>
            <a:r>
              <a:rPr lang="en-US" altLang="zh-CN"/>
              <a:t>V</a:t>
            </a:r>
            <a:r>
              <a:rPr lang="en-US" altLang="zh-CN" baseline="-25000"/>
              <a:t>8</a:t>
            </a:r>
            <a:r>
              <a:rPr lang="zh-CN" altLang="en-US"/>
              <a:t>的最短路</a:t>
            </a:r>
          </a:p>
        </p:txBody>
      </p:sp>
      <p:grpSp>
        <p:nvGrpSpPr>
          <p:cNvPr id="29701" name="Group 19">
            <a:extLst>
              <a:ext uri="{FF2B5EF4-FFF2-40B4-BE49-F238E27FC236}">
                <a16:creationId xmlns:a16="http://schemas.microsoft.com/office/drawing/2014/main" id="{70648893-C8A6-4D61-821B-321F49A344BE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667000"/>
            <a:ext cx="609600" cy="457200"/>
            <a:chOff x="672" y="2208"/>
            <a:chExt cx="384" cy="288"/>
          </a:xfrm>
        </p:grpSpPr>
        <p:sp>
          <p:nvSpPr>
            <p:cNvPr id="29757" name="Oval 20">
              <a:extLst>
                <a:ext uri="{FF2B5EF4-FFF2-40B4-BE49-F238E27FC236}">
                  <a16:creationId xmlns:a16="http://schemas.microsoft.com/office/drawing/2014/main" id="{E56BAA1F-150B-4A6D-BCFF-52196E3E0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29758" name="Text Box 21">
              <a:extLst>
                <a:ext uri="{FF2B5EF4-FFF2-40B4-BE49-F238E27FC236}">
                  <a16:creationId xmlns:a16="http://schemas.microsoft.com/office/drawing/2014/main" id="{51830622-FCAB-4F9C-9815-440D9F5F8D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2</a:t>
              </a:r>
            </a:p>
          </p:txBody>
        </p:sp>
      </p:grpSp>
      <p:grpSp>
        <p:nvGrpSpPr>
          <p:cNvPr id="29702" name="Group 22">
            <a:extLst>
              <a:ext uri="{FF2B5EF4-FFF2-40B4-BE49-F238E27FC236}">
                <a16:creationId xmlns:a16="http://schemas.microsoft.com/office/drawing/2014/main" id="{9A27ABA3-357A-465B-A5A5-A86D83C1E7A8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257800"/>
            <a:ext cx="609600" cy="457200"/>
            <a:chOff x="672" y="2208"/>
            <a:chExt cx="384" cy="288"/>
          </a:xfrm>
        </p:grpSpPr>
        <p:sp>
          <p:nvSpPr>
            <p:cNvPr id="29755" name="Oval 23">
              <a:extLst>
                <a:ext uri="{FF2B5EF4-FFF2-40B4-BE49-F238E27FC236}">
                  <a16:creationId xmlns:a16="http://schemas.microsoft.com/office/drawing/2014/main" id="{CB92B23F-FDA1-4B99-A723-F9B2A18FF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29756" name="Text Box 24">
              <a:extLst>
                <a:ext uri="{FF2B5EF4-FFF2-40B4-BE49-F238E27FC236}">
                  <a16:creationId xmlns:a16="http://schemas.microsoft.com/office/drawing/2014/main" id="{A3E96276-4A85-4F8B-AF36-92C0225C7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4</a:t>
              </a:r>
            </a:p>
          </p:txBody>
        </p:sp>
      </p:grpSp>
      <p:grpSp>
        <p:nvGrpSpPr>
          <p:cNvPr id="29703" name="Group 25">
            <a:extLst>
              <a:ext uri="{FF2B5EF4-FFF2-40B4-BE49-F238E27FC236}">
                <a16:creationId xmlns:a16="http://schemas.microsoft.com/office/drawing/2014/main" id="{CF5CDEA5-9EC6-4E42-84EA-8477326D1D2A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038600"/>
            <a:ext cx="609600" cy="457200"/>
            <a:chOff x="672" y="2208"/>
            <a:chExt cx="384" cy="288"/>
          </a:xfrm>
        </p:grpSpPr>
        <p:sp>
          <p:nvSpPr>
            <p:cNvPr id="29753" name="Oval 26">
              <a:extLst>
                <a:ext uri="{FF2B5EF4-FFF2-40B4-BE49-F238E27FC236}">
                  <a16:creationId xmlns:a16="http://schemas.microsoft.com/office/drawing/2014/main" id="{7DF73F35-A4C2-4CD6-835C-55E5679D0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29754" name="Text Box 27">
              <a:extLst>
                <a:ext uri="{FF2B5EF4-FFF2-40B4-BE49-F238E27FC236}">
                  <a16:creationId xmlns:a16="http://schemas.microsoft.com/office/drawing/2014/main" id="{0955F7DB-EBD7-4941-B809-67595C108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3</a:t>
              </a:r>
            </a:p>
          </p:txBody>
        </p:sp>
      </p:grpSp>
      <p:grpSp>
        <p:nvGrpSpPr>
          <p:cNvPr id="29704" name="Group 28">
            <a:extLst>
              <a:ext uri="{FF2B5EF4-FFF2-40B4-BE49-F238E27FC236}">
                <a16:creationId xmlns:a16="http://schemas.microsoft.com/office/drawing/2014/main" id="{11AB6D61-9136-44AF-A998-033C39EB47E5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590800"/>
            <a:ext cx="609600" cy="457200"/>
            <a:chOff x="672" y="2208"/>
            <a:chExt cx="384" cy="288"/>
          </a:xfrm>
        </p:grpSpPr>
        <p:sp>
          <p:nvSpPr>
            <p:cNvPr id="29751" name="Oval 29">
              <a:extLst>
                <a:ext uri="{FF2B5EF4-FFF2-40B4-BE49-F238E27FC236}">
                  <a16:creationId xmlns:a16="http://schemas.microsoft.com/office/drawing/2014/main" id="{95AEB11E-3783-4222-9CA9-484AD2F6E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29752" name="Text Box 30">
              <a:extLst>
                <a:ext uri="{FF2B5EF4-FFF2-40B4-BE49-F238E27FC236}">
                  <a16:creationId xmlns:a16="http://schemas.microsoft.com/office/drawing/2014/main" id="{E4263ED5-13A8-40B0-9888-3A6243CC40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5</a:t>
              </a:r>
            </a:p>
          </p:txBody>
        </p:sp>
      </p:grpSp>
      <p:grpSp>
        <p:nvGrpSpPr>
          <p:cNvPr id="29705" name="Group 31">
            <a:extLst>
              <a:ext uri="{FF2B5EF4-FFF2-40B4-BE49-F238E27FC236}">
                <a16:creationId xmlns:a16="http://schemas.microsoft.com/office/drawing/2014/main" id="{ED5F4DF5-E786-474A-89CF-F0EBC2C57BAC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5410200"/>
            <a:ext cx="609600" cy="457200"/>
            <a:chOff x="672" y="2208"/>
            <a:chExt cx="384" cy="288"/>
          </a:xfrm>
        </p:grpSpPr>
        <p:sp>
          <p:nvSpPr>
            <p:cNvPr id="29749" name="Oval 32">
              <a:extLst>
                <a:ext uri="{FF2B5EF4-FFF2-40B4-BE49-F238E27FC236}">
                  <a16:creationId xmlns:a16="http://schemas.microsoft.com/office/drawing/2014/main" id="{8291A09A-D5B5-4288-9B11-439774F01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29750" name="Text Box 33">
              <a:extLst>
                <a:ext uri="{FF2B5EF4-FFF2-40B4-BE49-F238E27FC236}">
                  <a16:creationId xmlns:a16="http://schemas.microsoft.com/office/drawing/2014/main" id="{8E79056A-E2A4-4E9B-A50D-AC53828C21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6</a:t>
              </a:r>
            </a:p>
          </p:txBody>
        </p:sp>
      </p:grpSp>
      <p:grpSp>
        <p:nvGrpSpPr>
          <p:cNvPr id="29706" name="Group 34">
            <a:extLst>
              <a:ext uri="{FF2B5EF4-FFF2-40B4-BE49-F238E27FC236}">
                <a16:creationId xmlns:a16="http://schemas.microsoft.com/office/drawing/2014/main" id="{F8C62259-BA82-4FC3-B007-6B382BFAA728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5181600"/>
            <a:ext cx="609600" cy="457200"/>
            <a:chOff x="672" y="2208"/>
            <a:chExt cx="384" cy="288"/>
          </a:xfrm>
        </p:grpSpPr>
        <p:sp>
          <p:nvSpPr>
            <p:cNvPr id="29747" name="Oval 35">
              <a:extLst>
                <a:ext uri="{FF2B5EF4-FFF2-40B4-BE49-F238E27FC236}">
                  <a16:creationId xmlns:a16="http://schemas.microsoft.com/office/drawing/2014/main" id="{1C6010D8-4024-4CB0-8E00-181BAF2CD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29748" name="Text Box 36">
              <a:extLst>
                <a:ext uri="{FF2B5EF4-FFF2-40B4-BE49-F238E27FC236}">
                  <a16:creationId xmlns:a16="http://schemas.microsoft.com/office/drawing/2014/main" id="{BB029FFE-35D1-4FEA-A74F-6A14F40E5E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7</a:t>
              </a:r>
            </a:p>
          </p:txBody>
        </p:sp>
      </p:grpSp>
      <p:grpSp>
        <p:nvGrpSpPr>
          <p:cNvPr id="29707" name="Group 37">
            <a:extLst>
              <a:ext uri="{FF2B5EF4-FFF2-40B4-BE49-F238E27FC236}">
                <a16:creationId xmlns:a16="http://schemas.microsoft.com/office/drawing/2014/main" id="{D6DBBC57-14EA-44BB-89DC-1A1E4E758527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191000"/>
            <a:ext cx="609600" cy="457200"/>
            <a:chOff x="672" y="2208"/>
            <a:chExt cx="384" cy="288"/>
          </a:xfrm>
        </p:grpSpPr>
        <p:sp>
          <p:nvSpPr>
            <p:cNvPr id="29745" name="Oval 38">
              <a:extLst>
                <a:ext uri="{FF2B5EF4-FFF2-40B4-BE49-F238E27FC236}">
                  <a16:creationId xmlns:a16="http://schemas.microsoft.com/office/drawing/2014/main" id="{313C0E39-CEBE-4C43-A687-C72C63A16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29746" name="Text Box 39">
              <a:extLst>
                <a:ext uri="{FF2B5EF4-FFF2-40B4-BE49-F238E27FC236}">
                  <a16:creationId xmlns:a16="http://schemas.microsoft.com/office/drawing/2014/main" id="{D39ACB60-8662-42B6-B50D-B0239D5B29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8</a:t>
              </a:r>
            </a:p>
          </p:txBody>
        </p:sp>
      </p:grpSp>
      <p:grpSp>
        <p:nvGrpSpPr>
          <p:cNvPr id="29708" name="Group 40">
            <a:extLst>
              <a:ext uri="{FF2B5EF4-FFF2-40B4-BE49-F238E27FC236}">
                <a16:creationId xmlns:a16="http://schemas.microsoft.com/office/drawing/2014/main" id="{83D4F7B8-07C1-4299-84FA-4C6E52617BE1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819400"/>
            <a:ext cx="609600" cy="457200"/>
            <a:chOff x="672" y="2208"/>
            <a:chExt cx="384" cy="288"/>
          </a:xfrm>
        </p:grpSpPr>
        <p:sp>
          <p:nvSpPr>
            <p:cNvPr id="29743" name="Oval 41">
              <a:extLst>
                <a:ext uri="{FF2B5EF4-FFF2-40B4-BE49-F238E27FC236}">
                  <a16:creationId xmlns:a16="http://schemas.microsoft.com/office/drawing/2014/main" id="{77E644C7-7D94-4F08-957A-CCFEEECB7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29744" name="Text Box 42">
              <a:extLst>
                <a:ext uri="{FF2B5EF4-FFF2-40B4-BE49-F238E27FC236}">
                  <a16:creationId xmlns:a16="http://schemas.microsoft.com/office/drawing/2014/main" id="{F624AAA4-DA1B-4AC2-81E0-57891F57E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9</a:t>
              </a:r>
            </a:p>
          </p:txBody>
        </p:sp>
      </p:grpSp>
      <p:sp>
        <p:nvSpPr>
          <p:cNvPr id="29709" name="Line 43">
            <a:extLst>
              <a:ext uri="{FF2B5EF4-FFF2-40B4-BE49-F238E27FC236}">
                <a16:creationId xmlns:a16="http://schemas.microsoft.com/office/drawing/2014/main" id="{59AEF1E4-99B6-48E8-91BD-6E3452A8B8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3048000"/>
            <a:ext cx="7620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0" name="Line 47">
            <a:extLst>
              <a:ext uri="{FF2B5EF4-FFF2-40B4-BE49-F238E27FC236}">
                <a16:creationId xmlns:a16="http://schemas.microsoft.com/office/drawing/2014/main" id="{F1682B7F-60EB-42A7-B793-CF80C0B442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895600"/>
            <a:ext cx="2286000" cy="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1" name="Line 48">
            <a:extLst>
              <a:ext uri="{FF2B5EF4-FFF2-40B4-BE49-F238E27FC236}">
                <a16:creationId xmlns:a16="http://schemas.microsoft.com/office/drawing/2014/main" id="{53F5373B-E147-4397-825E-FB8EC0A99F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191000"/>
            <a:ext cx="1371600" cy="762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2" name="Line 49">
            <a:extLst>
              <a:ext uri="{FF2B5EF4-FFF2-40B4-BE49-F238E27FC236}">
                <a16:creationId xmlns:a16="http://schemas.microsoft.com/office/drawing/2014/main" id="{B6A43219-D4EF-4C70-B285-62EF8A6FB8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419600"/>
            <a:ext cx="8382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3" name="Line 50">
            <a:extLst>
              <a:ext uri="{FF2B5EF4-FFF2-40B4-BE49-F238E27FC236}">
                <a16:creationId xmlns:a16="http://schemas.microsoft.com/office/drawing/2014/main" id="{223C2837-3A58-4DE5-8FD1-0B370799C7C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3124200"/>
            <a:ext cx="6096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4" name="Line 51">
            <a:extLst>
              <a:ext uri="{FF2B5EF4-FFF2-40B4-BE49-F238E27FC236}">
                <a16:creationId xmlns:a16="http://schemas.microsoft.com/office/drawing/2014/main" id="{C59F91F6-21EA-43AD-8CAB-B80EEE2F4A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4495800"/>
            <a:ext cx="457200" cy="762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5" name="Line 52">
            <a:extLst>
              <a:ext uri="{FF2B5EF4-FFF2-40B4-BE49-F238E27FC236}">
                <a16:creationId xmlns:a16="http://schemas.microsoft.com/office/drawing/2014/main" id="{4C6C4F45-965B-47A4-9C92-2ABE47CD3C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3048000"/>
            <a:ext cx="2209800" cy="2286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6" name="Line 53">
            <a:extLst>
              <a:ext uri="{FF2B5EF4-FFF2-40B4-BE49-F238E27FC236}">
                <a16:creationId xmlns:a16="http://schemas.microsoft.com/office/drawing/2014/main" id="{8D8C2878-B186-496D-A2CE-A6CF528B23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486400"/>
            <a:ext cx="20574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7" name="Line 54">
            <a:extLst>
              <a:ext uri="{FF2B5EF4-FFF2-40B4-BE49-F238E27FC236}">
                <a16:creationId xmlns:a16="http://schemas.microsoft.com/office/drawing/2014/main" id="{19E9FE49-30B8-4731-A3D3-B72A6F49EC4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81600" y="2819400"/>
            <a:ext cx="1676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8" name="Line 55">
            <a:extLst>
              <a:ext uri="{FF2B5EF4-FFF2-40B4-BE49-F238E27FC236}">
                <a16:creationId xmlns:a16="http://schemas.microsoft.com/office/drawing/2014/main" id="{D82712E9-A3DE-45B5-876E-A9BF92EA9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276600"/>
            <a:ext cx="685800" cy="990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9" name="Line 56">
            <a:extLst>
              <a:ext uri="{FF2B5EF4-FFF2-40B4-BE49-F238E27FC236}">
                <a16:creationId xmlns:a16="http://schemas.microsoft.com/office/drawing/2014/main" id="{03C8AD8E-3447-4D77-8069-5A143EF94B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648200"/>
            <a:ext cx="914400" cy="685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0" name="Line 57">
            <a:extLst>
              <a:ext uri="{FF2B5EF4-FFF2-40B4-BE49-F238E27FC236}">
                <a16:creationId xmlns:a16="http://schemas.microsoft.com/office/drawing/2014/main" id="{2D98483E-3B4A-42BB-9FC8-B9CBBC57F0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5486400"/>
            <a:ext cx="13716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1" name="Line 58">
            <a:extLst>
              <a:ext uri="{FF2B5EF4-FFF2-40B4-BE49-F238E27FC236}">
                <a16:creationId xmlns:a16="http://schemas.microsoft.com/office/drawing/2014/main" id="{12A4C901-4168-4617-A386-A8CB1B0746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971800"/>
            <a:ext cx="1524000" cy="2209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2" name="Freeform 59">
            <a:extLst>
              <a:ext uri="{FF2B5EF4-FFF2-40B4-BE49-F238E27FC236}">
                <a16:creationId xmlns:a16="http://schemas.microsoft.com/office/drawing/2014/main" id="{E51B934A-9D81-4B4E-AC9D-49A1399C9355}"/>
              </a:ext>
            </a:extLst>
          </p:cNvPr>
          <p:cNvSpPr>
            <a:spLocks/>
          </p:cNvSpPr>
          <p:nvPr/>
        </p:nvSpPr>
        <p:spPr bwMode="auto">
          <a:xfrm>
            <a:off x="4483100" y="3048000"/>
            <a:ext cx="393700" cy="2362200"/>
          </a:xfrm>
          <a:custGeom>
            <a:avLst/>
            <a:gdLst>
              <a:gd name="T0" fmla="*/ 2147483646 w 248"/>
              <a:gd name="T1" fmla="*/ 0 h 1488"/>
              <a:gd name="T2" fmla="*/ 2147483646 w 248"/>
              <a:gd name="T3" fmla="*/ 2147483646 h 1488"/>
              <a:gd name="T4" fmla="*/ 2147483646 w 248"/>
              <a:gd name="T5" fmla="*/ 2147483646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248" y="0"/>
                </a:moveTo>
                <a:cubicBezTo>
                  <a:pt x="132" y="332"/>
                  <a:pt x="16" y="664"/>
                  <a:pt x="8" y="912"/>
                </a:cubicBezTo>
                <a:cubicBezTo>
                  <a:pt x="0" y="1160"/>
                  <a:pt x="100" y="1324"/>
                  <a:pt x="200" y="1488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3" name="Freeform 61">
            <a:extLst>
              <a:ext uri="{FF2B5EF4-FFF2-40B4-BE49-F238E27FC236}">
                <a16:creationId xmlns:a16="http://schemas.microsoft.com/office/drawing/2014/main" id="{2050F172-50AB-4516-BDB7-A9F4DC6284CB}"/>
              </a:ext>
            </a:extLst>
          </p:cNvPr>
          <p:cNvSpPr>
            <a:spLocks/>
          </p:cNvSpPr>
          <p:nvPr/>
        </p:nvSpPr>
        <p:spPr bwMode="auto">
          <a:xfrm>
            <a:off x="5029200" y="3048000"/>
            <a:ext cx="393700" cy="2362200"/>
          </a:xfrm>
          <a:custGeom>
            <a:avLst/>
            <a:gdLst>
              <a:gd name="T0" fmla="*/ 0 w 248"/>
              <a:gd name="T1" fmla="*/ 2147483646 h 1488"/>
              <a:gd name="T2" fmla="*/ 2147483646 w 248"/>
              <a:gd name="T3" fmla="*/ 2147483646 h 1488"/>
              <a:gd name="T4" fmla="*/ 2147483646 w 248"/>
              <a:gd name="T5" fmla="*/ 0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0" y="1488"/>
                </a:moveTo>
                <a:cubicBezTo>
                  <a:pt x="116" y="1180"/>
                  <a:pt x="232" y="872"/>
                  <a:pt x="240" y="624"/>
                </a:cubicBezTo>
                <a:cubicBezTo>
                  <a:pt x="248" y="376"/>
                  <a:pt x="148" y="188"/>
                  <a:pt x="48" y="0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4" name="Line 62">
            <a:extLst>
              <a:ext uri="{FF2B5EF4-FFF2-40B4-BE49-F238E27FC236}">
                <a16:creationId xmlns:a16="http://schemas.microsoft.com/office/drawing/2014/main" id="{1BE32331-83E4-4D78-B30F-4DBAFD6D5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181600"/>
            <a:ext cx="152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5" name="Line 63">
            <a:extLst>
              <a:ext uri="{FF2B5EF4-FFF2-40B4-BE49-F238E27FC236}">
                <a16:creationId xmlns:a16="http://schemas.microsoft.com/office/drawing/2014/main" id="{65CD5E45-D204-4DF6-BACB-250914757A9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05400" y="3048000"/>
            <a:ext cx="762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6" name="Text Box 64">
            <a:extLst>
              <a:ext uri="{FF2B5EF4-FFF2-40B4-BE49-F238E27FC236}">
                <a16:creationId xmlns:a16="http://schemas.microsoft.com/office/drawing/2014/main" id="{5299A801-7EE9-4D02-9350-06234CEC4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29727" name="Text Box 65">
            <a:extLst>
              <a:ext uri="{FF2B5EF4-FFF2-40B4-BE49-F238E27FC236}">
                <a16:creationId xmlns:a16="http://schemas.microsoft.com/office/drawing/2014/main" id="{3BFEE257-A70C-4A0A-868E-33DAE9BF5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29728" name="Text Box 66">
            <a:extLst>
              <a:ext uri="{FF2B5EF4-FFF2-40B4-BE49-F238E27FC236}">
                <a16:creationId xmlns:a16="http://schemas.microsoft.com/office/drawing/2014/main" id="{F38B9038-40B0-4AF6-AD47-370C28C6E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29729" name="Text Box 67">
            <a:extLst>
              <a:ext uri="{FF2B5EF4-FFF2-40B4-BE49-F238E27FC236}">
                <a16:creationId xmlns:a16="http://schemas.microsoft.com/office/drawing/2014/main" id="{83DEBA9B-9364-4730-B426-692BB69E5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29730" name="Text Box 68">
            <a:extLst>
              <a:ext uri="{FF2B5EF4-FFF2-40B4-BE49-F238E27FC236}">
                <a16:creationId xmlns:a16="http://schemas.microsoft.com/office/drawing/2014/main" id="{7C10904F-5B0A-4DB9-B022-5A7E383FB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29731" name="Text Box 69">
            <a:extLst>
              <a:ext uri="{FF2B5EF4-FFF2-40B4-BE49-F238E27FC236}">
                <a16:creationId xmlns:a16="http://schemas.microsoft.com/office/drawing/2014/main" id="{62CB351F-E298-4759-B3FD-102D842F1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41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29732" name="Text Box 70">
            <a:extLst>
              <a:ext uri="{FF2B5EF4-FFF2-40B4-BE49-F238E27FC236}">
                <a16:creationId xmlns:a16="http://schemas.microsoft.com/office/drawing/2014/main" id="{FFDEA7A2-8E1B-4DD3-BD2A-684ED2874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581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29733" name="Text Box 71">
            <a:extLst>
              <a:ext uri="{FF2B5EF4-FFF2-40B4-BE49-F238E27FC236}">
                <a16:creationId xmlns:a16="http://schemas.microsoft.com/office/drawing/2014/main" id="{72A01D00-C7DA-4002-9F0B-D5A5E809A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562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29734" name="Text Box 72">
            <a:extLst>
              <a:ext uri="{FF2B5EF4-FFF2-40B4-BE49-F238E27FC236}">
                <a16:creationId xmlns:a16="http://schemas.microsoft.com/office/drawing/2014/main" id="{A005E3BD-2E61-486A-9AC7-C7D16EB0C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514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29735" name="Text Box 73">
            <a:extLst>
              <a:ext uri="{FF2B5EF4-FFF2-40B4-BE49-F238E27FC236}">
                <a16:creationId xmlns:a16="http://schemas.microsoft.com/office/drawing/2014/main" id="{B3ADC32C-CF37-4BD8-B7AD-E0AA2F497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29736" name="Text Box 74">
            <a:extLst>
              <a:ext uri="{FF2B5EF4-FFF2-40B4-BE49-F238E27FC236}">
                <a16:creationId xmlns:a16="http://schemas.microsoft.com/office/drawing/2014/main" id="{BA4CB56F-A9A3-4FAE-87A8-DCFBA8D15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56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29737" name="Line 75">
            <a:extLst>
              <a:ext uri="{FF2B5EF4-FFF2-40B4-BE49-F238E27FC236}">
                <a16:creationId xmlns:a16="http://schemas.microsoft.com/office/drawing/2014/main" id="{1F9DDCAC-D233-4E6A-9B78-6071BE4687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895600"/>
            <a:ext cx="2514600" cy="1524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8" name="Text Box 76">
            <a:extLst>
              <a:ext uri="{FF2B5EF4-FFF2-40B4-BE49-F238E27FC236}">
                <a16:creationId xmlns:a16="http://schemas.microsoft.com/office/drawing/2014/main" id="{9F8665F2-0E39-431B-9CFD-2E9F5C04C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29739" name="Text Box 77">
            <a:extLst>
              <a:ext uri="{FF2B5EF4-FFF2-40B4-BE49-F238E27FC236}">
                <a16:creationId xmlns:a16="http://schemas.microsoft.com/office/drawing/2014/main" id="{DD6A8625-B43A-4F53-BDA6-E40484657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962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29740" name="Text Box 78">
            <a:extLst>
              <a:ext uri="{FF2B5EF4-FFF2-40B4-BE49-F238E27FC236}">
                <a16:creationId xmlns:a16="http://schemas.microsoft.com/office/drawing/2014/main" id="{D6786723-3651-4861-9943-5585BA7EE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114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29741" name="Text Box 79">
            <a:extLst>
              <a:ext uri="{FF2B5EF4-FFF2-40B4-BE49-F238E27FC236}">
                <a16:creationId xmlns:a16="http://schemas.microsoft.com/office/drawing/2014/main" id="{F954406D-1AFE-4394-B753-564FE1912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876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29742" name="Text Box 80">
            <a:extLst>
              <a:ext uri="{FF2B5EF4-FFF2-40B4-BE49-F238E27FC236}">
                <a16:creationId xmlns:a16="http://schemas.microsoft.com/office/drawing/2014/main" id="{52C9304A-E0DE-4591-B67F-80F7408DC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0AD416D-88F0-4BF3-8831-A230A62FAF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Dijkstra</a:t>
            </a:r>
            <a:r>
              <a:rPr lang="zh-CN" altLang="en-US"/>
              <a:t>标号法</a:t>
            </a:r>
          </a:p>
        </p:txBody>
      </p:sp>
      <p:sp>
        <p:nvSpPr>
          <p:cNvPr id="235523" name="Rectangle 3">
            <a:extLst>
              <a:ext uri="{FF2B5EF4-FFF2-40B4-BE49-F238E27FC236}">
                <a16:creationId xmlns:a16="http://schemas.microsoft.com/office/drawing/2014/main" id="{641F1184-16A2-40A7-B393-A7579F8BB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从起点</a:t>
            </a:r>
            <a:r>
              <a:rPr lang="en-US" altLang="zh-CN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开始，逐步给每个结点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j</a:t>
            </a:r>
            <a:r>
              <a:rPr lang="zh-CN" altLang="en-US" dirty="0"/>
              <a:t>标号</a:t>
            </a:r>
            <a:r>
              <a:rPr lang="en-US" altLang="zh-CN" dirty="0"/>
              <a:t>[</a:t>
            </a:r>
            <a:r>
              <a:rPr lang="en-US" altLang="zh-CN" dirty="0" err="1"/>
              <a:t>d</a:t>
            </a:r>
            <a:r>
              <a:rPr lang="en-US" altLang="zh-CN" baseline="-25000" dirty="0" err="1"/>
              <a:t>j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en-US" altLang="zh-CN" baseline="-25000" dirty="0"/>
              <a:t>i</a:t>
            </a:r>
            <a:r>
              <a:rPr lang="en-US" altLang="zh-CN" dirty="0"/>
              <a:t>]</a:t>
            </a:r>
          </a:p>
          <a:p>
            <a:pPr lvl="1" eaLnBrk="1" hangingPunct="1"/>
            <a:r>
              <a:rPr lang="en-US" altLang="zh-CN" dirty="0" err="1"/>
              <a:t>d</a:t>
            </a:r>
            <a:r>
              <a:rPr lang="en-US" altLang="zh-CN" baseline="-25000" dirty="0" err="1"/>
              <a:t>j</a:t>
            </a:r>
            <a:r>
              <a:rPr lang="zh-CN" altLang="en-US" dirty="0"/>
              <a:t>为起点</a:t>
            </a:r>
            <a:r>
              <a:rPr lang="en-US" altLang="zh-CN" dirty="0"/>
              <a:t>V</a:t>
            </a:r>
            <a:r>
              <a:rPr lang="en-US" altLang="zh-CN" baseline="-25000" dirty="0"/>
              <a:t>s</a:t>
            </a:r>
            <a:r>
              <a:rPr lang="zh-CN" altLang="en-US" dirty="0"/>
              <a:t>到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j</a:t>
            </a:r>
            <a:r>
              <a:rPr lang="zh-CN" altLang="en-US" dirty="0"/>
              <a:t>的最短距离</a:t>
            </a:r>
          </a:p>
          <a:p>
            <a:pPr lvl="1" eaLnBrk="1" hangingPunct="1"/>
            <a:r>
              <a:rPr lang="en-US" altLang="zh-CN" dirty="0"/>
              <a:t>V</a:t>
            </a:r>
            <a:r>
              <a:rPr lang="en-US" altLang="zh-CN" baseline="-25000" dirty="0"/>
              <a:t>i</a:t>
            </a:r>
            <a:r>
              <a:rPr lang="zh-CN" altLang="en-US" dirty="0"/>
              <a:t>为该最短路线上的前一节点</a:t>
            </a: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至多经过</a:t>
            </a:r>
            <a:r>
              <a:rPr lang="en-US" altLang="zh-CN" dirty="0"/>
              <a:t>p-1</a:t>
            </a:r>
            <a:r>
              <a:rPr lang="zh-CN" altLang="en-US" dirty="0"/>
              <a:t>步，可求出</a:t>
            </a:r>
            <a:r>
              <a:rPr lang="en-US" altLang="zh-CN" dirty="0"/>
              <a:t>V</a:t>
            </a:r>
            <a:r>
              <a:rPr lang="en-US" altLang="zh-CN" baseline="-25000" dirty="0"/>
              <a:t>s</a:t>
            </a:r>
            <a:r>
              <a:rPr lang="zh-CN" altLang="en-US" dirty="0"/>
              <a:t>到各点的最短路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>
            <a:extLst>
              <a:ext uri="{FF2B5EF4-FFF2-40B4-BE49-F238E27FC236}">
                <a16:creationId xmlns:a16="http://schemas.microsoft.com/office/drawing/2014/main" id="{60562C2E-06B2-489B-B409-2467F61C2A1C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962400"/>
            <a:ext cx="609600" cy="457200"/>
            <a:chOff x="672" y="2208"/>
            <a:chExt cx="384" cy="288"/>
          </a:xfrm>
        </p:grpSpPr>
        <p:sp>
          <p:nvSpPr>
            <p:cNvPr id="31808" name="Oval 3">
              <a:extLst>
                <a:ext uri="{FF2B5EF4-FFF2-40B4-BE49-F238E27FC236}">
                  <a16:creationId xmlns:a16="http://schemas.microsoft.com/office/drawing/2014/main" id="{8DBAB84C-DD0D-47FC-B571-05277B80C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1809" name="Text Box 4">
              <a:extLst>
                <a:ext uri="{FF2B5EF4-FFF2-40B4-BE49-F238E27FC236}">
                  <a16:creationId xmlns:a16="http://schemas.microsoft.com/office/drawing/2014/main" id="{6BCF723A-B33A-472E-9A79-849B21D83F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1</a:t>
              </a:r>
            </a:p>
          </p:txBody>
        </p:sp>
      </p:grpSp>
      <p:sp>
        <p:nvSpPr>
          <p:cNvPr id="31747" name="Rectangle 5">
            <a:extLst>
              <a:ext uri="{FF2B5EF4-FFF2-40B4-BE49-F238E27FC236}">
                <a16:creationId xmlns:a16="http://schemas.microsoft.com/office/drawing/2014/main" id="{83ED817C-340A-4551-B0CF-3EFC0F137A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步骤</a:t>
            </a:r>
          </a:p>
        </p:txBody>
      </p:sp>
      <p:sp>
        <p:nvSpPr>
          <p:cNvPr id="31748" name="Rectangle 6">
            <a:extLst>
              <a:ext uri="{FF2B5EF4-FFF2-40B4-BE49-F238E27FC236}">
                <a16:creationId xmlns:a16="http://schemas.microsoft.com/office/drawing/2014/main" id="{5E412326-7D2A-4046-8F62-1A78554116C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458200" cy="4987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0"/>
              <a:t>1</a:t>
            </a:r>
            <a:r>
              <a:rPr lang="zh-CN" altLang="en-US" sz="2800" b="0"/>
              <a:t>、</a:t>
            </a:r>
            <a:r>
              <a:rPr lang="zh-CN" altLang="en-US" sz="2800"/>
              <a:t>给起点</a:t>
            </a:r>
            <a:r>
              <a:rPr lang="en-US" altLang="zh-CN" sz="2800"/>
              <a:t>v</a:t>
            </a:r>
            <a:r>
              <a:rPr lang="en-US" altLang="zh-CN" sz="2800" baseline="-25000"/>
              <a:t>1</a:t>
            </a:r>
            <a:r>
              <a:rPr lang="zh-CN" altLang="en-US" sz="2800"/>
              <a:t>标号 </a:t>
            </a:r>
            <a:r>
              <a:rPr lang="en-US" altLang="zh-CN" sz="2800"/>
              <a:t>[0, v</a:t>
            </a:r>
            <a:r>
              <a:rPr lang="en-US" altLang="zh-CN" sz="2800" baseline="-25000"/>
              <a:t>1</a:t>
            </a:r>
            <a:r>
              <a:rPr lang="en-US" altLang="zh-CN" sz="2800"/>
              <a:t>]</a:t>
            </a:r>
          </a:p>
          <a:p>
            <a:pPr eaLnBrk="1" hangingPunct="1">
              <a:spcBef>
                <a:spcPts val="50"/>
              </a:spcBef>
            </a:pPr>
            <a:endParaRPr lang="en-US" altLang="zh-CN"/>
          </a:p>
        </p:txBody>
      </p:sp>
      <p:grpSp>
        <p:nvGrpSpPr>
          <p:cNvPr id="31749" name="Group 7">
            <a:extLst>
              <a:ext uri="{FF2B5EF4-FFF2-40B4-BE49-F238E27FC236}">
                <a16:creationId xmlns:a16="http://schemas.microsoft.com/office/drawing/2014/main" id="{3741C3F2-E6EA-43BB-B032-A1AD5DE465ED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667000"/>
            <a:ext cx="609600" cy="457200"/>
            <a:chOff x="672" y="2208"/>
            <a:chExt cx="384" cy="288"/>
          </a:xfrm>
        </p:grpSpPr>
        <p:sp>
          <p:nvSpPr>
            <p:cNvPr id="31806" name="Oval 8">
              <a:extLst>
                <a:ext uri="{FF2B5EF4-FFF2-40B4-BE49-F238E27FC236}">
                  <a16:creationId xmlns:a16="http://schemas.microsoft.com/office/drawing/2014/main" id="{FE241D68-1FC4-45F8-BB39-307F98415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1807" name="Text Box 9">
              <a:extLst>
                <a:ext uri="{FF2B5EF4-FFF2-40B4-BE49-F238E27FC236}">
                  <a16:creationId xmlns:a16="http://schemas.microsoft.com/office/drawing/2014/main" id="{6FDBAC87-A077-4470-8670-893A8817D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2</a:t>
              </a:r>
            </a:p>
          </p:txBody>
        </p:sp>
      </p:grpSp>
      <p:grpSp>
        <p:nvGrpSpPr>
          <p:cNvPr id="31750" name="Group 10">
            <a:extLst>
              <a:ext uri="{FF2B5EF4-FFF2-40B4-BE49-F238E27FC236}">
                <a16:creationId xmlns:a16="http://schemas.microsoft.com/office/drawing/2014/main" id="{92C14F63-80DE-485E-97D1-C5A1756B6B66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257800"/>
            <a:ext cx="609600" cy="457200"/>
            <a:chOff x="672" y="2208"/>
            <a:chExt cx="384" cy="288"/>
          </a:xfrm>
        </p:grpSpPr>
        <p:sp>
          <p:nvSpPr>
            <p:cNvPr id="31804" name="Oval 11">
              <a:extLst>
                <a:ext uri="{FF2B5EF4-FFF2-40B4-BE49-F238E27FC236}">
                  <a16:creationId xmlns:a16="http://schemas.microsoft.com/office/drawing/2014/main" id="{4E1FE5C4-8AAB-4F2D-A462-BD05317E1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1805" name="Text Box 12">
              <a:extLst>
                <a:ext uri="{FF2B5EF4-FFF2-40B4-BE49-F238E27FC236}">
                  <a16:creationId xmlns:a16="http://schemas.microsoft.com/office/drawing/2014/main" id="{3B20C529-60B4-4A0D-8269-BD0BFE3E0B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4</a:t>
              </a:r>
            </a:p>
          </p:txBody>
        </p:sp>
      </p:grpSp>
      <p:grpSp>
        <p:nvGrpSpPr>
          <p:cNvPr id="31751" name="Group 13">
            <a:extLst>
              <a:ext uri="{FF2B5EF4-FFF2-40B4-BE49-F238E27FC236}">
                <a16:creationId xmlns:a16="http://schemas.microsoft.com/office/drawing/2014/main" id="{9E378864-9D1F-4D1E-84C1-796C3A6F9D23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038600"/>
            <a:ext cx="609600" cy="457200"/>
            <a:chOff x="672" y="2208"/>
            <a:chExt cx="384" cy="288"/>
          </a:xfrm>
        </p:grpSpPr>
        <p:sp>
          <p:nvSpPr>
            <p:cNvPr id="31802" name="Oval 14">
              <a:extLst>
                <a:ext uri="{FF2B5EF4-FFF2-40B4-BE49-F238E27FC236}">
                  <a16:creationId xmlns:a16="http://schemas.microsoft.com/office/drawing/2014/main" id="{59EC15E4-844A-4C6C-917B-4FE5F2355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1803" name="Text Box 15">
              <a:extLst>
                <a:ext uri="{FF2B5EF4-FFF2-40B4-BE49-F238E27FC236}">
                  <a16:creationId xmlns:a16="http://schemas.microsoft.com/office/drawing/2014/main" id="{5B2A0880-408D-4E82-943E-4D7BCFA3DE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3</a:t>
              </a:r>
            </a:p>
          </p:txBody>
        </p:sp>
      </p:grpSp>
      <p:grpSp>
        <p:nvGrpSpPr>
          <p:cNvPr id="31752" name="Group 16">
            <a:extLst>
              <a:ext uri="{FF2B5EF4-FFF2-40B4-BE49-F238E27FC236}">
                <a16:creationId xmlns:a16="http://schemas.microsoft.com/office/drawing/2014/main" id="{5C5EC6C5-51B2-440E-980F-1AE64CBDB856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590800"/>
            <a:ext cx="609600" cy="457200"/>
            <a:chOff x="672" y="2208"/>
            <a:chExt cx="384" cy="288"/>
          </a:xfrm>
        </p:grpSpPr>
        <p:sp>
          <p:nvSpPr>
            <p:cNvPr id="31800" name="Oval 17">
              <a:extLst>
                <a:ext uri="{FF2B5EF4-FFF2-40B4-BE49-F238E27FC236}">
                  <a16:creationId xmlns:a16="http://schemas.microsoft.com/office/drawing/2014/main" id="{AB295BEA-744A-45F3-85FE-6B8121E0D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1801" name="Text Box 18">
              <a:extLst>
                <a:ext uri="{FF2B5EF4-FFF2-40B4-BE49-F238E27FC236}">
                  <a16:creationId xmlns:a16="http://schemas.microsoft.com/office/drawing/2014/main" id="{C3505102-7572-4710-9BAE-4A5B62501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5</a:t>
              </a:r>
            </a:p>
          </p:txBody>
        </p:sp>
      </p:grpSp>
      <p:grpSp>
        <p:nvGrpSpPr>
          <p:cNvPr id="31753" name="Group 19">
            <a:extLst>
              <a:ext uri="{FF2B5EF4-FFF2-40B4-BE49-F238E27FC236}">
                <a16:creationId xmlns:a16="http://schemas.microsoft.com/office/drawing/2014/main" id="{FC1C1BF2-7940-47B2-8435-69AF2CE48EED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5410200"/>
            <a:ext cx="609600" cy="457200"/>
            <a:chOff x="672" y="2208"/>
            <a:chExt cx="384" cy="288"/>
          </a:xfrm>
        </p:grpSpPr>
        <p:sp>
          <p:nvSpPr>
            <p:cNvPr id="31798" name="Oval 20">
              <a:extLst>
                <a:ext uri="{FF2B5EF4-FFF2-40B4-BE49-F238E27FC236}">
                  <a16:creationId xmlns:a16="http://schemas.microsoft.com/office/drawing/2014/main" id="{4612C0B9-0B68-424D-9FE8-EF5167B7D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1799" name="Text Box 21">
              <a:extLst>
                <a:ext uri="{FF2B5EF4-FFF2-40B4-BE49-F238E27FC236}">
                  <a16:creationId xmlns:a16="http://schemas.microsoft.com/office/drawing/2014/main" id="{C7A852F6-431A-422B-8262-7A777BEF4E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6</a:t>
              </a:r>
            </a:p>
          </p:txBody>
        </p:sp>
      </p:grpSp>
      <p:grpSp>
        <p:nvGrpSpPr>
          <p:cNvPr id="31754" name="Group 22">
            <a:extLst>
              <a:ext uri="{FF2B5EF4-FFF2-40B4-BE49-F238E27FC236}">
                <a16:creationId xmlns:a16="http://schemas.microsoft.com/office/drawing/2014/main" id="{604858F4-BD4F-4C0E-9D84-0A6B3A657720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5181600"/>
            <a:ext cx="609600" cy="457200"/>
            <a:chOff x="672" y="2208"/>
            <a:chExt cx="384" cy="288"/>
          </a:xfrm>
        </p:grpSpPr>
        <p:sp>
          <p:nvSpPr>
            <p:cNvPr id="31796" name="Oval 23">
              <a:extLst>
                <a:ext uri="{FF2B5EF4-FFF2-40B4-BE49-F238E27FC236}">
                  <a16:creationId xmlns:a16="http://schemas.microsoft.com/office/drawing/2014/main" id="{6768CFD4-02FB-462D-8930-931BD614A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1797" name="Text Box 24">
              <a:extLst>
                <a:ext uri="{FF2B5EF4-FFF2-40B4-BE49-F238E27FC236}">
                  <a16:creationId xmlns:a16="http://schemas.microsoft.com/office/drawing/2014/main" id="{CCF75EF4-2DF9-475D-A498-3586CF4ED6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7</a:t>
              </a:r>
            </a:p>
          </p:txBody>
        </p:sp>
      </p:grpSp>
      <p:grpSp>
        <p:nvGrpSpPr>
          <p:cNvPr id="31755" name="Group 25">
            <a:extLst>
              <a:ext uri="{FF2B5EF4-FFF2-40B4-BE49-F238E27FC236}">
                <a16:creationId xmlns:a16="http://schemas.microsoft.com/office/drawing/2014/main" id="{8B2C7FAA-DC55-4B26-9DD7-150257998DF0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191000"/>
            <a:ext cx="609600" cy="457200"/>
            <a:chOff x="672" y="2208"/>
            <a:chExt cx="384" cy="288"/>
          </a:xfrm>
        </p:grpSpPr>
        <p:sp>
          <p:nvSpPr>
            <p:cNvPr id="31794" name="Oval 26">
              <a:extLst>
                <a:ext uri="{FF2B5EF4-FFF2-40B4-BE49-F238E27FC236}">
                  <a16:creationId xmlns:a16="http://schemas.microsoft.com/office/drawing/2014/main" id="{829E756C-C5FA-4A99-9CA9-9FF076105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1795" name="Text Box 27">
              <a:extLst>
                <a:ext uri="{FF2B5EF4-FFF2-40B4-BE49-F238E27FC236}">
                  <a16:creationId xmlns:a16="http://schemas.microsoft.com/office/drawing/2014/main" id="{30D151DA-46FD-4120-9D89-7A98B3A73E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8</a:t>
              </a:r>
            </a:p>
          </p:txBody>
        </p:sp>
      </p:grpSp>
      <p:grpSp>
        <p:nvGrpSpPr>
          <p:cNvPr id="31756" name="Group 28">
            <a:extLst>
              <a:ext uri="{FF2B5EF4-FFF2-40B4-BE49-F238E27FC236}">
                <a16:creationId xmlns:a16="http://schemas.microsoft.com/office/drawing/2014/main" id="{497B7A86-FC72-4494-9AAE-07490649D890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819400"/>
            <a:ext cx="609600" cy="457200"/>
            <a:chOff x="672" y="2208"/>
            <a:chExt cx="384" cy="288"/>
          </a:xfrm>
        </p:grpSpPr>
        <p:sp>
          <p:nvSpPr>
            <p:cNvPr id="31792" name="Oval 29">
              <a:extLst>
                <a:ext uri="{FF2B5EF4-FFF2-40B4-BE49-F238E27FC236}">
                  <a16:creationId xmlns:a16="http://schemas.microsoft.com/office/drawing/2014/main" id="{C31C8821-D293-49E8-9E38-1D1ED34BA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1793" name="Text Box 30">
              <a:extLst>
                <a:ext uri="{FF2B5EF4-FFF2-40B4-BE49-F238E27FC236}">
                  <a16:creationId xmlns:a16="http://schemas.microsoft.com/office/drawing/2014/main" id="{EA837A83-C2AD-4A4A-84A7-4BB2AA994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9</a:t>
              </a:r>
            </a:p>
          </p:txBody>
        </p:sp>
      </p:grpSp>
      <p:sp>
        <p:nvSpPr>
          <p:cNvPr id="31757" name="Line 31">
            <a:extLst>
              <a:ext uri="{FF2B5EF4-FFF2-40B4-BE49-F238E27FC236}">
                <a16:creationId xmlns:a16="http://schemas.microsoft.com/office/drawing/2014/main" id="{4A622FAD-4CC9-4EFA-AD8F-DAA73B209F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3048000"/>
            <a:ext cx="7620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8" name="Line 32">
            <a:extLst>
              <a:ext uri="{FF2B5EF4-FFF2-40B4-BE49-F238E27FC236}">
                <a16:creationId xmlns:a16="http://schemas.microsoft.com/office/drawing/2014/main" id="{77903DBA-6DF5-4CAD-8A36-AFA99B7843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895600"/>
            <a:ext cx="2286000" cy="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9" name="Line 33">
            <a:extLst>
              <a:ext uri="{FF2B5EF4-FFF2-40B4-BE49-F238E27FC236}">
                <a16:creationId xmlns:a16="http://schemas.microsoft.com/office/drawing/2014/main" id="{2574670D-A2D8-4CD9-8D18-59A5CBAC21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191000"/>
            <a:ext cx="1371600" cy="762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0" name="Line 34">
            <a:extLst>
              <a:ext uri="{FF2B5EF4-FFF2-40B4-BE49-F238E27FC236}">
                <a16:creationId xmlns:a16="http://schemas.microsoft.com/office/drawing/2014/main" id="{5D555526-D7F7-435A-887F-9D4CBA8521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419600"/>
            <a:ext cx="8382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1" name="Line 35">
            <a:extLst>
              <a:ext uri="{FF2B5EF4-FFF2-40B4-BE49-F238E27FC236}">
                <a16:creationId xmlns:a16="http://schemas.microsoft.com/office/drawing/2014/main" id="{29ABA016-1C1F-4179-89D9-55C9FBE74A9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3124200"/>
            <a:ext cx="6096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2" name="Line 36">
            <a:extLst>
              <a:ext uri="{FF2B5EF4-FFF2-40B4-BE49-F238E27FC236}">
                <a16:creationId xmlns:a16="http://schemas.microsoft.com/office/drawing/2014/main" id="{45977B97-DAF0-435F-A032-E104D88DE5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4495800"/>
            <a:ext cx="457200" cy="762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3" name="Line 37">
            <a:extLst>
              <a:ext uri="{FF2B5EF4-FFF2-40B4-BE49-F238E27FC236}">
                <a16:creationId xmlns:a16="http://schemas.microsoft.com/office/drawing/2014/main" id="{E6D98090-F90E-4953-872A-E103ED121E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3048000"/>
            <a:ext cx="2209800" cy="2286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4" name="Line 38">
            <a:extLst>
              <a:ext uri="{FF2B5EF4-FFF2-40B4-BE49-F238E27FC236}">
                <a16:creationId xmlns:a16="http://schemas.microsoft.com/office/drawing/2014/main" id="{BB1ABD63-2928-4DD7-B292-2CFEAA0E67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486400"/>
            <a:ext cx="20574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5" name="Line 39">
            <a:extLst>
              <a:ext uri="{FF2B5EF4-FFF2-40B4-BE49-F238E27FC236}">
                <a16:creationId xmlns:a16="http://schemas.microsoft.com/office/drawing/2014/main" id="{8B4FEF36-96EC-4D25-AA75-6100BF61260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81600" y="2819400"/>
            <a:ext cx="1676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6" name="Line 40">
            <a:extLst>
              <a:ext uri="{FF2B5EF4-FFF2-40B4-BE49-F238E27FC236}">
                <a16:creationId xmlns:a16="http://schemas.microsoft.com/office/drawing/2014/main" id="{5C30A73A-8F64-42FF-9DD9-7762286040A4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276600"/>
            <a:ext cx="685800" cy="990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7" name="Line 41">
            <a:extLst>
              <a:ext uri="{FF2B5EF4-FFF2-40B4-BE49-F238E27FC236}">
                <a16:creationId xmlns:a16="http://schemas.microsoft.com/office/drawing/2014/main" id="{47C2BBAC-02B8-4E9D-B427-7F83306CE6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648200"/>
            <a:ext cx="914400" cy="685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8" name="Line 42">
            <a:extLst>
              <a:ext uri="{FF2B5EF4-FFF2-40B4-BE49-F238E27FC236}">
                <a16:creationId xmlns:a16="http://schemas.microsoft.com/office/drawing/2014/main" id="{28635F56-777E-438D-8FB1-5FFEC590F0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5486400"/>
            <a:ext cx="13716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9" name="Line 43">
            <a:extLst>
              <a:ext uri="{FF2B5EF4-FFF2-40B4-BE49-F238E27FC236}">
                <a16:creationId xmlns:a16="http://schemas.microsoft.com/office/drawing/2014/main" id="{534E481A-BBC7-4D55-8BAA-44553B170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971800"/>
            <a:ext cx="1524000" cy="2209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0" name="Freeform 44">
            <a:extLst>
              <a:ext uri="{FF2B5EF4-FFF2-40B4-BE49-F238E27FC236}">
                <a16:creationId xmlns:a16="http://schemas.microsoft.com/office/drawing/2014/main" id="{282C6D87-78E0-46F5-8C4F-0EAE82A4B640}"/>
              </a:ext>
            </a:extLst>
          </p:cNvPr>
          <p:cNvSpPr>
            <a:spLocks/>
          </p:cNvSpPr>
          <p:nvPr/>
        </p:nvSpPr>
        <p:spPr bwMode="auto">
          <a:xfrm>
            <a:off x="4483100" y="3048000"/>
            <a:ext cx="393700" cy="2362200"/>
          </a:xfrm>
          <a:custGeom>
            <a:avLst/>
            <a:gdLst>
              <a:gd name="T0" fmla="*/ 2147483646 w 248"/>
              <a:gd name="T1" fmla="*/ 0 h 1488"/>
              <a:gd name="T2" fmla="*/ 2147483646 w 248"/>
              <a:gd name="T3" fmla="*/ 2147483646 h 1488"/>
              <a:gd name="T4" fmla="*/ 2147483646 w 248"/>
              <a:gd name="T5" fmla="*/ 2147483646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248" y="0"/>
                </a:moveTo>
                <a:cubicBezTo>
                  <a:pt x="132" y="332"/>
                  <a:pt x="16" y="664"/>
                  <a:pt x="8" y="912"/>
                </a:cubicBezTo>
                <a:cubicBezTo>
                  <a:pt x="0" y="1160"/>
                  <a:pt x="100" y="1324"/>
                  <a:pt x="200" y="1488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1" name="Freeform 45">
            <a:extLst>
              <a:ext uri="{FF2B5EF4-FFF2-40B4-BE49-F238E27FC236}">
                <a16:creationId xmlns:a16="http://schemas.microsoft.com/office/drawing/2014/main" id="{B04BC9AA-318D-424A-9921-E3A57D92407C}"/>
              </a:ext>
            </a:extLst>
          </p:cNvPr>
          <p:cNvSpPr>
            <a:spLocks/>
          </p:cNvSpPr>
          <p:nvPr/>
        </p:nvSpPr>
        <p:spPr bwMode="auto">
          <a:xfrm>
            <a:off x="5029200" y="3048000"/>
            <a:ext cx="393700" cy="2362200"/>
          </a:xfrm>
          <a:custGeom>
            <a:avLst/>
            <a:gdLst>
              <a:gd name="T0" fmla="*/ 0 w 248"/>
              <a:gd name="T1" fmla="*/ 2147483646 h 1488"/>
              <a:gd name="T2" fmla="*/ 2147483646 w 248"/>
              <a:gd name="T3" fmla="*/ 2147483646 h 1488"/>
              <a:gd name="T4" fmla="*/ 2147483646 w 248"/>
              <a:gd name="T5" fmla="*/ 0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0" y="1488"/>
                </a:moveTo>
                <a:cubicBezTo>
                  <a:pt x="116" y="1180"/>
                  <a:pt x="232" y="872"/>
                  <a:pt x="240" y="624"/>
                </a:cubicBezTo>
                <a:cubicBezTo>
                  <a:pt x="248" y="376"/>
                  <a:pt x="148" y="188"/>
                  <a:pt x="48" y="0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2" name="Line 46">
            <a:extLst>
              <a:ext uri="{FF2B5EF4-FFF2-40B4-BE49-F238E27FC236}">
                <a16:creationId xmlns:a16="http://schemas.microsoft.com/office/drawing/2014/main" id="{B102AB30-CB84-47F9-B6BF-D106D63D6E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181600"/>
            <a:ext cx="152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3" name="Line 47">
            <a:extLst>
              <a:ext uri="{FF2B5EF4-FFF2-40B4-BE49-F238E27FC236}">
                <a16:creationId xmlns:a16="http://schemas.microsoft.com/office/drawing/2014/main" id="{A80BA346-6297-4251-A5C6-18C179F52F8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05400" y="3048000"/>
            <a:ext cx="762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4" name="Text Box 48">
            <a:extLst>
              <a:ext uri="{FF2B5EF4-FFF2-40B4-BE49-F238E27FC236}">
                <a16:creationId xmlns:a16="http://schemas.microsoft.com/office/drawing/2014/main" id="{9C5D2667-46F3-4CAF-BC81-6EC57FFDF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1775" name="Text Box 49">
            <a:extLst>
              <a:ext uri="{FF2B5EF4-FFF2-40B4-BE49-F238E27FC236}">
                <a16:creationId xmlns:a16="http://schemas.microsoft.com/office/drawing/2014/main" id="{8742813F-AF47-490D-B095-683B3CE1A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1776" name="Text Box 50">
            <a:extLst>
              <a:ext uri="{FF2B5EF4-FFF2-40B4-BE49-F238E27FC236}">
                <a16:creationId xmlns:a16="http://schemas.microsoft.com/office/drawing/2014/main" id="{CFE5EF97-9596-4A7C-99AD-98A57A6F1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1777" name="Text Box 51">
            <a:extLst>
              <a:ext uri="{FF2B5EF4-FFF2-40B4-BE49-F238E27FC236}">
                <a16:creationId xmlns:a16="http://schemas.microsoft.com/office/drawing/2014/main" id="{DC44A160-4CCC-4F54-BD4F-7927F0E1C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1778" name="Text Box 52">
            <a:extLst>
              <a:ext uri="{FF2B5EF4-FFF2-40B4-BE49-F238E27FC236}">
                <a16:creationId xmlns:a16="http://schemas.microsoft.com/office/drawing/2014/main" id="{3691B694-C0B7-4A4E-AC93-020F82757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1779" name="Text Box 53">
            <a:extLst>
              <a:ext uri="{FF2B5EF4-FFF2-40B4-BE49-F238E27FC236}">
                <a16:creationId xmlns:a16="http://schemas.microsoft.com/office/drawing/2014/main" id="{BE73F450-5B3A-421E-870D-591DB9A54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41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1780" name="Text Box 54">
            <a:extLst>
              <a:ext uri="{FF2B5EF4-FFF2-40B4-BE49-F238E27FC236}">
                <a16:creationId xmlns:a16="http://schemas.microsoft.com/office/drawing/2014/main" id="{89210A7D-5EF0-42C6-91CA-822BDB727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581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1781" name="Text Box 55">
            <a:extLst>
              <a:ext uri="{FF2B5EF4-FFF2-40B4-BE49-F238E27FC236}">
                <a16:creationId xmlns:a16="http://schemas.microsoft.com/office/drawing/2014/main" id="{C791D833-874B-4AFF-ACE7-2990B27D3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562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1782" name="Text Box 56">
            <a:extLst>
              <a:ext uri="{FF2B5EF4-FFF2-40B4-BE49-F238E27FC236}">
                <a16:creationId xmlns:a16="http://schemas.microsoft.com/office/drawing/2014/main" id="{2C2F3B0F-4060-4D06-986C-B594E0373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514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1783" name="Text Box 57">
            <a:extLst>
              <a:ext uri="{FF2B5EF4-FFF2-40B4-BE49-F238E27FC236}">
                <a16:creationId xmlns:a16="http://schemas.microsoft.com/office/drawing/2014/main" id="{2C874809-43E5-48CA-9725-8D86E240A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1784" name="Text Box 58">
            <a:extLst>
              <a:ext uri="{FF2B5EF4-FFF2-40B4-BE49-F238E27FC236}">
                <a16:creationId xmlns:a16="http://schemas.microsoft.com/office/drawing/2014/main" id="{EB36B027-F48D-4309-9E5B-E5CB86FA8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56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1785" name="Line 59">
            <a:extLst>
              <a:ext uri="{FF2B5EF4-FFF2-40B4-BE49-F238E27FC236}">
                <a16:creationId xmlns:a16="http://schemas.microsoft.com/office/drawing/2014/main" id="{45FD4665-61D0-4B7B-8561-F4BF55F007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895600"/>
            <a:ext cx="2514600" cy="1524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6" name="Text Box 60">
            <a:extLst>
              <a:ext uri="{FF2B5EF4-FFF2-40B4-BE49-F238E27FC236}">
                <a16:creationId xmlns:a16="http://schemas.microsoft.com/office/drawing/2014/main" id="{D2820E49-8A58-4259-9D84-C827F4ACE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1787" name="Text Box 61">
            <a:extLst>
              <a:ext uri="{FF2B5EF4-FFF2-40B4-BE49-F238E27FC236}">
                <a16:creationId xmlns:a16="http://schemas.microsoft.com/office/drawing/2014/main" id="{E4805F52-D6E3-4394-BF3C-339E9565D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962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1788" name="Text Box 62">
            <a:extLst>
              <a:ext uri="{FF2B5EF4-FFF2-40B4-BE49-F238E27FC236}">
                <a16:creationId xmlns:a16="http://schemas.microsoft.com/office/drawing/2014/main" id="{AC0262C5-3378-45AE-ABAB-299157DF5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114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1789" name="Text Box 63">
            <a:extLst>
              <a:ext uri="{FF2B5EF4-FFF2-40B4-BE49-F238E27FC236}">
                <a16:creationId xmlns:a16="http://schemas.microsoft.com/office/drawing/2014/main" id="{BDA7C7C4-B9BD-49F8-AB70-9AFAA921F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876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1790" name="Text Box 64">
            <a:extLst>
              <a:ext uri="{FF2B5EF4-FFF2-40B4-BE49-F238E27FC236}">
                <a16:creationId xmlns:a16="http://schemas.microsoft.com/office/drawing/2014/main" id="{214D475A-367F-42E1-9FE7-3DF7E8B29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1791" name="Text Box 65">
            <a:extLst>
              <a:ext uri="{FF2B5EF4-FFF2-40B4-BE49-F238E27FC236}">
                <a16:creationId xmlns:a16="http://schemas.microsoft.com/office/drawing/2014/main" id="{62B4A6CC-AEAE-4CB1-A0A3-08203AF76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4290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[0,V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Oval 2">
            <a:extLst>
              <a:ext uri="{FF2B5EF4-FFF2-40B4-BE49-F238E27FC236}">
                <a16:creationId xmlns:a16="http://schemas.microsoft.com/office/drawing/2014/main" id="{0260E6F8-0005-4D93-8292-C41B77913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86200"/>
            <a:ext cx="685800" cy="685800"/>
          </a:xfrm>
          <a:prstGeom prst="ellipse">
            <a:avLst/>
          </a:prstGeom>
          <a:solidFill>
            <a:srgbClr val="CC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grpSp>
        <p:nvGrpSpPr>
          <p:cNvPr id="32771" name="Group 3">
            <a:extLst>
              <a:ext uri="{FF2B5EF4-FFF2-40B4-BE49-F238E27FC236}">
                <a16:creationId xmlns:a16="http://schemas.microsoft.com/office/drawing/2014/main" id="{1E6C941F-17BD-43DD-BD48-0DA3FA9BD770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962400"/>
            <a:ext cx="609600" cy="457200"/>
            <a:chOff x="672" y="2208"/>
            <a:chExt cx="384" cy="288"/>
          </a:xfrm>
        </p:grpSpPr>
        <p:sp>
          <p:nvSpPr>
            <p:cNvPr id="32833" name="Oval 4">
              <a:extLst>
                <a:ext uri="{FF2B5EF4-FFF2-40B4-BE49-F238E27FC236}">
                  <a16:creationId xmlns:a16="http://schemas.microsoft.com/office/drawing/2014/main" id="{49D0515F-CF57-44FD-BE6F-B44B83757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2834" name="Text Box 5">
              <a:extLst>
                <a:ext uri="{FF2B5EF4-FFF2-40B4-BE49-F238E27FC236}">
                  <a16:creationId xmlns:a16="http://schemas.microsoft.com/office/drawing/2014/main" id="{53025A6E-C36E-4AAC-A2C7-6DCA71EEA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1</a:t>
              </a:r>
            </a:p>
          </p:txBody>
        </p:sp>
      </p:grpSp>
      <p:sp>
        <p:nvSpPr>
          <p:cNvPr id="32772" name="Rectangle 6">
            <a:extLst>
              <a:ext uri="{FF2B5EF4-FFF2-40B4-BE49-F238E27FC236}">
                <a16:creationId xmlns:a16="http://schemas.microsoft.com/office/drawing/2014/main" id="{12616CD4-74E7-4E60-AC6B-6727EC17FA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步骤</a:t>
            </a:r>
          </a:p>
        </p:txBody>
      </p:sp>
      <p:sp>
        <p:nvSpPr>
          <p:cNvPr id="32773" name="Rectangle 7">
            <a:extLst>
              <a:ext uri="{FF2B5EF4-FFF2-40B4-BE49-F238E27FC236}">
                <a16:creationId xmlns:a16="http://schemas.microsoft.com/office/drawing/2014/main" id="{EB1FE0EB-B68E-4711-9EE4-4FECB1888ED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54000" y="857075"/>
            <a:ext cx="8458200" cy="4987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0" dirty="0"/>
              <a:t>2</a:t>
            </a:r>
            <a:r>
              <a:rPr lang="zh-CN" altLang="en-US" sz="2800" b="0" dirty="0"/>
              <a:t>、</a:t>
            </a:r>
            <a:r>
              <a:rPr lang="zh-CN" altLang="zh-CN" sz="2800" dirty="0"/>
              <a:t>把顶点集V分成</a:t>
            </a:r>
            <a:r>
              <a:rPr lang="zh-CN" altLang="en-US" sz="2800" dirty="0"/>
              <a:t>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0" dirty="0"/>
              <a:t>       </a:t>
            </a:r>
            <a:r>
              <a:rPr lang="zh-CN" altLang="zh-CN" sz="2800" dirty="0"/>
              <a:t>V</a:t>
            </a:r>
            <a:r>
              <a:rPr lang="zh-CN" altLang="zh-CN" sz="2800" baseline="-25000" dirty="0"/>
              <a:t>A</a:t>
            </a:r>
            <a:r>
              <a:rPr lang="zh-CN" altLang="zh-CN" sz="2800" b="0" dirty="0"/>
              <a:t>：</a:t>
            </a:r>
            <a:r>
              <a:rPr lang="zh-CN" altLang="zh-CN" sz="2800" dirty="0"/>
              <a:t>已标号点集</a:t>
            </a:r>
            <a:r>
              <a:rPr lang="zh-CN" altLang="en-US" sz="2800" dirty="0"/>
              <a:t>（已求出最短路径）</a:t>
            </a:r>
            <a:endParaRPr lang="en-US" altLang="zh-CN" sz="2800" dirty="0"/>
          </a:p>
          <a:p>
            <a:pPr eaLnBrk="1" hangingPunct="1">
              <a:buNone/>
            </a:pPr>
            <a:r>
              <a:rPr lang="zh-CN" altLang="en-US" sz="2800" dirty="0"/>
              <a:t>       </a:t>
            </a:r>
            <a:r>
              <a:rPr lang="zh-CN" altLang="zh-CN" sz="2800" dirty="0"/>
              <a:t>V</a:t>
            </a:r>
            <a:r>
              <a:rPr lang="zh-CN" altLang="zh-CN" sz="2800" baseline="-25000" dirty="0"/>
              <a:t>B</a:t>
            </a:r>
            <a:r>
              <a:rPr lang="zh-CN" altLang="zh-CN" sz="2800" dirty="0"/>
              <a:t>：未标号点集</a:t>
            </a:r>
            <a:r>
              <a:rPr lang="zh-CN" altLang="en-US" sz="2800" dirty="0"/>
              <a:t>（未求出最短路径）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zh-CN" sz="2800" dirty="0"/>
          </a:p>
          <a:p>
            <a:pPr eaLnBrk="1" hangingPunct="1">
              <a:spcBef>
                <a:spcPts val="50"/>
              </a:spcBef>
            </a:pPr>
            <a:endParaRPr lang="en-US" altLang="zh-CN" dirty="0"/>
          </a:p>
        </p:txBody>
      </p:sp>
      <p:grpSp>
        <p:nvGrpSpPr>
          <p:cNvPr id="32774" name="Group 8">
            <a:extLst>
              <a:ext uri="{FF2B5EF4-FFF2-40B4-BE49-F238E27FC236}">
                <a16:creationId xmlns:a16="http://schemas.microsoft.com/office/drawing/2014/main" id="{DE670B3E-D65F-4360-9343-2A5EA9BCD23A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667000"/>
            <a:ext cx="609600" cy="457200"/>
            <a:chOff x="672" y="2208"/>
            <a:chExt cx="384" cy="288"/>
          </a:xfrm>
        </p:grpSpPr>
        <p:sp>
          <p:nvSpPr>
            <p:cNvPr id="32831" name="Oval 9">
              <a:extLst>
                <a:ext uri="{FF2B5EF4-FFF2-40B4-BE49-F238E27FC236}">
                  <a16:creationId xmlns:a16="http://schemas.microsoft.com/office/drawing/2014/main" id="{AC9E0CF3-0823-4513-86E9-108DA9E4F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2832" name="Text Box 10">
              <a:extLst>
                <a:ext uri="{FF2B5EF4-FFF2-40B4-BE49-F238E27FC236}">
                  <a16:creationId xmlns:a16="http://schemas.microsoft.com/office/drawing/2014/main" id="{B6B456BB-6451-4966-99C7-63E54930BD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2</a:t>
              </a:r>
            </a:p>
          </p:txBody>
        </p:sp>
      </p:grpSp>
      <p:grpSp>
        <p:nvGrpSpPr>
          <p:cNvPr id="32775" name="Group 11">
            <a:extLst>
              <a:ext uri="{FF2B5EF4-FFF2-40B4-BE49-F238E27FC236}">
                <a16:creationId xmlns:a16="http://schemas.microsoft.com/office/drawing/2014/main" id="{01DCF4F0-0E23-46AC-B833-FA53773149B3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257800"/>
            <a:ext cx="609600" cy="457200"/>
            <a:chOff x="672" y="2208"/>
            <a:chExt cx="384" cy="288"/>
          </a:xfrm>
        </p:grpSpPr>
        <p:sp>
          <p:nvSpPr>
            <p:cNvPr id="32829" name="Oval 12">
              <a:extLst>
                <a:ext uri="{FF2B5EF4-FFF2-40B4-BE49-F238E27FC236}">
                  <a16:creationId xmlns:a16="http://schemas.microsoft.com/office/drawing/2014/main" id="{A90DAB6D-F480-45D9-BC8B-63A7FCFAB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2830" name="Text Box 13">
              <a:extLst>
                <a:ext uri="{FF2B5EF4-FFF2-40B4-BE49-F238E27FC236}">
                  <a16:creationId xmlns:a16="http://schemas.microsoft.com/office/drawing/2014/main" id="{1B369556-E490-42D8-935D-FF16B762D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4</a:t>
              </a:r>
            </a:p>
          </p:txBody>
        </p:sp>
      </p:grpSp>
      <p:grpSp>
        <p:nvGrpSpPr>
          <p:cNvPr id="32776" name="Group 14">
            <a:extLst>
              <a:ext uri="{FF2B5EF4-FFF2-40B4-BE49-F238E27FC236}">
                <a16:creationId xmlns:a16="http://schemas.microsoft.com/office/drawing/2014/main" id="{7E8F0687-B419-47BE-A3D8-045BDF407378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038600"/>
            <a:ext cx="609600" cy="457200"/>
            <a:chOff x="672" y="2208"/>
            <a:chExt cx="384" cy="288"/>
          </a:xfrm>
        </p:grpSpPr>
        <p:sp>
          <p:nvSpPr>
            <p:cNvPr id="32827" name="Oval 15">
              <a:extLst>
                <a:ext uri="{FF2B5EF4-FFF2-40B4-BE49-F238E27FC236}">
                  <a16:creationId xmlns:a16="http://schemas.microsoft.com/office/drawing/2014/main" id="{EC8067D6-6BEB-4E80-BF98-5137C990B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2828" name="Text Box 16">
              <a:extLst>
                <a:ext uri="{FF2B5EF4-FFF2-40B4-BE49-F238E27FC236}">
                  <a16:creationId xmlns:a16="http://schemas.microsoft.com/office/drawing/2014/main" id="{97CD9662-9E87-4E13-83C2-05C4B2682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3</a:t>
              </a:r>
            </a:p>
          </p:txBody>
        </p:sp>
      </p:grpSp>
      <p:grpSp>
        <p:nvGrpSpPr>
          <p:cNvPr id="32777" name="Group 17">
            <a:extLst>
              <a:ext uri="{FF2B5EF4-FFF2-40B4-BE49-F238E27FC236}">
                <a16:creationId xmlns:a16="http://schemas.microsoft.com/office/drawing/2014/main" id="{214FAE2F-D487-4B64-980F-6DB8EAA78F66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590800"/>
            <a:ext cx="609600" cy="457200"/>
            <a:chOff x="672" y="2208"/>
            <a:chExt cx="384" cy="288"/>
          </a:xfrm>
        </p:grpSpPr>
        <p:sp>
          <p:nvSpPr>
            <p:cNvPr id="32825" name="Oval 18">
              <a:extLst>
                <a:ext uri="{FF2B5EF4-FFF2-40B4-BE49-F238E27FC236}">
                  <a16:creationId xmlns:a16="http://schemas.microsoft.com/office/drawing/2014/main" id="{0DE50D6B-B0DD-4050-B452-4261D41DC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2826" name="Text Box 19">
              <a:extLst>
                <a:ext uri="{FF2B5EF4-FFF2-40B4-BE49-F238E27FC236}">
                  <a16:creationId xmlns:a16="http://schemas.microsoft.com/office/drawing/2014/main" id="{96A42E08-C67F-4120-925C-3EACCAA0A2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5</a:t>
              </a:r>
            </a:p>
          </p:txBody>
        </p:sp>
      </p:grpSp>
      <p:grpSp>
        <p:nvGrpSpPr>
          <p:cNvPr id="32778" name="Group 20">
            <a:extLst>
              <a:ext uri="{FF2B5EF4-FFF2-40B4-BE49-F238E27FC236}">
                <a16:creationId xmlns:a16="http://schemas.microsoft.com/office/drawing/2014/main" id="{2C02B3DF-5B73-4ECE-B8A5-02CC57FE768D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5410200"/>
            <a:ext cx="609600" cy="457200"/>
            <a:chOff x="672" y="2208"/>
            <a:chExt cx="384" cy="288"/>
          </a:xfrm>
        </p:grpSpPr>
        <p:sp>
          <p:nvSpPr>
            <p:cNvPr id="32823" name="Oval 21">
              <a:extLst>
                <a:ext uri="{FF2B5EF4-FFF2-40B4-BE49-F238E27FC236}">
                  <a16:creationId xmlns:a16="http://schemas.microsoft.com/office/drawing/2014/main" id="{25356F56-6EBF-4B9B-8EB5-A912BA28E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2824" name="Text Box 22">
              <a:extLst>
                <a:ext uri="{FF2B5EF4-FFF2-40B4-BE49-F238E27FC236}">
                  <a16:creationId xmlns:a16="http://schemas.microsoft.com/office/drawing/2014/main" id="{61FD688F-EBCC-4F48-815C-DF99256FE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6</a:t>
              </a:r>
            </a:p>
          </p:txBody>
        </p:sp>
      </p:grpSp>
      <p:grpSp>
        <p:nvGrpSpPr>
          <p:cNvPr id="32779" name="Group 23">
            <a:extLst>
              <a:ext uri="{FF2B5EF4-FFF2-40B4-BE49-F238E27FC236}">
                <a16:creationId xmlns:a16="http://schemas.microsoft.com/office/drawing/2014/main" id="{A17A3B15-7749-4CBC-8A20-144F739D28DE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5181600"/>
            <a:ext cx="609600" cy="457200"/>
            <a:chOff x="672" y="2208"/>
            <a:chExt cx="384" cy="288"/>
          </a:xfrm>
        </p:grpSpPr>
        <p:sp>
          <p:nvSpPr>
            <p:cNvPr id="32821" name="Oval 24">
              <a:extLst>
                <a:ext uri="{FF2B5EF4-FFF2-40B4-BE49-F238E27FC236}">
                  <a16:creationId xmlns:a16="http://schemas.microsoft.com/office/drawing/2014/main" id="{36DBE6DA-A30C-4D9C-B34C-476B4300DC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2822" name="Text Box 25">
              <a:extLst>
                <a:ext uri="{FF2B5EF4-FFF2-40B4-BE49-F238E27FC236}">
                  <a16:creationId xmlns:a16="http://schemas.microsoft.com/office/drawing/2014/main" id="{784FFA06-8797-4603-8887-B93DA2D99E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7</a:t>
              </a:r>
            </a:p>
          </p:txBody>
        </p:sp>
      </p:grpSp>
      <p:grpSp>
        <p:nvGrpSpPr>
          <p:cNvPr id="32780" name="Group 26">
            <a:extLst>
              <a:ext uri="{FF2B5EF4-FFF2-40B4-BE49-F238E27FC236}">
                <a16:creationId xmlns:a16="http://schemas.microsoft.com/office/drawing/2014/main" id="{9843229F-2D6C-47F1-B363-5E7517CFB05B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191000"/>
            <a:ext cx="609600" cy="457200"/>
            <a:chOff x="672" y="2208"/>
            <a:chExt cx="384" cy="288"/>
          </a:xfrm>
        </p:grpSpPr>
        <p:sp>
          <p:nvSpPr>
            <p:cNvPr id="32819" name="Oval 27">
              <a:extLst>
                <a:ext uri="{FF2B5EF4-FFF2-40B4-BE49-F238E27FC236}">
                  <a16:creationId xmlns:a16="http://schemas.microsoft.com/office/drawing/2014/main" id="{E7C08FD7-A1CC-45DF-A365-746189CCD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2820" name="Text Box 28">
              <a:extLst>
                <a:ext uri="{FF2B5EF4-FFF2-40B4-BE49-F238E27FC236}">
                  <a16:creationId xmlns:a16="http://schemas.microsoft.com/office/drawing/2014/main" id="{068ADC2A-E093-4CA8-A1A4-93AA62C930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8</a:t>
              </a:r>
            </a:p>
          </p:txBody>
        </p:sp>
      </p:grpSp>
      <p:grpSp>
        <p:nvGrpSpPr>
          <p:cNvPr id="32781" name="Group 29">
            <a:extLst>
              <a:ext uri="{FF2B5EF4-FFF2-40B4-BE49-F238E27FC236}">
                <a16:creationId xmlns:a16="http://schemas.microsoft.com/office/drawing/2014/main" id="{92867BFE-F8F9-43A0-9B95-5ABEA2FD99F6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819400"/>
            <a:ext cx="609600" cy="457200"/>
            <a:chOff x="672" y="2208"/>
            <a:chExt cx="384" cy="288"/>
          </a:xfrm>
        </p:grpSpPr>
        <p:sp>
          <p:nvSpPr>
            <p:cNvPr id="32817" name="Oval 30">
              <a:extLst>
                <a:ext uri="{FF2B5EF4-FFF2-40B4-BE49-F238E27FC236}">
                  <a16:creationId xmlns:a16="http://schemas.microsoft.com/office/drawing/2014/main" id="{1C08A638-F1BC-40E9-BB16-BDDF10C3E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2818" name="Text Box 31">
              <a:extLst>
                <a:ext uri="{FF2B5EF4-FFF2-40B4-BE49-F238E27FC236}">
                  <a16:creationId xmlns:a16="http://schemas.microsoft.com/office/drawing/2014/main" id="{32FF2C7F-D0B2-4FD8-BB37-FAA3F7EC71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9</a:t>
              </a:r>
            </a:p>
          </p:txBody>
        </p:sp>
      </p:grpSp>
      <p:sp>
        <p:nvSpPr>
          <p:cNvPr id="32782" name="Line 32">
            <a:extLst>
              <a:ext uri="{FF2B5EF4-FFF2-40B4-BE49-F238E27FC236}">
                <a16:creationId xmlns:a16="http://schemas.microsoft.com/office/drawing/2014/main" id="{2C35F0FD-F668-44EB-8F79-D4CF4D1119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3048000"/>
            <a:ext cx="7620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3" name="Line 33">
            <a:extLst>
              <a:ext uri="{FF2B5EF4-FFF2-40B4-BE49-F238E27FC236}">
                <a16:creationId xmlns:a16="http://schemas.microsoft.com/office/drawing/2014/main" id="{DF25A525-48CE-44AE-8B4A-17D75CE0C3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895600"/>
            <a:ext cx="2286000" cy="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4" name="Line 34">
            <a:extLst>
              <a:ext uri="{FF2B5EF4-FFF2-40B4-BE49-F238E27FC236}">
                <a16:creationId xmlns:a16="http://schemas.microsoft.com/office/drawing/2014/main" id="{716978E4-A073-458E-A8C7-F0E9A24858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191000"/>
            <a:ext cx="1371600" cy="762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5" name="Line 35">
            <a:extLst>
              <a:ext uri="{FF2B5EF4-FFF2-40B4-BE49-F238E27FC236}">
                <a16:creationId xmlns:a16="http://schemas.microsoft.com/office/drawing/2014/main" id="{9C024072-EC1C-400C-84A3-6B7C8955DE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419600"/>
            <a:ext cx="8382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6" name="Line 36">
            <a:extLst>
              <a:ext uri="{FF2B5EF4-FFF2-40B4-BE49-F238E27FC236}">
                <a16:creationId xmlns:a16="http://schemas.microsoft.com/office/drawing/2014/main" id="{B577747F-5A53-47AC-9820-F79F4C5AE1E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3124200"/>
            <a:ext cx="6096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7" name="Line 37">
            <a:extLst>
              <a:ext uri="{FF2B5EF4-FFF2-40B4-BE49-F238E27FC236}">
                <a16:creationId xmlns:a16="http://schemas.microsoft.com/office/drawing/2014/main" id="{E64D56E1-CAC9-4F31-97C3-C1E7103CDD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4495800"/>
            <a:ext cx="457200" cy="762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8" name="Line 38">
            <a:extLst>
              <a:ext uri="{FF2B5EF4-FFF2-40B4-BE49-F238E27FC236}">
                <a16:creationId xmlns:a16="http://schemas.microsoft.com/office/drawing/2014/main" id="{C068C9C4-DBEB-4252-B961-337755CA44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3048000"/>
            <a:ext cx="2209800" cy="2286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9" name="Line 39">
            <a:extLst>
              <a:ext uri="{FF2B5EF4-FFF2-40B4-BE49-F238E27FC236}">
                <a16:creationId xmlns:a16="http://schemas.microsoft.com/office/drawing/2014/main" id="{6C7CB105-A706-4B2C-9935-AB57110C1E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486400"/>
            <a:ext cx="20574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0" name="Line 40">
            <a:extLst>
              <a:ext uri="{FF2B5EF4-FFF2-40B4-BE49-F238E27FC236}">
                <a16:creationId xmlns:a16="http://schemas.microsoft.com/office/drawing/2014/main" id="{D4578469-2DC4-46CE-BF3C-BC1C2D471F2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81600" y="2819400"/>
            <a:ext cx="1676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1" name="Line 41">
            <a:extLst>
              <a:ext uri="{FF2B5EF4-FFF2-40B4-BE49-F238E27FC236}">
                <a16:creationId xmlns:a16="http://schemas.microsoft.com/office/drawing/2014/main" id="{A5F7EA5E-FB35-4C02-AAF3-31B841DBE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276600"/>
            <a:ext cx="685800" cy="990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2" name="Line 42">
            <a:extLst>
              <a:ext uri="{FF2B5EF4-FFF2-40B4-BE49-F238E27FC236}">
                <a16:creationId xmlns:a16="http://schemas.microsoft.com/office/drawing/2014/main" id="{3618967E-EC66-4AA1-A67F-1A210E6E8B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648200"/>
            <a:ext cx="914400" cy="685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3" name="Line 43">
            <a:extLst>
              <a:ext uri="{FF2B5EF4-FFF2-40B4-BE49-F238E27FC236}">
                <a16:creationId xmlns:a16="http://schemas.microsoft.com/office/drawing/2014/main" id="{350EDE7E-9BA0-4C27-A7FA-6616695539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5486400"/>
            <a:ext cx="13716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4" name="Line 44">
            <a:extLst>
              <a:ext uri="{FF2B5EF4-FFF2-40B4-BE49-F238E27FC236}">
                <a16:creationId xmlns:a16="http://schemas.microsoft.com/office/drawing/2014/main" id="{7B09ABA4-A1AC-4EA0-9569-B5D03C5F17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971800"/>
            <a:ext cx="1524000" cy="2209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5" name="Freeform 45">
            <a:extLst>
              <a:ext uri="{FF2B5EF4-FFF2-40B4-BE49-F238E27FC236}">
                <a16:creationId xmlns:a16="http://schemas.microsoft.com/office/drawing/2014/main" id="{7D3A5431-E846-414F-97AB-D5B8F087C45A}"/>
              </a:ext>
            </a:extLst>
          </p:cNvPr>
          <p:cNvSpPr>
            <a:spLocks/>
          </p:cNvSpPr>
          <p:nvPr/>
        </p:nvSpPr>
        <p:spPr bwMode="auto">
          <a:xfrm>
            <a:off x="4483100" y="3048000"/>
            <a:ext cx="393700" cy="2362200"/>
          </a:xfrm>
          <a:custGeom>
            <a:avLst/>
            <a:gdLst>
              <a:gd name="T0" fmla="*/ 2147483646 w 248"/>
              <a:gd name="T1" fmla="*/ 0 h 1488"/>
              <a:gd name="T2" fmla="*/ 2147483646 w 248"/>
              <a:gd name="T3" fmla="*/ 2147483646 h 1488"/>
              <a:gd name="T4" fmla="*/ 2147483646 w 248"/>
              <a:gd name="T5" fmla="*/ 2147483646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248" y="0"/>
                </a:moveTo>
                <a:cubicBezTo>
                  <a:pt x="132" y="332"/>
                  <a:pt x="16" y="664"/>
                  <a:pt x="8" y="912"/>
                </a:cubicBezTo>
                <a:cubicBezTo>
                  <a:pt x="0" y="1160"/>
                  <a:pt x="100" y="1324"/>
                  <a:pt x="200" y="1488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6" name="Freeform 46">
            <a:extLst>
              <a:ext uri="{FF2B5EF4-FFF2-40B4-BE49-F238E27FC236}">
                <a16:creationId xmlns:a16="http://schemas.microsoft.com/office/drawing/2014/main" id="{5C413FB3-2DC0-4DBA-B3A8-79C749D68B4E}"/>
              </a:ext>
            </a:extLst>
          </p:cNvPr>
          <p:cNvSpPr>
            <a:spLocks/>
          </p:cNvSpPr>
          <p:nvPr/>
        </p:nvSpPr>
        <p:spPr bwMode="auto">
          <a:xfrm>
            <a:off x="5029200" y="3048000"/>
            <a:ext cx="393700" cy="2362200"/>
          </a:xfrm>
          <a:custGeom>
            <a:avLst/>
            <a:gdLst>
              <a:gd name="T0" fmla="*/ 0 w 248"/>
              <a:gd name="T1" fmla="*/ 2147483646 h 1488"/>
              <a:gd name="T2" fmla="*/ 2147483646 w 248"/>
              <a:gd name="T3" fmla="*/ 2147483646 h 1488"/>
              <a:gd name="T4" fmla="*/ 2147483646 w 248"/>
              <a:gd name="T5" fmla="*/ 0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0" y="1488"/>
                </a:moveTo>
                <a:cubicBezTo>
                  <a:pt x="116" y="1180"/>
                  <a:pt x="232" y="872"/>
                  <a:pt x="240" y="624"/>
                </a:cubicBezTo>
                <a:cubicBezTo>
                  <a:pt x="248" y="376"/>
                  <a:pt x="148" y="188"/>
                  <a:pt x="48" y="0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7" name="Line 47">
            <a:extLst>
              <a:ext uri="{FF2B5EF4-FFF2-40B4-BE49-F238E27FC236}">
                <a16:creationId xmlns:a16="http://schemas.microsoft.com/office/drawing/2014/main" id="{10C3FC05-D6B5-4D5D-AF92-507196D34C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181600"/>
            <a:ext cx="152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8" name="Line 48">
            <a:extLst>
              <a:ext uri="{FF2B5EF4-FFF2-40B4-BE49-F238E27FC236}">
                <a16:creationId xmlns:a16="http://schemas.microsoft.com/office/drawing/2014/main" id="{E711B260-8CC5-4651-9496-ADFC2BF67C9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05400" y="3048000"/>
            <a:ext cx="762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9" name="Text Box 49">
            <a:extLst>
              <a:ext uri="{FF2B5EF4-FFF2-40B4-BE49-F238E27FC236}">
                <a16:creationId xmlns:a16="http://schemas.microsoft.com/office/drawing/2014/main" id="{2BE19A05-6C4C-41AF-8387-31E9D976F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2800" name="Text Box 50">
            <a:extLst>
              <a:ext uri="{FF2B5EF4-FFF2-40B4-BE49-F238E27FC236}">
                <a16:creationId xmlns:a16="http://schemas.microsoft.com/office/drawing/2014/main" id="{621773C5-9628-4393-AB0A-FA5CAF0B5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2801" name="Text Box 51">
            <a:extLst>
              <a:ext uri="{FF2B5EF4-FFF2-40B4-BE49-F238E27FC236}">
                <a16:creationId xmlns:a16="http://schemas.microsoft.com/office/drawing/2014/main" id="{6E39DA56-B49C-4E79-9A7A-0F428D09D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2802" name="Text Box 52">
            <a:extLst>
              <a:ext uri="{FF2B5EF4-FFF2-40B4-BE49-F238E27FC236}">
                <a16:creationId xmlns:a16="http://schemas.microsoft.com/office/drawing/2014/main" id="{F38B5691-85F1-4B21-915C-2264B7147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2803" name="Text Box 53">
            <a:extLst>
              <a:ext uri="{FF2B5EF4-FFF2-40B4-BE49-F238E27FC236}">
                <a16:creationId xmlns:a16="http://schemas.microsoft.com/office/drawing/2014/main" id="{17E94B1C-C10F-4D4C-9E15-E5065A19B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2804" name="Text Box 54">
            <a:extLst>
              <a:ext uri="{FF2B5EF4-FFF2-40B4-BE49-F238E27FC236}">
                <a16:creationId xmlns:a16="http://schemas.microsoft.com/office/drawing/2014/main" id="{AD880CE9-CF12-42B2-8D7B-E16FE234E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41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2805" name="Text Box 55">
            <a:extLst>
              <a:ext uri="{FF2B5EF4-FFF2-40B4-BE49-F238E27FC236}">
                <a16:creationId xmlns:a16="http://schemas.microsoft.com/office/drawing/2014/main" id="{F7F9A4AC-21AD-4C02-9C37-3F231FC8D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581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2806" name="Text Box 56">
            <a:extLst>
              <a:ext uri="{FF2B5EF4-FFF2-40B4-BE49-F238E27FC236}">
                <a16:creationId xmlns:a16="http://schemas.microsoft.com/office/drawing/2014/main" id="{84A6D7EF-6C10-452F-843D-04F69865E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562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2807" name="Text Box 57">
            <a:extLst>
              <a:ext uri="{FF2B5EF4-FFF2-40B4-BE49-F238E27FC236}">
                <a16:creationId xmlns:a16="http://schemas.microsoft.com/office/drawing/2014/main" id="{BC076341-CB40-4679-B63B-515222C47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514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2808" name="Text Box 58">
            <a:extLst>
              <a:ext uri="{FF2B5EF4-FFF2-40B4-BE49-F238E27FC236}">
                <a16:creationId xmlns:a16="http://schemas.microsoft.com/office/drawing/2014/main" id="{5B4629BE-A34A-4538-928B-B5213D0CC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2809" name="Text Box 59">
            <a:extLst>
              <a:ext uri="{FF2B5EF4-FFF2-40B4-BE49-F238E27FC236}">
                <a16:creationId xmlns:a16="http://schemas.microsoft.com/office/drawing/2014/main" id="{B0948A07-636A-4206-B9B4-4C89B9E87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56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2810" name="Line 60">
            <a:extLst>
              <a:ext uri="{FF2B5EF4-FFF2-40B4-BE49-F238E27FC236}">
                <a16:creationId xmlns:a16="http://schemas.microsoft.com/office/drawing/2014/main" id="{1F694B4E-8ABC-4F90-A624-E9D1C8B63A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895600"/>
            <a:ext cx="2514600" cy="1524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11" name="Text Box 61">
            <a:extLst>
              <a:ext uri="{FF2B5EF4-FFF2-40B4-BE49-F238E27FC236}">
                <a16:creationId xmlns:a16="http://schemas.microsoft.com/office/drawing/2014/main" id="{D6E0282B-AD20-482D-AA97-773159709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2812" name="Text Box 62">
            <a:extLst>
              <a:ext uri="{FF2B5EF4-FFF2-40B4-BE49-F238E27FC236}">
                <a16:creationId xmlns:a16="http://schemas.microsoft.com/office/drawing/2014/main" id="{91F76FC8-36A4-45CB-92A3-AE49763CD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962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2813" name="Text Box 63">
            <a:extLst>
              <a:ext uri="{FF2B5EF4-FFF2-40B4-BE49-F238E27FC236}">
                <a16:creationId xmlns:a16="http://schemas.microsoft.com/office/drawing/2014/main" id="{ECA3FB82-B277-4E72-AF67-5647106EB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114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2814" name="Text Box 64">
            <a:extLst>
              <a:ext uri="{FF2B5EF4-FFF2-40B4-BE49-F238E27FC236}">
                <a16:creationId xmlns:a16="http://schemas.microsoft.com/office/drawing/2014/main" id="{A378F0BC-11BE-4A36-A6FB-4965E7DA4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876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2815" name="Text Box 65">
            <a:extLst>
              <a:ext uri="{FF2B5EF4-FFF2-40B4-BE49-F238E27FC236}">
                <a16:creationId xmlns:a16="http://schemas.microsoft.com/office/drawing/2014/main" id="{88A56815-F7CE-41AC-88DA-F4C4E6BE8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2816" name="Text Box 66">
            <a:extLst>
              <a:ext uri="{FF2B5EF4-FFF2-40B4-BE49-F238E27FC236}">
                <a16:creationId xmlns:a16="http://schemas.microsoft.com/office/drawing/2014/main" id="{6626B177-FDBD-4942-B4BE-398931D2A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4290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[0,V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61" name="Freeform 69">
            <a:extLst>
              <a:ext uri="{FF2B5EF4-FFF2-40B4-BE49-F238E27FC236}">
                <a16:creationId xmlns:a16="http://schemas.microsoft.com/office/drawing/2014/main" id="{252BD202-2470-45F6-B7F2-9CC6D66755A9}"/>
              </a:ext>
            </a:extLst>
          </p:cNvPr>
          <p:cNvSpPr>
            <a:spLocks/>
          </p:cNvSpPr>
          <p:nvPr/>
        </p:nvSpPr>
        <p:spPr bwMode="auto">
          <a:xfrm>
            <a:off x="673100" y="3543300"/>
            <a:ext cx="2311400" cy="2616200"/>
          </a:xfrm>
          <a:custGeom>
            <a:avLst/>
            <a:gdLst>
              <a:gd name="T0" fmla="*/ 2147483646 w 1456"/>
              <a:gd name="T1" fmla="*/ 2147483646 h 1648"/>
              <a:gd name="T2" fmla="*/ 2147483646 w 1456"/>
              <a:gd name="T3" fmla="*/ 2147483646 h 1648"/>
              <a:gd name="T4" fmla="*/ 2147483646 w 1456"/>
              <a:gd name="T5" fmla="*/ 2147483646 h 1648"/>
              <a:gd name="T6" fmla="*/ 2147483646 w 1456"/>
              <a:gd name="T7" fmla="*/ 2147483646 h 1648"/>
              <a:gd name="T8" fmla="*/ 2147483646 w 1456"/>
              <a:gd name="T9" fmla="*/ 2147483646 h 1648"/>
              <a:gd name="T10" fmla="*/ 2147483646 w 1456"/>
              <a:gd name="T11" fmla="*/ 2147483646 h 1648"/>
              <a:gd name="T12" fmla="*/ 2147483646 w 1456"/>
              <a:gd name="T13" fmla="*/ 2147483646 h 16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56"/>
              <a:gd name="T22" fmla="*/ 0 h 1648"/>
              <a:gd name="T23" fmla="*/ 1456 w 1456"/>
              <a:gd name="T24" fmla="*/ 1648 h 164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56" h="1648">
                <a:moveTo>
                  <a:pt x="104" y="504"/>
                </a:moveTo>
                <a:cubicBezTo>
                  <a:pt x="0" y="296"/>
                  <a:pt x="88" y="272"/>
                  <a:pt x="152" y="216"/>
                </a:cubicBezTo>
                <a:cubicBezTo>
                  <a:pt x="216" y="160"/>
                  <a:pt x="288" y="0"/>
                  <a:pt x="488" y="168"/>
                </a:cubicBezTo>
                <a:cubicBezTo>
                  <a:pt x="688" y="336"/>
                  <a:pt x="1248" y="992"/>
                  <a:pt x="1352" y="1224"/>
                </a:cubicBezTo>
                <a:cubicBezTo>
                  <a:pt x="1456" y="1456"/>
                  <a:pt x="1208" y="1520"/>
                  <a:pt x="1112" y="1560"/>
                </a:cubicBezTo>
                <a:cubicBezTo>
                  <a:pt x="1016" y="1600"/>
                  <a:pt x="944" y="1648"/>
                  <a:pt x="776" y="1464"/>
                </a:cubicBezTo>
                <a:cubicBezTo>
                  <a:pt x="608" y="1280"/>
                  <a:pt x="208" y="712"/>
                  <a:pt x="104" y="504"/>
                </a:cubicBezTo>
                <a:close/>
              </a:path>
            </a:pathLst>
          </a:custGeom>
          <a:solidFill>
            <a:srgbClr val="CC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8594" name="Oval 2">
            <a:extLst>
              <a:ext uri="{FF2B5EF4-FFF2-40B4-BE49-F238E27FC236}">
                <a16:creationId xmlns:a16="http://schemas.microsoft.com/office/drawing/2014/main" id="{6908284B-FD45-46F0-9B22-FC0F808B0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86200"/>
            <a:ext cx="685800" cy="685800"/>
          </a:xfrm>
          <a:prstGeom prst="ellipse">
            <a:avLst/>
          </a:prstGeom>
          <a:solidFill>
            <a:srgbClr val="CC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grpSp>
        <p:nvGrpSpPr>
          <p:cNvPr id="33797" name="Group 3">
            <a:extLst>
              <a:ext uri="{FF2B5EF4-FFF2-40B4-BE49-F238E27FC236}">
                <a16:creationId xmlns:a16="http://schemas.microsoft.com/office/drawing/2014/main" id="{EA08AE90-B488-45E5-BFAD-D7DFF8443F27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962400"/>
            <a:ext cx="609600" cy="457200"/>
            <a:chOff x="672" y="2208"/>
            <a:chExt cx="384" cy="288"/>
          </a:xfrm>
        </p:grpSpPr>
        <p:sp>
          <p:nvSpPr>
            <p:cNvPr id="33862" name="Oval 4">
              <a:extLst>
                <a:ext uri="{FF2B5EF4-FFF2-40B4-BE49-F238E27FC236}">
                  <a16:creationId xmlns:a16="http://schemas.microsoft.com/office/drawing/2014/main" id="{A1FDA74D-AEC1-4AE7-A194-13DC2BA86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3863" name="Text Box 5">
              <a:extLst>
                <a:ext uri="{FF2B5EF4-FFF2-40B4-BE49-F238E27FC236}">
                  <a16:creationId xmlns:a16="http://schemas.microsoft.com/office/drawing/2014/main" id="{0BAD7E1A-4AAA-464C-83F9-F1D7C75CD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1</a:t>
              </a:r>
            </a:p>
          </p:txBody>
        </p:sp>
      </p:grpSp>
      <p:sp>
        <p:nvSpPr>
          <p:cNvPr id="33798" name="Rectangle 6">
            <a:extLst>
              <a:ext uri="{FF2B5EF4-FFF2-40B4-BE49-F238E27FC236}">
                <a16:creationId xmlns:a16="http://schemas.microsoft.com/office/drawing/2014/main" id="{0D9F36BC-E2D7-4689-8F58-D65EB00E5F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步骤</a:t>
            </a:r>
          </a:p>
        </p:txBody>
      </p:sp>
      <p:grpSp>
        <p:nvGrpSpPr>
          <p:cNvPr id="33799" name="Group 8">
            <a:extLst>
              <a:ext uri="{FF2B5EF4-FFF2-40B4-BE49-F238E27FC236}">
                <a16:creationId xmlns:a16="http://schemas.microsoft.com/office/drawing/2014/main" id="{A2A11F54-3472-4DF2-B940-D5D3AEBD5C46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667000"/>
            <a:ext cx="609600" cy="457200"/>
            <a:chOff x="672" y="2208"/>
            <a:chExt cx="384" cy="288"/>
          </a:xfrm>
        </p:grpSpPr>
        <p:sp>
          <p:nvSpPr>
            <p:cNvPr id="33860" name="Oval 9">
              <a:extLst>
                <a:ext uri="{FF2B5EF4-FFF2-40B4-BE49-F238E27FC236}">
                  <a16:creationId xmlns:a16="http://schemas.microsoft.com/office/drawing/2014/main" id="{66D03574-DED6-4A85-86A4-74A98A2D3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3861" name="Text Box 10">
              <a:extLst>
                <a:ext uri="{FF2B5EF4-FFF2-40B4-BE49-F238E27FC236}">
                  <a16:creationId xmlns:a16="http://schemas.microsoft.com/office/drawing/2014/main" id="{37D72824-7CBD-434A-8DAD-1C9000E653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 dirty="0"/>
                <a:t>V</a:t>
              </a:r>
              <a:r>
                <a:rPr lang="en-US" altLang="zh-CN" sz="2400" baseline="-25000" dirty="0"/>
                <a:t>2</a:t>
              </a:r>
            </a:p>
          </p:txBody>
        </p:sp>
      </p:grpSp>
      <p:grpSp>
        <p:nvGrpSpPr>
          <p:cNvPr id="33800" name="Group 11">
            <a:extLst>
              <a:ext uri="{FF2B5EF4-FFF2-40B4-BE49-F238E27FC236}">
                <a16:creationId xmlns:a16="http://schemas.microsoft.com/office/drawing/2014/main" id="{F803596D-B5E3-4075-BC88-CCFD661FC424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257800"/>
            <a:ext cx="609600" cy="457200"/>
            <a:chOff x="672" y="2208"/>
            <a:chExt cx="384" cy="288"/>
          </a:xfrm>
        </p:grpSpPr>
        <p:sp>
          <p:nvSpPr>
            <p:cNvPr id="33858" name="Oval 12">
              <a:extLst>
                <a:ext uri="{FF2B5EF4-FFF2-40B4-BE49-F238E27FC236}">
                  <a16:creationId xmlns:a16="http://schemas.microsoft.com/office/drawing/2014/main" id="{9D0A0E7D-EC85-4C0C-80DF-25F9037CB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3859" name="Text Box 13">
              <a:extLst>
                <a:ext uri="{FF2B5EF4-FFF2-40B4-BE49-F238E27FC236}">
                  <a16:creationId xmlns:a16="http://schemas.microsoft.com/office/drawing/2014/main" id="{069891E4-7CAF-4761-A938-1C9EFCBE1A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4</a:t>
              </a:r>
            </a:p>
          </p:txBody>
        </p:sp>
      </p:grpSp>
      <p:grpSp>
        <p:nvGrpSpPr>
          <p:cNvPr id="33801" name="Group 14">
            <a:extLst>
              <a:ext uri="{FF2B5EF4-FFF2-40B4-BE49-F238E27FC236}">
                <a16:creationId xmlns:a16="http://schemas.microsoft.com/office/drawing/2014/main" id="{C13B5779-421F-41B6-8A8D-0D503CECFD04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038600"/>
            <a:ext cx="609600" cy="457200"/>
            <a:chOff x="672" y="2208"/>
            <a:chExt cx="384" cy="288"/>
          </a:xfrm>
        </p:grpSpPr>
        <p:sp>
          <p:nvSpPr>
            <p:cNvPr id="33856" name="Oval 15">
              <a:extLst>
                <a:ext uri="{FF2B5EF4-FFF2-40B4-BE49-F238E27FC236}">
                  <a16:creationId xmlns:a16="http://schemas.microsoft.com/office/drawing/2014/main" id="{F685F6BA-1A93-4F19-B9BF-C5FD807F4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3857" name="Text Box 16">
              <a:extLst>
                <a:ext uri="{FF2B5EF4-FFF2-40B4-BE49-F238E27FC236}">
                  <a16:creationId xmlns:a16="http://schemas.microsoft.com/office/drawing/2014/main" id="{365863F3-137F-42F3-95D2-84A84853F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 dirty="0"/>
                <a:t>V</a:t>
              </a:r>
              <a:r>
                <a:rPr lang="en-US" altLang="zh-CN" sz="2400" baseline="-25000" dirty="0"/>
                <a:t>3</a:t>
              </a:r>
            </a:p>
          </p:txBody>
        </p:sp>
      </p:grpSp>
      <p:grpSp>
        <p:nvGrpSpPr>
          <p:cNvPr id="33802" name="Group 17">
            <a:extLst>
              <a:ext uri="{FF2B5EF4-FFF2-40B4-BE49-F238E27FC236}">
                <a16:creationId xmlns:a16="http://schemas.microsoft.com/office/drawing/2014/main" id="{400CDEEC-73FA-4A19-B2D9-7DE354EAC94F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590800"/>
            <a:ext cx="609600" cy="457200"/>
            <a:chOff x="672" y="2208"/>
            <a:chExt cx="384" cy="288"/>
          </a:xfrm>
        </p:grpSpPr>
        <p:sp>
          <p:nvSpPr>
            <p:cNvPr id="33854" name="Oval 18">
              <a:extLst>
                <a:ext uri="{FF2B5EF4-FFF2-40B4-BE49-F238E27FC236}">
                  <a16:creationId xmlns:a16="http://schemas.microsoft.com/office/drawing/2014/main" id="{D47FC471-D1ED-43F4-8DB5-81467DFE3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3855" name="Text Box 19">
              <a:extLst>
                <a:ext uri="{FF2B5EF4-FFF2-40B4-BE49-F238E27FC236}">
                  <a16:creationId xmlns:a16="http://schemas.microsoft.com/office/drawing/2014/main" id="{9DB76370-8E86-4FB1-9D85-BC700B228A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5</a:t>
              </a:r>
            </a:p>
          </p:txBody>
        </p:sp>
      </p:grpSp>
      <p:grpSp>
        <p:nvGrpSpPr>
          <p:cNvPr id="33803" name="Group 20">
            <a:extLst>
              <a:ext uri="{FF2B5EF4-FFF2-40B4-BE49-F238E27FC236}">
                <a16:creationId xmlns:a16="http://schemas.microsoft.com/office/drawing/2014/main" id="{2D8A6CCD-2F41-46EB-B1B4-B3271398F55C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5410200"/>
            <a:ext cx="609600" cy="457200"/>
            <a:chOff x="672" y="2208"/>
            <a:chExt cx="384" cy="288"/>
          </a:xfrm>
        </p:grpSpPr>
        <p:sp>
          <p:nvSpPr>
            <p:cNvPr id="33852" name="Oval 21">
              <a:extLst>
                <a:ext uri="{FF2B5EF4-FFF2-40B4-BE49-F238E27FC236}">
                  <a16:creationId xmlns:a16="http://schemas.microsoft.com/office/drawing/2014/main" id="{52453333-8795-4EF8-BCA4-07B335166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3853" name="Text Box 22">
              <a:extLst>
                <a:ext uri="{FF2B5EF4-FFF2-40B4-BE49-F238E27FC236}">
                  <a16:creationId xmlns:a16="http://schemas.microsoft.com/office/drawing/2014/main" id="{20A1093B-6A9C-47FD-8752-858987D23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6</a:t>
              </a:r>
            </a:p>
          </p:txBody>
        </p:sp>
      </p:grpSp>
      <p:grpSp>
        <p:nvGrpSpPr>
          <p:cNvPr id="33804" name="Group 23">
            <a:extLst>
              <a:ext uri="{FF2B5EF4-FFF2-40B4-BE49-F238E27FC236}">
                <a16:creationId xmlns:a16="http://schemas.microsoft.com/office/drawing/2014/main" id="{83BC280C-AFA4-462B-A069-62CDE6BB7BFF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5181600"/>
            <a:ext cx="609600" cy="457200"/>
            <a:chOff x="672" y="2208"/>
            <a:chExt cx="384" cy="288"/>
          </a:xfrm>
        </p:grpSpPr>
        <p:sp>
          <p:nvSpPr>
            <p:cNvPr id="33850" name="Oval 24">
              <a:extLst>
                <a:ext uri="{FF2B5EF4-FFF2-40B4-BE49-F238E27FC236}">
                  <a16:creationId xmlns:a16="http://schemas.microsoft.com/office/drawing/2014/main" id="{3E072C1B-74C9-44D4-A5B9-0DF98C87F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3851" name="Text Box 25">
              <a:extLst>
                <a:ext uri="{FF2B5EF4-FFF2-40B4-BE49-F238E27FC236}">
                  <a16:creationId xmlns:a16="http://schemas.microsoft.com/office/drawing/2014/main" id="{36D0BA89-924C-4FCF-9DD1-9D93012B0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7</a:t>
              </a:r>
            </a:p>
          </p:txBody>
        </p:sp>
      </p:grpSp>
      <p:grpSp>
        <p:nvGrpSpPr>
          <p:cNvPr id="33805" name="Group 26">
            <a:extLst>
              <a:ext uri="{FF2B5EF4-FFF2-40B4-BE49-F238E27FC236}">
                <a16:creationId xmlns:a16="http://schemas.microsoft.com/office/drawing/2014/main" id="{D6219FF8-DC4C-4BCD-AA21-1893C80A8A78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191000"/>
            <a:ext cx="609600" cy="457200"/>
            <a:chOff x="672" y="2208"/>
            <a:chExt cx="384" cy="288"/>
          </a:xfrm>
        </p:grpSpPr>
        <p:sp>
          <p:nvSpPr>
            <p:cNvPr id="33848" name="Oval 27">
              <a:extLst>
                <a:ext uri="{FF2B5EF4-FFF2-40B4-BE49-F238E27FC236}">
                  <a16:creationId xmlns:a16="http://schemas.microsoft.com/office/drawing/2014/main" id="{B019E4E7-5F79-4017-95EC-F602347C5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3849" name="Text Box 28">
              <a:extLst>
                <a:ext uri="{FF2B5EF4-FFF2-40B4-BE49-F238E27FC236}">
                  <a16:creationId xmlns:a16="http://schemas.microsoft.com/office/drawing/2014/main" id="{0491B855-26A9-41ED-BF9D-384A51622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8</a:t>
              </a:r>
            </a:p>
          </p:txBody>
        </p:sp>
      </p:grpSp>
      <p:grpSp>
        <p:nvGrpSpPr>
          <p:cNvPr id="33806" name="Group 29">
            <a:extLst>
              <a:ext uri="{FF2B5EF4-FFF2-40B4-BE49-F238E27FC236}">
                <a16:creationId xmlns:a16="http://schemas.microsoft.com/office/drawing/2014/main" id="{90162CCB-BF39-4214-860B-85E707F11AE5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819400"/>
            <a:ext cx="609600" cy="457200"/>
            <a:chOff x="672" y="2208"/>
            <a:chExt cx="384" cy="288"/>
          </a:xfrm>
        </p:grpSpPr>
        <p:sp>
          <p:nvSpPr>
            <p:cNvPr id="33846" name="Oval 30">
              <a:extLst>
                <a:ext uri="{FF2B5EF4-FFF2-40B4-BE49-F238E27FC236}">
                  <a16:creationId xmlns:a16="http://schemas.microsoft.com/office/drawing/2014/main" id="{705210B0-52D1-47AC-99EC-6D0E95A6E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3847" name="Text Box 31">
              <a:extLst>
                <a:ext uri="{FF2B5EF4-FFF2-40B4-BE49-F238E27FC236}">
                  <a16:creationId xmlns:a16="http://schemas.microsoft.com/office/drawing/2014/main" id="{18529C11-D159-4F92-9FDD-A8A83BB31B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9</a:t>
              </a:r>
            </a:p>
          </p:txBody>
        </p:sp>
      </p:grpSp>
      <p:sp>
        <p:nvSpPr>
          <p:cNvPr id="33807" name="Line 32">
            <a:extLst>
              <a:ext uri="{FF2B5EF4-FFF2-40B4-BE49-F238E27FC236}">
                <a16:creationId xmlns:a16="http://schemas.microsoft.com/office/drawing/2014/main" id="{885A72D1-E276-4607-B488-8FE45893BF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3048000"/>
            <a:ext cx="7620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8" name="Line 33">
            <a:extLst>
              <a:ext uri="{FF2B5EF4-FFF2-40B4-BE49-F238E27FC236}">
                <a16:creationId xmlns:a16="http://schemas.microsoft.com/office/drawing/2014/main" id="{2BA16C13-72CB-40F6-AEAF-2363E8CC79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895600"/>
            <a:ext cx="2286000" cy="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9" name="Line 34">
            <a:extLst>
              <a:ext uri="{FF2B5EF4-FFF2-40B4-BE49-F238E27FC236}">
                <a16:creationId xmlns:a16="http://schemas.microsoft.com/office/drawing/2014/main" id="{DE108BBE-FE50-4734-9F67-3C24957179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191000"/>
            <a:ext cx="1371600" cy="762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0" name="Line 35">
            <a:extLst>
              <a:ext uri="{FF2B5EF4-FFF2-40B4-BE49-F238E27FC236}">
                <a16:creationId xmlns:a16="http://schemas.microsoft.com/office/drawing/2014/main" id="{20476171-F784-4348-9B00-E761070A34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419600"/>
            <a:ext cx="8382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1" name="Line 36">
            <a:extLst>
              <a:ext uri="{FF2B5EF4-FFF2-40B4-BE49-F238E27FC236}">
                <a16:creationId xmlns:a16="http://schemas.microsoft.com/office/drawing/2014/main" id="{E6793913-83D1-42E8-8F71-DB1BAA3E83C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3124200"/>
            <a:ext cx="6096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2" name="Line 37">
            <a:extLst>
              <a:ext uri="{FF2B5EF4-FFF2-40B4-BE49-F238E27FC236}">
                <a16:creationId xmlns:a16="http://schemas.microsoft.com/office/drawing/2014/main" id="{130239B2-33FD-4915-9442-3D870A497D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4495800"/>
            <a:ext cx="457200" cy="762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3" name="Line 38">
            <a:extLst>
              <a:ext uri="{FF2B5EF4-FFF2-40B4-BE49-F238E27FC236}">
                <a16:creationId xmlns:a16="http://schemas.microsoft.com/office/drawing/2014/main" id="{4B6AE346-349C-4E18-A2DB-FC4BF553DB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3048000"/>
            <a:ext cx="2209800" cy="2286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4" name="Line 39">
            <a:extLst>
              <a:ext uri="{FF2B5EF4-FFF2-40B4-BE49-F238E27FC236}">
                <a16:creationId xmlns:a16="http://schemas.microsoft.com/office/drawing/2014/main" id="{E4D94C01-6200-46F6-A053-B61DE40120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486400"/>
            <a:ext cx="20574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5" name="Line 40">
            <a:extLst>
              <a:ext uri="{FF2B5EF4-FFF2-40B4-BE49-F238E27FC236}">
                <a16:creationId xmlns:a16="http://schemas.microsoft.com/office/drawing/2014/main" id="{0B9C9BA6-9C50-43A2-B2E5-02A0FB2842E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81600" y="2819400"/>
            <a:ext cx="1676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6" name="Line 41">
            <a:extLst>
              <a:ext uri="{FF2B5EF4-FFF2-40B4-BE49-F238E27FC236}">
                <a16:creationId xmlns:a16="http://schemas.microsoft.com/office/drawing/2014/main" id="{61256C3C-F888-45B2-AC1C-E29A2C4245D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276600"/>
            <a:ext cx="685800" cy="990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7" name="Line 42">
            <a:extLst>
              <a:ext uri="{FF2B5EF4-FFF2-40B4-BE49-F238E27FC236}">
                <a16:creationId xmlns:a16="http://schemas.microsoft.com/office/drawing/2014/main" id="{D5E37648-B7EE-4F14-B94E-CA50A1146A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648200"/>
            <a:ext cx="914400" cy="685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8" name="Line 43">
            <a:extLst>
              <a:ext uri="{FF2B5EF4-FFF2-40B4-BE49-F238E27FC236}">
                <a16:creationId xmlns:a16="http://schemas.microsoft.com/office/drawing/2014/main" id="{FFDD3469-93A5-431B-A4D6-4BFEA04918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5486400"/>
            <a:ext cx="13716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9" name="Line 44">
            <a:extLst>
              <a:ext uri="{FF2B5EF4-FFF2-40B4-BE49-F238E27FC236}">
                <a16:creationId xmlns:a16="http://schemas.microsoft.com/office/drawing/2014/main" id="{722613DB-1461-4707-A98C-B4B82038A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971800"/>
            <a:ext cx="1524000" cy="2209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0" name="Freeform 45">
            <a:extLst>
              <a:ext uri="{FF2B5EF4-FFF2-40B4-BE49-F238E27FC236}">
                <a16:creationId xmlns:a16="http://schemas.microsoft.com/office/drawing/2014/main" id="{39DFFBD3-0F0E-4BBE-B23C-E8C74CF9B1F4}"/>
              </a:ext>
            </a:extLst>
          </p:cNvPr>
          <p:cNvSpPr>
            <a:spLocks/>
          </p:cNvSpPr>
          <p:nvPr/>
        </p:nvSpPr>
        <p:spPr bwMode="auto">
          <a:xfrm>
            <a:off x="4483100" y="3048000"/>
            <a:ext cx="393700" cy="2362200"/>
          </a:xfrm>
          <a:custGeom>
            <a:avLst/>
            <a:gdLst>
              <a:gd name="T0" fmla="*/ 2147483646 w 248"/>
              <a:gd name="T1" fmla="*/ 0 h 1488"/>
              <a:gd name="T2" fmla="*/ 2147483646 w 248"/>
              <a:gd name="T3" fmla="*/ 2147483646 h 1488"/>
              <a:gd name="T4" fmla="*/ 2147483646 w 248"/>
              <a:gd name="T5" fmla="*/ 2147483646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248" y="0"/>
                </a:moveTo>
                <a:cubicBezTo>
                  <a:pt x="132" y="332"/>
                  <a:pt x="16" y="664"/>
                  <a:pt x="8" y="912"/>
                </a:cubicBezTo>
                <a:cubicBezTo>
                  <a:pt x="0" y="1160"/>
                  <a:pt x="100" y="1324"/>
                  <a:pt x="200" y="1488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1" name="Freeform 46">
            <a:extLst>
              <a:ext uri="{FF2B5EF4-FFF2-40B4-BE49-F238E27FC236}">
                <a16:creationId xmlns:a16="http://schemas.microsoft.com/office/drawing/2014/main" id="{9A2B09FB-303A-440E-B332-CD2B07DA7EB5}"/>
              </a:ext>
            </a:extLst>
          </p:cNvPr>
          <p:cNvSpPr>
            <a:spLocks/>
          </p:cNvSpPr>
          <p:nvPr/>
        </p:nvSpPr>
        <p:spPr bwMode="auto">
          <a:xfrm>
            <a:off x="5029200" y="3048000"/>
            <a:ext cx="393700" cy="2362200"/>
          </a:xfrm>
          <a:custGeom>
            <a:avLst/>
            <a:gdLst>
              <a:gd name="T0" fmla="*/ 0 w 248"/>
              <a:gd name="T1" fmla="*/ 2147483646 h 1488"/>
              <a:gd name="T2" fmla="*/ 2147483646 w 248"/>
              <a:gd name="T3" fmla="*/ 2147483646 h 1488"/>
              <a:gd name="T4" fmla="*/ 2147483646 w 248"/>
              <a:gd name="T5" fmla="*/ 0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0" y="1488"/>
                </a:moveTo>
                <a:cubicBezTo>
                  <a:pt x="116" y="1180"/>
                  <a:pt x="232" y="872"/>
                  <a:pt x="240" y="624"/>
                </a:cubicBezTo>
                <a:cubicBezTo>
                  <a:pt x="248" y="376"/>
                  <a:pt x="148" y="188"/>
                  <a:pt x="48" y="0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2" name="Line 47">
            <a:extLst>
              <a:ext uri="{FF2B5EF4-FFF2-40B4-BE49-F238E27FC236}">
                <a16:creationId xmlns:a16="http://schemas.microsoft.com/office/drawing/2014/main" id="{455716BD-673C-44BE-AFE1-2E75AE1EFE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181600"/>
            <a:ext cx="152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3" name="Line 48">
            <a:extLst>
              <a:ext uri="{FF2B5EF4-FFF2-40B4-BE49-F238E27FC236}">
                <a16:creationId xmlns:a16="http://schemas.microsoft.com/office/drawing/2014/main" id="{EE53A4FB-B305-4FA5-8BE4-00A04DFC6D0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05400" y="3048000"/>
            <a:ext cx="762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4" name="Text Box 49">
            <a:extLst>
              <a:ext uri="{FF2B5EF4-FFF2-40B4-BE49-F238E27FC236}">
                <a16:creationId xmlns:a16="http://schemas.microsoft.com/office/drawing/2014/main" id="{94552751-5755-4169-8D0C-C9DE4489C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3825" name="Text Box 50">
            <a:extLst>
              <a:ext uri="{FF2B5EF4-FFF2-40B4-BE49-F238E27FC236}">
                <a16:creationId xmlns:a16="http://schemas.microsoft.com/office/drawing/2014/main" id="{9C24B838-1B2E-465D-83D8-C22F6AA92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3826" name="Text Box 51">
            <a:extLst>
              <a:ext uri="{FF2B5EF4-FFF2-40B4-BE49-F238E27FC236}">
                <a16:creationId xmlns:a16="http://schemas.microsoft.com/office/drawing/2014/main" id="{DAF92841-F17A-482F-931F-68671AE58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3827" name="Text Box 52">
            <a:extLst>
              <a:ext uri="{FF2B5EF4-FFF2-40B4-BE49-F238E27FC236}">
                <a16:creationId xmlns:a16="http://schemas.microsoft.com/office/drawing/2014/main" id="{1140907B-F5C3-4080-8D3A-B27BEBEE9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3828" name="Text Box 53">
            <a:extLst>
              <a:ext uri="{FF2B5EF4-FFF2-40B4-BE49-F238E27FC236}">
                <a16:creationId xmlns:a16="http://schemas.microsoft.com/office/drawing/2014/main" id="{E034AC3C-520B-4DE9-BBAE-1D9B7AF90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3829" name="Text Box 54">
            <a:extLst>
              <a:ext uri="{FF2B5EF4-FFF2-40B4-BE49-F238E27FC236}">
                <a16:creationId xmlns:a16="http://schemas.microsoft.com/office/drawing/2014/main" id="{927A9782-912D-4986-B5B8-22393E1DC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41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3830" name="Text Box 55">
            <a:extLst>
              <a:ext uri="{FF2B5EF4-FFF2-40B4-BE49-F238E27FC236}">
                <a16:creationId xmlns:a16="http://schemas.microsoft.com/office/drawing/2014/main" id="{0FAB4FFF-1FE1-4A03-A8A5-8E04E3910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581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3831" name="Text Box 56">
            <a:extLst>
              <a:ext uri="{FF2B5EF4-FFF2-40B4-BE49-F238E27FC236}">
                <a16:creationId xmlns:a16="http://schemas.microsoft.com/office/drawing/2014/main" id="{5C601A2F-4B28-444C-8A8B-C18D38C30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562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3832" name="Text Box 57">
            <a:extLst>
              <a:ext uri="{FF2B5EF4-FFF2-40B4-BE49-F238E27FC236}">
                <a16:creationId xmlns:a16="http://schemas.microsoft.com/office/drawing/2014/main" id="{6033CF5F-75CF-420E-927A-55A563A9C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514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3833" name="Text Box 58">
            <a:extLst>
              <a:ext uri="{FF2B5EF4-FFF2-40B4-BE49-F238E27FC236}">
                <a16:creationId xmlns:a16="http://schemas.microsoft.com/office/drawing/2014/main" id="{0CD02C5B-E078-47BA-BFCD-6EC587870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3834" name="Text Box 59">
            <a:extLst>
              <a:ext uri="{FF2B5EF4-FFF2-40B4-BE49-F238E27FC236}">
                <a16:creationId xmlns:a16="http://schemas.microsoft.com/office/drawing/2014/main" id="{8FF9C53F-D727-4135-9862-3FE80B19D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56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3835" name="Line 60">
            <a:extLst>
              <a:ext uri="{FF2B5EF4-FFF2-40B4-BE49-F238E27FC236}">
                <a16:creationId xmlns:a16="http://schemas.microsoft.com/office/drawing/2014/main" id="{7F269660-4091-4BCF-AC00-2F28049B77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895600"/>
            <a:ext cx="2514600" cy="1524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6" name="Text Box 61">
            <a:extLst>
              <a:ext uri="{FF2B5EF4-FFF2-40B4-BE49-F238E27FC236}">
                <a16:creationId xmlns:a16="http://schemas.microsoft.com/office/drawing/2014/main" id="{4D7B7B84-D09D-406D-B803-11F9CE756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3837" name="Text Box 62">
            <a:extLst>
              <a:ext uri="{FF2B5EF4-FFF2-40B4-BE49-F238E27FC236}">
                <a16:creationId xmlns:a16="http://schemas.microsoft.com/office/drawing/2014/main" id="{5DB3634A-4054-45D0-A657-939AA8FA1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962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3838" name="Text Box 63">
            <a:extLst>
              <a:ext uri="{FF2B5EF4-FFF2-40B4-BE49-F238E27FC236}">
                <a16:creationId xmlns:a16="http://schemas.microsoft.com/office/drawing/2014/main" id="{C86B5BC9-DBE1-46B7-B839-F69FA4678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114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3839" name="Text Box 64">
            <a:extLst>
              <a:ext uri="{FF2B5EF4-FFF2-40B4-BE49-F238E27FC236}">
                <a16:creationId xmlns:a16="http://schemas.microsoft.com/office/drawing/2014/main" id="{80D849EE-69FB-4994-AEF6-0CA2E1D72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876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3840" name="Text Box 65">
            <a:extLst>
              <a:ext uri="{FF2B5EF4-FFF2-40B4-BE49-F238E27FC236}">
                <a16:creationId xmlns:a16="http://schemas.microsoft.com/office/drawing/2014/main" id="{DAFD587E-CB12-4586-AA92-CF7C03C35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3841" name="Text Box 66">
            <a:extLst>
              <a:ext uri="{FF2B5EF4-FFF2-40B4-BE49-F238E27FC236}">
                <a16:creationId xmlns:a16="http://schemas.microsoft.com/office/drawing/2014/main" id="{74A7864B-FB36-460C-A200-C5C06D82B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4290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[0,V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238659" name="Text Box 67">
            <a:extLst>
              <a:ext uri="{FF2B5EF4-FFF2-40B4-BE49-F238E27FC236}">
                <a16:creationId xmlns:a16="http://schemas.microsoft.com/office/drawing/2014/main" id="{CE709D79-7A20-4CA2-B2D7-D57C9D0DB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791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[1,V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238662" name="Text Box 70">
            <a:extLst>
              <a:ext uri="{FF2B5EF4-FFF2-40B4-BE49-F238E27FC236}">
                <a16:creationId xmlns:a16="http://schemas.microsoft.com/office/drawing/2014/main" id="{B685C0F0-90EF-48D2-B8AA-17E1E8B2E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581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[3,V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3844" name="Line 71">
            <a:extLst>
              <a:ext uri="{FF2B5EF4-FFF2-40B4-BE49-F238E27FC236}">
                <a16:creationId xmlns:a16="http://schemas.microsoft.com/office/drawing/2014/main" id="{264CD0EB-2EAA-4F4C-9646-52FADB0E56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191000"/>
            <a:ext cx="1371600" cy="762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45" name="Text Box 72">
            <a:extLst>
              <a:ext uri="{FF2B5EF4-FFF2-40B4-BE49-F238E27FC236}">
                <a16:creationId xmlns:a16="http://schemas.microsoft.com/office/drawing/2014/main" id="{318C72D2-00F9-4EA9-9B0B-D58003AA8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3A46B1F-DC9B-42D5-88D2-4A659FCEC253}"/>
                  </a:ext>
                </a:extLst>
              </p:cNvPr>
              <p:cNvSpPr txBox="1"/>
              <p:nvPr/>
            </p:nvSpPr>
            <p:spPr>
              <a:xfrm>
                <a:off x="225795" y="1953639"/>
                <a:ext cx="8692409" cy="52322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考虑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dirty="0"/>
                  <a:t>，计算</a:t>
                </a:r>
                <a:r>
                  <a:rPr lang="en-US" altLang="zh-CN" dirty="0"/>
                  <a:t>min{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𝟏𝟒</m:t>
                        </m:r>
                      </m:sub>
                    </m:sSub>
                  </m:oMath>
                </a14:m>
                <a:r>
                  <a:rPr lang="en-US" altLang="zh-CN" dirty="0"/>
                  <a:t>}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3A46B1F-DC9B-42D5-88D2-4A659FCEC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95" y="1953639"/>
                <a:ext cx="8692409" cy="523220"/>
              </a:xfrm>
              <a:prstGeom prst="rect">
                <a:avLst/>
              </a:prstGeom>
              <a:blipFill>
                <a:blip r:embed="rId3"/>
                <a:stretch>
                  <a:fillRect l="-1331" t="-13636" r="-210" b="-3068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矩形 74">
            <a:extLst>
              <a:ext uri="{FF2B5EF4-FFF2-40B4-BE49-F238E27FC236}">
                <a16:creationId xmlns:a16="http://schemas.microsoft.com/office/drawing/2014/main" id="{FCA0BC16-7CD3-4A9E-8760-FAD6B8DC7E05}"/>
              </a:ext>
            </a:extLst>
          </p:cNvPr>
          <p:cNvSpPr/>
          <p:nvPr/>
        </p:nvSpPr>
        <p:spPr>
          <a:xfrm>
            <a:off x="400458" y="1008910"/>
            <a:ext cx="8165284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考虑所有这样的弧</a:t>
            </a:r>
            <a:r>
              <a:rPr lang="en-US" altLang="zh-CN" sz="2400" dirty="0"/>
              <a:t>( v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)</a:t>
            </a:r>
            <a:r>
              <a:rPr lang="zh-CN" altLang="en-US" sz="2400" dirty="0"/>
              <a:t>，其中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已标号，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zh-CN" altLang="en-US" sz="2400" dirty="0"/>
              <a:t>未标号，挑选其中与起点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距离最短（</a:t>
            </a:r>
            <a:r>
              <a:rPr lang="en-US" altLang="zh-CN" sz="2400" dirty="0"/>
              <a:t>min {</a:t>
            </a:r>
            <a:r>
              <a:rPr lang="en-US" altLang="zh-CN" sz="2400" dirty="0" err="1"/>
              <a:t>d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+c</a:t>
            </a:r>
            <a:r>
              <a:rPr lang="en-US" altLang="zh-CN" sz="2400" baseline="-25000" dirty="0" err="1"/>
              <a:t>ij</a:t>
            </a:r>
            <a:r>
              <a:rPr lang="en-US" altLang="zh-CN" sz="2400" dirty="0"/>
              <a:t>}</a:t>
            </a:r>
            <a:r>
              <a:rPr lang="zh-CN" altLang="en-US" sz="2400" dirty="0"/>
              <a:t>）的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zh-CN" altLang="en-US" sz="2400" dirty="0"/>
              <a:t>，对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zh-CN" altLang="en-US" sz="2400" dirty="0"/>
              <a:t>进行标号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4" grpId="0" animBg="1"/>
      <p:bldP spid="238659" grpId="0"/>
      <p:bldP spid="23866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reeform 73">
            <a:extLst>
              <a:ext uri="{FF2B5EF4-FFF2-40B4-BE49-F238E27FC236}">
                <a16:creationId xmlns:a16="http://schemas.microsoft.com/office/drawing/2014/main" id="{430191C8-6F90-4752-924E-E7A7713B036D}"/>
              </a:ext>
            </a:extLst>
          </p:cNvPr>
          <p:cNvSpPr>
            <a:spLocks/>
          </p:cNvSpPr>
          <p:nvPr/>
        </p:nvSpPr>
        <p:spPr bwMode="auto">
          <a:xfrm>
            <a:off x="723900" y="3848100"/>
            <a:ext cx="2768600" cy="2082800"/>
          </a:xfrm>
          <a:custGeom>
            <a:avLst/>
            <a:gdLst>
              <a:gd name="T0" fmla="*/ 2147483646 w 1744"/>
              <a:gd name="T1" fmla="*/ 2147483646 h 1312"/>
              <a:gd name="T2" fmla="*/ 2147483646 w 1744"/>
              <a:gd name="T3" fmla="*/ 2147483646 h 1312"/>
              <a:gd name="T4" fmla="*/ 2147483646 w 1744"/>
              <a:gd name="T5" fmla="*/ 2147483646 h 1312"/>
              <a:gd name="T6" fmla="*/ 2147483646 w 1744"/>
              <a:gd name="T7" fmla="*/ 2147483646 h 1312"/>
              <a:gd name="T8" fmla="*/ 2147483646 w 1744"/>
              <a:gd name="T9" fmla="*/ 2147483646 h 1312"/>
              <a:gd name="T10" fmla="*/ 2147483646 w 1744"/>
              <a:gd name="T11" fmla="*/ 2147483646 h 1312"/>
              <a:gd name="T12" fmla="*/ 2147483646 w 1744"/>
              <a:gd name="T13" fmla="*/ 2147483646 h 1312"/>
              <a:gd name="T14" fmla="*/ 2147483646 w 1744"/>
              <a:gd name="T15" fmla="*/ 2147483646 h 131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744"/>
              <a:gd name="T25" fmla="*/ 0 h 1312"/>
              <a:gd name="T26" fmla="*/ 1744 w 1744"/>
              <a:gd name="T27" fmla="*/ 1312 h 131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744" h="1312">
                <a:moveTo>
                  <a:pt x="120" y="360"/>
                </a:moveTo>
                <a:cubicBezTo>
                  <a:pt x="0" y="176"/>
                  <a:pt x="64" y="128"/>
                  <a:pt x="120" y="72"/>
                </a:cubicBezTo>
                <a:cubicBezTo>
                  <a:pt x="176" y="16"/>
                  <a:pt x="216" y="24"/>
                  <a:pt x="456" y="24"/>
                </a:cubicBezTo>
                <a:cubicBezTo>
                  <a:pt x="696" y="24"/>
                  <a:pt x="1376" y="0"/>
                  <a:pt x="1560" y="72"/>
                </a:cubicBezTo>
                <a:cubicBezTo>
                  <a:pt x="1744" y="144"/>
                  <a:pt x="1624" y="272"/>
                  <a:pt x="1560" y="456"/>
                </a:cubicBezTo>
                <a:cubicBezTo>
                  <a:pt x="1496" y="640"/>
                  <a:pt x="1296" y="1056"/>
                  <a:pt x="1176" y="1176"/>
                </a:cubicBezTo>
                <a:cubicBezTo>
                  <a:pt x="1056" y="1296"/>
                  <a:pt x="1016" y="1312"/>
                  <a:pt x="840" y="1176"/>
                </a:cubicBezTo>
                <a:cubicBezTo>
                  <a:pt x="664" y="1040"/>
                  <a:pt x="240" y="544"/>
                  <a:pt x="120" y="360"/>
                </a:cubicBezTo>
                <a:close/>
              </a:path>
            </a:pathLst>
          </a:custGeom>
          <a:solidFill>
            <a:srgbClr val="CC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4819" name="Group 4">
            <a:extLst>
              <a:ext uri="{FF2B5EF4-FFF2-40B4-BE49-F238E27FC236}">
                <a16:creationId xmlns:a16="http://schemas.microsoft.com/office/drawing/2014/main" id="{73E248A6-DD44-448C-9B9A-2CC5C8430A3C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962400"/>
            <a:ext cx="609600" cy="457200"/>
            <a:chOff x="672" y="2208"/>
            <a:chExt cx="384" cy="288"/>
          </a:xfrm>
        </p:grpSpPr>
        <p:sp>
          <p:nvSpPr>
            <p:cNvPr id="34883" name="Oval 5">
              <a:extLst>
                <a:ext uri="{FF2B5EF4-FFF2-40B4-BE49-F238E27FC236}">
                  <a16:creationId xmlns:a16="http://schemas.microsoft.com/office/drawing/2014/main" id="{1DB72DD9-892B-49EA-A5F9-EFACF676B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4884" name="Text Box 6">
              <a:extLst>
                <a:ext uri="{FF2B5EF4-FFF2-40B4-BE49-F238E27FC236}">
                  <a16:creationId xmlns:a16="http://schemas.microsoft.com/office/drawing/2014/main" id="{61D3F4C3-6092-4791-BC70-E94B03D06B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1</a:t>
              </a:r>
            </a:p>
          </p:txBody>
        </p:sp>
      </p:grpSp>
      <p:sp>
        <p:nvSpPr>
          <p:cNvPr id="34820" name="Rectangle 7">
            <a:extLst>
              <a:ext uri="{FF2B5EF4-FFF2-40B4-BE49-F238E27FC236}">
                <a16:creationId xmlns:a16="http://schemas.microsoft.com/office/drawing/2014/main" id="{38827606-4DB1-47FD-801A-2D3FA29A32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步骤</a:t>
            </a:r>
          </a:p>
        </p:txBody>
      </p:sp>
      <p:grpSp>
        <p:nvGrpSpPr>
          <p:cNvPr id="34821" name="Group 9">
            <a:extLst>
              <a:ext uri="{FF2B5EF4-FFF2-40B4-BE49-F238E27FC236}">
                <a16:creationId xmlns:a16="http://schemas.microsoft.com/office/drawing/2014/main" id="{0877F0C7-CD79-478F-ACAB-14B09C7C659D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667000"/>
            <a:ext cx="609600" cy="457200"/>
            <a:chOff x="672" y="2208"/>
            <a:chExt cx="384" cy="288"/>
          </a:xfrm>
        </p:grpSpPr>
        <p:sp>
          <p:nvSpPr>
            <p:cNvPr id="34881" name="Oval 10">
              <a:extLst>
                <a:ext uri="{FF2B5EF4-FFF2-40B4-BE49-F238E27FC236}">
                  <a16:creationId xmlns:a16="http://schemas.microsoft.com/office/drawing/2014/main" id="{6C264AE1-CA87-420E-AE1B-70C3D9E11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4882" name="Text Box 11">
              <a:extLst>
                <a:ext uri="{FF2B5EF4-FFF2-40B4-BE49-F238E27FC236}">
                  <a16:creationId xmlns:a16="http://schemas.microsoft.com/office/drawing/2014/main" id="{20A1A3F6-0293-4764-8625-B54B73B82B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2</a:t>
              </a:r>
            </a:p>
          </p:txBody>
        </p:sp>
      </p:grpSp>
      <p:grpSp>
        <p:nvGrpSpPr>
          <p:cNvPr id="34822" name="Group 12">
            <a:extLst>
              <a:ext uri="{FF2B5EF4-FFF2-40B4-BE49-F238E27FC236}">
                <a16:creationId xmlns:a16="http://schemas.microsoft.com/office/drawing/2014/main" id="{9A2EFF3B-9842-41E7-A793-9708E3837268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257800"/>
            <a:ext cx="609600" cy="457200"/>
            <a:chOff x="672" y="2208"/>
            <a:chExt cx="384" cy="288"/>
          </a:xfrm>
        </p:grpSpPr>
        <p:sp>
          <p:nvSpPr>
            <p:cNvPr id="34879" name="Oval 13">
              <a:extLst>
                <a:ext uri="{FF2B5EF4-FFF2-40B4-BE49-F238E27FC236}">
                  <a16:creationId xmlns:a16="http://schemas.microsoft.com/office/drawing/2014/main" id="{8D3701F6-9F1B-4526-976E-05520EBEB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4880" name="Text Box 14">
              <a:extLst>
                <a:ext uri="{FF2B5EF4-FFF2-40B4-BE49-F238E27FC236}">
                  <a16:creationId xmlns:a16="http://schemas.microsoft.com/office/drawing/2014/main" id="{7A4E03EF-E4D1-41E9-8B97-C855FBA731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4</a:t>
              </a:r>
            </a:p>
          </p:txBody>
        </p:sp>
      </p:grpSp>
      <p:grpSp>
        <p:nvGrpSpPr>
          <p:cNvPr id="34823" name="Group 15">
            <a:extLst>
              <a:ext uri="{FF2B5EF4-FFF2-40B4-BE49-F238E27FC236}">
                <a16:creationId xmlns:a16="http://schemas.microsoft.com/office/drawing/2014/main" id="{726F5448-5BAF-458D-A7FA-FE6DBA377498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038600"/>
            <a:ext cx="609600" cy="457200"/>
            <a:chOff x="672" y="2208"/>
            <a:chExt cx="384" cy="288"/>
          </a:xfrm>
        </p:grpSpPr>
        <p:sp>
          <p:nvSpPr>
            <p:cNvPr id="34877" name="Oval 16">
              <a:extLst>
                <a:ext uri="{FF2B5EF4-FFF2-40B4-BE49-F238E27FC236}">
                  <a16:creationId xmlns:a16="http://schemas.microsoft.com/office/drawing/2014/main" id="{A5021C2A-F8DE-4175-AB2F-6BA3EBC49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4878" name="Text Box 17">
              <a:extLst>
                <a:ext uri="{FF2B5EF4-FFF2-40B4-BE49-F238E27FC236}">
                  <a16:creationId xmlns:a16="http://schemas.microsoft.com/office/drawing/2014/main" id="{9E3881C6-29D6-4C02-B278-28FE21B5E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3</a:t>
              </a:r>
            </a:p>
          </p:txBody>
        </p:sp>
      </p:grpSp>
      <p:grpSp>
        <p:nvGrpSpPr>
          <p:cNvPr id="34824" name="Group 18">
            <a:extLst>
              <a:ext uri="{FF2B5EF4-FFF2-40B4-BE49-F238E27FC236}">
                <a16:creationId xmlns:a16="http://schemas.microsoft.com/office/drawing/2014/main" id="{ED582907-B660-4E0F-B07D-3825A9D0FC9F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590800"/>
            <a:ext cx="609600" cy="457200"/>
            <a:chOff x="672" y="2208"/>
            <a:chExt cx="384" cy="288"/>
          </a:xfrm>
        </p:grpSpPr>
        <p:sp>
          <p:nvSpPr>
            <p:cNvPr id="34875" name="Oval 19">
              <a:extLst>
                <a:ext uri="{FF2B5EF4-FFF2-40B4-BE49-F238E27FC236}">
                  <a16:creationId xmlns:a16="http://schemas.microsoft.com/office/drawing/2014/main" id="{B28BF654-A6A3-405A-AFFA-C8B78B964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4876" name="Text Box 20">
              <a:extLst>
                <a:ext uri="{FF2B5EF4-FFF2-40B4-BE49-F238E27FC236}">
                  <a16:creationId xmlns:a16="http://schemas.microsoft.com/office/drawing/2014/main" id="{4A7C1A8E-3081-4996-9BA0-A955D1FF4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5</a:t>
              </a:r>
            </a:p>
          </p:txBody>
        </p:sp>
      </p:grpSp>
      <p:grpSp>
        <p:nvGrpSpPr>
          <p:cNvPr id="34825" name="Group 21">
            <a:extLst>
              <a:ext uri="{FF2B5EF4-FFF2-40B4-BE49-F238E27FC236}">
                <a16:creationId xmlns:a16="http://schemas.microsoft.com/office/drawing/2014/main" id="{FFDA80F2-97CC-485B-BAB5-D93360D5F488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5410200"/>
            <a:ext cx="609600" cy="457200"/>
            <a:chOff x="672" y="2208"/>
            <a:chExt cx="384" cy="288"/>
          </a:xfrm>
        </p:grpSpPr>
        <p:sp>
          <p:nvSpPr>
            <p:cNvPr id="34873" name="Oval 22">
              <a:extLst>
                <a:ext uri="{FF2B5EF4-FFF2-40B4-BE49-F238E27FC236}">
                  <a16:creationId xmlns:a16="http://schemas.microsoft.com/office/drawing/2014/main" id="{B23F1D2E-0B48-4118-A8D2-74860F5D4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4874" name="Text Box 23">
              <a:extLst>
                <a:ext uri="{FF2B5EF4-FFF2-40B4-BE49-F238E27FC236}">
                  <a16:creationId xmlns:a16="http://schemas.microsoft.com/office/drawing/2014/main" id="{82DE532E-EF82-40F5-B149-97AC596812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6</a:t>
              </a:r>
            </a:p>
          </p:txBody>
        </p:sp>
      </p:grpSp>
      <p:grpSp>
        <p:nvGrpSpPr>
          <p:cNvPr id="34826" name="Group 24">
            <a:extLst>
              <a:ext uri="{FF2B5EF4-FFF2-40B4-BE49-F238E27FC236}">
                <a16:creationId xmlns:a16="http://schemas.microsoft.com/office/drawing/2014/main" id="{86AF9E67-D859-4752-9061-A7B9F762089C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5181600"/>
            <a:ext cx="609600" cy="457200"/>
            <a:chOff x="672" y="2208"/>
            <a:chExt cx="384" cy="288"/>
          </a:xfrm>
        </p:grpSpPr>
        <p:sp>
          <p:nvSpPr>
            <p:cNvPr id="34871" name="Oval 25">
              <a:extLst>
                <a:ext uri="{FF2B5EF4-FFF2-40B4-BE49-F238E27FC236}">
                  <a16:creationId xmlns:a16="http://schemas.microsoft.com/office/drawing/2014/main" id="{DD891209-BE56-4787-A430-A48CC73F1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4872" name="Text Box 26">
              <a:extLst>
                <a:ext uri="{FF2B5EF4-FFF2-40B4-BE49-F238E27FC236}">
                  <a16:creationId xmlns:a16="http://schemas.microsoft.com/office/drawing/2014/main" id="{79B0601E-DD14-4271-BDE0-0BEB840A3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7</a:t>
              </a:r>
            </a:p>
          </p:txBody>
        </p:sp>
      </p:grpSp>
      <p:grpSp>
        <p:nvGrpSpPr>
          <p:cNvPr id="34827" name="Group 27">
            <a:extLst>
              <a:ext uri="{FF2B5EF4-FFF2-40B4-BE49-F238E27FC236}">
                <a16:creationId xmlns:a16="http://schemas.microsoft.com/office/drawing/2014/main" id="{083A090A-5F81-4656-B4F7-4D5413EE69E1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191000"/>
            <a:ext cx="609600" cy="457200"/>
            <a:chOff x="672" y="2208"/>
            <a:chExt cx="384" cy="288"/>
          </a:xfrm>
        </p:grpSpPr>
        <p:sp>
          <p:nvSpPr>
            <p:cNvPr id="34869" name="Oval 28">
              <a:extLst>
                <a:ext uri="{FF2B5EF4-FFF2-40B4-BE49-F238E27FC236}">
                  <a16:creationId xmlns:a16="http://schemas.microsoft.com/office/drawing/2014/main" id="{8C433DFA-79AA-466E-9E3C-865E09015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4870" name="Text Box 29">
              <a:extLst>
                <a:ext uri="{FF2B5EF4-FFF2-40B4-BE49-F238E27FC236}">
                  <a16:creationId xmlns:a16="http://schemas.microsoft.com/office/drawing/2014/main" id="{3691723E-C885-46C5-86B5-25C9B2341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8</a:t>
              </a:r>
            </a:p>
          </p:txBody>
        </p:sp>
      </p:grpSp>
      <p:grpSp>
        <p:nvGrpSpPr>
          <p:cNvPr id="34828" name="Group 30">
            <a:extLst>
              <a:ext uri="{FF2B5EF4-FFF2-40B4-BE49-F238E27FC236}">
                <a16:creationId xmlns:a16="http://schemas.microsoft.com/office/drawing/2014/main" id="{5AA95E6B-52BA-446F-97DE-773BA40D5F06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819400"/>
            <a:ext cx="609600" cy="457200"/>
            <a:chOff x="672" y="2208"/>
            <a:chExt cx="384" cy="288"/>
          </a:xfrm>
        </p:grpSpPr>
        <p:sp>
          <p:nvSpPr>
            <p:cNvPr id="34867" name="Oval 31">
              <a:extLst>
                <a:ext uri="{FF2B5EF4-FFF2-40B4-BE49-F238E27FC236}">
                  <a16:creationId xmlns:a16="http://schemas.microsoft.com/office/drawing/2014/main" id="{C415E673-CE9E-4C50-9B58-B531FE63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4868" name="Text Box 32">
              <a:extLst>
                <a:ext uri="{FF2B5EF4-FFF2-40B4-BE49-F238E27FC236}">
                  <a16:creationId xmlns:a16="http://schemas.microsoft.com/office/drawing/2014/main" id="{5DCB3250-DC8E-4CCD-933E-ABEDCAE88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9</a:t>
              </a:r>
            </a:p>
          </p:txBody>
        </p:sp>
      </p:grpSp>
      <p:sp>
        <p:nvSpPr>
          <p:cNvPr id="34829" name="Line 33">
            <a:extLst>
              <a:ext uri="{FF2B5EF4-FFF2-40B4-BE49-F238E27FC236}">
                <a16:creationId xmlns:a16="http://schemas.microsoft.com/office/drawing/2014/main" id="{A9AC5D86-76DB-4684-8DAD-2FDD65F1D3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3048000"/>
            <a:ext cx="7620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0" name="Line 34">
            <a:extLst>
              <a:ext uri="{FF2B5EF4-FFF2-40B4-BE49-F238E27FC236}">
                <a16:creationId xmlns:a16="http://schemas.microsoft.com/office/drawing/2014/main" id="{7148DF89-AE0D-4243-A0EE-CD4A08DEF0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895600"/>
            <a:ext cx="2286000" cy="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1" name="Line 35">
            <a:extLst>
              <a:ext uri="{FF2B5EF4-FFF2-40B4-BE49-F238E27FC236}">
                <a16:creationId xmlns:a16="http://schemas.microsoft.com/office/drawing/2014/main" id="{312BC01F-6E92-4FA3-8099-F03304D56A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191000"/>
            <a:ext cx="1371600" cy="762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2" name="Line 36">
            <a:extLst>
              <a:ext uri="{FF2B5EF4-FFF2-40B4-BE49-F238E27FC236}">
                <a16:creationId xmlns:a16="http://schemas.microsoft.com/office/drawing/2014/main" id="{C1067EDD-0B57-45CF-9C5F-2B8D77EEAD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419600"/>
            <a:ext cx="8382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3" name="Line 37">
            <a:extLst>
              <a:ext uri="{FF2B5EF4-FFF2-40B4-BE49-F238E27FC236}">
                <a16:creationId xmlns:a16="http://schemas.microsoft.com/office/drawing/2014/main" id="{1CCFA576-431F-4938-8C41-1166424F0C1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3124200"/>
            <a:ext cx="6096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4" name="Line 38">
            <a:extLst>
              <a:ext uri="{FF2B5EF4-FFF2-40B4-BE49-F238E27FC236}">
                <a16:creationId xmlns:a16="http://schemas.microsoft.com/office/drawing/2014/main" id="{06180F09-6E4F-459F-87CA-7C6DD48309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4495800"/>
            <a:ext cx="457200" cy="762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5" name="Line 39">
            <a:extLst>
              <a:ext uri="{FF2B5EF4-FFF2-40B4-BE49-F238E27FC236}">
                <a16:creationId xmlns:a16="http://schemas.microsoft.com/office/drawing/2014/main" id="{4FE820A8-FD60-4C6F-8424-B724C945D2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3048000"/>
            <a:ext cx="2209800" cy="2286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6" name="Line 40">
            <a:extLst>
              <a:ext uri="{FF2B5EF4-FFF2-40B4-BE49-F238E27FC236}">
                <a16:creationId xmlns:a16="http://schemas.microsoft.com/office/drawing/2014/main" id="{C6B7C0AB-644A-4A37-A0E2-4C760D8F15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486400"/>
            <a:ext cx="20574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7" name="Line 41">
            <a:extLst>
              <a:ext uri="{FF2B5EF4-FFF2-40B4-BE49-F238E27FC236}">
                <a16:creationId xmlns:a16="http://schemas.microsoft.com/office/drawing/2014/main" id="{7C344DC6-8C64-46D8-A108-086DEE8AEA6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81600" y="2819400"/>
            <a:ext cx="1676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8" name="Line 42">
            <a:extLst>
              <a:ext uri="{FF2B5EF4-FFF2-40B4-BE49-F238E27FC236}">
                <a16:creationId xmlns:a16="http://schemas.microsoft.com/office/drawing/2014/main" id="{7773227E-E66D-478A-A964-81F3CEB6C5F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276600"/>
            <a:ext cx="685800" cy="990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9" name="Line 43">
            <a:extLst>
              <a:ext uri="{FF2B5EF4-FFF2-40B4-BE49-F238E27FC236}">
                <a16:creationId xmlns:a16="http://schemas.microsoft.com/office/drawing/2014/main" id="{F4F1CB9F-C650-4175-92B8-1D3EDC60F1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648200"/>
            <a:ext cx="914400" cy="685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0" name="Line 44">
            <a:extLst>
              <a:ext uri="{FF2B5EF4-FFF2-40B4-BE49-F238E27FC236}">
                <a16:creationId xmlns:a16="http://schemas.microsoft.com/office/drawing/2014/main" id="{466CC6EA-3D1D-4A44-9BE6-383DA82772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5486400"/>
            <a:ext cx="13716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1" name="Line 45">
            <a:extLst>
              <a:ext uri="{FF2B5EF4-FFF2-40B4-BE49-F238E27FC236}">
                <a16:creationId xmlns:a16="http://schemas.microsoft.com/office/drawing/2014/main" id="{876AD72F-3EAC-4DA9-9D2D-E92899C49A9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971800"/>
            <a:ext cx="1524000" cy="2209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2" name="Freeform 46">
            <a:extLst>
              <a:ext uri="{FF2B5EF4-FFF2-40B4-BE49-F238E27FC236}">
                <a16:creationId xmlns:a16="http://schemas.microsoft.com/office/drawing/2014/main" id="{75A6E3E5-F02A-445B-81E1-F43CB3ED3ADF}"/>
              </a:ext>
            </a:extLst>
          </p:cNvPr>
          <p:cNvSpPr>
            <a:spLocks/>
          </p:cNvSpPr>
          <p:nvPr/>
        </p:nvSpPr>
        <p:spPr bwMode="auto">
          <a:xfrm>
            <a:off x="4483100" y="3048000"/>
            <a:ext cx="393700" cy="2362200"/>
          </a:xfrm>
          <a:custGeom>
            <a:avLst/>
            <a:gdLst>
              <a:gd name="T0" fmla="*/ 2147483646 w 248"/>
              <a:gd name="T1" fmla="*/ 0 h 1488"/>
              <a:gd name="T2" fmla="*/ 2147483646 w 248"/>
              <a:gd name="T3" fmla="*/ 2147483646 h 1488"/>
              <a:gd name="T4" fmla="*/ 2147483646 w 248"/>
              <a:gd name="T5" fmla="*/ 2147483646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248" y="0"/>
                </a:moveTo>
                <a:cubicBezTo>
                  <a:pt x="132" y="332"/>
                  <a:pt x="16" y="664"/>
                  <a:pt x="8" y="912"/>
                </a:cubicBezTo>
                <a:cubicBezTo>
                  <a:pt x="0" y="1160"/>
                  <a:pt x="100" y="1324"/>
                  <a:pt x="200" y="1488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3" name="Freeform 47">
            <a:extLst>
              <a:ext uri="{FF2B5EF4-FFF2-40B4-BE49-F238E27FC236}">
                <a16:creationId xmlns:a16="http://schemas.microsoft.com/office/drawing/2014/main" id="{FDA09406-AB3C-460C-83BF-77A568045673}"/>
              </a:ext>
            </a:extLst>
          </p:cNvPr>
          <p:cNvSpPr>
            <a:spLocks/>
          </p:cNvSpPr>
          <p:nvPr/>
        </p:nvSpPr>
        <p:spPr bwMode="auto">
          <a:xfrm>
            <a:off x="5029200" y="3048000"/>
            <a:ext cx="393700" cy="2362200"/>
          </a:xfrm>
          <a:custGeom>
            <a:avLst/>
            <a:gdLst>
              <a:gd name="T0" fmla="*/ 0 w 248"/>
              <a:gd name="T1" fmla="*/ 2147483646 h 1488"/>
              <a:gd name="T2" fmla="*/ 2147483646 w 248"/>
              <a:gd name="T3" fmla="*/ 2147483646 h 1488"/>
              <a:gd name="T4" fmla="*/ 2147483646 w 248"/>
              <a:gd name="T5" fmla="*/ 0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0" y="1488"/>
                </a:moveTo>
                <a:cubicBezTo>
                  <a:pt x="116" y="1180"/>
                  <a:pt x="232" y="872"/>
                  <a:pt x="240" y="624"/>
                </a:cubicBezTo>
                <a:cubicBezTo>
                  <a:pt x="248" y="376"/>
                  <a:pt x="148" y="188"/>
                  <a:pt x="48" y="0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4" name="Line 48">
            <a:extLst>
              <a:ext uri="{FF2B5EF4-FFF2-40B4-BE49-F238E27FC236}">
                <a16:creationId xmlns:a16="http://schemas.microsoft.com/office/drawing/2014/main" id="{5F4C0972-5971-4C99-AF89-597A3AAAB7B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181600"/>
            <a:ext cx="152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5" name="Line 49">
            <a:extLst>
              <a:ext uri="{FF2B5EF4-FFF2-40B4-BE49-F238E27FC236}">
                <a16:creationId xmlns:a16="http://schemas.microsoft.com/office/drawing/2014/main" id="{445DF8AF-DD27-4A03-9924-395E0A4DAF4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05400" y="3048000"/>
            <a:ext cx="762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6" name="Text Box 50">
            <a:extLst>
              <a:ext uri="{FF2B5EF4-FFF2-40B4-BE49-F238E27FC236}">
                <a16:creationId xmlns:a16="http://schemas.microsoft.com/office/drawing/2014/main" id="{373679E7-C20D-44E0-AEAF-A5F55CB70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4847" name="Text Box 51">
            <a:extLst>
              <a:ext uri="{FF2B5EF4-FFF2-40B4-BE49-F238E27FC236}">
                <a16:creationId xmlns:a16="http://schemas.microsoft.com/office/drawing/2014/main" id="{D4A6B780-B4B1-4D4C-AA4D-69CB2CCD6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4848" name="Text Box 52">
            <a:extLst>
              <a:ext uri="{FF2B5EF4-FFF2-40B4-BE49-F238E27FC236}">
                <a16:creationId xmlns:a16="http://schemas.microsoft.com/office/drawing/2014/main" id="{C8585AED-C1F5-400B-9D82-807570CEA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4849" name="Text Box 53">
            <a:extLst>
              <a:ext uri="{FF2B5EF4-FFF2-40B4-BE49-F238E27FC236}">
                <a16:creationId xmlns:a16="http://schemas.microsoft.com/office/drawing/2014/main" id="{808BEA94-6B73-4E46-8F4A-401E85B70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4850" name="Text Box 54">
            <a:extLst>
              <a:ext uri="{FF2B5EF4-FFF2-40B4-BE49-F238E27FC236}">
                <a16:creationId xmlns:a16="http://schemas.microsoft.com/office/drawing/2014/main" id="{DA7A3CAD-13DA-445C-B6DB-972CE6B2D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4851" name="Text Box 55">
            <a:extLst>
              <a:ext uri="{FF2B5EF4-FFF2-40B4-BE49-F238E27FC236}">
                <a16:creationId xmlns:a16="http://schemas.microsoft.com/office/drawing/2014/main" id="{36938AE4-B720-465C-A58F-75437D1ED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41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4852" name="Text Box 56">
            <a:extLst>
              <a:ext uri="{FF2B5EF4-FFF2-40B4-BE49-F238E27FC236}">
                <a16:creationId xmlns:a16="http://schemas.microsoft.com/office/drawing/2014/main" id="{CEC9BA85-4927-463A-8C17-CFE3305A2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581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4853" name="Text Box 57">
            <a:extLst>
              <a:ext uri="{FF2B5EF4-FFF2-40B4-BE49-F238E27FC236}">
                <a16:creationId xmlns:a16="http://schemas.microsoft.com/office/drawing/2014/main" id="{9B446A35-0D71-44BB-AA23-3B4CB9A91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562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4854" name="Text Box 58">
            <a:extLst>
              <a:ext uri="{FF2B5EF4-FFF2-40B4-BE49-F238E27FC236}">
                <a16:creationId xmlns:a16="http://schemas.microsoft.com/office/drawing/2014/main" id="{41EE1A87-BC10-467E-9F78-12D76F1A77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514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4855" name="Text Box 59">
            <a:extLst>
              <a:ext uri="{FF2B5EF4-FFF2-40B4-BE49-F238E27FC236}">
                <a16:creationId xmlns:a16="http://schemas.microsoft.com/office/drawing/2014/main" id="{4F659BF4-1E39-44BD-BA1D-8BC5A6F47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4856" name="Text Box 60">
            <a:extLst>
              <a:ext uri="{FF2B5EF4-FFF2-40B4-BE49-F238E27FC236}">
                <a16:creationId xmlns:a16="http://schemas.microsoft.com/office/drawing/2014/main" id="{C5F07526-06BA-4066-B34B-A95160D20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56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4857" name="Line 61">
            <a:extLst>
              <a:ext uri="{FF2B5EF4-FFF2-40B4-BE49-F238E27FC236}">
                <a16:creationId xmlns:a16="http://schemas.microsoft.com/office/drawing/2014/main" id="{9D3AD6BE-E76B-44B2-BB07-25C7AEA6B1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895600"/>
            <a:ext cx="2514600" cy="1524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8" name="Text Box 62">
            <a:extLst>
              <a:ext uri="{FF2B5EF4-FFF2-40B4-BE49-F238E27FC236}">
                <a16:creationId xmlns:a16="http://schemas.microsoft.com/office/drawing/2014/main" id="{D7FFE40A-20B3-45FC-B01F-2EF3F1F51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4859" name="Text Box 63">
            <a:extLst>
              <a:ext uri="{FF2B5EF4-FFF2-40B4-BE49-F238E27FC236}">
                <a16:creationId xmlns:a16="http://schemas.microsoft.com/office/drawing/2014/main" id="{6E0263EE-9665-462E-8DE8-2DD45E80E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962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4860" name="Text Box 64">
            <a:extLst>
              <a:ext uri="{FF2B5EF4-FFF2-40B4-BE49-F238E27FC236}">
                <a16:creationId xmlns:a16="http://schemas.microsoft.com/office/drawing/2014/main" id="{883A5E6A-D868-43C5-8E10-0A6C2866B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114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4861" name="Text Box 65">
            <a:extLst>
              <a:ext uri="{FF2B5EF4-FFF2-40B4-BE49-F238E27FC236}">
                <a16:creationId xmlns:a16="http://schemas.microsoft.com/office/drawing/2014/main" id="{A58E29F8-E8F0-47A1-B28A-3ED8EF356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876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4862" name="Text Box 66">
            <a:extLst>
              <a:ext uri="{FF2B5EF4-FFF2-40B4-BE49-F238E27FC236}">
                <a16:creationId xmlns:a16="http://schemas.microsoft.com/office/drawing/2014/main" id="{694D9D87-0A82-40F8-95AF-341D96594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4863" name="Text Box 67">
            <a:extLst>
              <a:ext uri="{FF2B5EF4-FFF2-40B4-BE49-F238E27FC236}">
                <a16:creationId xmlns:a16="http://schemas.microsoft.com/office/drawing/2014/main" id="{844C3583-8EDD-4DF0-8237-9FFAEC3C3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4290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[0,V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4864" name="Text Box 68">
            <a:extLst>
              <a:ext uri="{FF2B5EF4-FFF2-40B4-BE49-F238E27FC236}">
                <a16:creationId xmlns:a16="http://schemas.microsoft.com/office/drawing/2014/main" id="{8B5CDD26-7317-4CE8-B209-F577FAFDB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791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[1,V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4865" name="Text Box 70">
            <a:extLst>
              <a:ext uri="{FF2B5EF4-FFF2-40B4-BE49-F238E27FC236}">
                <a16:creationId xmlns:a16="http://schemas.microsoft.com/office/drawing/2014/main" id="{DD217BEB-0B4B-4317-89BC-29114154C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581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[3,V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239690" name="Text Box 74">
            <a:extLst>
              <a:ext uri="{FF2B5EF4-FFF2-40B4-BE49-F238E27FC236}">
                <a16:creationId xmlns:a16="http://schemas.microsoft.com/office/drawing/2014/main" id="{A8C3ABB6-5B76-4F7B-AD8D-0909AF960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133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[5,V</a:t>
            </a:r>
            <a:r>
              <a:rPr lang="en-US" altLang="zh-CN" sz="2000" baseline="-25000">
                <a:solidFill>
                  <a:srgbClr val="000099"/>
                </a:solidFill>
              </a:rPr>
              <a:t>3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107037-C20E-4E28-BB11-EEF9307FC359}"/>
              </a:ext>
            </a:extLst>
          </p:cNvPr>
          <p:cNvSpPr/>
          <p:nvPr/>
        </p:nvSpPr>
        <p:spPr>
          <a:xfrm>
            <a:off x="457200" y="803702"/>
            <a:ext cx="8165284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考虑所有这样的弧</a:t>
            </a:r>
            <a:r>
              <a:rPr lang="en-US" altLang="zh-CN" sz="2400" dirty="0"/>
              <a:t>( v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)</a:t>
            </a:r>
            <a:r>
              <a:rPr lang="zh-CN" altLang="en-US" sz="2400" dirty="0"/>
              <a:t>，其中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∈V</a:t>
            </a:r>
            <a:r>
              <a:rPr lang="en-US" altLang="zh-CN" sz="2400" baseline="-25000" dirty="0" err="1"/>
              <a:t>A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en-US" altLang="zh-CN" sz="2400" dirty="0" err="1"/>
              <a:t>∈V</a:t>
            </a:r>
            <a:r>
              <a:rPr lang="en-US" altLang="zh-CN" sz="2400" baseline="-25000" dirty="0" err="1"/>
              <a:t>B</a:t>
            </a:r>
            <a:r>
              <a:rPr lang="zh-CN" altLang="en-US" sz="2400" dirty="0"/>
              <a:t>，挑选其中与起点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距离最短（</a:t>
            </a:r>
            <a:r>
              <a:rPr lang="en-US" altLang="zh-CN" sz="2400" dirty="0"/>
              <a:t>min {</a:t>
            </a:r>
            <a:r>
              <a:rPr lang="en-US" altLang="zh-CN" sz="2400" dirty="0" err="1"/>
              <a:t>d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+c</a:t>
            </a:r>
            <a:r>
              <a:rPr lang="en-US" altLang="zh-CN" sz="2400" baseline="-25000" dirty="0" err="1"/>
              <a:t>ij</a:t>
            </a:r>
            <a:r>
              <a:rPr lang="en-US" altLang="zh-CN" sz="2400" dirty="0"/>
              <a:t>}</a:t>
            </a:r>
            <a:r>
              <a:rPr lang="zh-CN" altLang="en-US" sz="2400" dirty="0"/>
              <a:t>）的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zh-CN" altLang="en-US" sz="2400" dirty="0"/>
              <a:t>，对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zh-CN" altLang="en-US" sz="2400" dirty="0"/>
              <a:t>进行标号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C181ACDE-CC42-4647-A0BB-13B41165918A}"/>
                  </a:ext>
                </a:extLst>
              </p:cNvPr>
              <p:cNvSpPr txBox="1"/>
              <p:nvPr/>
            </p:nvSpPr>
            <p:spPr>
              <a:xfrm>
                <a:off x="225795" y="1686580"/>
                <a:ext cx="8692409" cy="52322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考虑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zh-CN" altLang="en-US" dirty="0"/>
                  <a:t>，计算</a:t>
                </a:r>
                <a:r>
                  <a:rPr lang="en-US" altLang="zh-CN" dirty="0"/>
                  <a:t>min{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𝟒𝟔</m:t>
                        </m:r>
                      </m:sub>
                    </m:sSub>
                  </m:oMath>
                </a14:m>
                <a:r>
                  <a:rPr lang="en-US" altLang="zh-CN" dirty="0"/>
                  <a:t>}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C181ACDE-CC42-4647-A0BB-13B411659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95" y="1686580"/>
                <a:ext cx="8692409" cy="523220"/>
              </a:xfrm>
              <a:prstGeom prst="rect">
                <a:avLst/>
              </a:prstGeom>
              <a:blipFill>
                <a:blip r:embed="rId3"/>
                <a:stretch>
                  <a:fillRect l="-1331" t="-14773" r="-210" b="-3068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9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reeform 69">
            <a:extLst>
              <a:ext uri="{FF2B5EF4-FFF2-40B4-BE49-F238E27FC236}">
                <a16:creationId xmlns:a16="http://schemas.microsoft.com/office/drawing/2014/main" id="{BEEA1D4F-2F38-4F50-BB3C-AF642E709A04}"/>
              </a:ext>
            </a:extLst>
          </p:cNvPr>
          <p:cNvSpPr>
            <a:spLocks/>
          </p:cNvSpPr>
          <p:nvPr/>
        </p:nvSpPr>
        <p:spPr bwMode="auto">
          <a:xfrm>
            <a:off x="825500" y="2489200"/>
            <a:ext cx="2489200" cy="3378200"/>
          </a:xfrm>
          <a:custGeom>
            <a:avLst/>
            <a:gdLst>
              <a:gd name="T0" fmla="*/ 2147483646 w 1568"/>
              <a:gd name="T1" fmla="*/ 2147483646 h 2128"/>
              <a:gd name="T2" fmla="*/ 2147483646 w 1568"/>
              <a:gd name="T3" fmla="*/ 2147483646 h 2128"/>
              <a:gd name="T4" fmla="*/ 2147483646 w 1568"/>
              <a:gd name="T5" fmla="*/ 2147483646 h 2128"/>
              <a:gd name="T6" fmla="*/ 2147483646 w 1568"/>
              <a:gd name="T7" fmla="*/ 2147483646 h 2128"/>
              <a:gd name="T8" fmla="*/ 2147483646 w 1568"/>
              <a:gd name="T9" fmla="*/ 2147483646 h 2128"/>
              <a:gd name="T10" fmla="*/ 2147483646 w 1568"/>
              <a:gd name="T11" fmla="*/ 2147483646 h 2128"/>
              <a:gd name="T12" fmla="*/ 2147483646 w 1568"/>
              <a:gd name="T13" fmla="*/ 2147483646 h 2128"/>
              <a:gd name="T14" fmla="*/ 2147483646 w 1568"/>
              <a:gd name="T15" fmla="*/ 2147483646 h 2128"/>
              <a:gd name="T16" fmla="*/ 2147483646 w 1568"/>
              <a:gd name="T17" fmla="*/ 2147483646 h 2128"/>
              <a:gd name="T18" fmla="*/ 2147483646 w 1568"/>
              <a:gd name="T19" fmla="*/ 2147483646 h 212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568"/>
              <a:gd name="T31" fmla="*/ 0 h 2128"/>
              <a:gd name="T32" fmla="*/ 1568 w 1568"/>
              <a:gd name="T33" fmla="*/ 2128 h 212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568" h="2128">
                <a:moveTo>
                  <a:pt x="1160" y="1936"/>
                </a:moveTo>
                <a:cubicBezTo>
                  <a:pt x="1080" y="2064"/>
                  <a:pt x="1080" y="2072"/>
                  <a:pt x="1016" y="2080"/>
                </a:cubicBezTo>
                <a:cubicBezTo>
                  <a:pt x="952" y="2088"/>
                  <a:pt x="928" y="2128"/>
                  <a:pt x="776" y="1984"/>
                </a:cubicBezTo>
                <a:cubicBezTo>
                  <a:pt x="624" y="1840"/>
                  <a:pt x="208" y="1400"/>
                  <a:pt x="104" y="1216"/>
                </a:cubicBezTo>
                <a:cubicBezTo>
                  <a:pt x="0" y="1032"/>
                  <a:pt x="48" y="1064"/>
                  <a:pt x="152" y="880"/>
                </a:cubicBezTo>
                <a:cubicBezTo>
                  <a:pt x="256" y="696"/>
                  <a:pt x="576" y="224"/>
                  <a:pt x="728" y="112"/>
                </a:cubicBezTo>
                <a:cubicBezTo>
                  <a:pt x="880" y="0"/>
                  <a:pt x="936" y="64"/>
                  <a:pt x="1064" y="208"/>
                </a:cubicBezTo>
                <a:cubicBezTo>
                  <a:pt x="1192" y="352"/>
                  <a:pt x="1424" y="792"/>
                  <a:pt x="1496" y="976"/>
                </a:cubicBezTo>
                <a:cubicBezTo>
                  <a:pt x="1568" y="1160"/>
                  <a:pt x="1552" y="1152"/>
                  <a:pt x="1496" y="1312"/>
                </a:cubicBezTo>
                <a:cubicBezTo>
                  <a:pt x="1440" y="1472"/>
                  <a:pt x="1240" y="1808"/>
                  <a:pt x="1160" y="1936"/>
                </a:cubicBezTo>
                <a:close/>
              </a:path>
            </a:pathLst>
          </a:custGeom>
          <a:solidFill>
            <a:srgbClr val="CC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5843" name="Group 3">
            <a:extLst>
              <a:ext uri="{FF2B5EF4-FFF2-40B4-BE49-F238E27FC236}">
                <a16:creationId xmlns:a16="http://schemas.microsoft.com/office/drawing/2014/main" id="{F843576A-D732-42B9-9ED7-347B550FFD7A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962400"/>
            <a:ext cx="609600" cy="457200"/>
            <a:chOff x="672" y="2208"/>
            <a:chExt cx="384" cy="288"/>
          </a:xfrm>
        </p:grpSpPr>
        <p:sp>
          <p:nvSpPr>
            <p:cNvPr id="35908" name="Oval 4">
              <a:extLst>
                <a:ext uri="{FF2B5EF4-FFF2-40B4-BE49-F238E27FC236}">
                  <a16:creationId xmlns:a16="http://schemas.microsoft.com/office/drawing/2014/main" id="{7C3E0F60-8DD2-4A3F-8464-46905CD8C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5909" name="Text Box 5">
              <a:extLst>
                <a:ext uri="{FF2B5EF4-FFF2-40B4-BE49-F238E27FC236}">
                  <a16:creationId xmlns:a16="http://schemas.microsoft.com/office/drawing/2014/main" id="{4F9CCAF3-ADA8-4DD6-A411-D168FAA5F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1</a:t>
              </a:r>
            </a:p>
          </p:txBody>
        </p:sp>
      </p:grpSp>
      <p:sp>
        <p:nvSpPr>
          <p:cNvPr id="35844" name="Rectangle 6">
            <a:extLst>
              <a:ext uri="{FF2B5EF4-FFF2-40B4-BE49-F238E27FC236}">
                <a16:creationId xmlns:a16="http://schemas.microsoft.com/office/drawing/2014/main" id="{DD3D3E20-E075-4CDD-992C-0FD48E55B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步骤</a:t>
            </a:r>
          </a:p>
        </p:txBody>
      </p:sp>
      <p:grpSp>
        <p:nvGrpSpPr>
          <p:cNvPr id="35845" name="Group 7">
            <a:extLst>
              <a:ext uri="{FF2B5EF4-FFF2-40B4-BE49-F238E27FC236}">
                <a16:creationId xmlns:a16="http://schemas.microsoft.com/office/drawing/2014/main" id="{6712A91B-0BF3-4D0A-B64D-FB2171FC5A28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667000"/>
            <a:ext cx="609600" cy="457200"/>
            <a:chOff x="672" y="2208"/>
            <a:chExt cx="384" cy="288"/>
          </a:xfrm>
        </p:grpSpPr>
        <p:sp>
          <p:nvSpPr>
            <p:cNvPr id="35906" name="Oval 8">
              <a:extLst>
                <a:ext uri="{FF2B5EF4-FFF2-40B4-BE49-F238E27FC236}">
                  <a16:creationId xmlns:a16="http://schemas.microsoft.com/office/drawing/2014/main" id="{CD0336D7-E0DD-4A01-AEBE-11BC182C1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5907" name="Text Box 9">
              <a:extLst>
                <a:ext uri="{FF2B5EF4-FFF2-40B4-BE49-F238E27FC236}">
                  <a16:creationId xmlns:a16="http://schemas.microsoft.com/office/drawing/2014/main" id="{1E242F26-3338-4B3E-B577-D190FD1883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 dirty="0"/>
                <a:t>V</a:t>
              </a:r>
              <a:r>
                <a:rPr lang="en-US" altLang="zh-CN" sz="2400" baseline="-25000" dirty="0"/>
                <a:t>2</a:t>
              </a:r>
            </a:p>
          </p:txBody>
        </p:sp>
      </p:grpSp>
      <p:grpSp>
        <p:nvGrpSpPr>
          <p:cNvPr id="35846" name="Group 10">
            <a:extLst>
              <a:ext uri="{FF2B5EF4-FFF2-40B4-BE49-F238E27FC236}">
                <a16:creationId xmlns:a16="http://schemas.microsoft.com/office/drawing/2014/main" id="{3D03B863-2278-48BE-8023-9F2130EEF92F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257800"/>
            <a:ext cx="609600" cy="457200"/>
            <a:chOff x="672" y="2208"/>
            <a:chExt cx="384" cy="288"/>
          </a:xfrm>
        </p:grpSpPr>
        <p:sp>
          <p:nvSpPr>
            <p:cNvPr id="35904" name="Oval 11">
              <a:extLst>
                <a:ext uri="{FF2B5EF4-FFF2-40B4-BE49-F238E27FC236}">
                  <a16:creationId xmlns:a16="http://schemas.microsoft.com/office/drawing/2014/main" id="{A7C59FC1-7E73-4A72-8F27-B0C7411A3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5905" name="Text Box 12">
              <a:extLst>
                <a:ext uri="{FF2B5EF4-FFF2-40B4-BE49-F238E27FC236}">
                  <a16:creationId xmlns:a16="http://schemas.microsoft.com/office/drawing/2014/main" id="{A02D9FFA-52F4-4A22-A506-E9224D51AA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4</a:t>
              </a:r>
            </a:p>
          </p:txBody>
        </p:sp>
      </p:grpSp>
      <p:grpSp>
        <p:nvGrpSpPr>
          <p:cNvPr id="35847" name="Group 13">
            <a:extLst>
              <a:ext uri="{FF2B5EF4-FFF2-40B4-BE49-F238E27FC236}">
                <a16:creationId xmlns:a16="http://schemas.microsoft.com/office/drawing/2014/main" id="{2AA99D99-550E-4136-A23B-E5DFB4841D19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038600"/>
            <a:ext cx="609600" cy="457200"/>
            <a:chOff x="672" y="2208"/>
            <a:chExt cx="384" cy="288"/>
          </a:xfrm>
        </p:grpSpPr>
        <p:sp>
          <p:nvSpPr>
            <p:cNvPr id="35902" name="Oval 14">
              <a:extLst>
                <a:ext uri="{FF2B5EF4-FFF2-40B4-BE49-F238E27FC236}">
                  <a16:creationId xmlns:a16="http://schemas.microsoft.com/office/drawing/2014/main" id="{59EB85E3-06F4-4AB4-B075-35C0171B3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5903" name="Text Box 15">
              <a:extLst>
                <a:ext uri="{FF2B5EF4-FFF2-40B4-BE49-F238E27FC236}">
                  <a16:creationId xmlns:a16="http://schemas.microsoft.com/office/drawing/2014/main" id="{758348F2-9DFF-4F0A-B301-612A865338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3</a:t>
              </a:r>
            </a:p>
          </p:txBody>
        </p:sp>
      </p:grpSp>
      <p:grpSp>
        <p:nvGrpSpPr>
          <p:cNvPr id="35848" name="Group 16">
            <a:extLst>
              <a:ext uri="{FF2B5EF4-FFF2-40B4-BE49-F238E27FC236}">
                <a16:creationId xmlns:a16="http://schemas.microsoft.com/office/drawing/2014/main" id="{0B004EA9-FDA3-4D2F-9893-BFF2E94FD55A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590800"/>
            <a:ext cx="609600" cy="457200"/>
            <a:chOff x="672" y="2208"/>
            <a:chExt cx="384" cy="288"/>
          </a:xfrm>
        </p:grpSpPr>
        <p:sp>
          <p:nvSpPr>
            <p:cNvPr id="35900" name="Oval 17">
              <a:extLst>
                <a:ext uri="{FF2B5EF4-FFF2-40B4-BE49-F238E27FC236}">
                  <a16:creationId xmlns:a16="http://schemas.microsoft.com/office/drawing/2014/main" id="{370EEBC0-2D60-4908-95BA-409EB4FA63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5901" name="Text Box 18">
              <a:extLst>
                <a:ext uri="{FF2B5EF4-FFF2-40B4-BE49-F238E27FC236}">
                  <a16:creationId xmlns:a16="http://schemas.microsoft.com/office/drawing/2014/main" id="{E9B23FA6-66B2-43CC-8A7E-EE92BA0357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5</a:t>
              </a:r>
            </a:p>
          </p:txBody>
        </p:sp>
      </p:grpSp>
      <p:grpSp>
        <p:nvGrpSpPr>
          <p:cNvPr id="35849" name="Group 19">
            <a:extLst>
              <a:ext uri="{FF2B5EF4-FFF2-40B4-BE49-F238E27FC236}">
                <a16:creationId xmlns:a16="http://schemas.microsoft.com/office/drawing/2014/main" id="{6F42EBDC-0CEB-4182-B5DE-F7F50FEB79E7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5410200"/>
            <a:ext cx="609600" cy="457200"/>
            <a:chOff x="672" y="2208"/>
            <a:chExt cx="384" cy="288"/>
          </a:xfrm>
        </p:grpSpPr>
        <p:sp>
          <p:nvSpPr>
            <p:cNvPr id="35898" name="Oval 20">
              <a:extLst>
                <a:ext uri="{FF2B5EF4-FFF2-40B4-BE49-F238E27FC236}">
                  <a16:creationId xmlns:a16="http://schemas.microsoft.com/office/drawing/2014/main" id="{76FECAF4-F425-4A93-9B04-2B399DE43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5899" name="Text Box 21">
              <a:extLst>
                <a:ext uri="{FF2B5EF4-FFF2-40B4-BE49-F238E27FC236}">
                  <a16:creationId xmlns:a16="http://schemas.microsoft.com/office/drawing/2014/main" id="{76A31D0C-19F8-4F73-AF52-F1807D7212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6</a:t>
              </a:r>
            </a:p>
          </p:txBody>
        </p:sp>
      </p:grpSp>
      <p:grpSp>
        <p:nvGrpSpPr>
          <p:cNvPr id="35850" name="Group 22">
            <a:extLst>
              <a:ext uri="{FF2B5EF4-FFF2-40B4-BE49-F238E27FC236}">
                <a16:creationId xmlns:a16="http://schemas.microsoft.com/office/drawing/2014/main" id="{32D9E13E-AF45-4B2F-A260-5645D5F5272B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5181600"/>
            <a:ext cx="609600" cy="457200"/>
            <a:chOff x="672" y="2208"/>
            <a:chExt cx="384" cy="288"/>
          </a:xfrm>
        </p:grpSpPr>
        <p:sp>
          <p:nvSpPr>
            <p:cNvPr id="35896" name="Oval 23">
              <a:extLst>
                <a:ext uri="{FF2B5EF4-FFF2-40B4-BE49-F238E27FC236}">
                  <a16:creationId xmlns:a16="http://schemas.microsoft.com/office/drawing/2014/main" id="{E57D3CF6-B9A2-4FF8-A72D-83BD65CB9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5897" name="Text Box 24">
              <a:extLst>
                <a:ext uri="{FF2B5EF4-FFF2-40B4-BE49-F238E27FC236}">
                  <a16:creationId xmlns:a16="http://schemas.microsoft.com/office/drawing/2014/main" id="{49257A30-73CA-41AF-B9D5-7FC886FDA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7</a:t>
              </a:r>
            </a:p>
          </p:txBody>
        </p:sp>
      </p:grpSp>
      <p:grpSp>
        <p:nvGrpSpPr>
          <p:cNvPr id="35851" name="Group 25">
            <a:extLst>
              <a:ext uri="{FF2B5EF4-FFF2-40B4-BE49-F238E27FC236}">
                <a16:creationId xmlns:a16="http://schemas.microsoft.com/office/drawing/2014/main" id="{38F6DCE3-EDBA-4110-A564-34ACA6AD25F9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191000"/>
            <a:ext cx="609600" cy="457200"/>
            <a:chOff x="672" y="2208"/>
            <a:chExt cx="384" cy="288"/>
          </a:xfrm>
        </p:grpSpPr>
        <p:sp>
          <p:nvSpPr>
            <p:cNvPr id="35894" name="Oval 26">
              <a:extLst>
                <a:ext uri="{FF2B5EF4-FFF2-40B4-BE49-F238E27FC236}">
                  <a16:creationId xmlns:a16="http://schemas.microsoft.com/office/drawing/2014/main" id="{6A177FD1-2476-4D46-93D0-3F4BB317A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5895" name="Text Box 27">
              <a:extLst>
                <a:ext uri="{FF2B5EF4-FFF2-40B4-BE49-F238E27FC236}">
                  <a16:creationId xmlns:a16="http://schemas.microsoft.com/office/drawing/2014/main" id="{9F95AB62-0AE6-4285-9C9A-65007A3C70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8</a:t>
              </a:r>
            </a:p>
          </p:txBody>
        </p:sp>
      </p:grpSp>
      <p:grpSp>
        <p:nvGrpSpPr>
          <p:cNvPr id="35852" name="Group 28">
            <a:extLst>
              <a:ext uri="{FF2B5EF4-FFF2-40B4-BE49-F238E27FC236}">
                <a16:creationId xmlns:a16="http://schemas.microsoft.com/office/drawing/2014/main" id="{06E9BECD-55C2-4B55-AD65-0173B4ABAB5F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819400"/>
            <a:ext cx="609600" cy="457200"/>
            <a:chOff x="672" y="2208"/>
            <a:chExt cx="384" cy="288"/>
          </a:xfrm>
        </p:grpSpPr>
        <p:sp>
          <p:nvSpPr>
            <p:cNvPr id="35892" name="Oval 29">
              <a:extLst>
                <a:ext uri="{FF2B5EF4-FFF2-40B4-BE49-F238E27FC236}">
                  <a16:creationId xmlns:a16="http://schemas.microsoft.com/office/drawing/2014/main" id="{41D8AFEE-EE45-4E8F-A10B-D85BAA439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5893" name="Text Box 30">
              <a:extLst>
                <a:ext uri="{FF2B5EF4-FFF2-40B4-BE49-F238E27FC236}">
                  <a16:creationId xmlns:a16="http://schemas.microsoft.com/office/drawing/2014/main" id="{52FE99A6-532D-48F0-8524-40437C7869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9</a:t>
              </a:r>
            </a:p>
          </p:txBody>
        </p:sp>
      </p:grpSp>
      <p:sp>
        <p:nvSpPr>
          <p:cNvPr id="35853" name="Line 31">
            <a:extLst>
              <a:ext uri="{FF2B5EF4-FFF2-40B4-BE49-F238E27FC236}">
                <a16:creationId xmlns:a16="http://schemas.microsoft.com/office/drawing/2014/main" id="{076D71F8-5E51-4CC2-8FE3-6D716A1942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3048000"/>
            <a:ext cx="7620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4" name="Line 32">
            <a:extLst>
              <a:ext uri="{FF2B5EF4-FFF2-40B4-BE49-F238E27FC236}">
                <a16:creationId xmlns:a16="http://schemas.microsoft.com/office/drawing/2014/main" id="{6C819E6C-8C69-42CE-93D4-F31BD01CA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895600"/>
            <a:ext cx="2286000" cy="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5" name="Line 33">
            <a:extLst>
              <a:ext uri="{FF2B5EF4-FFF2-40B4-BE49-F238E27FC236}">
                <a16:creationId xmlns:a16="http://schemas.microsoft.com/office/drawing/2014/main" id="{7583AC3A-DDD9-443B-ABE6-FD9B74D534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191000"/>
            <a:ext cx="1371600" cy="762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6" name="Line 34">
            <a:extLst>
              <a:ext uri="{FF2B5EF4-FFF2-40B4-BE49-F238E27FC236}">
                <a16:creationId xmlns:a16="http://schemas.microsoft.com/office/drawing/2014/main" id="{E59D0710-2AA5-49AE-AC0D-4F5F6E6AAC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419600"/>
            <a:ext cx="8382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7" name="Line 35">
            <a:extLst>
              <a:ext uri="{FF2B5EF4-FFF2-40B4-BE49-F238E27FC236}">
                <a16:creationId xmlns:a16="http://schemas.microsoft.com/office/drawing/2014/main" id="{C4876284-F2EB-4401-8575-90F3B4AAE0C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3124200"/>
            <a:ext cx="6096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8" name="Line 36">
            <a:extLst>
              <a:ext uri="{FF2B5EF4-FFF2-40B4-BE49-F238E27FC236}">
                <a16:creationId xmlns:a16="http://schemas.microsoft.com/office/drawing/2014/main" id="{CF574FFD-B0C2-4188-8A65-2CC9F0B472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4495800"/>
            <a:ext cx="457200" cy="762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9" name="Line 37">
            <a:extLst>
              <a:ext uri="{FF2B5EF4-FFF2-40B4-BE49-F238E27FC236}">
                <a16:creationId xmlns:a16="http://schemas.microsoft.com/office/drawing/2014/main" id="{750AA249-CB5C-4880-AD4A-151FF6B32C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3048000"/>
            <a:ext cx="2209800" cy="2286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0" name="Line 38">
            <a:extLst>
              <a:ext uri="{FF2B5EF4-FFF2-40B4-BE49-F238E27FC236}">
                <a16:creationId xmlns:a16="http://schemas.microsoft.com/office/drawing/2014/main" id="{0A033277-3C45-477E-AF8C-E19EED4FE2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486400"/>
            <a:ext cx="20574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1" name="Line 39">
            <a:extLst>
              <a:ext uri="{FF2B5EF4-FFF2-40B4-BE49-F238E27FC236}">
                <a16:creationId xmlns:a16="http://schemas.microsoft.com/office/drawing/2014/main" id="{162CB846-5F53-448E-92D4-351848E003F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81600" y="2819400"/>
            <a:ext cx="1676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2" name="Line 40">
            <a:extLst>
              <a:ext uri="{FF2B5EF4-FFF2-40B4-BE49-F238E27FC236}">
                <a16:creationId xmlns:a16="http://schemas.microsoft.com/office/drawing/2014/main" id="{10EA4735-9380-4074-9242-D846D88B2B3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276600"/>
            <a:ext cx="685800" cy="990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3" name="Line 41">
            <a:extLst>
              <a:ext uri="{FF2B5EF4-FFF2-40B4-BE49-F238E27FC236}">
                <a16:creationId xmlns:a16="http://schemas.microsoft.com/office/drawing/2014/main" id="{A0431769-D300-4F88-8D44-86301ADE35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648200"/>
            <a:ext cx="914400" cy="685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4" name="Line 42">
            <a:extLst>
              <a:ext uri="{FF2B5EF4-FFF2-40B4-BE49-F238E27FC236}">
                <a16:creationId xmlns:a16="http://schemas.microsoft.com/office/drawing/2014/main" id="{95AE009D-3A8B-4946-96F6-66CFD89A96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5486400"/>
            <a:ext cx="13716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5" name="Line 43">
            <a:extLst>
              <a:ext uri="{FF2B5EF4-FFF2-40B4-BE49-F238E27FC236}">
                <a16:creationId xmlns:a16="http://schemas.microsoft.com/office/drawing/2014/main" id="{7C25B604-7F4B-48D4-9A08-67285BD0DE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971800"/>
            <a:ext cx="1524000" cy="2209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6" name="Freeform 44">
            <a:extLst>
              <a:ext uri="{FF2B5EF4-FFF2-40B4-BE49-F238E27FC236}">
                <a16:creationId xmlns:a16="http://schemas.microsoft.com/office/drawing/2014/main" id="{5F090416-C84E-4711-820E-78A37CE60BA9}"/>
              </a:ext>
            </a:extLst>
          </p:cNvPr>
          <p:cNvSpPr>
            <a:spLocks/>
          </p:cNvSpPr>
          <p:nvPr/>
        </p:nvSpPr>
        <p:spPr bwMode="auto">
          <a:xfrm>
            <a:off x="4483100" y="3048000"/>
            <a:ext cx="393700" cy="2362200"/>
          </a:xfrm>
          <a:custGeom>
            <a:avLst/>
            <a:gdLst>
              <a:gd name="T0" fmla="*/ 2147483646 w 248"/>
              <a:gd name="T1" fmla="*/ 0 h 1488"/>
              <a:gd name="T2" fmla="*/ 2147483646 w 248"/>
              <a:gd name="T3" fmla="*/ 2147483646 h 1488"/>
              <a:gd name="T4" fmla="*/ 2147483646 w 248"/>
              <a:gd name="T5" fmla="*/ 2147483646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248" y="0"/>
                </a:moveTo>
                <a:cubicBezTo>
                  <a:pt x="132" y="332"/>
                  <a:pt x="16" y="664"/>
                  <a:pt x="8" y="912"/>
                </a:cubicBezTo>
                <a:cubicBezTo>
                  <a:pt x="0" y="1160"/>
                  <a:pt x="100" y="1324"/>
                  <a:pt x="200" y="1488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7" name="Freeform 45">
            <a:extLst>
              <a:ext uri="{FF2B5EF4-FFF2-40B4-BE49-F238E27FC236}">
                <a16:creationId xmlns:a16="http://schemas.microsoft.com/office/drawing/2014/main" id="{E5163AA0-C208-440B-9670-B6DA4B7525A4}"/>
              </a:ext>
            </a:extLst>
          </p:cNvPr>
          <p:cNvSpPr>
            <a:spLocks/>
          </p:cNvSpPr>
          <p:nvPr/>
        </p:nvSpPr>
        <p:spPr bwMode="auto">
          <a:xfrm>
            <a:off x="5029200" y="3048000"/>
            <a:ext cx="393700" cy="2362200"/>
          </a:xfrm>
          <a:custGeom>
            <a:avLst/>
            <a:gdLst>
              <a:gd name="T0" fmla="*/ 0 w 248"/>
              <a:gd name="T1" fmla="*/ 2147483646 h 1488"/>
              <a:gd name="T2" fmla="*/ 2147483646 w 248"/>
              <a:gd name="T3" fmla="*/ 2147483646 h 1488"/>
              <a:gd name="T4" fmla="*/ 2147483646 w 248"/>
              <a:gd name="T5" fmla="*/ 0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0" y="1488"/>
                </a:moveTo>
                <a:cubicBezTo>
                  <a:pt x="116" y="1180"/>
                  <a:pt x="232" y="872"/>
                  <a:pt x="240" y="624"/>
                </a:cubicBezTo>
                <a:cubicBezTo>
                  <a:pt x="248" y="376"/>
                  <a:pt x="148" y="188"/>
                  <a:pt x="48" y="0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8" name="Line 46">
            <a:extLst>
              <a:ext uri="{FF2B5EF4-FFF2-40B4-BE49-F238E27FC236}">
                <a16:creationId xmlns:a16="http://schemas.microsoft.com/office/drawing/2014/main" id="{7AD40259-099A-4DDB-9126-5B61A9996C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181600"/>
            <a:ext cx="152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9" name="Line 47">
            <a:extLst>
              <a:ext uri="{FF2B5EF4-FFF2-40B4-BE49-F238E27FC236}">
                <a16:creationId xmlns:a16="http://schemas.microsoft.com/office/drawing/2014/main" id="{C3BA11A4-D024-4B0E-90EB-795A6E46BCE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05400" y="3048000"/>
            <a:ext cx="762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70" name="Text Box 48">
            <a:extLst>
              <a:ext uri="{FF2B5EF4-FFF2-40B4-BE49-F238E27FC236}">
                <a16:creationId xmlns:a16="http://schemas.microsoft.com/office/drawing/2014/main" id="{48E4762F-233C-4689-85BF-AB1D9F554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5871" name="Text Box 49">
            <a:extLst>
              <a:ext uri="{FF2B5EF4-FFF2-40B4-BE49-F238E27FC236}">
                <a16:creationId xmlns:a16="http://schemas.microsoft.com/office/drawing/2014/main" id="{A4D34CCD-5A04-45C8-AE49-AAF327C57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5872" name="Text Box 50">
            <a:extLst>
              <a:ext uri="{FF2B5EF4-FFF2-40B4-BE49-F238E27FC236}">
                <a16:creationId xmlns:a16="http://schemas.microsoft.com/office/drawing/2014/main" id="{17148CF8-59B5-4DB5-830E-F35BCC9BE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5873" name="Text Box 51">
            <a:extLst>
              <a:ext uri="{FF2B5EF4-FFF2-40B4-BE49-F238E27FC236}">
                <a16:creationId xmlns:a16="http://schemas.microsoft.com/office/drawing/2014/main" id="{A8AD99A1-07C4-4BB8-B514-27B8CB2F5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5874" name="Text Box 52">
            <a:extLst>
              <a:ext uri="{FF2B5EF4-FFF2-40B4-BE49-F238E27FC236}">
                <a16:creationId xmlns:a16="http://schemas.microsoft.com/office/drawing/2014/main" id="{7FE534FC-B0EB-4740-A1C0-7E5A4029C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5875" name="Text Box 53">
            <a:extLst>
              <a:ext uri="{FF2B5EF4-FFF2-40B4-BE49-F238E27FC236}">
                <a16:creationId xmlns:a16="http://schemas.microsoft.com/office/drawing/2014/main" id="{49229FA6-2F6B-49B2-8E4A-7E5945161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41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5876" name="Text Box 54">
            <a:extLst>
              <a:ext uri="{FF2B5EF4-FFF2-40B4-BE49-F238E27FC236}">
                <a16:creationId xmlns:a16="http://schemas.microsoft.com/office/drawing/2014/main" id="{14727D04-8C64-40A0-962D-B362EA6E2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581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5877" name="Text Box 55">
            <a:extLst>
              <a:ext uri="{FF2B5EF4-FFF2-40B4-BE49-F238E27FC236}">
                <a16:creationId xmlns:a16="http://schemas.microsoft.com/office/drawing/2014/main" id="{E6406610-3156-4BDC-ABCA-C109EEC5A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562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5878" name="Text Box 56">
            <a:extLst>
              <a:ext uri="{FF2B5EF4-FFF2-40B4-BE49-F238E27FC236}">
                <a16:creationId xmlns:a16="http://schemas.microsoft.com/office/drawing/2014/main" id="{F740DE87-11B9-4C1C-B95A-FD0D79F54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514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5879" name="Text Box 57">
            <a:extLst>
              <a:ext uri="{FF2B5EF4-FFF2-40B4-BE49-F238E27FC236}">
                <a16:creationId xmlns:a16="http://schemas.microsoft.com/office/drawing/2014/main" id="{0F1A7F4A-264A-4EC5-9CB5-19D2EE4FD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5880" name="Text Box 58">
            <a:extLst>
              <a:ext uri="{FF2B5EF4-FFF2-40B4-BE49-F238E27FC236}">
                <a16:creationId xmlns:a16="http://schemas.microsoft.com/office/drawing/2014/main" id="{726CFAF1-B9FD-4936-A023-53D062E56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56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5881" name="Line 59">
            <a:extLst>
              <a:ext uri="{FF2B5EF4-FFF2-40B4-BE49-F238E27FC236}">
                <a16:creationId xmlns:a16="http://schemas.microsoft.com/office/drawing/2014/main" id="{96A8FDCF-AD02-4174-B195-B661998996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895600"/>
            <a:ext cx="2514600" cy="1524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82" name="Text Box 60">
            <a:extLst>
              <a:ext uri="{FF2B5EF4-FFF2-40B4-BE49-F238E27FC236}">
                <a16:creationId xmlns:a16="http://schemas.microsoft.com/office/drawing/2014/main" id="{A80C9631-2A91-46B7-BDE1-6477400AC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5883" name="Text Box 61">
            <a:extLst>
              <a:ext uri="{FF2B5EF4-FFF2-40B4-BE49-F238E27FC236}">
                <a16:creationId xmlns:a16="http://schemas.microsoft.com/office/drawing/2014/main" id="{70B4FA5E-13E3-47CD-BD9C-79EC9EAE4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962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5884" name="Text Box 62">
            <a:extLst>
              <a:ext uri="{FF2B5EF4-FFF2-40B4-BE49-F238E27FC236}">
                <a16:creationId xmlns:a16="http://schemas.microsoft.com/office/drawing/2014/main" id="{A04B7FF0-6029-4AEF-84D7-360193051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114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5885" name="Text Box 63">
            <a:extLst>
              <a:ext uri="{FF2B5EF4-FFF2-40B4-BE49-F238E27FC236}">
                <a16:creationId xmlns:a16="http://schemas.microsoft.com/office/drawing/2014/main" id="{ED2B9E0D-69D1-4CD6-B5F0-F5F367747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876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5886" name="Text Box 64">
            <a:extLst>
              <a:ext uri="{FF2B5EF4-FFF2-40B4-BE49-F238E27FC236}">
                <a16:creationId xmlns:a16="http://schemas.microsoft.com/office/drawing/2014/main" id="{4A9C596E-DE8E-4F20-BBE7-3BC53282C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5887" name="Text Box 65">
            <a:extLst>
              <a:ext uri="{FF2B5EF4-FFF2-40B4-BE49-F238E27FC236}">
                <a16:creationId xmlns:a16="http://schemas.microsoft.com/office/drawing/2014/main" id="{B71CBE6E-5DCA-433C-80B4-5A3D6FF97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4290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[0,V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5888" name="Text Box 66">
            <a:extLst>
              <a:ext uri="{FF2B5EF4-FFF2-40B4-BE49-F238E27FC236}">
                <a16:creationId xmlns:a16="http://schemas.microsoft.com/office/drawing/2014/main" id="{4276591C-F687-4548-8073-B6BCA0F4A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791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[1,V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5889" name="Text Box 67">
            <a:extLst>
              <a:ext uri="{FF2B5EF4-FFF2-40B4-BE49-F238E27FC236}">
                <a16:creationId xmlns:a16="http://schemas.microsoft.com/office/drawing/2014/main" id="{FAEAE023-A718-4310-951A-7498AA28C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581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[3,V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5890" name="Text Box 68">
            <a:extLst>
              <a:ext uri="{FF2B5EF4-FFF2-40B4-BE49-F238E27FC236}">
                <a16:creationId xmlns:a16="http://schemas.microsoft.com/office/drawing/2014/main" id="{B254973C-AA08-436D-ACE7-859A34AE9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133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[5,V</a:t>
            </a:r>
            <a:r>
              <a:rPr lang="en-US" altLang="zh-CN" sz="2000" baseline="-25000">
                <a:solidFill>
                  <a:srgbClr val="000099"/>
                </a:solidFill>
              </a:rPr>
              <a:t>3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240710" name="Text Box 70">
            <a:extLst>
              <a:ext uri="{FF2B5EF4-FFF2-40B4-BE49-F238E27FC236}">
                <a16:creationId xmlns:a16="http://schemas.microsoft.com/office/drawing/2014/main" id="{81B39C51-974E-4480-B0AD-6A6077AA7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057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[6,V</a:t>
            </a:r>
            <a:r>
              <a:rPr lang="en-US" altLang="zh-CN" sz="2000" baseline="-25000">
                <a:solidFill>
                  <a:srgbClr val="000099"/>
                </a:solidFill>
              </a:rPr>
              <a:t>2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81718B9-0FA1-4797-8832-0AF8FD91181A}"/>
              </a:ext>
            </a:extLst>
          </p:cNvPr>
          <p:cNvSpPr/>
          <p:nvPr/>
        </p:nvSpPr>
        <p:spPr>
          <a:xfrm>
            <a:off x="521516" y="833864"/>
            <a:ext cx="8165284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考虑所有这样的弧</a:t>
            </a:r>
            <a:r>
              <a:rPr lang="en-US" altLang="zh-CN" sz="2400" dirty="0"/>
              <a:t>( v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)</a:t>
            </a:r>
            <a:r>
              <a:rPr lang="zh-CN" altLang="en-US" sz="2400" dirty="0"/>
              <a:t>，其中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∈V</a:t>
            </a:r>
            <a:r>
              <a:rPr lang="en-US" altLang="zh-CN" sz="2400" baseline="-25000" dirty="0" err="1"/>
              <a:t>A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en-US" altLang="zh-CN" sz="2400" dirty="0" err="1"/>
              <a:t>∈V</a:t>
            </a:r>
            <a:r>
              <a:rPr lang="en-US" altLang="zh-CN" sz="2400" baseline="-25000" dirty="0" err="1"/>
              <a:t>B</a:t>
            </a:r>
            <a:r>
              <a:rPr lang="zh-CN" altLang="en-US" sz="2400" dirty="0"/>
              <a:t>，挑选其中与起点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距离最短（</a:t>
            </a:r>
            <a:r>
              <a:rPr lang="en-US" altLang="zh-CN" sz="2400" dirty="0"/>
              <a:t>min {</a:t>
            </a:r>
            <a:r>
              <a:rPr lang="en-US" altLang="zh-CN" sz="2400" dirty="0" err="1"/>
              <a:t>d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+c</a:t>
            </a:r>
            <a:r>
              <a:rPr lang="en-US" altLang="zh-CN" sz="2400" baseline="-25000" dirty="0" err="1"/>
              <a:t>ij</a:t>
            </a:r>
            <a:r>
              <a:rPr lang="en-US" altLang="zh-CN" sz="2400" dirty="0"/>
              <a:t>}</a:t>
            </a:r>
            <a:r>
              <a:rPr lang="zh-CN" altLang="en-US" sz="2400" dirty="0"/>
              <a:t>）的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zh-CN" altLang="en-US" sz="2400" dirty="0"/>
              <a:t>，对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zh-CN" altLang="en-US" sz="2400" dirty="0"/>
              <a:t>进行标号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7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reeform 72">
            <a:extLst>
              <a:ext uri="{FF2B5EF4-FFF2-40B4-BE49-F238E27FC236}">
                <a16:creationId xmlns:a16="http://schemas.microsoft.com/office/drawing/2014/main" id="{91147516-0459-4240-845A-15E8DEB81D2B}"/>
              </a:ext>
            </a:extLst>
          </p:cNvPr>
          <p:cNvSpPr>
            <a:spLocks/>
          </p:cNvSpPr>
          <p:nvPr/>
        </p:nvSpPr>
        <p:spPr bwMode="auto">
          <a:xfrm>
            <a:off x="914400" y="2438400"/>
            <a:ext cx="4660900" cy="3695700"/>
          </a:xfrm>
          <a:custGeom>
            <a:avLst/>
            <a:gdLst>
              <a:gd name="T0" fmla="*/ 2147483646 w 2936"/>
              <a:gd name="T1" fmla="*/ 2147483646 h 2328"/>
              <a:gd name="T2" fmla="*/ 2147483646 w 2936"/>
              <a:gd name="T3" fmla="*/ 2147483646 h 2328"/>
              <a:gd name="T4" fmla="*/ 2147483646 w 2936"/>
              <a:gd name="T5" fmla="*/ 2147483646 h 2328"/>
              <a:gd name="T6" fmla="*/ 2147483646 w 2936"/>
              <a:gd name="T7" fmla="*/ 2147483646 h 2328"/>
              <a:gd name="T8" fmla="*/ 2147483646 w 2936"/>
              <a:gd name="T9" fmla="*/ 2147483646 h 2328"/>
              <a:gd name="T10" fmla="*/ 2147483646 w 2936"/>
              <a:gd name="T11" fmla="*/ 2147483646 h 2328"/>
              <a:gd name="T12" fmla="*/ 2147483646 w 2936"/>
              <a:gd name="T13" fmla="*/ 2147483646 h 2328"/>
              <a:gd name="T14" fmla="*/ 2147483646 w 2936"/>
              <a:gd name="T15" fmla="*/ 2147483646 h 2328"/>
              <a:gd name="T16" fmla="*/ 2147483646 w 2936"/>
              <a:gd name="T17" fmla="*/ 2147483646 h 2328"/>
              <a:gd name="T18" fmla="*/ 2147483646 w 2936"/>
              <a:gd name="T19" fmla="*/ 2147483646 h 2328"/>
              <a:gd name="T20" fmla="*/ 2147483646 w 2936"/>
              <a:gd name="T21" fmla="*/ 2147483646 h 232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936"/>
              <a:gd name="T34" fmla="*/ 0 h 2328"/>
              <a:gd name="T35" fmla="*/ 2936 w 2936"/>
              <a:gd name="T36" fmla="*/ 2328 h 2328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936" h="2328">
                <a:moveTo>
                  <a:pt x="1152" y="2016"/>
                </a:moveTo>
                <a:cubicBezTo>
                  <a:pt x="1128" y="2024"/>
                  <a:pt x="1040" y="2104"/>
                  <a:pt x="960" y="2112"/>
                </a:cubicBezTo>
                <a:cubicBezTo>
                  <a:pt x="880" y="2120"/>
                  <a:pt x="816" y="2208"/>
                  <a:pt x="672" y="2064"/>
                </a:cubicBezTo>
                <a:cubicBezTo>
                  <a:pt x="528" y="1920"/>
                  <a:pt x="192" y="1440"/>
                  <a:pt x="96" y="1248"/>
                </a:cubicBezTo>
                <a:cubicBezTo>
                  <a:pt x="0" y="1056"/>
                  <a:pt x="8" y="1088"/>
                  <a:pt x="96" y="912"/>
                </a:cubicBezTo>
                <a:cubicBezTo>
                  <a:pt x="184" y="736"/>
                  <a:pt x="448" y="320"/>
                  <a:pt x="624" y="192"/>
                </a:cubicBezTo>
                <a:cubicBezTo>
                  <a:pt x="800" y="64"/>
                  <a:pt x="808" y="168"/>
                  <a:pt x="1152" y="144"/>
                </a:cubicBezTo>
                <a:cubicBezTo>
                  <a:pt x="1496" y="120"/>
                  <a:pt x="2440" y="0"/>
                  <a:pt x="2688" y="48"/>
                </a:cubicBezTo>
                <a:cubicBezTo>
                  <a:pt x="2936" y="96"/>
                  <a:pt x="2904" y="96"/>
                  <a:pt x="2640" y="432"/>
                </a:cubicBezTo>
                <a:cubicBezTo>
                  <a:pt x="2376" y="768"/>
                  <a:pt x="1352" y="1800"/>
                  <a:pt x="1104" y="2064"/>
                </a:cubicBezTo>
                <a:cubicBezTo>
                  <a:pt x="856" y="2328"/>
                  <a:pt x="1176" y="2008"/>
                  <a:pt x="1152" y="2016"/>
                </a:cubicBezTo>
                <a:close/>
              </a:path>
            </a:pathLst>
          </a:custGeom>
          <a:solidFill>
            <a:srgbClr val="CC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6867" name="Group 3">
            <a:extLst>
              <a:ext uri="{FF2B5EF4-FFF2-40B4-BE49-F238E27FC236}">
                <a16:creationId xmlns:a16="http://schemas.microsoft.com/office/drawing/2014/main" id="{572F773F-C9FF-4FA6-90A2-9FCE821B73BB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962400"/>
            <a:ext cx="609600" cy="457200"/>
            <a:chOff x="672" y="2208"/>
            <a:chExt cx="384" cy="288"/>
          </a:xfrm>
        </p:grpSpPr>
        <p:sp>
          <p:nvSpPr>
            <p:cNvPr id="36933" name="Oval 4">
              <a:extLst>
                <a:ext uri="{FF2B5EF4-FFF2-40B4-BE49-F238E27FC236}">
                  <a16:creationId xmlns:a16="http://schemas.microsoft.com/office/drawing/2014/main" id="{EF5627EC-1CB1-43EA-A1D0-F04F1DFB9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6934" name="Text Box 5">
              <a:extLst>
                <a:ext uri="{FF2B5EF4-FFF2-40B4-BE49-F238E27FC236}">
                  <a16:creationId xmlns:a16="http://schemas.microsoft.com/office/drawing/2014/main" id="{5DD4627F-A153-42C1-9E19-37E8B8B0A9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1</a:t>
              </a:r>
            </a:p>
          </p:txBody>
        </p:sp>
      </p:grpSp>
      <p:sp>
        <p:nvSpPr>
          <p:cNvPr id="36868" name="Rectangle 6">
            <a:extLst>
              <a:ext uri="{FF2B5EF4-FFF2-40B4-BE49-F238E27FC236}">
                <a16:creationId xmlns:a16="http://schemas.microsoft.com/office/drawing/2014/main" id="{ED2D4ED3-ED58-45C0-879A-CF66411A4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步骤</a:t>
            </a:r>
          </a:p>
        </p:txBody>
      </p:sp>
      <p:grpSp>
        <p:nvGrpSpPr>
          <p:cNvPr id="36869" name="Group 7">
            <a:extLst>
              <a:ext uri="{FF2B5EF4-FFF2-40B4-BE49-F238E27FC236}">
                <a16:creationId xmlns:a16="http://schemas.microsoft.com/office/drawing/2014/main" id="{277BE4BA-80AF-4D89-B4D1-3BA23FAA8693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667000"/>
            <a:ext cx="609600" cy="457200"/>
            <a:chOff x="672" y="2208"/>
            <a:chExt cx="384" cy="288"/>
          </a:xfrm>
        </p:grpSpPr>
        <p:sp>
          <p:nvSpPr>
            <p:cNvPr id="36931" name="Oval 8">
              <a:extLst>
                <a:ext uri="{FF2B5EF4-FFF2-40B4-BE49-F238E27FC236}">
                  <a16:creationId xmlns:a16="http://schemas.microsoft.com/office/drawing/2014/main" id="{9C8EE4DD-56E2-45CE-8309-DCAE8A2CC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6932" name="Text Box 9">
              <a:extLst>
                <a:ext uri="{FF2B5EF4-FFF2-40B4-BE49-F238E27FC236}">
                  <a16:creationId xmlns:a16="http://schemas.microsoft.com/office/drawing/2014/main" id="{E0C43334-6D47-493C-9A2F-35B9E76D0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2</a:t>
              </a:r>
            </a:p>
          </p:txBody>
        </p:sp>
      </p:grpSp>
      <p:grpSp>
        <p:nvGrpSpPr>
          <p:cNvPr id="36870" name="Group 10">
            <a:extLst>
              <a:ext uri="{FF2B5EF4-FFF2-40B4-BE49-F238E27FC236}">
                <a16:creationId xmlns:a16="http://schemas.microsoft.com/office/drawing/2014/main" id="{912272D8-4B6E-4FBE-A417-BB168D74A29A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257800"/>
            <a:ext cx="609600" cy="457200"/>
            <a:chOff x="672" y="2208"/>
            <a:chExt cx="384" cy="288"/>
          </a:xfrm>
        </p:grpSpPr>
        <p:sp>
          <p:nvSpPr>
            <p:cNvPr id="36929" name="Oval 11">
              <a:extLst>
                <a:ext uri="{FF2B5EF4-FFF2-40B4-BE49-F238E27FC236}">
                  <a16:creationId xmlns:a16="http://schemas.microsoft.com/office/drawing/2014/main" id="{E9547F63-61EF-454A-A007-A57967D4E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6930" name="Text Box 12">
              <a:extLst>
                <a:ext uri="{FF2B5EF4-FFF2-40B4-BE49-F238E27FC236}">
                  <a16:creationId xmlns:a16="http://schemas.microsoft.com/office/drawing/2014/main" id="{084FCAF4-2B40-4882-BEAA-DFC08BF0D2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4</a:t>
              </a:r>
            </a:p>
          </p:txBody>
        </p:sp>
      </p:grpSp>
      <p:grpSp>
        <p:nvGrpSpPr>
          <p:cNvPr id="36871" name="Group 13">
            <a:extLst>
              <a:ext uri="{FF2B5EF4-FFF2-40B4-BE49-F238E27FC236}">
                <a16:creationId xmlns:a16="http://schemas.microsoft.com/office/drawing/2014/main" id="{E32226F2-9711-4B21-BA3B-BC287FDE25C0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038600"/>
            <a:ext cx="609600" cy="457200"/>
            <a:chOff x="672" y="2208"/>
            <a:chExt cx="384" cy="288"/>
          </a:xfrm>
        </p:grpSpPr>
        <p:sp>
          <p:nvSpPr>
            <p:cNvPr id="36927" name="Oval 14">
              <a:extLst>
                <a:ext uri="{FF2B5EF4-FFF2-40B4-BE49-F238E27FC236}">
                  <a16:creationId xmlns:a16="http://schemas.microsoft.com/office/drawing/2014/main" id="{CACEDA73-C1CD-4596-8227-95AD6B4FB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6928" name="Text Box 15">
              <a:extLst>
                <a:ext uri="{FF2B5EF4-FFF2-40B4-BE49-F238E27FC236}">
                  <a16:creationId xmlns:a16="http://schemas.microsoft.com/office/drawing/2014/main" id="{38609000-8DA8-42E3-A000-DFC1AD94AE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3</a:t>
              </a:r>
            </a:p>
          </p:txBody>
        </p:sp>
      </p:grpSp>
      <p:grpSp>
        <p:nvGrpSpPr>
          <p:cNvPr id="36872" name="Group 16">
            <a:extLst>
              <a:ext uri="{FF2B5EF4-FFF2-40B4-BE49-F238E27FC236}">
                <a16:creationId xmlns:a16="http://schemas.microsoft.com/office/drawing/2014/main" id="{3FAC27AC-B7D1-430E-A6AC-A3DE2733EA10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590800"/>
            <a:ext cx="609600" cy="457200"/>
            <a:chOff x="672" y="2208"/>
            <a:chExt cx="384" cy="288"/>
          </a:xfrm>
        </p:grpSpPr>
        <p:sp>
          <p:nvSpPr>
            <p:cNvPr id="36925" name="Oval 17">
              <a:extLst>
                <a:ext uri="{FF2B5EF4-FFF2-40B4-BE49-F238E27FC236}">
                  <a16:creationId xmlns:a16="http://schemas.microsoft.com/office/drawing/2014/main" id="{29BA4EA5-31D1-4A76-BC37-AFCB45EEA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6926" name="Text Box 18">
              <a:extLst>
                <a:ext uri="{FF2B5EF4-FFF2-40B4-BE49-F238E27FC236}">
                  <a16:creationId xmlns:a16="http://schemas.microsoft.com/office/drawing/2014/main" id="{F78341E3-3B99-4033-8D69-969CED699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5</a:t>
              </a:r>
            </a:p>
          </p:txBody>
        </p:sp>
      </p:grpSp>
      <p:grpSp>
        <p:nvGrpSpPr>
          <p:cNvPr id="36873" name="Group 19">
            <a:extLst>
              <a:ext uri="{FF2B5EF4-FFF2-40B4-BE49-F238E27FC236}">
                <a16:creationId xmlns:a16="http://schemas.microsoft.com/office/drawing/2014/main" id="{5E030CA6-2F8F-4AE7-8676-A202004D4C35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5410200"/>
            <a:ext cx="609600" cy="457200"/>
            <a:chOff x="672" y="2208"/>
            <a:chExt cx="384" cy="288"/>
          </a:xfrm>
        </p:grpSpPr>
        <p:sp>
          <p:nvSpPr>
            <p:cNvPr id="36923" name="Oval 20">
              <a:extLst>
                <a:ext uri="{FF2B5EF4-FFF2-40B4-BE49-F238E27FC236}">
                  <a16:creationId xmlns:a16="http://schemas.microsoft.com/office/drawing/2014/main" id="{BA7AC7FE-A076-47A1-8A00-E437F146E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6924" name="Text Box 21">
              <a:extLst>
                <a:ext uri="{FF2B5EF4-FFF2-40B4-BE49-F238E27FC236}">
                  <a16:creationId xmlns:a16="http://schemas.microsoft.com/office/drawing/2014/main" id="{D6D293A8-DF18-49D2-B0AD-6E38EFDD6F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6</a:t>
              </a:r>
            </a:p>
          </p:txBody>
        </p:sp>
      </p:grpSp>
      <p:grpSp>
        <p:nvGrpSpPr>
          <p:cNvPr id="36874" name="Group 22">
            <a:extLst>
              <a:ext uri="{FF2B5EF4-FFF2-40B4-BE49-F238E27FC236}">
                <a16:creationId xmlns:a16="http://schemas.microsoft.com/office/drawing/2014/main" id="{74DAB86D-44D4-4C8B-9DF0-B9D5CF08765F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5181600"/>
            <a:ext cx="609600" cy="457200"/>
            <a:chOff x="672" y="2208"/>
            <a:chExt cx="384" cy="288"/>
          </a:xfrm>
        </p:grpSpPr>
        <p:sp>
          <p:nvSpPr>
            <p:cNvPr id="36921" name="Oval 23">
              <a:extLst>
                <a:ext uri="{FF2B5EF4-FFF2-40B4-BE49-F238E27FC236}">
                  <a16:creationId xmlns:a16="http://schemas.microsoft.com/office/drawing/2014/main" id="{C775DD2E-450A-4384-BF81-7BEFF04BB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6922" name="Text Box 24">
              <a:extLst>
                <a:ext uri="{FF2B5EF4-FFF2-40B4-BE49-F238E27FC236}">
                  <a16:creationId xmlns:a16="http://schemas.microsoft.com/office/drawing/2014/main" id="{838397B2-8F60-47AA-80F5-7E3F4B25A8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7</a:t>
              </a:r>
            </a:p>
          </p:txBody>
        </p:sp>
      </p:grpSp>
      <p:grpSp>
        <p:nvGrpSpPr>
          <p:cNvPr id="36875" name="Group 25">
            <a:extLst>
              <a:ext uri="{FF2B5EF4-FFF2-40B4-BE49-F238E27FC236}">
                <a16:creationId xmlns:a16="http://schemas.microsoft.com/office/drawing/2014/main" id="{30560C09-650A-4DBA-8893-E0D44403F85D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191000"/>
            <a:ext cx="609600" cy="457200"/>
            <a:chOff x="672" y="2208"/>
            <a:chExt cx="384" cy="288"/>
          </a:xfrm>
        </p:grpSpPr>
        <p:sp>
          <p:nvSpPr>
            <p:cNvPr id="36919" name="Oval 26">
              <a:extLst>
                <a:ext uri="{FF2B5EF4-FFF2-40B4-BE49-F238E27FC236}">
                  <a16:creationId xmlns:a16="http://schemas.microsoft.com/office/drawing/2014/main" id="{818B4B28-AA69-49DB-A4C2-6FDDEA31B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6920" name="Text Box 27">
              <a:extLst>
                <a:ext uri="{FF2B5EF4-FFF2-40B4-BE49-F238E27FC236}">
                  <a16:creationId xmlns:a16="http://schemas.microsoft.com/office/drawing/2014/main" id="{7F43D29A-FC78-48F4-BF80-106731D75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8</a:t>
              </a:r>
            </a:p>
          </p:txBody>
        </p:sp>
      </p:grpSp>
      <p:grpSp>
        <p:nvGrpSpPr>
          <p:cNvPr id="36876" name="Group 28">
            <a:extLst>
              <a:ext uri="{FF2B5EF4-FFF2-40B4-BE49-F238E27FC236}">
                <a16:creationId xmlns:a16="http://schemas.microsoft.com/office/drawing/2014/main" id="{D531CB8C-8B2D-4E4F-BC8B-258D541D3E87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819400"/>
            <a:ext cx="609600" cy="457200"/>
            <a:chOff x="672" y="2208"/>
            <a:chExt cx="384" cy="288"/>
          </a:xfrm>
        </p:grpSpPr>
        <p:sp>
          <p:nvSpPr>
            <p:cNvPr id="36917" name="Oval 29">
              <a:extLst>
                <a:ext uri="{FF2B5EF4-FFF2-40B4-BE49-F238E27FC236}">
                  <a16:creationId xmlns:a16="http://schemas.microsoft.com/office/drawing/2014/main" id="{61C0965B-64DD-46C0-8784-D289171A6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6918" name="Text Box 30">
              <a:extLst>
                <a:ext uri="{FF2B5EF4-FFF2-40B4-BE49-F238E27FC236}">
                  <a16:creationId xmlns:a16="http://schemas.microsoft.com/office/drawing/2014/main" id="{D3B2D30D-586E-409D-83DF-25BB5230B4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9</a:t>
              </a:r>
            </a:p>
          </p:txBody>
        </p:sp>
      </p:grpSp>
      <p:sp>
        <p:nvSpPr>
          <p:cNvPr id="36877" name="Line 31">
            <a:extLst>
              <a:ext uri="{FF2B5EF4-FFF2-40B4-BE49-F238E27FC236}">
                <a16:creationId xmlns:a16="http://schemas.microsoft.com/office/drawing/2014/main" id="{FEB61759-7560-4425-9528-D5AC4BA921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3048000"/>
            <a:ext cx="7620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8" name="Line 32">
            <a:extLst>
              <a:ext uri="{FF2B5EF4-FFF2-40B4-BE49-F238E27FC236}">
                <a16:creationId xmlns:a16="http://schemas.microsoft.com/office/drawing/2014/main" id="{C56C2CFC-D9A7-49E7-9FAF-DF020ADBFC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895600"/>
            <a:ext cx="2286000" cy="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9" name="Line 33">
            <a:extLst>
              <a:ext uri="{FF2B5EF4-FFF2-40B4-BE49-F238E27FC236}">
                <a16:creationId xmlns:a16="http://schemas.microsoft.com/office/drawing/2014/main" id="{1CB165A8-E9A4-4C3D-A539-FF200E1923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191000"/>
            <a:ext cx="1371600" cy="762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0" name="Line 34">
            <a:extLst>
              <a:ext uri="{FF2B5EF4-FFF2-40B4-BE49-F238E27FC236}">
                <a16:creationId xmlns:a16="http://schemas.microsoft.com/office/drawing/2014/main" id="{7CA84838-FD1A-43E2-8B34-0E4A2F2FF1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419600"/>
            <a:ext cx="8382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1" name="Line 35">
            <a:extLst>
              <a:ext uri="{FF2B5EF4-FFF2-40B4-BE49-F238E27FC236}">
                <a16:creationId xmlns:a16="http://schemas.microsoft.com/office/drawing/2014/main" id="{4C4E0763-2E97-4670-9D38-7266A204923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3124200"/>
            <a:ext cx="6096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2" name="Line 36">
            <a:extLst>
              <a:ext uri="{FF2B5EF4-FFF2-40B4-BE49-F238E27FC236}">
                <a16:creationId xmlns:a16="http://schemas.microsoft.com/office/drawing/2014/main" id="{B4A38C12-D68F-40DA-BDAD-DE516A713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4495800"/>
            <a:ext cx="457200" cy="762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3" name="Line 37">
            <a:extLst>
              <a:ext uri="{FF2B5EF4-FFF2-40B4-BE49-F238E27FC236}">
                <a16:creationId xmlns:a16="http://schemas.microsoft.com/office/drawing/2014/main" id="{7C3FD2B2-BD06-408D-AAEB-4D09253B11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3048000"/>
            <a:ext cx="2209800" cy="2286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4" name="Line 38">
            <a:extLst>
              <a:ext uri="{FF2B5EF4-FFF2-40B4-BE49-F238E27FC236}">
                <a16:creationId xmlns:a16="http://schemas.microsoft.com/office/drawing/2014/main" id="{88B5F6E3-634C-4312-9211-745238CF89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486400"/>
            <a:ext cx="20574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5" name="Line 39">
            <a:extLst>
              <a:ext uri="{FF2B5EF4-FFF2-40B4-BE49-F238E27FC236}">
                <a16:creationId xmlns:a16="http://schemas.microsoft.com/office/drawing/2014/main" id="{2F8CEB47-744C-4E49-A2C7-F00716354A3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81600" y="2819400"/>
            <a:ext cx="1676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6" name="Line 40">
            <a:extLst>
              <a:ext uri="{FF2B5EF4-FFF2-40B4-BE49-F238E27FC236}">
                <a16:creationId xmlns:a16="http://schemas.microsoft.com/office/drawing/2014/main" id="{FAE43846-F915-4343-898E-FFF7B71A8094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276600"/>
            <a:ext cx="685800" cy="990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7" name="Line 41">
            <a:extLst>
              <a:ext uri="{FF2B5EF4-FFF2-40B4-BE49-F238E27FC236}">
                <a16:creationId xmlns:a16="http://schemas.microsoft.com/office/drawing/2014/main" id="{725C34DC-DC2C-4ECC-BC0F-99B6DA64DB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648200"/>
            <a:ext cx="914400" cy="685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8" name="Line 42">
            <a:extLst>
              <a:ext uri="{FF2B5EF4-FFF2-40B4-BE49-F238E27FC236}">
                <a16:creationId xmlns:a16="http://schemas.microsoft.com/office/drawing/2014/main" id="{217F9A3B-26EA-448D-9B22-15FF7EAF68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5486400"/>
            <a:ext cx="13716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9" name="Line 43">
            <a:extLst>
              <a:ext uri="{FF2B5EF4-FFF2-40B4-BE49-F238E27FC236}">
                <a16:creationId xmlns:a16="http://schemas.microsoft.com/office/drawing/2014/main" id="{3696CFBE-391A-4D73-883A-92DA1DF440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971800"/>
            <a:ext cx="1524000" cy="2209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0" name="Freeform 45">
            <a:extLst>
              <a:ext uri="{FF2B5EF4-FFF2-40B4-BE49-F238E27FC236}">
                <a16:creationId xmlns:a16="http://schemas.microsoft.com/office/drawing/2014/main" id="{23C1C3C0-6504-4DE6-B438-B55D5E0C9E24}"/>
              </a:ext>
            </a:extLst>
          </p:cNvPr>
          <p:cNvSpPr>
            <a:spLocks/>
          </p:cNvSpPr>
          <p:nvPr/>
        </p:nvSpPr>
        <p:spPr bwMode="auto">
          <a:xfrm>
            <a:off x="5029200" y="3048000"/>
            <a:ext cx="393700" cy="2362200"/>
          </a:xfrm>
          <a:custGeom>
            <a:avLst/>
            <a:gdLst>
              <a:gd name="T0" fmla="*/ 0 w 248"/>
              <a:gd name="T1" fmla="*/ 2147483646 h 1488"/>
              <a:gd name="T2" fmla="*/ 2147483646 w 248"/>
              <a:gd name="T3" fmla="*/ 2147483646 h 1488"/>
              <a:gd name="T4" fmla="*/ 2147483646 w 248"/>
              <a:gd name="T5" fmla="*/ 0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0" y="1488"/>
                </a:moveTo>
                <a:cubicBezTo>
                  <a:pt x="116" y="1180"/>
                  <a:pt x="232" y="872"/>
                  <a:pt x="240" y="624"/>
                </a:cubicBezTo>
                <a:cubicBezTo>
                  <a:pt x="248" y="376"/>
                  <a:pt x="148" y="188"/>
                  <a:pt x="48" y="0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1" name="Freeform 44">
            <a:extLst>
              <a:ext uri="{FF2B5EF4-FFF2-40B4-BE49-F238E27FC236}">
                <a16:creationId xmlns:a16="http://schemas.microsoft.com/office/drawing/2014/main" id="{F1D380B6-7894-46CF-ADCB-9D48BE92D0F0}"/>
              </a:ext>
            </a:extLst>
          </p:cNvPr>
          <p:cNvSpPr>
            <a:spLocks/>
          </p:cNvSpPr>
          <p:nvPr/>
        </p:nvSpPr>
        <p:spPr bwMode="auto">
          <a:xfrm>
            <a:off x="4483100" y="3048000"/>
            <a:ext cx="393700" cy="2362200"/>
          </a:xfrm>
          <a:custGeom>
            <a:avLst/>
            <a:gdLst>
              <a:gd name="T0" fmla="*/ 2147483646 w 248"/>
              <a:gd name="T1" fmla="*/ 0 h 1488"/>
              <a:gd name="T2" fmla="*/ 2147483646 w 248"/>
              <a:gd name="T3" fmla="*/ 2147483646 h 1488"/>
              <a:gd name="T4" fmla="*/ 2147483646 w 248"/>
              <a:gd name="T5" fmla="*/ 2147483646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248" y="0"/>
                </a:moveTo>
                <a:cubicBezTo>
                  <a:pt x="132" y="332"/>
                  <a:pt x="16" y="664"/>
                  <a:pt x="8" y="912"/>
                </a:cubicBezTo>
                <a:cubicBezTo>
                  <a:pt x="0" y="1160"/>
                  <a:pt x="100" y="1324"/>
                  <a:pt x="200" y="1488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2" name="Line 46">
            <a:extLst>
              <a:ext uri="{FF2B5EF4-FFF2-40B4-BE49-F238E27FC236}">
                <a16:creationId xmlns:a16="http://schemas.microsoft.com/office/drawing/2014/main" id="{3FB59A64-31AE-4064-8E99-FC881307E6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181600"/>
            <a:ext cx="152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3" name="Line 47">
            <a:extLst>
              <a:ext uri="{FF2B5EF4-FFF2-40B4-BE49-F238E27FC236}">
                <a16:creationId xmlns:a16="http://schemas.microsoft.com/office/drawing/2014/main" id="{F0D2E816-77C9-4EB7-917A-AA56A461822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05400" y="3048000"/>
            <a:ext cx="762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4" name="Text Box 48">
            <a:extLst>
              <a:ext uri="{FF2B5EF4-FFF2-40B4-BE49-F238E27FC236}">
                <a16:creationId xmlns:a16="http://schemas.microsoft.com/office/drawing/2014/main" id="{203D56E5-E9CB-4617-AD23-7A21A57EA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6895" name="Text Box 49">
            <a:extLst>
              <a:ext uri="{FF2B5EF4-FFF2-40B4-BE49-F238E27FC236}">
                <a16:creationId xmlns:a16="http://schemas.microsoft.com/office/drawing/2014/main" id="{6F5163FC-2069-4983-862A-616DCF41E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6896" name="Text Box 50">
            <a:extLst>
              <a:ext uri="{FF2B5EF4-FFF2-40B4-BE49-F238E27FC236}">
                <a16:creationId xmlns:a16="http://schemas.microsoft.com/office/drawing/2014/main" id="{C3C7C629-E750-4E7E-A87B-CBAAA5307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6897" name="Text Box 51">
            <a:extLst>
              <a:ext uri="{FF2B5EF4-FFF2-40B4-BE49-F238E27FC236}">
                <a16:creationId xmlns:a16="http://schemas.microsoft.com/office/drawing/2014/main" id="{A772A1F6-1A8D-4875-884D-998C986BF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6898" name="Text Box 52">
            <a:extLst>
              <a:ext uri="{FF2B5EF4-FFF2-40B4-BE49-F238E27FC236}">
                <a16:creationId xmlns:a16="http://schemas.microsoft.com/office/drawing/2014/main" id="{F8B2955E-DFBB-4D3D-9452-E57DCEAFE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6899" name="Text Box 53">
            <a:extLst>
              <a:ext uri="{FF2B5EF4-FFF2-40B4-BE49-F238E27FC236}">
                <a16:creationId xmlns:a16="http://schemas.microsoft.com/office/drawing/2014/main" id="{51EC3838-E437-4FA3-93AE-1FCEF86BF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41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6900" name="Text Box 54">
            <a:extLst>
              <a:ext uri="{FF2B5EF4-FFF2-40B4-BE49-F238E27FC236}">
                <a16:creationId xmlns:a16="http://schemas.microsoft.com/office/drawing/2014/main" id="{2468127D-559F-484D-AA87-ED8553600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581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6901" name="Text Box 55">
            <a:extLst>
              <a:ext uri="{FF2B5EF4-FFF2-40B4-BE49-F238E27FC236}">
                <a16:creationId xmlns:a16="http://schemas.microsoft.com/office/drawing/2014/main" id="{48693F8B-2ADB-4D1C-A19E-CB58553D7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562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6902" name="Text Box 56">
            <a:extLst>
              <a:ext uri="{FF2B5EF4-FFF2-40B4-BE49-F238E27FC236}">
                <a16:creationId xmlns:a16="http://schemas.microsoft.com/office/drawing/2014/main" id="{4F55BD6D-E448-418B-AC2C-1C45EB493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514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6903" name="Text Box 57">
            <a:extLst>
              <a:ext uri="{FF2B5EF4-FFF2-40B4-BE49-F238E27FC236}">
                <a16:creationId xmlns:a16="http://schemas.microsoft.com/office/drawing/2014/main" id="{D488EE12-DFA4-4B8A-A9BF-56EB6E252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6904" name="Text Box 58">
            <a:extLst>
              <a:ext uri="{FF2B5EF4-FFF2-40B4-BE49-F238E27FC236}">
                <a16:creationId xmlns:a16="http://schemas.microsoft.com/office/drawing/2014/main" id="{0B56069B-65B7-4029-800B-B1867E57E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56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6905" name="Line 59">
            <a:extLst>
              <a:ext uri="{FF2B5EF4-FFF2-40B4-BE49-F238E27FC236}">
                <a16:creationId xmlns:a16="http://schemas.microsoft.com/office/drawing/2014/main" id="{E464494D-E723-4EB1-B9BC-80EF23E48C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895600"/>
            <a:ext cx="2514600" cy="1524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6" name="Text Box 60">
            <a:extLst>
              <a:ext uri="{FF2B5EF4-FFF2-40B4-BE49-F238E27FC236}">
                <a16:creationId xmlns:a16="http://schemas.microsoft.com/office/drawing/2014/main" id="{81F46FB2-BE48-4862-ADC8-2771E3D50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6907" name="Text Box 61">
            <a:extLst>
              <a:ext uri="{FF2B5EF4-FFF2-40B4-BE49-F238E27FC236}">
                <a16:creationId xmlns:a16="http://schemas.microsoft.com/office/drawing/2014/main" id="{8E815F08-AAB2-4349-A6CB-55F975A20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962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6908" name="Text Box 62">
            <a:extLst>
              <a:ext uri="{FF2B5EF4-FFF2-40B4-BE49-F238E27FC236}">
                <a16:creationId xmlns:a16="http://schemas.microsoft.com/office/drawing/2014/main" id="{894918DE-8914-4FC2-8E6F-64031ABB3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114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6909" name="Text Box 63">
            <a:extLst>
              <a:ext uri="{FF2B5EF4-FFF2-40B4-BE49-F238E27FC236}">
                <a16:creationId xmlns:a16="http://schemas.microsoft.com/office/drawing/2014/main" id="{F7D1EA0C-4976-47C9-A5CB-B0618A502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876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6910" name="Text Box 64">
            <a:extLst>
              <a:ext uri="{FF2B5EF4-FFF2-40B4-BE49-F238E27FC236}">
                <a16:creationId xmlns:a16="http://schemas.microsoft.com/office/drawing/2014/main" id="{8BBF72F4-18A4-4F59-985A-6CCE14821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6911" name="Text Box 65">
            <a:extLst>
              <a:ext uri="{FF2B5EF4-FFF2-40B4-BE49-F238E27FC236}">
                <a16:creationId xmlns:a16="http://schemas.microsoft.com/office/drawing/2014/main" id="{33ED5BD0-A1E6-4DD1-A566-FED30E9F8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4290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[0,V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6912" name="Text Box 66">
            <a:extLst>
              <a:ext uri="{FF2B5EF4-FFF2-40B4-BE49-F238E27FC236}">
                <a16:creationId xmlns:a16="http://schemas.microsoft.com/office/drawing/2014/main" id="{EDA15483-6D7C-4F6D-8CA9-7DE0545BB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791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[1,V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6913" name="Text Box 67">
            <a:extLst>
              <a:ext uri="{FF2B5EF4-FFF2-40B4-BE49-F238E27FC236}">
                <a16:creationId xmlns:a16="http://schemas.microsoft.com/office/drawing/2014/main" id="{A5625EFA-EBB8-4CB5-B0FC-AFD3A0238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581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[3,V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6914" name="Text Box 68">
            <a:extLst>
              <a:ext uri="{FF2B5EF4-FFF2-40B4-BE49-F238E27FC236}">
                <a16:creationId xmlns:a16="http://schemas.microsoft.com/office/drawing/2014/main" id="{EDE1753C-C94C-4AEE-B9EB-A91DA1863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057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[6,V</a:t>
            </a:r>
            <a:r>
              <a:rPr lang="en-US" altLang="zh-CN" sz="2000" baseline="-25000">
                <a:solidFill>
                  <a:srgbClr val="000099"/>
                </a:solidFill>
              </a:rPr>
              <a:t>2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6915" name="Text Box 69">
            <a:extLst>
              <a:ext uri="{FF2B5EF4-FFF2-40B4-BE49-F238E27FC236}">
                <a16:creationId xmlns:a16="http://schemas.microsoft.com/office/drawing/2014/main" id="{F1D2B4F4-72F4-4283-99D8-B9826E913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2860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[5,V</a:t>
            </a:r>
            <a:r>
              <a:rPr lang="en-US" altLang="zh-CN" sz="2000" baseline="-25000">
                <a:solidFill>
                  <a:srgbClr val="000099"/>
                </a:solidFill>
              </a:rPr>
              <a:t>3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241737" name="Text Box 73">
            <a:extLst>
              <a:ext uri="{FF2B5EF4-FFF2-40B4-BE49-F238E27FC236}">
                <a16:creationId xmlns:a16="http://schemas.microsoft.com/office/drawing/2014/main" id="{1EC86B60-E700-4B73-9859-827BB713F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791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[9,V</a:t>
            </a:r>
            <a:r>
              <a:rPr lang="en-US" altLang="zh-CN" sz="2000" baseline="-25000">
                <a:solidFill>
                  <a:srgbClr val="000099"/>
                </a:solidFill>
              </a:rPr>
              <a:t>5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9108B2C-12DD-4FB8-BD2B-8F79B931A6A4}"/>
              </a:ext>
            </a:extLst>
          </p:cNvPr>
          <p:cNvSpPr/>
          <p:nvPr/>
        </p:nvSpPr>
        <p:spPr>
          <a:xfrm>
            <a:off x="521516" y="1249055"/>
            <a:ext cx="8165284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考虑所有这样的弧</a:t>
            </a:r>
            <a:r>
              <a:rPr lang="en-US" altLang="zh-CN" sz="2400" dirty="0"/>
              <a:t>( v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)</a:t>
            </a:r>
            <a:r>
              <a:rPr lang="zh-CN" altLang="en-US" sz="2400" dirty="0"/>
              <a:t>，其中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∈V</a:t>
            </a:r>
            <a:r>
              <a:rPr lang="en-US" altLang="zh-CN" sz="2400" baseline="-25000" dirty="0" err="1"/>
              <a:t>A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en-US" altLang="zh-CN" sz="2400" dirty="0" err="1"/>
              <a:t>∈V</a:t>
            </a:r>
            <a:r>
              <a:rPr lang="en-US" altLang="zh-CN" sz="2400" baseline="-25000" dirty="0" err="1"/>
              <a:t>B</a:t>
            </a:r>
            <a:r>
              <a:rPr lang="zh-CN" altLang="en-US" sz="2400" dirty="0"/>
              <a:t>，挑选其中与起点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距离最短（</a:t>
            </a:r>
            <a:r>
              <a:rPr lang="en-US" altLang="zh-CN" sz="2400" dirty="0"/>
              <a:t>min {</a:t>
            </a:r>
            <a:r>
              <a:rPr lang="en-US" altLang="zh-CN" sz="2400" dirty="0" err="1"/>
              <a:t>d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+c</a:t>
            </a:r>
            <a:r>
              <a:rPr lang="en-US" altLang="zh-CN" sz="2400" baseline="-25000" dirty="0" err="1"/>
              <a:t>ij</a:t>
            </a:r>
            <a:r>
              <a:rPr lang="en-US" altLang="zh-CN" sz="2400" dirty="0"/>
              <a:t>}</a:t>
            </a:r>
            <a:r>
              <a:rPr lang="zh-CN" altLang="en-US" sz="2400" dirty="0"/>
              <a:t>）的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zh-CN" altLang="en-US" sz="2400" dirty="0"/>
              <a:t>，对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zh-CN" altLang="en-US" sz="2400" dirty="0"/>
              <a:t>进行标号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73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reeform 71">
            <a:extLst>
              <a:ext uri="{FF2B5EF4-FFF2-40B4-BE49-F238E27FC236}">
                <a16:creationId xmlns:a16="http://schemas.microsoft.com/office/drawing/2014/main" id="{0DB84A52-0C6C-4ED0-8F93-1FC6AF3D91E6}"/>
              </a:ext>
            </a:extLst>
          </p:cNvPr>
          <p:cNvSpPr>
            <a:spLocks/>
          </p:cNvSpPr>
          <p:nvPr/>
        </p:nvSpPr>
        <p:spPr bwMode="auto">
          <a:xfrm>
            <a:off x="774700" y="2324100"/>
            <a:ext cx="6527800" cy="3810000"/>
          </a:xfrm>
          <a:custGeom>
            <a:avLst/>
            <a:gdLst>
              <a:gd name="T0" fmla="*/ 2147483646 w 4112"/>
              <a:gd name="T1" fmla="*/ 2147483646 h 2400"/>
              <a:gd name="T2" fmla="*/ 2147483646 w 4112"/>
              <a:gd name="T3" fmla="*/ 2147483646 h 2400"/>
              <a:gd name="T4" fmla="*/ 2147483646 w 4112"/>
              <a:gd name="T5" fmla="*/ 2147483646 h 2400"/>
              <a:gd name="T6" fmla="*/ 2147483646 w 4112"/>
              <a:gd name="T7" fmla="*/ 2147483646 h 2400"/>
              <a:gd name="T8" fmla="*/ 2147483646 w 4112"/>
              <a:gd name="T9" fmla="*/ 2147483646 h 2400"/>
              <a:gd name="T10" fmla="*/ 2147483646 w 4112"/>
              <a:gd name="T11" fmla="*/ 2147483646 h 2400"/>
              <a:gd name="T12" fmla="*/ 2147483646 w 4112"/>
              <a:gd name="T13" fmla="*/ 2147483646 h 2400"/>
              <a:gd name="T14" fmla="*/ 2147483646 w 4112"/>
              <a:gd name="T15" fmla="*/ 2147483646 h 2400"/>
              <a:gd name="T16" fmla="*/ 2147483646 w 4112"/>
              <a:gd name="T17" fmla="*/ 2147483646 h 2400"/>
              <a:gd name="T18" fmla="*/ 2147483646 w 4112"/>
              <a:gd name="T19" fmla="*/ 2147483646 h 2400"/>
              <a:gd name="T20" fmla="*/ 2147483646 w 4112"/>
              <a:gd name="T21" fmla="*/ 2147483646 h 2400"/>
              <a:gd name="T22" fmla="*/ 2147483646 w 4112"/>
              <a:gd name="T23" fmla="*/ 2147483646 h 24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4112"/>
              <a:gd name="T37" fmla="*/ 0 h 2400"/>
              <a:gd name="T38" fmla="*/ 4112 w 4112"/>
              <a:gd name="T39" fmla="*/ 2400 h 24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4112" h="2400">
                <a:moveTo>
                  <a:pt x="3928" y="1752"/>
                </a:moveTo>
                <a:cubicBezTo>
                  <a:pt x="4112" y="2048"/>
                  <a:pt x="4024" y="1968"/>
                  <a:pt x="3976" y="2040"/>
                </a:cubicBezTo>
                <a:cubicBezTo>
                  <a:pt x="3928" y="2112"/>
                  <a:pt x="3832" y="2400"/>
                  <a:pt x="3640" y="2184"/>
                </a:cubicBezTo>
                <a:cubicBezTo>
                  <a:pt x="3448" y="1968"/>
                  <a:pt x="2992" y="1000"/>
                  <a:pt x="2824" y="744"/>
                </a:cubicBezTo>
                <a:cubicBezTo>
                  <a:pt x="2656" y="488"/>
                  <a:pt x="2688" y="640"/>
                  <a:pt x="2632" y="648"/>
                </a:cubicBezTo>
                <a:cubicBezTo>
                  <a:pt x="2576" y="656"/>
                  <a:pt x="2720" y="536"/>
                  <a:pt x="2488" y="792"/>
                </a:cubicBezTo>
                <a:cubicBezTo>
                  <a:pt x="2256" y="1048"/>
                  <a:pt x="1640" y="2096"/>
                  <a:pt x="1240" y="2184"/>
                </a:cubicBezTo>
                <a:cubicBezTo>
                  <a:pt x="840" y="2272"/>
                  <a:pt x="176" y="1648"/>
                  <a:pt x="88" y="1320"/>
                </a:cubicBezTo>
                <a:cubicBezTo>
                  <a:pt x="0" y="992"/>
                  <a:pt x="304" y="416"/>
                  <a:pt x="712" y="216"/>
                </a:cubicBezTo>
                <a:cubicBezTo>
                  <a:pt x="1120" y="16"/>
                  <a:pt x="2176" y="112"/>
                  <a:pt x="2536" y="120"/>
                </a:cubicBezTo>
                <a:cubicBezTo>
                  <a:pt x="2896" y="128"/>
                  <a:pt x="2640" y="0"/>
                  <a:pt x="2872" y="264"/>
                </a:cubicBezTo>
                <a:cubicBezTo>
                  <a:pt x="3104" y="528"/>
                  <a:pt x="3744" y="1456"/>
                  <a:pt x="3928" y="1752"/>
                </a:cubicBezTo>
                <a:close/>
              </a:path>
            </a:pathLst>
          </a:custGeom>
          <a:solidFill>
            <a:srgbClr val="CC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7891" name="Group 3">
            <a:extLst>
              <a:ext uri="{FF2B5EF4-FFF2-40B4-BE49-F238E27FC236}">
                <a16:creationId xmlns:a16="http://schemas.microsoft.com/office/drawing/2014/main" id="{BA88AFC1-4ADA-427F-B6C0-43F6813CA019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962400"/>
            <a:ext cx="609600" cy="457200"/>
            <a:chOff x="672" y="2208"/>
            <a:chExt cx="384" cy="288"/>
          </a:xfrm>
        </p:grpSpPr>
        <p:sp>
          <p:nvSpPr>
            <p:cNvPr id="37958" name="Oval 4">
              <a:extLst>
                <a:ext uri="{FF2B5EF4-FFF2-40B4-BE49-F238E27FC236}">
                  <a16:creationId xmlns:a16="http://schemas.microsoft.com/office/drawing/2014/main" id="{C1F0F5DF-B261-4612-BD27-994DEA927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7959" name="Text Box 5">
              <a:extLst>
                <a:ext uri="{FF2B5EF4-FFF2-40B4-BE49-F238E27FC236}">
                  <a16:creationId xmlns:a16="http://schemas.microsoft.com/office/drawing/2014/main" id="{6371C0A7-D778-4845-B412-9152088FC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1</a:t>
              </a:r>
            </a:p>
          </p:txBody>
        </p:sp>
      </p:grpSp>
      <p:sp>
        <p:nvSpPr>
          <p:cNvPr id="37892" name="Rectangle 6">
            <a:extLst>
              <a:ext uri="{FF2B5EF4-FFF2-40B4-BE49-F238E27FC236}">
                <a16:creationId xmlns:a16="http://schemas.microsoft.com/office/drawing/2014/main" id="{671F1033-E537-4080-B540-5EE5A64913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步骤</a:t>
            </a:r>
          </a:p>
        </p:txBody>
      </p:sp>
      <p:grpSp>
        <p:nvGrpSpPr>
          <p:cNvPr id="37893" name="Group 7">
            <a:extLst>
              <a:ext uri="{FF2B5EF4-FFF2-40B4-BE49-F238E27FC236}">
                <a16:creationId xmlns:a16="http://schemas.microsoft.com/office/drawing/2014/main" id="{F7212205-0D80-40AD-8063-21DCA213FD7F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667000"/>
            <a:ext cx="609600" cy="457200"/>
            <a:chOff x="672" y="2208"/>
            <a:chExt cx="384" cy="288"/>
          </a:xfrm>
        </p:grpSpPr>
        <p:sp>
          <p:nvSpPr>
            <p:cNvPr id="37956" name="Oval 8">
              <a:extLst>
                <a:ext uri="{FF2B5EF4-FFF2-40B4-BE49-F238E27FC236}">
                  <a16:creationId xmlns:a16="http://schemas.microsoft.com/office/drawing/2014/main" id="{C12447A6-B22C-40D8-9E40-7234DF21B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7957" name="Text Box 9">
              <a:extLst>
                <a:ext uri="{FF2B5EF4-FFF2-40B4-BE49-F238E27FC236}">
                  <a16:creationId xmlns:a16="http://schemas.microsoft.com/office/drawing/2014/main" id="{BD01A826-2DE3-4C4E-A657-35B9FF5BC5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2</a:t>
              </a:r>
            </a:p>
          </p:txBody>
        </p:sp>
      </p:grpSp>
      <p:grpSp>
        <p:nvGrpSpPr>
          <p:cNvPr id="37894" name="Group 10">
            <a:extLst>
              <a:ext uri="{FF2B5EF4-FFF2-40B4-BE49-F238E27FC236}">
                <a16:creationId xmlns:a16="http://schemas.microsoft.com/office/drawing/2014/main" id="{A70AAA1E-53AE-45A1-AB8F-6B7636E3CD18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257800"/>
            <a:ext cx="609600" cy="457200"/>
            <a:chOff x="672" y="2208"/>
            <a:chExt cx="384" cy="288"/>
          </a:xfrm>
        </p:grpSpPr>
        <p:sp>
          <p:nvSpPr>
            <p:cNvPr id="37954" name="Oval 11">
              <a:extLst>
                <a:ext uri="{FF2B5EF4-FFF2-40B4-BE49-F238E27FC236}">
                  <a16:creationId xmlns:a16="http://schemas.microsoft.com/office/drawing/2014/main" id="{5D4C2E18-2008-40BC-9E44-87C0D1160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7955" name="Text Box 12">
              <a:extLst>
                <a:ext uri="{FF2B5EF4-FFF2-40B4-BE49-F238E27FC236}">
                  <a16:creationId xmlns:a16="http://schemas.microsoft.com/office/drawing/2014/main" id="{BB2C261D-9223-4329-9299-3AEBBCA87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4</a:t>
              </a:r>
            </a:p>
          </p:txBody>
        </p:sp>
      </p:grpSp>
      <p:grpSp>
        <p:nvGrpSpPr>
          <p:cNvPr id="37895" name="Group 13">
            <a:extLst>
              <a:ext uri="{FF2B5EF4-FFF2-40B4-BE49-F238E27FC236}">
                <a16:creationId xmlns:a16="http://schemas.microsoft.com/office/drawing/2014/main" id="{BA93FEED-507C-44D1-B002-906D7B914C85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038600"/>
            <a:ext cx="609600" cy="457200"/>
            <a:chOff x="672" y="2208"/>
            <a:chExt cx="384" cy="288"/>
          </a:xfrm>
        </p:grpSpPr>
        <p:sp>
          <p:nvSpPr>
            <p:cNvPr id="37952" name="Oval 14">
              <a:extLst>
                <a:ext uri="{FF2B5EF4-FFF2-40B4-BE49-F238E27FC236}">
                  <a16:creationId xmlns:a16="http://schemas.microsoft.com/office/drawing/2014/main" id="{FA1BA51C-6D56-4DE4-A422-FD11F5CD6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7953" name="Text Box 15">
              <a:extLst>
                <a:ext uri="{FF2B5EF4-FFF2-40B4-BE49-F238E27FC236}">
                  <a16:creationId xmlns:a16="http://schemas.microsoft.com/office/drawing/2014/main" id="{E85430D5-65A8-46C5-9B11-89C1443994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3</a:t>
              </a:r>
            </a:p>
          </p:txBody>
        </p:sp>
      </p:grpSp>
      <p:grpSp>
        <p:nvGrpSpPr>
          <p:cNvPr id="37896" name="Group 16">
            <a:extLst>
              <a:ext uri="{FF2B5EF4-FFF2-40B4-BE49-F238E27FC236}">
                <a16:creationId xmlns:a16="http://schemas.microsoft.com/office/drawing/2014/main" id="{43C6F04B-1528-43B4-B087-615256D21BFB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590800"/>
            <a:ext cx="609600" cy="457200"/>
            <a:chOff x="672" y="2208"/>
            <a:chExt cx="384" cy="288"/>
          </a:xfrm>
        </p:grpSpPr>
        <p:sp>
          <p:nvSpPr>
            <p:cNvPr id="37950" name="Oval 17">
              <a:extLst>
                <a:ext uri="{FF2B5EF4-FFF2-40B4-BE49-F238E27FC236}">
                  <a16:creationId xmlns:a16="http://schemas.microsoft.com/office/drawing/2014/main" id="{3BF27088-9D05-4D45-B484-93599F8E8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7951" name="Text Box 18">
              <a:extLst>
                <a:ext uri="{FF2B5EF4-FFF2-40B4-BE49-F238E27FC236}">
                  <a16:creationId xmlns:a16="http://schemas.microsoft.com/office/drawing/2014/main" id="{E7460ECC-C99D-4F20-A32E-27389DB489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5</a:t>
              </a:r>
            </a:p>
          </p:txBody>
        </p:sp>
      </p:grpSp>
      <p:grpSp>
        <p:nvGrpSpPr>
          <p:cNvPr id="37897" name="Group 19">
            <a:extLst>
              <a:ext uri="{FF2B5EF4-FFF2-40B4-BE49-F238E27FC236}">
                <a16:creationId xmlns:a16="http://schemas.microsoft.com/office/drawing/2014/main" id="{7E8C9B80-BA71-4AD4-844C-F2A02C79EAD8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5410200"/>
            <a:ext cx="609600" cy="457200"/>
            <a:chOff x="672" y="2208"/>
            <a:chExt cx="384" cy="288"/>
          </a:xfrm>
        </p:grpSpPr>
        <p:sp>
          <p:nvSpPr>
            <p:cNvPr id="37948" name="Oval 20">
              <a:extLst>
                <a:ext uri="{FF2B5EF4-FFF2-40B4-BE49-F238E27FC236}">
                  <a16:creationId xmlns:a16="http://schemas.microsoft.com/office/drawing/2014/main" id="{64063913-15E4-4E41-820D-873841A40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7949" name="Text Box 21">
              <a:extLst>
                <a:ext uri="{FF2B5EF4-FFF2-40B4-BE49-F238E27FC236}">
                  <a16:creationId xmlns:a16="http://schemas.microsoft.com/office/drawing/2014/main" id="{A30CD324-D6D8-43B7-83D0-A65C5AEAC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6</a:t>
              </a:r>
            </a:p>
          </p:txBody>
        </p:sp>
      </p:grpSp>
      <p:grpSp>
        <p:nvGrpSpPr>
          <p:cNvPr id="37898" name="Group 22">
            <a:extLst>
              <a:ext uri="{FF2B5EF4-FFF2-40B4-BE49-F238E27FC236}">
                <a16:creationId xmlns:a16="http://schemas.microsoft.com/office/drawing/2014/main" id="{AF177357-033D-4194-8C7E-1E301169969A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5181600"/>
            <a:ext cx="609600" cy="457200"/>
            <a:chOff x="672" y="2208"/>
            <a:chExt cx="384" cy="288"/>
          </a:xfrm>
        </p:grpSpPr>
        <p:sp>
          <p:nvSpPr>
            <p:cNvPr id="37946" name="Oval 23">
              <a:extLst>
                <a:ext uri="{FF2B5EF4-FFF2-40B4-BE49-F238E27FC236}">
                  <a16:creationId xmlns:a16="http://schemas.microsoft.com/office/drawing/2014/main" id="{DB4B0A0F-31A9-4C97-83D0-66E6C79CF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7947" name="Text Box 24">
              <a:extLst>
                <a:ext uri="{FF2B5EF4-FFF2-40B4-BE49-F238E27FC236}">
                  <a16:creationId xmlns:a16="http://schemas.microsoft.com/office/drawing/2014/main" id="{11623F6B-E212-4D42-A6AD-CCE205CA4A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7</a:t>
              </a:r>
            </a:p>
          </p:txBody>
        </p:sp>
      </p:grpSp>
      <p:grpSp>
        <p:nvGrpSpPr>
          <p:cNvPr id="37899" name="Group 25">
            <a:extLst>
              <a:ext uri="{FF2B5EF4-FFF2-40B4-BE49-F238E27FC236}">
                <a16:creationId xmlns:a16="http://schemas.microsoft.com/office/drawing/2014/main" id="{8AE608C3-7871-4A51-A9C5-8638A8BE75C8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191000"/>
            <a:ext cx="609600" cy="457200"/>
            <a:chOff x="672" y="2208"/>
            <a:chExt cx="384" cy="288"/>
          </a:xfrm>
        </p:grpSpPr>
        <p:sp>
          <p:nvSpPr>
            <p:cNvPr id="37944" name="Oval 26">
              <a:extLst>
                <a:ext uri="{FF2B5EF4-FFF2-40B4-BE49-F238E27FC236}">
                  <a16:creationId xmlns:a16="http://schemas.microsoft.com/office/drawing/2014/main" id="{B4A2E7DF-3EC6-4E3A-9CAD-D9BB51FA7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7945" name="Text Box 27">
              <a:extLst>
                <a:ext uri="{FF2B5EF4-FFF2-40B4-BE49-F238E27FC236}">
                  <a16:creationId xmlns:a16="http://schemas.microsoft.com/office/drawing/2014/main" id="{A4603119-58BE-4C76-B660-2D5D645E3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8</a:t>
              </a:r>
            </a:p>
          </p:txBody>
        </p:sp>
      </p:grpSp>
      <p:grpSp>
        <p:nvGrpSpPr>
          <p:cNvPr id="37900" name="Group 28">
            <a:extLst>
              <a:ext uri="{FF2B5EF4-FFF2-40B4-BE49-F238E27FC236}">
                <a16:creationId xmlns:a16="http://schemas.microsoft.com/office/drawing/2014/main" id="{CB7E2940-7B8D-40DB-9C1C-2ED3C1731175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819400"/>
            <a:ext cx="609600" cy="457200"/>
            <a:chOff x="672" y="2208"/>
            <a:chExt cx="384" cy="288"/>
          </a:xfrm>
        </p:grpSpPr>
        <p:sp>
          <p:nvSpPr>
            <p:cNvPr id="37942" name="Oval 29">
              <a:extLst>
                <a:ext uri="{FF2B5EF4-FFF2-40B4-BE49-F238E27FC236}">
                  <a16:creationId xmlns:a16="http://schemas.microsoft.com/office/drawing/2014/main" id="{AE668F3E-AA8A-46AC-B9EC-21C58297F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7943" name="Text Box 30">
              <a:extLst>
                <a:ext uri="{FF2B5EF4-FFF2-40B4-BE49-F238E27FC236}">
                  <a16:creationId xmlns:a16="http://schemas.microsoft.com/office/drawing/2014/main" id="{EE07C2F4-E5A1-45BF-A327-F2D061FE7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9</a:t>
              </a:r>
            </a:p>
          </p:txBody>
        </p:sp>
      </p:grpSp>
      <p:sp>
        <p:nvSpPr>
          <p:cNvPr id="37901" name="Line 31">
            <a:extLst>
              <a:ext uri="{FF2B5EF4-FFF2-40B4-BE49-F238E27FC236}">
                <a16:creationId xmlns:a16="http://schemas.microsoft.com/office/drawing/2014/main" id="{E3BD0CDB-0475-4304-B321-BDA8010E55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3048000"/>
            <a:ext cx="7620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2" name="Line 32">
            <a:extLst>
              <a:ext uri="{FF2B5EF4-FFF2-40B4-BE49-F238E27FC236}">
                <a16:creationId xmlns:a16="http://schemas.microsoft.com/office/drawing/2014/main" id="{CEFFBBAB-8597-4F6B-B657-82904CDAD5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895600"/>
            <a:ext cx="2286000" cy="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3" name="Line 33">
            <a:extLst>
              <a:ext uri="{FF2B5EF4-FFF2-40B4-BE49-F238E27FC236}">
                <a16:creationId xmlns:a16="http://schemas.microsoft.com/office/drawing/2014/main" id="{3CA1F691-A1D5-4B9C-B03B-1CF3EA5E12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191000"/>
            <a:ext cx="1371600" cy="762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4" name="Line 34">
            <a:extLst>
              <a:ext uri="{FF2B5EF4-FFF2-40B4-BE49-F238E27FC236}">
                <a16:creationId xmlns:a16="http://schemas.microsoft.com/office/drawing/2014/main" id="{534A8699-0FFE-4E74-B7A6-8AF1CAEB62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419600"/>
            <a:ext cx="8382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5" name="Line 35">
            <a:extLst>
              <a:ext uri="{FF2B5EF4-FFF2-40B4-BE49-F238E27FC236}">
                <a16:creationId xmlns:a16="http://schemas.microsoft.com/office/drawing/2014/main" id="{493514EB-11B5-4D64-83C5-4B45B667211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3124200"/>
            <a:ext cx="6096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6" name="Line 36">
            <a:extLst>
              <a:ext uri="{FF2B5EF4-FFF2-40B4-BE49-F238E27FC236}">
                <a16:creationId xmlns:a16="http://schemas.microsoft.com/office/drawing/2014/main" id="{39143639-F491-4D0C-A7EF-119557EA18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4495800"/>
            <a:ext cx="457200" cy="762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7" name="Line 37">
            <a:extLst>
              <a:ext uri="{FF2B5EF4-FFF2-40B4-BE49-F238E27FC236}">
                <a16:creationId xmlns:a16="http://schemas.microsoft.com/office/drawing/2014/main" id="{5D4D0BFF-2E09-4B10-BAAB-7C4AB86800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3048000"/>
            <a:ext cx="2209800" cy="2286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8" name="Line 38">
            <a:extLst>
              <a:ext uri="{FF2B5EF4-FFF2-40B4-BE49-F238E27FC236}">
                <a16:creationId xmlns:a16="http://schemas.microsoft.com/office/drawing/2014/main" id="{CCB25447-9BF7-455F-ADDF-C1F0B9C78C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486400"/>
            <a:ext cx="20574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9" name="Line 39">
            <a:extLst>
              <a:ext uri="{FF2B5EF4-FFF2-40B4-BE49-F238E27FC236}">
                <a16:creationId xmlns:a16="http://schemas.microsoft.com/office/drawing/2014/main" id="{E3F5E742-E9D2-40B0-AD71-588A20B1B45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81600" y="2819400"/>
            <a:ext cx="1676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0" name="Line 40">
            <a:extLst>
              <a:ext uri="{FF2B5EF4-FFF2-40B4-BE49-F238E27FC236}">
                <a16:creationId xmlns:a16="http://schemas.microsoft.com/office/drawing/2014/main" id="{5C88F073-90BE-42B3-9593-18F6604F3B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276600"/>
            <a:ext cx="685800" cy="990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1" name="Line 41">
            <a:extLst>
              <a:ext uri="{FF2B5EF4-FFF2-40B4-BE49-F238E27FC236}">
                <a16:creationId xmlns:a16="http://schemas.microsoft.com/office/drawing/2014/main" id="{A5ADE344-5DEF-43CC-8C4B-E580FCEB5C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648200"/>
            <a:ext cx="914400" cy="685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2" name="Line 42">
            <a:extLst>
              <a:ext uri="{FF2B5EF4-FFF2-40B4-BE49-F238E27FC236}">
                <a16:creationId xmlns:a16="http://schemas.microsoft.com/office/drawing/2014/main" id="{22DB6151-96EA-404D-A707-891F999BD5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5486400"/>
            <a:ext cx="13716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3" name="Line 43">
            <a:extLst>
              <a:ext uri="{FF2B5EF4-FFF2-40B4-BE49-F238E27FC236}">
                <a16:creationId xmlns:a16="http://schemas.microsoft.com/office/drawing/2014/main" id="{2BB7273D-C9CD-4884-9DBF-38D016468D2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971800"/>
            <a:ext cx="1524000" cy="2209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4" name="Freeform 44">
            <a:extLst>
              <a:ext uri="{FF2B5EF4-FFF2-40B4-BE49-F238E27FC236}">
                <a16:creationId xmlns:a16="http://schemas.microsoft.com/office/drawing/2014/main" id="{6486AC03-3B49-411A-A32B-2ECE7A6A1027}"/>
              </a:ext>
            </a:extLst>
          </p:cNvPr>
          <p:cNvSpPr>
            <a:spLocks/>
          </p:cNvSpPr>
          <p:nvPr/>
        </p:nvSpPr>
        <p:spPr bwMode="auto">
          <a:xfrm>
            <a:off x="4483100" y="3048000"/>
            <a:ext cx="393700" cy="2362200"/>
          </a:xfrm>
          <a:custGeom>
            <a:avLst/>
            <a:gdLst>
              <a:gd name="T0" fmla="*/ 2147483646 w 248"/>
              <a:gd name="T1" fmla="*/ 0 h 1488"/>
              <a:gd name="T2" fmla="*/ 2147483646 w 248"/>
              <a:gd name="T3" fmla="*/ 2147483646 h 1488"/>
              <a:gd name="T4" fmla="*/ 2147483646 w 248"/>
              <a:gd name="T5" fmla="*/ 2147483646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248" y="0"/>
                </a:moveTo>
                <a:cubicBezTo>
                  <a:pt x="132" y="332"/>
                  <a:pt x="16" y="664"/>
                  <a:pt x="8" y="912"/>
                </a:cubicBezTo>
                <a:cubicBezTo>
                  <a:pt x="0" y="1160"/>
                  <a:pt x="100" y="1324"/>
                  <a:pt x="200" y="1488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5" name="Freeform 45">
            <a:extLst>
              <a:ext uri="{FF2B5EF4-FFF2-40B4-BE49-F238E27FC236}">
                <a16:creationId xmlns:a16="http://schemas.microsoft.com/office/drawing/2014/main" id="{BF38432C-60C2-4D64-82D2-90C7260CFE16}"/>
              </a:ext>
            </a:extLst>
          </p:cNvPr>
          <p:cNvSpPr>
            <a:spLocks/>
          </p:cNvSpPr>
          <p:nvPr/>
        </p:nvSpPr>
        <p:spPr bwMode="auto">
          <a:xfrm>
            <a:off x="5029200" y="3048000"/>
            <a:ext cx="393700" cy="2362200"/>
          </a:xfrm>
          <a:custGeom>
            <a:avLst/>
            <a:gdLst>
              <a:gd name="T0" fmla="*/ 0 w 248"/>
              <a:gd name="T1" fmla="*/ 2147483646 h 1488"/>
              <a:gd name="T2" fmla="*/ 2147483646 w 248"/>
              <a:gd name="T3" fmla="*/ 2147483646 h 1488"/>
              <a:gd name="T4" fmla="*/ 2147483646 w 248"/>
              <a:gd name="T5" fmla="*/ 0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0" y="1488"/>
                </a:moveTo>
                <a:cubicBezTo>
                  <a:pt x="116" y="1180"/>
                  <a:pt x="232" y="872"/>
                  <a:pt x="240" y="624"/>
                </a:cubicBezTo>
                <a:cubicBezTo>
                  <a:pt x="248" y="376"/>
                  <a:pt x="148" y="188"/>
                  <a:pt x="48" y="0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6" name="Line 46">
            <a:extLst>
              <a:ext uri="{FF2B5EF4-FFF2-40B4-BE49-F238E27FC236}">
                <a16:creationId xmlns:a16="http://schemas.microsoft.com/office/drawing/2014/main" id="{8FC8F0BF-6B38-48CA-BE5A-A66A82486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181600"/>
            <a:ext cx="152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7" name="Line 47">
            <a:extLst>
              <a:ext uri="{FF2B5EF4-FFF2-40B4-BE49-F238E27FC236}">
                <a16:creationId xmlns:a16="http://schemas.microsoft.com/office/drawing/2014/main" id="{A0B6C3BE-6253-4694-A5C0-6C6E0F5CA7C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05400" y="3048000"/>
            <a:ext cx="762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8" name="Text Box 48">
            <a:extLst>
              <a:ext uri="{FF2B5EF4-FFF2-40B4-BE49-F238E27FC236}">
                <a16:creationId xmlns:a16="http://schemas.microsoft.com/office/drawing/2014/main" id="{5029CD40-B573-4F2A-88DF-15B27879C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7919" name="Text Box 49">
            <a:extLst>
              <a:ext uri="{FF2B5EF4-FFF2-40B4-BE49-F238E27FC236}">
                <a16:creationId xmlns:a16="http://schemas.microsoft.com/office/drawing/2014/main" id="{CB5E6A69-AEEC-4AB6-B6B3-3F7ED09B0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7920" name="Text Box 50">
            <a:extLst>
              <a:ext uri="{FF2B5EF4-FFF2-40B4-BE49-F238E27FC236}">
                <a16:creationId xmlns:a16="http://schemas.microsoft.com/office/drawing/2014/main" id="{2E162E4A-85F9-46BF-9EAA-32AB09892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7921" name="Text Box 51">
            <a:extLst>
              <a:ext uri="{FF2B5EF4-FFF2-40B4-BE49-F238E27FC236}">
                <a16:creationId xmlns:a16="http://schemas.microsoft.com/office/drawing/2014/main" id="{6128600B-CB17-4C5D-A49B-B8D9C02F6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7922" name="Text Box 52">
            <a:extLst>
              <a:ext uri="{FF2B5EF4-FFF2-40B4-BE49-F238E27FC236}">
                <a16:creationId xmlns:a16="http://schemas.microsoft.com/office/drawing/2014/main" id="{89C75226-9726-4B9C-82BC-7B07BFAAD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7923" name="Text Box 53">
            <a:extLst>
              <a:ext uri="{FF2B5EF4-FFF2-40B4-BE49-F238E27FC236}">
                <a16:creationId xmlns:a16="http://schemas.microsoft.com/office/drawing/2014/main" id="{72A5BE62-EF2E-45D6-9915-4C9805836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41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7924" name="Text Box 54">
            <a:extLst>
              <a:ext uri="{FF2B5EF4-FFF2-40B4-BE49-F238E27FC236}">
                <a16:creationId xmlns:a16="http://schemas.microsoft.com/office/drawing/2014/main" id="{2B0BEFD3-B944-44CD-8D6B-16FA9BF30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581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7925" name="Text Box 55">
            <a:extLst>
              <a:ext uri="{FF2B5EF4-FFF2-40B4-BE49-F238E27FC236}">
                <a16:creationId xmlns:a16="http://schemas.microsoft.com/office/drawing/2014/main" id="{FA3E15D6-F2B9-42EA-8026-E2FC20D4D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562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7926" name="Text Box 56">
            <a:extLst>
              <a:ext uri="{FF2B5EF4-FFF2-40B4-BE49-F238E27FC236}">
                <a16:creationId xmlns:a16="http://schemas.microsoft.com/office/drawing/2014/main" id="{89EED6E9-9C05-4731-B83C-BD7AF85ED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514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7927" name="Text Box 57">
            <a:extLst>
              <a:ext uri="{FF2B5EF4-FFF2-40B4-BE49-F238E27FC236}">
                <a16:creationId xmlns:a16="http://schemas.microsoft.com/office/drawing/2014/main" id="{3B8EF61C-B3AB-4654-AE8E-7A7C80C21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7928" name="Text Box 58">
            <a:extLst>
              <a:ext uri="{FF2B5EF4-FFF2-40B4-BE49-F238E27FC236}">
                <a16:creationId xmlns:a16="http://schemas.microsoft.com/office/drawing/2014/main" id="{49BCD4F0-445E-4EDE-BB87-3CB2835C3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56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7929" name="Line 59">
            <a:extLst>
              <a:ext uri="{FF2B5EF4-FFF2-40B4-BE49-F238E27FC236}">
                <a16:creationId xmlns:a16="http://schemas.microsoft.com/office/drawing/2014/main" id="{CCFA9598-5FDF-4575-B7B9-440BD0287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895600"/>
            <a:ext cx="2514600" cy="1524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30" name="Text Box 60">
            <a:extLst>
              <a:ext uri="{FF2B5EF4-FFF2-40B4-BE49-F238E27FC236}">
                <a16:creationId xmlns:a16="http://schemas.microsoft.com/office/drawing/2014/main" id="{FA7C238F-7D92-456A-88CB-A2FB60957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7931" name="Text Box 61">
            <a:extLst>
              <a:ext uri="{FF2B5EF4-FFF2-40B4-BE49-F238E27FC236}">
                <a16:creationId xmlns:a16="http://schemas.microsoft.com/office/drawing/2014/main" id="{89879DBA-D79B-472E-8F96-72770288C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962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7932" name="Text Box 62">
            <a:extLst>
              <a:ext uri="{FF2B5EF4-FFF2-40B4-BE49-F238E27FC236}">
                <a16:creationId xmlns:a16="http://schemas.microsoft.com/office/drawing/2014/main" id="{5CF34738-1BD7-4299-A8D5-8015D168F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114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7933" name="Text Box 63">
            <a:extLst>
              <a:ext uri="{FF2B5EF4-FFF2-40B4-BE49-F238E27FC236}">
                <a16:creationId xmlns:a16="http://schemas.microsoft.com/office/drawing/2014/main" id="{BD97A50E-9AF5-472E-BD22-5FEA874C5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876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7934" name="Text Box 64">
            <a:extLst>
              <a:ext uri="{FF2B5EF4-FFF2-40B4-BE49-F238E27FC236}">
                <a16:creationId xmlns:a16="http://schemas.microsoft.com/office/drawing/2014/main" id="{0FFC7BB0-7660-436D-8D91-1F21F7A21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7935" name="Text Box 65">
            <a:extLst>
              <a:ext uri="{FF2B5EF4-FFF2-40B4-BE49-F238E27FC236}">
                <a16:creationId xmlns:a16="http://schemas.microsoft.com/office/drawing/2014/main" id="{96DE00E0-74DB-46E1-AA35-EDC5E1E89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4290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[0,V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7936" name="Text Box 66">
            <a:extLst>
              <a:ext uri="{FF2B5EF4-FFF2-40B4-BE49-F238E27FC236}">
                <a16:creationId xmlns:a16="http://schemas.microsoft.com/office/drawing/2014/main" id="{EDCD1659-53F4-4BC3-9870-05FE5B102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791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[1,V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7937" name="Text Box 67">
            <a:extLst>
              <a:ext uri="{FF2B5EF4-FFF2-40B4-BE49-F238E27FC236}">
                <a16:creationId xmlns:a16="http://schemas.microsoft.com/office/drawing/2014/main" id="{0D9A46C1-2ADF-4937-B4C5-1433CEA2C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581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[3,V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7938" name="Text Box 68">
            <a:extLst>
              <a:ext uri="{FF2B5EF4-FFF2-40B4-BE49-F238E27FC236}">
                <a16:creationId xmlns:a16="http://schemas.microsoft.com/office/drawing/2014/main" id="{76FE6BF7-3110-486F-AF23-0647ED7E9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057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[6,V</a:t>
            </a:r>
            <a:r>
              <a:rPr lang="en-US" altLang="zh-CN" sz="2000" baseline="-25000">
                <a:solidFill>
                  <a:srgbClr val="000099"/>
                </a:solidFill>
              </a:rPr>
              <a:t>2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7939" name="Text Box 69">
            <a:extLst>
              <a:ext uri="{FF2B5EF4-FFF2-40B4-BE49-F238E27FC236}">
                <a16:creationId xmlns:a16="http://schemas.microsoft.com/office/drawing/2014/main" id="{3C0C7ECA-2234-456A-AF0E-5C00645A9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2860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[5,V</a:t>
            </a:r>
            <a:r>
              <a:rPr lang="en-US" altLang="zh-CN" sz="2000" baseline="-25000">
                <a:solidFill>
                  <a:srgbClr val="000099"/>
                </a:solidFill>
              </a:rPr>
              <a:t>3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7940" name="Text Box 70">
            <a:extLst>
              <a:ext uri="{FF2B5EF4-FFF2-40B4-BE49-F238E27FC236}">
                <a16:creationId xmlns:a16="http://schemas.microsoft.com/office/drawing/2014/main" id="{C676CBB0-FC81-46EB-B219-32BE314A3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791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[9,V</a:t>
            </a:r>
            <a:r>
              <a:rPr lang="en-US" altLang="zh-CN" sz="2000" baseline="-25000">
                <a:solidFill>
                  <a:srgbClr val="000099"/>
                </a:solidFill>
              </a:rPr>
              <a:t>5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242760" name="Text Box 72">
            <a:extLst>
              <a:ext uri="{FF2B5EF4-FFF2-40B4-BE49-F238E27FC236}">
                <a16:creationId xmlns:a16="http://schemas.microsoft.com/office/drawing/2014/main" id="{1E2B1724-B4B3-4DF5-8A77-1D18D054F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943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[10,V</a:t>
            </a:r>
            <a:r>
              <a:rPr lang="en-US" altLang="zh-CN" sz="2000" baseline="-25000">
                <a:solidFill>
                  <a:srgbClr val="000099"/>
                </a:solidFill>
              </a:rPr>
              <a:t>5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741524CB-23CA-4A79-A1A6-BE9B421A4CC0}"/>
              </a:ext>
            </a:extLst>
          </p:cNvPr>
          <p:cNvSpPr/>
          <p:nvPr/>
        </p:nvSpPr>
        <p:spPr>
          <a:xfrm>
            <a:off x="521516" y="1249055"/>
            <a:ext cx="8165284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考虑所有这样的弧</a:t>
            </a:r>
            <a:r>
              <a:rPr lang="en-US" altLang="zh-CN" sz="2400" dirty="0"/>
              <a:t>( v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)</a:t>
            </a:r>
            <a:r>
              <a:rPr lang="zh-CN" altLang="en-US" sz="2400" dirty="0"/>
              <a:t>，其中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∈V</a:t>
            </a:r>
            <a:r>
              <a:rPr lang="en-US" altLang="zh-CN" sz="2400" baseline="-25000" dirty="0" err="1"/>
              <a:t>A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en-US" altLang="zh-CN" sz="2400" dirty="0" err="1"/>
              <a:t>∈V</a:t>
            </a:r>
            <a:r>
              <a:rPr lang="en-US" altLang="zh-CN" sz="2400" baseline="-25000" dirty="0" err="1"/>
              <a:t>B</a:t>
            </a:r>
            <a:r>
              <a:rPr lang="zh-CN" altLang="en-US" sz="2400" dirty="0"/>
              <a:t>，挑选其中与起点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距离最短（</a:t>
            </a:r>
            <a:r>
              <a:rPr lang="en-US" altLang="zh-CN" sz="2400" dirty="0"/>
              <a:t>min {</a:t>
            </a:r>
            <a:r>
              <a:rPr lang="en-US" altLang="zh-CN" sz="2400" dirty="0" err="1"/>
              <a:t>d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+c</a:t>
            </a:r>
            <a:r>
              <a:rPr lang="en-US" altLang="zh-CN" sz="2400" baseline="-25000" dirty="0" err="1"/>
              <a:t>ij</a:t>
            </a:r>
            <a:r>
              <a:rPr lang="en-US" altLang="zh-CN" sz="2400" dirty="0"/>
              <a:t>}</a:t>
            </a:r>
            <a:r>
              <a:rPr lang="zh-CN" altLang="en-US" sz="2400" dirty="0"/>
              <a:t>）的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zh-CN" altLang="en-US" sz="2400" dirty="0"/>
              <a:t>，对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j</a:t>
            </a:r>
            <a:r>
              <a:rPr lang="zh-CN" altLang="en-US" sz="2400" dirty="0"/>
              <a:t>进行标号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76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reeform 72">
            <a:extLst>
              <a:ext uri="{FF2B5EF4-FFF2-40B4-BE49-F238E27FC236}">
                <a16:creationId xmlns:a16="http://schemas.microsoft.com/office/drawing/2014/main" id="{AB8C4213-6C96-41E0-9F26-9A13C6674570}"/>
              </a:ext>
            </a:extLst>
          </p:cNvPr>
          <p:cNvSpPr>
            <a:spLocks/>
          </p:cNvSpPr>
          <p:nvPr/>
        </p:nvSpPr>
        <p:spPr bwMode="auto">
          <a:xfrm>
            <a:off x="825500" y="2324100"/>
            <a:ext cx="6362700" cy="3695700"/>
          </a:xfrm>
          <a:custGeom>
            <a:avLst/>
            <a:gdLst>
              <a:gd name="T0" fmla="*/ 2147483646 w 4008"/>
              <a:gd name="T1" fmla="*/ 2147483646 h 2328"/>
              <a:gd name="T2" fmla="*/ 2147483646 w 4008"/>
              <a:gd name="T3" fmla="*/ 2147483646 h 2328"/>
              <a:gd name="T4" fmla="*/ 2147483646 w 4008"/>
              <a:gd name="T5" fmla="*/ 2147483646 h 2328"/>
              <a:gd name="T6" fmla="*/ 2147483646 w 4008"/>
              <a:gd name="T7" fmla="*/ 2147483646 h 2328"/>
              <a:gd name="T8" fmla="*/ 2147483646 w 4008"/>
              <a:gd name="T9" fmla="*/ 2147483646 h 2328"/>
              <a:gd name="T10" fmla="*/ 2147483646 w 4008"/>
              <a:gd name="T11" fmla="*/ 2147483646 h 2328"/>
              <a:gd name="T12" fmla="*/ 2147483646 w 4008"/>
              <a:gd name="T13" fmla="*/ 2147483646 h 2328"/>
              <a:gd name="T14" fmla="*/ 2147483646 w 4008"/>
              <a:gd name="T15" fmla="*/ 2147483646 h 2328"/>
              <a:gd name="T16" fmla="*/ 2147483646 w 4008"/>
              <a:gd name="T17" fmla="*/ 2147483646 h 2328"/>
              <a:gd name="T18" fmla="*/ 2147483646 w 4008"/>
              <a:gd name="T19" fmla="*/ 2147483646 h 2328"/>
              <a:gd name="T20" fmla="*/ 2147483646 w 4008"/>
              <a:gd name="T21" fmla="*/ 2147483646 h 232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008"/>
              <a:gd name="T34" fmla="*/ 0 h 2328"/>
              <a:gd name="T35" fmla="*/ 4008 w 4008"/>
              <a:gd name="T36" fmla="*/ 2328 h 2328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008" h="2328">
                <a:moveTo>
                  <a:pt x="3944" y="2040"/>
                </a:moveTo>
                <a:cubicBezTo>
                  <a:pt x="4008" y="2288"/>
                  <a:pt x="3944" y="2144"/>
                  <a:pt x="3656" y="2184"/>
                </a:cubicBezTo>
                <a:cubicBezTo>
                  <a:pt x="3368" y="2224"/>
                  <a:pt x="2704" y="2288"/>
                  <a:pt x="2216" y="2280"/>
                </a:cubicBezTo>
                <a:cubicBezTo>
                  <a:pt x="1728" y="2272"/>
                  <a:pt x="1096" y="2328"/>
                  <a:pt x="728" y="2136"/>
                </a:cubicBezTo>
                <a:cubicBezTo>
                  <a:pt x="360" y="1944"/>
                  <a:pt x="0" y="1456"/>
                  <a:pt x="8" y="1128"/>
                </a:cubicBezTo>
                <a:cubicBezTo>
                  <a:pt x="16" y="800"/>
                  <a:pt x="368" y="336"/>
                  <a:pt x="776" y="168"/>
                </a:cubicBezTo>
                <a:cubicBezTo>
                  <a:pt x="1184" y="0"/>
                  <a:pt x="2120" y="128"/>
                  <a:pt x="2456" y="120"/>
                </a:cubicBezTo>
                <a:cubicBezTo>
                  <a:pt x="2792" y="112"/>
                  <a:pt x="2696" y="88"/>
                  <a:pt x="2792" y="120"/>
                </a:cubicBezTo>
                <a:cubicBezTo>
                  <a:pt x="2888" y="152"/>
                  <a:pt x="2952" y="216"/>
                  <a:pt x="3032" y="312"/>
                </a:cubicBezTo>
                <a:cubicBezTo>
                  <a:pt x="3112" y="408"/>
                  <a:pt x="3120" y="408"/>
                  <a:pt x="3272" y="696"/>
                </a:cubicBezTo>
                <a:cubicBezTo>
                  <a:pt x="3424" y="984"/>
                  <a:pt x="3880" y="1792"/>
                  <a:pt x="3944" y="2040"/>
                </a:cubicBezTo>
                <a:close/>
              </a:path>
            </a:pathLst>
          </a:custGeom>
          <a:solidFill>
            <a:srgbClr val="CC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8915" name="Group 3">
            <a:extLst>
              <a:ext uri="{FF2B5EF4-FFF2-40B4-BE49-F238E27FC236}">
                <a16:creationId xmlns:a16="http://schemas.microsoft.com/office/drawing/2014/main" id="{A1050D85-A8AB-42CD-8305-544D8AA2A721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962400"/>
            <a:ext cx="609600" cy="457200"/>
            <a:chOff x="672" y="2208"/>
            <a:chExt cx="384" cy="288"/>
          </a:xfrm>
        </p:grpSpPr>
        <p:sp>
          <p:nvSpPr>
            <p:cNvPr id="38984" name="Oval 4">
              <a:extLst>
                <a:ext uri="{FF2B5EF4-FFF2-40B4-BE49-F238E27FC236}">
                  <a16:creationId xmlns:a16="http://schemas.microsoft.com/office/drawing/2014/main" id="{FA7B96A3-D3C2-4B5E-AE28-FEECB49EC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8985" name="Text Box 5">
              <a:extLst>
                <a:ext uri="{FF2B5EF4-FFF2-40B4-BE49-F238E27FC236}">
                  <a16:creationId xmlns:a16="http://schemas.microsoft.com/office/drawing/2014/main" id="{9ACA9558-32E8-421B-8FB0-86DB7D544B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1</a:t>
              </a:r>
            </a:p>
          </p:txBody>
        </p:sp>
      </p:grpSp>
      <p:sp>
        <p:nvSpPr>
          <p:cNvPr id="38916" name="Rectangle 6">
            <a:extLst>
              <a:ext uri="{FF2B5EF4-FFF2-40B4-BE49-F238E27FC236}">
                <a16:creationId xmlns:a16="http://schemas.microsoft.com/office/drawing/2014/main" id="{7E801D55-7D4F-4726-A0EB-A2A2B53411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步骤</a:t>
            </a:r>
          </a:p>
        </p:txBody>
      </p:sp>
      <p:grpSp>
        <p:nvGrpSpPr>
          <p:cNvPr id="38917" name="Group 7">
            <a:extLst>
              <a:ext uri="{FF2B5EF4-FFF2-40B4-BE49-F238E27FC236}">
                <a16:creationId xmlns:a16="http://schemas.microsoft.com/office/drawing/2014/main" id="{0035EBD9-C98F-42FC-82D4-5337B9D863EA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667000"/>
            <a:ext cx="609600" cy="457200"/>
            <a:chOff x="672" y="2208"/>
            <a:chExt cx="384" cy="288"/>
          </a:xfrm>
        </p:grpSpPr>
        <p:sp>
          <p:nvSpPr>
            <p:cNvPr id="38982" name="Oval 8">
              <a:extLst>
                <a:ext uri="{FF2B5EF4-FFF2-40B4-BE49-F238E27FC236}">
                  <a16:creationId xmlns:a16="http://schemas.microsoft.com/office/drawing/2014/main" id="{CE0A9F18-CB83-48FE-9BEE-3B4CF5F81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8983" name="Text Box 9">
              <a:extLst>
                <a:ext uri="{FF2B5EF4-FFF2-40B4-BE49-F238E27FC236}">
                  <a16:creationId xmlns:a16="http://schemas.microsoft.com/office/drawing/2014/main" id="{03052B88-B958-4906-AD95-C97CC0B03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2</a:t>
              </a:r>
            </a:p>
          </p:txBody>
        </p:sp>
      </p:grpSp>
      <p:grpSp>
        <p:nvGrpSpPr>
          <p:cNvPr id="38918" name="Group 10">
            <a:extLst>
              <a:ext uri="{FF2B5EF4-FFF2-40B4-BE49-F238E27FC236}">
                <a16:creationId xmlns:a16="http://schemas.microsoft.com/office/drawing/2014/main" id="{8755994E-7E6C-4913-B63F-64419B9673A8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257800"/>
            <a:ext cx="609600" cy="457200"/>
            <a:chOff x="672" y="2208"/>
            <a:chExt cx="384" cy="288"/>
          </a:xfrm>
        </p:grpSpPr>
        <p:sp>
          <p:nvSpPr>
            <p:cNvPr id="38980" name="Oval 11">
              <a:extLst>
                <a:ext uri="{FF2B5EF4-FFF2-40B4-BE49-F238E27FC236}">
                  <a16:creationId xmlns:a16="http://schemas.microsoft.com/office/drawing/2014/main" id="{1BB1924F-32DD-4A40-8C1E-B7098AB6F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8981" name="Text Box 12">
              <a:extLst>
                <a:ext uri="{FF2B5EF4-FFF2-40B4-BE49-F238E27FC236}">
                  <a16:creationId xmlns:a16="http://schemas.microsoft.com/office/drawing/2014/main" id="{55685F87-6BFA-478C-8A9E-210B3C56B1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4</a:t>
              </a:r>
            </a:p>
          </p:txBody>
        </p:sp>
      </p:grpSp>
      <p:grpSp>
        <p:nvGrpSpPr>
          <p:cNvPr id="38919" name="Group 13">
            <a:extLst>
              <a:ext uri="{FF2B5EF4-FFF2-40B4-BE49-F238E27FC236}">
                <a16:creationId xmlns:a16="http://schemas.microsoft.com/office/drawing/2014/main" id="{8EEF5F3C-F164-44C4-AFFA-5A721AB4F026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038600"/>
            <a:ext cx="609600" cy="457200"/>
            <a:chOff x="672" y="2208"/>
            <a:chExt cx="384" cy="288"/>
          </a:xfrm>
        </p:grpSpPr>
        <p:sp>
          <p:nvSpPr>
            <p:cNvPr id="38978" name="Oval 14">
              <a:extLst>
                <a:ext uri="{FF2B5EF4-FFF2-40B4-BE49-F238E27FC236}">
                  <a16:creationId xmlns:a16="http://schemas.microsoft.com/office/drawing/2014/main" id="{965D91B7-D598-4F4B-8B87-54CE55F73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8979" name="Text Box 15">
              <a:extLst>
                <a:ext uri="{FF2B5EF4-FFF2-40B4-BE49-F238E27FC236}">
                  <a16:creationId xmlns:a16="http://schemas.microsoft.com/office/drawing/2014/main" id="{5756BBA4-9D3F-48D8-9508-7CD85586E4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3</a:t>
              </a:r>
            </a:p>
          </p:txBody>
        </p:sp>
      </p:grpSp>
      <p:grpSp>
        <p:nvGrpSpPr>
          <p:cNvPr id="38920" name="Group 16">
            <a:extLst>
              <a:ext uri="{FF2B5EF4-FFF2-40B4-BE49-F238E27FC236}">
                <a16:creationId xmlns:a16="http://schemas.microsoft.com/office/drawing/2014/main" id="{49E9C2E7-A38E-4126-9BB7-BD41BF6CC152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590800"/>
            <a:ext cx="609600" cy="457200"/>
            <a:chOff x="672" y="2208"/>
            <a:chExt cx="384" cy="288"/>
          </a:xfrm>
        </p:grpSpPr>
        <p:sp>
          <p:nvSpPr>
            <p:cNvPr id="38976" name="Oval 17">
              <a:extLst>
                <a:ext uri="{FF2B5EF4-FFF2-40B4-BE49-F238E27FC236}">
                  <a16:creationId xmlns:a16="http://schemas.microsoft.com/office/drawing/2014/main" id="{984D3A99-7AE2-4B05-A8E6-E98CC6FFE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8977" name="Text Box 18">
              <a:extLst>
                <a:ext uri="{FF2B5EF4-FFF2-40B4-BE49-F238E27FC236}">
                  <a16:creationId xmlns:a16="http://schemas.microsoft.com/office/drawing/2014/main" id="{DFF66858-78AE-450B-BF8C-132446217D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5</a:t>
              </a:r>
            </a:p>
          </p:txBody>
        </p:sp>
      </p:grpSp>
      <p:grpSp>
        <p:nvGrpSpPr>
          <p:cNvPr id="38921" name="Group 19">
            <a:extLst>
              <a:ext uri="{FF2B5EF4-FFF2-40B4-BE49-F238E27FC236}">
                <a16:creationId xmlns:a16="http://schemas.microsoft.com/office/drawing/2014/main" id="{677770E6-2178-4296-BCAF-E71A2CB3E70C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5410200"/>
            <a:ext cx="609600" cy="457200"/>
            <a:chOff x="672" y="2208"/>
            <a:chExt cx="384" cy="288"/>
          </a:xfrm>
        </p:grpSpPr>
        <p:sp>
          <p:nvSpPr>
            <p:cNvPr id="38974" name="Oval 20">
              <a:extLst>
                <a:ext uri="{FF2B5EF4-FFF2-40B4-BE49-F238E27FC236}">
                  <a16:creationId xmlns:a16="http://schemas.microsoft.com/office/drawing/2014/main" id="{EFE14AD1-6606-4892-8304-A605F61C2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8975" name="Text Box 21">
              <a:extLst>
                <a:ext uri="{FF2B5EF4-FFF2-40B4-BE49-F238E27FC236}">
                  <a16:creationId xmlns:a16="http://schemas.microsoft.com/office/drawing/2014/main" id="{F6105534-75D1-4AAD-9389-69CC23FE2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6</a:t>
              </a:r>
            </a:p>
          </p:txBody>
        </p:sp>
      </p:grpSp>
      <p:grpSp>
        <p:nvGrpSpPr>
          <p:cNvPr id="38922" name="Group 22">
            <a:extLst>
              <a:ext uri="{FF2B5EF4-FFF2-40B4-BE49-F238E27FC236}">
                <a16:creationId xmlns:a16="http://schemas.microsoft.com/office/drawing/2014/main" id="{5719E3A8-2B73-4D6C-8C87-9EDDA68C754D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5181600"/>
            <a:ext cx="609600" cy="457200"/>
            <a:chOff x="672" y="2208"/>
            <a:chExt cx="384" cy="288"/>
          </a:xfrm>
        </p:grpSpPr>
        <p:sp>
          <p:nvSpPr>
            <p:cNvPr id="38972" name="Oval 23">
              <a:extLst>
                <a:ext uri="{FF2B5EF4-FFF2-40B4-BE49-F238E27FC236}">
                  <a16:creationId xmlns:a16="http://schemas.microsoft.com/office/drawing/2014/main" id="{D94BF7BB-9786-4A77-914E-EFB83A045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8973" name="Text Box 24">
              <a:extLst>
                <a:ext uri="{FF2B5EF4-FFF2-40B4-BE49-F238E27FC236}">
                  <a16:creationId xmlns:a16="http://schemas.microsoft.com/office/drawing/2014/main" id="{EE2F9F1F-B33F-4D2D-BBB6-2979FA2508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7</a:t>
              </a:r>
            </a:p>
          </p:txBody>
        </p:sp>
      </p:grpSp>
      <p:grpSp>
        <p:nvGrpSpPr>
          <p:cNvPr id="38923" name="Group 25">
            <a:extLst>
              <a:ext uri="{FF2B5EF4-FFF2-40B4-BE49-F238E27FC236}">
                <a16:creationId xmlns:a16="http://schemas.microsoft.com/office/drawing/2014/main" id="{FF41278C-056B-42FB-B541-ADD20CFAC26A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191000"/>
            <a:ext cx="609600" cy="457200"/>
            <a:chOff x="672" y="2208"/>
            <a:chExt cx="384" cy="288"/>
          </a:xfrm>
        </p:grpSpPr>
        <p:sp>
          <p:nvSpPr>
            <p:cNvPr id="38970" name="Oval 26">
              <a:extLst>
                <a:ext uri="{FF2B5EF4-FFF2-40B4-BE49-F238E27FC236}">
                  <a16:creationId xmlns:a16="http://schemas.microsoft.com/office/drawing/2014/main" id="{B94C6897-B6F8-4F1C-BF80-5A8006987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8971" name="Text Box 27">
              <a:extLst>
                <a:ext uri="{FF2B5EF4-FFF2-40B4-BE49-F238E27FC236}">
                  <a16:creationId xmlns:a16="http://schemas.microsoft.com/office/drawing/2014/main" id="{3FC26492-E1E1-4CDD-8A93-3957C613ED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8</a:t>
              </a:r>
            </a:p>
          </p:txBody>
        </p:sp>
      </p:grpSp>
      <p:grpSp>
        <p:nvGrpSpPr>
          <p:cNvPr id="38924" name="Group 28">
            <a:extLst>
              <a:ext uri="{FF2B5EF4-FFF2-40B4-BE49-F238E27FC236}">
                <a16:creationId xmlns:a16="http://schemas.microsoft.com/office/drawing/2014/main" id="{EF3ED27C-3170-46B3-A340-E99258545610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819400"/>
            <a:ext cx="609600" cy="457200"/>
            <a:chOff x="672" y="2208"/>
            <a:chExt cx="384" cy="288"/>
          </a:xfrm>
        </p:grpSpPr>
        <p:sp>
          <p:nvSpPr>
            <p:cNvPr id="38968" name="Oval 29">
              <a:extLst>
                <a:ext uri="{FF2B5EF4-FFF2-40B4-BE49-F238E27FC236}">
                  <a16:creationId xmlns:a16="http://schemas.microsoft.com/office/drawing/2014/main" id="{19DEAA8F-C15F-4A3E-BD2B-58B684BA6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8969" name="Text Box 30">
              <a:extLst>
                <a:ext uri="{FF2B5EF4-FFF2-40B4-BE49-F238E27FC236}">
                  <a16:creationId xmlns:a16="http://schemas.microsoft.com/office/drawing/2014/main" id="{0756DCA5-6109-460F-BC94-6DAB36340E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9</a:t>
              </a:r>
            </a:p>
          </p:txBody>
        </p:sp>
      </p:grpSp>
      <p:sp>
        <p:nvSpPr>
          <p:cNvPr id="38925" name="Line 31">
            <a:extLst>
              <a:ext uri="{FF2B5EF4-FFF2-40B4-BE49-F238E27FC236}">
                <a16:creationId xmlns:a16="http://schemas.microsoft.com/office/drawing/2014/main" id="{8F99C17D-4ED7-44F4-BC6A-43AE25D70E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3048000"/>
            <a:ext cx="7620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6" name="Line 32">
            <a:extLst>
              <a:ext uri="{FF2B5EF4-FFF2-40B4-BE49-F238E27FC236}">
                <a16:creationId xmlns:a16="http://schemas.microsoft.com/office/drawing/2014/main" id="{54A31A30-E69B-4887-9CEA-F1D0B6C4749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895600"/>
            <a:ext cx="2286000" cy="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7" name="Line 33">
            <a:extLst>
              <a:ext uri="{FF2B5EF4-FFF2-40B4-BE49-F238E27FC236}">
                <a16:creationId xmlns:a16="http://schemas.microsoft.com/office/drawing/2014/main" id="{C69D2CFD-F82A-43A1-89D0-0D704A581E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191000"/>
            <a:ext cx="1371600" cy="762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8" name="Line 34">
            <a:extLst>
              <a:ext uri="{FF2B5EF4-FFF2-40B4-BE49-F238E27FC236}">
                <a16:creationId xmlns:a16="http://schemas.microsoft.com/office/drawing/2014/main" id="{136757AD-67E2-4CAD-97A6-30DAC4CC98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419600"/>
            <a:ext cx="8382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9" name="Line 35">
            <a:extLst>
              <a:ext uri="{FF2B5EF4-FFF2-40B4-BE49-F238E27FC236}">
                <a16:creationId xmlns:a16="http://schemas.microsoft.com/office/drawing/2014/main" id="{CEF3F70E-FB39-41E8-9DCB-908E87E751C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3124200"/>
            <a:ext cx="6096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0" name="Line 36">
            <a:extLst>
              <a:ext uri="{FF2B5EF4-FFF2-40B4-BE49-F238E27FC236}">
                <a16:creationId xmlns:a16="http://schemas.microsoft.com/office/drawing/2014/main" id="{5BC9A421-CAB4-414E-A11B-5C6951ADD3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4495800"/>
            <a:ext cx="457200" cy="762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1" name="Line 37">
            <a:extLst>
              <a:ext uri="{FF2B5EF4-FFF2-40B4-BE49-F238E27FC236}">
                <a16:creationId xmlns:a16="http://schemas.microsoft.com/office/drawing/2014/main" id="{55BCABD3-583A-4AF4-ACAB-F597F49592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3048000"/>
            <a:ext cx="2209800" cy="2286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2" name="Line 38">
            <a:extLst>
              <a:ext uri="{FF2B5EF4-FFF2-40B4-BE49-F238E27FC236}">
                <a16:creationId xmlns:a16="http://schemas.microsoft.com/office/drawing/2014/main" id="{D2A5D585-7839-46DA-824A-7889A10170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486400"/>
            <a:ext cx="20574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3" name="Line 39">
            <a:extLst>
              <a:ext uri="{FF2B5EF4-FFF2-40B4-BE49-F238E27FC236}">
                <a16:creationId xmlns:a16="http://schemas.microsoft.com/office/drawing/2014/main" id="{20964F9C-E794-4653-8E3D-ECF6AD75ECD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81600" y="2819400"/>
            <a:ext cx="1676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4" name="Line 40">
            <a:extLst>
              <a:ext uri="{FF2B5EF4-FFF2-40B4-BE49-F238E27FC236}">
                <a16:creationId xmlns:a16="http://schemas.microsoft.com/office/drawing/2014/main" id="{73AC150B-34C3-4B77-B311-06052D256BB2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276600"/>
            <a:ext cx="685800" cy="990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5" name="Line 41">
            <a:extLst>
              <a:ext uri="{FF2B5EF4-FFF2-40B4-BE49-F238E27FC236}">
                <a16:creationId xmlns:a16="http://schemas.microsoft.com/office/drawing/2014/main" id="{289F587F-BDE3-43AD-B245-DBEB64C8D3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648200"/>
            <a:ext cx="914400" cy="685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6" name="Line 42">
            <a:extLst>
              <a:ext uri="{FF2B5EF4-FFF2-40B4-BE49-F238E27FC236}">
                <a16:creationId xmlns:a16="http://schemas.microsoft.com/office/drawing/2014/main" id="{0D9CBF62-7D6D-4FD7-901D-E7BE2CAE38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5486400"/>
            <a:ext cx="13716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7" name="Line 43">
            <a:extLst>
              <a:ext uri="{FF2B5EF4-FFF2-40B4-BE49-F238E27FC236}">
                <a16:creationId xmlns:a16="http://schemas.microsoft.com/office/drawing/2014/main" id="{5AC083F4-364A-4D77-87FD-CA8673D4A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971800"/>
            <a:ext cx="1524000" cy="2209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8" name="Freeform 44">
            <a:extLst>
              <a:ext uri="{FF2B5EF4-FFF2-40B4-BE49-F238E27FC236}">
                <a16:creationId xmlns:a16="http://schemas.microsoft.com/office/drawing/2014/main" id="{F243EF27-45FD-4492-936B-C2CA98D66E2A}"/>
              </a:ext>
            </a:extLst>
          </p:cNvPr>
          <p:cNvSpPr>
            <a:spLocks/>
          </p:cNvSpPr>
          <p:nvPr/>
        </p:nvSpPr>
        <p:spPr bwMode="auto">
          <a:xfrm>
            <a:off x="4483100" y="3048000"/>
            <a:ext cx="393700" cy="2362200"/>
          </a:xfrm>
          <a:custGeom>
            <a:avLst/>
            <a:gdLst>
              <a:gd name="T0" fmla="*/ 2147483646 w 248"/>
              <a:gd name="T1" fmla="*/ 0 h 1488"/>
              <a:gd name="T2" fmla="*/ 2147483646 w 248"/>
              <a:gd name="T3" fmla="*/ 2147483646 h 1488"/>
              <a:gd name="T4" fmla="*/ 2147483646 w 248"/>
              <a:gd name="T5" fmla="*/ 2147483646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248" y="0"/>
                </a:moveTo>
                <a:cubicBezTo>
                  <a:pt x="132" y="332"/>
                  <a:pt x="16" y="664"/>
                  <a:pt x="8" y="912"/>
                </a:cubicBezTo>
                <a:cubicBezTo>
                  <a:pt x="0" y="1160"/>
                  <a:pt x="100" y="1324"/>
                  <a:pt x="200" y="1488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9" name="Freeform 45">
            <a:extLst>
              <a:ext uri="{FF2B5EF4-FFF2-40B4-BE49-F238E27FC236}">
                <a16:creationId xmlns:a16="http://schemas.microsoft.com/office/drawing/2014/main" id="{D155A017-AC33-456D-B12A-6DE47E6E053F}"/>
              </a:ext>
            </a:extLst>
          </p:cNvPr>
          <p:cNvSpPr>
            <a:spLocks/>
          </p:cNvSpPr>
          <p:nvPr/>
        </p:nvSpPr>
        <p:spPr bwMode="auto">
          <a:xfrm>
            <a:off x="5029200" y="3048000"/>
            <a:ext cx="393700" cy="2362200"/>
          </a:xfrm>
          <a:custGeom>
            <a:avLst/>
            <a:gdLst>
              <a:gd name="T0" fmla="*/ 0 w 248"/>
              <a:gd name="T1" fmla="*/ 2147483646 h 1488"/>
              <a:gd name="T2" fmla="*/ 2147483646 w 248"/>
              <a:gd name="T3" fmla="*/ 2147483646 h 1488"/>
              <a:gd name="T4" fmla="*/ 2147483646 w 248"/>
              <a:gd name="T5" fmla="*/ 0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0" y="1488"/>
                </a:moveTo>
                <a:cubicBezTo>
                  <a:pt x="116" y="1180"/>
                  <a:pt x="232" y="872"/>
                  <a:pt x="240" y="624"/>
                </a:cubicBezTo>
                <a:cubicBezTo>
                  <a:pt x="248" y="376"/>
                  <a:pt x="148" y="188"/>
                  <a:pt x="48" y="0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0" name="Line 46">
            <a:extLst>
              <a:ext uri="{FF2B5EF4-FFF2-40B4-BE49-F238E27FC236}">
                <a16:creationId xmlns:a16="http://schemas.microsoft.com/office/drawing/2014/main" id="{FAD6AF98-0669-4FBE-8B6D-497A96C46D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181600"/>
            <a:ext cx="152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1" name="Line 47">
            <a:extLst>
              <a:ext uri="{FF2B5EF4-FFF2-40B4-BE49-F238E27FC236}">
                <a16:creationId xmlns:a16="http://schemas.microsoft.com/office/drawing/2014/main" id="{A42C7946-794E-4D04-8164-91AAB15DDD2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05400" y="3048000"/>
            <a:ext cx="762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2" name="Text Box 48">
            <a:extLst>
              <a:ext uri="{FF2B5EF4-FFF2-40B4-BE49-F238E27FC236}">
                <a16:creationId xmlns:a16="http://schemas.microsoft.com/office/drawing/2014/main" id="{E8B69FEB-214B-4408-B566-520713B01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8943" name="Text Box 49">
            <a:extLst>
              <a:ext uri="{FF2B5EF4-FFF2-40B4-BE49-F238E27FC236}">
                <a16:creationId xmlns:a16="http://schemas.microsoft.com/office/drawing/2014/main" id="{E6D43E29-2E1A-4AC0-BBA3-8A01F3172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8944" name="Text Box 50">
            <a:extLst>
              <a:ext uri="{FF2B5EF4-FFF2-40B4-BE49-F238E27FC236}">
                <a16:creationId xmlns:a16="http://schemas.microsoft.com/office/drawing/2014/main" id="{2AFAAC9E-19D6-46EB-9ADA-13BBAC269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8945" name="Text Box 51">
            <a:extLst>
              <a:ext uri="{FF2B5EF4-FFF2-40B4-BE49-F238E27FC236}">
                <a16:creationId xmlns:a16="http://schemas.microsoft.com/office/drawing/2014/main" id="{C40A5D97-963D-4B12-BB3D-D08F99BE1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8946" name="Text Box 52">
            <a:extLst>
              <a:ext uri="{FF2B5EF4-FFF2-40B4-BE49-F238E27FC236}">
                <a16:creationId xmlns:a16="http://schemas.microsoft.com/office/drawing/2014/main" id="{7B6ADCB6-1FB7-44AB-8BD7-B1EDCFC92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8947" name="Text Box 53">
            <a:extLst>
              <a:ext uri="{FF2B5EF4-FFF2-40B4-BE49-F238E27FC236}">
                <a16:creationId xmlns:a16="http://schemas.microsoft.com/office/drawing/2014/main" id="{14374747-090D-4446-B3AB-C41C86865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41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8948" name="Text Box 54">
            <a:extLst>
              <a:ext uri="{FF2B5EF4-FFF2-40B4-BE49-F238E27FC236}">
                <a16:creationId xmlns:a16="http://schemas.microsoft.com/office/drawing/2014/main" id="{852021FB-52AF-421B-B087-8B11009BC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581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8949" name="Text Box 55">
            <a:extLst>
              <a:ext uri="{FF2B5EF4-FFF2-40B4-BE49-F238E27FC236}">
                <a16:creationId xmlns:a16="http://schemas.microsoft.com/office/drawing/2014/main" id="{C343A757-F556-499F-BD20-EEE4D7A60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562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8950" name="Text Box 56">
            <a:extLst>
              <a:ext uri="{FF2B5EF4-FFF2-40B4-BE49-F238E27FC236}">
                <a16:creationId xmlns:a16="http://schemas.microsoft.com/office/drawing/2014/main" id="{73163FB0-0BCC-4D6C-A265-F505ED944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514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8951" name="Text Box 57">
            <a:extLst>
              <a:ext uri="{FF2B5EF4-FFF2-40B4-BE49-F238E27FC236}">
                <a16:creationId xmlns:a16="http://schemas.microsoft.com/office/drawing/2014/main" id="{536BFE43-9569-4006-A666-73E1C3284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8952" name="Text Box 58">
            <a:extLst>
              <a:ext uri="{FF2B5EF4-FFF2-40B4-BE49-F238E27FC236}">
                <a16:creationId xmlns:a16="http://schemas.microsoft.com/office/drawing/2014/main" id="{B99A6382-F09E-492F-8A18-DC236384F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56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8953" name="Line 59">
            <a:extLst>
              <a:ext uri="{FF2B5EF4-FFF2-40B4-BE49-F238E27FC236}">
                <a16:creationId xmlns:a16="http://schemas.microsoft.com/office/drawing/2014/main" id="{DF54DCFA-863A-41FA-B7A1-ECA8B7DB614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895600"/>
            <a:ext cx="2514600" cy="1524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54" name="Text Box 60">
            <a:extLst>
              <a:ext uri="{FF2B5EF4-FFF2-40B4-BE49-F238E27FC236}">
                <a16:creationId xmlns:a16="http://schemas.microsoft.com/office/drawing/2014/main" id="{95DA6894-FF61-4E0C-85CA-CADFEB3CF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8955" name="Text Box 61">
            <a:extLst>
              <a:ext uri="{FF2B5EF4-FFF2-40B4-BE49-F238E27FC236}">
                <a16:creationId xmlns:a16="http://schemas.microsoft.com/office/drawing/2014/main" id="{1E409EE7-9799-43C7-99D3-E64C7D1F7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962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8956" name="Text Box 62">
            <a:extLst>
              <a:ext uri="{FF2B5EF4-FFF2-40B4-BE49-F238E27FC236}">
                <a16:creationId xmlns:a16="http://schemas.microsoft.com/office/drawing/2014/main" id="{83E3F2C1-A56D-4E42-9168-FFF17B738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114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8957" name="Text Box 63">
            <a:extLst>
              <a:ext uri="{FF2B5EF4-FFF2-40B4-BE49-F238E27FC236}">
                <a16:creationId xmlns:a16="http://schemas.microsoft.com/office/drawing/2014/main" id="{AC0141C0-D0E5-4199-AD34-63CA50C16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876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8958" name="Text Box 64">
            <a:extLst>
              <a:ext uri="{FF2B5EF4-FFF2-40B4-BE49-F238E27FC236}">
                <a16:creationId xmlns:a16="http://schemas.microsoft.com/office/drawing/2014/main" id="{6555B325-CADE-414E-B1DC-4809AA6D8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8959" name="Text Box 65">
            <a:extLst>
              <a:ext uri="{FF2B5EF4-FFF2-40B4-BE49-F238E27FC236}">
                <a16:creationId xmlns:a16="http://schemas.microsoft.com/office/drawing/2014/main" id="{0E450BE0-410C-4D08-B3A7-D3D8080FB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4290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[0,V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8960" name="Text Box 66">
            <a:extLst>
              <a:ext uri="{FF2B5EF4-FFF2-40B4-BE49-F238E27FC236}">
                <a16:creationId xmlns:a16="http://schemas.microsoft.com/office/drawing/2014/main" id="{A012AE74-C745-4907-BAB9-914E9B7A4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791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[1,V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8961" name="Text Box 67">
            <a:extLst>
              <a:ext uri="{FF2B5EF4-FFF2-40B4-BE49-F238E27FC236}">
                <a16:creationId xmlns:a16="http://schemas.microsoft.com/office/drawing/2014/main" id="{270177BB-696E-4A7B-AE55-90556BBC3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581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[3,V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8962" name="Text Box 68">
            <a:extLst>
              <a:ext uri="{FF2B5EF4-FFF2-40B4-BE49-F238E27FC236}">
                <a16:creationId xmlns:a16="http://schemas.microsoft.com/office/drawing/2014/main" id="{9BCAC008-EFDC-49A6-80EA-8A336AC70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057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[6,V</a:t>
            </a:r>
            <a:r>
              <a:rPr lang="en-US" altLang="zh-CN" sz="2000" baseline="-25000">
                <a:solidFill>
                  <a:srgbClr val="000099"/>
                </a:solidFill>
              </a:rPr>
              <a:t>2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8963" name="Text Box 69">
            <a:extLst>
              <a:ext uri="{FF2B5EF4-FFF2-40B4-BE49-F238E27FC236}">
                <a16:creationId xmlns:a16="http://schemas.microsoft.com/office/drawing/2014/main" id="{8E4FF0AD-74E2-42EB-8690-0547A1717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2860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[5,V</a:t>
            </a:r>
            <a:r>
              <a:rPr lang="en-US" altLang="zh-CN" sz="2000" baseline="-25000">
                <a:solidFill>
                  <a:srgbClr val="000099"/>
                </a:solidFill>
              </a:rPr>
              <a:t>3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8964" name="Text Box 70">
            <a:extLst>
              <a:ext uri="{FF2B5EF4-FFF2-40B4-BE49-F238E27FC236}">
                <a16:creationId xmlns:a16="http://schemas.microsoft.com/office/drawing/2014/main" id="{48424F6F-6E63-4D44-BDFA-7B31AE8F3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791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[9,V</a:t>
            </a:r>
            <a:r>
              <a:rPr lang="en-US" altLang="zh-CN" sz="2000" baseline="-25000">
                <a:solidFill>
                  <a:srgbClr val="000099"/>
                </a:solidFill>
              </a:rPr>
              <a:t>5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8965" name="Text Box 71">
            <a:extLst>
              <a:ext uri="{FF2B5EF4-FFF2-40B4-BE49-F238E27FC236}">
                <a16:creationId xmlns:a16="http://schemas.microsoft.com/office/drawing/2014/main" id="{D1D1BA3F-D78B-455C-BD88-1A7985D85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943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[10,V</a:t>
            </a:r>
            <a:r>
              <a:rPr lang="en-US" altLang="zh-CN" sz="2000" baseline="-25000">
                <a:solidFill>
                  <a:srgbClr val="000099"/>
                </a:solidFill>
              </a:rPr>
              <a:t>5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243785" name="Text Box 73">
            <a:extLst>
              <a:ext uri="{FF2B5EF4-FFF2-40B4-BE49-F238E27FC236}">
                <a16:creationId xmlns:a16="http://schemas.microsoft.com/office/drawing/2014/main" id="{33E4518B-2C13-467E-BE7F-2F92272F4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4724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[12,V</a:t>
            </a:r>
            <a:r>
              <a:rPr lang="en-US" altLang="zh-CN" sz="2000" baseline="-25000">
                <a:solidFill>
                  <a:srgbClr val="000099"/>
                </a:solidFill>
              </a:rPr>
              <a:t>5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243786" name="Rectangle 74">
            <a:extLst>
              <a:ext uri="{FF2B5EF4-FFF2-40B4-BE49-F238E27FC236}">
                <a16:creationId xmlns:a16="http://schemas.microsoft.com/office/drawing/2014/main" id="{BCCF30FE-9AA6-4008-9FFF-B1C5F0C41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8" y="1143000"/>
            <a:ext cx="71485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此时终点</a:t>
            </a:r>
            <a:r>
              <a:rPr lang="en-US" altLang="zh-CN" sz="2800"/>
              <a:t>v</a:t>
            </a:r>
            <a:r>
              <a:rPr lang="en-US" altLang="zh-CN" sz="2800" baseline="-25000"/>
              <a:t>8</a:t>
            </a:r>
            <a:r>
              <a:rPr lang="zh-CN" altLang="en-US" sz="2800"/>
              <a:t>已标号</a:t>
            </a:r>
            <a:r>
              <a:rPr lang="en-US" altLang="zh-CN" sz="2800"/>
              <a:t>[12, v</a:t>
            </a:r>
            <a:r>
              <a:rPr lang="en-US" altLang="zh-CN" sz="2800" baseline="-25000"/>
              <a:t>5</a:t>
            </a:r>
            <a:r>
              <a:rPr lang="en-US" altLang="zh-CN" sz="2800"/>
              <a:t>]</a:t>
            </a:r>
            <a:r>
              <a:rPr lang="zh-CN" altLang="en-US" sz="2800"/>
              <a:t>，则</a:t>
            </a:r>
            <a:r>
              <a:rPr lang="en-US" altLang="zh-CN" sz="2800"/>
              <a:t>12</a:t>
            </a:r>
            <a:r>
              <a:rPr lang="zh-CN" altLang="en-US" sz="2800"/>
              <a:t>即为</a:t>
            </a:r>
            <a:r>
              <a:rPr lang="en-US" altLang="zh-CN" sz="2800"/>
              <a:t>v</a:t>
            </a:r>
            <a:r>
              <a:rPr lang="en-US" altLang="zh-CN" sz="2800" baseline="-25000"/>
              <a:t>1</a:t>
            </a:r>
            <a:r>
              <a:rPr lang="en-US" altLang="zh-CN" sz="2800"/>
              <a:t>→v</a:t>
            </a:r>
            <a:r>
              <a:rPr lang="en-US" altLang="zh-CN" sz="2800" baseline="-25000"/>
              <a:t>8</a:t>
            </a:r>
            <a:r>
              <a:rPr lang="zh-CN" altLang="en-US" sz="2800"/>
              <a:t>的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/>
              <a:t>最短距离，反向追踪可求出最短路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85" grpId="0"/>
      <p:bldP spid="24378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3">
            <a:extLst>
              <a:ext uri="{FF2B5EF4-FFF2-40B4-BE49-F238E27FC236}">
                <a16:creationId xmlns:a16="http://schemas.microsoft.com/office/drawing/2014/main" id="{51A37D51-AC4B-4EC0-B719-74D2CFDE8E38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962400"/>
            <a:ext cx="609600" cy="457200"/>
            <a:chOff x="672" y="2208"/>
            <a:chExt cx="384" cy="288"/>
          </a:xfrm>
        </p:grpSpPr>
        <p:sp>
          <p:nvSpPr>
            <p:cNvPr id="40007" name="Oval 4">
              <a:extLst>
                <a:ext uri="{FF2B5EF4-FFF2-40B4-BE49-F238E27FC236}">
                  <a16:creationId xmlns:a16="http://schemas.microsoft.com/office/drawing/2014/main" id="{104E7AC5-E416-4193-B9EC-CF4949696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40008" name="Text Box 5">
              <a:extLst>
                <a:ext uri="{FF2B5EF4-FFF2-40B4-BE49-F238E27FC236}">
                  <a16:creationId xmlns:a16="http://schemas.microsoft.com/office/drawing/2014/main" id="{3E13A97D-4F5F-4374-9AE8-E591B5E1AE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1</a:t>
              </a:r>
            </a:p>
          </p:txBody>
        </p:sp>
      </p:grpSp>
      <p:sp>
        <p:nvSpPr>
          <p:cNvPr id="39939" name="Rectangle 6">
            <a:extLst>
              <a:ext uri="{FF2B5EF4-FFF2-40B4-BE49-F238E27FC236}">
                <a16:creationId xmlns:a16="http://schemas.microsoft.com/office/drawing/2014/main" id="{B49F3EA2-C557-47B1-8C2F-1BCBB8227A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步骤</a:t>
            </a:r>
          </a:p>
        </p:txBody>
      </p:sp>
      <p:grpSp>
        <p:nvGrpSpPr>
          <p:cNvPr id="39940" name="Group 7">
            <a:extLst>
              <a:ext uri="{FF2B5EF4-FFF2-40B4-BE49-F238E27FC236}">
                <a16:creationId xmlns:a16="http://schemas.microsoft.com/office/drawing/2014/main" id="{83B4D5F4-49B5-4EC3-B7E5-A8DB4ACB8893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667000"/>
            <a:ext cx="609600" cy="457200"/>
            <a:chOff x="672" y="2208"/>
            <a:chExt cx="384" cy="288"/>
          </a:xfrm>
        </p:grpSpPr>
        <p:sp>
          <p:nvSpPr>
            <p:cNvPr id="40005" name="Oval 8">
              <a:extLst>
                <a:ext uri="{FF2B5EF4-FFF2-40B4-BE49-F238E27FC236}">
                  <a16:creationId xmlns:a16="http://schemas.microsoft.com/office/drawing/2014/main" id="{A2E7AF82-433C-4766-830F-1CEADC330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40006" name="Text Box 9">
              <a:extLst>
                <a:ext uri="{FF2B5EF4-FFF2-40B4-BE49-F238E27FC236}">
                  <a16:creationId xmlns:a16="http://schemas.microsoft.com/office/drawing/2014/main" id="{E079BE5B-1CE8-405A-8388-42360EC4B6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2</a:t>
              </a:r>
            </a:p>
          </p:txBody>
        </p:sp>
      </p:grpSp>
      <p:grpSp>
        <p:nvGrpSpPr>
          <p:cNvPr id="39941" name="Group 10">
            <a:extLst>
              <a:ext uri="{FF2B5EF4-FFF2-40B4-BE49-F238E27FC236}">
                <a16:creationId xmlns:a16="http://schemas.microsoft.com/office/drawing/2014/main" id="{CE407B88-8301-4AF4-A5E5-3EFDDEB7A127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257800"/>
            <a:ext cx="609600" cy="457200"/>
            <a:chOff x="672" y="2208"/>
            <a:chExt cx="384" cy="288"/>
          </a:xfrm>
        </p:grpSpPr>
        <p:sp>
          <p:nvSpPr>
            <p:cNvPr id="40003" name="Oval 11">
              <a:extLst>
                <a:ext uri="{FF2B5EF4-FFF2-40B4-BE49-F238E27FC236}">
                  <a16:creationId xmlns:a16="http://schemas.microsoft.com/office/drawing/2014/main" id="{98BD7325-A1DF-4940-B2DD-BDB221577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40004" name="Text Box 12">
              <a:extLst>
                <a:ext uri="{FF2B5EF4-FFF2-40B4-BE49-F238E27FC236}">
                  <a16:creationId xmlns:a16="http://schemas.microsoft.com/office/drawing/2014/main" id="{0CCB4BA6-09EB-406D-95D1-51E283211C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4</a:t>
              </a:r>
            </a:p>
          </p:txBody>
        </p:sp>
      </p:grpSp>
      <p:grpSp>
        <p:nvGrpSpPr>
          <p:cNvPr id="39942" name="Group 13">
            <a:extLst>
              <a:ext uri="{FF2B5EF4-FFF2-40B4-BE49-F238E27FC236}">
                <a16:creationId xmlns:a16="http://schemas.microsoft.com/office/drawing/2014/main" id="{F8D4F5FC-B8D3-45CB-B76E-B4A19AC420EB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038600"/>
            <a:ext cx="609600" cy="457200"/>
            <a:chOff x="672" y="2208"/>
            <a:chExt cx="384" cy="288"/>
          </a:xfrm>
        </p:grpSpPr>
        <p:sp>
          <p:nvSpPr>
            <p:cNvPr id="40001" name="Oval 14">
              <a:extLst>
                <a:ext uri="{FF2B5EF4-FFF2-40B4-BE49-F238E27FC236}">
                  <a16:creationId xmlns:a16="http://schemas.microsoft.com/office/drawing/2014/main" id="{83E3023A-ED54-4309-B23A-AACC2D26E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40002" name="Text Box 15">
              <a:extLst>
                <a:ext uri="{FF2B5EF4-FFF2-40B4-BE49-F238E27FC236}">
                  <a16:creationId xmlns:a16="http://schemas.microsoft.com/office/drawing/2014/main" id="{7B3DB344-7B8A-4BBC-B571-8851BC204A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3</a:t>
              </a:r>
            </a:p>
          </p:txBody>
        </p:sp>
      </p:grpSp>
      <p:grpSp>
        <p:nvGrpSpPr>
          <p:cNvPr id="39943" name="Group 16">
            <a:extLst>
              <a:ext uri="{FF2B5EF4-FFF2-40B4-BE49-F238E27FC236}">
                <a16:creationId xmlns:a16="http://schemas.microsoft.com/office/drawing/2014/main" id="{B6BA3D63-0A1D-4AC3-9B4D-4A39F59C5A80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590800"/>
            <a:ext cx="609600" cy="457200"/>
            <a:chOff x="672" y="2208"/>
            <a:chExt cx="384" cy="288"/>
          </a:xfrm>
        </p:grpSpPr>
        <p:sp>
          <p:nvSpPr>
            <p:cNvPr id="39999" name="Oval 17">
              <a:extLst>
                <a:ext uri="{FF2B5EF4-FFF2-40B4-BE49-F238E27FC236}">
                  <a16:creationId xmlns:a16="http://schemas.microsoft.com/office/drawing/2014/main" id="{82880929-588C-42D3-89A7-97AE3027C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40000" name="Text Box 18">
              <a:extLst>
                <a:ext uri="{FF2B5EF4-FFF2-40B4-BE49-F238E27FC236}">
                  <a16:creationId xmlns:a16="http://schemas.microsoft.com/office/drawing/2014/main" id="{0661F196-3E87-4DFD-9760-2F86FE5B74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5</a:t>
              </a:r>
            </a:p>
          </p:txBody>
        </p:sp>
      </p:grpSp>
      <p:grpSp>
        <p:nvGrpSpPr>
          <p:cNvPr id="39944" name="Group 19">
            <a:extLst>
              <a:ext uri="{FF2B5EF4-FFF2-40B4-BE49-F238E27FC236}">
                <a16:creationId xmlns:a16="http://schemas.microsoft.com/office/drawing/2014/main" id="{6E513173-1A64-479E-B793-F4CD681E9F83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5410200"/>
            <a:ext cx="609600" cy="457200"/>
            <a:chOff x="672" y="2208"/>
            <a:chExt cx="384" cy="288"/>
          </a:xfrm>
        </p:grpSpPr>
        <p:sp>
          <p:nvSpPr>
            <p:cNvPr id="39997" name="Oval 20">
              <a:extLst>
                <a:ext uri="{FF2B5EF4-FFF2-40B4-BE49-F238E27FC236}">
                  <a16:creationId xmlns:a16="http://schemas.microsoft.com/office/drawing/2014/main" id="{C007C01D-6091-4A68-A2F7-BACB6607B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9998" name="Text Box 21">
              <a:extLst>
                <a:ext uri="{FF2B5EF4-FFF2-40B4-BE49-F238E27FC236}">
                  <a16:creationId xmlns:a16="http://schemas.microsoft.com/office/drawing/2014/main" id="{3045604C-526A-435E-8D99-87CAF43BDE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6</a:t>
              </a:r>
            </a:p>
          </p:txBody>
        </p:sp>
      </p:grpSp>
      <p:grpSp>
        <p:nvGrpSpPr>
          <p:cNvPr id="39945" name="Group 22">
            <a:extLst>
              <a:ext uri="{FF2B5EF4-FFF2-40B4-BE49-F238E27FC236}">
                <a16:creationId xmlns:a16="http://schemas.microsoft.com/office/drawing/2014/main" id="{5E55D6A3-80A8-4711-89E6-260A7B613777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5181600"/>
            <a:ext cx="609600" cy="457200"/>
            <a:chOff x="672" y="2208"/>
            <a:chExt cx="384" cy="288"/>
          </a:xfrm>
        </p:grpSpPr>
        <p:sp>
          <p:nvSpPr>
            <p:cNvPr id="39995" name="Oval 23">
              <a:extLst>
                <a:ext uri="{FF2B5EF4-FFF2-40B4-BE49-F238E27FC236}">
                  <a16:creationId xmlns:a16="http://schemas.microsoft.com/office/drawing/2014/main" id="{A83B7349-6EA2-422B-AE11-D95C1510C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9996" name="Text Box 24">
              <a:extLst>
                <a:ext uri="{FF2B5EF4-FFF2-40B4-BE49-F238E27FC236}">
                  <a16:creationId xmlns:a16="http://schemas.microsoft.com/office/drawing/2014/main" id="{6EFE3CD0-23BA-44E4-B12B-B2E4332FE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7</a:t>
              </a:r>
            </a:p>
          </p:txBody>
        </p:sp>
      </p:grpSp>
      <p:grpSp>
        <p:nvGrpSpPr>
          <p:cNvPr id="39946" name="Group 25">
            <a:extLst>
              <a:ext uri="{FF2B5EF4-FFF2-40B4-BE49-F238E27FC236}">
                <a16:creationId xmlns:a16="http://schemas.microsoft.com/office/drawing/2014/main" id="{34B71313-0464-4BD4-AD05-DDABC7B46AE5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191000"/>
            <a:ext cx="609600" cy="457200"/>
            <a:chOff x="672" y="2208"/>
            <a:chExt cx="384" cy="288"/>
          </a:xfrm>
        </p:grpSpPr>
        <p:sp>
          <p:nvSpPr>
            <p:cNvPr id="39993" name="Oval 26">
              <a:extLst>
                <a:ext uri="{FF2B5EF4-FFF2-40B4-BE49-F238E27FC236}">
                  <a16:creationId xmlns:a16="http://schemas.microsoft.com/office/drawing/2014/main" id="{3754CD89-F036-49DD-A7D7-1915EAD41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9994" name="Text Box 27">
              <a:extLst>
                <a:ext uri="{FF2B5EF4-FFF2-40B4-BE49-F238E27FC236}">
                  <a16:creationId xmlns:a16="http://schemas.microsoft.com/office/drawing/2014/main" id="{CF820180-FF16-419A-A4BC-D639ABC970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8</a:t>
              </a:r>
            </a:p>
          </p:txBody>
        </p:sp>
      </p:grpSp>
      <p:grpSp>
        <p:nvGrpSpPr>
          <p:cNvPr id="39947" name="Group 28">
            <a:extLst>
              <a:ext uri="{FF2B5EF4-FFF2-40B4-BE49-F238E27FC236}">
                <a16:creationId xmlns:a16="http://schemas.microsoft.com/office/drawing/2014/main" id="{40D67834-E8E2-4BB7-A497-A28A973AFFFA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819400"/>
            <a:ext cx="609600" cy="457200"/>
            <a:chOff x="672" y="2208"/>
            <a:chExt cx="384" cy="288"/>
          </a:xfrm>
        </p:grpSpPr>
        <p:sp>
          <p:nvSpPr>
            <p:cNvPr id="39991" name="Oval 29">
              <a:extLst>
                <a:ext uri="{FF2B5EF4-FFF2-40B4-BE49-F238E27FC236}">
                  <a16:creationId xmlns:a16="http://schemas.microsoft.com/office/drawing/2014/main" id="{33F71B2B-FE54-4B01-9667-C02EFD147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9992" name="Text Box 30">
              <a:extLst>
                <a:ext uri="{FF2B5EF4-FFF2-40B4-BE49-F238E27FC236}">
                  <a16:creationId xmlns:a16="http://schemas.microsoft.com/office/drawing/2014/main" id="{41F62A40-8599-47DA-AFAF-6326186D8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9</a:t>
              </a:r>
            </a:p>
          </p:txBody>
        </p:sp>
      </p:grpSp>
      <p:sp>
        <p:nvSpPr>
          <p:cNvPr id="39948" name="Line 31">
            <a:extLst>
              <a:ext uri="{FF2B5EF4-FFF2-40B4-BE49-F238E27FC236}">
                <a16:creationId xmlns:a16="http://schemas.microsoft.com/office/drawing/2014/main" id="{E4419452-B7F8-40E1-B49B-61B7A714CA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3048000"/>
            <a:ext cx="7620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9" name="Line 32">
            <a:extLst>
              <a:ext uri="{FF2B5EF4-FFF2-40B4-BE49-F238E27FC236}">
                <a16:creationId xmlns:a16="http://schemas.microsoft.com/office/drawing/2014/main" id="{9C97A528-8765-4A12-A8A6-2ED90885FC9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895600"/>
            <a:ext cx="2286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0" name="Line 33">
            <a:extLst>
              <a:ext uri="{FF2B5EF4-FFF2-40B4-BE49-F238E27FC236}">
                <a16:creationId xmlns:a16="http://schemas.microsoft.com/office/drawing/2014/main" id="{55D5CBED-6FDA-4EEA-ADB0-F3EE72DACF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191000"/>
            <a:ext cx="1371600" cy="76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1" name="Line 34">
            <a:extLst>
              <a:ext uri="{FF2B5EF4-FFF2-40B4-BE49-F238E27FC236}">
                <a16:creationId xmlns:a16="http://schemas.microsoft.com/office/drawing/2014/main" id="{64C8F304-8A76-44BE-AC66-AD5496A36D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419600"/>
            <a:ext cx="8382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2" name="Line 35">
            <a:extLst>
              <a:ext uri="{FF2B5EF4-FFF2-40B4-BE49-F238E27FC236}">
                <a16:creationId xmlns:a16="http://schemas.microsoft.com/office/drawing/2014/main" id="{E703BB6E-2BA4-4178-883A-766278F0597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3124200"/>
            <a:ext cx="609600" cy="914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3" name="Line 36">
            <a:extLst>
              <a:ext uri="{FF2B5EF4-FFF2-40B4-BE49-F238E27FC236}">
                <a16:creationId xmlns:a16="http://schemas.microsoft.com/office/drawing/2014/main" id="{5E4AC94A-A71B-4D9F-8A91-05E2581C0B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4495800"/>
            <a:ext cx="457200" cy="762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4" name="Line 37">
            <a:extLst>
              <a:ext uri="{FF2B5EF4-FFF2-40B4-BE49-F238E27FC236}">
                <a16:creationId xmlns:a16="http://schemas.microsoft.com/office/drawing/2014/main" id="{095B727F-07FE-4594-A5D3-2A2159DB97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3048000"/>
            <a:ext cx="2209800" cy="2286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5" name="Line 38">
            <a:extLst>
              <a:ext uri="{FF2B5EF4-FFF2-40B4-BE49-F238E27FC236}">
                <a16:creationId xmlns:a16="http://schemas.microsoft.com/office/drawing/2014/main" id="{3ACED0D0-ABAF-48CC-946F-F4ABB110DB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486400"/>
            <a:ext cx="20574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6" name="Line 39">
            <a:extLst>
              <a:ext uri="{FF2B5EF4-FFF2-40B4-BE49-F238E27FC236}">
                <a16:creationId xmlns:a16="http://schemas.microsoft.com/office/drawing/2014/main" id="{A3B88B75-5950-4529-B9AE-F950B8CD549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81600" y="2819400"/>
            <a:ext cx="1676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7" name="Line 40">
            <a:extLst>
              <a:ext uri="{FF2B5EF4-FFF2-40B4-BE49-F238E27FC236}">
                <a16:creationId xmlns:a16="http://schemas.microsoft.com/office/drawing/2014/main" id="{8EA310B5-3C9B-4242-9461-3689FCAF65AB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276600"/>
            <a:ext cx="685800" cy="990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8" name="Line 41">
            <a:extLst>
              <a:ext uri="{FF2B5EF4-FFF2-40B4-BE49-F238E27FC236}">
                <a16:creationId xmlns:a16="http://schemas.microsoft.com/office/drawing/2014/main" id="{F2B03B77-7196-430B-8027-C28B363700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648200"/>
            <a:ext cx="914400" cy="685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9" name="Line 42">
            <a:extLst>
              <a:ext uri="{FF2B5EF4-FFF2-40B4-BE49-F238E27FC236}">
                <a16:creationId xmlns:a16="http://schemas.microsoft.com/office/drawing/2014/main" id="{A879598C-68F9-4203-9181-0A34BDC5AF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5486400"/>
            <a:ext cx="13716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0" name="Line 43">
            <a:extLst>
              <a:ext uri="{FF2B5EF4-FFF2-40B4-BE49-F238E27FC236}">
                <a16:creationId xmlns:a16="http://schemas.microsoft.com/office/drawing/2014/main" id="{150BA917-01E0-41CA-9BB7-675D8D59B9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971800"/>
            <a:ext cx="1524000" cy="2209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1" name="Freeform 44">
            <a:extLst>
              <a:ext uri="{FF2B5EF4-FFF2-40B4-BE49-F238E27FC236}">
                <a16:creationId xmlns:a16="http://schemas.microsoft.com/office/drawing/2014/main" id="{4DBE66B8-E426-43F7-B24D-358F49F4C2CA}"/>
              </a:ext>
            </a:extLst>
          </p:cNvPr>
          <p:cNvSpPr>
            <a:spLocks/>
          </p:cNvSpPr>
          <p:nvPr/>
        </p:nvSpPr>
        <p:spPr bwMode="auto">
          <a:xfrm>
            <a:off x="4483100" y="3048000"/>
            <a:ext cx="393700" cy="2362200"/>
          </a:xfrm>
          <a:custGeom>
            <a:avLst/>
            <a:gdLst>
              <a:gd name="T0" fmla="*/ 2147483646 w 248"/>
              <a:gd name="T1" fmla="*/ 0 h 1488"/>
              <a:gd name="T2" fmla="*/ 2147483646 w 248"/>
              <a:gd name="T3" fmla="*/ 2147483646 h 1488"/>
              <a:gd name="T4" fmla="*/ 2147483646 w 248"/>
              <a:gd name="T5" fmla="*/ 2147483646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248" y="0"/>
                </a:moveTo>
                <a:cubicBezTo>
                  <a:pt x="132" y="332"/>
                  <a:pt x="16" y="664"/>
                  <a:pt x="8" y="912"/>
                </a:cubicBezTo>
                <a:cubicBezTo>
                  <a:pt x="0" y="1160"/>
                  <a:pt x="100" y="1324"/>
                  <a:pt x="200" y="1488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2" name="Freeform 45">
            <a:extLst>
              <a:ext uri="{FF2B5EF4-FFF2-40B4-BE49-F238E27FC236}">
                <a16:creationId xmlns:a16="http://schemas.microsoft.com/office/drawing/2014/main" id="{DA067005-981F-4F72-AEF7-F17223547116}"/>
              </a:ext>
            </a:extLst>
          </p:cNvPr>
          <p:cNvSpPr>
            <a:spLocks/>
          </p:cNvSpPr>
          <p:nvPr/>
        </p:nvSpPr>
        <p:spPr bwMode="auto">
          <a:xfrm>
            <a:off x="5029200" y="3048000"/>
            <a:ext cx="393700" cy="2362200"/>
          </a:xfrm>
          <a:custGeom>
            <a:avLst/>
            <a:gdLst>
              <a:gd name="T0" fmla="*/ 0 w 248"/>
              <a:gd name="T1" fmla="*/ 2147483646 h 1488"/>
              <a:gd name="T2" fmla="*/ 2147483646 w 248"/>
              <a:gd name="T3" fmla="*/ 2147483646 h 1488"/>
              <a:gd name="T4" fmla="*/ 2147483646 w 248"/>
              <a:gd name="T5" fmla="*/ 0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0" y="1488"/>
                </a:moveTo>
                <a:cubicBezTo>
                  <a:pt x="116" y="1180"/>
                  <a:pt x="232" y="872"/>
                  <a:pt x="240" y="624"/>
                </a:cubicBezTo>
                <a:cubicBezTo>
                  <a:pt x="248" y="376"/>
                  <a:pt x="148" y="188"/>
                  <a:pt x="48" y="0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3" name="Line 46">
            <a:extLst>
              <a:ext uri="{FF2B5EF4-FFF2-40B4-BE49-F238E27FC236}">
                <a16:creationId xmlns:a16="http://schemas.microsoft.com/office/drawing/2014/main" id="{1B74D2D1-5788-436C-BC6B-5FAE411AA2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181600"/>
            <a:ext cx="152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4" name="Line 47">
            <a:extLst>
              <a:ext uri="{FF2B5EF4-FFF2-40B4-BE49-F238E27FC236}">
                <a16:creationId xmlns:a16="http://schemas.microsoft.com/office/drawing/2014/main" id="{9415F7CD-D5F6-46DE-807B-758ED2D25FC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05400" y="3048000"/>
            <a:ext cx="762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5" name="Text Box 48">
            <a:extLst>
              <a:ext uri="{FF2B5EF4-FFF2-40B4-BE49-F238E27FC236}">
                <a16:creationId xmlns:a16="http://schemas.microsoft.com/office/drawing/2014/main" id="{B8D30440-07CE-46D9-91B8-849A48A13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9966" name="Text Box 49">
            <a:extLst>
              <a:ext uri="{FF2B5EF4-FFF2-40B4-BE49-F238E27FC236}">
                <a16:creationId xmlns:a16="http://schemas.microsoft.com/office/drawing/2014/main" id="{210D2089-FA03-49E3-95CB-9657C1F9C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9967" name="Text Box 50">
            <a:extLst>
              <a:ext uri="{FF2B5EF4-FFF2-40B4-BE49-F238E27FC236}">
                <a16:creationId xmlns:a16="http://schemas.microsoft.com/office/drawing/2014/main" id="{37B14D14-417A-4A92-A0F9-F0E9072D7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9968" name="Text Box 51">
            <a:extLst>
              <a:ext uri="{FF2B5EF4-FFF2-40B4-BE49-F238E27FC236}">
                <a16:creationId xmlns:a16="http://schemas.microsoft.com/office/drawing/2014/main" id="{09AF0D84-171C-4E9C-A9C0-443C3DB5E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9969" name="Text Box 52">
            <a:extLst>
              <a:ext uri="{FF2B5EF4-FFF2-40B4-BE49-F238E27FC236}">
                <a16:creationId xmlns:a16="http://schemas.microsoft.com/office/drawing/2014/main" id="{F5081B74-66B9-43CE-BD22-BF3E73B82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9970" name="Text Box 53">
            <a:extLst>
              <a:ext uri="{FF2B5EF4-FFF2-40B4-BE49-F238E27FC236}">
                <a16:creationId xmlns:a16="http://schemas.microsoft.com/office/drawing/2014/main" id="{76006764-E9DC-45D8-8366-407DFE1B1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41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9971" name="Text Box 54">
            <a:extLst>
              <a:ext uri="{FF2B5EF4-FFF2-40B4-BE49-F238E27FC236}">
                <a16:creationId xmlns:a16="http://schemas.microsoft.com/office/drawing/2014/main" id="{E5188BE5-70A2-4D21-93BE-CB311ACD1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581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9972" name="Text Box 55">
            <a:extLst>
              <a:ext uri="{FF2B5EF4-FFF2-40B4-BE49-F238E27FC236}">
                <a16:creationId xmlns:a16="http://schemas.microsoft.com/office/drawing/2014/main" id="{3FCDAC9E-236F-4264-A70A-8FFDB82BF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562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9973" name="Text Box 56">
            <a:extLst>
              <a:ext uri="{FF2B5EF4-FFF2-40B4-BE49-F238E27FC236}">
                <a16:creationId xmlns:a16="http://schemas.microsoft.com/office/drawing/2014/main" id="{3F57A91D-0284-4323-B741-768F8A93F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514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9974" name="Text Box 57">
            <a:extLst>
              <a:ext uri="{FF2B5EF4-FFF2-40B4-BE49-F238E27FC236}">
                <a16:creationId xmlns:a16="http://schemas.microsoft.com/office/drawing/2014/main" id="{90A2271C-72EC-42AE-BB99-F71AC34E6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9975" name="Text Box 58">
            <a:extLst>
              <a:ext uri="{FF2B5EF4-FFF2-40B4-BE49-F238E27FC236}">
                <a16:creationId xmlns:a16="http://schemas.microsoft.com/office/drawing/2014/main" id="{1486B260-1109-48F2-8C27-54C41F0DE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56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9976" name="Line 59">
            <a:extLst>
              <a:ext uri="{FF2B5EF4-FFF2-40B4-BE49-F238E27FC236}">
                <a16:creationId xmlns:a16="http://schemas.microsoft.com/office/drawing/2014/main" id="{7A594FBD-0D32-4FA4-8043-FCB371824A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895600"/>
            <a:ext cx="2514600" cy="1524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77" name="Text Box 60">
            <a:extLst>
              <a:ext uri="{FF2B5EF4-FFF2-40B4-BE49-F238E27FC236}">
                <a16:creationId xmlns:a16="http://schemas.microsoft.com/office/drawing/2014/main" id="{7E391078-FE36-4220-9783-E418C8A7C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9978" name="Text Box 61">
            <a:extLst>
              <a:ext uri="{FF2B5EF4-FFF2-40B4-BE49-F238E27FC236}">
                <a16:creationId xmlns:a16="http://schemas.microsoft.com/office/drawing/2014/main" id="{979705C8-F14F-47A6-9A12-B2CF1D995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962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9979" name="Text Box 62">
            <a:extLst>
              <a:ext uri="{FF2B5EF4-FFF2-40B4-BE49-F238E27FC236}">
                <a16:creationId xmlns:a16="http://schemas.microsoft.com/office/drawing/2014/main" id="{53B1C0CD-4E7E-4BE8-95F0-4EBD71EA2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114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9980" name="Text Box 63">
            <a:extLst>
              <a:ext uri="{FF2B5EF4-FFF2-40B4-BE49-F238E27FC236}">
                <a16:creationId xmlns:a16="http://schemas.microsoft.com/office/drawing/2014/main" id="{D7F9DB5F-EB9B-4E69-9F75-BDD4EEA57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876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9981" name="Text Box 64">
            <a:extLst>
              <a:ext uri="{FF2B5EF4-FFF2-40B4-BE49-F238E27FC236}">
                <a16:creationId xmlns:a16="http://schemas.microsoft.com/office/drawing/2014/main" id="{DC03F56A-6C30-4E79-A74C-1A5358A0D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9982" name="Text Box 65">
            <a:extLst>
              <a:ext uri="{FF2B5EF4-FFF2-40B4-BE49-F238E27FC236}">
                <a16:creationId xmlns:a16="http://schemas.microsoft.com/office/drawing/2014/main" id="{05BFCC1D-F16E-4176-B2C1-69B1FDBB0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4290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[0,V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9983" name="Text Box 66">
            <a:extLst>
              <a:ext uri="{FF2B5EF4-FFF2-40B4-BE49-F238E27FC236}">
                <a16:creationId xmlns:a16="http://schemas.microsoft.com/office/drawing/2014/main" id="{E0D3F77D-3F26-460E-ABFA-3347628B3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791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[1,V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9984" name="Text Box 67">
            <a:extLst>
              <a:ext uri="{FF2B5EF4-FFF2-40B4-BE49-F238E27FC236}">
                <a16:creationId xmlns:a16="http://schemas.microsoft.com/office/drawing/2014/main" id="{4413D1E6-C951-4613-B32C-AA699F0AA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581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[3,V</a:t>
            </a:r>
            <a:r>
              <a:rPr lang="en-US" altLang="zh-CN" sz="2000" baseline="-25000">
                <a:solidFill>
                  <a:srgbClr val="000099"/>
                </a:solidFill>
              </a:rPr>
              <a:t>1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9985" name="Text Box 68">
            <a:extLst>
              <a:ext uri="{FF2B5EF4-FFF2-40B4-BE49-F238E27FC236}">
                <a16:creationId xmlns:a16="http://schemas.microsoft.com/office/drawing/2014/main" id="{CC048256-7F47-4CF0-83B1-CD3465FEC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057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[6,V</a:t>
            </a:r>
            <a:r>
              <a:rPr lang="en-US" altLang="zh-CN" sz="2000" baseline="-25000">
                <a:solidFill>
                  <a:srgbClr val="000099"/>
                </a:solidFill>
              </a:rPr>
              <a:t>2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9986" name="Text Box 69">
            <a:extLst>
              <a:ext uri="{FF2B5EF4-FFF2-40B4-BE49-F238E27FC236}">
                <a16:creationId xmlns:a16="http://schemas.microsoft.com/office/drawing/2014/main" id="{2E3ADECA-E808-4AE5-8F13-75C2461CA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2860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[5,V</a:t>
            </a:r>
            <a:r>
              <a:rPr lang="en-US" altLang="zh-CN" sz="2000" baseline="-25000">
                <a:solidFill>
                  <a:srgbClr val="000099"/>
                </a:solidFill>
              </a:rPr>
              <a:t>3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9987" name="Text Box 70">
            <a:extLst>
              <a:ext uri="{FF2B5EF4-FFF2-40B4-BE49-F238E27FC236}">
                <a16:creationId xmlns:a16="http://schemas.microsoft.com/office/drawing/2014/main" id="{670AD2B9-C277-4A1B-A125-B802AEAD1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791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[9,V</a:t>
            </a:r>
            <a:r>
              <a:rPr lang="en-US" altLang="zh-CN" sz="2000" baseline="-25000">
                <a:solidFill>
                  <a:srgbClr val="000099"/>
                </a:solidFill>
              </a:rPr>
              <a:t>5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9988" name="Text Box 71">
            <a:extLst>
              <a:ext uri="{FF2B5EF4-FFF2-40B4-BE49-F238E27FC236}">
                <a16:creationId xmlns:a16="http://schemas.microsoft.com/office/drawing/2014/main" id="{9AAE138F-D001-4DB5-80B6-0D13B06E7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943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99"/>
                </a:solidFill>
              </a:rPr>
              <a:t>[10,V</a:t>
            </a:r>
            <a:r>
              <a:rPr lang="en-US" altLang="zh-CN" sz="2000" baseline="-25000">
                <a:solidFill>
                  <a:srgbClr val="000099"/>
                </a:solidFill>
              </a:rPr>
              <a:t>5</a:t>
            </a:r>
            <a:r>
              <a:rPr lang="en-US" altLang="zh-CN" sz="20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9989" name="Text Box 72">
            <a:extLst>
              <a:ext uri="{FF2B5EF4-FFF2-40B4-BE49-F238E27FC236}">
                <a16:creationId xmlns:a16="http://schemas.microsoft.com/office/drawing/2014/main" id="{AAA07038-02B1-4A12-A7DA-EAF01592C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4724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0099"/>
                </a:solidFill>
              </a:rPr>
              <a:t>[12,V</a:t>
            </a:r>
            <a:r>
              <a:rPr lang="en-US" altLang="zh-CN" sz="2000" baseline="-25000" dirty="0">
                <a:solidFill>
                  <a:srgbClr val="000099"/>
                </a:solidFill>
              </a:rPr>
              <a:t>5</a:t>
            </a:r>
            <a:r>
              <a:rPr lang="en-US" altLang="zh-CN" sz="2000" dirty="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9990" name="Rectangle 73">
            <a:extLst>
              <a:ext uri="{FF2B5EF4-FFF2-40B4-BE49-F238E27FC236}">
                <a16:creationId xmlns:a16="http://schemas.microsoft.com/office/drawing/2014/main" id="{8411A5FB-4681-4AA3-BBFB-6581EA6FD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" y="1143000"/>
            <a:ext cx="62023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v</a:t>
            </a:r>
            <a:r>
              <a:rPr lang="en-US" altLang="zh-CN" sz="2800" baseline="-25000"/>
              <a:t>1</a:t>
            </a:r>
            <a:r>
              <a:rPr lang="zh-CN" altLang="en-US" sz="2800"/>
              <a:t>到</a:t>
            </a:r>
            <a:r>
              <a:rPr lang="en-US" altLang="zh-CN" sz="2800"/>
              <a:t>v</a:t>
            </a:r>
            <a:r>
              <a:rPr lang="en-US" altLang="zh-CN" sz="2800" baseline="-25000"/>
              <a:t>8</a:t>
            </a:r>
            <a:r>
              <a:rPr lang="zh-CN" altLang="en-US" sz="2800"/>
              <a:t>的最短路为：</a:t>
            </a:r>
            <a:r>
              <a:rPr lang="en-US" altLang="zh-CN" sz="2800"/>
              <a:t>v</a:t>
            </a:r>
            <a:r>
              <a:rPr lang="en-US" altLang="zh-CN" sz="2800" baseline="-25000"/>
              <a:t>1</a:t>
            </a:r>
            <a:r>
              <a:rPr lang="en-US" altLang="zh-CN" sz="2800"/>
              <a:t>→v</a:t>
            </a:r>
            <a:r>
              <a:rPr lang="en-US" altLang="zh-CN" sz="2800" baseline="-25000"/>
              <a:t>3</a:t>
            </a:r>
            <a:r>
              <a:rPr lang="en-US" altLang="zh-CN" sz="2800"/>
              <a:t>→v</a:t>
            </a:r>
            <a:r>
              <a:rPr lang="en-US" altLang="zh-CN" sz="2800" baseline="-25000"/>
              <a:t>2</a:t>
            </a:r>
            <a:r>
              <a:rPr lang="en-US" altLang="zh-CN" sz="2800"/>
              <a:t>→v</a:t>
            </a:r>
            <a:r>
              <a:rPr lang="en-US" altLang="zh-CN" sz="2800" baseline="-25000"/>
              <a:t>5</a:t>
            </a:r>
            <a:r>
              <a:rPr lang="en-US" altLang="zh-CN" sz="2800"/>
              <a:t>→v</a:t>
            </a:r>
            <a:r>
              <a:rPr lang="en-US" altLang="zh-CN" sz="2800" baseline="-25000"/>
              <a:t>8</a:t>
            </a:r>
            <a:endParaRPr lang="en-US" altLang="zh-CN" sz="28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/>
              <a:t>最短距离为</a:t>
            </a:r>
            <a:r>
              <a:rPr lang="en-US" altLang="zh-CN" sz="2800"/>
              <a:t>12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reeform 45">
            <a:extLst>
              <a:ext uri="{FF2B5EF4-FFF2-40B4-BE49-F238E27FC236}">
                <a16:creationId xmlns:a16="http://schemas.microsoft.com/office/drawing/2014/main" id="{9CAA89A4-2AD8-4B23-AD43-2B3B11776ED8}"/>
              </a:ext>
            </a:extLst>
          </p:cNvPr>
          <p:cNvSpPr>
            <a:spLocks/>
          </p:cNvSpPr>
          <p:nvPr/>
        </p:nvSpPr>
        <p:spPr bwMode="auto">
          <a:xfrm>
            <a:off x="5029200" y="3048000"/>
            <a:ext cx="393700" cy="2362200"/>
          </a:xfrm>
          <a:custGeom>
            <a:avLst/>
            <a:gdLst>
              <a:gd name="T0" fmla="*/ 0 w 248"/>
              <a:gd name="T1" fmla="*/ 2147483646 h 1488"/>
              <a:gd name="T2" fmla="*/ 2147483646 w 248"/>
              <a:gd name="T3" fmla="*/ 2147483646 h 1488"/>
              <a:gd name="T4" fmla="*/ 2147483646 w 248"/>
              <a:gd name="T5" fmla="*/ 0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0" y="1488"/>
                </a:moveTo>
                <a:cubicBezTo>
                  <a:pt x="116" y="1180"/>
                  <a:pt x="232" y="872"/>
                  <a:pt x="240" y="624"/>
                </a:cubicBezTo>
                <a:cubicBezTo>
                  <a:pt x="248" y="376"/>
                  <a:pt x="148" y="188"/>
                  <a:pt x="48" y="0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0963" name="Group 2">
            <a:extLst>
              <a:ext uri="{FF2B5EF4-FFF2-40B4-BE49-F238E27FC236}">
                <a16:creationId xmlns:a16="http://schemas.microsoft.com/office/drawing/2014/main" id="{81B8FE6B-6FEB-420E-B79D-22F01A690978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962400"/>
            <a:ext cx="609600" cy="457200"/>
            <a:chOff x="672" y="2208"/>
            <a:chExt cx="384" cy="288"/>
          </a:xfrm>
        </p:grpSpPr>
        <p:sp>
          <p:nvSpPr>
            <p:cNvPr id="41021" name="Oval 3">
              <a:extLst>
                <a:ext uri="{FF2B5EF4-FFF2-40B4-BE49-F238E27FC236}">
                  <a16:creationId xmlns:a16="http://schemas.microsoft.com/office/drawing/2014/main" id="{EB5C95A4-A0BE-4F7C-AF68-7CE55C9EF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41022" name="Text Box 4">
              <a:extLst>
                <a:ext uri="{FF2B5EF4-FFF2-40B4-BE49-F238E27FC236}">
                  <a16:creationId xmlns:a16="http://schemas.microsoft.com/office/drawing/2014/main" id="{C5AB4D1B-2ADD-48B9-9353-01BF50B36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 dirty="0"/>
                <a:t>V</a:t>
              </a:r>
              <a:r>
                <a:rPr lang="en-US" altLang="zh-CN" sz="2400" baseline="-25000" dirty="0"/>
                <a:t>1</a:t>
              </a:r>
            </a:p>
          </p:txBody>
        </p:sp>
      </p:grpSp>
      <p:sp>
        <p:nvSpPr>
          <p:cNvPr id="40964" name="Rectangle 5">
            <a:extLst>
              <a:ext uri="{FF2B5EF4-FFF2-40B4-BE49-F238E27FC236}">
                <a16:creationId xmlns:a16="http://schemas.microsoft.com/office/drawing/2014/main" id="{5A1DEB52-3FDD-4941-B8A5-4738CB4FC6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无向图</a:t>
            </a:r>
          </a:p>
        </p:txBody>
      </p:sp>
      <p:sp>
        <p:nvSpPr>
          <p:cNvPr id="40965" name="Rectangle 6">
            <a:extLst>
              <a:ext uri="{FF2B5EF4-FFF2-40B4-BE49-F238E27FC236}">
                <a16:creationId xmlns:a16="http://schemas.microsoft.com/office/drawing/2014/main" id="{24DD8997-D704-41AE-B815-49712111589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7848600" cy="4987925"/>
          </a:xfrm>
        </p:spPr>
        <p:txBody>
          <a:bodyPr/>
          <a:lstStyle/>
          <a:p>
            <a:pPr eaLnBrk="1" hangingPunct="1"/>
            <a:r>
              <a:rPr lang="zh-CN" altLang="en-US"/>
              <a:t>考察一个端点已标号，另一端点未标号的所有边</a:t>
            </a:r>
          </a:p>
        </p:txBody>
      </p:sp>
      <p:grpSp>
        <p:nvGrpSpPr>
          <p:cNvPr id="40966" name="Group 7">
            <a:extLst>
              <a:ext uri="{FF2B5EF4-FFF2-40B4-BE49-F238E27FC236}">
                <a16:creationId xmlns:a16="http://schemas.microsoft.com/office/drawing/2014/main" id="{BEF8C80C-546F-4D78-ABEB-662ED798D41C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667000"/>
            <a:ext cx="609600" cy="457200"/>
            <a:chOff x="672" y="2208"/>
            <a:chExt cx="384" cy="288"/>
          </a:xfrm>
        </p:grpSpPr>
        <p:sp>
          <p:nvSpPr>
            <p:cNvPr id="41019" name="Oval 8">
              <a:extLst>
                <a:ext uri="{FF2B5EF4-FFF2-40B4-BE49-F238E27FC236}">
                  <a16:creationId xmlns:a16="http://schemas.microsoft.com/office/drawing/2014/main" id="{4A72C837-82EC-46B4-A49F-9DFC51D64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41020" name="Text Box 9">
              <a:extLst>
                <a:ext uri="{FF2B5EF4-FFF2-40B4-BE49-F238E27FC236}">
                  <a16:creationId xmlns:a16="http://schemas.microsoft.com/office/drawing/2014/main" id="{6C38A045-43FD-4D6A-9E1F-1AF808CCF0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2</a:t>
              </a:r>
            </a:p>
          </p:txBody>
        </p:sp>
      </p:grpSp>
      <p:grpSp>
        <p:nvGrpSpPr>
          <p:cNvPr id="40967" name="Group 10">
            <a:extLst>
              <a:ext uri="{FF2B5EF4-FFF2-40B4-BE49-F238E27FC236}">
                <a16:creationId xmlns:a16="http://schemas.microsoft.com/office/drawing/2014/main" id="{82229FFF-799A-45E7-9C6C-1CBBAB45059C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257800"/>
            <a:ext cx="609600" cy="457200"/>
            <a:chOff x="672" y="2208"/>
            <a:chExt cx="384" cy="288"/>
          </a:xfrm>
        </p:grpSpPr>
        <p:sp>
          <p:nvSpPr>
            <p:cNvPr id="41017" name="Oval 11">
              <a:extLst>
                <a:ext uri="{FF2B5EF4-FFF2-40B4-BE49-F238E27FC236}">
                  <a16:creationId xmlns:a16="http://schemas.microsoft.com/office/drawing/2014/main" id="{C208AEA5-4F32-4B34-B41B-05F35DF25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41018" name="Text Box 12">
              <a:extLst>
                <a:ext uri="{FF2B5EF4-FFF2-40B4-BE49-F238E27FC236}">
                  <a16:creationId xmlns:a16="http://schemas.microsoft.com/office/drawing/2014/main" id="{168E4731-8AD5-4EBA-971B-EBCBF7E2AF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4</a:t>
              </a:r>
            </a:p>
          </p:txBody>
        </p:sp>
      </p:grpSp>
      <p:grpSp>
        <p:nvGrpSpPr>
          <p:cNvPr id="40968" name="Group 13">
            <a:extLst>
              <a:ext uri="{FF2B5EF4-FFF2-40B4-BE49-F238E27FC236}">
                <a16:creationId xmlns:a16="http://schemas.microsoft.com/office/drawing/2014/main" id="{C76BB411-A1D7-48FD-BE0E-CAE27F79BA6F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038600"/>
            <a:ext cx="609600" cy="457200"/>
            <a:chOff x="672" y="2208"/>
            <a:chExt cx="384" cy="288"/>
          </a:xfrm>
        </p:grpSpPr>
        <p:sp>
          <p:nvSpPr>
            <p:cNvPr id="41015" name="Oval 14">
              <a:extLst>
                <a:ext uri="{FF2B5EF4-FFF2-40B4-BE49-F238E27FC236}">
                  <a16:creationId xmlns:a16="http://schemas.microsoft.com/office/drawing/2014/main" id="{2963D9CE-8AD4-47FE-92D1-18FA0AF31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41016" name="Text Box 15">
              <a:extLst>
                <a:ext uri="{FF2B5EF4-FFF2-40B4-BE49-F238E27FC236}">
                  <a16:creationId xmlns:a16="http://schemas.microsoft.com/office/drawing/2014/main" id="{23F82242-8BEE-4881-920C-0D5F4D5618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 dirty="0"/>
                <a:t>V</a:t>
              </a:r>
              <a:r>
                <a:rPr lang="en-US" altLang="zh-CN" sz="2400" baseline="-25000" dirty="0"/>
                <a:t>3</a:t>
              </a:r>
            </a:p>
          </p:txBody>
        </p:sp>
      </p:grpSp>
      <p:grpSp>
        <p:nvGrpSpPr>
          <p:cNvPr id="40969" name="Group 16">
            <a:extLst>
              <a:ext uri="{FF2B5EF4-FFF2-40B4-BE49-F238E27FC236}">
                <a16:creationId xmlns:a16="http://schemas.microsoft.com/office/drawing/2014/main" id="{646193BA-3EA2-48F3-86C6-143AA37F21D3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590800"/>
            <a:ext cx="609600" cy="457200"/>
            <a:chOff x="672" y="2208"/>
            <a:chExt cx="384" cy="288"/>
          </a:xfrm>
        </p:grpSpPr>
        <p:sp>
          <p:nvSpPr>
            <p:cNvPr id="41013" name="Oval 17">
              <a:extLst>
                <a:ext uri="{FF2B5EF4-FFF2-40B4-BE49-F238E27FC236}">
                  <a16:creationId xmlns:a16="http://schemas.microsoft.com/office/drawing/2014/main" id="{91072354-27EA-44BC-AD0A-13BCFE5F2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41014" name="Text Box 18">
              <a:extLst>
                <a:ext uri="{FF2B5EF4-FFF2-40B4-BE49-F238E27FC236}">
                  <a16:creationId xmlns:a16="http://schemas.microsoft.com/office/drawing/2014/main" id="{B6B9CFE2-9953-41D2-A9B1-BD3138A7FC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5</a:t>
              </a:r>
            </a:p>
          </p:txBody>
        </p:sp>
      </p:grpSp>
      <p:grpSp>
        <p:nvGrpSpPr>
          <p:cNvPr id="40970" name="Group 19">
            <a:extLst>
              <a:ext uri="{FF2B5EF4-FFF2-40B4-BE49-F238E27FC236}">
                <a16:creationId xmlns:a16="http://schemas.microsoft.com/office/drawing/2014/main" id="{F5F57B41-D2E0-473D-89D2-3BBC1EC162E4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5410200"/>
            <a:ext cx="609600" cy="457200"/>
            <a:chOff x="672" y="2208"/>
            <a:chExt cx="384" cy="288"/>
          </a:xfrm>
        </p:grpSpPr>
        <p:sp>
          <p:nvSpPr>
            <p:cNvPr id="41011" name="Oval 20">
              <a:extLst>
                <a:ext uri="{FF2B5EF4-FFF2-40B4-BE49-F238E27FC236}">
                  <a16:creationId xmlns:a16="http://schemas.microsoft.com/office/drawing/2014/main" id="{BFA7EAF0-E1CF-4FE3-AB38-19644409B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41012" name="Text Box 21">
              <a:extLst>
                <a:ext uri="{FF2B5EF4-FFF2-40B4-BE49-F238E27FC236}">
                  <a16:creationId xmlns:a16="http://schemas.microsoft.com/office/drawing/2014/main" id="{84F53F00-7143-494F-8090-A658B3F5E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6</a:t>
              </a:r>
            </a:p>
          </p:txBody>
        </p:sp>
      </p:grpSp>
      <p:grpSp>
        <p:nvGrpSpPr>
          <p:cNvPr id="40971" name="Group 22">
            <a:extLst>
              <a:ext uri="{FF2B5EF4-FFF2-40B4-BE49-F238E27FC236}">
                <a16:creationId xmlns:a16="http://schemas.microsoft.com/office/drawing/2014/main" id="{57137451-8801-4AEF-B967-3C5F8DD2E279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5181600"/>
            <a:ext cx="609600" cy="457200"/>
            <a:chOff x="672" y="2208"/>
            <a:chExt cx="384" cy="288"/>
          </a:xfrm>
        </p:grpSpPr>
        <p:sp>
          <p:nvSpPr>
            <p:cNvPr id="41009" name="Oval 23">
              <a:extLst>
                <a:ext uri="{FF2B5EF4-FFF2-40B4-BE49-F238E27FC236}">
                  <a16:creationId xmlns:a16="http://schemas.microsoft.com/office/drawing/2014/main" id="{714CA423-CE9F-4429-9487-BB2185D2C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41010" name="Text Box 24">
              <a:extLst>
                <a:ext uri="{FF2B5EF4-FFF2-40B4-BE49-F238E27FC236}">
                  <a16:creationId xmlns:a16="http://schemas.microsoft.com/office/drawing/2014/main" id="{E511E34A-AD12-4587-A0AD-B4E29DD467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7</a:t>
              </a:r>
            </a:p>
          </p:txBody>
        </p:sp>
      </p:grpSp>
      <p:grpSp>
        <p:nvGrpSpPr>
          <p:cNvPr id="40972" name="Group 25">
            <a:extLst>
              <a:ext uri="{FF2B5EF4-FFF2-40B4-BE49-F238E27FC236}">
                <a16:creationId xmlns:a16="http://schemas.microsoft.com/office/drawing/2014/main" id="{82520939-83E2-4DB6-9DFE-1B3409B2989C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191000"/>
            <a:ext cx="609600" cy="457200"/>
            <a:chOff x="672" y="2208"/>
            <a:chExt cx="384" cy="288"/>
          </a:xfrm>
        </p:grpSpPr>
        <p:sp>
          <p:nvSpPr>
            <p:cNvPr id="41007" name="Oval 26">
              <a:extLst>
                <a:ext uri="{FF2B5EF4-FFF2-40B4-BE49-F238E27FC236}">
                  <a16:creationId xmlns:a16="http://schemas.microsoft.com/office/drawing/2014/main" id="{573822C4-3F98-42A8-932A-243E4E16C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41008" name="Text Box 27">
              <a:extLst>
                <a:ext uri="{FF2B5EF4-FFF2-40B4-BE49-F238E27FC236}">
                  <a16:creationId xmlns:a16="http://schemas.microsoft.com/office/drawing/2014/main" id="{8C9AAAFF-3951-47A6-BB0E-10030FB5E6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8</a:t>
              </a:r>
            </a:p>
          </p:txBody>
        </p:sp>
      </p:grpSp>
      <p:grpSp>
        <p:nvGrpSpPr>
          <p:cNvPr id="40973" name="Group 28">
            <a:extLst>
              <a:ext uri="{FF2B5EF4-FFF2-40B4-BE49-F238E27FC236}">
                <a16:creationId xmlns:a16="http://schemas.microsoft.com/office/drawing/2014/main" id="{AA1FD684-BA3F-40F2-B5B1-BACBAFC1E1D9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819400"/>
            <a:ext cx="609600" cy="457200"/>
            <a:chOff x="672" y="2208"/>
            <a:chExt cx="384" cy="288"/>
          </a:xfrm>
        </p:grpSpPr>
        <p:sp>
          <p:nvSpPr>
            <p:cNvPr id="41005" name="Oval 29">
              <a:extLst>
                <a:ext uri="{FF2B5EF4-FFF2-40B4-BE49-F238E27FC236}">
                  <a16:creationId xmlns:a16="http://schemas.microsoft.com/office/drawing/2014/main" id="{033EE84F-2AA6-4EF3-8688-E0B46DF26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41006" name="Text Box 30">
              <a:extLst>
                <a:ext uri="{FF2B5EF4-FFF2-40B4-BE49-F238E27FC236}">
                  <a16:creationId xmlns:a16="http://schemas.microsoft.com/office/drawing/2014/main" id="{261124EC-C50E-4B0C-9966-EFFF1E746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9</a:t>
              </a:r>
            </a:p>
          </p:txBody>
        </p:sp>
      </p:grpSp>
      <p:sp>
        <p:nvSpPr>
          <p:cNvPr id="40974" name="Line 31">
            <a:extLst>
              <a:ext uri="{FF2B5EF4-FFF2-40B4-BE49-F238E27FC236}">
                <a16:creationId xmlns:a16="http://schemas.microsoft.com/office/drawing/2014/main" id="{8942F73A-5C99-4DD8-94F1-F72C94FC0E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3048000"/>
            <a:ext cx="7620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5" name="Line 32">
            <a:extLst>
              <a:ext uri="{FF2B5EF4-FFF2-40B4-BE49-F238E27FC236}">
                <a16:creationId xmlns:a16="http://schemas.microsoft.com/office/drawing/2014/main" id="{5EB0332F-7B8B-4CE9-8BA9-F2A67B1C07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895600"/>
            <a:ext cx="2286000" cy="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6" name="Line 33">
            <a:extLst>
              <a:ext uri="{FF2B5EF4-FFF2-40B4-BE49-F238E27FC236}">
                <a16:creationId xmlns:a16="http://schemas.microsoft.com/office/drawing/2014/main" id="{14A0DE3E-0842-47D5-8C8B-5F95C892C2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191000"/>
            <a:ext cx="1371600" cy="762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7" name="Line 34">
            <a:extLst>
              <a:ext uri="{FF2B5EF4-FFF2-40B4-BE49-F238E27FC236}">
                <a16:creationId xmlns:a16="http://schemas.microsoft.com/office/drawing/2014/main" id="{D1FDF4B3-7159-4409-AD9B-CED42D8E0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419600"/>
            <a:ext cx="8382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8" name="Line 35">
            <a:extLst>
              <a:ext uri="{FF2B5EF4-FFF2-40B4-BE49-F238E27FC236}">
                <a16:creationId xmlns:a16="http://schemas.microsoft.com/office/drawing/2014/main" id="{FAF64887-F94B-428C-B1DC-FF5B5E74296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3124200"/>
            <a:ext cx="609600" cy="914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9" name="Line 36">
            <a:extLst>
              <a:ext uri="{FF2B5EF4-FFF2-40B4-BE49-F238E27FC236}">
                <a16:creationId xmlns:a16="http://schemas.microsoft.com/office/drawing/2014/main" id="{35B1F374-6344-470C-ABFE-EAB27E18D1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4495800"/>
            <a:ext cx="457200" cy="762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80" name="Line 37">
            <a:extLst>
              <a:ext uri="{FF2B5EF4-FFF2-40B4-BE49-F238E27FC236}">
                <a16:creationId xmlns:a16="http://schemas.microsoft.com/office/drawing/2014/main" id="{937A9952-8F00-4186-A1C3-93139B4617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3048000"/>
            <a:ext cx="2209800" cy="2286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81" name="Line 38">
            <a:extLst>
              <a:ext uri="{FF2B5EF4-FFF2-40B4-BE49-F238E27FC236}">
                <a16:creationId xmlns:a16="http://schemas.microsoft.com/office/drawing/2014/main" id="{FDF63338-AF6D-4968-8558-B6ECDFA797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486400"/>
            <a:ext cx="20574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82" name="Line 39">
            <a:extLst>
              <a:ext uri="{FF2B5EF4-FFF2-40B4-BE49-F238E27FC236}">
                <a16:creationId xmlns:a16="http://schemas.microsoft.com/office/drawing/2014/main" id="{407CEC49-712C-40D0-9018-EEADB48800F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81600" y="2819400"/>
            <a:ext cx="1676400" cy="228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83" name="Line 40">
            <a:extLst>
              <a:ext uri="{FF2B5EF4-FFF2-40B4-BE49-F238E27FC236}">
                <a16:creationId xmlns:a16="http://schemas.microsoft.com/office/drawing/2014/main" id="{87FAFF50-628C-4543-8D69-C8C685823CB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276600"/>
            <a:ext cx="685800" cy="9906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84" name="Line 41">
            <a:extLst>
              <a:ext uri="{FF2B5EF4-FFF2-40B4-BE49-F238E27FC236}">
                <a16:creationId xmlns:a16="http://schemas.microsoft.com/office/drawing/2014/main" id="{E7884612-8F98-418B-AD50-3DAF061440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648200"/>
            <a:ext cx="914400" cy="685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85" name="Line 42">
            <a:extLst>
              <a:ext uri="{FF2B5EF4-FFF2-40B4-BE49-F238E27FC236}">
                <a16:creationId xmlns:a16="http://schemas.microsoft.com/office/drawing/2014/main" id="{D3D6749B-C53D-46E5-AD41-B058FCDE58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5486400"/>
            <a:ext cx="1371600" cy="1524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86" name="Line 43">
            <a:extLst>
              <a:ext uri="{FF2B5EF4-FFF2-40B4-BE49-F238E27FC236}">
                <a16:creationId xmlns:a16="http://schemas.microsoft.com/office/drawing/2014/main" id="{C3858A7E-1972-4392-86DB-1A418C6801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971800"/>
            <a:ext cx="1524000" cy="22098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87" name="Freeform 44">
            <a:extLst>
              <a:ext uri="{FF2B5EF4-FFF2-40B4-BE49-F238E27FC236}">
                <a16:creationId xmlns:a16="http://schemas.microsoft.com/office/drawing/2014/main" id="{DE270DE9-CC3E-4BCB-B72A-194831CFDC6D}"/>
              </a:ext>
            </a:extLst>
          </p:cNvPr>
          <p:cNvSpPr>
            <a:spLocks/>
          </p:cNvSpPr>
          <p:nvPr/>
        </p:nvSpPr>
        <p:spPr bwMode="auto">
          <a:xfrm>
            <a:off x="4483100" y="3048000"/>
            <a:ext cx="393700" cy="2362200"/>
          </a:xfrm>
          <a:custGeom>
            <a:avLst/>
            <a:gdLst>
              <a:gd name="T0" fmla="*/ 2147483646 w 248"/>
              <a:gd name="T1" fmla="*/ 0 h 1488"/>
              <a:gd name="T2" fmla="*/ 2147483646 w 248"/>
              <a:gd name="T3" fmla="*/ 2147483646 h 1488"/>
              <a:gd name="T4" fmla="*/ 2147483646 w 248"/>
              <a:gd name="T5" fmla="*/ 2147483646 h 1488"/>
              <a:gd name="T6" fmla="*/ 0 60000 65536"/>
              <a:gd name="T7" fmla="*/ 0 60000 65536"/>
              <a:gd name="T8" fmla="*/ 0 60000 65536"/>
              <a:gd name="T9" fmla="*/ 0 w 248"/>
              <a:gd name="T10" fmla="*/ 0 h 1488"/>
              <a:gd name="T11" fmla="*/ 248 w 248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88">
                <a:moveTo>
                  <a:pt x="248" y="0"/>
                </a:moveTo>
                <a:cubicBezTo>
                  <a:pt x="132" y="332"/>
                  <a:pt x="16" y="664"/>
                  <a:pt x="8" y="912"/>
                </a:cubicBezTo>
                <a:cubicBezTo>
                  <a:pt x="0" y="1160"/>
                  <a:pt x="100" y="1324"/>
                  <a:pt x="200" y="1488"/>
                </a:cubicBezTo>
              </a:path>
            </a:pathLst>
          </a:custGeom>
          <a:noFill/>
          <a:ln w="28575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88" name="Text Box 48">
            <a:extLst>
              <a:ext uri="{FF2B5EF4-FFF2-40B4-BE49-F238E27FC236}">
                <a16:creationId xmlns:a16="http://schemas.microsoft.com/office/drawing/2014/main" id="{81CEFF55-6C22-4ED9-B4D7-F3463716D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40989" name="Text Box 49">
            <a:extLst>
              <a:ext uri="{FF2B5EF4-FFF2-40B4-BE49-F238E27FC236}">
                <a16:creationId xmlns:a16="http://schemas.microsoft.com/office/drawing/2014/main" id="{80F73B32-FFC4-474D-A355-4EDB92E4A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40990" name="Text Box 50">
            <a:extLst>
              <a:ext uri="{FF2B5EF4-FFF2-40B4-BE49-F238E27FC236}">
                <a16:creationId xmlns:a16="http://schemas.microsoft.com/office/drawing/2014/main" id="{DAF6DDD8-78E1-48F2-96E1-82A994FBC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40991" name="Text Box 51">
            <a:extLst>
              <a:ext uri="{FF2B5EF4-FFF2-40B4-BE49-F238E27FC236}">
                <a16:creationId xmlns:a16="http://schemas.microsoft.com/office/drawing/2014/main" id="{E1444CDA-5A3C-4BA0-AE91-942DAFF7B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40992" name="Text Box 52">
            <a:extLst>
              <a:ext uri="{FF2B5EF4-FFF2-40B4-BE49-F238E27FC236}">
                <a16:creationId xmlns:a16="http://schemas.microsoft.com/office/drawing/2014/main" id="{00DF83BD-2023-4817-AAE8-3F0EDD42B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0993" name="Text Box 53">
            <a:extLst>
              <a:ext uri="{FF2B5EF4-FFF2-40B4-BE49-F238E27FC236}">
                <a16:creationId xmlns:a16="http://schemas.microsoft.com/office/drawing/2014/main" id="{B9213AC3-4C7F-42B5-801A-A805CC0F8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41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0994" name="Text Box 54">
            <a:extLst>
              <a:ext uri="{FF2B5EF4-FFF2-40B4-BE49-F238E27FC236}">
                <a16:creationId xmlns:a16="http://schemas.microsoft.com/office/drawing/2014/main" id="{F2203F29-5BEC-40D2-B281-AF2149356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581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40995" name="Text Box 55">
            <a:extLst>
              <a:ext uri="{FF2B5EF4-FFF2-40B4-BE49-F238E27FC236}">
                <a16:creationId xmlns:a16="http://schemas.microsoft.com/office/drawing/2014/main" id="{31C0E01B-5EF6-433F-A5FD-E90C3044A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562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40996" name="Text Box 56">
            <a:extLst>
              <a:ext uri="{FF2B5EF4-FFF2-40B4-BE49-F238E27FC236}">
                <a16:creationId xmlns:a16="http://schemas.microsoft.com/office/drawing/2014/main" id="{FD308247-3197-4741-A97D-6D215C018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514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0997" name="Text Box 57">
            <a:extLst>
              <a:ext uri="{FF2B5EF4-FFF2-40B4-BE49-F238E27FC236}">
                <a16:creationId xmlns:a16="http://schemas.microsoft.com/office/drawing/2014/main" id="{9816AEEE-BDCE-4E04-8CEB-CE054EDA8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40998" name="Text Box 58">
            <a:extLst>
              <a:ext uri="{FF2B5EF4-FFF2-40B4-BE49-F238E27FC236}">
                <a16:creationId xmlns:a16="http://schemas.microsoft.com/office/drawing/2014/main" id="{004F6302-21DD-478A-84C6-1E1950CD6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56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0999" name="Line 59">
            <a:extLst>
              <a:ext uri="{FF2B5EF4-FFF2-40B4-BE49-F238E27FC236}">
                <a16:creationId xmlns:a16="http://schemas.microsoft.com/office/drawing/2014/main" id="{48227F56-0A21-4D94-A32D-511B8A6E1F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895600"/>
            <a:ext cx="2514600" cy="1524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00" name="Text Box 60">
            <a:extLst>
              <a:ext uri="{FF2B5EF4-FFF2-40B4-BE49-F238E27FC236}">
                <a16:creationId xmlns:a16="http://schemas.microsoft.com/office/drawing/2014/main" id="{A27BFF8F-B246-4DCF-8170-F20655657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41001" name="Text Box 61">
            <a:extLst>
              <a:ext uri="{FF2B5EF4-FFF2-40B4-BE49-F238E27FC236}">
                <a16:creationId xmlns:a16="http://schemas.microsoft.com/office/drawing/2014/main" id="{AF165461-C178-43D4-B17D-AE990F72C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962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41002" name="Text Box 62">
            <a:extLst>
              <a:ext uri="{FF2B5EF4-FFF2-40B4-BE49-F238E27FC236}">
                <a16:creationId xmlns:a16="http://schemas.microsoft.com/office/drawing/2014/main" id="{5683EDDE-99A8-4A93-AF2C-326C14D3C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114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41003" name="Text Box 63">
            <a:extLst>
              <a:ext uri="{FF2B5EF4-FFF2-40B4-BE49-F238E27FC236}">
                <a16:creationId xmlns:a16="http://schemas.microsoft.com/office/drawing/2014/main" id="{7B803527-9E63-4453-B6F1-49B1D91E2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876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41004" name="Text Box 64">
            <a:extLst>
              <a:ext uri="{FF2B5EF4-FFF2-40B4-BE49-F238E27FC236}">
                <a16:creationId xmlns:a16="http://schemas.microsoft.com/office/drawing/2014/main" id="{3A33A652-A82D-4629-854A-CF0FB8FCF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B1EC4473-CD1D-4FED-B167-5F14E2205A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负权弧</a:t>
            </a:r>
          </a:p>
        </p:txBody>
      </p:sp>
      <p:sp>
        <p:nvSpPr>
          <p:cNvPr id="246787" name="Rectangle 3">
            <a:extLst>
              <a:ext uri="{FF2B5EF4-FFF2-40B4-BE49-F238E27FC236}">
                <a16:creationId xmlns:a16="http://schemas.microsoft.com/office/drawing/2014/main" id="{2B8B6F45-28EC-430E-A4CC-AA0ADE12D2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最短路必满足： </a:t>
            </a:r>
            <a:r>
              <a:rPr lang="en-US" altLang="zh-CN" dirty="0"/>
              <a:t>d(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s</a:t>
            </a:r>
            <a:r>
              <a:rPr lang="en-US" altLang="zh-CN" dirty="0" err="1"/>
              <a:t>,v</a:t>
            </a:r>
            <a:r>
              <a:rPr lang="en-US" altLang="zh-CN" baseline="-25000" dirty="0" err="1"/>
              <a:t>j</a:t>
            </a:r>
            <a:r>
              <a:rPr lang="en-US" altLang="zh-CN" dirty="0"/>
              <a:t>)=min {d(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s</a:t>
            </a:r>
            <a:r>
              <a:rPr lang="en-US" altLang="zh-CN" dirty="0" err="1"/>
              <a:t>,v</a:t>
            </a:r>
            <a:r>
              <a:rPr lang="en-US" altLang="zh-CN" baseline="-25000" dirty="0" err="1"/>
              <a:t>i</a:t>
            </a:r>
            <a:r>
              <a:rPr lang="en-US" altLang="zh-CN" dirty="0"/>
              <a:t>)+</a:t>
            </a:r>
            <a:r>
              <a:rPr lang="en-US" altLang="zh-CN" dirty="0" err="1"/>
              <a:t>w</a:t>
            </a:r>
            <a:r>
              <a:rPr lang="en-US" altLang="zh-CN" baseline="-25000" dirty="0" err="1"/>
              <a:t>ij</a:t>
            </a:r>
            <a:r>
              <a:rPr lang="en-US" altLang="zh-CN" dirty="0"/>
              <a:t>}</a:t>
            </a:r>
          </a:p>
          <a:p>
            <a:pPr eaLnBrk="1" hangingPunct="1"/>
            <a:r>
              <a:rPr lang="zh-CN" altLang="en-US" dirty="0"/>
              <a:t>递推求解： </a:t>
            </a:r>
          </a:p>
          <a:p>
            <a:pPr lvl="1" eaLnBrk="1" hangingPunct="1"/>
            <a:r>
              <a:rPr lang="zh-CN" altLang="en-US" dirty="0"/>
              <a:t>初始时，</a:t>
            </a:r>
            <a:r>
              <a:rPr lang="en-US" altLang="zh-CN" dirty="0"/>
              <a:t>d</a:t>
            </a:r>
            <a:r>
              <a:rPr lang="en-US" altLang="zh-CN" baseline="30000" dirty="0"/>
              <a:t>1</a:t>
            </a:r>
            <a:r>
              <a:rPr lang="en-US" altLang="zh-CN" dirty="0"/>
              <a:t>(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s</a:t>
            </a:r>
            <a:r>
              <a:rPr lang="en-US" altLang="zh-CN" dirty="0" err="1"/>
              <a:t>,v</a:t>
            </a:r>
            <a:r>
              <a:rPr lang="en-US" altLang="zh-CN" baseline="-25000" dirty="0" err="1"/>
              <a:t>j</a:t>
            </a:r>
            <a:r>
              <a:rPr lang="en-US" altLang="zh-CN" dirty="0"/>
              <a:t>)=</a:t>
            </a:r>
            <a:r>
              <a:rPr lang="en-US" altLang="zh-CN" dirty="0" err="1"/>
              <a:t>w</a:t>
            </a:r>
            <a:r>
              <a:rPr lang="en-US" altLang="zh-CN" baseline="-25000" dirty="0" err="1"/>
              <a:t>sj</a:t>
            </a:r>
            <a:r>
              <a:rPr lang="en-US" altLang="zh-CN" baseline="-25000" dirty="0"/>
              <a:t>  </a:t>
            </a:r>
            <a:r>
              <a:rPr lang="en-US" altLang="zh-CN" dirty="0"/>
              <a:t>,  j=1,2,…,p</a:t>
            </a:r>
            <a:endParaRPr lang="en-US" altLang="zh-CN" baseline="-25000" dirty="0"/>
          </a:p>
          <a:p>
            <a:pPr lvl="1" eaLnBrk="1" hangingPunct="1"/>
            <a:endParaRPr lang="en-US" altLang="zh-CN" sz="1400" dirty="0"/>
          </a:p>
          <a:p>
            <a:pPr lvl="1" eaLnBrk="1" hangingPunct="1"/>
            <a:r>
              <a:rPr lang="zh-CN" altLang="en-US" dirty="0"/>
              <a:t>对于 </a:t>
            </a:r>
            <a:r>
              <a:rPr lang="en-US" altLang="zh-CN" dirty="0"/>
              <a:t>t= 2, 3,… </a:t>
            </a:r>
            <a:br>
              <a:rPr lang="en-US" altLang="zh-CN" dirty="0"/>
            </a:br>
            <a:r>
              <a:rPr lang="en-US" altLang="zh-CN" dirty="0"/>
              <a:t>d</a:t>
            </a:r>
            <a:r>
              <a:rPr lang="en-US" altLang="zh-CN" baseline="30000" dirty="0"/>
              <a:t>t </a:t>
            </a:r>
            <a:r>
              <a:rPr lang="en-US" altLang="zh-CN" dirty="0"/>
              <a:t>(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s</a:t>
            </a:r>
            <a:r>
              <a:rPr lang="en-US" altLang="zh-CN" dirty="0" err="1"/>
              <a:t>,v</a:t>
            </a:r>
            <a:r>
              <a:rPr lang="en-US" altLang="zh-CN" baseline="-25000" dirty="0" err="1"/>
              <a:t>j</a:t>
            </a:r>
            <a:r>
              <a:rPr lang="en-US" altLang="zh-CN" dirty="0"/>
              <a:t>)=min { d</a:t>
            </a:r>
            <a:r>
              <a:rPr lang="en-US" altLang="zh-CN" baseline="30000" dirty="0"/>
              <a:t>t-1 </a:t>
            </a:r>
            <a:r>
              <a:rPr lang="en-US" altLang="zh-CN" dirty="0"/>
              <a:t>(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s</a:t>
            </a:r>
            <a:r>
              <a:rPr lang="en-US" altLang="zh-CN" dirty="0" err="1"/>
              <a:t>,v</a:t>
            </a:r>
            <a:r>
              <a:rPr lang="en-US" altLang="zh-CN" baseline="-25000" dirty="0" err="1"/>
              <a:t>i</a:t>
            </a:r>
            <a:r>
              <a:rPr lang="en-US" altLang="zh-CN" dirty="0"/>
              <a:t>)+</a:t>
            </a:r>
            <a:r>
              <a:rPr lang="en-US" altLang="zh-CN" dirty="0" err="1"/>
              <a:t>w</a:t>
            </a:r>
            <a:r>
              <a:rPr lang="en-US" altLang="zh-CN" baseline="-25000" dirty="0" err="1"/>
              <a:t>ij</a:t>
            </a:r>
            <a:r>
              <a:rPr lang="en-US" altLang="zh-CN" baseline="-25000" dirty="0"/>
              <a:t> </a:t>
            </a:r>
            <a:r>
              <a:rPr lang="en-US" altLang="zh-CN" dirty="0"/>
              <a:t>} ,  j=1,2,…,p</a:t>
            </a:r>
          </a:p>
          <a:p>
            <a:pPr lvl="2" eaLnBrk="1" hangingPunct="1"/>
            <a:r>
              <a:rPr lang="zh-CN" altLang="en-US" dirty="0"/>
              <a:t>同时计下最短路的前一个结点</a:t>
            </a:r>
            <a:r>
              <a:rPr lang="en-US" altLang="zh-CN" dirty="0"/>
              <a:t>vi</a:t>
            </a:r>
          </a:p>
          <a:p>
            <a:pPr lvl="1" eaLnBrk="1" hangingPunct="1"/>
            <a:endParaRPr lang="en-US" altLang="zh-CN" sz="1400" dirty="0"/>
          </a:p>
          <a:p>
            <a:pPr lvl="1" eaLnBrk="1" hangingPunct="1"/>
            <a:r>
              <a:rPr lang="zh-CN" altLang="en-US" dirty="0"/>
              <a:t>若对于 </a:t>
            </a:r>
            <a:r>
              <a:rPr lang="en-US" altLang="zh-CN" dirty="0"/>
              <a:t>j= 1,2,…,p </a:t>
            </a:r>
            <a:r>
              <a:rPr lang="zh-CN" altLang="en-US" dirty="0"/>
              <a:t>有：</a:t>
            </a:r>
            <a:br>
              <a:rPr lang="zh-CN" altLang="en-US" dirty="0"/>
            </a:br>
            <a:r>
              <a:rPr lang="zh-CN" altLang="en-US" dirty="0"/>
              <a:t> </a:t>
            </a:r>
            <a:r>
              <a:rPr lang="en-US" altLang="zh-CN" dirty="0"/>
              <a:t>d</a:t>
            </a:r>
            <a:r>
              <a:rPr lang="en-US" altLang="zh-CN" baseline="30000" dirty="0"/>
              <a:t>t</a:t>
            </a:r>
            <a:r>
              <a:rPr lang="en-US" altLang="zh-CN" dirty="0"/>
              <a:t>(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s</a:t>
            </a:r>
            <a:r>
              <a:rPr lang="en-US" altLang="zh-CN" dirty="0" err="1"/>
              <a:t>,v</a:t>
            </a:r>
            <a:r>
              <a:rPr lang="en-US" altLang="zh-CN" baseline="-25000" dirty="0" err="1"/>
              <a:t>j</a:t>
            </a:r>
            <a:r>
              <a:rPr lang="en-US" altLang="zh-CN" dirty="0"/>
              <a:t>)=d</a:t>
            </a:r>
            <a:r>
              <a:rPr lang="en-US" altLang="zh-CN" baseline="30000" dirty="0"/>
              <a:t>t-1</a:t>
            </a:r>
            <a:r>
              <a:rPr lang="en-US" altLang="zh-CN" dirty="0"/>
              <a:t>(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s</a:t>
            </a:r>
            <a:r>
              <a:rPr lang="en-US" altLang="zh-CN" dirty="0" err="1"/>
              <a:t>,v</a:t>
            </a:r>
            <a:r>
              <a:rPr lang="en-US" altLang="zh-CN" baseline="-25000" dirty="0" err="1"/>
              <a:t>j</a:t>
            </a:r>
            <a:r>
              <a:rPr lang="en-US" altLang="zh-CN" dirty="0"/>
              <a:t>)</a:t>
            </a:r>
            <a:r>
              <a:rPr lang="zh-CN" altLang="en-US" dirty="0"/>
              <a:t>，则</a:t>
            </a:r>
            <a:r>
              <a:rPr lang="en-US" altLang="zh-CN" dirty="0"/>
              <a:t>d</a:t>
            </a:r>
            <a:r>
              <a:rPr lang="en-US" altLang="zh-CN" baseline="30000" dirty="0"/>
              <a:t>t</a:t>
            </a:r>
            <a:r>
              <a:rPr lang="en-US" altLang="zh-CN" dirty="0"/>
              <a:t>(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s</a:t>
            </a:r>
            <a:r>
              <a:rPr lang="en-US" altLang="zh-CN" dirty="0" err="1"/>
              <a:t>,v</a:t>
            </a:r>
            <a:r>
              <a:rPr lang="en-US" altLang="zh-CN" baseline="-25000" dirty="0" err="1"/>
              <a:t>j</a:t>
            </a:r>
            <a:r>
              <a:rPr lang="en-US" altLang="zh-CN" dirty="0"/>
              <a:t>)</a:t>
            </a:r>
            <a:r>
              <a:rPr lang="zh-CN" altLang="en-US" dirty="0"/>
              <a:t>为</a:t>
            </a:r>
            <a:r>
              <a:rPr lang="en-US" altLang="zh-CN" dirty="0"/>
              <a:t>v</a:t>
            </a:r>
            <a:r>
              <a:rPr lang="en-US" altLang="zh-CN" baseline="-25000" dirty="0"/>
              <a:t>s</a:t>
            </a:r>
            <a:r>
              <a:rPr lang="zh-CN" altLang="en-US" dirty="0"/>
              <a:t>到各点的最短路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6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6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46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953C150-CC77-4F89-AF1B-92000C176F5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负权弧</a:t>
            </a:r>
          </a:p>
        </p:txBody>
      </p:sp>
      <p:graphicFrame>
        <p:nvGraphicFramePr>
          <p:cNvPr id="43011" name="Object 4">
            <a:extLst>
              <a:ext uri="{FF2B5EF4-FFF2-40B4-BE49-F238E27FC236}">
                <a16:creationId xmlns:a16="http://schemas.microsoft.com/office/drawing/2014/main" id="{49A1BF41-837D-4281-8C83-4DCD1550BA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846784"/>
              </p:ext>
            </p:extLst>
          </p:nvPr>
        </p:nvGraphicFramePr>
        <p:xfrm>
          <a:off x="4419600" y="1981200"/>
          <a:ext cx="4550074" cy="3805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6" name="SmartDraw" r:id="rId4" imgW="4130040" imgH="3456432" progId="SmartDraw.2">
                  <p:embed/>
                </p:oleObj>
              </mc:Choice>
              <mc:Fallback>
                <p:oleObj name="SmartDraw" r:id="rId4" imgW="4130040" imgH="3456432" progId="SmartDraw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981200"/>
                        <a:ext cx="4550074" cy="38058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431B9A3D-C01E-4D05-93EC-FCB6750440CA}"/>
              </a:ext>
            </a:extLst>
          </p:cNvPr>
          <p:cNvSpPr/>
          <p:nvPr/>
        </p:nvSpPr>
        <p:spPr>
          <a:xfrm>
            <a:off x="269252" y="990600"/>
            <a:ext cx="6019800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 algn="just" eaLnBrk="1" hangingPunct="1"/>
            <a:r>
              <a:rPr lang="zh-CN" altLang="en-US" dirty="0"/>
              <a:t>初始时，</a:t>
            </a:r>
            <a:r>
              <a:rPr lang="en-US" altLang="zh-CN" dirty="0"/>
              <a:t>d</a:t>
            </a:r>
            <a:r>
              <a:rPr lang="en-US" altLang="zh-CN" baseline="30000" dirty="0"/>
              <a:t>1</a:t>
            </a:r>
            <a:r>
              <a:rPr lang="en-US" altLang="zh-CN" dirty="0"/>
              <a:t>(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s</a:t>
            </a:r>
            <a:r>
              <a:rPr lang="en-US" altLang="zh-CN" dirty="0" err="1"/>
              <a:t>,v</a:t>
            </a:r>
            <a:r>
              <a:rPr lang="en-US" altLang="zh-CN" baseline="-25000" dirty="0" err="1"/>
              <a:t>j</a:t>
            </a:r>
            <a:r>
              <a:rPr lang="en-US" altLang="zh-CN" dirty="0"/>
              <a:t>)=</a:t>
            </a:r>
            <a:r>
              <a:rPr lang="en-US" altLang="zh-CN" dirty="0" err="1"/>
              <a:t>w</a:t>
            </a:r>
            <a:r>
              <a:rPr lang="en-US" altLang="zh-CN" baseline="-25000" dirty="0" err="1"/>
              <a:t>sj</a:t>
            </a:r>
            <a:r>
              <a:rPr lang="en-US" altLang="zh-CN" baseline="-25000" dirty="0"/>
              <a:t>  </a:t>
            </a:r>
            <a:r>
              <a:rPr lang="en-US" altLang="zh-CN" dirty="0"/>
              <a:t>,  j=1,2,…,p</a:t>
            </a:r>
            <a:endParaRPr lang="en-US" altLang="zh-CN" baseline="-25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7586383D-4513-4B0B-8023-E0B2D791C8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937252"/>
                  </p:ext>
                </p:extLst>
              </p:nvPr>
            </p:nvGraphicFramePr>
            <p:xfrm>
              <a:off x="174326" y="1752600"/>
              <a:ext cx="4189353" cy="45584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8479">
                      <a:extLst>
                        <a:ext uri="{9D8B030D-6E8A-4147-A177-3AD203B41FA5}">
                          <a16:colId xmlns:a16="http://schemas.microsoft.com/office/drawing/2014/main" val="548367719"/>
                        </a:ext>
                      </a:extLst>
                    </a:gridCol>
                    <a:gridCol w="598479">
                      <a:extLst>
                        <a:ext uri="{9D8B030D-6E8A-4147-A177-3AD203B41FA5}">
                          <a16:colId xmlns:a16="http://schemas.microsoft.com/office/drawing/2014/main" val="3650967919"/>
                        </a:ext>
                      </a:extLst>
                    </a:gridCol>
                    <a:gridCol w="598479">
                      <a:extLst>
                        <a:ext uri="{9D8B030D-6E8A-4147-A177-3AD203B41FA5}">
                          <a16:colId xmlns:a16="http://schemas.microsoft.com/office/drawing/2014/main" val="1284581964"/>
                        </a:ext>
                      </a:extLst>
                    </a:gridCol>
                    <a:gridCol w="598479">
                      <a:extLst>
                        <a:ext uri="{9D8B030D-6E8A-4147-A177-3AD203B41FA5}">
                          <a16:colId xmlns:a16="http://schemas.microsoft.com/office/drawing/2014/main" val="775134888"/>
                        </a:ext>
                      </a:extLst>
                    </a:gridCol>
                    <a:gridCol w="598479">
                      <a:extLst>
                        <a:ext uri="{9D8B030D-6E8A-4147-A177-3AD203B41FA5}">
                          <a16:colId xmlns:a16="http://schemas.microsoft.com/office/drawing/2014/main" val="318413710"/>
                        </a:ext>
                      </a:extLst>
                    </a:gridCol>
                    <a:gridCol w="598479">
                      <a:extLst>
                        <a:ext uri="{9D8B030D-6E8A-4147-A177-3AD203B41FA5}">
                          <a16:colId xmlns:a16="http://schemas.microsoft.com/office/drawing/2014/main" val="1586239779"/>
                        </a:ext>
                      </a:extLst>
                    </a:gridCol>
                    <a:gridCol w="598479">
                      <a:extLst>
                        <a:ext uri="{9D8B030D-6E8A-4147-A177-3AD203B41FA5}">
                          <a16:colId xmlns:a16="http://schemas.microsoft.com/office/drawing/2014/main" val="1812191942"/>
                        </a:ext>
                      </a:extLst>
                    </a:gridCol>
                  </a:tblGrid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1513962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170491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627940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3673274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076711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471206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V6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008780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V7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416612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V8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97065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7586383D-4513-4B0B-8023-E0B2D791C8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937252"/>
                  </p:ext>
                </p:extLst>
              </p:nvPr>
            </p:nvGraphicFramePr>
            <p:xfrm>
              <a:off x="174326" y="1752600"/>
              <a:ext cx="4189353" cy="45584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8479">
                      <a:extLst>
                        <a:ext uri="{9D8B030D-6E8A-4147-A177-3AD203B41FA5}">
                          <a16:colId xmlns:a16="http://schemas.microsoft.com/office/drawing/2014/main" val="548367719"/>
                        </a:ext>
                      </a:extLst>
                    </a:gridCol>
                    <a:gridCol w="598479">
                      <a:extLst>
                        <a:ext uri="{9D8B030D-6E8A-4147-A177-3AD203B41FA5}">
                          <a16:colId xmlns:a16="http://schemas.microsoft.com/office/drawing/2014/main" val="3650967919"/>
                        </a:ext>
                      </a:extLst>
                    </a:gridCol>
                    <a:gridCol w="598479">
                      <a:extLst>
                        <a:ext uri="{9D8B030D-6E8A-4147-A177-3AD203B41FA5}">
                          <a16:colId xmlns:a16="http://schemas.microsoft.com/office/drawing/2014/main" val="1284581964"/>
                        </a:ext>
                      </a:extLst>
                    </a:gridCol>
                    <a:gridCol w="598479">
                      <a:extLst>
                        <a:ext uri="{9D8B030D-6E8A-4147-A177-3AD203B41FA5}">
                          <a16:colId xmlns:a16="http://schemas.microsoft.com/office/drawing/2014/main" val="775134888"/>
                        </a:ext>
                      </a:extLst>
                    </a:gridCol>
                    <a:gridCol w="598479">
                      <a:extLst>
                        <a:ext uri="{9D8B030D-6E8A-4147-A177-3AD203B41FA5}">
                          <a16:colId xmlns:a16="http://schemas.microsoft.com/office/drawing/2014/main" val="318413710"/>
                        </a:ext>
                      </a:extLst>
                    </a:gridCol>
                    <a:gridCol w="598479">
                      <a:extLst>
                        <a:ext uri="{9D8B030D-6E8A-4147-A177-3AD203B41FA5}">
                          <a16:colId xmlns:a16="http://schemas.microsoft.com/office/drawing/2014/main" val="1586239779"/>
                        </a:ext>
                      </a:extLst>
                    </a:gridCol>
                    <a:gridCol w="598479">
                      <a:extLst>
                        <a:ext uri="{9D8B030D-6E8A-4147-A177-3AD203B41FA5}">
                          <a16:colId xmlns:a16="http://schemas.microsoft.com/office/drawing/2014/main" val="1812191942"/>
                        </a:ext>
                      </a:extLst>
                    </a:gridCol>
                  </a:tblGrid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1513962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170491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627940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3673274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076711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2041" t="-507229" r="-405102" b="-303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471206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V6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2041" t="-600000" r="-40510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008780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V7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2041" t="-708434" r="-405102" b="-10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416612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V8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2041" t="-808434" r="-405102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970652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953C150-CC77-4F89-AF1B-92000C176F5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负权弧</a:t>
            </a:r>
          </a:p>
        </p:txBody>
      </p:sp>
      <p:graphicFrame>
        <p:nvGraphicFramePr>
          <p:cNvPr id="43011" name="Object 4">
            <a:extLst>
              <a:ext uri="{FF2B5EF4-FFF2-40B4-BE49-F238E27FC236}">
                <a16:creationId xmlns:a16="http://schemas.microsoft.com/office/drawing/2014/main" id="{49A1BF41-837D-4281-8C83-4DCD1550BA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299186"/>
              </p:ext>
            </p:extLst>
          </p:nvPr>
        </p:nvGraphicFramePr>
        <p:xfrm>
          <a:off x="4724400" y="3854686"/>
          <a:ext cx="3384510" cy="2830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65" name="SmartDraw" r:id="rId4" imgW="4130040" imgH="3456432" progId="SmartDraw.2">
                  <p:embed/>
                </p:oleObj>
              </mc:Choice>
              <mc:Fallback>
                <p:oleObj name="SmartDraw" r:id="rId4" imgW="4130040" imgH="3456432" progId="SmartDraw.2">
                  <p:embed/>
                  <p:pic>
                    <p:nvPicPr>
                      <p:cNvPr id="43011" name="Object 4">
                        <a:extLst>
                          <a:ext uri="{FF2B5EF4-FFF2-40B4-BE49-F238E27FC236}">
                            <a16:creationId xmlns:a16="http://schemas.microsoft.com/office/drawing/2014/main" id="{49A1BF41-837D-4281-8C83-4DCD1550BA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854686"/>
                        <a:ext cx="3384510" cy="28309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431B9A3D-C01E-4D05-93EC-FCB6750440CA}"/>
              </a:ext>
            </a:extLst>
          </p:cNvPr>
          <p:cNvSpPr/>
          <p:nvPr/>
        </p:nvSpPr>
        <p:spPr>
          <a:xfrm>
            <a:off x="76200" y="866593"/>
            <a:ext cx="7391400" cy="9541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 eaLnBrk="1" hangingPunct="1"/>
            <a:r>
              <a:rPr lang="zh-CN" altLang="en-US" dirty="0"/>
              <a:t>对于 </a:t>
            </a:r>
            <a:r>
              <a:rPr lang="en-US" altLang="zh-CN" dirty="0"/>
              <a:t>t= 2, 3,… </a:t>
            </a:r>
            <a:br>
              <a:rPr lang="en-US" altLang="zh-CN" dirty="0"/>
            </a:br>
            <a:r>
              <a:rPr lang="en-US" altLang="zh-CN" dirty="0"/>
              <a:t>d</a:t>
            </a:r>
            <a:r>
              <a:rPr lang="en-US" altLang="zh-CN" baseline="30000" dirty="0"/>
              <a:t>t </a:t>
            </a:r>
            <a:r>
              <a:rPr lang="en-US" altLang="zh-CN" dirty="0"/>
              <a:t>(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s</a:t>
            </a:r>
            <a:r>
              <a:rPr lang="en-US" altLang="zh-CN" dirty="0" err="1"/>
              <a:t>,v</a:t>
            </a:r>
            <a:r>
              <a:rPr lang="en-US" altLang="zh-CN" baseline="-25000" dirty="0" err="1"/>
              <a:t>j</a:t>
            </a:r>
            <a:r>
              <a:rPr lang="en-US" altLang="zh-CN" dirty="0"/>
              <a:t>)=min { d</a:t>
            </a:r>
            <a:r>
              <a:rPr lang="en-US" altLang="zh-CN" baseline="30000" dirty="0"/>
              <a:t>t-1 </a:t>
            </a:r>
            <a:r>
              <a:rPr lang="en-US" altLang="zh-CN" dirty="0"/>
              <a:t>(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s</a:t>
            </a:r>
            <a:r>
              <a:rPr lang="en-US" altLang="zh-CN" dirty="0" err="1"/>
              <a:t>,v</a:t>
            </a:r>
            <a:r>
              <a:rPr lang="en-US" altLang="zh-CN" baseline="-25000" dirty="0" err="1"/>
              <a:t>i</a:t>
            </a:r>
            <a:r>
              <a:rPr lang="en-US" altLang="zh-CN" dirty="0"/>
              <a:t>)+</a:t>
            </a:r>
            <a:r>
              <a:rPr lang="en-US" altLang="zh-CN" dirty="0" err="1"/>
              <a:t>w</a:t>
            </a:r>
            <a:r>
              <a:rPr lang="en-US" altLang="zh-CN" baseline="-25000" dirty="0" err="1"/>
              <a:t>ij</a:t>
            </a:r>
            <a:r>
              <a:rPr lang="en-US" altLang="zh-CN" baseline="-25000" dirty="0"/>
              <a:t> </a:t>
            </a:r>
            <a:r>
              <a:rPr lang="en-US" altLang="zh-CN" dirty="0"/>
              <a:t>} ,  j=1,2,…,p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06019F-9914-4F3B-A1E9-E5739FFE2147}"/>
              </a:ext>
            </a:extLst>
          </p:cNvPr>
          <p:cNvSpPr/>
          <p:nvPr/>
        </p:nvSpPr>
        <p:spPr>
          <a:xfrm>
            <a:off x="4356685" y="1964350"/>
            <a:ext cx="48404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  <a:r>
              <a:rPr lang="en-US" altLang="zh-CN" baseline="30000" dirty="0"/>
              <a:t>2 </a:t>
            </a:r>
            <a:r>
              <a:rPr lang="en-US" altLang="zh-CN" dirty="0"/>
              <a:t>(v</a:t>
            </a:r>
            <a:r>
              <a:rPr lang="en-US" altLang="zh-CN" baseline="-25000" dirty="0"/>
              <a:t>1</a:t>
            </a:r>
            <a:r>
              <a:rPr lang="en-US" altLang="zh-CN" dirty="0"/>
              <a:t>,v</a:t>
            </a:r>
            <a:r>
              <a:rPr lang="en-US" altLang="zh-CN" baseline="-25000" dirty="0"/>
              <a:t>2</a:t>
            </a:r>
            <a:r>
              <a:rPr lang="en-US" altLang="zh-CN" dirty="0"/>
              <a:t>)=min { d</a:t>
            </a:r>
            <a:r>
              <a:rPr lang="en-US" altLang="zh-CN" baseline="30000" dirty="0"/>
              <a:t>1 </a:t>
            </a:r>
            <a:r>
              <a:rPr lang="en-US" altLang="zh-CN" dirty="0"/>
              <a:t>(v</a:t>
            </a:r>
            <a:r>
              <a:rPr lang="en-US" altLang="zh-CN" baseline="-25000" dirty="0"/>
              <a:t>1</a:t>
            </a:r>
            <a:r>
              <a:rPr lang="en-US" altLang="zh-CN" dirty="0"/>
              <a:t>,v</a:t>
            </a:r>
            <a:r>
              <a:rPr lang="en-US" altLang="zh-CN" baseline="-25000" dirty="0"/>
              <a:t>i</a:t>
            </a:r>
            <a:r>
              <a:rPr lang="en-US" altLang="zh-CN" dirty="0"/>
              <a:t>)+w</a:t>
            </a:r>
            <a:r>
              <a:rPr lang="en-US" altLang="zh-CN" baseline="-25000" dirty="0"/>
              <a:t>i2 </a:t>
            </a:r>
            <a:r>
              <a:rPr lang="en-US" altLang="zh-CN" dirty="0"/>
              <a:t>} 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A08A9F-6870-4D87-B881-6E6113DDAA68}"/>
              </a:ext>
            </a:extLst>
          </p:cNvPr>
          <p:cNvSpPr/>
          <p:nvPr/>
        </p:nvSpPr>
        <p:spPr>
          <a:xfrm>
            <a:off x="5652085" y="2379183"/>
            <a:ext cx="303471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= min { d</a:t>
            </a:r>
            <a:r>
              <a:rPr lang="en-US" altLang="zh-CN" sz="2400" baseline="30000" dirty="0"/>
              <a:t>1 </a:t>
            </a:r>
            <a:r>
              <a:rPr lang="en-US" altLang="zh-CN" sz="2400" dirty="0"/>
              <a:t>(v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,v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)+w</a:t>
            </a:r>
            <a:r>
              <a:rPr lang="en-US" altLang="zh-CN" sz="2400" baseline="-25000" dirty="0"/>
              <a:t>12 , </a:t>
            </a:r>
          </a:p>
          <a:p>
            <a:r>
              <a:rPr lang="en-US" altLang="zh-CN" sz="2400" dirty="0"/>
              <a:t>d</a:t>
            </a:r>
            <a:r>
              <a:rPr lang="en-US" altLang="zh-CN" sz="2400" baseline="30000" dirty="0"/>
              <a:t>1 </a:t>
            </a:r>
            <a:r>
              <a:rPr lang="en-US" altLang="zh-CN" sz="2400" dirty="0"/>
              <a:t>(v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,v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)+w</a:t>
            </a:r>
            <a:r>
              <a:rPr lang="en-US" altLang="zh-CN" sz="2400" baseline="-25000" dirty="0"/>
              <a:t>22 </a:t>
            </a:r>
          </a:p>
          <a:p>
            <a:r>
              <a:rPr lang="en-US" altLang="zh-CN" sz="2400" dirty="0"/>
              <a:t>d</a:t>
            </a:r>
            <a:r>
              <a:rPr lang="en-US" altLang="zh-CN" sz="2400" baseline="30000" dirty="0"/>
              <a:t>1 </a:t>
            </a:r>
            <a:r>
              <a:rPr lang="en-US" altLang="zh-CN" sz="2400" dirty="0"/>
              <a:t>(v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,v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)+w</a:t>
            </a:r>
            <a:r>
              <a:rPr lang="en-US" altLang="zh-CN" sz="2400" baseline="-25000" dirty="0"/>
              <a:t>32</a:t>
            </a:r>
          </a:p>
          <a:p>
            <a:r>
              <a:rPr lang="en-US" altLang="zh-CN" sz="2400" dirty="0"/>
              <a:t>d</a:t>
            </a:r>
            <a:r>
              <a:rPr lang="en-US" altLang="zh-CN" sz="2400" baseline="30000" dirty="0"/>
              <a:t>1 </a:t>
            </a:r>
            <a:r>
              <a:rPr lang="en-US" altLang="zh-CN" sz="2400" dirty="0"/>
              <a:t>(v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,v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)+w</a:t>
            </a:r>
            <a:r>
              <a:rPr lang="en-US" altLang="zh-CN" sz="2400" baseline="-25000" dirty="0"/>
              <a:t>42</a:t>
            </a:r>
            <a:r>
              <a:rPr lang="en-US" altLang="zh-CN" sz="2400" dirty="0"/>
              <a:t>} =-5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687D5EAF-DB38-4ACB-9A21-F3743CC2DF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8591744"/>
                  </p:ext>
                </p:extLst>
              </p:nvPr>
            </p:nvGraphicFramePr>
            <p:xfrm>
              <a:off x="166636" y="1964350"/>
              <a:ext cx="4189350" cy="45584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8225">
                      <a:extLst>
                        <a:ext uri="{9D8B030D-6E8A-4147-A177-3AD203B41FA5}">
                          <a16:colId xmlns:a16="http://schemas.microsoft.com/office/drawing/2014/main" val="548367719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1284581964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775134888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318413710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1586239779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1812191942"/>
                        </a:ext>
                      </a:extLst>
                    </a:gridCol>
                  </a:tblGrid>
                  <a:tr h="506494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1513962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170491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-5(v3)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627940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-2(v1)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3673274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-7(v3)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076711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1(v2)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471206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V6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-1(v3)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008780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V7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5(v4)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416612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V8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9706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687D5EAF-DB38-4ACB-9A21-F3743CC2DF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8591744"/>
                  </p:ext>
                </p:extLst>
              </p:nvPr>
            </p:nvGraphicFramePr>
            <p:xfrm>
              <a:off x="166636" y="1964350"/>
              <a:ext cx="4189350" cy="45584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8225">
                      <a:extLst>
                        <a:ext uri="{9D8B030D-6E8A-4147-A177-3AD203B41FA5}">
                          <a16:colId xmlns:a16="http://schemas.microsoft.com/office/drawing/2014/main" val="548367719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1284581964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775134888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318413710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1586239779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1812191942"/>
                        </a:ext>
                      </a:extLst>
                    </a:gridCol>
                  </a:tblGrid>
                  <a:tr h="506494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1513962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170491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-5(v3)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627940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-2(v1)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3673274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-7(v3)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076711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1754" t="-507229" r="-406140" b="-303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1(v2)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471206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V6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1754" t="-600000" r="-40614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-1(v3)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008780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V7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1754" t="-708434" r="-406140" b="-10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5(v4)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416612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V8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1754" t="-808434" r="-406140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0000" t="-808434" r="-302609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97065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17654870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953C150-CC77-4F89-AF1B-92000C176F5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负权弧</a:t>
            </a:r>
          </a:p>
        </p:txBody>
      </p:sp>
      <p:graphicFrame>
        <p:nvGraphicFramePr>
          <p:cNvPr id="43011" name="Object 4">
            <a:extLst>
              <a:ext uri="{FF2B5EF4-FFF2-40B4-BE49-F238E27FC236}">
                <a16:creationId xmlns:a16="http://schemas.microsoft.com/office/drawing/2014/main" id="{49A1BF41-837D-4281-8C83-4DCD1550BA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3854686"/>
          <a:ext cx="3384510" cy="2830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88" name="SmartDraw" r:id="rId4" imgW="4130040" imgH="3456432" progId="SmartDraw.2">
                  <p:embed/>
                </p:oleObj>
              </mc:Choice>
              <mc:Fallback>
                <p:oleObj name="SmartDraw" r:id="rId4" imgW="4130040" imgH="3456432" progId="SmartDraw.2">
                  <p:embed/>
                  <p:pic>
                    <p:nvPicPr>
                      <p:cNvPr id="43011" name="Object 4">
                        <a:extLst>
                          <a:ext uri="{FF2B5EF4-FFF2-40B4-BE49-F238E27FC236}">
                            <a16:creationId xmlns:a16="http://schemas.microsoft.com/office/drawing/2014/main" id="{49A1BF41-837D-4281-8C83-4DCD1550BA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854686"/>
                        <a:ext cx="3384510" cy="28309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431B9A3D-C01E-4D05-93EC-FCB6750440CA}"/>
              </a:ext>
            </a:extLst>
          </p:cNvPr>
          <p:cNvSpPr/>
          <p:nvPr/>
        </p:nvSpPr>
        <p:spPr>
          <a:xfrm>
            <a:off x="76200" y="866593"/>
            <a:ext cx="7391400" cy="9541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 eaLnBrk="1" hangingPunct="1"/>
            <a:r>
              <a:rPr lang="zh-CN" altLang="en-US" dirty="0"/>
              <a:t>对于 </a:t>
            </a:r>
            <a:r>
              <a:rPr lang="en-US" altLang="zh-CN" dirty="0"/>
              <a:t>t= 2, 3,… </a:t>
            </a:r>
            <a:br>
              <a:rPr lang="en-US" altLang="zh-CN" dirty="0"/>
            </a:br>
            <a:r>
              <a:rPr lang="en-US" altLang="zh-CN" dirty="0"/>
              <a:t>d</a:t>
            </a:r>
            <a:r>
              <a:rPr lang="en-US" altLang="zh-CN" baseline="30000" dirty="0"/>
              <a:t>t </a:t>
            </a:r>
            <a:r>
              <a:rPr lang="en-US" altLang="zh-CN" dirty="0"/>
              <a:t>(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s</a:t>
            </a:r>
            <a:r>
              <a:rPr lang="en-US" altLang="zh-CN" dirty="0" err="1"/>
              <a:t>,v</a:t>
            </a:r>
            <a:r>
              <a:rPr lang="en-US" altLang="zh-CN" baseline="-25000" dirty="0" err="1"/>
              <a:t>j</a:t>
            </a:r>
            <a:r>
              <a:rPr lang="en-US" altLang="zh-CN" dirty="0"/>
              <a:t>)=min { d</a:t>
            </a:r>
            <a:r>
              <a:rPr lang="en-US" altLang="zh-CN" baseline="30000" dirty="0"/>
              <a:t>t-1 </a:t>
            </a:r>
            <a:r>
              <a:rPr lang="en-US" altLang="zh-CN" dirty="0"/>
              <a:t>(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s</a:t>
            </a:r>
            <a:r>
              <a:rPr lang="en-US" altLang="zh-CN" dirty="0" err="1"/>
              <a:t>,v</a:t>
            </a:r>
            <a:r>
              <a:rPr lang="en-US" altLang="zh-CN" baseline="-25000" dirty="0" err="1"/>
              <a:t>i</a:t>
            </a:r>
            <a:r>
              <a:rPr lang="en-US" altLang="zh-CN" dirty="0"/>
              <a:t>)+</a:t>
            </a:r>
            <a:r>
              <a:rPr lang="en-US" altLang="zh-CN" dirty="0" err="1"/>
              <a:t>w</a:t>
            </a:r>
            <a:r>
              <a:rPr lang="en-US" altLang="zh-CN" baseline="-25000" dirty="0" err="1"/>
              <a:t>ij</a:t>
            </a:r>
            <a:r>
              <a:rPr lang="en-US" altLang="zh-CN" baseline="-25000" dirty="0"/>
              <a:t> </a:t>
            </a:r>
            <a:r>
              <a:rPr lang="en-US" altLang="zh-CN" dirty="0"/>
              <a:t>} ,  j=1,2,…,p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06019F-9914-4F3B-A1E9-E5739FFE2147}"/>
              </a:ext>
            </a:extLst>
          </p:cNvPr>
          <p:cNvSpPr/>
          <p:nvPr/>
        </p:nvSpPr>
        <p:spPr>
          <a:xfrm>
            <a:off x="4356685" y="1964350"/>
            <a:ext cx="48404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  <a:r>
              <a:rPr lang="en-US" altLang="zh-CN" baseline="30000" dirty="0"/>
              <a:t>3 </a:t>
            </a:r>
            <a:r>
              <a:rPr lang="en-US" altLang="zh-CN" dirty="0"/>
              <a:t>(v</a:t>
            </a:r>
            <a:r>
              <a:rPr lang="en-US" altLang="zh-CN" baseline="-25000" dirty="0"/>
              <a:t>1</a:t>
            </a:r>
            <a:r>
              <a:rPr lang="en-US" altLang="zh-CN" dirty="0"/>
              <a:t>,v</a:t>
            </a:r>
            <a:r>
              <a:rPr lang="en-US" altLang="zh-CN" baseline="-25000" dirty="0"/>
              <a:t>7</a:t>
            </a:r>
            <a:r>
              <a:rPr lang="en-US" altLang="zh-CN" dirty="0"/>
              <a:t>)=min { d</a:t>
            </a:r>
            <a:r>
              <a:rPr lang="en-US" altLang="zh-CN" baseline="30000" dirty="0"/>
              <a:t>2 </a:t>
            </a:r>
            <a:r>
              <a:rPr lang="en-US" altLang="zh-CN" dirty="0"/>
              <a:t>(v</a:t>
            </a:r>
            <a:r>
              <a:rPr lang="en-US" altLang="zh-CN" baseline="-25000" dirty="0"/>
              <a:t>1</a:t>
            </a:r>
            <a:r>
              <a:rPr lang="en-US" altLang="zh-CN" dirty="0"/>
              <a:t>,v</a:t>
            </a:r>
            <a:r>
              <a:rPr lang="en-US" altLang="zh-CN" baseline="-25000" dirty="0"/>
              <a:t>i</a:t>
            </a:r>
            <a:r>
              <a:rPr lang="en-US" altLang="zh-CN" dirty="0"/>
              <a:t>)+w</a:t>
            </a:r>
            <a:r>
              <a:rPr lang="en-US" altLang="zh-CN" baseline="-25000" dirty="0"/>
              <a:t>i7 </a:t>
            </a:r>
            <a:r>
              <a:rPr lang="en-US" altLang="zh-CN" dirty="0"/>
              <a:t>} 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A08A9F-6870-4D87-B881-6E6113DDAA68}"/>
              </a:ext>
            </a:extLst>
          </p:cNvPr>
          <p:cNvSpPr/>
          <p:nvPr/>
        </p:nvSpPr>
        <p:spPr>
          <a:xfrm>
            <a:off x="5652085" y="2379183"/>
            <a:ext cx="303471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= min {d</a:t>
            </a:r>
            <a:r>
              <a:rPr lang="en-US" altLang="zh-CN" sz="2400" baseline="30000" dirty="0"/>
              <a:t>2 </a:t>
            </a:r>
            <a:r>
              <a:rPr lang="en-US" altLang="zh-CN" sz="2400" dirty="0"/>
              <a:t>(v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,v</a:t>
            </a:r>
            <a:r>
              <a:rPr lang="en-US" altLang="zh-CN" sz="2400" baseline="-25000" dirty="0"/>
              <a:t>6</a:t>
            </a:r>
            <a:r>
              <a:rPr lang="en-US" altLang="zh-CN" sz="2400" dirty="0"/>
              <a:t>)+w</a:t>
            </a:r>
            <a:r>
              <a:rPr lang="en-US" altLang="zh-CN" sz="2400" baseline="-25000" dirty="0"/>
              <a:t>67 </a:t>
            </a:r>
            <a:r>
              <a:rPr lang="en-US" altLang="zh-CN" sz="2400" dirty="0"/>
              <a:t>, d</a:t>
            </a:r>
            <a:r>
              <a:rPr lang="en-US" altLang="zh-CN" sz="2400" baseline="30000" dirty="0"/>
              <a:t>2 </a:t>
            </a:r>
            <a:r>
              <a:rPr lang="en-US" altLang="zh-CN" sz="2400" dirty="0"/>
              <a:t>(v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,v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)+w</a:t>
            </a:r>
            <a:r>
              <a:rPr lang="en-US" altLang="zh-CN" sz="2400" baseline="-25000" dirty="0"/>
              <a:t>47</a:t>
            </a:r>
          </a:p>
          <a:p>
            <a:r>
              <a:rPr lang="en-US" altLang="zh-CN" sz="2400" dirty="0"/>
              <a:t>d</a:t>
            </a:r>
            <a:r>
              <a:rPr lang="en-US" altLang="zh-CN" sz="2400" baseline="30000" dirty="0"/>
              <a:t>2 </a:t>
            </a:r>
            <a:r>
              <a:rPr lang="en-US" altLang="zh-CN" sz="2400" dirty="0"/>
              <a:t>(v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,v</a:t>
            </a:r>
            <a:r>
              <a:rPr lang="en-US" altLang="zh-CN" sz="2400" baseline="-25000" dirty="0"/>
              <a:t>8</a:t>
            </a:r>
            <a:r>
              <a:rPr lang="en-US" altLang="zh-CN" sz="2400" dirty="0"/>
              <a:t>)+w</a:t>
            </a:r>
            <a:r>
              <a:rPr lang="en-US" altLang="zh-CN" sz="2400" baseline="-25000" dirty="0"/>
              <a:t>87</a:t>
            </a:r>
            <a:r>
              <a:rPr lang="en-US" altLang="zh-CN" sz="2400" dirty="0"/>
              <a:t>}=-5</a:t>
            </a:r>
          </a:p>
          <a:p>
            <a:r>
              <a:rPr lang="zh-CN" altLang="en-US" sz="2400" dirty="0"/>
              <a:t>选</a:t>
            </a:r>
            <a:r>
              <a:rPr lang="en-US" altLang="zh-CN" sz="2400" dirty="0"/>
              <a:t>v4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687D5EAF-DB38-4ACB-9A21-F3743CC2DF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873631"/>
                  </p:ext>
                </p:extLst>
              </p:nvPr>
            </p:nvGraphicFramePr>
            <p:xfrm>
              <a:off x="166636" y="1964350"/>
              <a:ext cx="4189350" cy="45584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8225">
                      <a:extLst>
                        <a:ext uri="{9D8B030D-6E8A-4147-A177-3AD203B41FA5}">
                          <a16:colId xmlns:a16="http://schemas.microsoft.com/office/drawing/2014/main" val="548367719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1284581964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775134888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318413710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1586239779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1812191942"/>
                        </a:ext>
                      </a:extLst>
                    </a:gridCol>
                  </a:tblGrid>
                  <a:tr h="506494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1513962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170491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-5(v3)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-5(v3)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627940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-2(v1)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-2(v1)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3673274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-7(v3)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-7(v3)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076711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1(v2)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-3(v2)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471206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V6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-1(v3)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-1(v3)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008780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V7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5(v4)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-5(v4)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416612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V8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6(v6)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9706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687D5EAF-DB38-4ACB-9A21-F3743CC2DF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873631"/>
                  </p:ext>
                </p:extLst>
              </p:nvPr>
            </p:nvGraphicFramePr>
            <p:xfrm>
              <a:off x="166636" y="1964350"/>
              <a:ext cx="4189350" cy="45584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8225">
                      <a:extLst>
                        <a:ext uri="{9D8B030D-6E8A-4147-A177-3AD203B41FA5}">
                          <a16:colId xmlns:a16="http://schemas.microsoft.com/office/drawing/2014/main" val="548367719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1284581964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775134888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318413710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1586239779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1812191942"/>
                        </a:ext>
                      </a:extLst>
                    </a:gridCol>
                  </a:tblGrid>
                  <a:tr h="506494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1513962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170491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-5(v3)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-5(v3)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627940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-2(v1)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-2(v1)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3673274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-7(v3)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-7(v3)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076711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1754" t="-507229" r="-406140" b="-303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1(v2)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-3(v2)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471206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V6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1754" t="-600000" r="-40614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-1(v3)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-1(v3)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008780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V7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1754" t="-708434" r="-406140" b="-10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5(v4)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-5(v4)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416612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V8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1754" t="-808434" r="-406140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0000" t="-808434" r="-302609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6(v6)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97065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36438201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953C150-CC77-4F89-AF1B-92000C176F5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负权弧</a:t>
            </a:r>
          </a:p>
        </p:txBody>
      </p:sp>
      <p:graphicFrame>
        <p:nvGraphicFramePr>
          <p:cNvPr id="43011" name="Object 4">
            <a:extLst>
              <a:ext uri="{FF2B5EF4-FFF2-40B4-BE49-F238E27FC236}">
                <a16:creationId xmlns:a16="http://schemas.microsoft.com/office/drawing/2014/main" id="{49A1BF41-837D-4281-8C83-4DCD1550BA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504836"/>
              </p:ext>
            </p:extLst>
          </p:nvPr>
        </p:nvGraphicFramePr>
        <p:xfrm>
          <a:off x="4580198" y="2514600"/>
          <a:ext cx="4348931" cy="3637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11" name="SmartDraw" r:id="rId4" imgW="4130040" imgH="3456432" progId="SmartDraw.2">
                  <p:embed/>
                </p:oleObj>
              </mc:Choice>
              <mc:Fallback>
                <p:oleObj name="SmartDraw" r:id="rId4" imgW="4130040" imgH="3456432" progId="SmartDraw.2">
                  <p:embed/>
                  <p:pic>
                    <p:nvPicPr>
                      <p:cNvPr id="43011" name="Object 4">
                        <a:extLst>
                          <a:ext uri="{FF2B5EF4-FFF2-40B4-BE49-F238E27FC236}">
                            <a16:creationId xmlns:a16="http://schemas.microsoft.com/office/drawing/2014/main" id="{49A1BF41-837D-4281-8C83-4DCD1550BA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0198" y="2514600"/>
                        <a:ext cx="4348931" cy="36376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687D5EAF-DB38-4ACB-9A21-F3743CC2DF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8548946"/>
                  </p:ext>
                </p:extLst>
              </p:nvPr>
            </p:nvGraphicFramePr>
            <p:xfrm>
              <a:off x="166636" y="1964350"/>
              <a:ext cx="4189350" cy="45584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8225">
                      <a:extLst>
                        <a:ext uri="{9D8B030D-6E8A-4147-A177-3AD203B41FA5}">
                          <a16:colId xmlns:a16="http://schemas.microsoft.com/office/drawing/2014/main" val="548367719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1284581964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775134888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318413710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1586239779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1812191942"/>
                        </a:ext>
                      </a:extLst>
                    </a:gridCol>
                  </a:tblGrid>
                  <a:tr h="506494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1513962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170491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-5(v3)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-5(v3)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-5(v3)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627940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-2(v1)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-2(v1)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-2(v1)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3673274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-7(v3)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-7(v3)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-7(v3)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076711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1(v2)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-3(v2)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-3(v2)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471206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V6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-1(v3)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-1(v3)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-1(v3)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008780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V7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5(v4)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-5(v4)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-5(v4)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416612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V8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6(v6)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6(v6)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9706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687D5EAF-DB38-4ACB-9A21-F3743CC2DF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8548946"/>
                  </p:ext>
                </p:extLst>
              </p:nvPr>
            </p:nvGraphicFramePr>
            <p:xfrm>
              <a:off x="166636" y="1964350"/>
              <a:ext cx="4189350" cy="45584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8225">
                      <a:extLst>
                        <a:ext uri="{9D8B030D-6E8A-4147-A177-3AD203B41FA5}">
                          <a16:colId xmlns:a16="http://schemas.microsoft.com/office/drawing/2014/main" val="548367719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1284581964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775134888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318413710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1586239779"/>
                        </a:ext>
                      </a:extLst>
                    </a:gridCol>
                    <a:gridCol w="698225">
                      <a:extLst>
                        <a:ext uri="{9D8B030D-6E8A-4147-A177-3AD203B41FA5}">
                          <a16:colId xmlns:a16="http://schemas.microsoft.com/office/drawing/2014/main" val="1812191942"/>
                        </a:ext>
                      </a:extLst>
                    </a:gridCol>
                  </a:tblGrid>
                  <a:tr h="506494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1513962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170491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-5(v3)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-5(v3)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-5(v3)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627940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-2(v1)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-2(v1)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-2(v1)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3673274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-7(v3)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-7(v3)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-7(v3)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076711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1754" t="-507229" r="-406140" b="-303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1(v2)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-3(v2)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-3(v2)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471206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V6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1754" t="-600000" r="-40614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-1(v3)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-1(v3)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-1(v3)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008780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V7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1754" t="-708434" r="-406140" b="-10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5(v4)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-5(v4)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-5(v4)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4166127"/>
                      </a:ext>
                    </a:extLst>
                  </a:tr>
                  <a:tr h="50649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V8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1754" t="-808434" r="-406140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0000" t="-808434" r="-302609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6(v6)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6(v6)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97065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A75EB0CC-EE52-47AC-A5EE-7522F400BFB8}"/>
              </a:ext>
            </a:extLst>
          </p:cNvPr>
          <p:cNvSpPr/>
          <p:nvPr/>
        </p:nvSpPr>
        <p:spPr>
          <a:xfrm>
            <a:off x="-76200" y="836592"/>
            <a:ext cx="8686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/>
            <a:r>
              <a:rPr lang="zh-CN" altLang="en-US" dirty="0"/>
              <a:t>若对于 </a:t>
            </a:r>
            <a:r>
              <a:rPr lang="en-US" altLang="zh-CN" dirty="0"/>
              <a:t>j= 1,2,…,p </a:t>
            </a:r>
            <a:r>
              <a:rPr lang="zh-CN" altLang="en-US" dirty="0"/>
              <a:t>有：</a:t>
            </a:r>
            <a:br>
              <a:rPr lang="zh-CN" altLang="en-US" dirty="0"/>
            </a:br>
            <a:r>
              <a:rPr lang="zh-CN" altLang="en-US" dirty="0"/>
              <a:t> </a:t>
            </a:r>
            <a:r>
              <a:rPr lang="en-US" altLang="zh-CN" dirty="0"/>
              <a:t>d</a:t>
            </a:r>
            <a:r>
              <a:rPr lang="en-US" altLang="zh-CN" baseline="30000" dirty="0"/>
              <a:t>t</a:t>
            </a:r>
            <a:r>
              <a:rPr lang="en-US" altLang="zh-CN" dirty="0"/>
              <a:t>(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s</a:t>
            </a:r>
            <a:r>
              <a:rPr lang="en-US" altLang="zh-CN" dirty="0" err="1"/>
              <a:t>,v</a:t>
            </a:r>
            <a:r>
              <a:rPr lang="en-US" altLang="zh-CN" baseline="-25000" dirty="0" err="1"/>
              <a:t>j</a:t>
            </a:r>
            <a:r>
              <a:rPr lang="en-US" altLang="zh-CN" dirty="0"/>
              <a:t>)=d</a:t>
            </a:r>
            <a:r>
              <a:rPr lang="en-US" altLang="zh-CN" baseline="30000" dirty="0"/>
              <a:t>t-1</a:t>
            </a:r>
            <a:r>
              <a:rPr lang="en-US" altLang="zh-CN" dirty="0"/>
              <a:t>(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s</a:t>
            </a:r>
            <a:r>
              <a:rPr lang="en-US" altLang="zh-CN" dirty="0" err="1"/>
              <a:t>,v</a:t>
            </a:r>
            <a:r>
              <a:rPr lang="en-US" altLang="zh-CN" baseline="-25000" dirty="0" err="1"/>
              <a:t>j</a:t>
            </a:r>
            <a:r>
              <a:rPr lang="en-US" altLang="zh-CN" dirty="0"/>
              <a:t>)</a:t>
            </a:r>
            <a:r>
              <a:rPr lang="zh-CN" altLang="en-US" dirty="0"/>
              <a:t>，则</a:t>
            </a:r>
            <a:r>
              <a:rPr lang="en-US" altLang="zh-CN" dirty="0"/>
              <a:t>d</a:t>
            </a:r>
            <a:r>
              <a:rPr lang="en-US" altLang="zh-CN" baseline="30000" dirty="0"/>
              <a:t>t</a:t>
            </a:r>
            <a:r>
              <a:rPr lang="en-US" altLang="zh-CN" dirty="0"/>
              <a:t>(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s</a:t>
            </a:r>
            <a:r>
              <a:rPr lang="en-US" altLang="zh-CN" dirty="0" err="1"/>
              <a:t>,v</a:t>
            </a:r>
            <a:r>
              <a:rPr lang="en-US" altLang="zh-CN" baseline="-25000" dirty="0" err="1"/>
              <a:t>j</a:t>
            </a:r>
            <a:r>
              <a:rPr lang="en-US" altLang="zh-CN" dirty="0"/>
              <a:t>)</a:t>
            </a:r>
            <a:r>
              <a:rPr lang="zh-CN" altLang="en-US" dirty="0"/>
              <a:t>为</a:t>
            </a:r>
            <a:r>
              <a:rPr lang="en-US" altLang="zh-CN" dirty="0"/>
              <a:t>v</a:t>
            </a:r>
            <a:r>
              <a:rPr lang="en-US" altLang="zh-CN" baseline="-25000" dirty="0"/>
              <a:t>s</a:t>
            </a:r>
            <a:r>
              <a:rPr lang="zh-CN" altLang="en-US" dirty="0"/>
              <a:t>到各点的最短路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FD7D4A9-B344-44D8-92FC-396443E48264}"/>
              </a:ext>
            </a:extLst>
          </p:cNvPr>
          <p:cNvCxnSpPr>
            <a:cxnSpLocks/>
          </p:cNvCxnSpPr>
          <p:nvPr/>
        </p:nvCxnSpPr>
        <p:spPr bwMode="auto">
          <a:xfrm>
            <a:off x="5910976" y="4419600"/>
            <a:ext cx="1556624" cy="0"/>
          </a:xfrm>
          <a:prstGeom prst="line">
            <a:avLst/>
          </a:prstGeom>
          <a:noFill/>
          <a:ln w="57150" cap="flat" cmpd="sng" algn="ctr">
            <a:solidFill>
              <a:srgbClr val="6C04A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8EB4D67-2D71-4F04-93F5-A1BC28D18A88}"/>
              </a:ext>
            </a:extLst>
          </p:cNvPr>
          <p:cNvCxnSpPr>
            <a:cxnSpLocks/>
          </p:cNvCxnSpPr>
          <p:nvPr/>
        </p:nvCxnSpPr>
        <p:spPr bwMode="auto">
          <a:xfrm>
            <a:off x="4953000" y="4419600"/>
            <a:ext cx="923488" cy="0"/>
          </a:xfrm>
          <a:prstGeom prst="line">
            <a:avLst/>
          </a:prstGeom>
          <a:noFill/>
          <a:ln w="57150" cap="flat" cmpd="sng" algn="ctr">
            <a:solidFill>
              <a:srgbClr val="6C04A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44BEF30-2E71-4707-B901-4370372F9848}"/>
              </a:ext>
            </a:extLst>
          </p:cNvPr>
          <p:cNvCxnSpPr>
            <a:cxnSpLocks/>
          </p:cNvCxnSpPr>
          <p:nvPr/>
        </p:nvCxnSpPr>
        <p:spPr bwMode="auto">
          <a:xfrm>
            <a:off x="7372505" y="4419600"/>
            <a:ext cx="1161895" cy="0"/>
          </a:xfrm>
          <a:prstGeom prst="line">
            <a:avLst/>
          </a:prstGeom>
          <a:noFill/>
          <a:ln w="57150" cap="flat" cmpd="sng" algn="ctr">
            <a:solidFill>
              <a:srgbClr val="6C04A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85387898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AEB86776-D7EF-4366-8A8A-8B76437B35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思考题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E8077812-E596-4651-AEAB-D7F2C84250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如何求图</a:t>
            </a:r>
            <a:r>
              <a:rPr lang="en-US" altLang="zh-CN"/>
              <a:t>D=(V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zh-CN" altLang="en-US"/>
              <a:t>，</a:t>
            </a:r>
            <a:r>
              <a:rPr lang="en-US" altLang="zh-CN"/>
              <a:t>C) </a:t>
            </a:r>
            <a:r>
              <a:rPr lang="zh-CN" altLang="en-US"/>
              <a:t>中，任意两个顶点   </a:t>
            </a:r>
            <a:r>
              <a:rPr lang="en-US" altLang="zh-CN"/>
              <a:t>V</a:t>
            </a:r>
            <a:r>
              <a:rPr lang="en-US" altLang="zh-CN" baseline="-25000"/>
              <a:t>i</a:t>
            </a:r>
            <a:r>
              <a:rPr lang="en-US" altLang="zh-CN"/>
              <a:t>, V</a:t>
            </a:r>
            <a:r>
              <a:rPr lang="en-US" altLang="zh-CN" baseline="-25000"/>
              <a:t>j</a:t>
            </a:r>
            <a:r>
              <a:rPr lang="zh-CN" altLang="en-US"/>
              <a:t>间的最短路？</a:t>
            </a:r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678CACE2-1B49-4579-A44E-6E08558EEC3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第七章之第三节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382FCA4-768B-4F37-B5AA-52B8864B89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网络最大流问题</a:t>
            </a:r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A45CBAD-5FCE-4C31-BF27-2E599341BD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引例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864D391-B02D-464B-BB13-C4D1A7CCDE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联结产地</a:t>
            </a:r>
            <a:r>
              <a:rPr lang="en-US" altLang="zh-CN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与销地</a:t>
            </a:r>
            <a:r>
              <a:rPr lang="en-US" altLang="zh-CN" dirty="0"/>
              <a:t>v</a:t>
            </a:r>
            <a:r>
              <a:rPr lang="en-US" altLang="zh-CN" baseline="-25000" dirty="0"/>
              <a:t>6</a:t>
            </a:r>
            <a:r>
              <a:rPr lang="zh-CN" altLang="en-US" dirty="0"/>
              <a:t>的交通网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弧：运输线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权值：该运输线的最大运输能力 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制定一方案，使从</a:t>
            </a:r>
            <a:r>
              <a:rPr lang="en-US" altLang="zh-CN" dirty="0"/>
              <a:t>v</a:t>
            </a:r>
            <a:r>
              <a:rPr lang="en-US" altLang="zh-CN" baseline="-25000" dirty="0"/>
              <a:t>1 </a:t>
            </a:r>
            <a:r>
              <a:rPr lang="zh-CN" altLang="en-US" dirty="0"/>
              <a:t>运到 </a:t>
            </a:r>
            <a:r>
              <a:rPr lang="en-US" altLang="zh-CN" dirty="0"/>
              <a:t>v</a:t>
            </a:r>
            <a:r>
              <a:rPr lang="en-US" altLang="zh-CN" baseline="-25000" dirty="0"/>
              <a:t>6 </a:t>
            </a:r>
            <a:r>
              <a:rPr lang="zh-CN" altLang="en-US" dirty="0"/>
              <a:t>的产品最多</a:t>
            </a:r>
          </a:p>
        </p:txBody>
      </p:sp>
      <p:sp>
        <p:nvSpPr>
          <p:cNvPr id="46084" name="Oval 4">
            <a:extLst>
              <a:ext uri="{FF2B5EF4-FFF2-40B4-BE49-F238E27FC236}">
                <a16:creationId xmlns:a16="http://schemas.microsoft.com/office/drawing/2014/main" id="{C58A7B59-BDC0-4FF6-AD62-DCBDABAE1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724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6085" name="Oval 5">
            <a:extLst>
              <a:ext uri="{FF2B5EF4-FFF2-40B4-BE49-F238E27FC236}">
                <a16:creationId xmlns:a16="http://schemas.microsoft.com/office/drawing/2014/main" id="{7366BF82-BCA9-462C-A3CF-B55756938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657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v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086" name="Oval 7">
            <a:extLst>
              <a:ext uri="{FF2B5EF4-FFF2-40B4-BE49-F238E27FC236}">
                <a16:creationId xmlns:a16="http://schemas.microsoft.com/office/drawing/2014/main" id="{75C59932-7ADF-4EFA-9F35-D7997261A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7912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6087" name="Oval 8">
            <a:extLst>
              <a:ext uri="{FF2B5EF4-FFF2-40B4-BE49-F238E27FC236}">
                <a16:creationId xmlns:a16="http://schemas.microsoft.com/office/drawing/2014/main" id="{63FEA20B-267C-45D5-A457-52EA3BB06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657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6088" name="Oval 9">
            <a:extLst>
              <a:ext uri="{FF2B5EF4-FFF2-40B4-BE49-F238E27FC236}">
                <a16:creationId xmlns:a16="http://schemas.microsoft.com/office/drawing/2014/main" id="{0FF89C81-0407-44F8-921C-966AD9C28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7912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6089" name="Oval 10">
            <a:extLst>
              <a:ext uri="{FF2B5EF4-FFF2-40B4-BE49-F238E27FC236}">
                <a16:creationId xmlns:a16="http://schemas.microsoft.com/office/drawing/2014/main" id="{F973DBED-97B8-4E97-A402-157AE49E6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724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6090" name="Line 12">
            <a:extLst>
              <a:ext uri="{FF2B5EF4-FFF2-40B4-BE49-F238E27FC236}">
                <a16:creationId xmlns:a16="http://schemas.microsoft.com/office/drawing/2014/main" id="{66E2BC0C-7058-4794-8461-E47A0510DC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40386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1" name="Line 13">
            <a:extLst>
              <a:ext uri="{FF2B5EF4-FFF2-40B4-BE49-F238E27FC236}">
                <a16:creationId xmlns:a16="http://schemas.microsoft.com/office/drawing/2014/main" id="{FCDB36F2-CF24-4ED6-90C6-10C7B8D7A5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5105400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2" name="Line 14">
            <a:extLst>
              <a:ext uri="{FF2B5EF4-FFF2-40B4-BE49-F238E27FC236}">
                <a16:creationId xmlns:a16="http://schemas.microsoft.com/office/drawing/2014/main" id="{54A13B16-4589-4D1B-8843-28EF5E8A6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1148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3" name="Line 15">
            <a:extLst>
              <a:ext uri="{FF2B5EF4-FFF2-40B4-BE49-F238E27FC236}">
                <a16:creationId xmlns:a16="http://schemas.microsoft.com/office/drawing/2014/main" id="{386BAA90-B768-43CD-8C38-9232610693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8862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4" name="Line 16">
            <a:extLst>
              <a:ext uri="{FF2B5EF4-FFF2-40B4-BE49-F238E27FC236}">
                <a16:creationId xmlns:a16="http://schemas.microsoft.com/office/drawing/2014/main" id="{963A20EA-A703-4AA5-8E75-E8EC7F7B92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60198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5" name="Line 17">
            <a:extLst>
              <a:ext uri="{FF2B5EF4-FFF2-40B4-BE49-F238E27FC236}">
                <a16:creationId xmlns:a16="http://schemas.microsoft.com/office/drawing/2014/main" id="{A664A137-3513-42E5-935A-7E9FB8B813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41148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6" name="Line 18">
            <a:extLst>
              <a:ext uri="{FF2B5EF4-FFF2-40B4-BE49-F238E27FC236}">
                <a16:creationId xmlns:a16="http://schemas.microsoft.com/office/drawing/2014/main" id="{4A7DDA04-552B-4AAE-93A4-A2DB7E905F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4038600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7" name="Line 19">
            <a:extLst>
              <a:ext uri="{FF2B5EF4-FFF2-40B4-BE49-F238E27FC236}">
                <a16:creationId xmlns:a16="http://schemas.microsoft.com/office/drawing/2014/main" id="{86E27113-08FD-49A7-815C-3B6AA78A40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4038600"/>
            <a:ext cx="19050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8" name="Line 20">
            <a:extLst>
              <a:ext uri="{FF2B5EF4-FFF2-40B4-BE49-F238E27FC236}">
                <a16:creationId xmlns:a16="http://schemas.microsoft.com/office/drawing/2014/main" id="{13AB65B2-46B1-4920-A32A-4EE4A10071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038600"/>
            <a:ext cx="1600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9" name="Line 21">
            <a:extLst>
              <a:ext uri="{FF2B5EF4-FFF2-40B4-BE49-F238E27FC236}">
                <a16:creationId xmlns:a16="http://schemas.microsoft.com/office/drawing/2014/main" id="{47299815-B57B-42E3-9ECC-57A99F542A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5105400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00" name="Text Box 22">
            <a:extLst>
              <a:ext uri="{FF2B5EF4-FFF2-40B4-BE49-F238E27FC236}">
                <a16:creationId xmlns:a16="http://schemas.microsoft.com/office/drawing/2014/main" id="{01EF080B-9274-4560-904D-441797C43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038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10</a:t>
            </a:r>
          </a:p>
        </p:txBody>
      </p:sp>
      <p:sp>
        <p:nvSpPr>
          <p:cNvPr id="46101" name="Text Box 23">
            <a:extLst>
              <a:ext uri="{FF2B5EF4-FFF2-40B4-BE49-F238E27FC236}">
                <a16:creationId xmlns:a16="http://schemas.microsoft.com/office/drawing/2014/main" id="{FD10AB9B-1ECA-49F2-AD3D-6E8821E75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334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8</a:t>
            </a:r>
          </a:p>
        </p:txBody>
      </p:sp>
      <p:sp>
        <p:nvSpPr>
          <p:cNvPr id="46102" name="Text Box 24">
            <a:extLst>
              <a:ext uri="{FF2B5EF4-FFF2-40B4-BE49-F238E27FC236}">
                <a16:creationId xmlns:a16="http://schemas.microsoft.com/office/drawing/2014/main" id="{2B298AEA-D1F6-4DC6-AD9F-51651F214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429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46103" name="Text Box 25">
            <a:extLst>
              <a:ext uri="{FF2B5EF4-FFF2-40B4-BE49-F238E27FC236}">
                <a16:creationId xmlns:a16="http://schemas.microsoft.com/office/drawing/2014/main" id="{6290F4F4-13AC-4F93-97E3-452D75263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943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6</a:t>
            </a:r>
          </a:p>
        </p:txBody>
      </p:sp>
      <p:sp>
        <p:nvSpPr>
          <p:cNvPr id="46104" name="Text Box 26">
            <a:extLst>
              <a:ext uri="{FF2B5EF4-FFF2-40B4-BE49-F238E27FC236}">
                <a16:creationId xmlns:a16="http://schemas.microsoft.com/office/drawing/2014/main" id="{CEE7BBE2-666B-478A-AF23-10288E0E5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038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46105" name="Text Box 27">
            <a:extLst>
              <a:ext uri="{FF2B5EF4-FFF2-40B4-BE49-F238E27FC236}">
                <a16:creationId xmlns:a16="http://schemas.microsoft.com/office/drawing/2014/main" id="{7DA70AD9-B154-43CE-974D-5EEECCED3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334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46106" name="Text Box 28">
            <a:extLst>
              <a:ext uri="{FF2B5EF4-FFF2-40B4-BE49-F238E27FC236}">
                <a16:creationId xmlns:a16="http://schemas.microsoft.com/office/drawing/2014/main" id="{5EAD2403-759A-421E-B5F2-3625F4B8F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3962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11</a:t>
            </a:r>
          </a:p>
        </p:txBody>
      </p:sp>
      <p:sp>
        <p:nvSpPr>
          <p:cNvPr id="46107" name="Text Box 29">
            <a:extLst>
              <a:ext uri="{FF2B5EF4-FFF2-40B4-BE49-F238E27FC236}">
                <a16:creationId xmlns:a16="http://schemas.microsoft.com/office/drawing/2014/main" id="{7CB8FC6D-9A79-4034-9CDD-0E6BDDA28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648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46108" name="Text Box 30">
            <a:extLst>
              <a:ext uri="{FF2B5EF4-FFF2-40B4-BE49-F238E27FC236}">
                <a16:creationId xmlns:a16="http://schemas.microsoft.com/office/drawing/2014/main" id="{C5C2ED24-D4DD-472F-8C0B-5B334F0E6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486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17</a:t>
            </a:r>
          </a:p>
        </p:txBody>
      </p:sp>
      <p:sp>
        <p:nvSpPr>
          <p:cNvPr id="46109" name="Text Box 31">
            <a:extLst>
              <a:ext uri="{FF2B5EF4-FFF2-40B4-BE49-F238E27FC236}">
                <a16:creationId xmlns:a16="http://schemas.microsoft.com/office/drawing/2014/main" id="{9CF3A60A-C2E7-48F7-8B85-A4188BF01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648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4</a:t>
            </a:r>
          </a:p>
        </p:txBody>
      </p:sp>
      <p:sp>
        <p:nvSpPr>
          <p:cNvPr id="253984" name="Text Box 32">
            <a:extLst>
              <a:ext uri="{FF2B5EF4-FFF2-40B4-BE49-F238E27FC236}">
                <a16:creationId xmlns:a16="http://schemas.microsoft.com/office/drawing/2014/main" id="{1B45A898-7A69-4CA4-BA4F-0DBACE689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53985" name="Text Box 33">
            <a:extLst>
              <a:ext uri="{FF2B5EF4-FFF2-40B4-BE49-F238E27FC236}">
                <a16:creationId xmlns:a16="http://schemas.microsoft.com/office/drawing/2014/main" id="{2EA77E8A-7B92-440A-B99D-67ED70158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56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53986" name="Text Box 34">
            <a:extLst>
              <a:ext uri="{FF2B5EF4-FFF2-40B4-BE49-F238E27FC236}">
                <a16:creationId xmlns:a16="http://schemas.microsoft.com/office/drawing/2014/main" id="{6775E139-D39D-4A87-BEDB-4550BB2B9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53987" name="Text Box 35">
            <a:extLst>
              <a:ext uri="{FF2B5EF4-FFF2-40B4-BE49-F238E27FC236}">
                <a16:creationId xmlns:a16="http://schemas.microsoft.com/office/drawing/2014/main" id="{3D1AE520-59BB-42EF-AC96-F5DF46D86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26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53988" name="Text Box 36">
            <a:extLst>
              <a:ext uri="{FF2B5EF4-FFF2-40B4-BE49-F238E27FC236}">
                <a16:creationId xmlns:a16="http://schemas.microsoft.com/office/drawing/2014/main" id="{BE7DBD75-AA18-4ACC-A2B5-EC933F467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029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53989" name="Text Box 37">
            <a:extLst>
              <a:ext uri="{FF2B5EF4-FFF2-40B4-BE49-F238E27FC236}">
                <a16:creationId xmlns:a16="http://schemas.microsoft.com/office/drawing/2014/main" id="{5C149602-3AAB-4A32-A11B-B37778189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105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53990" name="Text Box 38">
            <a:extLst>
              <a:ext uri="{FF2B5EF4-FFF2-40B4-BE49-F238E27FC236}">
                <a16:creationId xmlns:a16="http://schemas.microsoft.com/office/drawing/2014/main" id="{F62B4AAB-E495-4BDC-8BD2-2AE725EF4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943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53991" name="Text Box 39">
            <a:extLst>
              <a:ext uri="{FF2B5EF4-FFF2-40B4-BE49-F238E27FC236}">
                <a16:creationId xmlns:a16="http://schemas.microsoft.com/office/drawing/2014/main" id="{DDF5B996-2579-49AB-B65E-F61D24A5A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114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53992" name="Text Box 40">
            <a:extLst>
              <a:ext uri="{FF2B5EF4-FFF2-40B4-BE49-F238E27FC236}">
                <a16:creationId xmlns:a16="http://schemas.microsoft.com/office/drawing/2014/main" id="{F5082C4C-D3A4-40D5-B1DA-1A9F22E23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953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53993" name="Text Box 41">
            <a:extLst>
              <a:ext uri="{FF2B5EF4-FFF2-40B4-BE49-F238E27FC236}">
                <a16:creationId xmlns:a16="http://schemas.microsoft.com/office/drawing/2014/main" id="{FEB53462-990C-4515-806D-AF0669D7F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33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84" grpId="0"/>
      <p:bldP spid="253985" grpId="0"/>
      <p:bldP spid="253986" grpId="0"/>
      <p:bldP spid="253987" grpId="0"/>
      <p:bldP spid="253988" grpId="0"/>
      <p:bldP spid="253989" grpId="0"/>
      <p:bldP spid="253990" grpId="0"/>
      <p:bldP spid="253991" grpId="0"/>
      <p:bldP spid="253992" grpId="0"/>
      <p:bldP spid="25399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A45CBAD-5FCE-4C31-BF27-2E599341BD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引例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864D391-B02D-464B-BB13-C4D1A7CCDE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联结产地</a:t>
            </a:r>
            <a:r>
              <a:rPr lang="en-US" altLang="zh-CN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与销地</a:t>
            </a:r>
            <a:r>
              <a:rPr lang="en-US" altLang="zh-CN" dirty="0"/>
              <a:t>v</a:t>
            </a:r>
            <a:r>
              <a:rPr lang="en-US" altLang="zh-CN" baseline="-25000" dirty="0"/>
              <a:t>6</a:t>
            </a:r>
            <a:r>
              <a:rPr lang="zh-CN" altLang="en-US" dirty="0"/>
              <a:t>的交通网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弧：运输线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权值：该运输线的最大运输能力 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制定一方案，使从</a:t>
            </a:r>
            <a:r>
              <a:rPr lang="en-US" altLang="zh-CN" dirty="0"/>
              <a:t>v</a:t>
            </a:r>
            <a:r>
              <a:rPr lang="en-US" altLang="zh-CN" baseline="-25000" dirty="0"/>
              <a:t>1 </a:t>
            </a:r>
            <a:r>
              <a:rPr lang="zh-CN" altLang="en-US" dirty="0"/>
              <a:t>运到 </a:t>
            </a:r>
            <a:r>
              <a:rPr lang="en-US" altLang="zh-CN" dirty="0"/>
              <a:t>v</a:t>
            </a:r>
            <a:r>
              <a:rPr lang="en-US" altLang="zh-CN" baseline="-25000" dirty="0"/>
              <a:t>6 </a:t>
            </a:r>
            <a:r>
              <a:rPr lang="zh-CN" altLang="en-US" dirty="0"/>
              <a:t>的产品最多</a:t>
            </a:r>
          </a:p>
        </p:txBody>
      </p:sp>
      <p:sp>
        <p:nvSpPr>
          <p:cNvPr id="46084" name="Oval 4">
            <a:extLst>
              <a:ext uri="{FF2B5EF4-FFF2-40B4-BE49-F238E27FC236}">
                <a16:creationId xmlns:a16="http://schemas.microsoft.com/office/drawing/2014/main" id="{C58A7B59-BDC0-4FF6-AD62-DCBDABAE1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724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6085" name="Oval 5">
            <a:extLst>
              <a:ext uri="{FF2B5EF4-FFF2-40B4-BE49-F238E27FC236}">
                <a16:creationId xmlns:a16="http://schemas.microsoft.com/office/drawing/2014/main" id="{7366BF82-BCA9-462C-A3CF-B55756938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657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v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086" name="Oval 7">
            <a:extLst>
              <a:ext uri="{FF2B5EF4-FFF2-40B4-BE49-F238E27FC236}">
                <a16:creationId xmlns:a16="http://schemas.microsoft.com/office/drawing/2014/main" id="{75C59932-7ADF-4EFA-9F35-D7997261A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7912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6087" name="Oval 8">
            <a:extLst>
              <a:ext uri="{FF2B5EF4-FFF2-40B4-BE49-F238E27FC236}">
                <a16:creationId xmlns:a16="http://schemas.microsoft.com/office/drawing/2014/main" id="{63FEA20B-267C-45D5-A457-52EA3BB06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657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6088" name="Oval 9">
            <a:extLst>
              <a:ext uri="{FF2B5EF4-FFF2-40B4-BE49-F238E27FC236}">
                <a16:creationId xmlns:a16="http://schemas.microsoft.com/office/drawing/2014/main" id="{0FF89C81-0407-44F8-921C-966AD9C28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7912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6089" name="Oval 10">
            <a:extLst>
              <a:ext uri="{FF2B5EF4-FFF2-40B4-BE49-F238E27FC236}">
                <a16:creationId xmlns:a16="http://schemas.microsoft.com/office/drawing/2014/main" id="{F973DBED-97B8-4E97-A402-157AE49E6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724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6090" name="Line 12">
            <a:extLst>
              <a:ext uri="{FF2B5EF4-FFF2-40B4-BE49-F238E27FC236}">
                <a16:creationId xmlns:a16="http://schemas.microsoft.com/office/drawing/2014/main" id="{66E2BC0C-7058-4794-8461-E47A0510DC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40386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1" name="Line 13">
            <a:extLst>
              <a:ext uri="{FF2B5EF4-FFF2-40B4-BE49-F238E27FC236}">
                <a16:creationId xmlns:a16="http://schemas.microsoft.com/office/drawing/2014/main" id="{FCDB36F2-CF24-4ED6-90C6-10C7B8D7A5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5105400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2" name="Line 14">
            <a:extLst>
              <a:ext uri="{FF2B5EF4-FFF2-40B4-BE49-F238E27FC236}">
                <a16:creationId xmlns:a16="http://schemas.microsoft.com/office/drawing/2014/main" id="{54A13B16-4589-4D1B-8843-28EF5E8A6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1148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3" name="Line 15">
            <a:extLst>
              <a:ext uri="{FF2B5EF4-FFF2-40B4-BE49-F238E27FC236}">
                <a16:creationId xmlns:a16="http://schemas.microsoft.com/office/drawing/2014/main" id="{386BAA90-B768-43CD-8C38-9232610693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8862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4" name="Line 16">
            <a:extLst>
              <a:ext uri="{FF2B5EF4-FFF2-40B4-BE49-F238E27FC236}">
                <a16:creationId xmlns:a16="http://schemas.microsoft.com/office/drawing/2014/main" id="{963A20EA-A703-4AA5-8E75-E8EC7F7B92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60198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5" name="Line 17">
            <a:extLst>
              <a:ext uri="{FF2B5EF4-FFF2-40B4-BE49-F238E27FC236}">
                <a16:creationId xmlns:a16="http://schemas.microsoft.com/office/drawing/2014/main" id="{A664A137-3513-42E5-935A-7E9FB8B813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41148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6" name="Line 18">
            <a:extLst>
              <a:ext uri="{FF2B5EF4-FFF2-40B4-BE49-F238E27FC236}">
                <a16:creationId xmlns:a16="http://schemas.microsoft.com/office/drawing/2014/main" id="{4A7DDA04-552B-4AAE-93A4-A2DB7E905F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4038600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7" name="Line 19">
            <a:extLst>
              <a:ext uri="{FF2B5EF4-FFF2-40B4-BE49-F238E27FC236}">
                <a16:creationId xmlns:a16="http://schemas.microsoft.com/office/drawing/2014/main" id="{86E27113-08FD-49A7-815C-3B6AA78A40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4038600"/>
            <a:ext cx="19050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8" name="Line 20">
            <a:extLst>
              <a:ext uri="{FF2B5EF4-FFF2-40B4-BE49-F238E27FC236}">
                <a16:creationId xmlns:a16="http://schemas.microsoft.com/office/drawing/2014/main" id="{13AB65B2-46B1-4920-A32A-4EE4A10071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038600"/>
            <a:ext cx="1600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9" name="Line 21">
            <a:extLst>
              <a:ext uri="{FF2B5EF4-FFF2-40B4-BE49-F238E27FC236}">
                <a16:creationId xmlns:a16="http://schemas.microsoft.com/office/drawing/2014/main" id="{47299815-B57B-42E3-9ECC-57A99F542A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5105400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00" name="Text Box 22">
            <a:extLst>
              <a:ext uri="{FF2B5EF4-FFF2-40B4-BE49-F238E27FC236}">
                <a16:creationId xmlns:a16="http://schemas.microsoft.com/office/drawing/2014/main" id="{01EF080B-9274-4560-904D-441797C43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038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10</a:t>
            </a:r>
          </a:p>
        </p:txBody>
      </p:sp>
      <p:sp>
        <p:nvSpPr>
          <p:cNvPr id="46101" name="Text Box 23">
            <a:extLst>
              <a:ext uri="{FF2B5EF4-FFF2-40B4-BE49-F238E27FC236}">
                <a16:creationId xmlns:a16="http://schemas.microsoft.com/office/drawing/2014/main" id="{FD10AB9B-1ECA-49F2-AD3D-6E8821E75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334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8</a:t>
            </a:r>
          </a:p>
        </p:txBody>
      </p:sp>
      <p:sp>
        <p:nvSpPr>
          <p:cNvPr id="46102" name="Text Box 24">
            <a:extLst>
              <a:ext uri="{FF2B5EF4-FFF2-40B4-BE49-F238E27FC236}">
                <a16:creationId xmlns:a16="http://schemas.microsoft.com/office/drawing/2014/main" id="{2B298AEA-D1F6-4DC6-AD9F-51651F214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429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46103" name="Text Box 25">
            <a:extLst>
              <a:ext uri="{FF2B5EF4-FFF2-40B4-BE49-F238E27FC236}">
                <a16:creationId xmlns:a16="http://schemas.microsoft.com/office/drawing/2014/main" id="{6290F4F4-13AC-4F93-97E3-452D75263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943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6</a:t>
            </a:r>
          </a:p>
        </p:txBody>
      </p:sp>
      <p:sp>
        <p:nvSpPr>
          <p:cNvPr id="46104" name="Text Box 26">
            <a:extLst>
              <a:ext uri="{FF2B5EF4-FFF2-40B4-BE49-F238E27FC236}">
                <a16:creationId xmlns:a16="http://schemas.microsoft.com/office/drawing/2014/main" id="{CEE7BBE2-666B-478A-AF23-10288E0E5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038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46105" name="Text Box 27">
            <a:extLst>
              <a:ext uri="{FF2B5EF4-FFF2-40B4-BE49-F238E27FC236}">
                <a16:creationId xmlns:a16="http://schemas.microsoft.com/office/drawing/2014/main" id="{7DA70AD9-B154-43CE-974D-5EEECCED3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334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46106" name="Text Box 28">
            <a:extLst>
              <a:ext uri="{FF2B5EF4-FFF2-40B4-BE49-F238E27FC236}">
                <a16:creationId xmlns:a16="http://schemas.microsoft.com/office/drawing/2014/main" id="{5EAD2403-759A-421E-B5F2-3625F4B8F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3962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11</a:t>
            </a:r>
          </a:p>
        </p:txBody>
      </p:sp>
      <p:sp>
        <p:nvSpPr>
          <p:cNvPr id="46107" name="Text Box 29">
            <a:extLst>
              <a:ext uri="{FF2B5EF4-FFF2-40B4-BE49-F238E27FC236}">
                <a16:creationId xmlns:a16="http://schemas.microsoft.com/office/drawing/2014/main" id="{7CB8FC6D-9A79-4034-9CDD-0E6BDDA28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648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46108" name="Text Box 30">
            <a:extLst>
              <a:ext uri="{FF2B5EF4-FFF2-40B4-BE49-F238E27FC236}">
                <a16:creationId xmlns:a16="http://schemas.microsoft.com/office/drawing/2014/main" id="{C5C2ED24-D4DD-472F-8C0B-5B334F0E6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486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17</a:t>
            </a:r>
          </a:p>
        </p:txBody>
      </p:sp>
      <p:sp>
        <p:nvSpPr>
          <p:cNvPr id="46109" name="Text Box 31">
            <a:extLst>
              <a:ext uri="{FF2B5EF4-FFF2-40B4-BE49-F238E27FC236}">
                <a16:creationId xmlns:a16="http://schemas.microsoft.com/office/drawing/2014/main" id="{9CF3A60A-C2E7-48F7-8B85-A4188BF01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648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4</a:t>
            </a:r>
          </a:p>
        </p:txBody>
      </p:sp>
      <p:sp>
        <p:nvSpPr>
          <p:cNvPr id="253984" name="Text Box 32">
            <a:extLst>
              <a:ext uri="{FF2B5EF4-FFF2-40B4-BE49-F238E27FC236}">
                <a16:creationId xmlns:a16="http://schemas.microsoft.com/office/drawing/2014/main" id="{1B45A898-7A69-4CA4-BA4F-0DBACE689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53985" name="Text Box 33">
            <a:extLst>
              <a:ext uri="{FF2B5EF4-FFF2-40B4-BE49-F238E27FC236}">
                <a16:creationId xmlns:a16="http://schemas.microsoft.com/office/drawing/2014/main" id="{2EA77E8A-7B92-440A-B99D-67ED70158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56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53986" name="Text Box 34">
            <a:extLst>
              <a:ext uri="{FF2B5EF4-FFF2-40B4-BE49-F238E27FC236}">
                <a16:creationId xmlns:a16="http://schemas.microsoft.com/office/drawing/2014/main" id="{6775E139-D39D-4A87-BEDB-4550BB2B9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53987" name="Text Box 35">
            <a:extLst>
              <a:ext uri="{FF2B5EF4-FFF2-40B4-BE49-F238E27FC236}">
                <a16:creationId xmlns:a16="http://schemas.microsoft.com/office/drawing/2014/main" id="{3D1AE520-59BB-42EF-AC96-F5DF46D86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26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53988" name="Text Box 36">
            <a:extLst>
              <a:ext uri="{FF2B5EF4-FFF2-40B4-BE49-F238E27FC236}">
                <a16:creationId xmlns:a16="http://schemas.microsoft.com/office/drawing/2014/main" id="{BE7DBD75-AA18-4ACC-A2B5-EC933F467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029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53989" name="Text Box 37">
            <a:extLst>
              <a:ext uri="{FF2B5EF4-FFF2-40B4-BE49-F238E27FC236}">
                <a16:creationId xmlns:a16="http://schemas.microsoft.com/office/drawing/2014/main" id="{5C149602-3AAB-4A32-A11B-B37778189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105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53990" name="Text Box 38">
            <a:extLst>
              <a:ext uri="{FF2B5EF4-FFF2-40B4-BE49-F238E27FC236}">
                <a16:creationId xmlns:a16="http://schemas.microsoft.com/office/drawing/2014/main" id="{F62B4AAB-E495-4BDC-8BD2-2AE725EF4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943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53991" name="Text Box 39">
            <a:extLst>
              <a:ext uri="{FF2B5EF4-FFF2-40B4-BE49-F238E27FC236}">
                <a16:creationId xmlns:a16="http://schemas.microsoft.com/office/drawing/2014/main" id="{DDF5B996-2579-49AB-B65E-F61D24A5A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114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53992" name="Text Box 40">
            <a:extLst>
              <a:ext uri="{FF2B5EF4-FFF2-40B4-BE49-F238E27FC236}">
                <a16:creationId xmlns:a16="http://schemas.microsoft.com/office/drawing/2014/main" id="{F5082C4C-D3A4-40D5-B1DA-1A9F22E23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953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53993" name="Text Box 41">
            <a:extLst>
              <a:ext uri="{FF2B5EF4-FFF2-40B4-BE49-F238E27FC236}">
                <a16:creationId xmlns:a16="http://schemas.microsoft.com/office/drawing/2014/main" id="{FEB53462-990C-4515-806D-AF0669D7F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33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EE690A8-A088-4A2C-9FA4-728159C82306}"/>
              </a:ext>
            </a:extLst>
          </p:cNvPr>
          <p:cNvGrpSpPr/>
          <p:nvPr/>
        </p:nvGrpSpPr>
        <p:grpSpPr>
          <a:xfrm>
            <a:off x="2460619" y="3423633"/>
            <a:ext cx="4586442" cy="3101236"/>
            <a:chOff x="2460619" y="3423633"/>
            <a:chExt cx="4586442" cy="3101236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01B2BD20-04BB-4D22-88A8-496274275CE9}"/>
                </a:ext>
              </a:extLst>
            </p:cNvPr>
            <p:cNvSpPr txBox="1"/>
            <p:nvPr/>
          </p:nvSpPr>
          <p:spPr>
            <a:xfrm>
              <a:off x="2569972" y="3423633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+1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DF2723D-8A81-410B-84F9-F7E2785A8423}"/>
                </a:ext>
              </a:extLst>
            </p:cNvPr>
            <p:cNvSpPr txBox="1"/>
            <p:nvPr/>
          </p:nvSpPr>
          <p:spPr>
            <a:xfrm>
              <a:off x="2460619" y="4810077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+1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85B9975A-959D-4617-8B2B-FC88CF243E72}"/>
                </a:ext>
              </a:extLst>
            </p:cNvPr>
            <p:cNvSpPr txBox="1"/>
            <p:nvPr/>
          </p:nvSpPr>
          <p:spPr>
            <a:xfrm>
              <a:off x="4744506" y="6001649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+1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61C4BC2-5DB5-4502-B32B-A17F1ACCF213}"/>
                </a:ext>
              </a:extLst>
            </p:cNvPr>
            <p:cNvSpPr txBox="1"/>
            <p:nvPr/>
          </p:nvSpPr>
          <p:spPr>
            <a:xfrm>
              <a:off x="6477674" y="5701368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+1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77532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A45CBAD-5FCE-4C31-BF27-2E599341BD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引例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864D391-B02D-464B-BB13-C4D1A7CCDE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联结产地</a:t>
            </a:r>
            <a:r>
              <a:rPr lang="en-US" altLang="zh-CN"/>
              <a:t>v</a:t>
            </a:r>
            <a:r>
              <a:rPr lang="en-US" altLang="zh-CN" baseline="-25000"/>
              <a:t>1</a:t>
            </a:r>
            <a:r>
              <a:rPr lang="zh-CN" altLang="en-US"/>
              <a:t>与销地</a:t>
            </a:r>
            <a:r>
              <a:rPr lang="en-US" altLang="zh-CN"/>
              <a:t>v</a:t>
            </a:r>
            <a:r>
              <a:rPr lang="en-US" altLang="zh-CN" baseline="-25000"/>
              <a:t>6</a:t>
            </a:r>
            <a:r>
              <a:rPr lang="zh-CN" altLang="en-US"/>
              <a:t>的交通网</a:t>
            </a:r>
            <a:endParaRPr lang="en-US" altLang="zh-CN"/>
          </a:p>
          <a:p>
            <a:pPr lvl="1" eaLnBrk="1" hangingPunct="1"/>
            <a:r>
              <a:rPr lang="zh-CN" altLang="en-US"/>
              <a:t>弧：运输线</a:t>
            </a:r>
            <a:endParaRPr lang="en-US" altLang="zh-CN"/>
          </a:p>
          <a:p>
            <a:pPr lvl="1" eaLnBrk="1" hangingPunct="1"/>
            <a:r>
              <a:rPr lang="zh-CN" altLang="en-US"/>
              <a:t>权值：该运输线的最大运输能力 </a:t>
            </a:r>
            <a:endParaRPr lang="en-US" altLang="zh-CN"/>
          </a:p>
          <a:p>
            <a:pPr lvl="1" eaLnBrk="1" hangingPunct="1"/>
            <a:r>
              <a:rPr lang="zh-CN" altLang="en-US"/>
              <a:t>制定一方案，使从</a:t>
            </a:r>
            <a:r>
              <a:rPr lang="en-US" altLang="zh-CN"/>
              <a:t>v</a:t>
            </a:r>
            <a:r>
              <a:rPr lang="en-US" altLang="zh-CN" baseline="-25000"/>
              <a:t>1 </a:t>
            </a:r>
            <a:r>
              <a:rPr lang="zh-CN" altLang="en-US"/>
              <a:t>运到 </a:t>
            </a:r>
            <a:r>
              <a:rPr lang="en-US" altLang="zh-CN"/>
              <a:t>v</a:t>
            </a:r>
            <a:r>
              <a:rPr lang="en-US" altLang="zh-CN" baseline="-25000"/>
              <a:t>6 </a:t>
            </a:r>
            <a:r>
              <a:rPr lang="zh-CN" altLang="en-US"/>
              <a:t>的产品最多</a:t>
            </a:r>
          </a:p>
        </p:txBody>
      </p:sp>
      <p:sp>
        <p:nvSpPr>
          <p:cNvPr id="46084" name="Oval 4">
            <a:extLst>
              <a:ext uri="{FF2B5EF4-FFF2-40B4-BE49-F238E27FC236}">
                <a16:creationId xmlns:a16="http://schemas.microsoft.com/office/drawing/2014/main" id="{C58A7B59-BDC0-4FF6-AD62-DCBDABAE1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724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6085" name="Oval 5">
            <a:extLst>
              <a:ext uri="{FF2B5EF4-FFF2-40B4-BE49-F238E27FC236}">
                <a16:creationId xmlns:a16="http://schemas.microsoft.com/office/drawing/2014/main" id="{7366BF82-BCA9-462C-A3CF-B55756938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657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086" name="Oval 7">
            <a:extLst>
              <a:ext uri="{FF2B5EF4-FFF2-40B4-BE49-F238E27FC236}">
                <a16:creationId xmlns:a16="http://schemas.microsoft.com/office/drawing/2014/main" id="{75C59932-7ADF-4EFA-9F35-D7997261A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7912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6087" name="Oval 8">
            <a:extLst>
              <a:ext uri="{FF2B5EF4-FFF2-40B4-BE49-F238E27FC236}">
                <a16:creationId xmlns:a16="http://schemas.microsoft.com/office/drawing/2014/main" id="{63FEA20B-267C-45D5-A457-52EA3BB06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657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6088" name="Oval 9">
            <a:extLst>
              <a:ext uri="{FF2B5EF4-FFF2-40B4-BE49-F238E27FC236}">
                <a16:creationId xmlns:a16="http://schemas.microsoft.com/office/drawing/2014/main" id="{0FF89C81-0407-44F8-921C-966AD9C28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7912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6089" name="Oval 10">
            <a:extLst>
              <a:ext uri="{FF2B5EF4-FFF2-40B4-BE49-F238E27FC236}">
                <a16:creationId xmlns:a16="http://schemas.microsoft.com/office/drawing/2014/main" id="{F973DBED-97B8-4E97-A402-157AE49E6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724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6090" name="Line 12">
            <a:extLst>
              <a:ext uri="{FF2B5EF4-FFF2-40B4-BE49-F238E27FC236}">
                <a16:creationId xmlns:a16="http://schemas.microsoft.com/office/drawing/2014/main" id="{66E2BC0C-7058-4794-8461-E47A0510DC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40386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1" name="Line 13">
            <a:extLst>
              <a:ext uri="{FF2B5EF4-FFF2-40B4-BE49-F238E27FC236}">
                <a16:creationId xmlns:a16="http://schemas.microsoft.com/office/drawing/2014/main" id="{FCDB36F2-CF24-4ED6-90C6-10C7B8D7A5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5105400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2" name="Line 14">
            <a:extLst>
              <a:ext uri="{FF2B5EF4-FFF2-40B4-BE49-F238E27FC236}">
                <a16:creationId xmlns:a16="http://schemas.microsoft.com/office/drawing/2014/main" id="{54A13B16-4589-4D1B-8843-28EF5E8A6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1148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3" name="Line 15">
            <a:extLst>
              <a:ext uri="{FF2B5EF4-FFF2-40B4-BE49-F238E27FC236}">
                <a16:creationId xmlns:a16="http://schemas.microsoft.com/office/drawing/2014/main" id="{386BAA90-B768-43CD-8C38-9232610693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8862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4" name="Line 16">
            <a:extLst>
              <a:ext uri="{FF2B5EF4-FFF2-40B4-BE49-F238E27FC236}">
                <a16:creationId xmlns:a16="http://schemas.microsoft.com/office/drawing/2014/main" id="{963A20EA-A703-4AA5-8E75-E8EC7F7B92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60198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5" name="Line 17">
            <a:extLst>
              <a:ext uri="{FF2B5EF4-FFF2-40B4-BE49-F238E27FC236}">
                <a16:creationId xmlns:a16="http://schemas.microsoft.com/office/drawing/2014/main" id="{A664A137-3513-42E5-935A-7E9FB8B813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41148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6" name="Line 18">
            <a:extLst>
              <a:ext uri="{FF2B5EF4-FFF2-40B4-BE49-F238E27FC236}">
                <a16:creationId xmlns:a16="http://schemas.microsoft.com/office/drawing/2014/main" id="{4A7DDA04-552B-4AAE-93A4-A2DB7E905F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4038600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7" name="Line 19">
            <a:extLst>
              <a:ext uri="{FF2B5EF4-FFF2-40B4-BE49-F238E27FC236}">
                <a16:creationId xmlns:a16="http://schemas.microsoft.com/office/drawing/2014/main" id="{86E27113-08FD-49A7-815C-3B6AA78A40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4038600"/>
            <a:ext cx="19050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8" name="Line 20">
            <a:extLst>
              <a:ext uri="{FF2B5EF4-FFF2-40B4-BE49-F238E27FC236}">
                <a16:creationId xmlns:a16="http://schemas.microsoft.com/office/drawing/2014/main" id="{13AB65B2-46B1-4920-A32A-4EE4A10071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038600"/>
            <a:ext cx="1600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9" name="Line 21">
            <a:extLst>
              <a:ext uri="{FF2B5EF4-FFF2-40B4-BE49-F238E27FC236}">
                <a16:creationId xmlns:a16="http://schemas.microsoft.com/office/drawing/2014/main" id="{47299815-B57B-42E3-9ECC-57A99F542A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5105400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00" name="Text Box 22">
            <a:extLst>
              <a:ext uri="{FF2B5EF4-FFF2-40B4-BE49-F238E27FC236}">
                <a16:creationId xmlns:a16="http://schemas.microsoft.com/office/drawing/2014/main" id="{01EF080B-9274-4560-904D-441797C43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038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10</a:t>
            </a:r>
          </a:p>
        </p:txBody>
      </p:sp>
      <p:sp>
        <p:nvSpPr>
          <p:cNvPr id="46101" name="Text Box 23">
            <a:extLst>
              <a:ext uri="{FF2B5EF4-FFF2-40B4-BE49-F238E27FC236}">
                <a16:creationId xmlns:a16="http://schemas.microsoft.com/office/drawing/2014/main" id="{FD10AB9B-1ECA-49F2-AD3D-6E8821E75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334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8</a:t>
            </a:r>
          </a:p>
        </p:txBody>
      </p:sp>
      <p:sp>
        <p:nvSpPr>
          <p:cNvPr id="46102" name="Text Box 24">
            <a:extLst>
              <a:ext uri="{FF2B5EF4-FFF2-40B4-BE49-F238E27FC236}">
                <a16:creationId xmlns:a16="http://schemas.microsoft.com/office/drawing/2014/main" id="{2B298AEA-D1F6-4DC6-AD9F-51651F214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429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46103" name="Text Box 25">
            <a:extLst>
              <a:ext uri="{FF2B5EF4-FFF2-40B4-BE49-F238E27FC236}">
                <a16:creationId xmlns:a16="http://schemas.microsoft.com/office/drawing/2014/main" id="{6290F4F4-13AC-4F93-97E3-452D75263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943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6</a:t>
            </a:r>
          </a:p>
        </p:txBody>
      </p:sp>
      <p:sp>
        <p:nvSpPr>
          <p:cNvPr id="46104" name="Text Box 26">
            <a:extLst>
              <a:ext uri="{FF2B5EF4-FFF2-40B4-BE49-F238E27FC236}">
                <a16:creationId xmlns:a16="http://schemas.microsoft.com/office/drawing/2014/main" id="{CEE7BBE2-666B-478A-AF23-10288E0E5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038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46105" name="Text Box 27">
            <a:extLst>
              <a:ext uri="{FF2B5EF4-FFF2-40B4-BE49-F238E27FC236}">
                <a16:creationId xmlns:a16="http://schemas.microsoft.com/office/drawing/2014/main" id="{7DA70AD9-B154-43CE-974D-5EEECCED3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334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46106" name="Text Box 28">
            <a:extLst>
              <a:ext uri="{FF2B5EF4-FFF2-40B4-BE49-F238E27FC236}">
                <a16:creationId xmlns:a16="http://schemas.microsoft.com/office/drawing/2014/main" id="{5EAD2403-759A-421E-B5F2-3625F4B8F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3962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11</a:t>
            </a:r>
          </a:p>
        </p:txBody>
      </p:sp>
      <p:sp>
        <p:nvSpPr>
          <p:cNvPr id="46107" name="Text Box 29">
            <a:extLst>
              <a:ext uri="{FF2B5EF4-FFF2-40B4-BE49-F238E27FC236}">
                <a16:creationId xmlns:a16="http://schemas.microsoft.com/office/drawing/2014/main" id="{7CB8FC6D-9A79-4034-9CDD-0E6BDDA28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648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46108" name="Text Box 30">
            <a:extLst>
              <a:ext uri="{FF2B5EF4-FFF2-40B4-BE49-F238E27FC236}">
                <a16:creationId xmlns:a16="http://schemas.microsoft.com/office/drawing/2014/main" id="{C5C2ED24-D4DD-472F-8C0B-5B334F0E6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486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17</a:t>
            </a:r>
          </a:p>
        </p:txBody>
      </p:sp>
      <p:sp>
        <p:nvSpPr>
          <p:cNvPr id="46109" name="Text Box 31">
            <a:extLst>
              <a:ext uri="{FF2B5EF4-FFF2-40B4-BE49-F238E27FC236}">
                <a16:creationId xmlns:a16="http://schemas.microsoft.com/office/drawing/2014/main" id="{9CF3A60A-C2E7-48F7-8B85-A4188BF01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648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4</a:t>
            </a:r>
          </a:p>
        </p:txBody>
      </p:sp>
      <p:sp>
        <p:nvSpPr>
          <p:cNvPr id="253984" name="Text Box 32">
            <a:extLst>
              <a:ext uri="{FF2B5EF4-FFF2-40B4-BE49-F238E27FC236}">
                <a16:creationId xmlns:a16="http://schemas.microsoft.com/office/drawing/2014/main" id="{1B45A898-7A69-4CA4-BA4F-0DBACE689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53985" name="Text Box 33">
            <a:extLst>
              <a:ext uri="{FF2B5EF4-FFF2-40B4-BE49-F238E27FC236}">
                <a16:creationId xmlns:a16="http://schemas.microsoft.com/office/drawing/2014/main" id="{2EA77E8A-7B92-440A-B99D-67ED70158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56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53986" name="Text Box 34">
            <a:extLst>
              <a:ext uri="{FF2B5EF4-FFF2-40B4-BE49-F238E27FC236}">
                <a16:creationId xmlns:a16="http://schemas.microsoft.com/office/drawing/2014/main" id="{6775E139-D39D-4A87-BEDB-4550BB2B9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53987" name="Text Box 35">
            <a:extLst>
              <a:ext uri="{FF2B5EF4-FFF2-40B4-BE49-F238E27FC236}">
                <a16:creationId xmlns:a16="http://schemas.microsoft.com/office/drawing/2014/main" id="{3D1AE520-59BB-42EF-AC96-F5DF46D86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26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53988" name="Text Box 36">
            <a:extLst>
              <a:ext uri="{FF2B5EF4-FFF2-40B4-BE49-F238E27FC236}">
                <a16:creationId xmlns:a16="http://schemas.microsoft.com/office/drawing/2014/main" id="{BE7DBD75-AA18-4ACC-A2B5-EC933F467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029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53989" name="Text Box 37">
            <a:extLst>
              <a:ext uri="{FF2B5EF4-FFF2-40B4-BE49-F238E27FC236}">
                <a16:creationId xmlns:a16="http://schemas.microsoft.com/office/drawing/2014/main" id="{5C149602-3AAB-4A32-A11B-B37778189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105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53990" name="Text Box 38">
            <a:extLst>
              <a:ext uri="{FF2B5EF4-FFF2-40B4-BE49-F238E27FC236}">
                <a16:creationId xmlns:a16="http://schemas.microsoft.com/office/drawing/2014/main" id="{F62B4AAB-E495-4BDC-8BD2-2AE725EF4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943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53991" name="Text Box 39">
            <a:extLst>
              <a:ext uri="{FF2B5EF4-FFF2-40B4-BE49-F238E27FC236}">
                <a16:creationId xmlns:a16="http://schemas.microsoft.com/office/drawing/2014/main" id="{DDF5B996-2579-49AB-B65E-F61D24A5A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114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53992" name="Text Box 40">
            <a:extLst>
              <a:ext uri="{FF2B5EF4-FFF2-40B4-BE49-F238E27FC236}">
                <a16:creationId xmlns:a16="http://schemas.microsoft.com/office/drawing/2014/main" id="{F5082C4C-D3A4-40D5-B1DA-1A9F22E23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953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53993" name="Text Box 41">
            <a:extLst>
              <a:ext uri="{FF2B5EF4-FFF2-40B4-BE49-F238E27FC236}">
                <a16:creationId xmlns:a16="http://schemas.microsoft.com/office/drawing/2014/main" id="{FEB53462-990C-4515-806D-AF0669D7F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33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3566843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84" grpId="0"/>
      <p:bldP spid="253985" grpId="0"/>
      <p:bldP spid="253986" grpId="0"/>
      <p:bldP spid="253987" grpId="0"/>
      <p:bldP spid="253988" grpId="0"/>
      <p:bldP spid="253989" grpId="0"/>
      <p:bldP spid="253990" grpId="0"/>
      <p:bldP spid="253991" grpId="0"/>
      <p:bldP spid="253992" grpId="0"/>
      <p:bldP spid="25399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61FA7042-036D-43D3-A71D-9851E5947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一般提法</a:t>
            </a:r>
          </a:p>
        </p:txBody>
      </p:sp>
      <p:sp>
        <p:nvSpPr>
          <p:cNvPr id="254979" name="Rectangle 3">
            <a:extLst>
              <a:ext uri="{FF2B5EF4-FFF2-40B4-BE49-F238E27FC236}">
                <a16:creationId xmlns:a16="http://schemas.microsoft.com/office/drawing/2014/main" id="{FA0FF16C-BACB-45E0-AE05-F8052161E3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设有网络</a:t>
            </a:r>
            <a:r>
              <a:rPr lang="en-US" altLang="zh-CN"/>
              <a:t>D=(V, A, C)</a:t>
            </a:r>
            <a:r>
              <a:rPr lang="zh-CN" altLang="en-US"/>
              <a:t>，其中</a:t>
            </a:r>
            <a:r>
              <a:rPr lang="en-US" altLang="zh-CN"/>
              <a:t>C={c</a:t>
            </a:r>
            <a:r>
              <a:rPr lang="en-US" altLang="zh-CN" baseline="-25000"/>
              <a:t>ij</a:t>
            </a:r>
            <a:r>
              <a:rPr lang="en-US" altLang="zh-CN"/>
              <a:t>}</a:t>
            </a:r>
            <a:r>
              <a:rPr lang="zh-CN" altLang="en-US"/>
              <a:t>，</a:t>
            </a:r>
            <a:r>
              <a:rPr lang="en-US" altLang="zh-CN"/>
              <a:t>c</a:t>
            </a:r>
            <a:r>
              <a:rPr lang="en-US" altLang="zh-CN" baseline="-25000"/>
              <a:t>ij</a:t>
            </a:r>
            <a:r>
              <a:rPr lang="zh-CN" altLang="en-US"/>
              <a:t>为弧</a:t>
            </a:r>
            <a:r>
              <a:rPr lang="en-US" altLang="zh-CN"/>
              <a:t>(v</a:t>
            </a:r>
            <a:r>
              <a:rPr lang="en-US" altLang="zh-CN" baseline="-25000"/>
              <a:t>i</a:t>
            </a:r>
            <a:r>
              <a:rPr lang="en-US" altLang="zh-CN"/>
              <a:t>,v</a:t>
            </a:r>
            <a:r>
              <a:rPr lang="en-US" altLang="zh-CN" baseline="-25000"/>
              <a:t>j</a:t>
            </a:r>
            <a:r>
              <a:rPr lang="en-US" altLang="zh-CN"/>
              <a:t>) </a:t>
            </a:r>
            <a:r>
              <a:rPr lang="zh-CN" altLang="en-US"/>
              <a:t>的</a:t>
            </a:r>
            <a:r>
              <a:rPr lang="zh-CN" altLang="en-US">
                <a:solidFill>
                  <a:srgbClr val="000080"/>
                </a:solidFill>
              </a:rPr>
              <a:t>容量</a:t>
            </a:r>
            <a:r>
              <a:rPr lang="zh-CN" altLang="en-US"/>
              <a:t>，现在</a:t>
            </a:r>
            <a:r>
              <a:rPr lang="en-US" altLang="zh-CN"/>
              <a:t>D</a:t>
            </a:r>
            <a:r>
              <a:rPr lang="zh-CN" altLang="en-US"/>
              <a:t>上要通过一个流</a:t>
            </a:r>
            <a:r>
              <a:rPr lang="en-US" altLang="zh-CN" i="1"/>
              <a:t>f</a:t>
            </a:r>
            <a:r>
              <a:rPr lang="en-US" altLang="zh-CN"/>
              <a:t>={</a:t>
            </a:r>
            <a:r>
              <a:rPr lang="en-US" altLang="zh-CN" i="1"/>
              <a:t>f</a:t>
            </a:r>
            <a:r>
              <a:rPr lang="en-US" altLang="zh-CN" baseline="-25000"/>
              <a:t>ij</a:t>
            </a:r>
            <a:r>
              <a:rPr lang="en-US" altLang="zh-CN"/>
              <a:t>}</a:t>
            </a:r>
            <a:r>
              <a:rPr lang="zh-CN" altLang="en-US"/>
              <a:t>，</a:t>
            </a:r>
            <a:r>
              <a:rPr lang="en-US" altLang="zh-CN" i="1"/>
              <a:t>f</a:t>
            </a:r>
            <a:r>
              <a:rPr lang="en-US" altLang="zh-CN" baseline="-25000"/>
              <a:t>ij</a:t>
            </a:r>
            <a:r>
              <a:rPr lang="zh-CN" altLang="en-US"/>
              <a:t>为弧</a:t>
            </a:r>
            <a:r>
              <a:rPr lang="en-US" altLang="zh-CN"/>
              <a:t>(v</a:t>
            </a:r>
            <a:r>
              <a:rPr lang="en-US" altLang="zh-CN" baseline="-25000"/>
              <a:t>i</a:t>
            </a:r>
            <a:r>
              <a:rPr lang="en-US" altLang="zh-CN"/>
              <a:t>,v</a:t>
            </a:r>
            <a:r>
              <a:rPr lang="en-US" altLang="zh-CN" baseline="-25000"/>
              <a:t>j</a:t>
            </a:r>
            <a:r>
              <a:rPr lang="en-US" altLang="zh-CN"/>
              <a:t>)</a:t>
            </a:r>
            <a:r>
              <a:rPr lang="zh-CN" altLang="en-US"/>
              <a:t>上的</a:t>
            </a:r>
            <a:r>
              <a:rPr lang="zh-CN" altLang="en-US">
                <a:solidFill>
                  <a:srgbClr val="000080"/>
                </a:solidFill>
              </a:rPr>
              <a:t>流量</a:t>
            </a:r>
            <a:r>
              <a:rPr lang="zh-CN" altLang="en-US"/>
              <a:t>。</a:t>
            </a:r>
          </a:p>
          <a:p>
            <a:pPr eaLnBrk="1" hangingPunct="1"/>
            <a:r>
              <a:rPr lang="zh-CN" altLang="en-US"/>
              <a:t>如何安排</a:t>
            </a:r>
            <a:r>
              <a:rPr lang="en-US" altLang="zh-CN" i="1"/>
              <a:t>f</a:t>
            </a:r>
            <a:r>
              <a:rPr lang="en-US" altLang="zh-CN" baseline="-25000"/>
              <a:t>ij</a:t>
            </a:r>
            <a:r>
              <a:rPr lang="zh-CN" altLang="en-US"/>
              <a:t>，使</a:t>
            </a:r>
            <a:r>
              <a:rPr lang="en-US" altLang="zh-CN"/>
              <a:t>D</a:t>
            </a:r>
            <a:r>
              <a:rPr lang="zh-CN" altLang="en-US"/>
              <a:t>上的总流量</a:t>
            </a:r>
            <a:r>
              <a:rPr lang="en-US" altLang="zh-CN"/>
              <a:t>v</a:t>
            </a:r>
            <a:r>
              <a:rPr lang="zh-CN" altLang="en-US"/>
              <a:t>最大？</a:t>
            </a:r>
          </a:p>
          <a:p>
            <a:pPr eaLnBrk="1" hangingPunct="1"/>
            <a:endParaRPr lang="zh-CN" altLang="en-US"/>
          </a:p>
          <a:p>
            <a:pPr eaLnBrk="1" hangingPunct="1">
              <a:spcBef>
                <a:spcPts val="50"/>
              </a:spcBef>
            </a:pPr>
            <a:endParaRPr lang="en-US" altLang="zh-CN"/>
          </a:p>
        </p:txBody>
      </p:sp>
      <p:sp>
        <p:nvSpPr>
          <p:cNvPr id="254980" name="Oval 4">
            <a:extLst>
              <a:ext uri="{FF2B5EF4-FFF2-40B4-BE49-F238E27FC236}">
                <a16:creationId xmlns:a16="http://schemas.microsoft.com/office/drawing/2014/main" id="{F0C999D7-923E-4342-9409-65285734B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724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8133" name="Oval 5">
            <a:extLst>
              <a:ext uri="{FF2B5EF4-FFF2-40B4-BE49-F238E27FC236}">
                <a16:creationId xmlns:a16="http://schemas.microsoft.com/office/drawing/2014/main" id="{354B42ED-DBDE-482D-89D7-D36969C27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657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8134" name="Oval 6">
            <a:extLst>
              <a:ext uri="{FF2B5EF4-FFF2-40B4-BE49-F238E27FC236}">
                <a16:creationId xmlns:a16="http://schemas.microsoft.com/office/drawing/2014/main" id="{1F7C2482-8724-4C19-A09C-05660FDB7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7912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8135" name="Oval 7">
            <a:extLst>
              <a:ext uri="{FF2B5EF4-FFF2-40B4-BE49-F238E27FC236}">
                <a16:creationId xmlns:a16="http://schemas.microsoft.com/office/drawing/2014/main" id="{74B13A2A-D104-447D-80EF-7B0A57AAF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657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8136" name="Oval 8">
            <a:extLst>
              <a:ext uri="{FF2B5EF4-FFF2-40B4-BE49-F238E27FC236}">
                <a16:creationId xmlns:a16="http://schemas.microsoft.com/office/drawing/2014/main" id="{647E40F8-5AA8-4867-A499-99AAB23C1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7912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54985" name="Oval 9">
            <a:extLst>
              <a:ext uri="{FF2B5EF4-FFF2-40B4-BE49-F238E27FC236}">
                <a16:creationId xmlns:a16="http://schemas.microsoft.com/office/drawing/2014/main" id="{12AE01A2-CE3D-4BC8-A571-BCD004B6D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724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8138" name="Line 10">
            <a:extLst>
              <a:ext uri="{FF2B5EF4-FFF2-40B4-BE49-F238E27FC236}">
                <a16:creationId xmlns:a16="http://schemas.microsoft.com/office/drawing/2014/main" id="{02EEE269-2FF2-4371-90CF-4326FB979B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40386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9" name="Line 11">
            <a:extLst>
              <a:ext uri="{FF2B5EF4-FFF2-40B4-BE49-F238E27FC236}">
                <a16:creationId xmlns:a16="http://schemas.microsoft.com/office/drawing/2014/main" id="{EF0A1D10-84F2-46AC-AE5E-99CF58EBB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5105400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0" name="Line 12">
            <a:extLst>
              <a:ext uri="{FF2B5EF4-FFF2-40B4-BE49-F238E27FC236}">
                <a16:creationId xmlns:a16="http://schemas.microsoft.com/office/drawing/2014/main" id="{BF6F7E29-8798-4542-89E1-C2A120B02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1148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1" name="Line 13">
            <a:extLst>
              <a:ext uri="{FF2B5EF4-FFF2-40B4-BE49-F238E27FC236}">
                <a16:creationId xmlns:a16="http://schemas.microsoft.com/office/drawing/2014/main" id="{D06C40F3-AA71-4745-A719-4CF2407C03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8862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2" name="Line 14">
            <a:extLst>
              <a:ext uri="{FF2B5EF4-FFF2-40B4-BE49-F238E27FC236}">
                <a16:creationId xmlns:a16="http://schemas.microsoft.com/office/drawing/2014/main" id="{29A62AFB-A91E-4319-95C6-447C6A317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60198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3" name="Line 15">
            <a:extLst>
              <a:ext uri="{FF2B5EF4-FFF2-40B4-BE49-F238E27FC236}">
                <a16:creationId xmlns:a16="http://schemas.microsoft.com/office/drawing/2014/main" id="{7D35FC20-0A09-4459-A915-8D6255F1DA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41148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4" name="Line 16">
            <a:extLst>
              <a:ext uri="{FF2B5EF4-FFF2-40B4-BE49-F238E27FC236}">
                <a16:creationId xmlns:a16="http://schemas.microsoft.com/office/drawing/2014/main" id="{65049F5F-1627-4693-80D3-DF820C9E94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4038600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5" name="Line 17">
            <a:extLst>
              <a:ext uri="{FF2B5EF4-FFF2-40B4-BE49-F238E27FC236}">
                <a16:creationId xmlns:a16="http://schemas.microsoft.com/office/drawing/2014/main" id="{29FB017D-2DCB-4C12-9DF2-B54BE316A2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4038600"/>
            <a:ext cx="19050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6" name="Line 18">
            <a:extLst>
              <a:ext uri="{FF2B5EF4-FFF2-40B4-BE49-F238E27FC236}">
                <a16:creationId xmlns:a16="http://schemas.microsoft.com/office/drawing/2014/main" id="{5BC3FB6B-3735-4459-AB68-33AC3A3728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038600"/>
            <a:ext cx="1600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7" name="Line 19">
            <a:extLst>
              <a:ext uri="{FF2B5EF4-FFF2-40B4-BE49-F238E27FC236}">
                <a16:creationId xmlns:a16="http://schemas.microsoft.com/office/drawing/2014/main" id="{2DAA6E4C-C3D7-4DB9-8566-146A8776BC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5105400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8" name="Text Box 20">
            <a:extLst>
              <a:ext uri="{FF2B5EF4-FFF2-40B4-BE49-F238E27FC236}">
                <a16:creationId xmlns:a16="http://schemas.microsoft.com/office/drawing/2014/main" id="{50352527-6C96-41E7-BE8D-27271D7F5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038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10</a:t>
            </a:r>
          </a:p>
        </p:txBody>
      </p:sp>
      <p:sp>
        <p:nvSpPr>
          <p:cNvPr id="48149" name="Text Box 21">
            <a:extLst>
              <a:ext uri="{FF2B5EF4-FFF2-40B4-BE49-F238E27FC236}">
                <a16:creationId xmlns:a16="http://schemas.microsoft.com/office/drawing/2014/main" id="{D4752EB5-ABB6-4505-B90C-A699BF208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334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8</a:t>
            </a:r>
          </a:p>
        </p:txBody>
      </p:sp>
      <p:sp>
        <p:nvSpPr>
          <p:cNvPr id="48150" name="Text Box 22">
            <a:extLst>
              <a:ext uri="{FF2B5EF4-FFF2-40B4-BE49-F238E27FC236}">
                <a16:creationId xmlns:a16="http://schemas.microsoft.com/office/drawing/2014/main" id="{E44F17A5-4601-468C-ADBB-CEF76F71D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429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48151" name="Text Box 23">
            <a:extLst>
              <a:ext uri="{FF2B5EF4-FFF2-40B4-BE49-F238E27FC236}">
                <a16:creationId xmlns:a16="http://schemas.microsoft.com/office/drawing/2014/main" id="{182BA304-5213-4B83-A108-115A49320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943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6</a:t>
            </a:r>
          </a:p>
        </p:txBody>
      </p:sp>
      <p:sp>
        <p:nvSpPr>
          <p:cNvPr id="48152" name="Text Box 24">
            <a:extLst>
              <a:ext uri="{FF2B5EF4-FFF2-40B4-BE49-F238E27FC236}">
                <a16:creationId xmlns:a16="http://schemas.microsoft.com/office/drawing/2014/main" id="{3AD629C5-FA12-400F-8E5C-16200D350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038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48153" name="Text Box 25">
            <a:extLst>
              <a:ext uri="{FF2B5EF4-FFF2-40B4-BE49-F238E27FC236}">
                <a16:creationId xmlns:a16="http://schemas.microsoft.com/office/drawing/2014/main" id="{8A090323-6248-468E-8081-67A0B4154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334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48154" name="Text Box 26">
            <a:extLst>
              <a:ext uri="{FF2B5EF4-FFF2-40B4-BE49-F238E27FC236}">
                <a16:creationId xmlns:a16="http://schemas.microsoft.com/office/drawing/2014/main" id="{F2A2EDC7-7598-4A87-9967-67FC78A27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3962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11</a:t>
            </a:r>
          </a:p>
        </p:txBody>
      </p:sp>
      <p:sp>
        <p:nvSpPr>
          <p:cNvPr id="48155" name="Text Box 27">
            <a:extLst>
              <a:ext uri="{FF2B5EF4-FFF2-40B4-BE49-F238E27FC236}">
                <a16:creationId xmlns:a16="http://schemas.microsoft.com/office/drawing/2014/main" id="{87E84A66-4A14-4B5B-96E2-0B0D84305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648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48156" name="Text Box 28">
            <a:extLst>
              <a:ext uri="{FF2B5EF4-FFF2-40B4-BE49-F238E27FC236}">
                <a16:creationId xmlns:a16="http://schemas.microsoft.com/office/drawing/2014/main" id="{930B0661-FC09-43A7-9B2B-39F03633B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486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17</a:t>
            </a:r>
          </a:p>
        </p:txBody>
      </p:sp>
      <p:sp>
        <p:nvSpPr>
          <p:cNvPr id="48157" name="Text Box 29">
            <a:extLst>
              <a:ext uri="{FF2B5EF4-FFF2-40B4-BE49-F238E27FC236}">
                <a16:creationId xmlns:a16="http://schemas.microsoft.com/office/drawing/2014/main" id="{630F3419-A0F7-4404-9A10-03E58EC94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648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4</a:t>
            </a:r>
          </a:p>
        </p:txBody>
      </p:sp>
      <p:sp>
        <p:nvSpPr>
          <p:cNvPr id="48158" name="Text Box 30">
            <a:extLst>
              <a:ext uri="{FF2B5EF4-FFF2-40B4-BE49-F238E27FC236}">
                <a16:creationId xmlns:a16="http://schemas.microsoft.com/office/drawing/2014/main" id="{85921660-7468-4AF1-BE41-14152F157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8159" name="Text Box 31">
            <a:extLst>
              <a:ext uri="{FF2B5EF4-FFF2-40B4-BE49-F238E27FC236}">
                <a16:creationId xmlns:a16="http://schemas.microsoft.com/office/drawing/2014/main" id="{CC8D3FC0-BB56-40D7-AABD-347AEAB70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56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8160" name="Text Box 32">
            <a:extLst>
              <a:ext uri="{FF2B5EF4-FFF2-40B4-BE49-F238E27FC236}">
                <a16:creationId xmlns:a16="http://schemas.microsoft.com/office/drawing/2014/main" id="{AC5EC04B-A284-4E38-BB82-D6D9C813B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8161" name="Text Box 33">
            <a:extLst>
              <a:ext uri="{FF2B5EF4-FFF2-40B4-BE49-F238E27FC236}">
                <a16:creationId xmlns:a16="http://schemas.microsoft.com/office/drawing/2014/main" id="{570B9BB7-D354-44ED-8F6B-9683432CA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26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8162" name="Text Box 34">
            <a:extLst>
              <a:ext uri="{FF2B5EF4-FFF2-40B4-BE49-F238E27FC236}">
                <a16:creationId xmlns:a16="http://schemas.microsoft.com/office/drawing/2014/main" id="{D48EFC54-492B-4EA9-9400-29766729D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029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8163" name="Text Box 35">
            <a:extLst>
              <a:ext uri="{FF2B5EF4-FFF2-40B4-BE49-F238E27FC236}">
                <a16:creationId xmlns:a16="http://schemas.microsoft.com/office/drawing/2014/main" id="{28D146A1-A3BE-4E8F-881A-46E7929D1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105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8164" name="Text Box 36">
            <a:extLst>
              <a:ext uri="{FF2B5EF4-FFF2-40B4-BE49-F238E27FC236}">
                <a16:creationId xmlns:a16="http://schemas.microsoft.com/office/drawing/2014/main" id="{366CE26B-58ED-42CB-BBAC-1FCCAB943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019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8165" name="Text Box 37">
            <a:extLst>
              <a:ext uri="{FF2B5EF4-FFF2-40B4-BE49-F238E27FC236}">
                <a16:creationId xmlns:a16="http://schemas.microsoft.com/office/drawing/2014/main" id="{6CC2DEEB-C9E1-42AA-BF2C-8F9886DD0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114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48166" name="Text Box 38">
            <a:extLst>
              <a:ext uri="{FF2B5EF4-FFF2-40B4-BE49-F238E27FC236}">
                <a16:creationId xmlns:a16="http://schemas.microsoft.com/office/drawing/2014/main" id="{38DC2FE2-60A3-4C18-A822-3741A74C1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953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8167" name="Text Box 39">
            <a:extLst>
              <a:ext uri="{FF2B5EF4-FFF2-40B4-BE49-F238E27FC236}">
                <a16:creationId xmlns:a16="http://schemas.microsoft.com/office/drawing/2014/main" id="{DBF79A6F-776C-4F35-BEDD-7593856F6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33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55016" name="Text Box 40">
            <a:extLst>
              <a:ext uri="{FF2B5EF4-FFF2-40B4-BE49-F238E27FC236}">
                <a16:creationId xmlns:a16="http://schemas.microsoft.com/office/drawing/2014/main" id="{A28C33A7-6B4B-4DD4-B34F-8C2A96B44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7912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Arial" panose="020B0604020202020204" pitchFamily="34" charset="0"/>
              </a:rPr>
              <a:t>发点</a:t>
            </a:r>
            <a:r>
              <a:rPr lang="en-US" altLang="zh-CN" sz="2400">
                <a:solidFill>
                  <a:srgbClr val="FF3300"/>
                </a:solidFill>
              </a:rPr>
              <a:t>v</a:t>
            </a:r>
            <a:r>
              <a:rPr lang="en-US" altLang="zh-CN" sz="2400" baseline="-25000">
                <a:solidFill>
                  <a:srgbClr val="FF3300"/>
                </a:solidFill>
              </a:rPr>
              <a:t>s</a:t>
            </a:r>
          </a:p>
        </p:txBody>
      </p:sp>
      <p:sp>
        <p:nvSpPr>
          <p:cNvPr id="255017" name="Line 41">
            <a:extLst>
              <a:ext uri="{FF2B5EF4-FFF2-40B4-BE49-F238E27FC236}">
                <a16:creationId xmlns:a16="http://schemas.microsoft.com/office/drawing/2014/main" id="{04218AD3-A8D0-43BF-923C-C347AF7029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5181600"/>
            <a:ext cx="457200" cy="685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5018" name="Text Box 42">
            <a:extLst>
              <a:ext uri="{FF2B5EF4-FFF2-40B4-BE49-F238E27FC236}">
                <a16:creationId xmlns:a16="http://schemas.microsoft.com/office/drawing/2014/main" id="{17FB9441-478D-4A2B-AFF1-82E62E92B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59436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Arial" panose="020B0604020202020204" pitchFamily="34" charset="0"/>
              </a:rPr>
              <a:t>收点</a:t>
            </a:r>
            <a:r>
              <a:rPr lang="en-US" altLang="zh-CN" sz="2400">
                <a:solidFill>
                  <a:srgbClr val="FF3300"/>
                </a:solidFill>
              </a:rPr>
              <a:t>v</a:t>
            </a:r>
            <a:r>
              <a:rPr lang="en-US" altLang="zh-CN" sz="2400" baseline="-25000">
                <a:solidFill>
                  <a:srgbClr val="FF3300"/>
                </a:solidFill>
              </a:rPr>
              <a:t>t</a:t>
            </a:r>
          </a:p>
        </p:txBody>
      </p:sp>
      <p:sp>
        <p:nvSpPr>
          <p:cNvPr id="255019" name="Line 43">
            <a:extLst>
              <a:ext uri="{FF2B5EF4-FFF2-40B4-BE49-F238E27FC236}">
                <a16:creationId xmlns:a16="http://schemas.microsoft.com/office/drawing/2014/main" id="{18ADA175-0B58-4976-9585-09D22D504C3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20000" y="5257800"/>
            <a:ext cx="304800" cy="685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" dur="500" fill="hold"/>
                                        <p:tgtEl>
                                          <p:spTgt spid="2549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2549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2549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2549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54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9" grpId="0" build="p"/>
      <p:bldP spid="254980" grpId="0" animBg="1"/>
      <p:bldP spid="254985" grpId="0" animBg="1"/>
      <p:bldP spid="255016" grpId="0"/>
      <p:bldP spid="25501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7874DBFC-1BA7-487A-992D-A302EAA039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最大流模型</a:t>
            </a:r>
          </a:p>
        </p:txBody>
      </p:sp>
      <p:sp>
        <p:nvSpPr>
          <p:cNvPr id="256003" name="Rectangle 3">
            <a:extLst>
              <a:ext uri="{FF2B5EF4-FFF2-40B4-BE49-F238E27FC236}">
                <a16:creationId xmlns:a16="http://schemas.microsoft.com/office/drawing/2014/main" id="{7B23D849-5048-4496-8E64-39E0428BFDC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-23250" y="714307"/>
            <a:ext cx="8001000" cy="4987925"/>
          </a:xfrm>
        </p:spPr>
        <p:txBody>
          <a:bodyPr/>
          <a:lstStyle/>
          <a:p>
            <a:pPr eaLnBrk="1" hangingPunct="1"/>
            <a:r>
              <a:rPr lang="zh-CN" altLang="en-US" dirty="0"/>
              <a:t>满足下面条件的流 </a:t>
            </a:r>
            <a:r>
              <a:rPr lang="en-US" altLang="zh-CN" i="1" dirty="0"/>
              <a:t>f </a:t>
            </a:r>
            <a:r>
              <a:rPr lang="zh-CN" altLang="en-US" dirty="0"/>
              <a:t>称为</a:t>
            </a:r>
            <a:r>
              <a:rPr lang="zh-CN" altLang="en-US" dirty="0">
                <a:solidFill>
                  <a:srgbClr val="FF3300"/>
                </a:solidFill>
              </a:rPr>
              <a:t>可行流</a:t>
            </a:r>
            <a:r>
              <a:rPr lang="zh-CN" altLang="en-US" dirty="0"/>
              <a:t>：</a:t>
            </a:r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最大流问题：</a:t>
            </a:r>
            <a:r>
              <a:rPr lang="zh-CN" altLang="en-US" dirty="0">
                <a:solidFill>
                  <a:srgbClr val="FF3300"/>
                </a:solidFill>
              </a:rPr>
              <a:t>求使 </a:t>
            </a:r>
            <a:r>
              <a:rPr lang="en-US" altLang="zh-CN" i="1" dirty="0">
                <a:solidFill>
                  <a:srgbClr val="FF3300"/>
                </a:solidFill>
              </a:rPr>
              <a:t>v</a:t>
            </a:r>
            <a:r>
              <a:rPr lang="en-US" altLang="zh-CN" dirty="0">
                <a:solidFill>
                  <a:srgbClr val="FF3300"/>
                </a:solidFill>
              </a:rPr>
              <a:t>(</a:t>
            </a:r>
            <a:r>
              <a:rPr lang="en-US" altLang="zh-CN" i="1" dirty="0">
                <a:solidFill>
                  <a:srgbClr val="FF3300"/>
                </a:solidFill>
              </a:rPr>
              <a:t>f</a:t>
            </a:r>
            <a:r>
              <a:rPr lang="en-US" altLang="zh-CN" dirty="0">
                <a:solidFill>
                  <a:srgbClr val="FF3300"/>
                </a:solidFill>
              </a:rPr>
              <a:t>) </a:t>
            </a:r>
            <a:r>
              <a:rPr lang="zh-CN" altLang="en-US" dirty="0">
                <a:solidFill>
                  <a:srgbClr val="FF3300"/>
                </a:solidFill>
              </a:rPr>
              <a:t>最大的可行流</a:t>
            </a:r>
          </a:p>
          <a:p>
            <a:pPr eaLnBrk="1" hangingPunct="1"/>
            <a:endParaRPr lang="en-US" altLang="zh-CN" sz="2800" dirty="0"/>
          </a:p>
        </p:txBody>
      </p:sp>
      <p:graphicFrame>
        <p:nvGraphicFramePr>
          <p:cNvPr id="50180" name="Object 4">
            <a:extLst>
              <a:ext uri="{FF2B5EF4-FFF2-40B4-BE49-F238E27FC236}">
                <a16:creationId xmlns:a16="http://schemas.microsoft.com/office/drawing/2014/main" id="{CF9AB5BB-C658-404D-BAF6-5423F9B9E1EC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856735886"/>
              </p:ext>
            </p:extLst>
          </p:nvPr>
        </p:nvGraphicFramePr>
        <p:xfrm>
          <a:off x="609600" y="1210899"/>
          <a:ext cx="19050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1" name="公式" r:id="rId4" imgW="685800" imgH="241300" progId="Equation.3">
                  <p:embed/>
                </p:oleObj>
              </mc:Choice>
              <mc:Fallback>
                <p:oleObj name="公式" r:id="rId4" imgW="6858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210899"/>
                        <a:ext cx="19050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6">
            <a:extLst>
              <a:ext uri="{FF2B5EF4-FFF2-40B4-BE49-F238E27FC236}">
                <a16:creationId xmlns:a16="http://schemas.microsoft.com/office/drawing/2014/main" id="{57C2DC72-7078-4E12-9F55-BA3BC3E3C944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248380238"/>
              </p:ext>
            </p:extLst>
          </p:nvPr>
        </p:nvGraphicFramePr>
        <p:xfrm>
          <a:off x="533400" y="1877649"/>
          <a:ext cx="5181600" cy="200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2" name="公式" r:id="rId6" imgW="1841500" imgH="711200" progId="Equation.3">
                  <p:embed/>
                </p:oleObj>
              </mc:Choice>
              <mc:Fallback>
                <p:oleObj name="公式" r:id="rId6" imgW="1841500" imgH="71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877649"/>
                        <a:ext cx="5181600" cy="200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2" name="AutoShape 8">
            <a:extLst>
              <a:ext uri="{FF2B5EF4-FFF2-40B4-BE49-F238E27FC236}">
                <a16:creationId xmlns:a16="http://schemas.microsoft.com/office/drawing/2014/main" id="{6B2250F3-5E24-45C2-91E8-F88B5990B5E4}"/>
              </a:ext>
            </a:extLst>
          </p:cNvPr>
          <p:cNvSpPr>
            <a:spLocks/>
          </p:cNvSpPr>
          <p:nvPr/>
        </p:nvSpPr>
        <p:spPr bwMode="auto">
          <a:xfrm>
            <a:off x="228600" y="1515699"/>
            <a:ext cx="152400" cy="137160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50183" name="Text Box 10">
            <a:extLst>
              <a:ext uri="{FF2B5EF4-FFF2-40B4-BE49-F238E27FC236}">
                <a16:creationId xmlns:a16="http://schemas.microsoft.com/office/drawing/2014/main" id="{4E574ECE-9421-4151-A962-5D71469D3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210899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0099"/>
                </a:solidFill>
                <a:latin typeface="Arial" panose="020B0604020202020204" pitchFamily="34" charset="0"/>
              </a:rPr>
              <a:t>(</a:t>
            </a:r>
            <a:r>
              <a:rPr lang="zh-CN" altLang="en-US" sz="2800" dirty="0">
                <a:solidFill>
                  <a:srgbClr val="000099"/>
                </a:solidFill>
                <a:latin typeface="Arial" panose="020B0604020202020204" pitchFamily="34" charset="0"/>
              </a:rPr>
              <a:t>容量约束</a:t>
            </a:r>
            <a:r>
              <a:rPr lang="en-US" altLang="zh-CN" sz="2800" dirty="0">
                <a:solidFill>
                  <a:srgbClr val="000099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50184" name="Text Box 11">
            <a:extLst>
              <a:ext uri="{FF2B5EF4-FFF2-40B4-BE49-F238E27FC236}">
                <a16:creationId xmlns:a16="http://schemas.microsoft.com/office/drawing/2014/main" id="{BB006EE6-5AC0-46F3-9717-39BB75131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596787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0099"/>
                </a:solidFill>
                <a:latin typeface="Arial" panose="020B0604020202020204" pitchFamily="34" charset="0"/>
              </a:rPr>
              <a:t>(</a:t>
            </a:r>
            <a:r>
              <a:rPr lang="zh-CN" altLang="en-US" sz="2800" dirty="0">
                <a:solidFill>
                  <a:srgbClr val="000099"/>
                </a:solidFill>
                <a:latin typeface="Arial" panose="020B0604020202020204" pitchFamily="34" charset="0"/>
              </a:rPr>
              <a:t>平衡条件</a:t>
            </a:r>
            <a:r>
              <a:rPr lang="en-US" altLang="zh-CN" sz="2800" dirty="0">
                <a:solidFill>
                  <a:srgbClr val="000099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87B2F1-3EC8-4BF1-99D8-0B5F38BAB64F}"/>
              </a:ext>
            </a:extLst>
          </p:cNvPr>
          <p:cNvSpPr txBox="1"/>
          <p:nvPr/>
        </p:nvSpPr>
        <p:spPr>
          <a:xfrm>
            <a:off x="-195860" y="3188101"/>
            <a:ext cx="18193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0049DA"/>
                </a:solidFill>
              </a:rPr>
              <a:t>从</a:t>
            </a:r>
            <a:r>
              <a:rPr lang="en-US" altLang="zh-CN" dirty="0" err="1">
                <a:solidFill>
                  <a:srgbClr val="0049DA"/>
                </a:solidFill>
              </a:rPr>
              <a:t>i</a:t>
            </a:r>
            <a:r>
              <a:rPr lang="zh-CN" altLang="en-US" dirty="0">
                <a:solidFill>
                  <a:srgbClr val="0049DA"/>
                </a:solidFill>
              </a:rPr>
              <a:t>向</a:t>
            </a:r>
            <a:r>
              <a:rPr lang="en-US" altLang="zh-CN" dirty="0">
                <a:solidFill>
                  <a:srgbClr val="0049DA"/>
                </a:solidFill>
              </a:rPr>
              <a:t>j</a:t>
            </a:r>
            <a:r>
              <a:rPr lang="zh-CN" altLang="en-US" dirty="0">
                <a:solidFill>
                  <a:srgbClr val="0049DA"/>
                </a:solidFill>
              </a:rPr>
              <a:t>的输出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0451A28-CF69-462C-8156-45F0992A3AFA}"/>
              </a:ext>
            </a:extLst>
          </p:cNvPr>
          <p:cNvSpPr txBox="1"/>
          <p:nvPr/>
        </p:nvSpPr>
        <p:spPr>
          <a:xfrm>
            <a:off x="1623456" y="3188101"/>
            <a:ext cx="15928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0049DA"/>
                </a:solidFill>
              </a:rPr>
              <a:t>从</a:t>
            </a:r>
            <a:r>
              <a:rPr lang="en-US" altLang="zh-CN" dirty="0">
                <a:solidFill>
                  <a:srgbClr val="0049DA"/>
                </a:solidFill>
              </a:rPr>
              <a:t>j</a:t>
            </a:r>
            <a:r>
              <a:rPr lang="zh-CN" altLang="en-US" dirty="0">
                <a:solidFill>
                  <a:srgbClr val="0049DA"/>
                </a:solidFill>
              </a:rPr>
              <a:t>向</a:t>
            </a:r>
            <a:r>
              <a:rPr lang="en-US" altLang="zh-CN" dirty="0" err="1">
                <a:solidFill>
                  <a:srgbClr val="0049DA"/>
                </a:solidFill>
              </a:rPr>
              <a:t>i</a:t>
            </a:r>
            <a:r>
              <a:rPr lang="zh-CN" altLang="en-US" dirty="0">
                <a:solidFill>
                  <a:srgbClr val="0049DA"/>
                </a:solidFill>
              </a:rPr>
              <a:t>的输入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6C4D29-3575-42A8-B2D7-FCF44B360263}"/>
              </a:ext>
            </a:extLst>
          </p:cNvPr>
          <p:cNvGrpSpPr/>
          <p:nvPr/>
        </p:nvGrpSpPr>
        <p:grpSpPr>
          <a:xfrm>
            <a:off x="713798" y="4025536"/>
            <a:ext cx="4419600" cy="2085176"/>
            <a:chOff x="1295400" y="3429000"/>
            <a:chExt cx="6477000" cy="3055863"/>
          </a:xfrm>
        </p:grpSpPr>
        <p:sp>
          <p:nvSpPr>
            <p:cNvPr id="12" name="Oval 4">
              <a:extLst>
                <a:ext uri="{FF2B5EF4-FFF2-40B4-BE49-F238E27FC236}">
                  <a16:creationId xmlns:a16="http://schemas.microsoft.com/office/drawing/2014/main" id="{EC019CC3-ACE5-4C91-A99F-5A68DFF0C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47244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v</a:t>
              </a:r>
              <a:r>
                <a:rPr lang="en-US" altLang="zh-CN" sz="1800" baseline="-2500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FFCC3463-5868-424C-9343-BE2AB64A7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6576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v</a:t>
              </a:r>
              <a:r>
                <a:rPr lang="en-US" altLang="zh-CN" sz="1800" baseline="-2500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4" name="Oval 7">
              <a:extLst>
                <a:ext uri="{FF2B5EF4-FFF2-40B4-BE49-F238E27FC236}">
                  <a16:creationId xmlns:a16="http://schemas.microsoft.com/office/drawing/2014/main" id="{391D1F98-6365-4F98-9433-899F58869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5791200"/>
              <a:ext cx="457200" cy="4572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bg1"/>
                  </a:solidFill>
                </a:rPr>
                <a:t>v</a:t>
              </a:r>
              <a:r>
                <a:rPr lang="en-US" altLang="zh-CN" sz="1800" baseline="-250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5" name="Oval 8">
              <a:extLst>
                <a:ext uri="{FF2B5EF4-FFF2-40B4-BE49-F238E27FC236}">
                  <a16:creationId xmlns:a16="http://schemas.microsoft.com/office/drawing/2014/main" id="{91512B7E-3A33-4D61-A0D2-527D6F414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36576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bg1"/>
                  </a:solidFill>
                </a:rPr>
                <a:t>v</a:t>
              </a:r>
              <a:r>
                <a:rPr lang="en-US" altLang="zh-CN" sz="1800" baseline="-25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6" name="Oval 9">
              <a:extLst>
                <a:ext uri="{FF2B5EF4-FFF2-40B4-BE49-F238E27FC236}">
                  <a16:creationId xmlns:a16="http://schemas.microsoft.com/office/drawing/2014/main" id="{330952F5-4335-422B-8277-4DBB9761F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57912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v</a:t>
              </a:r>
              <a:r>
                <a:rPr lang="en-US" altLang="zh-CN" sz="1800" baseline="-250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7" name="Oval 10">
              <a:extLst>
                <a:ext uri="{FF2B5EF4-FFF2-40B4-BE49-F238E27FC236}">
                  <a16:creationId xmlns:a16="http://schemas.microsoft.com/office/drawing/2014/main" id="{5CD38D90-DBD1-4E65-AA59-CDD17AB76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47244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v</a:t>
              </a:r>
              <a:r>
                <a:rPr lang="en-US" altLang="zh-CN" sz="1800" baseline="-2500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18" name="Line 12">
              <a:extLst>
                <a:ext uri="{FF2B5EF4-FFF2-40B4-BE49-F238E27FC236}">
                  <a16:creationId xmlns:a16="http://schemas.microsoft.com/office/drawing/2014/main" id="{A34CBFCF-ADA7-4AFE-B294-321F671935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76400" y="4038600"/>
              <a:ext cx="144780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9" name="Line 13">
              <a:extLst>
                <a:ext uri="{FF2B5EF4-FFF2-40B4-BE49-F238E27FC236}">
                  <a16:creationId xmlns:a16="http://schemas.microsoft.com/office/drawing/2014/main" id="{B26C51E5-FAA8-4EF3-8E84-B807F17F3D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6400" y="5105400"/>
              <a:ext cx="144780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0" name="Line 14">
              <a:extLst>
                <a:ext uri="{FF2B5EF4-FFF2-40B4-BE49-F238E27FC236}">
                  <a16:creationId xmlns:a16="http://schemas.microsoft.com/office/drawing/2014/main" id="{6D05F56D-C731-48DC-8C82-BFED051C31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800" y="4114800"/>
              <a:ext cx="0" cy="1676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1" name="Line 15">
              <a:extLst>
                <a:ext uri="{FF2B5EF4-FFF2-40B4-BE49-F238E27FC236}">
                  <a16:creationId xmlns:a16="http://schemas.microsoft.com/office/drawing/2014/main" id="{3B7CAE9F-EAAC-4716-A822-8961E563D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1400" y="3886200"/>
              <a:ext cx="1752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C1769D9D-EE31-455B-ACBE-EDD589BA11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1400" y="6019800"/>
              <a:ext cx="1752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3" name="Line 17">
              <a:extLst>
                <a:ext uri="{FF2B5EF4-FFF2-40B4-BE49-F238E27FC236}">
                  <a16:creationId xmlns:a16="http://schemas.microsoft.com/office/drawing/2014/main" id="{706868A3-AC9C-4730-8E87-287A1D2284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4114800"/>
              <a:ext cx="0" cy="1676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4" name="Line 18">
              <a:extLst>
                <a:ext uri="{FF2B5EF4-FFF2-40B4-BE49-F238E27FC236}">
                  <a16:creationId xmlns:a16="http://schemas.microsoft.com/office/drawing/2014/main" id="{9547D1CE-0DDA-4F27-BEAD-3B095B60F0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4038600"/>
              <a:ext cx="1828800" cy="1828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5" name="Line 19">
              <a:extLst>
                <a:ext uri="{FF2B5EF4-FFF2-40B4-BE49-F238E27FC236}">
                  <a16:creationId xmlns:a16="http://schemas.microsoft.com/office/drawing/2014/main" id="{54EB7463-B6EB-46EB-B011-5CDF2268AA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200" y="4038600"/>
              <a:ext cx="1905000" cy="1828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6" name="Line 20">
              <a:extLst>
                <a:ext uri="{FF2B5EF4-FFF2-40B4-BE49-F238E27FC236}">
                  <a16:creationId xmlns:a16="http://schemas.microsoft.com/office/drawing/2014/main" id="{BCCE249E-FF76-401E-BF95-E7CF1ECEB1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5000" y="4038600"/>
              <a:ext cx="160020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7" name="Line 21">
              <a:extLst>
                <a:ext uri="{FF2B5EF4-FFF2-40B4-BE49-F238E27FC236}">
                  <a16:creationId xmlns:a16="http://schemas.microsoft.com/office/drawing/2014/main" id="{DC5CF1F4-8EC7-4C6E-93D6-2D678F2B9B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91200" y="5105400"/>
              <a:ext cx="152400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8" name="Text Box 22">
              <a:extLst>
                <a:ext uri="{FF2B5EF4-FFF2-40B4-BE49-F238E27FC236}">
                  <a16:creationId xmlns:a16="http://schemas.microsoft.com/office/drawing/2014/main" id="{EC161FAA-B8D3-4846-A9D7-B40A0AE3AA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4999" y="40386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10</a:t>
              </a:r>
            </a:p>
          </p:txBody>
        </p:sp>
        <p:sp>
          <p:nvSpPr>
            <p:cNvPr id="29" name="Text Box 23">
              <a:extLst>
                <a:ext uri="{FF2B5EF4-FFF2-40B4-BE49-F238E27FC236}">
                  <a16:creationId xmlns:a16="http://schemas.microsoft.com/office/drawing/2014/main" id="{5976D623-17A2-4BAA-BBFB-347C733B6E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1" y="53340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8</a:t>
              </a:r>
            </a:p>
          </p:txBody>
        </p:sp>
        <p:sp>
          <p:nvSpPr>
            <p:cNvPr id="30" name="Text Box 24">
              <a:extLst>
                <a:ext uri="{FF2B5EF4-FFF2-40B4-BE49-F238E27FC236}">
                  <a16:creationId xmlns:a16="http://schemas.microsoft.com/office/drawing/2014/main" id="{97A92FC9-9BF7-43DA-B4CD-A09A7EDB3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0" y="34290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5</a:t>
              </a:r>
            </a:p>
          </p:txBody>
        </p:sp>
        <p:sp>
          <p:nvSpPr>
            <p:cNvPr id="31" name="Text Box 25">
              <a:extLst>
                <a:ext uri="{FF2B5EF4-FFF2-40B4-BE49-F238E27FC236}">
                  <a16:creationId xmlns:a16="http://schemas.microsoft.com/office/drawing/2014/main" id="{035FCC79-C458-4F08-A091-3CB634D25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0" y="59436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6</a:t>
              </a:r>
            </a:p>
          </p:txBody>
        </p:sp>
        <p:sp>
          <p:nvSpPr>
            <p:cNvPr id="32" name="Text Box 26">
              <a:extLst>
                <a:ext uri="{FF2B5EF4-FFF2-40B4-BE49-F238E27FC236}">
                  <a16:creationId xmlns:a16="http://schemas.microsoft.com/office/drawing/2014/main" id="{170AE6E9-204B-4C3F-9018-D7EFDEABC9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0" y="40386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3</a:t>
              </a:r>
            </a:p>
          </p:txBody>
        </p:sp>
        <p:sp>
          <p:nvSpPr>
            <p:cNvPr id="33" name="Text Box 27">
              <a:extLst>
                <a:ext uri="{FF2B5EF4-FFF2-40B4-BE49-F238E27FC236}">
                  <a16:creationId xmlns:a16="http://schemas.microsoft.com/office/drawing/2014/main" id="{237F9947-757C-474A-9B3B-854B9849D0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6200" y="53340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5</a:t>
              </a:r>
            </a:p>
          </p:txBody>
        </p:sp>
        <p:sp>
          <p:nvSpPr>
            <p:cNvPr id="34" name="Text Box 28">
              <a:extLst>
                <a:ext uri="{FF2B5EF4-FFF2-40B4-BE49-F238E27FC236}">
                  <a16:creationId xmlns:a16="http://schemas.microsoft.com/office/drawing/2014/main" id="{0103185D-B5CE-4478-BCBF-842FEDCB9E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9624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11</a:t>
              </a:r>
            </a:p>
          </p:txBody>
        </p:sp>
        <p:sp>
          <p:nvSpPr>
            <p:cNvPr id="35" name="Text Box 29">
              <a:extLst>
                <a:ext uri="{FF2B5EF4-FFF2-40B4-BE49-F238E27FC236}">
                  <a16:creationId xmlns:a16="http://schemas.microsoft.com/office/drawing/2014/main" id="{2DAF25CA-2DC9-4AA2-B9FE-74EDC45E8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2599" y="46482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3</a:t>
              </a:r>
            </a:p>
          </p:txBody>
        </p:sp>
        <p:sp>
          <p:nvSpPr>
            <p:cNvPr id="36" name="Text Box 30">
              <a:extLst>
                <a:ext uri="{FF2B5EF4-FFF2-40B4-BE49-F238E27FC236}">
                  <a16:creationId xmlns:a16="http://schemas.microsoft.com/office/drawing/2014/main" id="{03CB94F2-73A4-46D9-BB29-E793441149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599" y="5486401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17</a:t>
              </a:r>
            </a:p>
          </p:txBody>
        </p:sp>
        <p:sp>
          <p:nvSpPr>
            <p:cNvPr id="37" name="Text Box 31">
              <a:extLst>
                <a:ext uri="{FF2B5EF4-FFF2-40B4-BE49-F238E27FC236}">
                  <a16:creationId xmlns:a16="http://schemas.microsoft.com/office/drawing/2014/main" id="{47525306-A924-4259-A823-ACE4691123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799" y="46482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4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1FEA1E0-C450-45AF-8BBA-7F9A5A7A942F}"/>
              </a:ext>
            </a:extLst>
          </p:cNvPr>
          <p:cNvSpPr txBox="1"/>
          <p:nvPr/>
        </p:nvSpPr>
        <p:spPr>
          <a:xfrm>
            <a:off x="243020" y="1768375"/>
            <a:ext cx="2709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0049DA"/>
                </a:solidFill>
              </a:defRPr>
            </a:lvl1pPr>
          </a:lstStyle>
          <a:p>
            <a:r>
              <a:rPr lang="zh-CN" altLang="en-US" dirty="0"/>
              <a:t>只考虑图中的弧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EE15342-5910-480E-920D-10454E7CE415}"/>
                  </a:ext>
                </a:extLst>
              </p:cNvPr>
              <p:cNvSpPr txBox="1"/>
              <p:nvPr/>
            </p:nvSpPr>
            <p:spPr>
              <a:xfrm>
                <a:off x="5235043" y="4770723"/>
                <a:ext cx="37203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𝟑𝟒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𝟐𝟑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EE15342-5910-480E-920D-10454E7CE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043" y="4770723"/>
                <a:ext cx="372031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本框 53">
            <a:extLst>
              <a:ext uri="{FF2B5EF4-FFF2-40B4-BE49-F238E27FC236}">
                <a16:creationId xmlns:a16="http://schemas.microsoft.com/office/drawing/2014/main" id="{9019EA2D-B989-45EF-9443-2D7459FBE1EC}"/>
              </a:ext>
            </a:extLst>
          </p:cNvPr>
          <p:cNvSpPr txBox="1"/>
          <p:nvPr/>
        </p:nvSpPr>
        <p:spPr>
          <a:xfrm>
            <a:off x="5943600" y="1235893"/>
            <a:ext cx="2709396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0049DA"/>
                </a:solidFill>
              </a:defRPr>
            </a:lvl1pPr>
          </a:lstStyle>
          <a:p>
            <a:r>
              <a:rPr lang="zh-CN" altLang="en-US" dirty="0"/>
              <a:t>有多少条弧就有多少个变量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066E8CB-DC9D-4296-9396-05459A005589}"/>
              </a:ext>
            </a:extLst>
          </p:cNvPr>
          <p:cNvSpPr txBox="1"/>
          <p:nvPr/>
        </p:nvSpPr>
        <p:spPr>
          <a:xfrm>
            <a:off x="5996669" y="3199550"/>
            <a:ext cx="2709396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0049DA"/>
                </a:solidFill>
              </a:defRPr>
            </a:lvl1pPr>
          </a:lstStyle>
          <a:p>
            <a:r>
              <a:rPr lang="zh-CN" altLang="en-US" dirty="0"/>
              <a:t>有多少个结点就有多少个平衡约束条件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3" grpId="0"/>
      <p:bldP spid="50184" grpId="0"/>
      <p:bldP spid="2" grpId="0"/>
      <p:bldP spid="10" grpId="0"/>
      <p:bldP spid="6" grpId="0"/>
      <p:bldP spid="7" grpId="0"/>
      <p:bldP spid="54" grpId="0" animBg="1"/>
      <p:bldP spid="5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8F4F786F-B54F-4593-B0D6-7077546099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弧按流量分类</a:t>
            </a:r>
          </a:p>
        </p:txBody>
      </p:sp>
      <p:sp>
        <p:nvSpPr>
          <p:cNvPr id="259075" name="Rectangle 3">
            <a:extLst>
              <a:ext uri="{FF2B5EF4-FFF2-40B4-BE49-F238E27FC236}">
                <a16:creationId xmlns:a16="http://schemas.microsoft.com/office/drawing/2014/main" id="{EEF320D8-03AD-421E-9A02-FB60F4124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5489" y="800100"/>
            <a:ext cx="8229600" cy="5257800"/>
          </a:xfrm>
        </p:spPr>
        <p:txBody>
          <a:bodyPr/>
          <a:lstStyle/>
          <a:p>
            <a:pPr eaLnBrk="1" hangingPunct="1"/>
            <a:endParaRPr lang="en-US" altLang="zh-CN" sz="1200" dirty="0"/>
          </a:p>
          <a:p>
            <a:pPr eaLnBrk="1" hangingPunct="1"/>
            <a:r>
              <a:rPr lang="zh-CN" altLang="en-US" dirty="0">
                <a:solidFill>
                  <a:srgbClr val="FF3300"/>
                </a:solidFill>
              </a:rPr>
              <a:t>饱和弧</a:t>
            </a:r>
            <a:r>
              <a:rPr lang="zh-CN" altLang="en-US" dirty="0"/>
              <a:t>：</a:t>
            </a:r>
            <a:r>
              <a:rPr lang="en-US" altLang="zh-CN" i="1" dirty="0" err="1"/>
              <a:t>f</a:t>
            </a:r>
            <a:r>
              <a:rPr lang="en-US" altLang="zh-CN" baseline="-25000" dirty="0" err="1"/>
              <a:t>ij</a:t>
            </a:r>
            <a:r>
              <a:rPr lang="en-US" altLang="zh-CN" dirty="0"/>
              <a:t>=</a:t>
            </a:r>
            <a:r>
              <a:rPr lang="en-US" altLang="zh-CN" dirty="0" err="1"/>
              <a:t>c</a:t>
            </a:r>
            <a:r>
              <a:rPr lang="en-US" altLang="zh-CN" baseline="-25000" dirty="0" err="1"/>
              <a:t>ij</a:t>
            </a:r>
            <a:endParaRPr lang="en-US" altLang="zh-CN" baseline="-25000" dirty="0"/>
          </a:p>
          <a:p>
            <a:pPr eaLnBrk="1" hangingPunct="1"/>
            <a:r>
              <a:rPr lang="zh-CN" altLang="en-US" dirty="0">
                <a:solidFill>
                  <a:srgbClr val="FF3300"/>
                </a:solidFill>
              </a:rPr>
              <a:t>非饱和弧</a:t>
            </a:r>
            <a:r>
              <a:rPr lang="zh-CN" altLang="en-US" dirty="0"/>
              <a:t>：</a:t>
            </a:r>
            <a:r>
              <a:rPr lang="en-US" altLang="zh-CN" i="1" dirty="0" err="1"/>
              <a:t>f</a:t>
            </a:r>
            <a:r>
              <a:rPr lang="en-US" altLang="zh-CN" baseline="-25000" dirty="0" err="1"/>
              <a:t>ij</a:t>
            </a:r>
            <a:r>
              <a:rPr lang="en-US" altLang="zh-CN" dirty="0"/>
              <a:t>&lt;</a:t>
            </a:r>
            <a:r>
              <a:rPr lang="en-US" altLang="zh-CN" dirty="0" err="1"/>
              <a:t>c</a:t>
            </a:r>
            <a:r>
              <a:rPr lang="en-US" altLang="zh-CN" baseline="-25000" dirty="0" err="1"/>
              <a:t>ij</a:t>
            </a:r>
            <a:endParaRPr lang="en-US" altLang="zh-CN" baseline="-25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</a:t>
            </a:r>
          </a:p>
          <a:p>
            <a:pPr eaLnBrk="1" hangingPunct="1"/>
            <a:r>
              <a:rPr lang="zh-CN" altLang="en-US" dirty="0">
                <a:solidFill>
                  <a:srgbClr val="FF3300"/>
                </a:solidFill>
              </a:rPr>
              <a:t>零流弧</a:t>
            </a:r>
            <a:r>
              <a:rPr lang="zh-CN" altLang="en-US" dirty="0"/>
              <a:t>：</a:t>
            </a:r>
            <a:r>
              <a:rPr lang="en-US" altLang="zh-CN" i="1" dirty="0" err="1"/>
              <a:t>f</a:t>
            </a:r>
            <a:r>
              <a:rPr lang="en-US" altLang="zh-CN" baseline="-25000" dirty="0" err="1"/>
              <a:t>ij</a:t>
            </a:r>
            <a:r>
              <a:rPr lang="en-US" altLang="zh-CN" dirty="0"/>
              <a:t>=0</a:t>
            </a:r>
          </a:p>
          <a:p>
            <a:pPr eaLnBrk="1" hangingPunct="1"/>
            <a:r>
              <a:rPr lang="zh-CN" altLang="en-US" dirty="0">
                <a:solidFill>
                  <a:srgbClr val="FF3300"/>
                </a:solidFill>
              </a:rPr>
              <a:t>非零流弧</a:t>
            </a:r>
            <a:r>
              <a:rPr lang="zh-CN" altLang="en-US" dirty="0"/>
              <a:t>：</a:t>
            </a:r>
            <a:r>
              <a:rPr lang="en-US" altLang="zh-CN" i="1" dirty="0" err="1"/>
              <a:t>f</a:t>
            </a:r>
            <a:r>
              <a:rPr lang="en-US" altLang="zh-CN" baseline="-25000" dirty="0" err="1"/>
              <a:t>ij</a:t>
            </a:r>
            <a:r>
              <a:rPr lang="en-US" altLang="zh-CN" dirty="0"/>
              <a:t>&gt;0</a:t>
            </a:r>
          </a:p>
          <a:p>
            <a:pPr eaLnBrk="1" hangingPunct="1"/>
            <a:endParaRPr lang="en-US" altLang="zh-CN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965DA69-409C-4FB9-877D-41AB148C1D4B}"/>
              </a:ext>
            </a:extLst>
          </p:cNvPr>
          <p:cNvGrpSpPr/>
          <p:nvPr/>
        </p:nvGrpSpPr>
        <p:grpSpPr>
          <a:xfrm>
            <a:off x="3066662" y="3733800"/>
            <a:ext cx="5652795" cy="2667000"/>
            <a:chOff x="1295400" y="3429000"/>
            <a:chExt cx="6477000" cy="305586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C36B3E9-0C1D-4BE0-A2FB-99D692472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47244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v</a:t>
              </a:r>
              <a:r>
                <a:rPr lang="en-US" altLang="zh-CN" sz="1800" baseline="-2500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4CAD64D-06BF-4058-BFC5-25027BE5B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6576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v</a:t>
              </a:r>
              <a:r>
                <a:rPr lang="en-US" altLang="zh-CN" sz="1800" baseline="-2500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9D54D904-D580-40FD-82F5-8A1FC439F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57912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bg1"/>
                  </a:solidFill>
                </a:rPr>
                <a:t>v</a:t>
              </a:r>
              <a:r>
                <a:rPr lang="en-US" altLang="zh-CN" sz="1800" baseline="-250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784F00E6-548C-41ED-A847-96844B2D5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36576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bg1"/>
                  </a:solidFill>
                </a:rPr>
                <a:t>v</a:t>
              </a:r>
              <a:r>
                <a:rPr lang="en-US" altLang="zh-CN" sz="1800" baseline="-25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E46770FC-A1C3-4646-94A4-A71D05C2F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57912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v</a:t>
              </a:r>
              <a:r>
                <a:rPr lang="en-US" altLang="zh-CN" sz="1800" baseline="-250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682853B9-D27E-4C13-B7C9-4FB8D53CA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47244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v</a:t>
              </a:r>
              <a:r>
                <a:rPr lang="en-US" altLang="zh-CN" sz="1800" baseline="-2500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FD557D77-2EEF-41E5-98DE-FDC68E0EB7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76400" y="4038600"/>
              <a:ext cx="144780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F07B44A5-C4E5-4092-9AF3-10BCF2253D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6400" y="5105400"/>
              <a:ext cx="144780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4B02FA95-5F5D-4FF7-9082-24ABE08601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800" y="4114800"/>
              <a:ext cx="0" cy="1676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17270E4C-2CAF-4527-80B2-8D35D28FCD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1400" y="3886200"/>
              <a:ext cx="1752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93409079-3C8F-4D81-ADA2-4881FF37EF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1400" y="6019800"/>
              <a:ext cx="1752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6" name="Line 17">
              <a:extLst>
                <a:ext uri="{FF2B5EF4-FFF2-40B4-BE49-F238E27FC236}">
                  <a16:creationId xmlns:a16="http://schemas.microsoft.com/office/drawing/2014/main" id="{CE883274-1A90-4BBE-9C11-060812DB6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4114800"/>
              <a:ext cx="0" cy="1676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7" name="Line 18">
              <a:extLst>
                <a:ext uri="{FF2B5EF4-FFF2-40B4-BE49-F238E27FC236}">
                  <a16:creationId xmlns:a16="http://schemas.microsoft.com/office/drawing/2014/main" id="{65F39689-34FF-42BA-A50B-AD6F1C920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4038600"/>
              <a:ext cx="1828800" cy="1828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8" name="Line 19">
              <a:extLst>
                <a:ext uri="{FF2B5EF4-FFF2-40B4-BE49-F238E27FC236}">
                  <a16:creationId xmlns:a16="http://schemas.microsoft.com/office/drawing/2014/main" id="{629357D5-E217-4992-BACB-B9F7314C08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200" y="4038600"/>
              <a:ext cx="1905000" cy="1828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9" name="Line 20">
              <a:extLst>
                <a:ext uri="{FF2B5EF4-FFF2-40B4-BE49-F238E27FC236}">
                  <a16:creationId xmlns:a16="http://schemas.microsoft.com/office/drawing/2014/main" id="{C658F687-53B6-473E-8F02-EACD575D83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5000" y="4038600"/>
              <a:ext cx="160020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0" name="Line 21">
              <a:extLst>
                <a:ext uri="{FF2B5EF4-FFF2-40B4-BE49-F238E27FC236}">
                  <a16:creationId xmlns:a16="http://schemas.microsoft.com/office/drawing/2014/main" id="{401F33B2-D967-47D1-A6FB-8E391A6954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91200" y="5105400"/>
              <a:ext cx="152400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C5517065-BC6D-4285-AC6C-722EF09894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4999" y="40386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10</a:t>
              </a:r>
            </a:p>
          </p:txBody>
        </p:sp>
        <p:sp>
          <p:nvSpPr>
            <p:cNvPr id="22" name="Text Box 23">
              <a:extLst>
                <a:ext uri="{FF2B5EF4-FFF2-40B4-BE49-F238E27FC236}">
                  <a16:creationId xmlns:a16="http://schemas.microsoft.com/office/drawing/2014/main" id="{0DBBF706-A8BC-4E8C-B307-ECC8E33B6A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1" y="53340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8</a:t>
              </a:r>
            </a:p>
          </p:txBody>
        </p:sp>
        <p:sp>
          <p:nvSpPr>
            <p:cNvPr id="23" name="Text Box 24">
              <a:extLst>
                <a:ext uri="{FF2B5EF4-FFF2-40B4-BE49-F238E27FC236}">
                  <a16:creationId xmlns:a16="http://schemas.microsoft.com/office/drawing/2014/main" id="{D2A9D6E9-C462-48E0-BC31-136D0C2334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0" y="34290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5</a:t>
              </a:r>
            </a:p>
          </p:txBody>
        </p:sp>
        <p:sp>
          <p:nvSpPr>
            <p:cNvPr id="24" name="Text Box 25">
              <a:extLst>
                <a:ext uri="{FF2B5EF4-FFF2-40B4-BE49-F238E27FC236}">
                  <a16:creationId xmlns:a16="http://schemas.microsoft.com/office/drawing/2014/main" id="{324A90A7-18FE-4A8C-94EB-FB201B9E58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0" y="59436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6</a:t>
              </a:r>
            </a:p>
          </p:txBody>
        </p:sp>
        <p:sp>
          <p:nvSpPr>
            <p:cNvPr id="25" name="Text Box 26">
              <a:extLst>
                <a:ext uri="{FF2B5EF4-FFF2-40B4-BE49-F238E27FC236}">
                  <a16:creationId xmlns:a16="http://schemas.microsoft.com/office/drawing/2014/main" id="{7D0E8C80-5799-430F-8DFE-A98058221C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0" y="40386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3</a:t>
              </a:r>
            </a:p>
          </p:txBody>
        </p:sp>
        <p:sp>
          <p:nvSpPr>
            <p:cNvPr id="26" name="Text Box 27">
              <a:extLst>
                <a:ext uri="{FF2B5EF4-FFF2-40B4-BE49-F238E27FC236}">
                  <a16:creationId xmlns:a16="http://schemas.microsoft.com/office/drawing/2014/main" id="{4A12A8D6-D670-4D78-B2E2-90A880313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6200" y="53340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5</a:t>
              </a:r>
            </a:p>
          </p:txBody>
        </p:sp>
        <p:sp>
          <p:nvSpPr>
            <p:cNvPr id="27" name="Text Box 28">
              <a:extLst>
                <a:ext uri="{FF2B5EF4-FFF2-40B4-BE49-F238E27FC236}">
                  <a16:creationId xmlns:a16="http://schemas.microsoft.com/office/drawing/2014/main" id="{96E7CD84-9A4F-472B-8DB3-272EC723B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9624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11</a:t>
              </a:r>
            </a:p>
          </p:txBody>
        </p:sp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id="{909A53B6-8B52-4E6C-B80C-01D5A2B0F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2599" y="46482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3</a:t>
              </a:r>
            </a:p>
          </p:txBody>
        </p:sp>
        <p:sp>
          <p:nvSpPr>
            <p:cNvPr id="29" name="Text Box 30">
              <a:extLst>
                <a:ext uri="{FF2B5EF4-FFF2-40B4-BE49-F238E27FC236}">
                  <a16:creationId xmlns:a16="http://schemas.microsoft.com/office/drawing/2014/main" id="{496CC80A-3B60-41AD-A500-1129B989D0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599" y="5486401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17</a:t>
              </a:r>
            </a:p>
          </p:txBody>
        </p:sp>
        <p:sp>
          <p:nvSpPr>
            <p:cNvPr id="30" name="Text Box 31">
              <a:extLst>
                <a:ext uri="{FF2B5EF4-FFF2-40B4-BE49-F238E27FC236}">
                  <a16:creationId xmlns:a16="http://schemas.microsoft.com/office/drawing/2014/main" id="{4901D498-F1EF-4ED7-BAE7-D9FD55E16B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799" y="46482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AEF4AFA-D26A-4CB4-9D83-863A0014634E}"/>
                  </a:ext>
                </a:extLst>
              </p:cNvPr>
              <p:cNvSpPr txBox="1"/>
              <p:nvPr/>
            </p:nvSpPr>
            <p:spPr>
              <a:xfrm>
                <a:off x="5090620" y="3300740"/>
                <a:ext cx="271503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49D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49DA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49DA"/>
                            </a:solidFill>
                            <a:latin typeface="Cambria Math" panose="02040503050406030204" pitchFamily="18" charset="0"/>
                          </a:rPr>
                          <m:t>𝟐𝟒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0049DA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solidFill>
                      <a:srgbClr val="0049DA"/>
                    </a:solidFill>
                  </a:rPr>
                  <a:t>5 (</a:t>
                </a:r>
                <a:r>
                  <a:rPr lang="zh-CN" altLang="en-US" dirty="0">
                    <a:solidFill>
                      <a:srgbClr val="0049DA"/>
                    </a:solidFill>
                  </a:rPr>
                  <a:t>饱和弧</a:t>
                </a:r>
                <a:r>
                  <a:rPr lang="en-US" altLang="zh-CN" dirty="0">
                    <a:solidFill>
                      <a:srgbClr val="0049DA"/>
                    </a:solidFill>
                  </a:rPr>
                  <a:t>)</a:t>
                </a:r>
                <a:endParaRPr lang="zh-CN" altLang="en-US" dirty="0">
                  <a:solidFill>
                    <a:srgbClr val="0049DA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AEF4AFA-D26A-4CB4-9D83-863A00146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620" y="3300740"/>
                <a:ext cx="2715039" cy="523220"/>
              </a:xfrm>
              <a:prstGeom prst="rect">
                <a:avLst/>
              </a:prstGeom>
              <a:blipFill>
                <a:blip r:embed="rId2"/>
                <a:stretch>
                  <a:fillRect t="-15116" r="-2472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DA0F6D29-422B-469C-9893-11EDF32C78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截集与截量</a:t>
            </a:r>
          </a:p>
        </p:txBody>
      </p:sp>
      <p:sp>
        <p:nvSpPr>
          <p:cNvPr id="263171" name="Rectangle 3">
            <a:extLst>
              <a:ext uri="{FF2B5EF4-FFF2-40B4-BE49-F238E27FC236}">
                <a16:creationId xmlns:a16="http://schemas.microsoft.com/office/drawing/2014/main" id="{CC654F59-A86C-4666-B9BE-95DD215E38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将</a:t>
            </a:r>
            <a:r>
              <a:rPr lang="en-US" altLang="zh-CN" sz="2800" dirty="0"/>
              <a:t>V</a:t>
            </a:r>
            <a:r>
              <a:rPr lang="zh-CN" altLang="en-US" sz="2800" dirty="0"/>
              <a:t>剖分为两个非空集合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和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*</a:t>
            </a:r>
            <a:r>
              <a:rPr lang="zh-CN" altLang="en-US" sz="2800" dirty="0"/>
              <a:t>，使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s</a:t>
            </a:r>
            <a:r>
              <a:rPr lang="en-US" altLang="zh-CN" sz="2800" dirty="0"/>
              <a:t>∈V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v</a:t>
            </a:r>
            <a:r>
              <a:rPr lang="en-US" altLang="zh-CN" sz="2800" baseline="-25000" dirty="0" err="1"/>
              <a:t>t</a:t>
            </a:r>
            <a:r>
              <a:rPr lang="en-US" altLang="zh-CN" sz="2800" dirty="0"/>
              <a:t> ∈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*</a:t>
            </a:r>
            <a:r>
              <a:rPr lang="zh-CN" altLang="en-US" sz="2800" dirty="0"/>
              <a:t>，则弧集</a:t>
            </a:r>
            <a:r>
              <a:rPr lang="en-US" altLang="zh-CN" sz="2800" dirty="0"/>
              <a:t>(V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*)</a:t>
            </a:r>
            <a:r>
              <a:rPr lang="zh-CN" altLang="en-US" sz="2800" dirty="0"/>
              <a:t>为</a:t>
            </a:r>
            <a:r>
              <a:rPr lang="en-US" altLang="zh-CN" sz="2800" dirty="0"/>
              <a:t>D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FF3300"/>
                </a:solidFill>
              </a:rPr>
              <a:t>截集</a:t>
            </a:r>
            <a:endParaRPr lang="zh-CN" altLang="en-US" sz="2800" b="0" dirty="0"/>
          </a:p>
          <a:p>
            <a:pPr eaLnBrk="1" hangingPunct="1"/>
            <a:r>
              <a:rPr lang="zh-CN" altLang="en-US" sz="2800" dirty="0"/>
              <a:t>截集上的容量和称为</a:t>
            </a:r>
            <a:r>
              <a:rPr lang="zh-CN" altLang="en-US" sz="2800" dirty="0">
                <a:solidFill>
                  <a:srgbClr val="FF3300"/>
                </a:solidFill>
              </a:rPr>
              <a:t>截量</a:t>
            </a:r>
            <a:r>
              <a:rPr lang="zh-CN" altLang="en-US" sz="2800" dirty="0"/>
              <a:t>，记为</a:t>
            </a:r>
            <a:r>
              <a:rPr lang="en-US" altLang="zh-CN" sz="2800" dirty="0"/>
              <a:t>c(V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*)</a:t>
            </a:r>
            <a:r>
              <a:rPr lang="en-US" altLang="zh-CN" dirty="0"/>
              <a:t> </a:t>
            </a:r>
          </a:p>
          <a:p>
            <a:pPr eaLnBrk="1" hangingPunct="1"/>
            <a:endParaRPr lang="en-US" altLang="zh-CN" dirty="0">
              <a:solidFill>
                <a:srgbClr val="FF3300"/>
              </a:solidFill>
            </a:endParaRPr>
          </a:p>
        </p:txBody>
      </p:sp>
      <p:sp>
        <p:nvSpPr>
          <p:cNvPr id="263210" name="Freeform 42">
            <a:extLst>
              <a:ext uri="{FF2B5EF4-FFF2-40B4-BE49-F238E27FC236}">
                <a16:creationId xmlns:a16="http://schemas.microsoft.com/office/drawing/2014/main" id="{9B93EDF5-9383-43AD-BE58-96D6659EE0D2}"/>
              </a:ext>
            </a:extLst>
          </p:cNvPr>
          <p:cNvSpPr>
            <a:spLocks/>
          </p:cNvSpPr>
          <p:nvPr/>
        </p:nvSpPr>
        <p:spPr bwMode="auto">
          <a:xfrm>
            <a:off x="2894894" y="3358141"/>
            <a:ext cx="5067300" cy="2070100"/>
          </a:xfrm>
          <a:custGeom>
            <a:avLst/>
            <a:gdLst>
              <a:gd name="T0" fmla="*/ 2147483646 w 3192"/>
              <a:gd name="T1" fmla="*/ 2147483646 h 1304"/>
              <a:gd name="T2" fmla="*/ 2147483646 w 3192"/>
              <a:gd name="T3" fmla="*/ 2147483646 h 1304"/>
              <a:gd name="T4" fmla="*/ 2147483646 w 3192"/>
              <a:gd name="T5" fmla="*/ 2147483646 h 1304"/>
              <a:gd name="T6" fmla="*/ 2147483646 w 3192"/>
              <a:gd name="T7" fmla="*/ 2147483646 h 1304"/>
              <a:gd name="T8" fmla="*/ 2147483646 w 3192"/>
              <a:gd name="T9" fmla="*/ 2147483646 h 1304"/>
              <a:gd name="T10" fmla="*/ 2147483646 w 3192"/>
              <a:gd name="T11" fmla="*/ 2147483646 h 1304"/>
              <a:gd name="T12" fmla="*/ 2147483646 w 3192"/>
              <a:gd name="T13" fmla="*/ 2147483646 h 1304"/>
              <a:gd name="T14" fmla="*/ 2147483646 w 3192"/>
              <a:gd name="T15" fmla="*/ 2147483646 h 1304"/>
              <a:gd name="T16" fmla="*/ 2147483646 w 3192"/>
              <a:gd name="T17" fmla="*/ 2147483646 h 1304"/>
              <a:gd name="T18" fmla="*/ 2147483646 w 3192"/>
              <a:gd name="T19" fmla="*/ 2147483646 h 1304"/>
              <a:gd name="T20" fmla="*/ 2147483646 w 3192"/>
              <a:gd name="T21" fmla="*/ 2147483646 h 130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192"/>
              <a:gd name="T34" fmla="*/ 0 h 1304"/>
              <a:gd name="T35" fmla="*/ 3192 w 3192"/>
              <a:gd name="T36" fmla="*/ 1304 h 130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192" h="1304">
                <a:moveTo>
                  <a:pt x="120" y="1248"/>
                </a:moveTo>
                <a:cubicBezTo>
                  <a:pt x="192" y="1288"/>
                  <a:pt x="264" y="1304"/>
                  <a:pt x="456" y="1200"/>
                </a:cubicBezTo>
                <a:cubicBezTo>
                  <a:pt x="648" y="1096"/>
                  <a:pt x="1072" y="728"/>
                  <a:pt x="1272" y="624"/>
                </a:cubicBezTo>
                <a:cubicBezTo>
                  <a:pt x="1472" y="520"/>
                  <a:pt x="1368" y="584"/>
                  <a:pt x="1656" y="576"/>
                </a:cubicBezTo>
                <a:cubicBezTo>
                  <a:pt x="1944" y="568"/>
                  <a:pt x="2808" y="648"/>
                  <a:pt x="3000" y="576"/>
                </a:cubicBezTo>
                <a:cubicBezTo>
                  <a:pt x="3192" y="504"/>
                  <a:pt x="2872" y="216"/>
                  <a:pt x="2808" y="144"/>
                </a:cubicBezTo>
                <a:cubicBezTo>
                  <a:pt x="2744" y="72"/>
                  <a:pt x="2872" y="152"/>
                  <a:pt x="2616" y="144"/>
                </a:cubicBezTo>
                <a:cubicBezTo>
                  <a:pt x="2360" y="136"/>
                  <a:pt x="1664" y="0"/>
                  <a:pt x="1272" y="96"/>
                </a:cubicBezTo>
                <a:cubicBezTo>
                  <a:pt x="880" y="192"/>
                  <a:pt x="472" y="576"/>
                  <a:pt x="264" y="720"/>
                </a:cubicBezTo>
                <a:cubicBezTo>
                  <a:pt x="56" y="864"/>
                  <a:pt x="48" y="872"/>
                  <a:pt x="24" y="960"/>
                </a:cubicBezTo>
                <a:cubicBezTo>
                  <a:pt x="0" y="1048"/>
                  <a:pt x="48" y="1208"/>
                  <a:pt x="120" y="124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3209" name="Text Box 41">
            <a:extLst>
              <a:ext uri="{FF2B5EF4-FFF2-40B4-BE49-F238E27FC236}">
                <a16:creationId xmlns:a16="http://schemas.microsoft.com/office/drawing/2014/main" id="{6DE68FE0-DD72-4A8F-B60E-3E60A16B6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895600"/>
            <a:ext cx="78486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截集：</a:t>
            </a:r>
            <a:r>
              <a:rPr lang="en-US" altLang="zh-CN" sz="2400" dirty="0"/>
              <a:t>{(v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,v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),(v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,v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),(v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,v</a:t>
            </a:r>
            <a:r>
              <a:rPr lang="en-US" altLang="zh-CN" sz="2400" baseline="-25000" dirty="0"/>
              <a:t>5</a:t>
            </a:r>
            <a:r>
              <a:rPr lang="en-US" altLang="zh-CN" sz="2400" dirty="0"/>
              <a:t>),(v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,v</a:t>
            </a:r>
            <a:r>
              <a:rPr lang="en-US" altLang="zh-CN" sz="2400" baseline="-25000" dirty="0"/>
              <a:t>6</a:t>
            </a:r>
            <a:r>
              <a:rPr lang="en-US" altLang="zh-CN" sz="2400" dirty="0"/>
              <a:t>)}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/>
              <a:t>截量：</a:t>
            </a:r>
            <a:r>
              <a:rPr lang="en-US" altLang="zh-CN" sz="2400" dirty="0"/>
              <a:t>26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5461DF6-8D19-401B-A755-DB6731BC9217}"/>
              </a:ext>
            </a:extLst>
          </p:cNvPr>
          <p:cNvGrpSpPr/>
          <p:nvPr/>
        </p:nvGrpSpPr>
        <p:grpSpPr>
          <a:xfrm>
            <a:off x="3377612" y="3598898"/>
            <a:ext cx="5652795" cy="2667000"/>
            <a:chOff x="1295400" y="3429000"/>
            <a:chExt cx="6477000" cy="3055863"/>
          </a:xfrm>
        </p:grpSpPr>
        <p:sp>
          <p:nvSpPr>
            <p:cNvPr id="49" name="Oval 4">
              <a:extLst>
                <a:ext uri="{FF2B5EF4-FFF2-40B4-BE49-F238E27FC236}">
                  <a16:creationId xmlns:a16="http://schemas.microsoft.com/office/drawing/2014/main" id="{D7891DEB-D631-4E59-A20B-11710BD2C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47244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v</a:t>
              </a:r>
              <a:r>
                <a:rPr lang="en-US" altLang="zh-CN" sz="1800" baseline="-2500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0" name="Oval 5">
              <a:extLst>
                <a:ext uri="{FF2B5EF4-FFF2-40B4-BE49-F238E27FC236}">
                  <a16:creationId xmlns:a16="http://schemas.microsoft.com/office/drawing/2014/main" id="{2D9909EB-EF81-4A42-82E4-3ACE8A26A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6576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v</a:t>
              </a:r>
              <a:r>
                <a:rPr lang="en-US" altLang="zh-CN" sz="1800" baseline="-2500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51" name="Oval 7">
              <a:extLst>
                <a:ext uri="{FF2B5EF4-FFF2-40B4-BE49-F238E27FC236}">
                  <a16:creationId xmlns:a16="http://schemas.microsoft.com/office/drawing/2014/main" id="{23699AFD-69D0-4642-9807-ABEABF096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57912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bg1"/>
                  </a:solidFill>
                </a:rPr>
                <a:t>v</a:t>
              </a:r>
              <a:r>
                <a:rPr lang="en-US" altLang="zh-CN" sz="1800" baseline="-250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52" name="Oval 8">
              <a:extLst>
                <a:ext uri="{FF2B5EF4-FFF2-40B4-BE49-F238E27FC236}">
                  <a16:creationId xmlns:a16="http://schemas.microsoft.com/office/drawing/2014/main" id="{0C0BBF3E-10D4-4506-A64E-02185F159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36576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bg1"/>
                  </a:solidFill>
                </a:rPr>
                <a:t>v</a:t>
              </a:r>
              <a:r>
                <a:rPr lang="en-US" altLang="zh-CN" sz="1800" baseline="-25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9DCACD76-ECFB-437D-965A-48BC84109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57912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v</a:t>
              </a:r>
              <a:r>
                <a:rPr lang="en-US" altLang="zh-CN" sz="1800" baseline="-250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54" name="Oval 10">
              <a:extLst>
                <a:ext uri="{FF2B5EF4-FFF2-40B4-BE49-F238E27FC236}">
                  <a16:creationId xmlns:a16="http://schemas.microsoft.com/office/drawing/2014/main" id="{E21639FA-CE76-41A0-9250-751E22CB7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47244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v</a:t>
              </a:r>
              <a:r>
                <a:rPr lang="en-US" altLang="zh-CN" sz="1800" baseline="-2500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55" name="Line 12">
              <a:extLst>
                <a:ext uri="{FF2B5EF4-FFF2-40B4-BE49-F238E27FC236}">
                  <a16:creationId xmlns:a16="http://schemas.microsoft.com/office/drawing/2014/main" id="{4B952E6B-867B-412C-B7F2-11A006D1AC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76400" y="4038600"/>
              <a:ext cx="144780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56" name="Line 13">
              <a:extLst>
                <a:ext uri="{FF2B5EF4-FFF2-40B4-BE49-F238E27FC236}">
                  <a16:creationId xmlns:a16="http://schemas.microsoft.com/office/drawing/2014/main" id="{3B36CA2A-714C-44A2-A4C1-AA04ADB5C1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6400" y="5105400"/>
              <a:ext cx="144780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57" name="Line 14">
              <a:extLst>
                <a:ext uri="{FF2B5EF4-FFF2-40B4-BE49-F238E27FC236}">
                  <a16:creationId xmlns:a16="http://schemas.microsoft.com/office/drawing/2014/main" id="{27145EDE-48EC-4DBE-8DB8-2CD3EB39CC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800" y="4114800"/>
              <a:ext cx="0" cy="1676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58" name="Line 15">
              <a:extLst>
                <a:ext uri="{FF2B5EF4-FFF2-40B4-BE49-F238E27FC236}">
                  <a16:creationId xmlns:a16="http://schemas.microsoft.com/office/drawing/2014/main" id="{3DB6349B-8EC9-46FA-ABA0-1A213447E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1400" y="3886200"/>
              <a:ext cx="1752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59" name="Line 16">
              <a:extLst>
                <a:ext uri="{FF2B5EF4-FFF2-40B4-BE49-F238E27FC236}">
                  <a16:creationId xmlns:a16="http://schemas.microsoft.com/office/drawing/2014/main" id="{8E729C76-7D17-4553-8CB9-7CAD757FF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1400" y="6019800"/>
              <a:ext cx="1752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60" name="Line 17">
              <a:extLst>
                <a:ext uri="{FF2B5EF4-FFF2-40B4-BE49-F238E27FC236}">
                  <a16:creationId xmlns:a16="http://schemas.microsoft.com/office/drawing/2014/main" id="{4740736F-3DE3-48A6-8862-A808CFFF7B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4114800"/>
              <a:ext cx="0" cy="1676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61" name="Line 18">
              <a:extLst>
                <a:ext uri="{FF2B5EF4-FFF2-40B4-BE49-F238E27FC236}">
                  <a16:creationId xmlns:a16="http://schemas.microsoft.com/office/drawing/2014/main" id="{EB95C4DC-E187-410F-BC66-1DDD3271F5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4038600"/>
              <a:ext cx="1828800" cy="1828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62" name="Line 19">
              <a:extLst>
                <a:ext uri="{FF2B5EF4-FFF2-40B4-BE49-F238E27FC236}">
                  <a16:creationId xmlns:a16="http://schemas.microsoft.com/office/drawing/2014/main" id="{C0CB6A5D-59CB-4721-965F-7127045235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200" y="4038600"/>
              <a:ext cx="1905000" cy="1828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63" name="Line 20">
              <a:extLst>
                <a:ext uri="{FF2B5EF4-FFF2-40B4-BE49-F238E27FC236}">
                  <a16:creationId xmlns:a16="http://schemas.microsoft.com/office/drawing/2014/main" id="{0FDA5E7D-1732-4778-A2EC-52BE9B6A73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5000" y="4038600"/>
              <a:ext cx="160020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64" name="Line 21">
              <a:extLst>
                <a:ext uri="{FF2B5EF4-FFF2-40B4-BE49-F238E27FC236}">
                  <a16:creationId xmlns:a16="http://schemas.microsoft.com/office/drawing/2014/main" id="{A5933EFD-F824-41C3-BC5E-C85D29CAA7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91200" y="5105400"/>
              <a:ext cx="152400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65" name="Text Box 22">
              <a:extLst>
                <a:ext uri="{FF2B5EF4-FFF2-40B4-BE49-F238E27FC236}">
                  <a16:creationId xmlns:a16="http://schemas.microsoft.com/office/drawing/2014/main" id="{E65FAA5D-A0B9-40DA-A866-DFC9E1471E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4999" y="40386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10</a:t>
              </a:r>
            </a:p>
          </p:txBody>
        </p:sp>
        <p:sp>
          <p:nvSpPr>
            <p:cNvPr id="66" name="Text Box 23">
              <a:extLst>
                <a:ext uri="{FF2B5EF4-FFF2-40B4-BE49-F238E27FC236}">
                  <a16:creationId xmlns:a16="http://schemas.microsoft.com/office/drawing/2014/main" id="{3B4F1AA6-3E46-4760-AC13-A532809FF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1" y="53340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8</a:t>
              </a:r>
            </a:p>
          </p:txBody>
        </p:sp>
        <p:sp>
          <p:nvSpPr>
            <p:cNvPr id="67" name="Text Box 24">
              <a:extLst>
                <a:ext uri="{FF2B5EF4-FFF2-40B4-BE49-F238E27FC236}">
                  <a16:creationId xmlns:a16="http://schemas.microsoft.com/office/drawing/2014/main" id="{A02A1C1B-4C48-41E5-8452-B61089CA8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0" y="34290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5</a:t>
              </a:r>
            </a:p>
          </p:txBody>
        </p:sp>
        <p:sp>
          <p:nvSpPr>
            <p:cNvPr id="68" name="Text Box 25">
              <a:extLst>
                <a:ext uri="{FF2B5EF4-FFF2-40B4-BE49-F238E27FC236}">
                  <a16:creationId xmlns:a16="http://schemas.microsoft.com/office/drawing/2014/main" id="{99D87910-FC3E-4812-9B30-A5456F90E2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0" y="59436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6</a:t>
              </a:r>
            </a:p>
          </p:txBody>
        </p:sp>
        <p:sp>
          <p:nvSpPr>
            <p:cNvPr id="69" name="Text Box 26">
              <a:extLst>
                <a:ext uri="{FF2B5EF4-FFF2-40B4-BE49-F238E27FC236}">
                  <a16:creationId xmlns:a16="http://schemas.microsoft.com/office/drawing/2014/main" id="{3DDD3275-549C-4D6B-9A32-4C6C9E70CF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0" y="40386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3</a:t>
              </a:r>
            </a:p>
          </p:txBody>
        </p:sp>
        <p:sp>
          <p:nvSpPr>
            <p:cNvPr id="70" name="Text Box 27">
              <a:extLst>
                <a:ext uri="{FF2B5EF4-FFF2-40B4-BE49-F238E27FC236}">
                  <a16:creationId xmlns:a16="http://schemas.microsoft.com/office/drawing/2014/main" id="{96787EDF-88C2-460C-AFD8-9E53E9D78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6200" y="53340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5</a:t>
              </a:r>
            </a:p>
          </p:txBody>
        </p:sp>
        <p:sp>
          <p:nvSpPr>
            <p:cNvPr id="71" name="Text Box 28">
              <a:extLst>
                <a:ext uri="{FF2B5EF4-FFF2-40B4-BE49-F238E27FC236}">
                  <a16:creationId xmlns:a16="http://schemas.microsoft.com/office/drawing/2014/main" id="{3A642E3F-5F48-4345-A5A5-F40CE3A3DE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9624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11</a:t>
              </a:r>
            </a:p>
          </p:txBody>
        </p:sp>
        <p:sp>
          <p:nvSpPr>
            <p:cNvPr id="72" name="Text Box 29">
              <a:extLst>
                <a:ext uri="{FF2B5EF4-FFF2-40B4-BE49-F238E27FC236}">
                  <a16:creationId xmlns:a16="http://schemas.microsoft.com/office/drawing/2014/main" id="{1044EAA3-59D4-4CE7-A4D3-030B69407D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2599" y="46482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3</a:t>
              </a:r>
            </a:p>
          </p:txBody>
        </p:sp>
        <p:sp>
          <p:nvSpPr>
            <p:cNvPr id="73" name="Text Box 30">
              <a:extLst>
                <a:ext uri="{FF2B5EF4-FFF2-40B4-BE49-F238E27FC236}">
                  <a16:creationId xmlns:a16="http://schemas.microsoft.com/office/drawing/2014/main" id="{5172AF69-B744-47E0-8EDE-412B4EA25D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599" y="5486401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17</a:t>
              </a:r>
            </a:p>
          </p:txBody>
        </p:sp>
        <p:sp>
          <p:nvSpPr>
            <p:cNvPr id="74" name="Text Box 31">
              <a:extLst>
                <a:ext uri="{FF2B5EF4-FFF2-40B4-BE49-F238E27FC236}">
                  <a16:creationId xmlns:a16="http://schemas.microsoft.com/office/drawing/2014/main" id="{1238528C-5178-438D-B543-7246C67685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799" y="4648200"/>
              <a:ext cx="685801" cy="54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/>
                <a:t>4</a:t>
              </a: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BBA91E89-4B0C-4EA7-ACD8-9A822D4223CB}"/>
              </a:ext>
            </a:extLst>
          </p:cNvPr>
          <p:cNvSpPr/>
          <p:nvPr/>
        </p:nvSpPr>
        <p:spPr>
          <a:xfrm>
            <a:off x="-48607" y="4896099"/>
            <a:ext cx="3102407" cy="18158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dirty="0"/>
              <a:t>截集就是我们从起点团簇 向终点团簇的通道，没有别的路（弧）可以走！</a:t>
            </a:r>
            <a:endParaRPr lang="en-US" altLang="zh-CN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A561917-7803-4382-82F2-0C9A2D2013FE}"/>
              </a:ext>
            </a:extLst>
          </p:cNvPr>
          <p:cNvGrpSpPr/>
          <p:nvPr/>
        </p:nvGrpSpPr>
        <p:grpSpPr>
          <a:xfrm>
            <a:off x="3710128" y="4186012"/>
            <a:ext cx="4755022" cy="1467076"/>
            <a:chOff x="3710128" y="4186012"/>
            <a:chExt cx="4755022" cy="1467076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E51B3602-D1DA-4AD5-906C-30FE540443C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710128" y="5061974"/>
              <a:ext cx="1087810" cy="591114"/>
            </a:xfrm>
            <a:prstGeom prst="line">
              <a:avLst/>
            </a:prstGeom>
            <a:noFill/>
            <a:ln w="57150" cap="flat" cmpd="sng" algn="ctr">
              <a:solidFill>
                <a:srgbClr val="0049D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BB066E94-50D7-4B54-B37F-47B956FFEB0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01316" y="4186012"/>
              <a:ext cx="1163834" cy="569768"/>
            </a:xfrm>
            <a:prstGeom prst="line">
              <a:avLst/>
            </a:prstGeom>
            <a:noFill/>
            <a:ln w="57150" cap="flat" cmpd="sng" algn="ctr">
              <a:solidFill>
                <a:srgbClr val="0049D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0078303B-5698-4CC1-8AF5-AF33B664E06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73205" y="4243130"/>
              <a:ext cx="0" cy="1186770"/>
            </a:xfrm>
            <a:prstGeom prst="line">
              <a:avLst/>
            </a:prstGeom>
            <a:noFill/>
            <a:ln w="57150" cap="flat" cmpd="sng" algn="ctr">
              <a:solidFill>
                <a:srgbClr val="0049D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9A9B6BA7-B901-473F-A451-2DB85056D54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05841" y="4243130"/>
              <a:ext cx="1375959" cy="1387555"/>
            </a:xfrm>
            <a:prstGeom prst="line">
              <a:avLst/>
            </a:prstGeom>
            <a:noFill/>
            <a:ln w="57150" cap="flat" cmpd="sng" algn="ctr">
              <a:solidFill>
                <a:srgbClr val="0049D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3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1" grpId="0" uiExpand="1" build="p"/>
      <p:bldP spid="263209" grpId="0" uiExpand="1" build="p"/>
      <p:bldP spid="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68B8CA5D-3854-4C73-AC0B-022DDAC5E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截量与流量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C31DDFB9-9CBC-481E-9960-24248B787B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截集不是唯一的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任一可行流的流量都不会超过任一截集的截量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i="1" dirty="0"/>
              <a:t>最大流量</a:t>
            </a:r>
            <a:r>
              <a:rPr lang="en-US" altLang="zh-CN" i="1" dirty="0"/>
              <a:t>=</a:t>
            </a:r>
            <a:r>
              <a:rPr lang="zh-CN" altLang="en-US" i="1" dirty="0"/>
              <a:t>最小截量</a:t>
            </a:r>
            <a:endParaRPr lang="en-US" altLang="zh-CN" i="1" dirty="0"/>
          </a:p>
          <a:p>
            <a:pPr lvl="1" eaLnBrk="1" hangingPunct="1">
              <a:lnSpc>
                <a:spcPct val="90000"/>
              </a:lnSpc>
            </a:pPr>
            <a:endParaRPr lang="en-US" altLang="zh-CN" dirty="0">
              <a:solidFill>
                <a:srgbClr val="FF33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FF3300"/>
                </a:solidFill>
              </a:rPr>
              <a:t>最大流量最小截量定理：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网络的最大流量等于最小截量</a:t>
            </a:r>
          </a:p>
          <a:p>
            <a:pPr eaLnBrk="1" hangingPunct="1">
              <a:lnSpc>
                <a:spcPct val="90000"/>
              </a:lnSpc>
            </a:pPr>
            <a:endParaRPr lang="zh-CN" altLang="en-US" dirty="0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4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4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5A594D67-90DF-4E66-808A-E5AC2A1686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链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651F3F81-F710-4C49-8034-9B606B252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830489"/>
            <a:ext cx="8229600" cy="4987925"/>
          </a:xfrm>
        </p:spPr>
        <p:txBody>
          <a:bodyPr/>
          <a:lstStyle/>
          <a:p>
            <a:pPr eaLnBrk="1" hangingPunct="1"/>
            <a:r>
              <a:rPr lang="en-US" altLang="zh-CN" i="1" dirty="0"/>
              <a:t>f </a:t>
            </a:r>
            <a:r>
              <a:rPr lang="zh-CN" altLang="en-US" dirty="0"/>
              <a:t>为一可行流，</a:t>
            </a:r>
            <a:r>
              <a:rPr lang="en-US" altLang="zh-CN" dirty="0"/>
              <a:t>u</a:t>
            </a:r>
            <a:r>
              <a:rPr lang="zh-CN" altLang="en-US" dirty="0"/>
              <a:t>为</a:t>
            </a:r>
            <a:r>
              <a:rPr lang="en-US" altLang="zh-CN" dirty="0"/>
              <a:t>v</a:t>
            </a:r>
            <a:r>
              <a:rPr lang="en-US" altLang="zh-CN" baseline="-25000" dirty="0"/>
              <a:t>s</a:t>
            </a:r>
            <a:r>
              <a:rPr lang="zh-CN" altLang="en-US" dirty="0"/>
              <a:t>至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t</a:t>
            </a:r>
            <a:r>
              <a:rPr lang="zh-CN" altLang="en-US" dirty="0"/>
              <a:t>的链（意味着不用看弧的方向）。若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u</a:t>
            </a:r>
            <a:r>
              <a:rPr lang="en-US" altLang="zh-CN" baseline="30000" dirty="0"/>
              <a:t>+</a:t>
            </a:r>
            <a:r>
              <a:rPr lang="en-US" altLang="zh-CN" dirty="0"/>
              <a:t>={</a:t>
            </a:r>
            <a:r>
              <a:rPr lang="zh-CN" altLang="en-US" dirty="0"/>
              <a:t>链方向与弧相同（前向弧）</a:t>
            </a:r>
            <a:r>
              <a:rPr lang="en-US" altLang="zh-CN" dirty="0"/>
              <a:t>}</a:t>
            </a:r>
          </a:p>
          <a:p>
            <a:pPr lvl="1" eaLnBrk="1" hangingPunct="1"/>
            <a:r>
              <a:rPr lang="en-US" altLang="zh-CN" dirty="0"/>
              <a:t>u</a:t>
            </a:r>
            <a:r>
              <a:rPr lang="en-US" altLang="zh-CN" baseline="30000" dirty="0"/>
              <a:t>- </a:t>
            </a:r>
            <a:r>
              <a:rPr lang="en-US" altLang="zh-CN" dirty="0"/>
              <a:t>={</a:t>
            </a:r>
            <a:r>
              <a:rPr lang="zh-CN" altLang="en-US" dirty="0"/>
              <a:t>链方向与弧相反（后向弧）</a:t>
            </a:r>
            <a:r>
              <a:rPr lang="en-US" altLang="zh-CN" dirty="0"/>
              <a:t>}</a:t>
            </a:r>
          </a:p>
        </p:txBody>
      </p:sp>
      <p:sp>
        <p:nvSpPr>
          <p:cNvPr id="38" name="Oval 4">
            <a:extLst>
              <a:ext uri="{FF2B5EF4-FFF2-40B4-BE49-F238E27FC236}">
                <a16:creationId xmlns:a16="http://schemas.microsoft.com/office/drawing/2014/main" id="{59F99148-DC45-4943-BCAE-1AF415EE8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495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9" name="Oval 5">
            <a:extLst>
              <a:ext uri="{FF2B5EF4-FFF2-40B4-BE49-F238E27FC236}">
                <a16:creationId xmlns:a16="http://schemas.microsoft.com/office/drawing/2014/main" id="{0559562C-624C-4FA3-8A5A-C1BCFA6A8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4290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v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1" name="Oval 7">
            <a:extLst>
              <a:ext uri="{FF2B5EF4-FFF2-40B4-BE49-F238E27FC236}">
                <a16:creationId xmlns:a16="http://schemas.microsoft.com/office/drawing/2014/main" id="{D00C26A8-F88D-4931-943A-9AFBFB595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5562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2" name="Oval 8">
            <a:extLst>
              <a:ext uri="{FF2B5EF4-FFF2-40B4-BE49-F238E27FC236}">
                <a16:creationId xmlns:a16="http://schemas.microsoft.com/office/drawing/2014/main" id="{5E0DECBC-9640-49A8-9D86-F8D21881A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4290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3" name="Oval 9">
            <a:extLst>
              <a:ext uri="{FF2B5EF4-FFF2-40B4-BE49-F238E27FC236}">
                <a16:creationId xmlns:a16="http://schemas.microsoft.com/office/drawing/2014/main" id="{AD9014ED-1BC1-4D72-AC0D-A308F889D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562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4" name="Oval 10">
            <a:extLst>
              <a:ext uri="{FF2B5EF4-FFF2-40B4-BE49-F238E27FC236}">
                <a16:creationId xmlns:a16="http://schemas.microsoft.com/office/drawing/2014/main" id="{2A0F1236-475A-4FFD-A420-3EEDA8206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495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5" name="Line 12">
            <a:extLst>
              <a:ext uri="{FF2B5EF4-FFF2-40B4-BE49-F238E27FC236}">
                <a16:creationId xmlns:a16="http://schemas.microsoft.com/office/drawing/2014/main" id="{FD682F14-7875-4292-A699-E20A5BAE54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0200" y="38100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Line 13">
            <a:extLst>
              <a:ext uri="{FF2B5EF4-FFF2-40B4-BE49-F238E27FC236}">
                <a16:creationId xmlns:a16="http://schemas.microsoft.com/office/drawing/2014/main" id="{2F621553-4CFE-4CDD-8DE3-869132A05F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876800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Line 14">
            <a:extLst>
              <a:ext uri="{FF2B5EF4-FFF2-40B4-BE49-F238E27FC236}">
                <a16:creationId xmlns:a16="http://schemas.microsoft.com/office/drawing/2014/main" id="{86FE8656-79A1-4D09-AAC4-81AABE0DA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8862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Line 15">
            <a:extLst>
              <a:ext uri="{FF2B5EF4-FFF2-40B4-BE49-F238E27FC236}">
                <a16:creationId xmlns:a16="http://schemas.microsoft.com/office/drawing/2014/main" id="{56262AF3-207F-4830-B231-946C337EF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6576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16">
            <a:extLst>
              <a:ext uri="{FF2B5EF4-FFF2-40B4-BE49-F238E27FC236}">
                <a16:creationId xmlns:a16="http://schemas.microsoft.com/office/drawing/2014/main" id="{F4D9FF55-1FEC-4F3D-9E95-0FB6E4A08A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7912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Line 17">
            <a:extLst>
              <a:ext uri="{FF2B5EF4-FFF2-40B4-BE49-F238E27FC236}">
                <a16:creationId xmlns:a16="http://schemas.microsoft.com/office/drawing/2014/main" id="{B68D54EC-143E-4606-A746-E3ADB2629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8862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Line 18">
            <a:extLst>
              <a:ext uri="{FF2B5EF4-FFF2-40B4-BE49-F238E27FC236}">
                <a16:creationId xmlns:a16="http://schemas.microsoft.com/office/drawing/2014/main" id="{72397669-E14F-4230-9718-93E4615A1C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3810000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Line 19">
            <a:extLst>
              <a:ext uri="{FF2B5EF4-FFF2-40B4-BE49-F238E27FC236}">
                <a16:creationId xmlns:a16="http://schemas.microsoft.com/office/drawing/2014/main" id="{08686925-D1EB-438E-9808-77D6D354A5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3810000"/>
            <a:ext cx="19050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Line 20">
            <a:extLst>
              <a:ext uri="{FF2B5EF4-FFF2-40B4-BE49-F238E27FC236}">
                <a16:creationId xmlns:a16="http://schemas.microsoft.com/office/drawing/2014/main" id="{18F0C445-65EE-45B0-B0D0-F7C95720A93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3810000"/>
            <a:ext cx="1600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Line 21">
            <a:extLst>
              <a:ext uri="{FF2B5EF4-FFF2-40B4-BE49-F238E27FC236}">
                <a16:creationId xmlns:a16="http://schemas.microsoft.com/office/drawing/2014/main" id="{1786CE59-3921-442F-8A08-F69B36AAE9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5000" y="4876800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Text Box 22">
            <a:extLst>
              <a:ext uri="{FF2B5EF4-FFF2-40B4-BE49-F238E27FC236}">
                <a16:creationId xmlns:a16="http://schemas.microsoft.com/office/drawing/2014/main" id="{AA4D493B-9FA0-4EFA-ADAA-D6E9A1771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810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10</a:t>
            </a:r>
          </a:p>
        </p:txBody>
      </p:sp>
      <p:sp>
        <p:nvSpPr>
          <p:cNvPr id="56" name="Text Box 23">
            <a:extLst>
              <a:ext uri="{FF2B5EF4-FFF2-40B4-BE49-F238E27FC236}">
                <a16:creationId xmlns:a16="http://schemas.microsoft.com/office/drawing/2014/main" id="{B9AAB3AB-CC24-4502-9CCD-396B8E98C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105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8</a:t>
            </a:r>
          </a:p>
        </p:txBody>
      </p:sp>
      <p:sp>
        <p:nvSpPr>
          <p:cNvPr id="57" name="Text Box 24">
            <a:extLst>
              <a:ext uri="{FF2B5EF4-FFF2-40B4-BE49-F238E27FC236}">
                <a16:creationId xmlns:a16="http://schemas.microsoft.com/office/drawing/2014/main" id="{02DFE2AF-FDC3-4884-80CD-6D9394431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200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58" name="Text Box 25">
            <a:extLst>
              <a:ext uri="{FF2B5EF4-FFF2-40B4-BE49-F238E27FC236}">
                <a16:creationId xmlns:a16="http://schemas.microsoft.com/office/drawing/2014/main" id="{D23D9BEA-8DD6-4E09-9B1E-F4754A15D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715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6</a:t>
            </a:r>
          </a:p>
        </p:txBody>
      </p:sp>
      <p:sp>
        <p:nvSpPr>
          <p:cNvPr id="59" name="Text Box 26">
            <a:extLst>
              <a:ext uri="{FF2B5EF4-FFF2-40B4-BE49-F238E27FC236}">
                <a16:creationId xmlns:a16="http://schemas.microsoft.com/office/drawing/2014/main" id="{4B82005D-6BC7-49E7-84B5-67331ECF5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810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60" name="Text Box 27">
            <a:extLst>
              <a:ext uri="{FF2B5EF4-FFF2-40B4-BE49-F238E27FC236}">
                <a16:creationId xmlns:a16="http://schemas.microsoft.com/office/drawing/2014/main" id="{29EE016C-D3F6-428E-8E3C-E996EA4A1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105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61" name="Text Box 28">
            <a:extLst>
              <a:ext uri="{FF2B5EF4-FFF2-40B4-BE49-F238E27FC236}">
                <a16:creationId xmlns:a16="http://schemas.microsoft.com/office/drawing/2014/main" id="{0E7C9B81-CBAA-407D-B19B-C74022748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7338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11</a:t>
            </a:r>
          </a:p>
        </p:txBody>
      </p:sp>
      <p:sp>
        <p:nvSpPr>
          <p:cNvPr id="62" name="Text Box 29">
            <a:extLst>
              <a:ext uri="{FF2B5EF4-FFF2-40B4-BE49-F238E27FC236}">
                <a16:creationId xmlns:a16="http://schemas.microsoft.com/office/drawing/2014/main" id="{950638B1-5F39-46DC-9183-08CF00575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419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63" name="Text Box 30">
            <a:extLst>
              <a:ext uri="{FF2B5EF4-FFF2-40B4-BE49-F238E27FC236}">
                <a16:creationId xmlns:a16="http://schemas.microsoft.com/office/drawing/2014/main" id="{254782CA-0DED-4DEF-BA6B-823AF0934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2578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17</a:t>
            </a:r>
          </a:p>
        </p:txBody>
      </p:sp>
      <p:sp>
        <p:nvSpPr>
          <p:cNvPr id="64" name="Text Box 31">
            <a:extLst>
              <a:ext uri="{FF2B5EF4-FFF2-40B4-BE49-F238E27FC236}">
                <a16:creationId xmlns:a16="http://schemas.microsoft.com/office/drawing/2014/main" id="{14B2D62F-F62F-4C96-B2E2-B13F12920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419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4</a:t>
            </a:r>
          </a:p>
        </p:txBody>
      </p:sp>
      <p:sp>
        <p:nvSpPr>
          <p:cNvPr id="65" name="Text Box 32">
            <a:extLst>
              <a:ext uri="{FF2B5EF4-FFF2-40B4-BE49-F238E27FC236}">
                <a16:creationId xmlns:a16="http://schemas.microsoft.com/office/drawing/2014/main" id="{3A7A11B6-A3C5-4297-B3D4-64BA6E523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6" name="Text Box 33">
            <a:extLst>
              <a:ext uri="{FF2B5EF4-FFF2-40B4-BE49-F238E27FC236}">
                <a16:creationId xmlns:a16="http://schemas.microsoft.com/office/drawing/2014/main" id="{75B9CD35-DFFB-4BAE-9326-ED95EFE89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33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7" name="Text Box 34">
            <a:extLst>
              <a:ext uri="{FF2B5EF4-FFF2-40B4-BE49-F238E27FC236}">
                <a16:creationId xmlns:a16="http://schemas.microsoft.com/office/drawing/2014/main" id="{B351F6F0-2122-448E-AB96-0170C0207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8" name="Text Box 35">
            <a:extLst>
              <a:ext uri="{FF2B5EF4-FFF2-40B4-BE49-F238E27FC236}">
                <a16:creationId xmlns:a16="http://schemas.microsoft.com/office/drawing/2014/main" id="{37C0F58B-0A29-464B-B19C-8A34F5542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038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9" name="Text Box 36">
            <a:extLst>
              <a:ext uri="{FF2B5EF4-FFF2-40B4-BE49-F238E27FC236}">
                <a16:creationId xmlns:a16="http://schemas.microsoft.com/office/drawing/2014/main" id="{4453A82A-8D1C-46CB-933A-56DD7A243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800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0" name="Text Box 37">
            <a:extLst>
              <a:ext uri="{FF2B5EF4-FFF2-40B4-BE49-F238E27FC236}">
                <a16:creationId xmlns:a16="http://schemas.microsoft.com/office/drawing/2014/main" id="{7E721D8D-8167-4ED8-B58F-1A7A78D80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876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1" name="Text Box 38">
            <a:extLst>
              <a:ext uri="{FF2B5EF4-FFF2-40B4-BE49-F238E27FC236}">
                <a16:creationId xmlns:a16="http://schemas.microsoft.com/office/drawing/2014/main" id="{40AF54A8-2732-49BE-B2FB-9D2126EA6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71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2" name="Text Box 39">
            <a:extLst>
              <a:ext uri="{FF2B5EF4-FFF2-40B4-BE49-F238E27FC236}">
                <a16:creationId xmlns:a16="http://schemas.microsoft.com/office/drawing/2014/main" id="{5E8D3513-F630-493C-86DE-B21B89A2D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886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3" name="Text Box 40">
            <a:extLst>
              <a:ext uri="{FF2B5EF4-FFF2-40B4-BE49-F238E27FC236}">
                <a16:creationId xmlns:a16="http://schemas.microsoft.com/office/drawing/2014/main" id="{141C0835-BA54-4BDF-A04A-6B7A90BAA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724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4" name="Text Box 41">
            <a:extLst>
              <a:ext uri="{FF2B5EF4-FFF2-40B4-BE49-F238E27FC236}">
                <a16:creationId xmlns:a16="http://schemas.microsoft.com/office/drawing/2014/main" id="{762254A7-6E95-4E3B-9E19-5C5576B32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105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C9D8F44-4FEA-4686-B6A1-4089968B315E}"/>
              </a:ext>
            </a:extLst>
          </p:cNvPr>
          <p:cNvGrpSpPr/>
          <p:nvPr/>
        </p:nvGrpSpPr>
        <p:grpSpPr>
          <a:xfrm>
            <a:off x="1752600" y="3810000"/>
            <a:ext cx="5372101" cy="1794102"/>
            <a:chOff x="1752600" y="3810000"/>
            <a:chExt cx="5372101" cy="1794102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B97740C0-14A5-454F-AA82-2EE07C8689B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752600" y="4953000"/>
              <a:ext cx="1141889" cy="651102"/>
            </a:xfrm>
            <a:prstGeom prst="line">
              <a:avLst/>
            </a:prstGeom>
            <a:noFill/>
            <a:ln w="5715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D449738E-8934-418E-8CC2-3747D7BF786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468211" y="3903549"/>
              <a:ext cx="1771095" cy="1679121"/>
            </a:xfrm>
            <a:prstGeom prst="line">
              <a:avLst/>
            </a:prstGeom>
            <a:noFill/>
            <a:ln w="5715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6788C00-B4DD-428C-AC43-EDB26DEC2DAE}"/>
                </a:ext>
              </a:extLst>
            </p:cNvPr>
            <p:cNvCxnSpPr>
              <a:cxnSpLocks/>
              <a:stCxn id="53" idx="0"/>
            </p:cNvCxnSpPr>
            <p:nvPr/>
          </p:nvCxnSpPr>
          <p:spPr bwMode="auto">
            <a:xfrm>
              <a:off x="5638800" y="3810000"/>
              <a:ext cx="1485901" cy="762000"/>
            </a:xfrm>
            <a:prstGeom prst="line">
              <a:avLst/>
            </a:prstGeom>
            <a:noFill/>
            <a:ln w="5715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6F56CC5-9878-4EFD-AC53-3F5EE1884FDA}"/>
              </a:ext>
            </a:extLst>
          </p:cNvPr>
          <p:cNvGrpSpPr/>
          <p:nvPr/>
        </p:nvGrpSpPr>
        <p:grpSpPr>
          <a:xfrm>
            <a:off x="2270119" y="3879699"/>
            <a:ext cx="5035253" cy="2352725"/>
            <a:chOff x="2270119" y="3879699"/>
            <a:chExt cx="5035253" cy="2352725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74D0552-2620-499B-89FD-94838E76961E}"/>
                </a:ext>
              </a:extLst>
            </p:cNvPr>
            <p:cNvSpPr txBox="1"/>
            <p:nvPr/>
          </p:nvSpPr>
          <p:spPr>
            <a:xfrm>
              <a:off x="2270119" y="5709204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+5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1C8D9D9B-03B9-47C7-A969-ECA37E14B441}"/>
                </a:ext>
              </a:extLst>
            </p:cNvPr>
            <p:cNvSpPr txBox="1"/>
            <p:nvPr/>
          </p:nvSpPr>
          <p:spPr>
            <a:xfrm>
              <a:off x="4116913" y="5023366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+5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67EAD086-5B37-45EE-A687-943E4EC8FBCF}"/>
                </a:ext>
              </a:extLst>
            </p:cNvPr>
            <p:cNvSpPr txBox="1"/>
            <p:nvPr/>
          </p:nvSpPr>
          <p:spPr>
            <a:xfrm>
              <a:off x="6735985" y="3879699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+5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2033D44-5BB0-4F0E-BC1D-AB6C8CBA78E8}"/>
              </a:ext>
            </a:extLst>
          </p:cNvPr>
          <p:cNvSpPr txBox="1"/>
          <p:nvPr/>
        </p:nvSpPr>
        <p:spPr>
          <a:xfrm>
            <a:off x="6265302" y="3352800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只有前向弧的链</a:t>
            </a:r>
          </a:p>
        </p:txBody>
      </p:sp>
    </p:spTree>
    <p:extLst>
      <p:ext uri="{BB962C8B-B14F-4D97-AF65-F5344CB8AC3E}">
        <p14:creationId xmlns:p14="http://schemas.microsoft.com/office/powerpoint/2010/main" val="388238353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0097E-F72E-44BD-83C4-FF210303C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7DA7A7EB-DEEB-45AD-B98E-F78479550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200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CC00FCA5-D5AA-42CD-81A7-324B8DCCF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133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v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1FFA48C9-A901-413A-947B-DECBBA301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2672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6772304D-C41B-4FF1-9FA4-2C38DF58B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133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E5239686-379C-43F8-9F41-30DF9B3B4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2672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45C7116A-2408-46EA-9126-3533209E5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200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96380316-9F7A-4468-B9E1-C9C2A3F1F1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47800" y="25146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C340A5B5-CEDD-4FF1-A1AD-D3C53F7FCE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3581400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FC4D7F8A-484E-41C8-9A46-AD1F481B40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5908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4F823B9C-B9CE-42D3-A280-6578823340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23622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4DCAAE51-7C2B-449E-8A6B-4CA044C33A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4958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5637DEB3-D615-4A1A-94E8-88BC09E019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908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75C86D5C-5E47-44D9-B6D4-8C0238DC06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514600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2F68EFB0-1CFF-4DD9-84E3-EF818A4035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514600"/>
            <a:ext cx="19050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20">
            <a:extLst>
              <a:ext uri="{FF2B5EF4-FFF2-40B4-BE49-F238E27FC236}">
                <a16:creationId xmlns:a16="http://schemas.microsoft.com/office/drawing/2014/main" id="{8AD2B465-F1E9-4134-BD23-8DF0360220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514600"/>
            <a:ext cx="1600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21">
            <a:extLst>
              <a:ext uri="{FF2B5EF4-FFF2-40B4-BE49-F238E27FC236}">
                <a16:creationId xmlns:a16="http://schemas.microsoft.com/office/drawing/2014/main" id="{82BBDCC3-8EA3-43F6-8774-DC8CEA2BF0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3581400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22">
            <a:extLst>
              <a:ext uri="{FF2B5EF4-FFF2-40B4-BE49-F238E27FC236}">
                <a16:creationId xmlns:a16="http://schemas.microsoft.com/office/drawing/2014/main" id="{1E1FD3FB-9B0B-4BB7-862A-6D12A2C80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514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10</a:t>
            </a:r>
          </a:p>
        </p:txBody>
      </p:sp>
      <p:sp>
        <p:nvSpPr>
          <p:cNvPr id="21" name="Text Box 23">
            <a:extLst>
              <a:ext uri="{FF2B5EF4-FFF2-40B4-BE49-F238E27FC236}">
                <a16:creationId xmlns:a16="http://schemas.microsoft.com/office/drawing/2014/main" id="{DD168158-EF1D-4EF9-9844-59ED19CC4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810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8</a:t>
            </a:r>
          </a:p>
        </p:txBody>
      </p:sp>
      <p:sp>
        <p:nvSpPr>
          <p:cNvPr id="22" name="Text Box 24">
            <a:extLst>
              <a:ext uri="{FF2B5EF4-FFF2-40B4-BE49-F238E27FC236}">
                <a16:creationId xmlns:a16="http://schemas.microsoft.com/office/drawing/2014/main" id="{77F91B91-F126-4D24-88A8-9DA46E04F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905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23" name="Text Box 25">
            <a:extLst>
              <a:ext uri="{FF2B5EF4-FFF2-40B4-BE49-F238E27FC236}">
                <a16:creationId xmlns:a16="http://schemas.microsoft.com/office/drawing/2014/main" id="{9BDB34A2-0B67-4034-8722-0FD07621B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419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6</a:t>
            </a:r>
          </a:p>
        </p:txBody>
      </p:sp>
      <p:sp>
        <p:nvSpPr>
          <p:cNvPr id="24" name="Text Box 26">
            <a:extLst>
              <a:ext uri="{FF2B5EF4-FFF2-40B4-BE49-F238E27FC236}">
                <a16:creationId xmlns:a16="http://schemas.microsoft.com/office/drawing/2014/main" id="{817CB6A1-C3A6-439D-AAB5-E410F918D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514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25" name="Text Box 27">
            <a:extLst>
              <a:ext uri="{FF2B5EF4-FFF2-40B4-BE49-F238E27FC236}">
                <a16:creationId xmlns:a16="http://schemas.microsoft.com/office/drawing/2014/main" id="{8D872729-EADD-4002-B6D1-27E5D4E6A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810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26" name="Text Box 28">
            <a:extLst>
              <a:ext uri="{FF2B5EF4-FFF2-40B4-BE49-F238E27FC236}">
                <a16:creationId xmlns:a16="http://schemas.microsoft.com/office/drawing/2014/main" id="{B9799DE2-96D8-471C-BFD9-6BB7A869A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438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11</a:t>
            </a:r>
          </a:p>
        </p:txBody>
      </p:sp>
      <p:sp>
        <p:nvSpPr>
          <p:cNvPr id="27" name="Text Box 29">
            <a:extLst>
              <a:ext uri="{FF2B5EF4-FFF2-40B4-BE49-F238E27FC236}">
                <a16:creationId xmlns:a16="http://schemas.microsoft.com/office/drawing/2014/main" id="{7677307E-BB81-4A6A-86AE-EBCAF2D6A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124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28" name="Text Box 30">
            <a:extLst>
              <a:ext uri="{FF2B5EF4-FFF2-40B4-BE49-F238E27FC236}">
                <a16:creationId xmlns:a16="http://schemas.microsoft.com/office/drawing/2014/main" id="{0B613958-9D44-4F9B-A500-CE1A863AA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962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17</a:t>
            </a:r>
          </a:p>
        </p:txBody>
      </p:sp>
      <p:sp>
        <p:nvSpPr>
          <p:cNvPr id="29" name="Text Box 31">
            <a:extLst>
              <a:ext uri="{FF2B5EF4-FFF2-40B4-BE49-F238E27FC236}">
                <a16:creationId xmlns:a16="http://schemas.microsoft.com/office/drawing/2014/main" id="{1A0C60B6-B82F-401E-90EE-E26C618A9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124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4</a:t>
            </a:r>
          </a:p>
        </p:txBody>
      </p:sp>
      <p:sp>
        <p:nvSpPr>
          <p:cNvPr id="30" name="Text Box 32">
            <a:extLst>
              <a:ext uri="{FF2B5EF4-FFF2-40B4-BE49-F238E27FC236}">
                <a16:creationId xmlns:a16="http://schemas.microsoft.com/office/drawing/2014/main" id="{E94FEF06-0CA5-4356-A512-6A24F7584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286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1" name="Text Box 33">
            <a:extLst>
              <a:ext uri="{FF2B5EF4-FFF2-40B4-BE49-F238E27FC236}">
                <a16:creationId xmlns:a16="http://schemas.microsoft.com/office/drawing/2014/main" id="{BBFD19D2-0041-487E-A089-94B11FC3B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038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2" name="Text Box 34">
            <a:extLst>
              <a:ext uri="{FF2B5EF4-FFF2-40B4-BE49-F238E27FC236}">
                <a16:creationId xmlns:a16="http://schemas.microsoft.com/office/drawing/2014/main" id="{F487FFA9-B17D-4956-98FD-E143EFE45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90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3" name="Text Box 35">
            <a:extLst>
              <a:ext uri="{FF2B5EF4-FFF2-40B4-BE49-F238E27FC236}">
                <a16:creationId xmlns:a16="http://schemas.microsoft.com/office/drawing/2014/main" id="{102E536A-7EFA-4D05-BED8-034BCD430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743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4" name="Text Box 36">
            <a:extLst>
              <a:ext uri="{FF2B5EF4-FFF2-40B4-BE49-F238E27FC236}">
                <a16:creationId xmlns:a16="http://schemas.microsoft.com/office/drawing/2014/main" id="{92B33CEF-150E-4702-8AF7-ACE5EBCFF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505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5" name="Text Box 37">
            <a:extLst>
              <a:ext uri="{FF2B5EF4-FFF2-40B4-BE49-F238E27FC236}">
                <a16:creationId xmlns:a16="http://schemas.microsoft.com/office/drawing/2014/main" id="{E651F2C0-D054-461C-B561-02FF8AA5A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581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6" name="Text Box 38">
            <a:extLst>
              <a:ext uri="{FF2B5EF4-FFF2-40B4-BE49-F238E27FC236}">
                <a16:creationId xmlns:a16="http://schemas.microsoft.com/office/drawing/2014/main" id="{DCC980BC-221E-4EBF-A800-F5D5862C4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41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7" name="Text Box 39">
            <a:extLst>
              <a:ext uri="{FF2B5EF4-FFF2-40B4-BE49-F238E27FC236}">
                <a16:creationId xmlns:a16="http://schemas.microsoft.com/office/drawing/2014/main" id="{605F679B-DCFF-4A28-B972-ED3C8D45E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590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8" name="Text Box 40">
            <a:extLst>
              <a:ext uri="{FF2B5EF4-FFF2-40B4-BE49-F238E27FC236}">
                <a16:creationId xmlns:a16="http://schemas.microsoft.com/office/drawing/2014/main" id="{E58CE1A2-80C4-4FBE-8560-1E9F4E3D2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9" name="Text Box 41">
            <a:extLst>
              <a:ext uri="{FF2B5EF4-FFF2-40B4-BE49-F238E27FC236}">
                <a16:creationId xmlns:a16="http://schemas.microsoft.com/office/drawing/2014/main" id="{8606D19C-60BF-421F-B00E-F19A65068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5AC5C33E-BE00-4AAB-AC7A-85B1EE761518}"/>
              </a:ext>
            </a:extLst>
          </p:cNvPr>
          <p:cNvGrpSpPr/>
          <p:nvPr/>
        </p:nvGrpSpPr>
        <p:grpSpPr>
          <a:xfrm>
            <a:off x="1469627" y="2362200"/>
            <a:ext cx="5464573" cy="2133600"/>
            <a:chOff x="1412478" y="4232502"/>
            <a:chExt cx="5464573" cy="2133600"/>
          </a:xfrm>
        </p:grpSpPr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D9F5094-6D0B-4A05-9C42-FEC71319465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412478" y="4461102"/>
              <a:ext cx="1293733" cy="644298"/>
            </a:xfrm>
            <a:prstGeom prst="line">
              <a:avLst/>
            </a:prstGeom>
            <a:noFill/>
            <a:ln w="5715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88EEE422-B3F7-44AD-BBFB-91B2B55C7E55}"/>
                </a:ext>
              </a:extLst>
            </p:cNvPr>
            <p:cNvCxnSpPr>
              <a:cxnSpLocks/>
              <a:stCxn id="13" idx="0"/>
            </p:cNvCxnSpPr>
            <p:nvPr/>
          </p:nvCxnSpPr>
          <p:spPr bwMode="auto">
            <a:xfrm>
              <a:off x="3295651" y="4232502"/>
              <a:ext cx="1619251" cy="0"/>
            </a:xfrm>
            <a:prstGeom prst="line">
              <a:avLst/>
            </a:prstGeom>
            <a:noFill/>
            <a:ln w="5715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121D64C7-B0F1-4589-B35C-C6DFCE258F37}"/>
                </a:ext>
              </a:extLst>
            </p:cNvPr>
            <p:cNvCxnSpPr>
              <a:cxnSpLocks/>
              <a:endCxn id="17" idx="0"/>
            </p:cNvCxnSpPr>
            <p:nvPr/>
          </p:nvCxnSpPr>
          <p:spPr bwMode="auto">
            <a:xfrm flipH="1">
              <a:off x="3219451" y="4499202"/>
              <a:ext cx="1778000" cy="1714500"/>
            </a:xfrm>
            <a:prstGeom prst="line">
              <a:avLst/>
            </a:prstGeom>
            <a:noFill/>
            <a:ln w="5715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A8A94167-6EDC-46F2-8EF8-A135AD70964D}"/>
                </a:ext>
              </a:extLst>
            </p:cNvPr>
            <p:cNvCxnSpPr>
              <a:cxnSpLocks/>
              <a:endCxn id="14" idx="0"/>
            </p:cNvCxnSpPr>
            <p:nvPr/>
          </p:nvCxnSpPr>
          <p:spPr bwMode="auto">
            <a:xfrm flipH="1">
              <a:off x="3295651" y="6366101"/>
              <a:ext cx="1587500" cy="1"/>
            </a:xfrm>
            <a:prstGeom prst="line">
              <a:avLst/>
            </a:prstGeom>
            <a:noFill/>
            <a:ln w="5715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6868B8D2-846D-4AFD-A6C2-EE3EA9DBCEA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505451" y="5527901"/>
              <a:ext cx="1371600" cy="762000"/>
            </a:xfrm>
            <a:prstGeom prst="line">
              <a:avLst/>
            </a:prstGeom>
            <a:noFill/>
            <a:ln w="5715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9C0D5C99-E4C0-4120-BD71-5421016ADCF6}"/>
              </a:ext>
            </a:extLst>
          </p:cNvPr>
          <p:cNvSpPr txBox="1"/>
          <p:nvPr/>
        </p:nvSpPr>
        <p:spPr>
          <a:xfrm>
            <a:off x="472492" y="5160818"/>
            <a:ext cx="2555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v4-v3 </a:t>
            </a:r>
            <a:r>
              <a:rPr lang="zh-CN" altLang="en-US" dirty="0"/>
              <a:t>为后向弧</a:t>
            </a: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7CA9AC95-F79C-4C11-96B4-A12AE4FFE8E8}"/>
              </a:ext>
            </a:extLst>
          </p:cNvPr>
          <p:cNvGrpSpPr/>
          <p:nvPr/>
        </p:nvGrpSpPr>
        <p:grpSpPr>
          <a:xfrm>
            <a:off x="2270119" y="1719590"/>
            <a:ext cx="4948774" cy="3309609"/>
            <a:chOff x="2270119" y="1719590"/>
            <a:chExt cx="4948774" cy="3309609"/>
          </a:xfrm>
        </p:grpSpPr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9142332E-B7DB-497A-88C6-957B46B90731}"/>
                </a:ext>
              </a:extLst>
            </p:cNvPr>
            <p:cNvSpPr txBox="1"/>
            <p:nvPr/>
          </p:nvSpPr>
          <p:spPr>
            <a:xfrm>
              <a:off x="2270119" y="1958581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+5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15D53F2-0FDA-4639-BDB6-68FAA4339E0F}"/>
                </a:ext>
              </a:extLst>
            </p:cNvPr>
            <p:cNvSpPr txBox="1"/>
            <p:nvPr/>
          </p:nvSpPr>
          <p:spPr>
            <a:xfrm>
              <a:off x="4469338" y="1719590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+5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A9E73002-A44D-4A53-81A2-E6E325DE1DA3}"/>
                </a:ext>
              </a:extLst>
            </p:cNvPr>
            <p:cNvSpPr txBox="1"/>
            <p:nvPr/>
          </p:nvSpPr>
          <p:spPr>
            <a:xfrm>
              <a:off x="4010025" y="3687483"/>
              <a:ext cx="4844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-5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524CEB1C-7523-422D-9C87-CA1733CABD7A}"/>
                </a:ext>
              </a:extLst>
            </p:cNvPr>
            <p:cNvSpPr txBox="1"/>
            <p:nvPr/>
          </p:nvSpPr>
          <p:spPr>
            <a:xfrm>
              <a:off x="4470685" y="4505979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+5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498A1BC-2114-439C-A05E-1B4FD6093CA8}"/>
                </a:ext>
              </a:extLst>
            </p:cNvPr>
            <p:cNvSpPr txBox="1"/>
            <p:nvPr/>
          </p:nvSpPr>
          <p:spPr>
            <a:xfrm>
              <a:off x="6649506" y="3820180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+5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85242205-D530-4499-808E-60C74858F392}"/>
              </a:ext>
            </a:extLst>
          </p:cNvPr>
          <p:cNvSpPr txBox="1"/>
          <p:nvPr/>
        </p:nvSpPr>
        <p:spPr>
          <a:xfrm>
            <a:off x="5562600" y="1435361"/>
            <a:ext cx="3430747" cy="95410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经过调整，流量变大</a:t>
            </a:r>
            <a:endParaRPr lang="en-US" altLang="zh-CN" dirty="0"/>
          </a:p>
          <a:p>
            <a:r>
              <a:rPr lang="zh-CN" altLang="en-US" dirty="0"/>
              <a:t>等于</a:t>
            </a:r>
            <a:r>
              <a:rPr lang="en-US" altLang="zh-CN" dirty="0"/>
              <a:t>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718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0097E-F72E-44BD-83C4-FF210303C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7DA7A7EB-DEEB-45AD-B98E-F78479550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200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CC00FCA5-D5AA-42CD-81A7-324B8DCCF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133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v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1FFA48C9-A901-413A-947B-DECBBA301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2672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6772304D-C41B-4FF1-9FA4-2C38DF58B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133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E5239686-379C-43F8-9F41-30DF9B3B4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2672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45C7116A-2408-46EA-9126-3533209E5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200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96380316-9F7A-4468-B9E1-C9C2A3F1F1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47800" y="25146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C340A5B5-CEDD-4FF1-A1AD-D3C53F7FCE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3581400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FC4D7F8A-484E-41C8-9A46-AD1F481B40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5908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4F823B9C-B9CE-42D3-A280-6578823340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23622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4DCAAE51-7C2B-449E-8A6B-4CA044C33A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4958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5637DEB3-D615-4A1A-94E8-88BC09E019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908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75C86D5C-5E47-44D9-B6D4-8C0238DC06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514600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2F68EFB0-1CFF-4DD9-84E3-EF818A4035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514600"/>
            <a:ext cx="19050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20">
            <a:extLst>
              <a:ext uri="{FF2B5EF4-FFF2-40B4-BE49-F238E27FC236}">
                <a16:creationId xmlns:a16="http://schemas.microsoft.com/office/drawing/2014/main" id="{8AD2B465-F1E9-4134-BD23-8DF0360220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514600"/>
            <a:ext cx="1600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21">
            <a:extLst>
              <a:ext uri="{FF2B5EF4-FFF2-40B4-BE49-F238E27FC236}">
                <a16:creationId xmlns:a16="http://schemas.microsoft.com/office/drawing/2014/main" id="{82BBDCC3-8EA3-43F6-8774-DC8CEA2BF0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3581400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22">
            <a:extLst>
              <a:ext uri="{FF2B5EF4-FFF2-40B4-BE49-F238E27FC236}">
                <a16:creationId xmlns:a16="http://schemas.microsoft.com/office/drawing/2014/main" id="{1E1FD3FB-9B0B-4BB7-862A-6D12A2C80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514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10</a:t>
            </a:r>
          </a:p>
        </p:txBody>
      </p:sp>
      <p:sp>
        <p:nvSpPr>
          <p:cNvPr id="21" name="Text Box 23">
            <a:extLst>
              <a:ext uri="{FF2B5EF4-FFF2-40B4-BE49-F238E27FC236}">
                <a16:creationId xmlns:a16="http://schemas.microsoft.com/office/drawing/2014/main" id="{DD168158-EF1D-4EF9-9844-59ED19CC4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810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8</a:t>
            </a:r>
          </a:p>
        </p:txBody>
      </p:sp>
      <p:sp>
        <p:nvSpPr>
          <p:cNvPr id="22" name="Text Box 24">
            <a:extLst>
              <a:ext uri="{FF2B5EF4-FFF2-40B4-BE49-F238E27FC236}">
                <a16:creationId xmlns:a16="http://schemas.microsoft.com/office/drawing/2014/main" id="{77F91B91-F126-4D24-88A8-9DA46E04F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905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23" name="Text Box 25">
            <a:extLst>
              <a:ext uri="{FF2B5EF4-FFF2-40B4-BE49-F238E27FC236}">
                <a16:creationId xmlns:a16="http://schemas.microsoft.com/office/drawing/2014/main" id="{9BDB34A2-0B67-4034-8722-0FD07621B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419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6</a:t>
            </a:r>
          </a:p>
        </p:txBody>
      </p:sp>
      <p:sp>
        <p:nvSpPr>
          <p:cNvPr id="24" name="Text Box 26">
            <a:extLst>
              <a:ext uri="{FF2B5EF4-FFF2-40B4-BE49-F238E27FC236}">
                <a16:creationId xmlns:a16="http://schemas.microsoft.com/office/drawing/2014/main" id="{817CB6A1-C3A6-439D-AAB5-E410F918D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514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25" name="Text Box 27">
            <a:extLst>
              <a:ext uri="{FF2B5EF4-FFF2-40B4-BE49-F238E27FC236}">
                <a16:creationId xmlns:a16="http://schemas.microsoft.com/office/drawing/2014/main" id="{8D872729-EADD-4002-B6D1-27E5D4E6A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810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26" name="Text Box 28">
            <a:extLst>
              <a:ext uri="{FF2B5EF4-FFF2-40B4-BE49-F238E27FC236}">
                <a16:creationId xmlns:a16="http://schemas.microsoft.com/office/drawing/2014/main" id="{B9799DE2-96D8-471C-BFD9-6BB7A869A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438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11</a:t>
            </a:r>
          </a:p>
        </p:txBody>
      </p:sp>
      <p:sp>
        <p:nvSpPr>
          <p:cNvPr id="27" name="Text Box 29">
            <a:extLst>
              <a:ext uri="{FF2B5EF4-FFF2-40B4-BE49-F238E27FC236}">
                <a16:creationId xmlns:a16="http://schemas.microsoft.com/office/drawing/2014/main" id="{7677307E-BB81-4A6A-86AE-EBCAF2D6A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124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28" name="Text Box 30">
            <a:extLst>
              <a:ext uri="{FF2B5EF4-FFF2-40B4-BE49-F238E27FC236}">
                <a16:creationId xmlns:a16="http://schemas.microsoft.com/office/drawing/2014/main" id="{0B613958-9D44-4F9B-A500-CE1A863AA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962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17</a:t>
            </a:r>
          </a:p>
        </p:txBody>
      </p:sp>
      <p:sp>
        <p:nvSpPr>
          <p:cNvPr id="29" name="Text Box 31">
            <a:extLst>
              <a:ext uri="{FF2B5EF4-FFF2-40B4-BE49-F238E27FC236}">
                <a16:creationId xmlns:a16="http://schemas.microsoft.com/office/drawing/2014/main" id="{1A0C60B6-B82F-401E-90EE-E26C618A9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124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4</a:t>
            </a:r>
          </a:p>
        </p:txBody>
      </p:sp>
      <p:sp>
        <p:nvSpPr>
          <p:cNvPr id="30" name="Text Box 32">
            <a:extLst>
              <a:ext uri="{FF2B5EF4-FFF2-40B4-BE49-F238E27FC236}">
                <a16:creationId xmlns:a16="http://schemas.microsoft.com/office/drawing/2014/main" id="{E94FEF06-0CA5-4356-A512-6A24F7584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286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1" name="Text Box 33">
            <a:extLst>
              <a:ext uri="{FF2B5EF4-FFF2-40B4-BE49-F238E27FC236}">
                <a16:creationId xmlns:a16="http://schemas.microsoft.com/office/drawing/2014/main" id="{BBFD19D2-0041-487E-A089-94B11FC3B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038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2" name="Text Box 34">
            <a:extLst>
              <a:ext uri="{FF2B5EF4-FFF2-40B4-BE49-F238E27FC236}">
                <a16:creationId xmlns:a16="http://schemas.microsoft.com/office/drawing/2014/main" id="{F487FFA9-B17D-4956-98FD-E143EFE45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90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3" name="Text Box 35">
            <a:extLst>
              <a:ext uri="{FF2B5EF4-FFF2-40B4-BE49-F238E27FC236}">
                <a16:creationId xmlns:a16="http://schemas.microsoft.com/office/drawing/2014/main" id="{102E536A-7EFA-4D05-BED8-034BCD430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743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4" name="Text Box 36">
            <a:extLst>
              <a:ext uri="{FF2B5EF4-FFF2-40B4-BE49-F238E27FC236}">
                <a16:creationId xmlns:a16="http://schemas.microsoft.com/office/drawing/2014/main" id="{92B33CEF-150E-4702-8AF7-ACE5EBCFF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505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5" name="Text Box 37">
            <a:extLst>
              <a:ext uri="{FF2B5EF4-FFF2-40B4-BE49-F238E27FC236}">
                <a16:creationId xmlns:a16="http://schemas.microsoft.com/office/drawing/2014/main" id="{E651F2C0-D054-461C-B561-02FF8AA5A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581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6" name="Text Box 38">
            <a:extLst>
              <a:ext uri="{FF2B5EF4-FFF2-40B4-BE49-F238E27FC236}">
                <a16:creationId xmlns:a16="http://schemas.microsoft.com/office/drawing/2014/main" id="{DCC980BC-221E-4EBF-A800-F5D5862C4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41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7" name="Text Box 39">
            <a:extLst>
              <a:ext uri="{FF2B5EF4-FFF2-40B4-BE49-F238E27FC236}">
                <a16:creationId xmlns:a16="http://schemas.microsoft.com/office/drawing/2014/main" id="{605F679B-DCFF-4A28-B972-ED3C8D45E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590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8" name="Text Box 40">
            <a:extLst>
              <a:ext uri="{FF2B5EF4-FFF2-40B4-BE49-F238E27FC236}">
                <a16:creationId xmlns:a16="http://schemas.microsoft.com/office/drawing/2014/main" id="{E58CE1A2-80C4-4FBE-8560-1E9F4E3D2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9" name="Text Box 41">
            <a:extLst>
              <a:ext uri="{FF2B5EF4-FFF2-40B4-BE49-F238E27FC236}">
                <a16:creationId xmlns:a16="http://schemas.microsoft.com/office/drawing/2014/main" id="{8606D19C-60BF-421F-B00E-F19A65068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C0D5C99-E4C0-4120-BD71-5421016ADCF6}"/>
              </a:ext>
            </a:extLst>
          </p:cNvPr>
          <p:cNvSpPr txBox="1"/>
          <p:nvPr/>
        </p:nvSpPr>
        <p:spPr>
          <a:xfrm>
            <a:off x="472492" y="5160818"/>
            <a:ext cx="2555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v4-v3 </a:t>
            </a:r>
            <a:r>
              <a:rPr lang="zh-CN" altLang="en-US" dirty="0"/>
              <a:t>为后向弧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83B612-9A48-4F42-A64A-DDA530EE5AB0}"/>
              </a:ext>
            </a:extLst>
          </p:cNvPr>
          <p:cNvSpPr txBox="1"/>
          <p:nvPr/>
        </p:nvSpPr>
        <p:spPr>
          <a:xfrm>
            <a:off x="4914026" y="4996190"/>
            <a:ext cx="3430747" cy="95410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经过调整，流量变大</a:t>
            </a:r>
            <a:endParaRPr lang="en-US" altLang="zh-CN" dirty="0"/>
          </a:p>
          <a:p>
            <a:r>
              <a:rPr lang="zh-CN" altLang="en-US" dirty="0"/>
              <a:t>等于</a:t>
            </a:r>
            <a:r>
              <a:rPr lang="en-US" altLang="zh-CN" dirty="0"/>
              <a:t>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49785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5BEE5-B6B4-4AF6-A94F-F0FD6A05D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E6AEA2D-4AE8-48DE-9B41-9EC02FED7E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8461" y="703803"/>
                <a:ext cx="8229600" cy="4987925"/>
              </a:xfrm>
            </p:spPr>
            <p:txBody>
              <a:bodyPr/>
              <a:lstStyle/>
              <a:p>
                <a:r>
                  <a:rPr lang="zh-CN" altLang="en-US" dirty="0"/>
                  <a:t>我们对一条链上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前向弧加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后向弧减去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只要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满足</m:t>
                    </m:r>
                  </m:oMath>
                </a14:m>
                <a:r>
                  <a:rPr lang="zh-CN" altLang="en-US" dirty="0"/>
                  <a:t>容量约束，就还是可行解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前向弧加上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/>
                  <a:t>不能大于容量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后向弧减去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/>
                  <a:t>不能小于零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所以最大的调整量为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zh-CN" dirty="0"/>
                  <a:t>=min</a:t>
                </a:r>
                <a:r>
                  <a:rPr lang="zh-CN" altLang="en-US" dirty="0"/>
                  <a:t>（</a:t>
                </a:r>
                <a:r>
                  <a:rPr lang="en-US" altLang="zh-CN" dirty="0" err="1"/>
                  <a:t>c-f|f</a:t>
                </a:r>
                <a:r>
                  <a:rPr lang="zh-CN" altLang="en-US" dirty="0"/>
                  <a:t>为前向弧，</a:t>
                </a:r>
                <a:r>
                  <a:rPr lang="en-US" altLang="zh-CN" dirty="0" err="1"/>
                  <a:t>f|f</a:t>
                </a:r>
                <a:r>
                  <a:rPr lang="zh-CN" altLang="en-US" dirty="0"/>
                  <a:t>为后向弧）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E6AEA2D-4AE8-48DE-9B41-9EC02FED7E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8461" y="703803"/>
                <a:ext cx="8229600" cy="4987925"/>
              </a:xfrm>
              <a:blipFill>
                <a:blip r:embed="rId2"/>
                <a:stretch>
                  <a:fillRect l="-741" t="-20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组合 52">
            <a:extLst>
              <a:ext uri="{FF2B5EF4-FFF2-40B4-BE49-F238E27FC236}">
                <a16:creationId xmlns:a16="http://schemas.microsoft.com/office/drawing/2014/main" id="{76C810F6-D040-4EC2-B008-B5003F08FB1E}"/>
              </a:ext>
            </a:extLst>
          </p:cNvPr>
          <p:cNvGrpSpPr/>
          <p:nvPr/>
        </p:nvGrpSpPr>
        <p:grpSpPr>
          <a:xfrm>
            <a:off x="457200" y="4150173"/>
            <a:ext cx="4648200" cy="2552252"/>
            <a:chOff x="1066800" y="1905000"/>
            <a:chExt cx="6477000" cy="29718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BFFB27D-DA10-41B7-8335-5BAC4C770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800" y="32004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v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AE5FFD3-2F27-4CB2-82CA-B5D8C167C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21336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bg1"/>
                  </a:solidFill>
                </a:rPr>
                <a:t>v</a:t>
              </a:r>
              <a:r>
                <a:rPr lang="en-US" altLang="zh-CN" sz="2400" baseline="-250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50139B83-9867-4E14-9727-9A32EAC5B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42672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v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73824E7D-A6E8-48D7-8EA4-EF1D62E5C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21336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v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47673691-78F0-4AAF-8B40-541D74BB3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42672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v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235F9758-F167-4C0C-BE3B-641792B6A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3200400"/>
              <a:ext cx="457200" cy="45720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v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31322992-0CE0-4053-A859-9ED3C9614E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7800" y="2514600"/>
              <a:ext cx="144780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E49E77B8-E398-49F6-AEFD-EA551F448A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800" y="3581400"/>
              <a:ext cx="144780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5231C3A8-7E0F-49F9-BD87-6A5F1E2E7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2590800"/>
              <a:ext cx="0" cy="1676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7D643A76-BCBC-4D85-9C5B-711AFE3219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800" y="2362200"/>
              <a:ext cx="1752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4D97C1EF-25E8-47CB-A3C6-93CA4E408E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800" y="4495800"/>
              <a:ext cx="1752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7">
              <a:extLst>
                <a:ext uri="{FF2B5EF4-FFF2-40B4-BE49-F238E27FC236}">
                  <a16:creationId xmlns:a16="http://schemas.microsoft.com/office/drawing/2014/main" id="{D6C2FA4C-FE5B-4DCA-9EC0-E577E83C7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000" y="2590800"/>
              <a:ext cx="0" cy="1676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8">
              <a:extLst>
                <a:ext uri="{FF2B5EF4-FFF2-40B4-BE49-F238E27FC236}">
                  <a16:creationId xmlns:a16="http://schemas.microsoft.com/office/drawing/2014/main" id="{EF064D8F-01AE-407E-9A4F-06A8E9380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2514600"/>
              <a:ext cx="1828800" cy="1828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9">
              <a:extLst>
                <a:ext uri="{FF2B5EF4-FFF2-40B4-BE49-F238E27FC236}">
                  <a16:creationId xmlns:a16="http://schemas.microsoft.com/office/drawing/2014/main" id="{AD779A19-C215-40EF-91BE-729535DA90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6600" y="2514600"/>
              <a:ext cx="1905000" cy="1828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20">
              <a:extLst>
                <a:ext uri="{FF2B5EF4-FFF2-40B4-BE49-F238E27FC236}">
                  <a16:creationId xmlns:a16="http://schemas.microsoft.com/office/drawing/2014/main" id="{92CCB784-6630-444B-AD2A-4329063396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6400" y="2514600"/>
              <a:ext cx="160020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1">
              <a:extLst>
                <a:ext uri="{FF2B5EF4-FFF2-40B4-BE49-F238E27FC236}">
                  <a16:creationId xmlns:a16="http://schemas.microsoft.com/office/drawing/2014/main" id="{7F51D84B-9864-4AE0-9D2B-D0CFB22B84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2600" y="3581400"/>
              <a:ext cx="152400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D2E92754-6615-4298-80F7-C2B11F83E2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2514600"/>
              <a:ext cx="685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22" name="Text Box 23">
              <a:extLst>
                <a:ext uri="{FF2B5EF4-FFF2-40B4-BE49-F238E27FC236}">
                  <a16:creationId xmlns:a16="http://schemas.microsoft.com/office/drawing/2014/main" id="{BE8225A2-F8B0-4AD1-9847-217287B920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3810000"/>
              <a:ext cx="685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8</a:t>
              </a:r>
            </a:p>
          </p:txBody>
        </p:sp>
        <p:sp>
          <p:nvSpPr>
            <p:cNvPr id="23" name="Text Box 24">
              <a:extLst>
                <a:ext uri="{FF2B5EF4-FFF2-40B4-BE49-F238E27FC236}">
                  <a16:creationId xmlns:a16="http://schemas.microsoft.com/office/drawing/2014/main" id="{BDBB7157-E14E-4C8D-B70E-C0A56AD435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1905000"/>
              <a:ext cx="685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5</a:t>
              </a:r>
            </a:p>
          </p:txBody>
        </p:sp>
        <p:sp>
          <p:nvSpPr>
            <p:cNvPr id="24" name="Text Box 25">
              <a:extLst>
                <a:ext uri="{FF2B5EF4-FFF2-40B4-BE49-F238E27FC236}">
                  <a16:creationId xmlns:a16="http://schemas.microsoft.com/office/drawing/2014/main" id="{49722A9E-5D88-4EBA-B29F-15496AFFB4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4419600"/>
              <a:ext cx="685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6</a:t>
              </a:r>
            </a:p>
          </p:txBody>
        </p:sp>
        <p:sp>
          <p:nvSpPr>
            <p:cNvPr id="25" name="Text Box 26">
              <a:extLst>
                <a:ext uri="{FF2B5EF4-FFF2-40B4-BE49-F238E27FC236}">
                  <a16:creationId xmlns:a16="http://schemas.microsoft.com/office/drawing/2014/main" id="{7D1AAC54-A510-4379-B959-7A199AB28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2514600"/>
              <a:ext cx="685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3</a:t>
              </a:r>
            </a:p>
          </p:txBody>
        </p:sp>
        <p:sp>
          <p:nvSpPr>
            <p:cNvPr id="26" name="Text Box 27">
              <a:extLst>
                <a:ext uri="{FF2B5EF4-FFF2-40B4-BE49-F238E27FC236}">
                  <a16:creationId xmlns:a16="http://schemas.microsoft.com/office/drawing/2014/main" id="{08865DF0-9A94-4EE7-A257-A8B6755CC1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3810000"/>
              <a:ext cx="685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5</a:t>
              </a:r>
            </a:p>
          </p:txBody>
        </p:sp>
        <p:sp>
          <p:nvSpPr>
            <p:cNvPr id="27" name="Text Box 28">
              <a:extLst>
                <a:ext uri="{FF2B5EF4-FFF2-40B4-BE49-F238E27FC236}">
                  <a16:creationId xmlns:a16="http://schemas.microsoft.com/office/drawing/2014/main" id="{77CD1F7E-E95A-40F9-BD57-4D588F04A9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2438400"/>
              <a:ext cx="685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id="{55B62A1E-4051-470F-8948-D18520515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3124200"/>
              <a:ext cx="685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3</a:t>
              </a:r>
            </a:p>
          </p:txBody>
        </p:sp>
        <p:sp>
          <p:nvSpPr>
            <p:cNvPr id="29" name="Text Box 30">
              <a:extLst>
                <a:ext uri="{FF2B5EF4-FFF2-40B4-BE49-F238E27FC236}">
                  <a16:creationId xmlns:a16="http://schemas.microsoft.com/office/drawing/2014/main" id="{1ABA3FF1-7EC4-4D99-89DC-AFDAEF0F1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3962400"/>
              <a:ext cx="685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17</a:t>
              </a:r>
            </a:p>
          </p:txBody>
        </p:sp>
        <p:sp>
          <p:nvSpPr>
            <p:cNvPr id="30" name="Text Box 31">
              <a:extLst>
                <a:ext uri="{FF2B5EF4-FFF2-40B4-BE49-F238E27FC236}">
                  <a16:creationId xmlns:a16="http://schemas.microsoft.com/office/drawing/2014/main" id="{E9193938-DD97-45AF-9D07-F689F1ED24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0" y="3124200"/>
              <a:ext cx="685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4</a:t>
              </a:r>
            </a:p>
          </p:txBody>
        </p:sp>
        <p:sp>
          <p:nvSpPr>
            <p:cNvPr id="31" name="Text Box 32">
              <a:extLst>
                <a:ext uri="{FF2B5EF4-FFF2-40B4-BE49-F238E27FC236}">
                  <a16:creationId xmlns:a16="http://schemas.microsoft.com/office/drawing/2014/main" id="{8BB4BE84-1240-4084-8E1F-29C5912D4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22860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33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32" name="Text Box 33">
              <a:extLst>
                <a:ext uri="{FF2B5EF4-FFF2-40B4-BE49-F238E27FC236}">
                  <a16:creationId xmlns:a16="http://schemas.microsoft.com/office/drawing/2014/main" id="{FBB0D920-6F48-46BF-9F38-4A24C5AD2C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400" y="40386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3300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33" name="Text Box 34">
              <a:extLst>
                <a:ext uri="{FF2B5EF4-FFF2-40B4-BE49-F238E27FC236}">
                  <a16:creationId xmlns:a16="http://schemas.microsoft.com/office/drawing/2014/main" id="{C8581EDD-2A1E-4C65-AC77-48BFF6018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19050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33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4" name="Text Box 35">
              <a:extLst>
                <a:ext uri="{FF2B5EF4-FFF2-40B4-BE49-F238E27FC236}">
                  <a16:creationId xmlns:a16="http://schemas.microsoft.com/office/drawing/2014/main" id="{5C1448A1-21B4-4981-9746-E68A42545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0" y="27432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33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35" name="Text Box 36">
              <a:extLst>
                <a:ext uri="{FF2B5EF4-FFF2-40B4-BE49-F238E27FC236}">
                  <a16:creationId xmlns:a16="http://schemas.microsoft.com/office/drawing/2014/main" id="{78033BFA-2AA9-44EC-952F-6D065B56A4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35052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33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6" name="Text Box 37">
              <a:extLst>
                <a:ext uri="{FF2B5EF4-FFF2-40B4-BE49-F238E27FC236}">
                  <a16:creationId xmlns:a16="http://schemas.microsoft.com/office/drawing/2014/main" id="{12EEC7FB-8A07-44E0-9F00-72062CDCA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6200" y="35814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3300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37" name="Text Box 38">
              <a:extLst>
                <a:ext uri="{FF2B5EF4-FFF2-40B4-BE49-F238E27FC236}">
                  <a16:creationId xmlns:a16="http://schemas.microsoft.com/office/drawing/2014/main" id="{F1DBC211-3B75-49CF-A460-6BAD285A46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44196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33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8" name="Text Box 39">
              <a:extLst>
                <a:ext uri="{FF2B5EF4-FFF2-40B4-BE49-F238E27FC236}">
                  <a16:creationId xmlns:a16="http://schemas.microsoft.com/office/drawing/2014/main" id="{78BEA918-6939-4F1B-B85D-9BC0B5B9BB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25908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3300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39" name="Text Box 40">
              <a:extLst>
                <a:ext uri="{FF2B5EF4-FFF2-40B4-BE49-F238E27FC236}">
                  <a16:creationId xmlns:a16="http://schemas.microsoft.com/office/drawing/2014/main" id="{3539E281-A280-465F-A01F-555F4D89D6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34290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33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40" name="Text Box 41">
              <a:extLst>
                <a:ext uri="{FF2B5EF4-FFF2-40B4-BE49-F238E27FC236}">
                  <a16:creationId xmlns:a16="http://schemas.microsoft.com/office/drawing/2014/main" id="{FED65B4D-8237-4EEA-A65B-74D320D4E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0" y="38100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33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4D52856E-BD5B-4D84-A3EE-1A548DEEC1E7}"/>
                </a:ext>
              </a:extLst>
            </p:cNvPr>
            <p:cNvGrpSpPr/>
            <p:nvPr/>
          </p:nvGrpSpPr>
          <p:grpSpPr>
            <a:xfrm>
              <a:off x="1469627" y="2362200"/>
              <a:ext cx="5464573" cy="2133600"/>
              <a:chOff x="1412478" y="4232502"/>
              <a:chExt cx="5464573" cy="2133600"/>
            </a:xfrm>
          </p:grpSpPr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A27F1F43-0AA3-44A8-8B78-8455AF6FE60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1412478" y="4461102"/>
                <a:ext cx="1293733" cy="644298"/>
              </a:xfrm>
              <a:prstGeom prst="line">
                <a:avLst/>
              </a:prstGeom>
              <a:noFill/>
              <a:ln w="57150" cap="flat" cmpd="sng" algn="ctr">
                <a:solidFill>
                  <a:srgbClr val="FFC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5C7AD9EE-B6D3-45DE-8CB3-4DC38DA4B6F6}"/>
                  </a:ext>
                </a:extLst>
              </p:cNvPr>
              <p:cNvCxnSpPr>
                <a:cxnSpLocks/>
                <a:stCxn id="14" idx="0"/>
              </p:cNvCxnSpPr>
              <p:nvPr/>
            </p:nvCxnSpPr>
            <p:spPr bwMode="auto">
              <a:xfrm>
                <a:off x="3295651" y="4232502"/>
                <a:ext cx="1619251" cy="0"/>
              </a:xfrm>
              <a:prstGeom prst="line">
                <a:avLst/>
              </a:prstGeom>
              <a:noFill/>
              <a:ln w="57150" cap="flat" cmpd="sng" algn="ctr">
                <a:solidFill>
                  <a:srgbClr val="FFC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BB5B5E35-09C2-404F-8F4A-8E65B15E1061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 bwMode="auto">
              <a:xfrm flipH="1">
                <a:off x="3219451" y="4499202"/>
                <a:ext cx="1778000" cy="1714500"/>
              </a:xfrm>
              <a:prstGeom prst="line">
                <a:avLst/>
              </a:prstGeom>
              <a:noFill/>
              <a:ln w="57150" cap="flat" cmpd="sng" algn="ctr">
                <a:solidFill>
                  <a:srgbClr val="FFC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37DBEB65-ABEA-43B5-B91D-F90A98EFECC8}"/>
                  </a:ext>
                </a:extLst>
              </p:cNvPr>
              <p:cNvCxnSpPr>
                <a:cxnSpLocks/>
                <a:endCxn id="15" idx="0"/>
              </p:cNvCxnSpPr>
              <p:nvPr/>
            </p:nvCxnSpPr>
            <p:spPr bwMode="auto">
              <a:xfrm flipH="1">
                <a:off x="3295651" y="6366101"/>
                <a:ext cx="1587500" cy="1"/>
              </a:xfrm>
              <a:prstGeom prst="line">
                <a:avLst/>
              </a:prstGeom>
              <a:noFill/>
              <a:ln w="57150" cap="flat" cmpd="sng" algn="ctr">
                <a:solidFill>
                  <a:srgbClr val="FFC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523EA9AD-B699-477E-8344-1D27D2D31EA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505451" y="5527901"/>
                <a:ext cx="1371600" cy="762000"/>
              </a:xfrm>
              <a:prstGeom prst="line">
                <a:avLst/>
              </a:prstGeom>
              <a:noFill/>
              <a:ln w="57150" cap="flat" cmpd="sng" algn="ctr">
                <a:solidFill>
                  <a:srgbClr val="FFC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6BA80B86-2761-4F0A-9913-999BCF9FFFBE}"/>
                  </a:ext>
                </a:extLst>
              </p:cNvPr>
              <p:cNvSpPr txBox="1"/>
              <p:nvPr/>
            </p:nvSpPr>
            <p:spPr>
              <a:xfrm>
                <a:off x="5446015" y="4921237"/>
                <a:ext cx="3553578" cy="9446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b="1" dirty="0"/>
                  <a:t>,5,6-0 17-3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}=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6BA80B86-2761-4F0A-9913-999BCF9FF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6015" y="4921237"/>
                <a:ext cx="3553578" cy="944682"/>
              </a:xfrm>
              <a:prstGeom prst="rect">
                <a:avLst/>
              </a:prstGeom>
              <a:blipFill>
                <a:blip r:embed="rId3"/>
                <a:stretch>
                  <a:fillRect b="-17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64234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5A594D67-90DF-4E66-808A-E5AC2A1686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增广链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651F3F81-F710-4C49-8034-9B606B252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830489"/>
            <a:ext cx="8229600" cy="4987925"/>
          </a:xfrm>
        </p:spPr>
        <p:txBody>
          <a:bodyPr/>
          <a:lstStyle/>
          <a:p>
            <a:pPr eaLnBrk="1" hangingPunct="1"/>
            <a:r>
              <a:rPr lang="en-US" altLang="zh-CN" i="1" dirty="0"/>
              <a:t>f </a:t>
            </a:r>
            <a:r>
              <a:rPr lang="zh-CN" altLang="en-US" dirty="0"/>
              <a:t>为一可行流，</a:t>
            </a:r>
            <a:r>
              <a:rPr lang="en-US" altLang="zh-CN" dirty="0"/>
              <a:t>u</a:t>
            </a:r>
            <a:r>
              <a:rPr lang="zh-CN" altLang="en-US" dirty="0"/>
              <a:t>为</a:t>
            </a:r>
            <a:r>
              <a:rPr lang="en-US" altLang="zh-CN" dirty="0"/>
              <a:t>v</a:t>
            </a:r>
            <a:r>
              <a:rPr lang="en-US" altLang="zh-CN" baseline="-25000" dirty="0"/>
              <a:t>s</a:t>
            </a:r>
            <a:r>
              <a:rPr lang="zh-CN" altLang="en-US" dirty="0"/>
              <a:t>至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t</a:t>
            </a:r>
            <a:r>
              <a:rPr lang="zh-CN" altLang="en-US" dirty="0"/>
              <a:t>的链（意味着不用看弧的方向）。若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u</a:t>
            </a:r>
            <a:r>
              <a:rPr lang="en-US" altLang="zh-CN" baseline="30000" dirty="0"/>
              <a:t>+</a:t>
            </a:r>
            <a:r>
              <a:rPr lang="en-US" altLang="zh-CN" dirty="0"/>
              <a:t>={</a:t>
            </a:r>
            <a:r>
              <a:rPr lang="zh-CN" altLang="en-US" dirty="0"/>
              <a:t>链方向与弧相同（前向弧）</a:t>
            </a:r>
            <a:r>
              <a:rPr lang="en-US" altLang="zh-CN" dirty="0"/>
              <a:t>}</a:t>
            </a:r>
            <a:r>
              <a:rPr lang="en-US" altLang="zh-CN" baseline="30000" dirty="0"/>
              <a:t> </a:t>
            </a:r>
            <a:r>
              <a:rPr lang="zh-CN" altLang="en-US" dirty="0"/>
              <a:t>中弧皆非饱，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u</a:t>
            </a:r>
            <a:r>
              <a:rPr lang="en-US" altLang="zh-CN" baseline="30000" dirty="0"/>
              <a:t>- </a:t>
            </a:r>
            <a:r>
              <a:rPr lang="en-US" altLang="zh-CN" dirty="0"/>
              <a:t>={</a:t>
            </a:r>
            <a:r>
              <a:rPr lang="zh-CN" altLang="en-US" dirty="0"/>
              <a:t>链方向与弧相反（后向弧）</a:t>
            </a:r>
            <a:r>
              <a:rPr lang="en-US" altLang="zh-CN" dirty="0"/>
              <a:t>}</a:t>
            </a:r>
            <a:r>
              <a:rPr lang="zh-CN" altLang="en-US" dirty="0"/>
              <a:t>中弧皆非零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则称</a:t>
            </a:r>
            <a:r>
              <a:rPr lang="en-US" altLang="zh-CN" dirty="0"/>
              <a:t>u</a:t>
            </a:r>
            <a:r>
              <a:rPr lang="zh-CN" altLang="en-US" dirty="0"/>
              <a:t>为关于</a:t>
            </a:r>
            <a:r>
              <a:rPr lang="en-US" altLang="zh-CN" i="1" dirty="0"/>
              <a:t>f  </a:t>
            </a:r>
            <a:r>
              <a:rPr lang="zh-CN" altLang="en-US" dirty="0"/>
              <a:t>的一条</a:t>
            </a:r>
            <a:r>
              <a:rPr lang="zh-CN" altLang="en-US" dirty="0">
                <a:solidFill>
                  <a:srgbClr val="FF3300"/>
                </a:solidFill>
              </a:rPr>
              <a:t>增广链</a:t>
            </a:r>
          </a:p>
          <a:p>
            <a:pPr eaLnBrk="1" hangingPunct="1"/>
            <a:endParaRPr lang="en-US" altLang="zh-CN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FE7538C-21F1-4AFB-BFF1-19E164AD6396}"/>
              </a:ext>
            </a:extLst>
          </p:cNvPr>
          <p:cNvGrpSpPr/>
          <p:nvPr/>
        </p:nvGrpSpPr>
        <p:grpSpPr>
          <a:xfrm>
            <a:off x="1143000" y="3647209"/>
            <a:ext cx="6477000" cy="2819400"/>
            <a:chOff x="1447800" y="3649537"/>
            <a:chExt cx="6477000" cy="2819400"/>
          </a:xfrm>
        </p:grpSpPr>
        <p:sp>
          <p:nvSpPr>
            <p:cNvPr id="52247" name="Text Box 23">
              <a:extLst>
                <a:ext uri="{FF2B5EF4-FFF2-40B4-BE49-F238E27FC236}">
                  <a16:creationId xmlns:a16="http://schemas.microsoft.com/office/drawing/2014/main" id="{931C5179-100F-482C-92E2-628BB7876F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2020" y="4374280"/>
              <a:ext cx="685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6</a:t>
              </a:r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869BDBEF-4879-4F39-B96F-13C9B363F814}"/>
                </a:ext>
              </a:extLst>
            </p:cNvPr>
            <p:cNvGrpSpPr/>
            <p:nvPr/>
          </p:nvGrpSpPr>
          <p:grpSpPr>
            <a:xfrm>
              <a:off x="1447800" y="3649537"/>
              <a:ext cx="6477000" cy="2819400"/>
              <a:chOff x="1295400" y="2743200"/>
              <a:chExt cx="6477000" cy="2819400"/>
            </a:xfrm>
          </p:grpSpPr>
          <p:sp>
            <p:nvSpPr>
              <p:cNvPr id="52228" name="Oval 4">
                <a:extLst>
                  <a:ext uri="{FF2B5EF4-FFF2-40B4-BE49-F238E27FC236}">
                    <a16:creationId xmlns:a16="http://schemas.microsoft.com/office/drawing/2014/main" id="{9D62A47D-8FC4-4225-A1EF-994A0D118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5400" y="4038600"/>
                <a:ext cx="457200" cy="457200"/>
              </a:xfrm>
              <a:prstGeom prst="ellipse">
                <a:avLst/>
              </a:prstGeom>
              <a:solidFill>
                <a:srgbClr val="000080"/>
              </a:solidFill>
              <a:ln w="9525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chemeClr val="bg1"/>
                    </a:solidFill>
                  </a:rPr>
                  <a:t>v</a:t>
                </a:r>
                <a:r>
                  <a:rPr lang="en-US" altLang="zh-CN" sz="2400" baseline="-2500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52229" name="Oval 5">
                <a:extLst>
                  <a:ext uri="{FF2B5EF4-FFF2-40B4-BE49-F238E27FC236}">
                    <a16:creationId xmlns:a16="http://schemas.microsoft.com/office/drawing/2014/main" id="{14B07B4A-4F23-45A4-8D1D-B5CB8D20F4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200" y="2971800"/>
                <a:ext cx="457200" cy="457200"/>
              </a:xfrm>
              <a:prstGeom prst="ellipse">
                <a:avLst/>
              </a:prstGeom>
              <a:solidFill>
                <a:srgbClr val="00008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chemeClr val="bg1"/>
                    </a:solidFill>
                  </a:rPr>
                  <a:t>v</a:t>
                </a:r>
                <a:r>
                  <a:rPr lang="en-US" altLang="zh-CN" sz="2400" baseline="-2500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52230" name="Oval 6">
                <a:extLst>
                  <a:ext uri="{FF2B5EF4-FFF2-40B4-BE49-F238E27FC236}">
                    <a16:creationId xmlns:a16="http://schemas.microsoft.com/office/drawing/2014/main" id="{46236828-3CF5-4423-B3E0-9018C72981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200" y="5105400"/>
                <a:ext cx="457200" cy="457200"/>
              </a:xfrm>
              <a:prstGeom prst="ellipse">
                <a:avLst/>
              </a:prstGeom>
              <a:solidFill>
                <a:srgbClr val="00008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chemeClr val="bg1"/>
                    </a:solidFill>
                  </a:rPr>
                  <a:t>v</a:t>
                </a:r>
                <a:r>
                  <a:rPr lang="en-US" altLang="zh-CN" sz="2400" baseline="-2500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52231" name="Oval 7">
                <a:extLst>
                  <a:ext uri="{FF2B5EF4-FFF2-40B4-BE49-F238E27FC236}">
                    <a16:creationId xmlns:a16="http://schemas.microsoft.com/office/drawing/2014/main" id="{FBBD9237-2294-4BFF-86CC-97B1A52CF9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4000" y="2971800"/>
                <a:ext cx="457200" cy="457200"/>
              </a:xfrm>
              <a:prstGeom prst="ellipse">
                <a:avLst/>
              </a:prstGeom>
              <a:solidFill>
                <a:srgbClr val="00008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v</a:t>
                </a:r>
                <a:r>
                  <a:rPr lang="en-US" altLang="zh-CN" sz="2400" baseline="-25000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52232" name="Oval 8">
                <a:extLst>
                  <a:ext uri="{FF2B5EF4-FFF2-40B4-BE49-F238E27FC236}">
                    <a16:creationId xmlns:a16="http://schemas.microsoft.com/office/drawing/2014/main" id="{3DF53A19-8E6C-4D6A-A28F-BFCF889395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4000" y="5105400"/>
                <a:ext cx="457200" cy="457200"/>
              </a:xfrm>
              <a:prstGeom prst="ellipse">
                <a:avLst/>
              </a:prstGeom>
              <a:solidFill>
                <a:srgbClr val="00008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chemeClr val="bg1"/>
                    </a:solidFill>
                  </a:rPr>
                  <a:t>v</a:t>
                </a:r>
                <a:r>
                  <a:rPr lang="en-US" altLang="zh-CN" sz="2400" baseline="-2500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52233" name="Oval 9">
                <a:extLst>
                  <a:ext uri="{FF2B5EF4-FFF2-40B4-BE49-F238E27FC236}">
                    <a16:creationId xmlns:a16="http://schemas.microsoft.com/office/drawing/2014/main" id="{1A80271B-C07A-4D53-9B35-C7FD22AE44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5200" y="4038600"/>
                <a:ext cx="457200" cy="457200"/>
              </a:xfrm>
              <a:prstGeom prst="ellipse">
                <a:avLst/>
              </a:prstGeom>
              <a:solidFill>
                <a:srgbClr val="00008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chemeClr val="bg1"/>
                    </a:solidFill>
                  </a:rPr>
                  <a:t>v</a:t>
                </a:r>
                <a:r>
                  <a:rPr lang="en-US" altLang="zh-CN" sz="2400" baseline="-2500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52234" name="Line 10">
                <a:extLst>
                  <a:ext uri="{FF2B5EF4-FFF2-40B4-BE49-F238E27FC236}">
                    <a16:creationId xmlns:a16="http://schemas.microsoft.com/office/drawing/2014/main" id="{FD0B43F7-FBF5-417A-8B39-37755D1763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76400" y="3352800"/>
                <a:ext cx="1447800" cy="7620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35" name="Line 11">
                <a:extLst>
                  <a:ext uri="{FF2B5EF4-FFF2-40B4-BE49-F238E27FC236}">
                    <a16:creationId xmlns:a16="http://schemas.microsoft.com/office/drawing/2014/main" id="{44497E56-19A6-48A5-8544-7C2C8BA521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6400" y="4419600"/>
                <a:ext cx="1447800" cy="838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36" name="Line 12">
                <a:extLst>
                  <a:ext uri="{FF2B5EF4-FFF2-40B4-BE49-F238E27FC236}">
                    <a16:creationId xmlns:a16="http://schemas.microsoft.com/office/drawing/2014/main" id="{5F26893E-95FB-4C24-874E-C90BD01E3D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2800" y="3429000"/>
                <a:ext cx="0" cy="16764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37" name="Line 13">
                <a:extLst>
                  <a:ext uri="{FF2B5EF4-FFF2-40B4-BE49-F238E27FC236}">
                    <a16:creationId xmlns:a16="http://schemas.microsoft.com/office/drawing/2014/main" id="{5F675C28-2459-4EF6-9BE4-A6FC50562D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1400" y="3200400"/>
                <a:ext cx="17526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38" name="Line 14">
                <a:extLst>
                  <a:ext uri="{FF2B5EF4-FFF2-40B4-BE49-F238E27FC236}">
                    <a16:creationId xmlns:a16="http://schemas.microsoft.com/office/drawing/2014/main" id="{86073F49-BF43-45D7-ADF8-B4C020139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1400" y="5334000"/>
                <a:ext cx="17526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39" name="Line 15">
                <a:extLst>
                  <a:ext uri="{FF2B5EF4-FFF2-40B4-BE49-F238E27FC236}">
                    <a16:creationId xmlns:a16="http://schemas.microsoft.com/office/drawing/2014/main" id="{F33A69E5-A86E-46EA-8016-52568406C7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62600" y="3429000"/>
                <a:ext cx="0" cy="16764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40" name="Line 16">
                <a:extLst>
                  <a:ext uri="{FF2B5EF4-FFF2-40B4-BE49-F238E27FC236}">
                    <a16:creationId xmlns:a16="http://schemas.microsoft.com/office/drawing/2014/main" id="{9D4B7886-9CA1-4E89-8B47-BA62D7C65B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5200" y="3352800"/>
                <a:ext cx="1828800" cy="1828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41" name="Line 17">
                <a:extLst>
                  <a:ext uri="{FF2B5EF4-FFF2-40B4-BE49-F238E27FC236}">
                    <a16:creationId xmlns:a16="http://schemas.microsoft.com/office/drawing/2014/main" id="{D2257939-A041-4B6F-8B78-33CD3E27A4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05200" y="3352800"/>
                <a:ext cx="1905000" cy="1828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42" name="Line 18">
                <a:extLst>
                  <a:ext uri="{FF2B5EF4-FFF2-40B4-BE49-F238E27FC236}">
                    <a16:creationId xmlns:a16="http://schemas.microsoft.com/office/drawing/2014/main" id="{A956A99E-01C6-4B00-BC24-0CB4E6B69D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15000" y="3352800"/>
                <a:ext cx="1600200" cy="838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43" name="Line 19">
                <a:extLst>
                  <a:ext uri="{FF2B5EF4-FFF2-40B4-BE49-F238E27FC236}">
                    <a16:creationId xmlns:a16="http://schemas.microsoft.com/office/drawing/2014/main" id="{CBD84F8E-5871-4011-909A-29124CC7C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91200" y="4419600"/>
                <a:ext cx="1524000" cy="838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44" name="Text Box 20">
                <a:extLst>
                  <a:ext uri="{FF2B5EF4-FFF2-40B4-BE49-F238E27FC236}">
                    <a16:creationId xmlns:a16="http://schemas.microsoft.com/office/drawing/2014/main" id="{A907CF47-2B03-44A1-9760-1550A5A512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5000" y="3352800"/>
                <a:ext cx="6858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10</a:t>
                </a:r>
              </a:p>
            </p:txBody>
          </p:sp>
          <p:sp>
            <p:nvSpPr>
              <p:cNvPr id="52245" name="Text Box 21">
                <a:extLst>
                  <a:ext uri="{FF2B5EF4-FFF2-40B4-BE49-F238E27FC236}">
                    <a16:creationId xmlns:a16="http://schemas.microsoft.com/office/drawing/2014/main" id="{7701D66F-0B3C-45F2-A88F-D4DC7F217A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1200" y="4648200"/>
                <a:ext cx="6858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8</a:t>
                </a:r>
              </a:p>
            </p:txBody>
          </p:sp>
          <p:sp>
            <p:nvSpPr>
              <p:cNvPr id="52246" name="Text Box 22">
                <a:extLst>
                  <a:ext uri="{FF2B5EF4-FFF2-40B4-BE49-F238E27FC236}">
                    <a16:creationId xmlns:a16="http://schemas.microsoft.com/office/drawing/2014/main" id="{26E00E47-6A3C-4743-9BE3-A37A4B7AF1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1000" y="2743200"/>
                <a:ext cx="6858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5</a:t>
                </a:r>
              </a:p>
            </p:txBody>
          </p:sp>
          <p:sp>
            <p:nvSpPr>
              <p:cNvPr id="52248" name="Text Box 24">
                <a:extLst>
                  <a:ext uri="{FF2B5EF4-FFF2-40B4-BE49-F238E27FC236}">
                    <a16:creationId xmlns:a16="http://schemas.microsoft.com/office/drawing/2014/main" id="{33914CFE-9DCC-4251-A223-359771EE3E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00" y="3352800"/>
                <a:ext cx="6858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3</a:t>
                </a:r>
              </a:p>
            </p:txBody>
          </p:sp>
          <p:sp>
            <p:nvSpPr>
              <p:cNvPr id="52249" name="Text Box 25">
                <a:extLst>
                  <a:ext uri="{FF2B5EF4-FFF2-40B4-BE49-F238E27FC236}">
                    <a16:creationId xmlns:a16="http://schemas.microsoft.com/office/drawing/2014/main" id="{DC2F797E-DE32-4291-937C-36DC7C7A9F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6200" y="4648200"/>
                <a:ext cx="6858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5</a:t>
                </a:r>
              </a:p>
            </p:txBody>
          </p:sp>
          <p:sp>
            <p:nvSpPr>
              <p:cNvPr id="52250" name="Text Box 26">
                <a:extLst>
                  <a:ext uri="{FF2B5EF4-FFF2-40B4-BE49-F238E27FC236}">
                    <a16:creationId xmlns:a16="http://schemas.microsoft.com/office/drawing/2014/main" id="{E16284A9-94A1-4917-96F0-FDD9207C81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72200" y="3276600"/>
                <a:ext cx="6858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11</a:t>
                </a:r>
              </a:p>
            </p:txBody>
          </p:sp>
          <p:sp>
            <p:nvSpPr>
              <p:cNvPr id="52251" name="Text Box 27">
                <a:extLst>
                  <a:ext uri="{FF2B5EF4-FFF2-40B4-BE49-F238E27FC236}">
                    <a16:creationId xmlns:a16="http://schemas.microsoft.com/office/drawing/2014/main" id="{BB622A8F-6103-4BBC-B625-E8523A3875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62600" y="3962400"/>
                <a:ext cx="6858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3</a:t>
                </a:r>
              </a:p>
            </p:txBody>
          </p:sp>
          <p:sp>
            <p:nvSpPr>
              <p:cNvPr id="52252" name="Text Box 28">
                <a:extLst>
                  <a:ext uri="{FF2B5EF4-FFF2-40B4-BE49-F238E27FC236}">
                    <a16:creationId xmlns:a16="http://schemas.microsoft.com/office/drawing/2014/main" id="{7B8B4611-5EDC-4260-B757-1A22A73D63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4600" y="4800600"/>
                <a:ext cx="6858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17</a:t>
                </a:r>
              </a:p>
            </p:txBody>
          </p:sp>
          <p:sp>
            <p:nvSpPr>
              <p:cNvPr id="52253" name="Text Box 29">
                <a:extLst>
                  <a:ext uri="{FF2B5EF4-FFF2-40B4-BE49-F238E27FC236}">
                    <a16:creationId xmlns:a16="http://schemas.microsoft.com/office/drawing/2014/main" id="{65C17F80-A920-4B97-926C-DFC5382FF0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1800" y="3962400"/>
                <a:ext cx="6858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4</a:t>
                </a:r>
              </a:p>
            </p:txBody>
          </p:sp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864BC0B-2B16-4F64-90E7-CC78996BB167}"/>
              </a:ext>
            </a:extLst>
          </p:cNvPr>
          <p:cNvGrpSpPr/>
          <p:nvPr/>
        </p:nvGrpSpPr>
        <p:grpSpPr>
          <a:xfrm>
            <a:off x="1574346" y="4104409"/>
            <a:ext cx="5436054" cy="1981200"/>
            <a:chOff x="1574346" y="4104409"/>
            <a:chExt cx="5436054" cy="19812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8AEDA73B-CC3C-4F98-A0AB-046FF653C95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574346" y="4294909"/>
              <a:ext cx="1295400" cy="685800"/>
            </a:xfrm>
            <a:prstGeom prst="line">
              <a:avLst/>
            </a:prstGeom>
            <a:noFill/>
            <a:ln w="57150" cap="flat" cmpd="sng" algn="ctr">
              <a:solidFill>
                <a:srgbClr val="0049D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B001EB5B-80F8-4CA7-BC3B-24ECF433258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461657" y="4104409"/>
              <a:ext cx="1624693" cy="10391"/>
            </a:xfrm>
            <a:prstGeom prst="line">
              <a:avLst/>
            </a:prstGeom>
            <a:noFill/>
            <a:ln w="57150" cap="flat" cmpd="sng" algn="ctr">
              <a:solidFill>
                <a:srgbClr val="0049D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903225BC-FF5C-4581-81DE-A1CC0B52FE74}"/>
                </a:ext>
              </a:extLst>
            </p:cNvPr>
            <p:cNvCxnSpPr>
              <a:cxnSpLocks/>
              <a:endCxn id="52239" idx="1"/>
            </p:cNvCxnSpPr>
            <p:nvPr/>
          </p:nvCxnSpPr>
          <p:spPr bwMode="auto">
            <a:xfrm>
              <a:off x="5406860" y="4447877"/>
              <a:ext cx="3341" cy="1561532"/>
            </a:xfrm>
            <a:prstGeom prst="line">
              <a:avLst/>
            </a:prstGeom>
            <a:noFill/>
            <a:ln w="57150" cap="flat" cmpd="sng" algn="ctr">
              <a:solidFill>
                <a:srgbClr val="0049D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94A6273C-420B-459D-87E1-8624F0498EC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753101" y="5399809"/>
              <a:ext cx="1257299" cy="685800"/>
            </a:xfrm>
            <a:prstGeom prst="line">
              <a:avLst/>
            </a:prstGeom>
            <a:noFill/>
            <a:ln w="57150" cap="flat" cmpd="sng" algn="ctr">
              <a:solidFill>
                <a:srgbClr val="0049D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87662806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5A594D67-90DF-4E66-808A-E5AC2A1686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增广链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651F3F81-F710-4C49-8034-9B606B252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830489"/>
            <a:ext cx="8229600" cy="4987925"/>
          </a:xfrm>
        </p:spPr>
        <p:txBody>
          <a:bodyPr/>
          <a:lstStyle/>
          <a:p>
            <a:pPr eaLnBrk="1" hangingPunct="1"/>
            <a:r>
              <a:rPr lang="en-US" altLang="zh-CN" i="1" dirty="0"/>
              <a:t>f </a:t>
            </a:r>
            <a:r>
              <a:rPr lang="zh-CN" altLang="en-US" dirty="0"/>
              <a:t>为一可行流，</a:t>
            </a:r>
            <a:r>
              <a:rPr lang="en-US" altLang="zh-CN" dirty="0"/>
              <a:t>u</a:t>
            </a:r>
            <a:r>
              <a:rPr lang="zh-CN" altLang="en-US" dirty="0"/>
              <a:t>为</a:t>
            </a:r>
            <a:r>
              <a:rPr lang="en-US" altLang="zh-CN" dirty="0"/>
              <a:t>v</a:t>
            </a:r>
            <a:r>
              <a:rPr lang="en-US" altLang="zh-CN" baseline="-25000" dirty="0"/>
              <a:t>s</a:t>
            </a:r>
            <a:r>
              <a:rPr lang="zh-CN" altLang="en-US" dirty="0"/>
              <a:t>至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t</a:t>
            </a:r>
            <a:r>
              <a:rPr lang="zh-CN" altLang="en-US" dirty="0"/>
              <a:t>的链（意味着不用看弧的方向）。若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u</a:t>
            </a:r>
            <a:r>
              <a:rPr lang="en-US" altLang="zh-CN" baseline="30000" dirty="0"/>
              <a:t>+</a:t>
            </a:r>
            <a:r>
              <a:rPr lang="en-US" altLang="zh-CN" dirty="0"/>
              <a:t>={</a:t>
            </a:r>
            <a:r>
              <a:rPr lang="zh-CN" altLang="en-US" dirty="0"/>
              <a:t>链方向与弧相同（前向弧）</a:t>
            </a:r>
            <a:r>
              <a:rPr lang="en-US" altLang="zh-CN" dirty="0"/>
              <a:t>}</a:t>
            </a:r>
            <a:r>
              <a:rPr lang="en-US" altLang="zh-CN" baseline="30000" dirty="0"/>
              <a:t> </a:t>
            </a:r>
            <a:r>
              <a:rPr lang="zh-CN" altLang="en-US" dirty="0"/>
              <a:t>中弧皆非饱，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往饱和调整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u</a:t>
            </a:r>
            <a:r>
              <a:rPr lang="en-US" altLang="zh-CN" baseline="30000" dirty="0"/>
              <a:t>- </a:t>
            </a:r>
            <a:r>
              <a:rPr lang="en-US" altLang="zh-CN" dirty="0"/>
              <a:t>={</a:t>
            </a:r>
            <a:r>
              <a:rPr lang="zh-CN" altLang="en-US" dirty="0"/>
              <a:t>链方向与弧相反（后向弧）</a:t>
            </a:r>
            <a:r>
              <a:rPr lang="en-US" altLang="zh-CN" dirty="0"/>
              <a:t>}</a:t>
            </a:r>
            <a:r>
              <a:rPr lang="zh-CN" altLang="en-US" dirty="0"/>
              <a:t>中弧皆非零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往零调整</a:t>
            </a:r>
            <a:endParaRPr lang="en-US" altLang="zh-CN" dirty="0"/>
          </a:p>
          <a:p>
            <a:pPr lvl="1" eaLnBrk="1" hangingPunct="1"/>
            <a:r>
              <a:rPr lang="zh-CN" altLang="en-US" dirty="0">
                <a:solidFill>
                  <a:srgbClr val="FF3300"/>
                </a:solidFill>
              </a:rPr>
              <a:t>存在增广链</a:t>
            </a:r>
            <a:r>
              <a:rPr lang="en-US" altLang="zh-CN" dirty="0">
                <a:solidFill>
                  <a:srgbClr val="FF3300"/>
                </a:solidFill>
              </a:rPr>
              <a:t> </a:t>
            </a:r>
            <a:r>
              <a:rPr lang="zh-CN" altLang="en-US" dirty="0">
                <a:solidFill>
                  <a:srgbClr val="FF3300"/>
                </a:solidFill>
              </a:rPr>
              <a:t>意味着 存在调整空间</a:t>
            </a:r>
          </a:p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22605850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C2BBB393-8018-4500-AF2A-22AFCC7AF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增广链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22CE534-A5C8-4DC4-B7ED-AE4DBA319D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86400"/>
          </a:xfrm>
        </p:spPr>
        <p:txBody>
          <a:bodyPr/>
          <a:lstStyle/>
          <a:p>
            <a:pPr eaLnBrk="1" hangingPunct="1"/>
            <a:r>
              <a:rPr lang="en-US" altLang="zh-CN" i="1"/>
              <a:t>f </a:t>
            </a:r>
            <a:r>
              <a:rPr lang="zh-CN" altLang="en-US"/>
              <a:t>为一可行流，</a:t>
            </a:r>
            <a:r>
              <a:rPr lang="en-US" altLang="zh-CN"/>
              <a:t>u</a:t>
            </a:r>
            <a:r>
              <a:rPr lang="zh-CN" altLang="en-US"/>
              <a:t>为</a:t>
            </a:r>
            <a:r>
              <a:rPr lang="en-US" altLang="zh-CN"/>
              <a:t>v</a:t>
            </a:r>
            <a:r>
              <a:rPr lang="en-US" altLang="zh-CN" baseline="-25000"/>
              <a:t>s</a:t>
            </a:r>
            <a:r>
              <a:rPr lang="zh-CN" altLang="en-US"/>
              <a:t>至</a:t>
            </a:r>
            <a:r>
              <a:rPr lang="en-US" altLang="zh-CN"/>
              <a:t>v</a:t>
            </a:r>
            <a:r>
              <a:rPr lang="en-US" altLang="zh-CN" baseline="-25000"/>
              <a:t>t</a:t>
            </a:r>
            <a:r>
              <a:rPr lang="zh-CN" altLang="en-US"/>
              <a:t>的链。若</a:t>
            </a:r>
            <a:r>
              <a:rPr lang="en-US" altLang="zh-CN"/>
              <a:t>u</a:t>
            </a:r>
            <a:r>
              <a:rPr lang="en-US" altLang="zh-CN" baseline="30000"/>
              <a:t>+</a:t>
            </a:r>
            <a:r>
              <a:rPr lang="en-US" altLang="zh-CN"/>
              <a:t>={</a:t>
            </a:r>
            <a:r>
              <a:rPr lang="zh-CN" altLang="en-US"/>
              <a:t>前向弧</a:t>
            </a:r>
            <a:r>
              <a:rPr lang="en-US" altLang="zh-CN"/>
              <a:t>}</a:t>
            </a:r>
            <a:r>
              <a:rPr lang="en-US" altLang="zh-CN" baseline="30000"/>
              <a:t> </a:t>
            </a:r>
            <a:r>
              <a:rPr lang="zh-CN" altLang="en-US"/>
              <a:t>中弧皆非饱，且</a:t>
            </a:r>
            <a:r>
              <a:rPr lang="en-US" altLang="zh-CN"/>
              <a:t>u</a:t>
            </a:r>
            <a:r>
              <a:rPr lang="en-US" altLang="zh-CN" baseline="30000"/>
              <a:t>- </a:t>
            </a:r>
            <a:r>
              <a:rPr lang="en-US" altLang="zh-CN"/>
              <a:t>={</a:t>
            </a:r>
            <a:r>
              <a:rPr lang="zh-CN" altLang="en-US"/>
              <a:t>后向弧</a:t>
            </a:r>
            <a:r>
              <a:rPr lang="en-US" altLang="zh-CN"/>
              <a:t>}</a:t>
            </a:r>
            <a:r>
              <a:rPr lang="zh-CN" altLang="en-US"/>
              <a:t>中弧皆非零，则称</a:t>
            </a:r>
            <a:r>
              <a:rPr lang="en-US" altLang="zh-CN"/>
              <a:t>u</a:t>
            </a:r>
            <a:r>
              <a:rPr lang="zh-CN" altLang="en-US"/>
              <a:t>为关于</a:t>
            </a:r>
            <a:r>
              <a:rPr lang="en-US" altLang="zh-CN" i="1"/>
              <a:t>f  </a:t>
            </a:r>
            <a:r>
              <a:rPr lang="zh-CN" altLang="en-US"/>
              <a:t>的一条</a:t>
            </a:r>
            <a:r>
              <a:rPr lang="zh-CN" altLang="en-US">
                <a:solidFill>
                  <a:srgbClr val="FF3300"/>
                </a:solidFill>
              </a:rPr>
              <a:t>增广链</a:t>
            </a:r>
          </a:p>
          <a:p>
            <a:pPr eaLnBrk="1" hangingPunct="1">
              <a:lnSpc>
                <a:spcPct val="90000"/>
              </a:lnSpc>
            </a:pPr>
            <a:endParaRPr lang="zh-CN" altLang="en-US">
              <a:solidFill>
                <a:srgbClr val="FF33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zh-CN" altLang="en-US">
              <a:solidFill>
                <a:srgbClr val="FF33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zh-CN" altLang="en-US">
              <a:solidFill>
                <a:srgbClr val="FF33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zh-CN" altLang="en-US">
              <a:solidFill>
                <a:srgbClr val="FF33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zh-CN" altLang="en-US">
              <a:solidFill>
                <a:srgbClr val="FF33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53252" name="Oval 4">
            <a:extLst>
              <a:ext uri="{FF2B5EF4-FFF2-40B4-BE49-F238E27FC236}">
                <a16:creationId xmlns:a16="http://schemas.microsoft.com/office/drawing/2014/main" id="{81DC0ABF-0A7A-4ACA-82BF-0DE8BD9D5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038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3253" name="Oval 5">
            <a:extLst>
              <a:ext uri="{FF2B5EF4-FFF2-40B4-BE49-F238E27FC236}">
                <a16:creationId xmlns:a16="http://schemas.microsoft.com/office/drawing/2014/main" id="{AB858EF6-168B-4BB8-9170-D409E651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971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3254" name="Oval 6">
            <a:extLst>
              <a:ext uri="{FF2B5EF4-FFF2-40B4-BE49-F238E27FC236}">
                <a16:creationId xmlns:a16="http://schemas.microsoft.com/office/drawing/2014/main" id="{D74ECA95-7B88-478E-A219-1F4FB765D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105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3255" name="Oval 7">
            <a:extLst>
              <a:ext uri="{FF2B5EF4-FFF2-40B4-BE49-F238E27FC236}">
                <a16:creationId xmlns:a16="http://schemas.microsoft.com/office/drawing/2014/main" id="{3F9CE9EC-D035-4760-99E2-59CF7FCFE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971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3256" name="Oval 8">
            <a:extLst>
              <a:ext uri="{FF2B5EF4-FFF2-40B4-BE49-F238E27FC236}">
                <a16:creationId xmlns:a16="http://schemas.microsoft.com/office/drawing/2014/main" id="{2C8F5EB3-0151-4157-A1D7-E43941EFA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105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53257" name="Oval 9">
            <a:extLst>
              <a:ext uri="{FF2B5EF4-FFF2-40B4-BE49-F238E27FC236}">
                <a16:creationId xmlns:a16="http://schemas.microsoft.com/office/drawing/2014/main" id="{B0CBAE56-8779-4917-A92D-9AD1540F3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038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53258" name="Line 10">
            <a:extLst>
              <a:ext uri="{FF2B5EF4-FFF2-40B4-BE49-F238E27FC236}">
                <a16:creationId xmlns:a16="http://schemas.microsoft.com/office/drawing/2014/main" id="{53C4D538-31EB-4237-AFDF-AECF4DC848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352800"/>
            <a:ext cx="1447800" cy="7620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9" name="Line 11">
            <a:extLst>
              <a:ext uri="{FF2B5EF4-FFF2-40B4-BE49-F238E27FC236}">
                <a16:creationId xmlns:a16="http://schemas.microsoft.com/office/drawing/2014/main" id="{FF735FD3-0DFE-45E6-B7E1-58190766A2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419600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0" name="Line 12">
            <a:extLst>
              <a:ext uri="{FF2B5EF4-FFF2-40B4-BE49-F238E27FC236}">
                <a16:creationId xmlns:a16="http://schemas.microsoft.com/office/drawing/2014/main" id="{9B0BE4C7-F734-4DBF-999E-5438A714A9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4290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1" name="Line 13">
            <a:extLst>
              <a:ext uri="{FF2B5EF4-FFF2-40B4-BE49-F238E27FC236}">
                <a16:creationId xmlns:a16="http://schemas.microsoft.com/office/drawing/2014/main" id="{90F46DB0-2100-496C-86F1-0D93BD100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2004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2" name="Line 14">
            <a:extLst>
              <a:ext uri="{FF2B5EF4-FFF2-40B4-BE49-F238E27FC236}">
                <a16:creationId xmlns:a16="http://schemas.microsoft.com/office/drawing/2014/main" id="{EC8BCECB-2AAE-485C-B702-93451F78CA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3340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3" name="Line 15">
            <a:extLst>
              <a:ext uri="{FF2B5EF4-FFF2-40B4-BE49-F238E27FC236}">
                <a16:creationId xmlns:a16="http://schemas.microsoft.com/office/drawing/2014/main" id="{9BB172A4-E0CA-4D7A-9FBA-9766CDCF0DB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429000"/>
            <a:ext cx="0" cy="1676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4" name="Line 16">
            <a:extLst>
              <a:ext uri="{FF2B5EF4-FFF2-40B4-BE49-F238E27FC236}">
                <a16:creationId xmlns:a16="http://schemas.microsoft.com/office/drawing/2014/main" id="{6757F5C6-A553-4ED3-9CE0-AEA0D58686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352800"/>
            <a:ext cx="1828800" cy="1828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5" name="Line 17">
            <a:extLst>
              <a:ext uri="{FF2B5EF4-FFF2-40B4-BE49-F238E27FC236}">
                <a16:creationId xmlns:a16="http://schemas.microsoft.com/office/drawing/2014/main" id="{2DD39BB4-A6AF-40BF-B5D2-6E00ED1E9D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3352800"/>
            <a:ext cx="19050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6" name="Line 18">
            <a:extLst>
              <a:ext uri="{FF2B5EF4-FFF2-40B4-BE49-F238E27FC236}">
                <a16:creationId xmlns:a16="http://schemas.microsoft.com/office/drawing/2014/main" id="{D2F65B76-E608-45B5-A6D8-DA4A5DD0F8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352800"/>
            <a:ext cx="1600200" cy="838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7" name="Line 19">
            <a:extLst>
              <a:ext uri="{FF2B5EF4-FFF2-40B4-BE49-F238E27FC236}">
                <a16:creationId xmlns:a16="http://schemas.microsoft.com/office/drawing/2014/main" id="{3438D5C0-B82A-4B5F-855F-1479236EE7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4419600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8" name="Text Box 20">
            <a:extLst>
              <a:ext uri="{FF2B5EF4-FFF2-40B4-BE49-F238E27FC236}">
                <a16:creationId xmlns:a16="http://schemas.microsoft.com/office/drawing/2014/main" id="{E7A41DA6-7A70-409D-ACFC-A0620A9A8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3528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10</a:t>
            </a:r>
          </a:p>
        </p:txBody>
      </p:sp>
      <p:sp>
        <p:nvSpPr>
          <p:cNvPr id="53269" name="Text Box 21">
            <a:extLst>
              <a:ext uri="{FF2B5EF4-FFF2-40B4-BE49-F238E27FC236}">
                <a16:creationId xmlns:a16="http://schemas.microsoft.com/office/drawing/2014/main" id="{71AEED39-8444-46DA-BB7B-C94F646DC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648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8</a:t>
            </a:r>
          </a:p>
        </p:txBody>
      </p:sp>
      <p:sp>
        <p:nvSpPr>
          <p:cNvPr id="53270" name="Text Box 22">
            <a:extLst>
              <a:ext uri="{FF2B5EF4-FFF2-40B4-BE49-F238E27FC236}">
                <a16:creationId xmlns:a16="http://schemas.microsoft.com/office/drawing/2014/main" id="{0F01BAAF-9E57-45A8-8A72-9D0551417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743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53271" name="Text Box 23">
            <a:extLst>
              <a:ext uri="{FF2B5EF4-FFF2-40B4-BE49-F238E27FC236}">
                <a16:creationId xmlns:a16="http://schemas.microsoft.com/office/drawing/2014/main" id="{A7DCE876-46D1-47EA-B4A1-EA175DAD9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2578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6</a:t>
            </a:r>
          </a:p>
        </p:txBody>
      </p:sp>
      <p:sp>
        <p:nvSpPr>
          <p:cNvPr id="53272" name="Text Box 24">
            <a:extLst>
              <a:ext uri="{FF2B5EF4-FFF2-40B4-BE49-F238E27FC236}">
                <a16:creationId xmlns:a16="http://schemas.microsoft.com/office/drawing/2014/main" id="{EA75A0A0-87B6-4656-886A-F587F2245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3528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53273" name="Text Box 25">
            <a:extLst>
              <a:ext uri="{FF2B5EF4-FFF2-40B4-BE49-F238E27FC236}">
                <a16:creationId xmlns:a16="http://schemas.microsoft.com/office/drawing/2014/main" id="{63C92B3F-5CA8-48CA-A07C-9C7149D92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648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53274" name="Text Box 26">
            <a:extLst>
              <a:ext uri="{FF2B5EF4-FFF2-40B4-BE49-F238E27FC236}">
                <a16:creationId xmlns:a16="http://schemas.microsoft.com/office/drawing/2014/main" id="{99996F24-20B2-4F7A-BACD-AC0491713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11</a:t>
            </a:r>
          </a:p>
        </p:txBody>
      </p:sp>
      <p:sp>
        <p:nvSpPr>
          <p:cNvPr id="53275" name="Text Box 27">
            <a:extLst>
              <a:ext uri="{FF2B5EF4-FFF2-40B4-BE49-F238E27FC236}">
                <a16:creationId xmlns:a16="http://schemas.microsoft.com/office/drawing/2014/main" id="{2F287BC6-442C-425D-8F2B-A150C1213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62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53276" name="Text Box 28">
            <a:extLst>
              <a:ext uri="{FF2B5EF4-FFF2-40B4-BE49-F238E27FC236}">
                <a16:creationId xmlns:a16="http://schemas.microsoft.com/office/drawing/2014/main" id="{62481435-CA7E-4C36-B48B-2D9765F92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800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17</a:t>
            </a:r>
          </a:p>
        </p:txBody>
      </p:sp>
      <p:sp>
        <p:nvSpPr>
          <p:cNvPr id="53277" name="Text Box 29">
            <a:extLst>
              <a:ext uri="{FF2B5EF4-FFF2-40B4-BE49-F238E27FC236}">
                <a16:creationId xmlns:a16="http://schemas.microsoft.com/office/drawing/2014/main" id="{CDEC9864-7B48-4E9A-969D-9F1BBFA05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962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4</a:t>
            </a:r>
          </a:p>
        </p:txBody>
      </p:sp>
      <p:sp>
        <p:nvSpPr>
          <p:cNvPr id="53278" name="Text Box 30">
            <a:extLst>
              <a:ext uri="{FF2B5EF4-FFF2-40B4-BE49-F238E27FC236}">
                <a16:creationId xmlns:a16="http://schemas.microsoft.com/office/drawing/2014/main" id="{5B12CAC4-4D2B-43EC-AF40-4A87C69C1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124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3279" name="Text Box 31">
            <a:extLst>
              <a:ext uri="{FF2B5EF4-FFF2-40B4-BE49-F238E27FC236}">
                <a16:creationId xmlns:a16="http://schemas.microsoft.com/office/drawing/2014/main" id="{966CF096-3004-491D-8DE3-40ED8AB02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876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53280" name="Text Box 32">
            <a:extLst>
              <a:ext uri="{FF2B5EF4-FFF2-40B4-BE49-F238E27FC236}">
                <a16:creationId xmlns:a16="http://schemas.microsoft.com/office/drawing/2014/main" id="{AF32C685-FB69-4321-9C90-10DD2566A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743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3281" name="Text Box 33">
            <a:extLst>
              <a:ext uri="{FF2B5EF4-FFF2-40B4-BE49-F238E27FC236}">
                <a16:creationId xmlns:a16="http://schemas.microsoft.com/office/drawing/2014/main" id="{28B4BC5F-6599-414D-98F1-D4AC5028C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581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3282" name="Text Box 34">
            <a:extLst>
              <a:ext uri="{FF2B5EF4-FFF2-40B4-BE49-F238E27FC236}">
                <a16:creationId xmlns:a16="http://schemas.microsoft.com/office/drawing/2014/main" id="{AD20DFB5-A862-4C8D-A402-E236172B4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343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3283" name="Text Box 35">
            <a:extLst>
              <a:ext uri="{FF2B5EF4-FFF2-40B4-BE49-F238E27FC236}">
                <a16:creationId xmlns:a16="http://schemas.microsoft.com/office/drawing/2014/main" id="{E286483C-1CC3-4BAD-B0EA-E797D4F20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41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3284" name="Text Box 36">
            <a:extLst>
              <a:ext uri="{FF2B5EF4-FFF2-40B4-BE49-F238E27FC236}">
                <a16:creationId xmlns:a16="http://schemas.microsoft.com/office/drawing/2014/main" id="{3A6C9D9A-4475-4689-9888-EF8FEC987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33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53285" name="Text Box 37">
            <a:extLst>
              <a:ext uri="{FF2B5EF4-FFF2-40B4-BE49-F238E27FC236}">
                <a16:creationId xmlns:a16="http://schemas.microsoft.com/office/drawing/2014/main" id="{436D1E57-4229-42D1-9DAE-A81F34F2A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53286" name="Text Box 38">
            <a:extLst>
              <a:ext uri="{FF2B5EF4-FFF2-40B4-BE49-F238E27FC236}">
                <a16:creationId xmlns:a16="http://schemas.microsoft.com/office/drawing/2014/main" id="{397AEE5E-C833-4A4A-AD07-CB92F6995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26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53287" name="Text Box 39">
            <a:extLst>
              <a:ext uri="{FF2B5EF4-FFF2-40B4-BE49-F238E27FC236}">
                <a16:creationId xmlns:a16="http://schemas.microsoft.com/office/drawing/2014/main" id="{ABA291F3-A330-4892-872F-F172BCD0E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2" name="Group 42">
            <a:extLst>
              <a:ext uri="{FF2B5EF4-FFF2-40B4-BE49-F238E27FC236}">
                <a16:creationId xmlns:a16="http://schemas.microsoft.com/office/drawing/2014/main" id="{D29C1A51-1CEA-489E-BD60-0D90A1C04C34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5105400"/>
            <a:ext cx="990600" cy="990600"/>
            <a:chOff x="4752" y="3216"/>
            <a:chExt cx="624" cy="624"/>
          </a:xfrm>
        </p:grpSpPr>
        <p:sp>
          <p:nvSpPr>
            <p:cNvPr id="53289" name="Line 40">
              <a:extLst>
                <a:ext uri="{FF2B5EF4-FFF2-40B4-BE49-F238E27FC236}">
                  <a16:creationId xmlns:a16="http://schemas.microsoft.com/office/drawing/2014/main" id="{770D9620-F575-478D-9B20-509A3B5E8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3216"/>
              <a:ext cx="576" cy="624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90" name="Line 41">
              <a:extLst>
                <a:ext uri="{FF2B5EF4-FFF2-40B4-BE49-F238E27FC236}">
                  <a16:creationId xmlns:a16="http://schemas.microsoft.com/office/drawing/2014/main" id="{B22326ED-BB25-4BEC-97E8-55D70AEC43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3216"/>
              <a:ext cx="576" cy="576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4AA5700C-698E-48AE-B4CB-D05CC72C1A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增广链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224E054F-32E1-4412-89E4-0656F9C845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i="1"/>
              <a:t>f </a:t>
            </a:r>
            <a:r>
              <a:rPr lang="zh-CN" altLang="en-US"/>
              <a:t>为一可行流，</a:t>
            </a:r>
            <a:r>
              <a:rPr lang="en-US" altLang="zh-CN"/>
              <a:t>u</a:t>
            </a:r>
            <a:r>
              <a:rPr lang="zh-CN" altLang="en-US"/>
              <a:t>为</a:t>
            </a:r>
            <a:r>
              <a:rPr lang="en-US" altLang="zh-CN"/>
              <a:t>v</a:t>
            </a:r>
            <a:r>
              <a:rPr lang="en-US" altLang="zh-CN" baseline="-25000"/>
              <a:t>s</a:t>
            </a:r>
            <a:r>
              <a:rPr lang="zh-CN" altLang="en-US"/>
              <a:t>至</a:t>
            </a:r>
            <a:r>
              <a:rPr lang="en-US" altLang="zh-CN"/>
              <a:t>v</a:t>
            </a:r>
            <a:r>
              <a:rPr lang="en-US" altLang="zh-CN" baseline="-25000"/>
              <a:t>t</a:t>
            </a:r>
            <a:r>
              <a:rPr lang="zh-CN" altLang="en-US"/>
              <a:t>的链。若</a:t>
            </a:r>
            <a:r>
              <a:rPr lang="en-US" altLang="zh-CN"/>
              <a:t>u</a:t>
            </a:r>
            <a:r>
              <a:rPr lang="en-US" altLang="zh-CN" baseline="30000"/>
              <a:t>+</a:t>
            </a:r>
            <a:r>
              <a:rPr lang="en-US" altLang="zh-CN"/>
              <a:t>={</a:t>
            </a:r>
            <a:r>
              <a:rPr lang="zh-CN" altLang="en-US"/>
              <a:t>前向弧</a:t>
            </a:r>
            <a:r>
              <a:rPr lang="en-US" altLang="zh-CN"/>
              <a:t>}</a:t>
            </a:r>
            <a:r>
              <a:rPr lang="en-US" altLang="zh-CN" baseline="30000"/>
              <a:t> </a:t>
            </a:r>
            <a:r>
              <a:rPr lang="zh-CN" altLang="en-US"/>
              <a:t>中弧皆非饱，且</a:t>
            </a:r>
            <a:r>
              <a:rPr lang="en-US" altLang="zh-CN"/>
              <a:t>u</a:t>
            </a:r>
            <a:r>
              <a:rPr lang="en-US" altLang="zh-CN" baseline="30000"/>
              <a:t>- </a:t>
            </a:r>
            <a:r>
              <a:rPr lang="en-US" altLang="zh-CN"/>
              <a:t>={</a:t>
            </a:r>
            <a:r>
              <a:rPr lang="zh-CN" altLang="en-US"/>
              <a:t>后向弧</a:t>
            </a:r>
            <a:r>
              <a:rPr lang="en-US" altLang="zh-CN"/>
              <a:t>}</a:t>
            </a:r>
            <a:r>
              <a:rPr lang="zh-CN" altLang="en-US"/>
              <a:t>中弧皆非零，则称</a:t>
            </a:r>
            <a:r>
              <a:rPr lang="en-US" altLang="zh-CN"/>
              <a:t>u</a:t>
            </a:r>
            <a:r>
              <a:rPr lang="zh-CN" altLang="en-US"/>
              <a:t>为关于</a:t>
            </a:r>
            <a:r>
              <a:rPr lang="en-US" altLang="zh-CN" i="1"/>
              <a:t>f  </a:t>
            </a:r>
            <a:r>
              <a:rPr lang="zh-CN" altLang="en-US"/>
              <a:t>的一条</a:t>
            </a:r>
            <a:r>
              <a:rPr lang="zh-CN" altLang="en-US">
                <a:solidFill>
                  <a:srgbClr val="FF3300"/>
                </a:solidFill>
              </a:rPr>
              <a:t>增广链</a:t>
            </a:r>
            <a:endParaRPr lang="en-US" altLang="zh-CN">
              <a:solidFill>
                <a:srgbClr val="FF3300"/>
              </a:solidFill>
            </a:endParaRPr>
          </a:p>
          <a:p>
            <a:pPr eaLnBrk="1" hangingPunct="1"/>
            <a:endParaRPr lang="en-US" altLang="zh-CN">
              <a:solidFill>
                <a:srgbClr val="FF3300"/>
              </a:solidFill>
            </a:endParaRPr>
          </a:p>
          <a:p>
            <a:pPr eaLnBrk="1" hangingPunct="1"/>
            <a:endParaRPr lang="en-US" altLang="zh-CN">
              <a:solidFill>
                <a:srgbClr val="FF3300"/>
              </a:solidFill>
            </a:endParaRPr>
          </a:p>
          <a:p>
            <a:pPr eaLnBrk="1" hangingPunct="1"/>
            <a:endParaRPr lang="en-US" altLang="zh-CN">
              <a:solidFill>
                <a:srgbClr val="FF3300"/>
              </a:solidFill>
            </a:endParaRPr>
          </a:p>
          <a:p>
            <a:pPr eaLnBrk="1" hangingPunct="1"/>
            <a:endParaRPr lang="en-US" altLang="zh-CN">
              <a:solidFill>
                <a:srgbClr val="FF3300"/>
              </a:solidFill>
            </a:endParaRPr>
          </a:p>
          <a:p>
            <a:pPr eaLnBrk="1" hangingPunct="1"/>
            <a:endParaRPr lang="en-US" altLang="zh-CN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/>
              <a:t>实际上，是可以调整增大流量的链</a:t>
            </a:r>
          </a:p>
          <a:p>
            <a:pPr eaLnBrk="1" hangingPunct="1"/>
            <a:endParaRPr lang="zh-CN" altLang="en-US">
              <a:solidFill>
                <a:srgbClr val="FF3300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>
              <a:solidFill>
                <a:srgbClr val="FF3300"/>
              </a:solidFill>
            </a:endParaRPr>
          </a:p>
          <a:p>
            <a:pPr eaLnBrk="1" hangingPunct="1"/>
            <a:endParaRPr lang="en-US" altLang="zh-CN"/>
          </a:p>
        </p:txBody>
      </p:sp>
      <p:sp>
        <p:nvSpPr>
          <p:cNvPr id="54276" name="Oval 4">
            <a:extLst>
              <a:ext uri="{FF2B5EF4-FFF2-40B4-BE49-F238E27FC236}">
                <a16:creationId xmlns:a16="http://schemas.microsoft.com/office/drawing/2014/main" id="{B6018699-E0C5-4BDB-9002-24DE25F46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038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4277" name="Oval 5">
            <a:extLst>
              <a:ext uri="{FF2B5EF4-FFF2-40B4-BE49-F238E27FC236}">
                <a16:creationId xmlns:a16="http://schemas.microsoft.com/office/drawing/2014/main" id="{76E388FC-A076-467B-9EB7-D959A1207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971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4278" name="Oval 6">
            <a:extLst>
              <a:ext uri="{FF2B5EF4-FFF2-40B4-BE49-F238E27FC236}">
                <a16:creationId xmlns:a16="http://schemas.microsoft.com/office/drawing/2014/main" id="{24487124-6E8E-4FFC-9D59-FD727D819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105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4279" name="Oval 7">
            <a:extLst>
              <a:ext uri="{FF2B5EF4-FFF2-40B4-BE49-F238E27FC236}">
                <a16:creationId xmlns:a16="http://schemas.microsoft.com/office/drawing/2014/main" id="{D9E564E5-9CFA-40AC-96A0-54DEA72E7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971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4280" name="Oval 8">
            <a:extLst>
              <a:ext uri="{FF2B5EF4-FFF2-40B4-BE49-F238E27FC236}">
                <a16:creationId xmlns:a16="http://schemas.microsoft.com/office/drawing/2014/main" id="{69CD9542-5C48-414D-8FD2-6E5E2A5E2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105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54281" name="Oval 9">
            <a:extLst>
              <a:ext uri="{FF2B5EF4-FFF2-40B4-BE49-F238E27FC236}">
                <a16:creationId xmlns:a16="http://schemas.microsoft.com/office/drawing/2014/main" id="{DD6DE62A-82FC-4DA4-A1E4-8653D08C7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038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54282" name="Line 10">
            <a:extLst>
              <a:ext uri="{FF2B5EF4-FFF2-40B4-BE49-F238E27FC236}">
                <a16:creationId xmlns:a16="http://schemas.microsoft.com/office/drawing/2014/main" id="{6ED4616E-1323-4F53-92D4-2DEEB59D46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352800"/>
            <a:ext cx="1447800" cy="7620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3" name="Line 11">
            <a:extLst>
              <a:ext uri="{FF2B5EF4-FFF2-40B4-BE49-F238E27FC236}">
                <a16:creationId xmlns:a16="http://schemas.microsoft.com/office/drawing/2014/main" id="{8E8BE901-5701-44D9-9A7C-D370862008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419600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4" name="Line 12">
            <a:extLst>
              <a:ext uri="{FF2B5EF4-FFF2-40B4-BE49-F238E27FC236}">
                <a16:creationId xmlns:a16="http://schemas.microsoft.com/office/drawing/2014/main" id="{2FD52465-3B70-429D-874D-9B05AD33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4290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5" name="Line 13">
            <a:extLst>
              <a:ext uri="{FF2B5EF4-FFF2-40B4-BE49-F238E27FC236}">
                <a16:creationId xmlns:a16="http://schemas.microsoft.com/office/drawing/2014/main" id="{A2DD81CC-78DF-408E-87DD-B6C443F168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200400"/>
            <a:ext cx="17526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6" name="Line 14">
            <a:extLst>
              <a:ext uri="{FF2B5EF4-FFF2-40B4-BE49-F238E27FC236}">
                <a16:creationId xmlns:a16="http://schemas.microsoft.com/office/drawing/2014/main" id="{C124F8DD-F854-4205-9C7A-885D296D1C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3340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7" name="Line 15">
            <a:extLst>
              <a:ext uri="{FF2B5EF4-FFF2-40B4-BE49-F238E27FC236}">
                <a16:creationId xmlns:a16="http://schemas.microsoft.com/office/drawing/2014/main" id="{5EF2738B-485E-49B8-B736-C4FC6B5AB0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429000"/>
            <a:ext cx="0" cy="1676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8" name="Line 16">
            <a:extLst>
              <a:ext uri="{FF2B5EF4-FFF2-40B4-BE49-F238E27FC236}">
                <a16:creationId xmlns:a16="http://schemas.microsoft.com/office/drawing/2014/main" id="{076E4A90-85C7-43EA-BFC3-B074257FA2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352800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9" name="Line 17">
            <a:extLst>
              <a:ext uri="{FF2B5EF4-FFF2-40B4-BE49-F238E27FC236}">
                <a16:creationId xmlns:a16="http://schemas.microsoft.com/office/drawing/2014/main" id="{DBCAF764-6941-4D18-9CF6-B40D1192DA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3352800"/>
            <a:ext cx="19050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90" name="Line 18">
            <a:extLst>
              <a:ext uri="{FF2B5EF4-FFF2-40B4-BE49-F238E27FC236}">
                <a16:creationId xmlns:a16="http://schemas.microsoft.com/office/drawing/2014/main" id="{C760636D-A25D-49CA-999B-FDE27BB30F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352800"/>
            <a:ext cx="1600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91" name="Line 19">
            <a:extLst>
              <a:ext uri="{FF2B5EF4-FFF2-40B4-BE49-F238E27FC236}">
                <a16:creationId xmlns:a16="http://schemas.microsoft.com/office/drawing/2014/main" id="{7963C9BF-D45A-4083-8954-C7B54EE468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4419600"/>
            <a:ext cx="1524000" cy="838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92" name="Text Box 20">
            <a:extLst>
              <a:ext uri="{FF2B5EF4-FFF2-40B4-BE49-F238E27FC236}">
                <a16:creationId xmlns:a16="http://schemas.microsoft.com/office/drawing/2014/main" id="{9CAE27B8-015D-401A-B6F7-0F4AA119E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3528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10</a:t>
            </a:r>
          </a:p>
        </p:txBody>
      </p:sp>
      <p:sp>
        <p:nvSpPr>
          <p:cNvPr id="54293" name="Text Box 21">
            <a:extLst>
              <a:ext uri="{FF2B5EF4-FFF2-40B4-BE49-F238E27FC236}">
                <a16:creationId xmlns:a16="http://schemas.microsoft.com/office/drawing/2014/main" id="{E7AE8D8E-A0D4-4372-B575-96D108262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648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8</a:t>
            </a:r>
          </a:p>
        </p:txBody>
      </p:sp>
      <p:sp>
        <p:nvSpPr>
          <p:cNvPr id="54294" name="Text Box 22">
            <a:extLst>
              <a:ext uri="{FF2B5EF4-FFF2-40B4-BE49-F238E27FC236}">
                <a16:creationId xmlns:a16="http://schemas.microsoft.com/office/drawing/2014/main" id="{88045AD3-9230-4033-B719-E342AB473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743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54295" name="Text Box 23">
            <a:extLst>
              <a:ext uri="{FF2B5EF4-FFF2-40B4-BE49-F238E27FC236}">
                <a16:creationId xmlns:a16="http://schemas.microsoft.com/office/drawing/2014/main" id="{058304EA-F1E2-4944-BD29-1110A951B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2578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6</a:t>
            </a:r>
          </a:p>
        </p:txBody>
      </p:sp>
      <p:sp>
        <p:nvSpPr>
          <p:cNvPr id="54296" name="Text Box 24">
            <a:extLst>
              <a:ext uri="{FF2B5EF4-FFF2-40B4-BE49-F238E27FC236}">
                <a16:creationId xmlns:a16="http://schemas.microsoft.com/office/drawing/2014/main" id="{0707ABF1-8499-4434-BF21-ABAA9488D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3528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54297" name="Text Box 25">
            <a:extLst>
              <a:ext uri="{FF2B5EF4-FFF2-40B4-BE49-F238E27FC236}">
                <a16:creationId xmlns:a16="http://schemas.microsoft.com/office/drawing/2014/main" id="{5D94ABB2-81EB-43FE-849B-76E06FB96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648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54298" name="Text Box 26">
            <a:extLst>
              <a:ext uri="{FF2B5EF4-FFF2-40B4-BE49-F238E27FC236}">
                <a16:creationId xmlns:a16="http://schemas.microsoft.com/office/drawing/2014/main" id="{C91A005B-857D-4D97-9263-6471C6C87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11</a:t>
            </a:r>
          </a:p>
        </p:txBody>
      </p:sp>
      <p:sp>
        <p:nvSpPr>
          <p:cNvPr id="54299" name="Text Box 27">
            <a:extLst>
              <a:ext uri="{FF2B5EF4-FFF2-40B4-BE49-F238E27FC236}">
                <a16:creationId xmlns:a16="http://schemas.microsoft.com/office/drawing/2014/main" id="{C2EA604A-6D26-45F7-951C-A24968514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62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54300" name="Text Box 28">
            <a:extLst>
              <a:ext uri="{FF2B5EF4-FFF2-40B4-BE49-F238E27FC236}">
                <a16:creationId xmlns:a16="http://schemas.microsoft.com/office/drawing/2014/main" id="{1D1B6014-D857-4E46-951A-9DA68BC9F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800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17</a:t>
            </a:r>
          </a:p>
        </p:txBody>
      </p:sp>
      <p:sp>
        <p:nvSpPr>
          <p:cNvPr id="54301" name="Text Box 29">
            <a:extLst>
              <a:ext uri="{FF2B5EF4-FFF2-40B4-BE49-F238E27FC236}">
                <a16:creationId xmlns:a16="http://schemas.microsoft.com/office/drawing/2014/main" id="{4CE677AA-2ABA-4E54-87F5-3999CA46B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962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4</a:t>
            </a:r>
          </a:p>
        </p:txBody>
      </p:sp>
      <p:sp>
        <p:nvSpPr>
          <p:cNvPr id="54302" name="Text Box 30">
            <a:extLst>
              <a:ext uri="{FF2B5EF4-FFF2-40B4-BE49-F238E27FC236}">
                <a16:creationId xmlns:a16="http://schemas.microsoft.com/office/drawing/2014/main" id="{E3B8B98E-B6D6-4FA4-BF49-2D5A75443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124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4303" name="Text Box 31">
            <a:extLst>
              <a:ext uri="{FF2B5EF4-FFF2-40B4-BE49-F238E27FC236}">
                <a16:creationId xmlns:a16="http://schemas.microsoft.com/office/drawing/2014/main" id="{41ED26C9-1DF7-453D-A693-3C673B7BC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876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54304" name="Text Box 32">
            <a:extLst>
              <a:ext uri="{FF2B5EF4-FFF2-40B4-BE49-F238E27FC236}">
                <a16:creationId xmlns:a16="http://schemas.microsoft.com/office/drawing/2014/main" id="{806F62AC-1C15-447F-BCAF-053100540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743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4305" name="Text Box 33">
            <a:extLst>
              <a:ext uri="{FF2B5EF4-FFF2-40B4-BE49-F238E27FC236}">
                <a16:creationId xmlns:a16="http://schemas.microsoft.com/office/drawing/2014/main" id="{BE0B18F1-208B-4293-900B-9D6BF5214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581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4306" name="Text Box 34">
            <a:extLst>
              <a:ext uri="{FF2B5EF4-FFF2-40B4-BE49-F238E27FC236}">
                <a16:creationId xmlns:a16="http://schemas.microsoft.com/office/drawing/2014/main" id="{FE1B613E-C8AD-4EE4-A7DC-6CBEE0096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343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4307" name="Text Box 35">
            <a:extLst>
              <a:ext uri="{FF2B5EF4-FFF2-40B4-BE49-F238E27FC236}">
                <a16:creationId xmlns:a16="http://schemas.microsoft.com/office/drawing/2014/main" id="{90A57EC4-674F-4B4F-9895-092BFE974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41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4308" name="Text Box 36">
            <a:extLst>
              <a:ext uri="{FF2B5EF4-FFF2-40B4-BE49-F238E27FC236}">
                <a16:creationId xmlns:a16="http://schemas.microsoft.com/office/drawing/2014/main" id="{6D90157F-F9F3-40E8-BDFB-93F16E653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33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54309" name="Text Box 37">
            <a:extLst>
              <a:ext uri="{FF2B5EF4-FFF2-40B4-BE49-F238E27FC236}">
                <a16:creationId xmlns:a16="http://schemas.microsoft.com/office/drawing/2014/main" id="{8BB85D01-2EAB-4E36-9927-22EE6C5E5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54310" name="Text Box 38">
            <a:extLst>
              <a:ext uri="{FF2B5EF4-FFF2-40B4-BE49-F238E27FC236}">
                <a16:creationId xmlns:a16="http://schemas.microsoft.com/office/drawing/2014/main" id="{3A65B1B9-48BC-443C-93BD-527533476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26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54311" name="Text Box 39">
            <a:extLst>
              <a:ext uri="{FF2B5EF4-FFF2-40B4-BE49-F238E27FC236}">
                <a16:creationId xmlns:a16="http://schemas.microsoft.com/office/drawing/2014/main" id="{E976F9CF-41F8-45CA-B3A7-DE63A90BB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61161" name="Freeform 41">
            <a:extLst>
              <a:ext uri="{FF2B5EF4-FFF2-40B4-BE49-F238E27FC236}">
                <a16:creationId xmlns:a16="http://schemas.microsoft.com/office/drawing/2014/main" id="{6E3C8830-A2D8-4A2D-A4AB-466E97157E32}"/>
              </a:ext>
            </a:extLst>
          </p:cNvPr>
          <p:cNvSpPr>
            <a:spLocks/>
          </p:cNvSpPr>
          <p:nvPr/>
        </p:nvSpPr>
        <p:spPr bwMode="auto">
          <a:xfrm>
            <a:off x="7010400" y="5029200"/>
            <a:ext cx="1752600" cy="1270000"/>
          </a:xfrm>
          <a:custGeom>
            <a:avLst/>
            <a:gdLst>
              <a:gd name="T0" fmla="*/ 0 w 1104"/>
              <a:gd name="T1" fmla="*/ 2147483646 h 800"/>
              <a:gd name="T2" fmla="*/ 2147483646 w 1104"/>
              <a:gd name="T3" fmla="*/ 2147483646 h 800"/>
              <a:gd name="T4" fmla="*/ 2147483646 w 1104"/>
              <a:gd name="T5" fmla="*/ 0 h 800"/>
              <a:gd name="T6" fmla="*/ 0 60000 65536"/>
              <a:gd name="T7" fmla="*/ 0 60000 65536"/>
              <a:gd name="T8" fmla="*/ 0 60000 65536"/>
              <a:gd name="T9" fmla="*/ 0 w 1104"/>
              <a:gd name="T10" fmla="*/ 0 h 800"/>
              <a:gd name="T11" fmla="*/ 1104 w 1104"/>
              <a:gd name="T12" fmla="*/ 800 h 8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800">
                <a:moveTo>
                  <a:pt x="0" y="480"/>
                </a:moveTo>
                <a:cubicBezTo>
                  <a:pt x="52" y="640"/>
                  <a:pt x="104" y="800"/>
                  <a:pt x="288" y="720"/>
                </a:cubicBezTo>
                <a:cubicBezTo>
                  <a:pt x="472" y="640"/>
                  <a:pt x="788" y="320"/>
                  <a:pt x="1104" y="0"/>
                </a:cubicBezTo>
              </a:path>
            </a:pathLst>
          </a:custGeom>
          <a:noFill/>
          <a:ln w="7620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1F9788A4-A06C-424A-92E3-CEDC5B1C66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调整示例</a:t>
            </a:r>
          </a:p>
        </p:txBody>
      </p:sp>
      <p:grpSp>
        <p:nvGrpSpPr>
          <p:cNvPr id="56323" name="Group 76">
            <a:extLst>
              <a:ext uri="{FF2B5EF4-FFF2-40B4-BE49-F238E27FC236}">
                <a16:creationId xmlns:a16="http://schemas.microsoft.com/office/drawing/2014/main" id="{8B4CBFA1-021D-4AED-9366-8D515F449B93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143000"/>
            <a:ext cx="5715000" cy="2659063"/>
            <a:chOff x="816" y="576"/>
            <a:chExt cx="4080" cy="1971"/>
          </a:xfrm>
        </p:grpSpPr>
        <p:sp>
          <p:nvSpPr>
            <p:cNvPr id="56363" name="Oval 4">
              <a:extLst>
                <a:ext uri="{FF2B5EF4-FFF2-40B4-BE49-F238E27FC236}">
                  <a16:creationId xmlns:a16="http://schemas.microsoft.com/office/drawing/2014/main" id="{BFD5DF02-E3FE-4B41-917B-23A77C48A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392"/>
              <a:ext cx="288" cy="28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v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6364" name="Oval 5">
              <a:extLst>
                <a:ext uri="{FF2B5EF4-FFF2-40B4-BE49-F238E27FC236}">
                  <a16:creationId xmlns:a16="http://schemas.microsoft.com/office/drawing/2014/main" id="{493C7203-E555-455B-A34D-FBE32560D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720"/>
              <a:ext cx="288" cy="28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v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56365" name="Oval 6">
              <a:extLst>
                <a:ext uri="{FF2B5EF4-FFF2-40B4-BE49-F238E27FC236}">
                  <a16:creationId xmlns:a16="http://schemas.microsoft.com/office/drawing/2014/main" id="{9DA4A753-6CF8-4929-A6C7-7FE596AC33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064"/>
              <a:ext cx="288" cy="28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v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56366" name="Oval 7">
              <a:extLst>
                <a:ext uri="{FF2B5EF4-FFF2-40B4-BE49-F238E27FC236}">
                  <a16:creationId xmlns:a16="http://schemas.microsoft.com/office/drawing/2014/main" id="{471479BE-4784-48C8-883F-22E6E90F7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720"/>
              <a:ext cx="288" cy="28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v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6367" name="Oval 8">
              <a:extLst>
                <a:ext uri="{FF2B5EF4-FFF2-40B4-BE49-F238E27FC236}">
                  <a16:creationId xmlns:a16="http://schemas.microsoft.com/office/drawing/2014/main" id="{A0B492FE-308D-4D10-A4CC-57ED976DB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064"/>
              <a:ext cx="288" cy="28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v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56368" name="Oval 9">
              <a:extLst>
                <a:ext uri="{FF2B5EF4-FFF2-40B4-BE49-F238E27FC236}">
                  <a16:creationId xmlns:a16="http://schemas.microsoft.com/office/drawing/2014/main" id="{C3AB5A73-2E0C-4A62-A5DE-F75856164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392"/>
              <a:ext cx="288" cy="28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v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56369" name="Line 10">
              <a:extLst>
                <a:ext uri="{FF2B5EF4-FFF2-40B4-BE49-F238E27FC236}">
                  <a16:creationId xmlns:a16="http://schemas.microsoft.com/office/drawing/2014/main" id="{BEBFB1B5-5C34-464E-918E-433FF61DD7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960"/>
              <a:ext cx="912" cy="48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0" name="Line 11">
              <a:extLst>
                <a:ext uri="{FF2B5EF4-FFF2-40B4-BE49-F238E27FC236}">
                  <a16:creationId xmlns:a16="http://schemas.microsoft.com/office/drawing/2014/main" id="{F63DFA85-5FF3-4188-9BA5-928B38B22D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632"/>
              <a:ext cx="912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1" name="Line 12">
              <a:extLst>
                <a:ext uri="{FF2B5EF4-FFF2-40B4-BE49-F238E27FC236}">
                  <a16:creationId xmlns:a16="http://schemas.microsoft.com/office/drawing/2014/main" id="{BB5B0C0B-A9EE-48F3-82A4-44950C647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008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2" name="Line 13">
              <a:extLst>
                <a:ext uri="{FF2B5EF4-FFF2-40B4-BE49-F238E27FC236}">
                  <a16:creationId xmlns:a16="http://schemas.microsoft.com/office/drawing/2014/main" id="{515642D7-B078-4BA5-8301-AF5474ADB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864"/>
              <a:ext cx="1104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3" name="Line 14">
              <a:extLst>
                <a:ext uri="{FF2B5EF4-FFF2-40B4-BE49-F238E27FC236}">
                  <a16:creationId xmlns:a16="http://schemas.microsoft.com/office/drawing/2014/main" id="{CE4AA3DF-3ED0-4D94-AFC8-E964F08655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208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4" name="Line 15">
              <a:extLst>
                <a:ext uri="{FF2B5EF4-FFF2-40B4-BE49-F238E27FC236}">
                  <a16:creationId xmlns:a16="http://schemas.microsoft.com/office/drawing/2014/main" id="{68F5D531-78C2-4719-9470-72B44027A2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008"/>
              <a:ext cx="0" cy="1056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5" name="Line 16">
              <a:extLst>
                <a:ext uri="{FF2B5EF4-FFF2-40B4-BE49-F238E27FC236}">
                  <a16:creationId xmlns:a16="http://schemas.microsoft.com/office/drawing/2014/main" id="{E500077E-E614-4937-9E35-67E32754DD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960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6" name="Line 17">
              <a:extLst>
                <a:ext uri="{FF2B5EF4-FFF2-40B4-BE49-F238E27FC236}">
                  <a16:creationId xmlns:a16="http://schemas.microsoft.com/office/drawing/2014/main" id="{E390F7A2-5A0F-4E5E-9D9B-A21AD5AE41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960"/>
              <a:ext cx="120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7" name="Line 18">
              <a:extLst>
                <a:ext uri="{FF2B5EF4-FFF2-40B4-BE49-F238E27FC236}">
                  <a16:creationId xmlns:a16="http://schemas.microsoft.com/office/drawing/2014/main" id="{3AACFB88-49E2-4E51-9238-14873E91A4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960"/>
              <a:ext cx="100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8" name="Line 19">
              <a:extLst>
                <a:ext uri="{FF2B5EF4-FFF2-40B4-BE49-F238E27FC236}">
                  <a16:creationId xmlns:a16="http://schemas.microsoft.com/office/drawing/2014/main" id="{3552406A-F0B8-4E0B-A1C7-6A6C6A2DD4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1632"/>
              <a:ext cx="960" cy="528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9" name="Text Box 20">
              <a:extLst>
                <a:ext uri="{FF2B5EF4-FFF2-40B4-BE49-F238E27FC236}">
                  <a16:creationId xmlns:a16="http://schemas.microsoft.com/office/drawing/2014/main" id="{5D265889-A74F-42AB-8FDB-F45C188760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960"/>
              <a:ext cx="43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56380" name="Text Box 21">
              <a:extLst>
                <a:ext uri="{FF2B5EF4-FFF2-40B4-BE49-F238E27FC236}">
                  <a16:creationId xmlns:a16="http://schemas.microsoft.com/office/drawing/2014/main" id="{60E38D33-6A27-47D0-957F-F44DEEE19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776"/>
              <a:ext cx="43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8</a:t>
              </a:r>
            </a:p>
          </p:txBody>
        </p:sp>
        <p:sp>
          <p:nvSpPr>
            <p:cNvPr id="56381" name="Text Box 22">
              <a:extLst>
                <a:ext uri="{FF2B5EF4-FFF2-40B4-BE49-F238E27FC236}">
                  <a16:creationId xmlns:a16="http://schemas.microsoft.com/office/drawing/2014/main" id="{0F64382F-7F9D-4FA9-8A76-3C97B3BCF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576"/>
              <a:ext cx="43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5</a:t>
              </a:r>
            </a:p>
          </p:txBody>
        </p:sp>
        <p:sp>
          <p:nvSpPr>
            <p:cNvPr id="56382" name="Text Box 23">
              <a:extLst>
                <a:ext uri="{FF2B5EF4-FFF2-40B4-BE49-F238E27FC236}">
                  <a16:creationId xmlns:a16="http://schemas.microsoft.com/office/drawing/2014/main" id="{AAF17A43-58D4-497D-99BE-60BA6D5C29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160"/>
              <a:ext cx="43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6</a:t>
              </a:r>
            </a:p>
          </p:txBody>
        </p:sp>
        <p:sp>
          <p:nvSpPr>
            <p:cNvPr id="56383" name="Text Box 24">
              <a:extLst>
                <a:ext uri="{FF2B5EF4-FFF2-40B4-BE49-F238E27FC236}">
                  <a16:creationId xmlns:a16="http://schemas.microsoft.com/office/drawing/2014/main" id="{93669006-6D41-497B-BC77-BF5276F72A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960"/>
              <a:ext cx="43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3</a:t>
              </a:r>
            </a:p>
          </p:txBody>
        </p:sp>
        <p:sp>
          <p:nvSpPr>
            <p:cNvPr id="56384" name="Text Box 25">
              <a:extLst>
                <a:ext uri="{FF2B5EF4-FFF2-40B4-BE49-F238E27FC236}">
                  <a16:creationId xmlns:a16="http://schemas.microsoft.com/office/drawing/2014/main" id="{BB56B211-CAC9-4ECA-A097-2AE122907E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776"/>
              <a:ext cx="43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5</a:t>
              </a:r>
            </a:p>
          </p:txBody>
        </p:sp>
        <p:sp>
          <p:nvSpPr>
            <p:cNvPr id="56385" name="Text Box 26">
              <a:extLst>
                <a:ext uri="{FF2B5EF4-FFF2-40B4-BE49-F238E27FC236}">
                  <a16:creationId xmlns:a16="http://schemas.microsoft.com/office/drawing/2014/main" id="{F8D45162-4D26-4B0C-ACB6-F7F1FA64BF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913"/>
              <a:ext cx="432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56386" name="Text Box 27">
              <a:extLst>
                <a:ext uri="{FF2B5EF4-FFF2-40B4-BE49-F238E27FC236}">
                  <a16:creationId xmlns:a16="http://schemas.microsoft.com/office/drawing/2014/main" id="{4D5F81A5-EB71-46AA-B064-F0EAAB9C8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344"/>
              <a:ext cx="43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3</a:t>
              </a:r>
            </a:p>
          </p:txBody>
        </p:sp>
        <p:sp>
          <p:nvSpPr>
            <p:cNvPr id="56387" name="Text Box 28">
              <a:extLst>
                <a:ext uri="{FF2B5EF4-FFF2-40B4-BE49-F238E27FC236}">
                  <a16:creationId xmlns:a16="http://schemas.microsoft.com/office/drawing/2014/main" id="{7693B1DF-D31F-4480-BDC0-E3E435093C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872"/>
              <a:ext cx="431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17</a:t>
              </a:r>
            </a:p>
          </p:txBody>
        </p:sp>
        <p:sp>
          <p:nvSpPr>
            <p:cNvPr id="56388" name="Text Box 29">
              <a:extLst>
                <a:ext uri="{FF2B5EF4-FFF2-40B4-BE49-F238E27FC236}">
                  <a16:creationId xmlns:a16="http://schemas.microsoft.com/office/drawing/2014/main" id="{BADB287E-4749-4052-BB22-5F178F907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344"/>
              <a:ext cx="43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4</a:t>
              </a:r>
            </a:p>
          </p:txBody>
        </p:sp>
        <p:sp>
          <p:nvSpPr>
            <p:cNvPr id="56389" name="Text Box 30">
              <a:extLst>
                <a:ext uri="{FF2B5EF4-FFF2-40B4-BE49-F238E27FC236}">
                  <a16:creationId xmlns:a16="http://schemas.microsoft.com/office/drawing/2014/main" id="{683F1AE5-48EC-42D6-A334-1E60CD1ECB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816"/>
              <a:ext cx="288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56390" name="Text Box 31">
              <a:extLst>
                <a:ext uri="{FF2B5EF4-FFF2-40B4-BE49-F238E27FC236}">
                  <a16:creationId xmlns:a16="http://schemas.microsoft.com/office/drawing/2014/main" id="{D1A3FB0B-20A6-494E-A0C6-E0BEAC9469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920"/>
              <a:ext cx="288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56391" name="Text Box 32">
              <a:extLst>
                <a:ext uri="{FF2B5EF4-FFF2-40B4-BE49-F238E27FC236}">
                  <a16:creationId xmlns:a16="http://schemas.microsoft.com/office/drawing/2014/main" id="{3F324C28-50BB-4ABD-A079-CF607372EE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576"/>
              <a:ext cx="288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56392" name="Text Box 33">
              <a:extLst>
                <a:ext uri="{FF2B5EF4-FFF2-40B4-BE49-F238E27FC236}">
                  <a16:creationId xmlns:a16="http://schemas.microsoft.com/office/drawing/2014/main" id="{CCC48810-AC60-4F9B-A995-B4C266EED9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104"/>
              <a:ext cx="288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56393" name="Text Box 34">
              <a:extLst>
                <a:ext uri="{FF2B5EF4-FFF2-40B4-BE49-F238E27FC236}">
                  <a16:creationId xmlns:a16="http://schemas.microsoft.com/office/drawing/2014/main" id="{5358D2C1-4529-4E6D-8CA4-0C5AED9868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584"/>
              <a:ext cx="289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6394" name="Text Box 35">
              <a:extLst>
                <a:ext uri="{FF2B5EF4-FFF2-40B4-BE49-F238E27FC236}">
                  <a16:creationId xmlns:a16="http://schemas.microsoft.com/office/drawing/2014/main" id="{AAC2DB96-D14C-4692-804E-33C1A16A4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632"/>
              <a:ext cx="288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6395" name="Text Box 36">
              <a:extLst>
                <a:ext uri="{FF2B5EF4-FFF2-40B4-BE49-F238E27FC236}">
                  <a16:creationId xmlns:a16="http://schemas.microsoft.com/office/drawing/2014/main" id="{32DE407F-F2E0-4780-88A1-C9CA847FF2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208"/>
              <a:ext cx="288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56396" name="Text Box 37">
              <a:extLst>
                <a:ext uri="{FF2B5EF4-FFF2-40B4-BE49-F238E27FC236}">
                  <a16:creationId xmlns:a16="http://schemas.microsoft.com/office/drawing/2014/main" id="{4A156B32-A67D-4308-AFE9-4DA207425D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008"/>
              <a:ext cx="287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56397" name="Text Box 38">
              <a:extLst>
                <a:ext uri="{FF2B5EF4-FFF2-40B4-BE49-F238E27FC236}">
                  <a16:creationId xmlns:a16="http://schemas.microsoft.com/office/drawing/2014/main" id="{2C3F130C-0A1C-4C6E-B93D-6E9AEFB4D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536"/>
              <a:ext cx="288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56398" name="Text Box 39">
              <a:extLst>
                <a:ext uri="{FF2B5EF4-FFF2-40B4-BE49-F238E27FC236}">
                  <a16:creationId xmlns:a16="http://schemas.microsoft.com/office/drawing/2014/main" id="{95784378-8543-4CBC-A470-9D7272DF18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776"/>
              <a:ext cx="288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3" name="Group 77">
            <a:extLst>
              <a:ext uri="{FF2B5EF4-FFF2-40B4-BE49-F238E27FC236}">
                <a16:creationId xmlns:a16="http://schemas.microsoft.com/office/drawing/2014/main" id="{E076BD76-7496-4307-A6C2-E47EA6D304B6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4046538"/>
            <a:ext cx="5715000" cy="2659062"/>
            <a:chOff x="816" y="576"/>
            <a:chExt cx="4080" cy="1971"/>
          </a:xfrm>
        </p:grpSpPr>
        <p:sp>
          <p:nvSpPr>
            <p:cNvPr id="56327" name="Oval 78">
              <a:extLst>
                <a:ext uri="{FF2B5EF4-FFF2-40B4-BE49-F238E27FC236}">
                  <a16:creationId xmlns:a16="http://schemas.microsoft.com/office/drawing/2014/main" id="{CB9C5404-F85B-43B3-AE17-254A4B406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392"/>
              <a:ext cx="288" cy="28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v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6328" name="Oval 79">
              <a:extLst>
                <a:ext uri="{FF2B5EF4-FFF2-40B4-BE49-F238E27FC236}">
                  <a16:creationId xmlns:a16="http://schemas.microsoft.com/office/drawing/2014/main" id="{9F4C599F-6815-40F4-9736-356FBC178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720"/>
              <a:ext cx="288" cy="28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v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56329" name="Oval 80">
              <a:extLst>
                <a:ext uri="{FF2B5EF4-FFF2-40B4-BE49-F238E27FC236}">
                  <a16:creationId xmlns:a16="http://schemas.microsoft.com/office/drawing/2014/main" id="{7402CB79-EDE6-4DD3-AC7D-FD2B2ACAE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064"/>
              <a:ext cx="288" cy="28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v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56330" name="Oval 81">
              <a:extLst>
                <a:ext uri="{FF2B5EF4-FFF2-40B4-BE49-F238E27FC236}">
                  <a16:creationId xmlns:a16="http://schemas.microsoft.com/office/drawing/2014/main" id="{BCBF0161-09A2-4B5E-BF04-AD1BD34F5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720"/>
              <a:ext cx="288" cy="28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v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6331" name="Oval 82">
              <a:extLst>
                <a:ext uri="{FF2B5EF4-FFF2-40B4-BE49-F238E27FC236}">
                  <a16:creationId xmlns:a16="http://schemas.microsoft.com/office/drawing/2014/main" id="{E7D6631A-E34C-4210-BE4E-A08A218E4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064"/>
              <a:ext cx="288" cy="28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v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56332" name="Oval 83">
              <a:extLst>
                <a:ext uri="{FF2B5EF4-FFF2-40B4-BE49-F238E27FC236}">
                  <a16:creationId xmlns:a16="http://schemas.microsoft.com/office/drawing/2014/main" id="{CAB73691-E46E-410B-960E-560431A45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392"/>
              <a:ext cx="288" cy="28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v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56333" name="Line 84">
              <a:extLst>
                <a:ext uri="{FF2B5EF4-FFF2-40B4-BE49-F238E27FC236}">
                  <a16:creationId xmlns:a16="http://schemas.microsoft.com/office/drawing/2014/main" id="{E08AF730-BA07-46B1-9CC4-C9A82BC945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960"/>
              <a:ext cx="912" cy="48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4" name="Line 85">
              <a:extLst>
                <a:ext uri="{FF2B5EF4-FFF2-40B4-BE49-F238E27FC236}">
                  <a16:creationId xmlns:a16="http://schemas.microsoft.com/office/drawing/2014/main" id="{FE71350A-2DE8-4EF1-AE6B-42AB6DA06C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632"/>
              <a:ext cx="912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5" name="Line 86">
              <a:extLst>
                <a:ext uri="{FF2B5EF4-FFF2-40B4-BE49-F238E27FC236}">
                  <a16:creationId xmlns:a16="http://schemas.microsoft.com/office/drawing/2014/main" id="{F2D2C987-0820-4B73-99B0-292DFE52F9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008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6" name="Line 87">
              <a:extLst>
                <a:ext uri="{FF2B5EF4-FFF2-40B4-BE49-F238E27FC236}">
                  <a16:creationId xmlns:a16="http://schemas.microsoft.com/office/drawing/2014/main" id="{041BD964-3853-408C-94F5-379F196588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864"/>
              <a:ext cx="1104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7" name="Line 88">
              <a:extLst>
                <a:ext uri="{FF2B5EF4-FFF2-40B4-BE49-F238E27FC236}">
                  <a16:creationId xmlns:a16="http://schemas.microsoft.com/office/drawing/2014/main" id="{AB41922E-9DB0-4384-B930-B92ABD7E7D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208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8" name="Line 89">
              <a:extLst>
                <a:ext uri="{FF2B5EF4-FFF2-40B4-BE49-F238E27FC236}">
                  <a16:creationId xmlns:a16="http://schemas.microsoft.com/office/drawing/2014/main" id="{64C1D0E5-A071-4F5F-8D9A-4322A87C5F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008"/>
              <a:ext cx="0" cy="1056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9" name="Line 90">
              <a:extLst>
                <a:ext uri="{FF2B5EF4-FFF2-40B4-BE49-F238E27FC236}">
                  <a16:creationId xmlns:a16="http://schemas.microsoft.com/office/drawing/2014/main" id="{6EFA0B09-5FB7-4543-8434-3FC28D0134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960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0" name="Line 91">
              <a:extLst>
                <a:ext uri="{FF2B5EF4-FFF2-40B4-BE49-F238E27FC236}">
                  <a16:creationId xmlns:a16="http://schemas.microsoft.com/office/drawing/2014/main" id="{9D462E5B-9796-41A3-BE2A-3BD5C7F6EF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960"/>
              <a:ext cx="120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1" name="Line 92">
              <a:extLst>
                <a:ext uri="{FF2B5EF4-FFF2-40B4-BE49-F238E27FC236}">
                  <a16:creationId xmlns:a16="http://schemas.microsoft.com/office/drawing/2014/main" id="{D67C93D3-D112-4B8A-8C08-73A7A3D668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960"/>
              <a:ext cx="100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2" name="Line 93">
              <a:extLst>
                <a:ext uri="{FF2B5EF4-FFF2-40B4-BE49-F238E27FC236}">
                  <a16:creationId xmlns:a16="http://schemas.microsoft.com/office/drawing/2014/main" id="{1AE6C43C-0984-4E59-8FB3-79EA2C6D29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1632"/>
              <a:ext cx="960" cy="528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3" name="Text Box 94">
              <a:extLst>
                <a:ext uri="{FF2B5EF4-FFF2-40B4-BE49-F238E27FC236}">
                  <a16:creationId xmlns:a16="http://schemas.microsoft.com/office/drawing/2014/main" id="{DF72FDB0-350E-4F78-AABD-A071217592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960"/>
              <a:ext cx="43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56344" name="Text Box 95">
              <a:extLst>
                <a:ext uri="{FF2B5EF4-FFF2-40B4-BE49-F238E27FC236}">
                  <a16:creationId xmlns:a16="http://schemas.microsoft.com/office/drawing/2014/main" id="{43717BBD-9FA1-4E5A-9514-44CB8D8398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776"/>
              <a:ext cx="43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8</a:t>
              </a:r>
            </a:p>
          </p:txBody>
        </p:sp>
        <p:sp>
          <p:nvSpPr>
            <p:cNvPr id="56345" name="Text Box 96">
              <a:extLst>
                <a:ext uri="{FF2B5EF4-FFF2-40B4-BE49-F238E27FC236}">
                  <a16:creationId xmlns:a16="http://schemas.microsoft.com/office/drawing/2014/main" id="{F0DF7929-6D2E-4B77-A700-7ADB3817A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576"/>
              <a:ext cx="43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5</a:t>
              </a:r>
            </a:p>
          </p:txBody>
        </p:sp>
        <p:sp>
          <p:nvSpPr>
            <p:cNvPr id="56346" name="Text Box 97">
              <a:extLst>
                <a:ext uri="{FF2B5EF4-FFF2-40B4-BE49-F238E27FC236}">
                  <a16:creationId xmlns:a16="http://schemas.microsoft.com/office/drawing/2014/main" id="{0C2F3A58-3E20-4D2E-BDF4-A438502EA1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160"/>
              <a:ext cx="43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6</a:t>
              </a:r>
            </a:p>
          </p:txBody>
        </p:sp>
        <p:sp>
          <p:nvSpPr>
            <p:cNvPr id="56347" name="Text Box 98">
              <a:extLst>
                <a:ext uri="{FF2B5EF4-FFF2-40B4-BE49-F238E27FC236}">
                  <a16:creationId xmlns:a16="http://schemas.microsoft.com/office/drawing/2014/main" id="{73C9DB71-1752-4900-A6B9-37F9A9B29D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960"/>
              <a:ext cx="43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3</a:t>
              </a:r>
            </a:p>
          </p:txBody>
        </p:sp>
        <p:sp>
          <p:nvSpPr>
            <p:cNvPr id="56348" name="Text Box 99">
              <a:extLst>
                <a:ext uri="{FF2B5EF4-FFF2-40B4-BE49-F238E27FC236}">
                  <a16:creationId xmlns:a16="http://schemas.microsoft.com/office/drawing/2014/main" id="{D5B4C867-CDF2-462F-B2B8-15F1A7546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776"/>
              <a:ext cx="43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5</a:t>
              </a:r>
            </a:p>
          </p:txBody>
        </p:sp>
        <p:sp>
          <p:nvSpPr>
            <p:cNvPr id="56349" name="Text Box 100">
              <a:extLst>
                <a:ext uri="{FF2B5EF4-FFF2-40B4-BE49-F238E27FC236}">
                  <a16:creationId xmlns:a16="http://schemas.microsoft.com/office/drawing/2014/main" id="{2B682DA0-D6B6-4767-BB73-96BD3EE05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913"/>
              <a:ext cx="432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56350" name="Text Box 101">
              <a:extLst>
                <a:ext uri="{FF2B5EF4-FFF2-40B4-BE49-F238E27FC236}">
                  <a16:creationId xmlns:a16="http://schemas.microsoft.com/office/drawing/2014/main" id="{52EC23D5-CBA3-4B98-A99B-7EB78BCF4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344"/>
              <a:ext cx="43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3</a:t>
              </a:r>
            </a:p>
          </p:txBody>
        </p:sp>
        <p:sp>
          <p:nvSpPr>
            <p:cNvPr id="56351" name="Text Box 102">
              <a:extLst>
                <a:ext uri="{FF2B5EF4-FFF2-40B4-BE49-F238E27FC236}">
                  <a16:creationId xmlns:a16="http://schemas.microsoft.com/office/drawing/2014/main" id="{C91DD7D0-7FA0-4347-9728-5631E97D49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872"/>
              <a:ext cx="431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17</a:t>
              </a:r>
            </a:p>
          </p:txBody>
        </p:sp>
        <p:sp>
          <p:nvSpPr>
            <p:cNvPr id="56352" name="Text Box 103">
              <a:extLst>
                <a:ext uri="{FF2B5EF4-FFF2-40B4-BE49-F238E27FC236}">
                  <a16:creationId xmlns:a16="http://schemas.microsoft.com/office/drawing/2014/main" id="{50863A42-2000-47B5-813D-86052DB14C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344"/>
              <a:ext cx="43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4</a:t>
              </a:r>
            </a:p>
          </p:txBody>
        </p:sp>
        <p:sp>
          <p:nvSpPr>
            <p:cNvPr id="56353" name="Text Box 104">
              <a:extLst>
                <a:ext uri="{FF2B5EF4-FFF2-40B4-BE49-F238E27FC236}">
                  <a16:creationId xmlns:a16="http://schemas.microsoft.com/office/drawing/2014/main" id="{7686D9DD-7465-4945-934D-4D00D522E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816"/>
              <a:ext cx="288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8</a:t>
              </a:r>
            </a:p>
          </p:txBody>
        </p:sp>
        <p:sp>
          <p:nvSpPr>
            <p:cNvPr id="56354" name="Text Box 105">
              <a:extLst>
                <a:ext uri="{FF2B5EF4-FFF2-40B4-BE49-F238E27FC236}">
                  <a16:creationId xmlns:a16="http://schemas.microsoft.com/office/drawing/2014/main" id="{95B876C3-32A0-41F0-A6B6-CF52A71F0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920"/>
              <a:ext cx="288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56355" name="Text Box 106">
              <a:extLst>
                <a:ext uri="{FF2B5EF4-FFF2-40B4-BE49-F238E27FC236}">
                  <a16:creationId xmlns:a16="http://schemas.microsoft.com/office/drawing/2014/main" id="{F0C406AA-C431-4727-8348-6CEDFBF75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576"/>
              <a:ext cx="288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56356" name="Text Box 107">
              <a:extLst>
                <a:ext uri="{FF2B5EF4-FFF2-40B4-BE49-F238E27FC236}">
                  <a16:creationId xmlns:a16="http://schemas.microsoft.com/office/drawing/2014/main" id="{26CC02C9-2D3E-42B9-B21F-B7FACB2683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104"/>
              <a:ext cx="288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56357" name="Text Box 108">
              <a:extLst>
                <a:ext uri="{FF2B5EF4-FFF2-40B4-BE49-F238E27FC236}">
                  <a16:creationId xmlns:a16="http://schemas.microsoft.com/office/drawing/2014/main" id="{94FAF7BF-85E1-4D06-B194-73BBE5A60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584"/>
              <a:ext cx="289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6358" name="Text Box 109">
              <a:extLst>
                <a:ext uri="{FF2B5EF4-FFF2-40B4-BE49-F238E27FC236}">
                  <a16:creationId xmlns:a16="http://schemas.microsoft.com/office/drawing/2014/main" id="{3A75885F-54E3-40AA-B8D2-4CFA89ACC5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632"/>
              <a:ext cx="288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6359" name="Text Box 110">
              <a:extLst>
                <a:ext uri="{FF2B5EF4-FFF2-40B4-BE49-F238E27FC236}">
                  <a16:creationId xmlns:a16="http://schemas.microsoft.com/office/drawing/2014/main" id="{B06EDE69-BBD4-471A-A956-A9E3FC7E8A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208"/>
              <a:ext cx="288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56360" name="Text Box 111">
              <a:extLst>
                <a:ext uri="{FF2B5EF4-FFF2-40B4-BE49-F238E27FC236}">
                  <a16:creationId xmlns:a16="http://schemas.microsoft.com/office/drawing/2014/main" id="{E4365158-0129-4442-9B27-4CD894DAB1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008"/>
              <a:ext cx="287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56361" name="Text Box 112">
              <a:extLst>
                <a:ext uri="{FF2B5EF4-FFF2-40B4-BE49-F238E27FC236}">
                  <a16:creationId xmlns:a16="http://schemas.microsoft.com/office/drawing/2014/main" id="{2F787B14-675A-478B-B605-BDA7105BFA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536"/>
              <a:ext cx="288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56362" name="Text Box 113">
              <a:extLst>
                <a:ext uri="{FF2B5EF4-FFF2-40B4-BE49-F238E27FC236}">
                  <a16:creationId xmlns:a16="http://schemas.microsoft.com/office/drawing/2014/main" id="{AD680ED2-047C-455F-B246-830E03C30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776"/>
              <a:ext cx="288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</p:grpSp>
      <p:sp>
        <p:nvSpPr>
          <p:cNvPr id="287858" name="AutoShape 114">
            <a:extLst>
              <a:ext uri="{FF2B5EF4-FFF2-40B4-BE49-F238E27FC236}">
                <a16:creationId xmlns:a16="http://schemas.microsoft.com/office/drawing/2014/main" id="{3CE4FB41-CFB6-4765-BCE4-84B23568C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2590800"/>
            <a:ext cx="685800" cy="2743200"/>
          </a:xfrm>
          <a:prstGeom prst="curvedLeftArrow">
            <a:avLst>
              <a:gd name="adj1" fmla="val 80000"/>
              <a:gd name="adj2" fmla="val 16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B4E1E860-928C-43F5-BEA4-708CCD87B801}"/>
              </a:ext>
            </a:extLst>
          </p:cNvPr>
          <p:cNvGrpSpPr/>
          <p:nvPr/>
        </p:nvGrpSpPr>
        <p:grpSpPr>
          <a:xfrm>
            <a:off x="2330649" y="772158"/>
            <a:ext cx="4511042" cy="2540944"/>
            <a:chOff x="2158315" y="3443108"/>
            <a:chExt cx="4511042" cy="2540944"/>
          </a:xfrm>
        </p:grpSpPr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D0DEB7E6-D6C7-4255-AF76-F551A6238E28}"/>
                </a:ext>
              </a:extLst>
            </p:cNvPr>
            <p:cNvSpPr txBox="1"/>
            <p:nvPr/>
          </p:nvSpPr>
          <p:spPr>
            <a:xfrm>
              <a:off x="2158315" y="3809789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+3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3C5602DF-AE37-437D-B3B8-B1D23C9CA1DB}"/>
                </a:ext>
              </a:extLst>
            </p:cNvPr>
            <p:cNvSpPr txBox="1"/>
            <p:nvPr/>
          </p:nvSpPr>
          <p:spPr>
            <a:xfrm>
              <a:off x="4368597" y="3443108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+3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172E4954-4B8D-44F6-BB75-21F450E7A944}"/>
                </a:ext>
              </a:extLst>
            </p:cNvPr>
            <p:cNvSpPr txBox="1"/>
            <p:nvPr/>
          </p:nvSpPr>
          <p:spPr>
            <a:xfrm>
              <a:off x="6099970" y="5460832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+3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9A9FB689-5CF3-480A-AE83-3D5837B51F0F}"/>
                </a:ext>
              </a:extLst>
            </p:cNvPr>
            <p:cNvSpPr txBox="1"/>
            <p:nvPr/>
          </p:nvSpPr>
          <p:spPr>
            <a:xfrm>
              <a:off x="5107814" y="5095991"/>
              <a:ext cx="4844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-3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87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85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>
            <a:extLst>
              <a:ext uri="{FF2B5EF4-FFF2-40B4-BE49-F238E27FC236}">
                <a16:creationId xmlns:a16="http://schemas.microsoft.com/office/drawing/2014/main" id="{456E5952-1D8D-46A7-9110-59857B484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练习</a:t>
            </a:r>
          </a:p>
        </p:txBody>
      </p:sp>
      <p:sp>
        <p:nvSpPr>
          <p:cNvPr id="61443" name="内容占位符 2">
            <a:extLst>
              <a:ext uri="{FF2B5EF4-FFF2-40B4-BE49-F238E27FC236}">
                <a16:creationId xmlns:a16="http://schemas.microsoft.com/office/drawing/2014/main" id="{0BCD87D4-01D2-4248-918A-A135B9D20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001000" cy="4876800"/>
          </a:xfrm>
        </p:spPr>
        <p:txBody>
          <a:bodyPr/>
          <a:lstStyle/>
          <a:p>
            <a:r>
              <a:rPr lang="zh-CN" altLang="en-US" dirty="0"/>
              <a:t>如图所示网络中，弧旁数字是</a:t>
            </a:r>
            <a:r>
              <a:rPr lang="en-US" altLang="zh-CN" dirty="0"/>
              <a:t>(</a:t>
            </a:r>
            <a:r>
              <a:rPr lang="en-US" altLang="zh-CN" dirty="0" err="1"/>
              <a:t>c</a:t>
            </a:r>
            <a:r>
              <a:rPr lang="en-US" altLang="zh-CN" baseline="-25000" dirty="0" err="1"/>
              <a:t>ij</a:t>
            </a:r>
            <a:r>
              <a:rPr lang="en-US" altLang="zh-CN" dirty="0" err="1"/>
              <a:t>,f</a:t>
            </a:r>
            <a:r>
              <a:rPr lang="en-US" altLang="zh-CN" baseline="-25000" dirty="0" err="1"/>
              <a:t>ij</a:t>
            </a:r>
            <a:r>
              <a:rPr lang="en-US" altLang="zh-CN" dirty="0"/>
              <a:t>)</a:t>
            </a:r>
          </a:p>
          <a:p>
            <a:pPr marL="342900" lvl="1" indent="0"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）确定所有的截集</a:t>
            </a:r>
            <a:endParaRPr lang="en-US" altLang="zh-CN" dirty="0"/>
          </a:p>
          <a:p>
            <a:pPr marL="342900" lvl="1" indent="0"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）证明给出的流是最大流</a:t>
            </a:r>
            <a:endParaRPr lang="en-US" altLang="zh-CN" dirty="0"/>
          </a:p>
          <a:p>
            <a:pPr marL="342900" lvl="1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pic>
        <p:nvPicPr>
          <p:cNvPr id="61444" name="图片 3">
            <a:extLst>
              <a:ext uri="{FF2B5EF4-FFF2-40B4-BE49-F238E27FC236}">
                <a16:creationId xmlns:a16="http://schemas.microsoft.com/office/drawing/2014/main" id="{724C13A3-541B-469C-A37E-EF34DB4FC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12"/>
          <a:stretch>
            <a:fillRect/>
          </a:stretch>
        </p:blipFill>
        <p:spPr bwMode="auto">
          <a:xfrm>
            <a:off x="1143000" y="3124200"/>
            <a:ext cx="6477000" cy="267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D4B2E2B-C222-4930-B680-64E10DE43E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求最大流</a:t>
            </a:r>
            <a:r>
              <a:rPr lang="en-US" altLang="zh-CN">
                <a:latin typeface="Arial" panose="020B0604020202020204" pitchFamily="34" charset="0"/>
              </a:rPr>
              <a:t>—</a:t>
            </a:r>
            <a:r>
              <a:rPr lang="zh-CN" altLang="en-US"/>
              <a:t>标号法</a:t>
            </a:r>
          </a:p>
        </p:txBody>
      </p:sp>
      <p:sp>
        <p:nvSpPr>
          <p:cNvPr id="62467" name="内容占位符 1">
            <a:extLst>
              <a:ext uri="{FF2B5EF4-FFF2-40B4-BE49-F238E27FC236}">
                <a16:creationId xmlns:a16="http://schemas.microsoft.com/office/drawing/2014/main" id="{2CE13734-23D4-4676-831C-CE7D6FB55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4987925"/>
          </a:xfrm>
        </p:spPr>
        <p:txBody>
          <a:bodyPr/>
          <a:lstStyle/>
          <a:p>
            <a:r>
              <a:rPr lang="zh-CN" altLang="en-US" dirty="0"/>
              <a:t>理论依据：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3300"/>
                </a:solidFill>
              </a:rPr>
              <a:t>可行流</a:t>
            </a:r>
            <a:r>
              <a:rPr lang="en-US" altLang="zh-CN" i="1" dirty="0">
                <a:solidFill>
                  <a:srgbClr val="FF3300"/>
                </a:solidFill>
              </a:rPr>
              <a:t>f</a:t>
            </a:r>
            <a:r>
              <a:rPr lang="zh-CN" altLang="en-US" dirty="0">
                <a:solidFill>
                  <a:srgbClr val="FF3300"/>
                </a:solidFill>
              </a:rPr>
              <a:t>是最大流 </a:t>
            </a:r>
            <a:r>
              <a:rPr lang="zh-CN" altLang="en-US" dirty="0"/>
              <a:t>当且仅当</a:t>
            </a:r>
            <a:r>
              <a:rPr lang="zh-CN" altLang="en-US" dirty="0">
                <a:solidFill>
                  <a:srgbClr val="FF3300"/>
                </a:solidFill>
              </a:rPr>
              <a:t>不存在关于 </a:t>
            </a:r>
            <a:r>
              <a:rPr lang="en-US" altLang="zh-CN" i="1" dirty="0">
                <a:solidFill>
                  <a:srgbClr val="FF3300"/>
                </a:solidFill>
              </a:rPr>
              <a:t>f</a:t>
            </a:r>
            <a:r>
              <a:rPr lang="zh-CN" altLang="en-US" dirty="0">
                <a:solidFill>
                  <a:srgbClr val="FF3300"/>
                </a:solidFill>
              </a:rPr>
              <a:t>的增广链</a:t>
            </a:r>
            <a:endParaRPr lang="en-US" altLang="zh-CN" dirty="0">
              <a:solidFill>
                <a:srgbClr val="FF3300"/>
              </a:solidFill>
            </a:endParaRPr>
          </a:p>
          <a:p>
            <a:endParaRPr lang="en-US" altLang="zh-CN" dirty="0">
              <a:solidFill>
                <a:srgbClr val="FF3300"/>
              </a:solidFill>
            </a:endParaRPr>
          </a:p>
          <a:p>
            <a:r>
              <a:rPr lang="zh-CN" altLang="en-US" dirty="0"/>
              <a:t>思路：</a:t>
            </a:r>
            <a:endParaRPr lang="en-US" altLang="zh-CN" dirty="0"/>
          </a:p>
          <a:p>
            <a:pPr lvl="1"/>
            <a:r>
              <a:rPr lang="zh-CN" altLang="en-US" dirty="0"/>
              <a:t>从起点开始标号，寻找是否存在增广链</a:t>
            </a:r>
            <a:endParaRPr lang="en-US" altLang="zh-CN" dirty="0"/>
          </a:p>
          <a:p>
            <a:pPr lvl="1"/>
            <a:r>
              <a:rPr lang="en-US" altLang="zh-CN" dirty="0" err="1"/>
              <a:t>V</a:t>
            </a:r>
            <a:r>
              <a:rPr lang="en-US" altLang="zh-CN" baseline="-25000" dirty="0" err="1"/>
              <a:t>j</a:t>
            </a:r>
            <a:r>
              <a:rPr lang="en-US" altLang="zh-CN" baseline="-25000" dirty="0"/>
              <a:t> </a:t>
            </a:r>
            <a:r>
              <a:rPr lang="zh-CN" altLang="en-US" dirty="0"/>
              <a:t>标号</a:t>
            </a:r>
            <a:r>
              <a:rPr lang="en-US" altLang="zh-CN" dirty="0"/>
              <a:t>[</a:t>
            </a:r>
            <a:r>
              <a:rPr lang="zh-CN" altLang="zh-CN" dirty="0"/>
              <a:t>θ</a:t>
            </a:r>
            <a:r>
              <a:rPr lang="zh-CN" altLang="zh-CN" baseline="-25000" dirty="0"/>
              <a:t>j</a:t>
            </a:r>
            <a:r>
              <a:rPr lang="zh-CN" altLang="zh-CN" dirty="0"/>
              <a:t>,v</a:t>
            </a:r>
            <a:r>
              <a:rPr lang="zh-CN" altLang="zh-CN" baseline="-25000" dirty="0"/>
              <a:t>i</a:t>
            </a:r>
            <a:r>
              <a:rPr lang="en-US" altLang="zh-CN" dirty="0"/>
              <a:t>],</a:t>
            </a:r>
            <a:r>
              <a:rPr lang="zh-CN" altLang="en-US" dirty="0"/>
              <a:t>其中</a:t>
            </a:r>
            <a:r>
              <a:rPr lang="zh-CN" altLang="zh-CN" dirty="0"/>
              <a:t>θ</a:t>
            </a:r>
            <a:r>
              <a:rPr lang="zh-CN" altLang="zh-CN" baseline="-25000" dirty="0"/>
              <a:t>j</a:t>
            </a:r>
            <a:r>
              <a:rPr lang="zh-CN" altLang="en-US" dirty="0"/>
              <a:t>为调整量，</a:t>
            </a:r>
            <a:r>
              <a:rPr lang="zh-CN" altLang="zh-CN" dirty="0"/>
              <a:t> v</a:t>
            </a:r>
            <a:r>
              <a:rPr lang="zh-CN" altLang="zh-CN" baseline="-25000" dirty="0"/>
              <a:t>i</a:t>
            </a:r>
            <a:r>
              <a:rPr lang="zh-CN" altLang="en-US" dirty="0"/>
              <a:t>为前一节点</a:t>
            </a:r>
          </a:p>
          <a:p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56" name="Oval 40">
            <a:extLst>
              <a:ext uri="{FF2B5EF4-FFF2-40B4-BE49-F238E27FC236}">
                <a16:creationId xmlns:a16="http://schemas.microsoft.com/office/drawing/2014/main" id="{3430073F-9959-4742-BCD0-7BCE86690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267200"/>
            <a:ext cx="1143000" cy="11430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CDF2147D-62D9-43CD-BC24-DDD3DC203F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求最大流</a:t>
            </a:r>
            <a:r>
              <a:rPr lang="en-US" altLang="zh-CN">
                <a:latin typeface="Arial" panose="020B0604020202020204" pitchFamily="34" charset="0"/>
              </a:rPr>
              <a:t>—</a:t>
            </a:r>
            <a:r>
              <a:rPr lang="zh-CN" altLang="en-US"/>
              <a:t>标号法</a:t>
            </a:r>
          </a:p>
        </p:txBody>
      </p:sp>
      <p:sp>
        <p:nvSpPr>
          <p:cNvPr id="265219" name="Rectangle 3">
            <a:extLst>
              <a:ext uri="{FF2B5EF4-FFF2-40B4-BE49-F238E27FC236}">
                <a16:creationId xmlns:a16="http://schemas.microsoft.com/office/drawing/2014/main" id="{988FDCE5-CBAE-4891-8E8F-6D7D0CE490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1</a:t>
            </a:r>
            <a:r>
              <a:rPr lang="zh-CN" altLang="en-US" sz="2800"/>
              <a:t>、给 </a:t>
            </a:r>
            <a:r>
              <a:rPr lang="en-US" altLang="zh-CN" sz="2800"/>
              <a:t>v</a:t>
            </a:r>
            <a:r>
              <a:rPr lang="en-US" altLang="zh-CN" sz="2800" baseline="-25000"/>
              <a:t>s </a:t>
            </a:r>
            <a:r>
              <a:rPr lang="zh-CN" altLang="en-US" sz="2800"/>
              <a:t>标号为</a:t>
            </a:r>
            <a:r>
              <a:rPr lang="en-US" altLang="zh-CN" sz="2800"/>
              <a:t>[∞,v</a:t>
            </a:r>
            <a:r>
              <a:rPr lang="en-US" altLang="zh-CN" sz="2800" baseline="-25000"/>
              <a:t>s</a:t>
            </a:r>
            <a:r>
              <a:rPr lang="en-US" altLang="zh-CN" sz="2800"/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2</a:t>
            </a:r>
            <a:r>
              <a:rPr lang="zh-CN" altLang="en-US" sz="2800"/>
              <a:t>、节点集</a:t>
            </a:r>
            <a:r>
              <a:rPr lang="en-US" altLang="zh-CN" sz="2800"/>
              <a:t>V</a:t>
            </a:r>
            <a:r>
              <a:rPr lang="zh-CN" altLang="en-US" sz="2800"/>
              <a:t>分为两部分  </a:t>
            </a:r>
            <a:br>
              <a:rPr lang="zh-CN" altLang="en-US" sz="2800"/>
            </a:br>
            <a:r>
              <a:rPr lang="zh-CN" altLang="en-US" sz="2800"/>
              <a:t>   </a:t>
            </a:r>
            <a:r>
              <a:rPr lang="en-US" altLang="zh-CN" sz="2800"/>
              <a:t>V</a:t>
            </a:r>
            <a:r>
              <a:rPr lang="en-US" altLang="zh-CN" sz="2800" baseline="-25000"/>
              <a:t>A</a:t>
            </a:r>
            <a:r>
              <a:rPr lang="zh-CN" altLang="en-US" sz="2800"/>
              <a:t>：已标号点集 </a:t>
            </a:r>
            <a:r>
              <a:rPr lang="en-US" altLang="zh-CN" sz="2800"/>
              <a:t>;     V</a:t>
            </a:r>
            <a:r>
              <a:rPr lang="en-US" altLang="zh-CN" sz="2800" baseline="-25000"/>
              <a:t>B</a:t>
            </a:r>
            <a:r>
              <a:rPr lang="zh-CN" altLang="en-US" sz="2800"/>
              <a:t>：未标号点集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/>
          </a:p>
        </p:txBody>
      </p:sp>
      <p:sp>
        <p:nvSpPr>
          <p:cNvPr id="63493" name="Oval 4">
            <a:extLst>
              <a:ext uri="{FF2B5EF4-FFF2-40B4-BE49-F238E27FC236}">
                <a16:creationId xmlns:a16="http://schemas.microsoft.com/office/drawing/2014/main" id="{92D066A0-2F44-486A-8D9B-BC45A325C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19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63494" name="Oval 5">
            <a:extLst>
              <a:ext uri="{FF2B5EF4-FFF2-40B4-BE49-F238E27FC236}">
                <a16:creationId xmlns:a16="http://schemas.microsoft.com/office/drawing/2014/main" id="{6DAF0330-BD99-4072-9D7A-6647E9E00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352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3495" name="Oval 6">
            <a:extLst>
              <a:ext uri="{FF2B5EF4-FFF2-40B4-BE49-F238E27FC236}">
                <a16:creationId xmlns:a16="http://schemas.microsoft.com/office/drawing/2014/main" id="{62D0696B-B023-4083-BE5F-66BAB5EAE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3496" name="Oval 7">
            <a:extLst>
              <a:ext uri="{FF2B5EF4-FFF2-40B4-BE49-F238E27FC236}">
                <a16:creationId xmlns:a16="http://schemas.microsoft.com/office/drawing/2014/main" id="{6AEEB986-7C1B-4BCC-B877-960ACE66B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352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3497" name="Oval 8">
            <a:extLst>
              <a:ext uri="{FF2B5EF4-FFF2-40B4-BE49-F238E27FC236}">
                <a16:creationId xmlns:a16="http://schemas.microsoft.com/office/drawing/2014/main" id="{B7FD24CB-709D-455A-B4AA-78DBEAA8D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486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3498" name="Oval 9">
            <a:extLst>
              <a:ext uri="{FF2B5EF4-FFF2-40B4-BE49-F238E27FC236}">
                <a16:creationId xmlns:a16="http://schemas.microsoft.com/office/drawing/2014/main" id="{D09DD33A-0805-481F-BCA5-94F40F059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419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63499" name="Line 10">
            <a:extLst>
              <a:ext uri="{FF2B5EF4-FFF2-40B4-BE49-F238E27FC236}">
                <a16:creationId xmlns:a16="http://schemas.microsoft.com/office/drawing/2014/main" id="{B8B696AD-E552-473F-8F3E-4936F8C58C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7338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0" name="Line 11">
            <a:extLst>
              <a:ext uri="{FF2B5EF4-FFF2-40B4-BE49-F238E27FC236}">
                <a16:creationId xmlns:a16="http://schemas.microsoft.com/office/drawing/2014/main" id="{82A210D9-3F66-434E-9E54-35F858DD52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800600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1" name="Line 12">
            <a:extLst>
              <a:ext uri="{FF2B5EF4-FFF2-40B4-BE49-F238E27FC236}">
                <a16:creationId xmlns:a16="http://schemas.microsoft.com/office/drawing/2014/main" id="{F4BE0A96-796E-4934-8DA1-96AD64A23E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8100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2" name="Line 13">
            <a:extLst>
              <a:ext uri="{FF2B5EF4-FFF2-40B4-BE49-F238E27FC236}">
                <a16:creationId xmlns:a16="http://schemas.microsoft.com/office/drawing/2014/main" id="{80735243-735A-4C42-9CD9-671D499CD9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5814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3" name="Line 14">
            <a:extLst>
              <a:ext uri="{FF2B5EF4-FFF2-40B4-BE49-F238E27FC236}">
                <a16:creationId xmlns:a16="http://schemas.microsoft.com/office/drawing/2014/main" id="{916B50EF-2E88-4409-BDE0-2AC7D6F663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7150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4" name="Line 15">
            <a:extLst>
              <a:ext uri="{FF2B5EF4-FFF2-40B4-BE49-F238E27FC236}">
                <a16:creationId xmlns:a16="http://schemas.microsoft.com/office/drawing/2014/main" id="{EA3F0EAF-D378-424B-AA84-C0A84FE0A1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8100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5" name="Line 16">
            <a:extLst>
              <a:ext uri="{FF2B5EF4-FFF2-40B4-BE49-F238E27FC236}">
                <a16:creationId xmlns:a16="http://schemas.microsoft.com/office/drawing/2014/main" id="{B70E3424-D9BE-426F-8939-3FAEC4E244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733800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6" name="Line 18">
            <a:extLst>
              <a:ext uri="{FF2B5EF4-FFF2-40B4-BE49-F238E27FC236}">
                <a16:creationId xmlns:a16="http://schemas.microsoft.com/office/drawing/2014/main" id="{9D1792F5-4D20-420E-A427-6474C126F7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733800"/>
            <a:ext cx="1600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7" name="Line 19">
            <a:extLst>
              <a:ext uri="{FF2B5EF4-FFF2-40B4-BE49-F238E27FC236}">
                <a16:creationId xmlns:a16="http://schemas.microsoft.com/office/drawing/2014/main" id="{EF852132-DE1D-44F6-9E09-D736BD6488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4800600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8" name="Text Box 20">
            <a:extLst>
              <a:ext uri="{FF2B5EF4-FFF2-40B4-BE49-F238E27FC236}">
                <a16:creationId xmlns:a16="http://schemas.microsoft.com/office/drawing/2014/main" id="{D5AF972F-26E8-4112-B9AB-9F38E8020C1E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828800" y="36576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3509" name="Text Box 21">
            <a:extLst>
              <a:ext uri="{FF2B5EF4-FFF2-40B4-BE49-F238E27FC236}">
                <a16:creationId xmlns:a16="http://schemas.microsoft.com/office/drawing/2014/main" id="{10564F30-5ADB-463F-B11D-3F6D6A9FF215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828800" y="5181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(5,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3510" name="Text Box 22">
            <a:extLst>
              <a:ext uri="{FF2B5EF4-FFF2-40B4-BE49-F238E27FC236}">
                <a16:creationId xmlns:a16="http://schemas.microsoft.com/office/drawing/2014/main" id="{E2FF0D56-B32B-4B39-A131-6D09ECCDE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124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(4,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3511" name="Text Box 23">
            <a:extLst>
              <a:ext uri="{FF2B5EF4-FFF2-40B4-BE49-F238E27FC236}">
                <a16:creationId xmlns:a16="http://schemas.microsoft.com/office/drawing/2014/main" id="{ED8C07E6-4FFE-4E02-839B-A7B4C9B41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2</a:t>
            </a:r>
            <a:r>
              <a:rPr lang="en-US" altLang="zh-CN" sz="2400"/>
              <a:t>)</a:t>
            </a:r>
          </a:p>
        </p:txBody>
      </p:sp>
      <p:sp>
        <p:nvSpPr>
          <p:cNvPr id="63512" name="Text Box 24">
            <a:extLst>
              <a:ext uri="{FF2B5EF4-FFF2-40B4-BE49-F238E27FC236}">
                <a16:creationId xmlns:a16="http://schemas.microsoft.com/office/drawing/2014/main" id="{0409BAF7-F217-4045-BC6C-E3C251F31F01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4038600" y="4114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3513" name="Text Box 26">
            <a:extLst>
              <a:ext uri="{FF2B5EF4-FFF2-40B4-BE49-F238E27FC236}">
                <a16:creationId xmlns:a16="http://schemas.microsoft.com/office/drawing/2014/main" id="{0BBF7CD4-DA2D-4303-854A-92CC74913E80}"/>
              </a:ext>
            </a:extLst>
          </p:cNvPr>
          <p:cNvSpPr txBox="1">
            <a:spLocks noChangeArrowheads="1"/>
          </p:cNvSpPr>
          <p:nvPr/>
        </p:nvSpPr>
        <p:spPr bwMode="auto">
          <a:xfrm rot="1498140">
            <a:off x="6096000" y="3733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(5,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3514" name="Text Box 27">
            <a:extLst>
              <a:ext uri="{FF2B5EF4-FFF2-40B4-BE49-F238E27FC236}">
                <a16:creationId xmlns:a16="http://schemas.microsoft.com/office/drawing/2014/main" id="{D01E543F-5F9D-4A9E-893B-1DA632612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343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63515" name="Text Box 28">
            <a:extLst>
              <a:ext uri="{FF2B5EF4-FFF2-40B4-BE49-F238E27FC236}">
                <a16:creationId xmlns:a16="http://schemas.microsoft.com/office/drawing/2014/main" id="{7FED1D4A-05C3-4C2B-A4FC-A365A4C4D59B}"/>
              </a:ext>
            </a:extLst>
          </p:cNvPr>
          <p:cNvSpPr txBox="1">
            <a:spLocks noChangeArrowheads="1"/>
          </p:cNvSpPr>
          <p:nvPr/>
        </p:nvSpPr>
        <p:spPr bwMode="auto">
          <a:xfrm rot="-1604546">
            <a:off x="6248400" y="5105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3516" name="Text Box 29">
            <a:extLst>
              <a:ext uri="{FF2B5EF4-FFF2-40B4-BE49-F238E27FC236}">
                <a16:creationId xmlns:a16="http://schemas.microsoft.com/office/drawing/2014/main" id="{3EEBBA6F-D1F7-4B39-8547-E5577FDED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495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265257" name="Text Box 41">
            <a:extLst>
              <a:ext uri="{FF2B5EF4-FFF2-40B4-BE49-F238E27FC236}">
                <a16:creationId xmlns:a16="http://schemas.microsoft.com/office/drawing/2014/main" id="{C9E7490B-965D-499D-991F-3B5D0CE67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8862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[∞,v</a:t>
            </a:r>
            <a:r>
              <a:rPr lang="en-US" altLang="zh-CN" sz="2400" baseline="-25000">
                <a:solidFill>
                  <a:srgbClr val="000099"/>
                </a:solidFill>
              </a:rPr>
              <a:t>s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6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56" grpId="0" animBg="1"/>
      <p:bldP spid="265219" grpId="0" build="p"/>
      <p:bldP spid="26525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>
            <a:extLst>
              <a:ext uri="{FF2B5EF4-FFF2-40B4-BE49-F238E27FC236}">
                <a16:creationId xmlns:a16="http://schemas.microsoft.com/office/drawing/2014/main" id="{BF8DA7F4-F30C-441B-ABA8-A321ADB310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求最大流</a:t>
            </a:r>
            <a:r>
              <a:rPr lang="en-US" altLang="zh-CN">
                <a:latin typeface="Arial" panose="020B0604020202020204" pitchFamily="34" charset="0"/>
              </a:rPr>
              <a:t>—</a:t>
            </a:r>
            <a:r>
              <a:rPr lang="zh-CN" altLang="en-US"/>
              <a:t>标号法</a:t>
            </a:r>
          </a:p>
        </p:txBody>
      </p:sp>
      <p:sp>
        <p:nvSpPr>
          <p:cNvPr id="64515" name="Rectangle 4">
            <a:extLst>
              <a:ext uri="{FF2B5EF4-FFF2-40B4-BE49-F238E27FC236}">
                <a16:creationId xmlns:a16="http://schemas.microsoft.com/office/drawing/2014/main" id="{149CF120-BDE6-49F7-9831-7A12898F41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458200" cy="4987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3</a:t>
            </a:r>
            <a:r>
              <a:rPr lang="zh-CN" altLang="en-US" sz="2800"/>
              <a:t>、</a:t>
            </a:r>
            <a:r>
              <a:rPr lang="zh-CN" altLang="zh-CN" sz="2800"/>
              <a:t>考虑所有弧(v</a:t>
            </a:r>
            <a:r>
              <a:rPr lang="zh-CN" altLang="zh-CN" sz="2800" baseline="-25000"/>
              <a:t>i</a:t>
            </a:r>
            <a:r>
              <a:rPr lang="zh-CN" altLang="zh-CN" sz="2800"/>
              <a:t> , v</a:t>
            </a:r>
            <a:r>
              <a:rPr lang="zh-CN" altLang="zh-CN" sz="2800" baseline="-25000"/>
              <a:t>j</a:t>
            </a:r>
            <a:r>
              <a:rPr lang="zh-CN" altLang="zh-CN" sz="2800"/>
              <a:t>)或(v</a:t>
            </a:r>
            <a:r>
              <a:rPr lang="zh-CN" altLang="zh-CN" sz="2800" baseline="-25000"/>
              <a:t>j</a:t>
            </a:r>
            <a:r>
              <a:rPr lang="zh-CN" altLang="zh-CN" sz="2800"/>
              <a:t>, v</a:t>
            </a:r>
            <a:r>
              <a:rPr lang="zh-CN" altLang="zh-CN" sz="2800" baseline="-25000"/>
              <a:t>i</a:t>
            </a:r>
            <a:r>
              <a:rPr lang="zh-CN" altLang="zh-CN" sz="2800"/>
              <a:t>) ,其中v</a:t>
            </a:r>
            <a:r>
              <a:rPr lang="zh-CN" altLang="zh-CN" sz="2800" baseline="-25000"/>
              <a:t>i</a:t>
            </a:r>
            <a:r>
              <a:rPr lang="zh-CN" altLang="zh-CN" sz="2800"/>
              <a:t>∈V</a:t>
            </a:r>
            <a:r>
              <a:rPr lang="zh-CN" altLang="zh-CN" sz="2800" baseline="-25000"/>
              <a:t>A</a:t>
            </a:r>
            <a:r>
              <a:rPr lang="zh-CN" altLang="zh-CN" sz="2800"/>
              <a:t>, v</a:t>
            </a:r>
            <a:r>
              <a:rPr lang="zh-CN" altLang="zh-CN" sz="2800" baseline="-25000"/>
              <a:t>j</a:t>
            </a:r>
            <a:r>
              <a:rPr lang="zh-CN" altLang="zh-CN" sz="2800"/>
              <a:t>∈V</a:t>
            </a:r>
            <a:r>
              <a:rPr lang="zh-CN" altLang="zh-CN" sz="2800" baseline="-25000"/>
              <a:t>B</a:t>
            </a:r>
            <a:endParaRPr lang="en-US" altLang="zh-CN" sz="2800"/>
          </a:p>
          <a:p>
            <a:pPr lvl="1" eaLnBrk="1" hangingPunct="1"/>
            <a:r>
              <a:rPr lang="zh-CN" altLang="zh-CN"/>
              <a:t>流出未饱弧,则给</a:t>
            </a:r>
            <a:r>
              <a:rPr lang="zh-CN" altLang="en-US"/>
              <a:t> </a:t>
            </a:r>
            <a:r>
              <a:rPr lang="zh-CN" altLang="zh-CN"/>
              <a:t>v</a:t>
            </a:r>
            <a:r>
              <a:rPr lang="zh-CN" altLang="zh-CN" sz="3200" baseline="-25000"/>
              <a:t>j</a:t>
            </a:r>
            <a:r>
              <a:rPr lang="zh-CN" altLang="zh-CN"/>
              <a:t>标号[θ</a:t>
            </a:r>
            <a:r>
              <a:rPr lang="zh-CN" altLang="zh-CN" sz="3200" baseline="-25000"/>
              <a:t>j</a:t>
            </a:r>
            <a:r>
              <a:rPr lang="zh-CN" altLang="zh-CN"/>
              <a:t>,v</a:t>
            </a:r>
            <a:r>
              <a:rPr lang="zh-CN" altLang="zh-CN" sz="3200" baseline="-25000"/>
              <a:t>i</a:t>
            </a:r>
            <a:r>
              <a:rPr lang="zh-CN" altLang="zh-CN"/>
              <a:t>],</a:t>
            </a:r>
            <a:r>
              <a:rPr lang="en-US" altLang="zh-CN"/>
              <a:t> </a:t>
            </a:r>
            <a:r>
              <a:rPr lang="zh-CN" altLang="zh-CN"/>
              <a:t>其中θ</a:t>
            </a:r>
            <a:r>
              <a:rPr lang="zh-CN" altLang="zh-CN" sz="3200" baseline="-25000"/>
              <a:t>j</a:t>
            </a:r>
            <a:r>
              <a:rPr lang="zh-CN" altLang="zh-CN"/>
              <a:t>=c</a:t>
            </a:r>
            <a:r>
              <a:rPr lang="zh-CN" altLang="zh-CN" sz="3200" baseline="-25000"/>
              <a:t>ij</a:t>
            </a:r>
            <a:r>
              <a:rPr lang="zh-CN" altLang="zh-CN"/>
              <a:t>-</a:t>
            </a:r>
            <a:r>
              <a:rPr lang="zh-CN" altLang="zh-CN" i="1"/>
              <a:t>f</a:t>
            </a:r>
            <a:r>
              <a:rPr lang="zh-CN" altLang="zh-CN" sz="3200" baseline="-25000"/>
              <a:t>ij</a:t>
            </a:r>
            <a:endParaRPr lang="en-US" altLang="zh-CN" sz="3200" baseline="-25000"/>
          </a:p>
          <a:p>
            <a:pPr lvl="1" eaLnBrk="1" hangingPunct="1"/>
            <a:r>
              <a:rPr lang="zh-CN" altLang="zh-CN"/>
              <a:t>流入非零弧,则给</a:t>
            </a:r>
            <a:r>
              <a:rPr lang="zh-CN" altLang="en-US"/>
              <a:t> </a:t>
            </a:r>
            <a:r>
              <a:rPr lang="zh-CN" altLang="zh-CN"/>
              <a:t>v</a:t>
            </a:r>
            <a:r>
              <a:rPr lang="zh-CN" altLang="zh-CN" sz="3200" baseline="-25000"/>
              <a:t>j</a:t>
            </a:r>
            <a:r>
              <a:rPr lang="zh-CN" altLang="zh-CN"/>
              <a:t>标号[θ</a:t>
            </a:r>
            <a:r>
              <a:rPr lang="zh-CN" altLang="zh-CN" sz="3200" baseline="-25000"/>
              <a:t>j</a:t>
            </a:r>
            <a:r>
              <a:rPr lang="zh-CN" altLang="zh-CN"/>
              <a:t>,-v</a:t>
            </a:r>
            <a:r>
              <a:rPr lang="zh-CN" altLang="zh-CN" sz="3200" baseline="-25000"/>
              <a:t>i</a:t>
            </a:r>
            <a:r>
              <a:rPr lang="zh-CN" altLang="zh-CN"/>
              <a:t>],</a:t>
            </a:r>
            <a:r>
              <a:rPr lang="en-US" altLang="zh-CN"/>
              <a:t> </a:t>
            </a:r>
            <a:r>
              <a:rPr lang="zh-CN" altLang="zh-CN"/>
              <a:t>其中θ</a:t>
            </a:r>
            <a:r>
              <a:rPr lang="zh-CN" altLang="zh-CN" sz="3200" baseline="-25000"/>
              <a:t>j</a:t>
            </a:r>
            <a:r>
              <a:rPr lang="zh-CN" altLang="zh-CN"/>
              <a:t>= </a:t>
            </a:r>
            <a:r>
              <a:rPr lang="zh-CN" altLang="zh-CN" i="1"/>
              <a:t>f</a:t>
            </a:r>
            <a:r>
              <a:rPr lang="zh-CN" altLang="zh-CN" sz="3200" baseline="-25000"/>
              <a:t>ij</a:t>
            </a:r>
            <a:endParaRPr lang="en-US" altLang="zh-CN" sz="3200" baseline="-25000"/>
          </a:p>
        </p:txBody>
      </p:sp>
      <p:sp>
        <p:nvSpPr>
          <p:cNvPr id="64516" name="Oval 44">
            <a:extLst>
              <a:ext uri="{FF2B5EF4-FFF2-40B4-BE49-F238E27FC236}">
                <a16:creationId xmlns:a16="http://schemas.microsoft.com/office/drawing/2014/main" id="{7D915FFD-D8A8-4ADC-949F-F1398B2D5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580" y="4218610"/>
            <a:ext cx="936839" cy="857666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64517" name="Oval 45">
            <a:extLst>
              <a:ext uri="{FF2B5EF4-FFF2-40B4-BE49-F238E27FC236}">
                <a16:creationId xmlns:a16="http://schemas.microsoft.com/office/drawing/2014/main" id="{39FEC1A4-3520-475B-8739-609B7F10D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19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64518" name="Oval 46">
            <a:extLst>
              <a:ext uri="{FF2B5EF4-FFF2-40B4-BE49-F238E27FC236}">
                <a16:creationId xmlns:a16="http://schemas.microsoft.com/office/drawing/2014/main" id="{176D99A4-F528-4D80-8344-D1896FC9F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352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4519" name="Oval 47">
            <a:extLst>
              <a:ext uri="{FF2B5EF4-FFF2-40B4-BE49-F238E27FC236}">
                <a16:creationId xmlns:a16="http://schemas.microsoft.com/office/drawing/2014/main" id="{1BC56D59-CC35-4A5E-9B4F-6B6DD04B2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4520" name="Oval 48">
            <a:extLst>
              <a:ext uri="{FF2B5EF4-FFF2-40B4-BE49-F238E27FC236}">
                <a16:creationId xmlns:a16="http://schemas.microsoft.com/office/drawing/2014/main" id="{C5D84924-E38C-4A75-B605-D1A299F7B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352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4521" name="Oval 49">
            <a:extLst>
              <a:ext uri="{FF2B5EF4-FFF2-40B4-BE49-F238E27FC236}">
                <a16:creationId xmlns:a16="http://schemas.microsoft.com/office/drawing/2014/main" id="{238FF37D-B2C9-444B-A5D6-A9C00F728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486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4522" name="Oval 50">
            <a:extLst>
              <a:ext uri="{FF2B5EF4-FFF2-40B4-BE49-F238E27FC236}">
                <a16:creationId xmlns:a16="http://schemas.microsoft.com/office/drawing/2014/main" id="{B0564A1D-1474-4E3E-9E39-0463A9D2C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419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64523" name="Line 51">
            <a:extLst>
              <a:ext uri="{FF2B5EF4-FFF2-40B4-BE49-F238E27FC236}">
                <a16:creationId xmlns:a16="http://schemas.microsoft.com/office/drawing/2014/main" id="{2B989AE8-87AD-4707-B59D-C446E0048C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7338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4" name="Line 52">
            <a:extLst>
              <a:ext uri="{FF2B5EF4-FFF2-40B4-BE49-F238E27FC236}">
                <a16:creationId xmlns:a16="http://schemas.microsoft.com/office/drawing/2014/main" id="{ED9E2B41-A99A-488D-A381-26C92B05AA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800600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5" name="Line 53">
            <a:extLst>
              <a:ext uri="{FF2B5EF4-FFF2-40B4-BE49-F238E27FC236}">
                <a16:creationId xmlns:a16="http://schemas.microsoft.com/office/drawing/2014/main" id="{B32BC28B-311D-4CA7-B7DD-0B34619CB9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8100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6" name="Line 54">
            <a:extLst>
              <a:ext uri="{FF2B5EF4-FFF2-40B4-BE49-F238E27FC236}">
                <a16:creationId xmlns:a16="http://schemas.microsoft.com/office/drawing/2014/main" id="{FE549B89-997B-413B-9AFF-A41D788001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5814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7" name="Line 55">
            <a:extLst>
              <a:ext uri="{FF2B5EF4-FFF2-40B4-BE49-F238E27FC236}">
                <a16:creationId xmlns:a16="http://schemas.microsoft.com/office/drawing/2014/main" id="{E6E6C8A0-4CC7-42F1-B254-64A775829C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7150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8" name="Line 56">
            <a:extLst>
              <a:ext uri="{FF2B5EF4-FFF2-40B4-BE49-F238E27FC236}">
                <a16:creationId xmlns:a16="http://schemas.microsoft.com/office/drawing/2014/main" id="{23C32BE7-9F9C-407A-9184-83B63AE016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8100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9" name="Line 57">
            <a:extLst>
              <a:ext uri="{FF2B5EF4-FFF2-40B4-BE49-F238E27FC236}">
                <a16:creationId xmlns:a16="http://schemas.microsoft.com/office/drawing/2014/main" id="{E9E412E7-EB27-4800-A43A-125AD3D56AF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733800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30" name="Line 58">
            <a:extLst>
              <a:ext uri="{FF2B5EF4-FFF2-40B4-BE49-F238E27FC236}">
                <a16:creationId xmlns:a16="http://schemas.microsoft.com/office/drawing/2014/main" id="{0BC35798-65F8-4D3C-B27E-11EEBF3661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733800"/>
            <a:ext cx="1600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31" name="Line 59">
            <a:extLst>
              <a:ext uri="{FF2B5EF4-FFF2-40B4-BE49-F238E27FC236}">
                <a16:creationId xmlns:a16="http://schemas.microsoft.com/office/drawing/2014/main" id="{323C39D8-B332-41F2-B7EE-C32CFDD4FC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4800600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32" name="Text Box 60">
            <a:extLst>
              <a:ext uri="{FF2B5EF4-FFF2-40B4-BE49-F238E27FC236}">
                <a16:creationId xmlns:a16="http://schemas.microsoft.com/office/drawing/2014/main" id="{C7E11F4E-9CF0-476A-82B3-550C0F0874C9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828800" y="36576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4533" name="Text Box 61">
            <a:extLst>
              <a:ext uri="{FF2B5EF4-FFF2-40B4-BE49-F238E27FC236}">
                <a16:creationId xmlns:a16="http://schemas.microsoft.com/office/drawing/2014/main" id="{F0017916-EEA0-4F47-8D6D-6FF2E8AF9963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828800" y="5181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(5,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4534" name="Text Box 62">
            <a:extLst>
              <a:ext uri="{FF2B5EF4-FFF2-40B4-BE49-F238E27FC236}">
                <a16:creationId xmlns:a16="http://schemas.microsoft.com/office/drawing/2014/main" id="{291C9D88-3FF5-45A4-89F9-566147804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124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(4,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4535" name="Text Box 63">
            <a:extLst>
              <a:ext uri="{FF2B5EF4-FFF2-40B4-BE49-F238E27FC236}">
                <a16:creationId xmlns:a16="http://schemas.microsoft.com/office/drawing/2014/main" id="{13BC1D8F-ABFB-460D-9C07-6103E36AB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2</a:t>
            </a:r>
            <a:r>
              <a:rPr lang="en-US" altLang="zh-CN" sz="2400"/>
              <a:t>)</a:t>
            </a:r>
          </a:p>
        </p:txBody>
      </p:sp>
      <p:sp>
        <p:nvSpPr>
          <p:cNvPr id="64536" name="Text Box 64">
            <a:extLst>
              <a:ext uri="{FF2B5EF4-FFF2-40B4-BE49-F238E27FC236}">
                <a16:creationId xmlns:a16="http://schemas.microsoft.com/office/drawing/2014/main" id="{0B8CF81A-E0C0-4101-AB01-48C27CC5B466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4038600" y="4114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4537" name="Text Box 65">
            <a:extLst>
              <a:ext uri="{FF2B5EF4-FFF2-40B4-BE49-F238E27FC236}">
                <a16:creationId xmlns:a16="http://schemas.microsoft.com/office/drawing/2014/main" id="{E6E00C75-9694-4BDB-B074-40198763CBCE}"/>
              </a:ext>
            </a:extLst>
          </p:cNvPr>
          <p:cNvSpPr txBox="1">
            <a:spLocks noChangeArrowheads="1"/>
          </p:cNvSpPr>
          <p:nvPr/>
        </p:nvSpPr>
        <p:spPr bwMode="auto">
          <a:xfrm rot="1498140">
            <a:off x="6096000" y="3733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(5,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4538" name="Text Box 66">
            <a:extLst>
              <a:ext uri="{FF2B5EF4-FFF2-40B4-BE49-F238E27FC236}">
                <a16:creationId xmlns:a16="http://schemas.microsoft.com/office/drawing/2014/main" id="{8D88574A-1B80-4C6F-BB40-00EFD4E50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343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64539" name="Text Box 67">
            <a:extLst>
              <a:ext uri="{FF2B5EF4-FFF2-40B4-BE49-F238E27FC236}">
                <a16:creationId xmlns:a16="http://schemas.microsoft.com/office/drawing/2014/main" id="{1F22173C-428A-4FE5-BB0D-018578C1D4A7}"/>
              </a:ext>
            </a:extLst>
          </p:cNvPr>
          <p:cNvSpPr txBox="1">
            <a:spLocks noChangeArrowheads="1"/>
          </p:cNvSpPr>
          <p:nvPr/>
        </p:nvSpPr>
        <p:spPr bwMode="auto">
          <a:xfrm rot="-1604546">
            <a:off x="6248400" y="5105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4540" name="Text Box 68">
            <a:extLst>
              <a:ext uri="{FF2B5EF4-FFF2-40B4-BE49-F238E27FC236}">
                <a16:creationId xmlns:a16="http://schemas.microsoft.com/office/drawing/2014/main" id="{8BECDC9F-2677-4757-9666-8319494A5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495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4541" name="Text Box 69">
            <a:extLst>
              <a:ext uri="{FF2B5EF4-FFF2-40B4-BE49-F238E27FC236}">
                <a16:creationId xmlns:a16="http://schemas.microsoft.com/office/drawing/2014/main" id="{73DFDFFB-22B0-4DF3-AD01-E92B58962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8862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[∞,v</a:t>
            </a:r>
            <a:r>
              <a:rPr lang="en-US" altLang="zh-CN" sz="2400" baseline="-25000">
                <a:solidFill>
                  <a:srgbClr val="000099"/>
                </a:solidFill>
              </a:rPr>
              <a:t>s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266310" name="Text Box 70">
            <a:extLst>
              <a:ext uri="{FF2B5EF4-FFF2-40B4-BE49-F238E27FC236}">
                <a16:creationId xmlns:a16="http://schemas.microsoft.com/office/drawing/2014/main" id="{BCD547A3-7C80-46AD-B2A8-37B6364F3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943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[4,v</a:t>
            </a:r>
            <a:r>
              <a:rPr lang="en-US" altLang="zh-CN" sz="2400" baseline="-25000">
                <a:solidFill>
                  <a:srgbClr val="000099"/>
                </a:solidFill>
              </a:rPr>
              <a:t>s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1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id="{86073ED4-072E-4BE7-95AD-9EBD2D1F3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求最大流</a:t>
            </a:r>
            <a:r>
              <a:rPr lang="en-US" altLang="zh-CN">
                <a:latin typeface="Arial" panose="020B0604020202020204" pitchFamily="34" charset="0"/>
              </a:rPr>
              <a:t>—</a:t>
            </a:r>
            <a:r>
              <a:rPr lang="zh-CN" altLang="en-US"/>
              <a:t>标号法</a:t>
            </a:r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B064E6D3-A9B0-4822-8051-C24881D5BC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458200" cy="4987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4</a:t>
            </a:r>
            <a:r>
              <a:rPr lang="zh-CN" altLang="en-US" sz="2800"/>
              <a:t>、重复</a:t>
            </a:r>
            <a:r>
              <a:rPr lang="en-US" altLang="zh-CN" sz="2800"/>
              <a:t>2</a:t>
            </a:r>
            <a:r>
              <a:rPr lang="zh-CN" altLang="en-US" sz="2800"/>
              <a:t>、</a:t>
            </a:r>
            <a:r>
              <a:rPr lang="en-US" altLang="zh-CN" sz="2800"/>
              <a:t>3</a:t>
            </a:r>
            <a:r>
              <a:rPr lang="zh-CN" altLang="en-US" sz="2800"/>
              <a:t>，最终结局可能为：</a:t>
            </a:r>
          </a:p>
          <a:p>
            <a:pPr lvl="1" eaLnBrk="1" hangingPunct="1"/>
            <a:r>
              <a:rPr lang="en-US" altLang="zh-CN"/>
              <a:t>v</a:t>
            </a:r>
            <a:r>
              <a:rPr lang="en-US" altLang="zh-CN" baseline="-25000"/>
              <a:t>t</a:t>
            </a:r>
            <a:r>
              <a:rPr lang="zh-CN" altLang="en-US"/>
              <a:t>已标号，得到一条增广链</a:t>
            </a:r>
            <a:r>
              <a:rPr lang="en-US" altLang="zh-CN"/>
              <a:t>u</a:t>
            </a:r>
            <a:r>
              <a:rPr lang="zh-CN" altLang="en-US"/>
              <a:t>，转</a:t>
            </a:r>
            <a:r>
              <a:rPr lang="en-US" altLang="zh-CN"/>
              <a:t>5</a:t>
            </a:r>
            <a:r>
              <a:rPr lang="zh-CN" altLang="en-US"/>
              <a:t>；</a:t>
            </a:r>
          </a:p>
          <a:p>
            <a:pPr lvl="1" eaLnBrk="1" hangingPunct="1"/>
            <a:r>
              <a:rPr lang="en-US" altLang="zh-CN"/>
              <a:t>v</a:t>
            </a:r>
            <a:r>
              <a:rPr lang="en-US" altLang="zh-CN" baseline="-25000"/>
              <a:t>t</a:t>
            </a:r>
            <a:r>
              <a:rPr lang="zh-CN" altLang="en-US"/>
              <a:t>未标号，且无法再标号</a:t>
            </a:r>
            <a:r>
              <a:rPr lang="en-US" altLang="zh-CN"/>
              <a:t>, </a:t>
            </a:r>
            <a:r>
              <a:rPr lang="zh-CN" altLang="en-US"/>
              <a:t>此时的流为</a:t>
            </a:r>
            <a:r>
              <a:rPr lang="zh-CN" altLang="en-US">
                <a:solidFill>
                  <a:srgbClr val="FF3300"/>
                </a:solidFill>
              </a:rPr>
              <a:t>最大流</a:t>
            </a:r>
            <a:r>
              <a:rPr lang="zh-CN" altLang="en-US"/>
              <a:t>。</a:t>
            </a:r>
          </a:p>
          <a:p>
            <a:pPr lvl="1" eaLnBrk="1" hangingPunct="1"/>
            <a:endParaRPr lang="en-US" altLang="zh-CN"/>
          </a:p>
        </p:txBody>
      </p:sp>
      <p:sp>
        <p:nvSpPr>
          <p:cNvPr id="267312" name="Oval 48">
            <a:extLst>
              <a:ext uri="{FF2B5EF4-FFF2-40B4-BE49-F238E27FC236}">
                <a16:creationId xmlns:a16="http://schemas.microsoft.com/office/drawing/2014/main" id="{FC019A77-9DE0-4C39-92D3-F7FBC4AE8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267200"/>
            <a:ext cx="1143000" cy="11430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65542" name="Oval 49">
            <a:extLst>
              <a:ext uri="{FF2B5EF4-FFF2-40B4-BE49-F238E27FC236}">
                <a16:creationId xmlns:a16="http://schemas.microsoft.com/office/drawing/2014/main" id="{335328EF-E357-4C83-833B-4E84DAB31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19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65543" name="Oval 50">
            <a:extLst>
              <a:ext uri="{FF2B5EF4-FFF2-40B4-BE49-F238E27FC236}">
                <a16:creationId xmlns:a16="http://schemas.microsoft.com/office/drawing/2014/main" id="{3B152F2D-4078-4342-8746-1210F22C5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352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5544" name="Oval 51">
            <a:extLst>
              <a:ext uri="{FF2B5EF4-FFF2-40B4-BE49-F238E27FC236}">
                <a16:creationId xmlns:a16="http://schemas.microsoft.com/office/drawing/2014/main" id="{C894DEF5-9C3B-4BD6-8D5F-C2B7BCAFB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5545" name="Oval 52">
            <a:extLst>
              <a:ext uri="{FF2B5EF4-FFF2-40B4-BE49-F238E27FC236}">
                <a16:creationId xmlns:a16="http://schemas.microsoft.com/office/drawing/2014/main" id="{AF4872A0-3249-4F5F-A2E4-762A58CBC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352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5546" name="Oval 53">
            <a:extLst>
              <a:ext uri="{FF2B5EF4-FFF2-40B4-BE49-F238E27FC236}">
                <a16:creationId xmlns:a16="http://schemas.microsoft.com/office/drawing/2014/main" id="{19CC0A91-5A5C-48B5-B20B-53093460D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486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5547" name="Oval 54">
            <a:extLst>
              <a:ext uri="{FF2B5EF4-FFF2-40B4-BE49-F238E27FC236}">
                <a16:creationId xmlns:a16="http://schemas.microsoft.com/office/drawing/2014/main" id="{CB84534D-B9D7-4820-967E-1FCB0730F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419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65548" name="Line 55">
            <a:extLst>
              <a:ext uri="{FF2B5EF4-FFF2-40B4-BE49-F238E27FC236}">
                <a16:creationId xmlns:a16="http://schemas.microsoft.com/office/drawing/2014/main" id="{2366F158-65AC-467B-B7D7-02C4A072CC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7338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9" name="Line 56">
            <a:extLst>
              <a:ext uri="{FF2B5EF4-FFF2-40B4-BE49-F238E27FC236}">
                <a16:creationId xmlns:a16="http://schemas.microsoft.com/office/drawing/2014/main" id="{63B4785D-17B2-4CBA-8394-F78DA7BE22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800600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50" name="Line 57">
            <a:extLst>
              <a:ext uri="{FF2B5EF4-FFF2-40B4-BE49-F238E27FC236}">
                <a16:creationId xmlns:a16="http://schemas.microsoft.com/office/drawing/2014/main" id="{B9BE185C-4E7D-4968-B295-31F0FC6A37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8100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51" name="Line 58">
            <a:extLst>
              <a:ext uri="{FF2B5EF4-FFF2-40B4-BE49-F238E27FC236}">
                <a16:creationId xmlns:a16="http://schemas.microsoft.com/office/drawing/2014/main" id="{4E251236-2EAC-4B7D-8B56-07D69644B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5814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52" name="Line 59">
            <a:extLst>
              <a:ext uri="{FF2B5EF4-FFF2-40B4-BE49-F238E27FC236}">
                <a16:creationId xmlns:a16="http://schemas.microsoft.com/office/drawing/2014/main" id="{30172E25-AD74-4C94-8908-BC4D33CAF0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7150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53" name="Line 60">
            <a:extLst>
              <a:ext uri="{FF2B5EF4-FFF2-40B4-BE49-F238E27FC236}">
                <a16:creationId xmlns:a16="http://schemas.microsoft.com/office/drawing/2014/main" id="{B010F5E9-05EC-46AF-869D-3594F74707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8100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54" name="Line 61">
            <a:extLst>
              <a:ext uri="{FF2B5EF4-FFF2-40B4-BE49-F238E27FC236}">
                <a16:creationId xmlns:a16="http://schemas.microsoft.com/office/drawing/2014/main" id="{07D55167-DDAD-46A7-AEE0-6568E5F32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733800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55" name="Line 62">
            <a:extLst>
              <a:ext uri="{FF2B5EF4-FFF2-40B4-BE49-F238E27FC236}">
                <a16:creationId xmlns:a16="http://schemas.microsoft.com/office/drawing/2014/main" id="{D5CE8A43-6C0C-4C5F-8A1D-BDC4873037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733800"/>
            <a:ext cx="1600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56" name="Line 63">
            <a:extLst>
              <a:ext uri="{FF2B5EF4-FFF2-40B4-BE49-F238E27FC236}">
                <a16:creationId xmlns:a16="http://schemas.microsoft.com/office/drawing/2014/main" id="{9B24A01C-E2A8-477B-92B0-3FDF08880D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4800600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57" name="Text Box 64">
            <a:extLst>
              <a:ext uri="{FF2B5EF4-FFF2-40B4-BE49-F238E27FC236}">
                <a16:creationId xmlns:a16="http://schemas.microsoft.com/office/drawing/2014/main" id="{2EB2D95E-BF59-4879-9C18-FA0B83B01B1E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828800" y="36576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5558" name="Text Box 65">
            <a:extLst>
              <a:ext uri="{FF2B5EF4-FFF2-40B4-BE49-F238E27FC236}">
                <a16:creationId xmlns:a16="http://schemas.microsoft.com/office/drawing/2014/main" id="{7E63E6FF-C577-42F1-AF93-40933CDAFEDA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828800" y="5181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(5,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5559" name="Text Box 66">
            <a:extLst>
              <a:ext uri="{FF2B5EF4-FFF2-40B4-BE49-F238E27FC236}">
                <a16:creationId xmlns:a16="http://schemas.microsoft.com/office/drawing/2014/main" id="{067F1C62-0BF1-4D7C-BC6B-84B090451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124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(4,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5560" name="Text Box 67">
            <a:extLst>
              <a:ext uri="{FF2B5EF4-FFF2-40B4-BE49-F238E27FC236}">
                <a16:creationId xmlns:a16="http://schemas.microsoft.com/office/drawing/2014/main" id="{9E9FC87A-4360-4F10-8C32-7ABBF6BC3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2</a:t>
            </a:r>
            <a:r>
              <a:rPr lang="en-US" altLang="zh-CN" sz="2400"/>
              <a:t>)</a:t>
            </a:r>
          </a:p>
        </p:txBody>
      </p:sp>
      <p:sp>
        <p:nvSpPr>
          <p:cNvPr id="65561" name="Text Box 68">
            <a:extLst>
              <a:ext uri="{FF2B5EF4-FFF2-40B4-BE49-F238E27FC236}">
                <a16:creationId xmlns:a16="http://schemas.microsoft.com/office/drawing/2014/main" id="{A9FB2D40-0FDE-4C86-B7F3-69D0C75B810D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4038600" y="4114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5562" name="Text Box 69">
            <a:extLst>
              <a:ext uri="{FF2B5EF4-FFF2-40B4-BE49-F238E27FC236}">
                <a16:creationId xmlns:a16="http://schemas.microsoft.com/office/drawing/2014/main" id="{2903628A-8B25-45E1-ADCA-B29820BBD9EA}"/>
              </a:ext>
            </a:extLst>
          </p:cNvPr>
          <p:cNvSpPr txBox="1">
            <a:spLocks noChangeArrowheads="1"/>
          </p:cNvSpPr>
          <p:nvPr/>
        </p:nvSpPr>
        <p:spPr bwMode="auto">
          <a:xfrm rot="1498140">
            <a:off x="6096000" y="3733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(5,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5563" name="Text Box 70">
            <a:extLst>
              <a:ext uri="{FF2B5EF4-FFF2-40B4-BE49-F238E27FC236}">
                <a16:creationId xmlns:a16="http://schemas.microsoft.com/office/drawing/2014/main" id="{036FE493-6362-4EF9-AB04-2820549C3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343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65564" name="Text Box 71">
            <a:extLst>
              <a:ext uri="{FF2B5EF4-FFF2-40B4-BE49-F238E27FC236}">
                <a16:creationId xmlns:a16="http://schemas.microsoft.com/office/drawing/2014/main" id="{2A596C8F-2DB2-4357-92D0-7A510778A445}"/>
              </a:ext>
            </a:extLst>
          </p:cNvPr>
          <p:cNvSpPr txBox="1">
            <a:spLocks noChangeArrowheads="1"/>
          </p:cNvSpPr>
          <p:nvPr/>
        </p:nvSpPr>
        <p:spPr bwMode="auto">
          <a:xfrm rot="-1604546">
            <a:off x="6248400" y="5105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5565" name="Text Box 72">
            <a:extLst>
              <a:ext uri="{FF2B5EF4-FFF2-40B4-BE49-F238E27FC236}">
                <a16:creationId xmlns:a16="http://schemas.microsoft.com/office/drawing/2014/main" id="{683CA624-6C29-4195-84E4-B08DFA6F4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495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5566" name="Text Box 73">
            <a:extLst>
              <a:ext uri="{FF2B5EF4-FFF2-40B4-BE49-F238E27FC236}">
                <a16:creationId xmlns:a16="http://schemas.microsoft.com/office/drawing/2014/main" id="{953BE856-A553-4339-9B5C-7E148DADE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8862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[∞,v</a:t>
            </a:r>
            <a:r>
              <a:rPr lang="en-US" altLang="zh-CN" sz="2400" baseline="-25000">
                <a:solidFill>
                  <a:srgbClr val="000099"/>
                </a:solidFill>
              </a:rPr>
              <a:t>s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65567" name="Text Box 74">
            <a:extLst>
              <a:ext uri="{FF2B5EF4-FFF2-40B4-BE49-F238E27FC236}">
                <a16:creationId xmlns:a16="http://schemas.microsoft.com/office/drawing/2014/main" id="{A728F8B9-E358-4C3C-A179-D6692892E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943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[4,v</a:t>
            </a:r>
            <a:r>
              <a:rPr lang="en-US" altLang="zh-CN" sz="2400" baseline="-25000">
                <a:solidFill>
                  <a:srgbClr val="000099"/>
                </a:solidFill>
              </a:rPr>
              <a:t>s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267340" name="Text Box 76">
            <a:extLst>
              <a:ext uri="{FF2B5EF4-FFF2-40B4-BE49-F238E27FC236}">
                <a16:creationId xmlns:a16="http://schemas.microsoft.com/office/drawing/2014/main" id="{3D460F0B-5B08-424A-B86B-5FA3EF4EF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895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[1,-v</a:t>
            </a:r>
            <a:r>
              <a:rPr lang="en-US" altLang="zh-CN" sz="2400" baseline="-25000">
                <a:solidFill>
                  <a:srgbClr val="000099"/>
                </a:solidFill>
              </a:rPr>
              <a:t>3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312" grpId="0" animBg="1"/>
      <p:bldP spid="267340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3">
            <a:extLst>
              <a:ext uri="{FF2B5EF4-FFF2-40B4-BE49-F238E27FC236}">
                <a16:creationId xmlns:a16="http://schemas.microsoft.com/office/drawing/2014/main" id="{7FF4EC31-0932-4BA9-83C3-5AE412737E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求最大流</a:t>
            </a:r>
            <a:r>
              <a:rPr lang="en-US" altLang="zh-CN">
                <a:latin typeface="Arial" panose="020B0604020202020204" pitchFamily="34" charset="0"/>
              </a:rPr>
              <a:t>—</a:t>
            </a:r>
            <a:r>
              <a:rPr lang="zh-CN" altLang="en-US"/>
              <a:t>标号法</a:t>
            </a: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D1389CC4-021D-47A6-A932-8232A6DC4E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458200" cy="4987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4</a:t>
            </a:r>
            <a:r>
              <a:rPr lang="zh-CN" altLang="en-US" sz="2800"/>
              <a:t>、重复</a:t>
            </a:r>
            <a:r>
              <a:rPr lang="en-US" altLang="zh-CN" sz="2800"/>
              <a:t>2</a:t>
            </a:r>
            <a:r>
              <a:rPr lang="zh-CN" altLang="en-US" sz="2800"/>
              <a:t>、</a:t>
            </a:r>
            <a:r>
              <a:rPr lang="en-US" altLang="zh-CN" sz="2800"/>
              <a:t>3</a:t>
            </a:r>
            <a:r>
              <a:rPr lang="zh-CN" altLang="en-US" sz="2800"/>
              <a:t>，最终结局可能为：</a:t>
            </a:r>
          </a:p>
          <a:p>
            <a:pPr lvl="1" eaLnBrk="1" hangingPunct="1"/>
            <a:r>
              <a:rPr lang="en-US" altLang="zh-CN"/>
              <a:t>v</a:t>
            </a:r>
            <a:r>
              <a:rPr lang="en-US" altLang="zh-CN" baseline="-25000"/>
              <a:t>t</a:t>
            </a:r>
            <a:r>
              <a:rPr lang="zh-CN" altLang="en-US"/>
              <a:t>已标号，得到一条增广链</a:t>
            </a:r>
            <a:r>
              <a:rPr lang="en-US" altLang="zh-CN"/>
              <a:t>u</a:t>
            </a:r>
            <a:r>
              <a:rPr lang="zh-CN" altLang="en-US"/>
              <a:t>，转</a:t>
            </a:r>
            <a:r>
              <a:rPr lang="en-US" altLang="zh-CN"/>
              <a:t>5</a:t>
            </a:r>
            <a:r>
              <a:rPr lang="zh-CN" altLang="en-US"/>
              <a:t>；</a:t>
            </a:r>
          </a:p>
          <a:p>
            <a:pPr lvl="1" eaLnBrk="1" hangingPunct="1"/>
            <a:r>
              <a:rPr lang="en-US" altLang="zh-CN"/>
              <a:t>v</a:t>
            </a:r>
            <a:r>
              <a:rPr lang="en-US" altLang="zh-CN" baseline="-25000"/>
              <a:t>t</a:t>
            </a:r>
            <a:r>
              <a:rPr lang="zh-CN" altLang="en-US"/>
              <a:t>未标号，且无法再标号</a:t>
            </a:r>
            <a:r>
              <a:rPr lang="en-US" altLang="zh-CN"/>
              <a:t>, </a:t>
            </a:r>
            <a:r>
              <a:rPr lang="zh-CN" altLang="en-US"/>
              <a:t>此时的流为</a:t>
            </a:r>
            <a:r>
              <a:rPr lang="zh-CN" altLang="en-US">
                <a:solidFill>
                  <a:srgbClr val="FF3300"/>
                </a:solidFill>
              </a:rPr>
              <a:t>最大流</a:t>
            </a:r>
            <a:r>
              <a:rPr lang="zh-CN" altLang="en-US"/>
              <a:t>。</a:t>
            </a:r>
          </a:p>
          <a:p>
            <a:pPr lvl="1" eaLnBrk="1" hangingPunct="1"/>
            <a:endParaRPr lang="en-US" altLang="zh-CN"/>
          </a:p>
        </p:txBody>
      </p:sp>
      <p:sp>
        <p:nvSpPr>
          <p:cNvPr id="66565" name="Oval 6">
            <a:extLst>
              <a:ext uri="{FF2B5EF4-FFF2-40B4-BE49-F238E27FC236}">
                <a16:creationId xmlns:a16="http://schemas.microsoft.com/office/drawing/2014/main" id="{DD381C7F-00C3-44FF-A503-9636CC9CC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19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66566" name="Oval 7">
            <a:extLst>
              <a:ext uri="{FF2B5EF4-FFF2-40B4-BE49-F238E27FC236}">
                <a16:creationId xmlns:a16="http://schemas.microsoft.com/office/drawing/2014/main" id="{8343A7C3-E5B1-4161-8AFB-818DA9EF5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352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6567" name="Oval 8">
            <a:extLst>
              <a:ext uri="{FF2B5EF4-FFF2-40B4-BE49-F238E27FC236}">
                <a16:creationId xmlns:a16="http://schemas.microsoft.com/office/drawing/2014/main" id="{95DF85FF-EB0A-4E9A-A774-49801616A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6568" name="Oval 9">
            <a:extLst>
              <a:ext uri="{FF2B5EF4-FFF2-40B4-BE49-F238E27FC236}">
                <a16:creationId xmlns:a16="http://schemas.microsoft.com/office/drawing/2014/main" id="{BBD38182-53FF-4978-AFE1-E89BD7BC7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352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6569" name="Oval 10">
            <a:extLst>
              <a:ext uri="{FF2B5EF4-FFF2-40B4-BE49-F238E27FC236}">
                <a16:creationId xmlns:a16="http://schemas.microsoft.com/office/drawing/2014/main" id="{ACB6FEE6-8552-4A59-BC6F-ADC848E64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486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6570" name="Oval 11">
            <a:extLst>
              <a:ext uri="{FF2B5EF4-FFF2-40B4-BE49-F238E27FC236}">
                <a16:creationId xmlns:a16="http://schemas.microsoft.com/office/drawing/2014/main" id="{8FB8433F-E17C-4342-A79E-3BEB9EA33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419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66571" name="Line 12">
            <a:extLst>
              <a:ext uri="{FF2B5EF4-FFF2-40B4-BE49-F238E27FC236}">
                <a16:creationId xmlns:a16="http://schemas.microsoft.com/office/drawing/2014/main" id="{88A880FF-4191-4B24-A8C7-E620A90938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7338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72" name="Line 13">
            <a:extLst>
              <a:ext uri="{FF2B5EF4-FFF2-40B4-BE49-F238E27FC236}">
                <a16:creationId xmlns:a16="http://schemas.microsoft.com/office/drawing/2014/main" id="{82A0AF76-D309-4119-B4DB-DE3757A5A6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800600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73" name="Line 14">
            <a:extLst>
              <a:ext uri="{FF2B5EF4-FFF2-40B4-BE49-F238E27FC236}">
                <a16:creationId xmlns:a16="http://schemas.microsoft.com/office/drawing/2014/main" id="{E3CEA07A-F3B9-4D9D-B3C4-670130E701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8100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74" name="Line 15">
            <a:extLst>
              <a:ext uri="{FF2B5EF4-FFF2-40B4-BE49-F238E27FC236}">
                <a16:creationId xmlns:a16="http://schemas.microsoft.com/office/drawing/2014/main" id="{C5082780-BEC7-4575-B3B8-B784033D54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5814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75" name="Line 16">
            <a:extLst>
              <a:ext uri="{FF2B5EF4-FFF2-40B4-BE49-F238E27FC236}">
                <a16:creationId xmlns:a16="http://schemas.microsoft.com/office/drawing/2014/main" id="{F721000E-A03D-47D9-ACF5-FC4DF7FEC9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7150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76" name="Line 17">
            <a:extLst>
              <a:ext uri="{FF2B5EF4-FFF2-40B4-BE49-F238E27FC236}">
                <a16:creationId xmlns:a16="http://schemas.microsoft.com/office/drawing/2014/main" id="{AA10ADCC-FFFE-42C1-99C7-BCAD8CF27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8100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77" name="Line 18">
            <a:extLst>
              <a:ext uri="{FF2B5EF4-FFF2-40B4-BE49-F238E27FC236}">
                <a16:creationId xmlns:a16="http://schemas.microsoft.com/office/drawing/2014/main" id="{E44753C2-63CC-4A53-85D7-F98B0FDCCE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733800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78" name="Line 19">
            <a:extLst>
              <a:ext uri="{FF2B5EF4-FFF2-40B4-BE49-F238E27FC236}">
                <a16:creationId xmlns:a16="http://schemas.microsoft.com/office/drawing/2014/main" id="{265A5C20-DFBC-4262-B2C6-BA9CE6744D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733800"/>
            <a:ext cx="1600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79" name="Line 20">
            <a:extLst>
              <a:ext uri="{FF2B5EF4-FFF2-40B4-BE49-F238E27FC236}">
                <a16:creationId xmlns:a16="http://schemas.microsoft.com/office/drawing/2014/main" id="{8D4F2B5F-D0E9-4CB3-B8AA-5E75D80AEC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4800600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80" name="Text Box 21">
            <a:extLst>
              <a:ext uri="{FF2B5EF4-FFF2-40B4-BE49-F238E27FC236}">
                <a16:creationId xmlns:a16="http://schemas.microsoft.com/office/drawing/2014/main" id="{6009E35B-46DF-45BF-8C1B-F3E410C2521E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828800" y="36576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6581" name="Text Box 22">
            <a:extLst>
              <a:ext uri="{FF2B5EF4-FFF2-40B4-BE49-F238E27FC236}">
                <a16:creationId xmlns:a16="http://schemas.microsoft.com/office/drawing/2014/main" id="{D908357E-279A-4A46-8948-3ADE5DF70D56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828800" y="5181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(5,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6582" name="Text Box 23">
            <a:extLst>
              <a:ext uri="{FF2B5EF4-FFF2-40B4-BE49-F238E27FC236}">
                <a16:creationId xmlns:a16="http://schemas.microsoft.com/office/drawing/2014/main" id="{6CF16788-B455-4FA5-B148-B34856F4F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124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(4,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6583" name="Text Box 24">
            <a:extLst>
              <a:ext uri="{FF2B5EF4-FFF2-40B4-BE49-F238E27FC236}">
                <a16:creationId xmlns:a16="http://schemas.microsoft.com/office/drawing/2014/main" id="{ED2B781F-5DD6-41A0-9317-1E0FC1616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2</a:t>
            </a:r>
            <a:r>
              <a:rPr lang="en-US" altLang="zh-CN" sz="2400"/>
              <a:t>)</a:t>
            </a:r>
          </a:p>
        </p:txBody>
      </p:sp>
      <p:sp>
        <p:nvSpPr>
          <p:cNvPr id="66584" name="Text Box 25">
            <a:extLst>
              <a:ext uri="{FF2B5EF4-FFF2-40B4-BE49-F238E27FC236}">
                <a16:creationId xmlns:a16="http://schemas.microsoft.com/office/drawing/2014/main" id="{5D75F452-9729-44D8-93DA-D23001D18944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4038600" y="4114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6585" name="Text Box 26">
            <a:extLst>
              <a:ext uri="{FF2B5EF4-FFF2-40B4-BE49-F238E27FC236}">
                <a16:creationId xmlns:a16="http://schemas.microsoft.com/office/drawing/2014/main" id="{4742673C-704B-4C0E-8F89-CF320ECA28BC}"/>
              </a:ext>
            </a:extLst>
          </p:cNvPr>
          <p:cNvSpPr txBox="1">
            <a:spLocks noChangeArrowheads="1"/>
          </p:cNvSpPr>
          <p:nvPr/>
        </p:nvSpPr>
        <p:spPr bwMode="auto">
          <a:xfrm rot="1498140">
            <a:off x="6096000" y="3733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(5,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6586" name="Text Box 27">
            <a:extLst>
              <a:ext uri="{FF2B5EF4-FFF2-40B4-BE49-F238E27FC236}">
                <a16:creationId xmlns:a16="http://schemas.microsoft.com/office/drawing/2014/main" id="{26B99E28-73F2-4BC3-BD20-10EF7CBC8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343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66587" name="Text Box 28">
            <a:extLst>
              <a:ext uri="{FF2B5EF4-FFF2-40B4-BE49-F238E27FC236}">
                <a16:creationId xmlns:a16="http://schemas.microsoft.com/office/drawing/2014/main" id="{5D7D9333-BF00-4492-AB79-36F69002465C}"/>
              </a:ext>
            </a:extLst>
          </p:cNvPr>
          <p:cNvSpPr txBox="1">
            <a:spLocks noChangeArrowheads="1"/>
          </p:cNvSpPr>
          <p:nvPr/>
        </p:nvSpPr>
        <p:spPr bwMode="auto">
          <a:xfrm rot="-1604546">
            <a:off x="6248400" y="5105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6588" name="Text Box 29">
            <a:extLst>
              <a:ext uri="{FF2B5EF4-FFF2-40B4-BE49-F238E27FC236}">
                <a16:creationId xmlns:a16="http://schemas.microsoft.com/office/drawing/2014/main" id="{8837D717-2D7C-4E9D-B5C6-9208866C1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495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6589" name="Text Box 30">
            <a:extLst>
              <a:ext uri="{FF2B5EF4-FFF2-40B4-BE49-F238E27FC236}">
                <a16:creationId xmlns:a16="http://schemas.microsoft.com/office/drawing/2014/main" id="{DDA78006-B13E-43BA-8AD7-C06004049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8862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[∞,v</a:t>
            </a:r>
            <a:r>
              <a:rPr lang="en-US" altLang="zh-CN" sz="2400" baseline="-25000">
                <a:solidFill>
                  <a:srgbClr val="000099"/>
                </a:solidFill>
              </a:rPr>
              <a:t>s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66590" name="Text Box 31">
            <a:extLst>
              <a:ext uri="{FF2B5EF4-FFF2-40B4-BE49-F238E27FC236}">
                <a16:creationId xmlns:a16="http://schemas.microsoft.com/office/drawing/2014/main" id="{F42679C5-4F2C-477D-8E6C-A8EC64C90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943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[4,v</a:t>
            </a:r>
            <a:r>
              <a:rPr lang="en-US" altLang="zh-CN" sz="2400" baseline="-25000">
                <a:solidFill>
                  <a:srgbClr val="000099"/>
                </a:solidFill>
              </a:rPr>
              <a:t>s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66591" name="Text Box 32">
            <a:extLst>
              <a:ext uri="{FF2B5EF4-FFF2-40B4-BE49-F238E27FC236}">
                <a16:creationId xmlns:a16="http://schemas.microsoft.com/office/drawing/2014/main" id="{BE54832F-230D-433B-8157-6C68F32F3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895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[1,-v</a:t>
            </a:r>
            <a:r>
              <a:rPr lang="en-US" altLang="zh-CN" sz="2400" baseline="-25000">
                <a:solidFill>
                  <a:srgbClr val="000099"/>
                </a:solidFill>
              </a:rPr>
              <a:t>3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268322" name="Text Box 34">
            <a:extLst>
              <a:ext uri="{FF2B5EF4-FFF2-40B4-BE49-F238E27FC236}">
                <a16:creationId xmlns:a16="http://schemas.microsoft.com/office/drawing/2014/main" id="{38036AD0-479C-4DB9-80AA-DF1E1524D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819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[1, v</a:t>
            </a:r>
            <a:r>
              <a:rPr lang="en-US" altLang="zh-CN" sz="2400" baseline="-25000">
                <a:solidFill>
                  <a:srgbClr val="000099"/>
                </a:solidFill>
              </a:rPr>
              <a:t>2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32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>
            <a:extLst>
              <a:ext uri="{FF2B5EF4-FFF2-40B4-BE49-F238E27FC236}">
                <a16:creationId xmlns:a16="http://schemas.microsoft.com/office/drawing/2014/main" id="{6D2AFEE4-3CC9-4339-91AB-DDDDB09830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求最大流</a:t>
            </a:r>
            <a:r>
              <a:rPr lang="en-US" altLang="zh-CN">
                <a:latin typeface="Arial" panose="020B0604020202020204" pitchFamily="34" charset="0"/>
              </a:rPr>
              <a:t>—</a:t>
            </a:r>
            <a:r>
              <a:rPr lang="zh-CN" altLang="en-US"/>
              <a:t>标号法</a:t>
            </a:r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55405DF4-9FB0-4A08-BB91-4172147533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458200" cy="4987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4</a:t>
            </a:r>
            <a:r>
              <a:rPr lang="zh-CN" altLang="en-US" sz="2800"/>
              <a:t>、重复</a:t>
            </a:r>
            <a:r>
              <a:rPr lang="en-US" altLang="zh-CN" sz="2800"/>
              <a:t>2</a:t>
            </a:r>
            <a:r>
              <a:rPr lang="zh-CN" altLang="en-US" sz="2800"/>
              <a:t>、</a:t>
            </a:r>
            <a:r>
              <a:rPr lang="en-US" altLang="zh-CN" sz="2800"/>
              <a:t>3</a:t>
            </a:r>
            <a:r>
              <a:rPr lang="zh-CN" altLang="en-US" sz="2800"/>
              <a:t>，最终结局可能为：</a:t>
            </a:r>
          </a:p>
          <a:p>
            <a:pPr lvl="1" eaLnBrk="1" hangingPunct="1"/>
            <a:r>
              <a:rPr lang="en-US" altLang="zh-CN"/>
              <a:t>v</a:t>
            </a:r>
            <a:r>
              <a:rPr lang="en-US" altLang="zh-CN" baseline="-25000"/>
              <a:t>t</a:t>
            </a:r>
            <a:r>
              <a:rPr lang="zh-CN" altLang="en-US"/>
              <a:t>已标号，得到一条增广链</a:t>
            </a:r>
            <a:r>
              <a:rPr lang="en-US" altLang="zh-CN"/>
              <a:t>u</a:t>
            </a:r>
            <a:r>
              <a:rPr lang="zh-CN" altLang="en-US"/>
              <a:t>，转</a:t>
            </a:r>
            <a:r>
              <a:rPr lang="en-US" altLang="zh-CN"/>
              <a:t>5</a:t>
            </a:r>
            <a:r>
              <a:rPr lang="zh-CN" altLang="en-US"/>
              <a:t>；</a:t>
            </a:r>
          </a:p>
          <a:p>
            <a:pPr lvl="1" eaLnBrk="1" hangingPunct="1"/>
            <a:r>
              <a:rPr lang="en-US" altLang="zh-CN"/>
              <a:t>v</a:t>
            </a:r>
            <a:r>
              <a:rPr lang="en-US" altLang="zh-CN" baseline="-25000"/>
              <a:t>t</a:t>
            </a:r>
            <a:r>
              <a:rPr lang="zh-CN" altLang="en-US"/>
              <a:t>未标号，且无法再标号</a:t>
            </a:r>
            <a:r>
              <a:rPr lang="en-US" altLang="zh-CN"/>
              <a:t>, </a:t>
            </a:r>
            <a:r>
              <a:rPr lang="zh-CN" altLang="en-US"/>
              <a:t>此时的流为</a:t>
            </a:r>
            <a:r>
              <a:rPr lang="zh-CN" altLang="en-US">
                <a:solidFill>
                  <a:srgbClr val="FF3300"/>
                </a:solidFill>
              </a:rPr>
              <a:t>最大流</a:t>
            </a:r>
            <a:r>
              <a:rPr lang="zh-CN" altLang="en-US"/>
              <a:t>。</a:t>
            </a:r>
          </a:p>
          <a:p>
            <a:pPr lvl="1" eaLnBrk="1" hangingPunct="1"/>
            <a:endParaRPr lang="en-US" altLang="zh-CN"/>
          </a:p>
        </p:txBody>
      </p:sp>
      <p:sp>
        <p:nvSpPr>
          <p:cNvPr id="67589" name="Oval 5">
            <a:extLst>
              <a:ext uri="{FF2B5EF4-FFF2-40B4-BE49-F238E27FC236}">
                <a16:creationId xmlns:a16="http://schemas.microsoft.com/office/drawing/2014/main" id="{2204671F-6217-4429-A9CB-C4EC3FD84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19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67590" name="Oval 6">
            <a:extLst>
              <a:ext uri="{FF2B5EF4-FFF2-40B4-BE49-F238E27FC236}">
                <a16:creationId xmlns:a16="http://schemas.microsoft.com/office/drawing/2014/main" id="{3BDC5D89-7E5A-4223-9089-7FF36A2C5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352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7591" name="Oval 7">
            <a:extLst>
              <a:ext uri="{FF2B5EF4-FFF2-40B4-BE49-F238E27FC236}">
                <a16:creationId xmlns:a16="http://schemas.microsoft.com/office/drawing/2014/main" id="{4EF1A3D4-07D5-4780-A3E2-5BA8A82B8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592" name="Oval 8">
            <a:extLst>
              <a:ext uri="{FF2B5EF4-FFF2-40B4-BE49-F238E27FC236}">
                <a16:creationId xmlns:a16="http://schemas.microsoft.com/office/drawing/2014/main" id="{FDE19DC4-1FAA-45ED-A607-B5AE7E206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352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593" name="Oval 9">
            <a:extLst>
              <a:ext uri="{FF2B5EF4-FFF2-40B4-BE49-F238E27FC236}">
                <a16:creationId xmlns:a16="http://schemas.microsoft.com/office/drawing/2014/main" id="{2BDE314D-36BC-4269-BDF7-BD3879AEE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486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594" name="Oval 10">
            <a:extLst>
              <a:ext uri="{FF2B5EF4-FFF2-40B4-BE49-F238E27FC236}">
                <a16:creationId xmlns:a16="http://schemas.microsoft.com/office/drawing/2014/main" id="{D5FA5CD0-0D3A-43C7-A07B-70C019131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419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67595" name="Line 11">
            <a:extLst>
              <a:ext uri="{FF2B5EF4-FFF2-40B4-BE49-F238E27FC236}">
                <a16:creationId xmlns:a16="http://schemas.microsoft.com/office/drawing/2014/main" id="{B469FAF1-FE1C-42D7-9F93-0E23871DAB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7338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6" name="Line 12">
            <a:extLst>
              <a:ext uri="{FF2B5EF4-FFF2-40B4-BE49-F238E27FC236}">
                <a16:creationId xmlns:a16="http://schemas.microsoft.com/office/drawing/2014/main" id="{A89DB232-9EBD-421D-BCCC-4E23042559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800600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7" name="Line 13">
            <a:extLst>
              <a:ext uri="{FF2B5EF4-FFF2-40B4-BE49-F238E27FC236}">
                <a16:creationId xmlns:a16="http://schemas.microsoft.com/office/drawing/2014/main" id="{CD32B5DE-7041-4A90-A4FE-F519014678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8100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8" name="Line 14">
            <a:extLst>
              <a:ext uri="{FF2B5EF4-FFF2-40B4-BE49-F238E27FC236}">
                <a16:creationId xmlns:a16="http://schemas.microsoft.com/office/drawing/2014/main" id="{D9EF03AE-29F6-4387-9F1C-4C1606ED2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5814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9" name="Line 15">
            <a:extLst>
              <a:ext uri="{FF2B5EF4-FFF2-40B4-BE49-F238E27FC236}">
                <a16:creationId xmlns:a16="http://schemas.microsoft.com/office/drawing/2014/main" id="{344E57D4-DE2A-44AB-8B7F-F5C7EA5B58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7150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0" name="Line 16">
            <a:extLst>
              <a:ext uri="{FF2B5EF4-FFF2-40B4-BE49-F238E27FC236}">
                <a16:creationId xmlns:a16="http://schemas.microsoft.com/office/drawing/2014/main" id="{5E5DA205-4370-4911-A066-2CD47D0AF2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8100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1" name="Line 17">
            <a:extLst>
              <a:ext uri="{FF2B5EF4-FFF2-40B4-BE49-F238E27FC236}">
                <a16:creationId xmlns:a16="http://schemas.microsoft.com/office/drawing/2014/main" id="{AFFC1C74-DB12-460D-AE54-9F9B72AAF7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733800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2" name="Line 18">
            <a:extLst>
              <a:ext uri="{FF2B5EF4-FFF2-40B4-BE49-F238E27FC236}">
                <a16:creationId xmlns:a16="http://schemas.microsoft.com/office/drawing/2014/main" id="{EE687770-76C0-4E8A-BE93-1A744F593F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733800"/>
            <a:ext cx="1600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3" name="Line 19">
            <a:extLst>
              <a:ext uri="{FF2B5EF4-FFF2-40B4-BE49-F238E27FC236}">
                <a16:creationId xmlns:a16="http://schemas.microsoft.com/office/drawing/2014/main" id="{5C1F7254-EF0D-4ACD-8F4D-EF3392F312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4800600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4" name="Text Box 20">
            <a:extLst>
              <a:ext uri="{FF2B5EF4-FFF2-40B4-BE49-F238E27FC236}">
                <a16:creationId xmlns:a16="http://schemas.microsoft.com/office/drawing/2014/main" id="{6786228E-A6E9-4F87-A789-A256BA1FDCCC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828800" y="36576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7605" name="Text Box 21">
            <a:extLst>
              <a:ext uri="{FF2B5EF4-FFF2-40B4-BE49-F238E27FC236}">
                <a16:creationId xmlns:a16="http://schemas.microsoft.com/office/drawing/2014/main" id="{213B21CB-CDEC-40B8-B40F-E0501F0A7879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828800" y="5181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(5,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7606" name="Text Box 22">
            <a:extLst>
              <a:ext uri="{FF2B5EF4-FFF2-40B4-BE49-F238E27FC236}">
                <a16:creationId xmlns:a16="http://schemas.microsoft.com/office/drawing/2014/main" id="{29A9DA0D-8F47-4424-A2B9-7D24EEC06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124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(4,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7607" name="Text Box 23">
            <a:extLst>
              <a:ext uri="{FF2B5EF4-FFF2-40B4-BE49-F238E27FC236}">
                <a16:creationId xmlns:a16="http://schemas.microsoft.com/office/drawing/2014/main" id="{D751F129-8F2B-45CC-A250-AED3D4A84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2</a:t>
            </a:r>
            <a:r>
              <a:rPr lang="en-US" altLang="zh-CN" sz="2400"/>
              <a:t>)</a:t>
            </a:r>
          </a:p>
        </p:txBody>
      </p:sp>
      <p:sp>
        <p:nvSpPr>
          <p:cNvPr id="67608" name="Text Box 24">
            <a:extLst>
              <a:ext uri="{FF2B5EF4-FFF2-40B4-BE49-F238E27FC236}">
                <a16:creationId xmlns:a16="http://schemas.microsoft.com/office/drawing/2014/main" id="{51D2A129-16BD-4024-A24B-65E45F5C17A0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4038600" y="4114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7609" name="Text Box 25">
            <a:extLst>
              <a:ext uri="{FF2B5EF4-FFF2-40B4-BE49-F238E27FC236}">
                <a16:creationId xmlns:a16="http://schemas.microsoft.com/office/drawing/2014/main" id="{F124B30F-45A2-4736-8D76-FA23E9E192F3}"/>
              </a:ext>
            </a:extLst>
          </p:cNvPr>
          <p:cNvSpPr txBox="1">
            <a:spLocks noChangeArrowheads="1"/>
          </p:cNvSpPr>
          <p:nvPr/>
        </p:nvSpPr>
        <p:spPr bwMode="auto">
          <a:xfrm rot="1498140">
            <a:off x="6096000" y="3733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(5,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7610" name="Text Box 26">
            <a:extLst>
              <a:ext uri="{FF2B5EF4-FFF2-40B4-BE49-F238E27FC236}">
                <a16:creationId xmlns:a16="http://schemas.microsoft.com/office/drawing/2014/main" id="{4A12179D-71DA-4563-96FB-FE7A4A879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343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67611" name="Text Box 27">
            <a:extLst>
              <a:ext uri="{FF2B5EF4-FFF2-40B4-BE49-F238E27FC236}">
                <a16:creationId xmlns:a16="http://schemas.microsoft.com/office/drawing/2014/main" id="{4D93BC0F-4AC1-4A85-9A6D-1D37A0FF4786}"/>
              </a:ext>
            </a:extLst>
          </p:cNvPr>
          <p:cNvSpPr txBox="1">
            <a:spLocks noChangeArrowheads="1"/>
          </p:cNvSpPr>
          <p:nvPr/>
        </p:nvSpPr>
        <p:spPr bwMode="auto">
          <a:xfrm rot="-1604546">
            <a:off x="6248400" y="5105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7612" name="Text Box 28">
            <a:extLst>
              <a:ext uri="{FF2B5EF4-FFF2-40B4-BE49-F238E27FC236}">
                <a16:creationId xmlns:a16="http://schemas.microsoft.com/office/drawing/2014/main" id="{2BDA2327-5255-450F-AE70-B58888163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495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7613" name="Text Box 29">
            <a:extLst>
              <a:ext uri="{FF2B5EF4-FFF2-40B4-BE49-F238E27FC236}">
                <a16:creationId xmlns:a16="http://schemas.microsoft.com/office/drawing/2014/main" id="{ABBD1D42-7154-4C56-900B-BF8465A25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8862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[∞,v</a:t>
            </a:r>
            <a:r>
              <a:rPr lang="en-US" altLang="zh-CN" sz="2400" baseline="-25000">
                <a:solidFill>
                  <a:srgbClr val="000099"/>
                </a:solidFill>
              </a:rPr>
              <a:t>s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67614" name="Text Box 30">
            <a:extLst>
              <a:ext uri="{FF2B5EF4-FFF2-40B4-BE49-F238E27FC236}">
                <a16:creationId xmlns:a16="http://schemas.microsoft.com/office/drawing/2014/main" id="{C7749C16-F42D-40EF-B9E0-21350567F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943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[4,v</a:t>
            </a:r>
            <a:r>
              <a:rPr lang="en-US" altLang="zh-CN" sz="2400" baseline="-25000">
                <a:solidFill>
                  <a:srgbClr val="000099"/>
                </a:solidFill>
              </a:rPr>
              <a:t>s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67615" name="Text Box 31">
            <a:extLst>
              <a:ext uri="{FF2B5EF4-FFF2-40B4-BE49-F238E27FC236}">
                <a16:creationId xmlns:a16="http://schemas.microsoft.com/office/drawing/2014/main" id="{DEA352BD-E72D-4715-822C-59FF1B4D6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895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[1,-v</a:t>
            </a:r>
            <a:r>
              <a:rPr lang="en-US" altLang="zh-CN" sz="2400" baseline="-25000">
                <a:solidFill>
                  <a:srgbClr val="000099"/>
                </a:solidFill>
              </a:rPr>
              <a:t>3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67616" name="Text Box 32">
            <a:extLst>
              <a:ext uri="{FF2B5EF4-FFF2-40B4-BE49-F238E27FC236}">
                <a16:creationId xmlns:a16="http://schemas.microsoft.com/office/drawing/2014/main" id="{782C5A5C-8D7F-48CF-AD18-DE0AB127B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819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[1, v</a:t>
            </a:r>
            <a:r>
              <a:rPr lang="en-US" altLang="zh-CN" sz="2400" baseline="-25000">
                <a:solidFill>
                  <a:srgbClr val="000099"/>
                </a:solidFill>
              </a:rPr>
              <a:t>2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269347" name="Text Box 35">
            <a:extLst>
              <a:ext uri="{FF2B5EF4-FFF2-40B4-BE49-F238E27FC236}">
                <a16:creationId xmlns:a16="http://schemas.microsoft.com/office/drawing/2014/main" id="{48F4416B-A6A9-4135-860A-5D5C7940A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3886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[2, v</a:t>
            </a:r>
            <a:r>
              <a:rPr lang="en-US" altLang="zh-CN" sz="2400" baseline="-25000">
                <a:solidFill>
                  <a:srgbClr val="000099"/>
                </a:solidFill>
              </a:rPr>
              <a:t>4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4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>
            <a:extLst>
              <a:ext uri="{FF2B5EF4-FFF2-40B4-BE49-F238E27FC236}">
                <a16:creationId xmlns:a16="http://schemas.microsoft.com/office/drawing/2014/main" id="{F965AD79-C25D-40DF-8CCB-22112E87F9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求最大流</a:t>
            </a:r>
            <a:r>
              <a:rPr lang="en-US" altLang="zh-CN">
                <a:latin typeface="Arial" panose="020B0604020202020204" pitchFamily="34" charset="0"/>
              </a:rPr>
              <a:t>—</a:t>
            </a:r>
            <a:r>
              <a:rPr lang="zh-CN" altLang="en-US"/>
              <a:t>标号法</a:t>
            </a:r>
          </a:p>
        </p:txBody>
      </p:sp>
      <p:sp>
        <p:nvSpPr>
          <p:cNvPr id="68611" name="Rectangle 4">
            <a:extLst>
              <a:ext uri="{FF2B5EF4-FFF2-40B4-BE49-F238E27FC236}">
                <a16:creationId xmlns:a16="http://schemas.microsoft.com/office/drawing/2014/main" id="{F1BED467-8267-4EEE-B0AE-AA649622EA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458200" cy="4987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4</a:t>
            </a:r>
            <a:r>
              <a:rPr lang="zh-CN" altLang="en-US" sz="2800"/>
              <a:t>、重复</a:t>
            </a:r>
            <a:r>
              <a:rPr lang="en-US" altLang="zh-CN" sz="2800"/>
              <a:t>2</a:t>
            </a:r>
            <a:r>
              <a:rPr lang="zh-CN" altLang="en-US" sz="2800"/>
              <a:t>、</a:t>
            </a:r>
            <a:r>
              <a:rPr lang="en-US" altLang="zh-CN" sz="2800"/>
              <a:t>3</a:t>
            </a:r>
            <a:r>
              <a:rPr lang="zh-CN" altLang="en-US" sz="2800"/>
              <a:t>，最终结局可能为：</a:t>
            </a:r>
          </a:p>
          <a:p>
            <a:pPr lvl="1" eaLnBrk="1" hangingPunct="1"/>
            <a:r>
              <a:rPr lang="en-US" altLang="zh-CN"/>
              <a:t>v</a:t>
            </a:r>
            <a:r>
              <a:rPr lang="en-US" altLang="zh-CN" baseline="-25000"/>
              <a:t>t</a:t>
            </a:r>
            <a:r>
              <a:rPr lang="zh-CN" altLang="en-US"/>
              <a:t>已标号，得到一条增广链</a:t>
            </a:r>
            <a:r>
              <a:rPr lang="en-US" altLang="zh-CN"/>
              <a:t>u</a:t>
            </a:r>
            <a:r>
              <a:rPr lang="zh-CN" altLang="en-US"/>
              <a:t>，转</a:t>
            </a:r>
            <a:r>
              <a:rPr lang="en-US" altLang="zh-CN"/>
              <a:t>5</a:t>
            </a:r>
            <a:r>
              <a:rPr lang="zh-CN" altLang="en-US"/>
              <a:t>；</a:t>
            </a:r>
          </a:p>
          <a:p>
            <a:pPr lvl="1" eaLnBrk="1" hangingPunct="1"/>
            <a:r>
              <a:rPr lang="en-US" altLang="zh-CN"/>
              <a:t>v</a:t>
            </a:r>
            <a:r>
              <a:rPr lang="en-US" altLang="zh-CN" baseline="-25000"/>
              <a:t>t</a:t>
            </a:r>
            <a:r>
              <a:rPr lang="zh-CN" altLang="en-US"/>
              <a:t>未标号，且无法再标号</a:t>
            </a:r>
            <a:r>
              <a:rPr lang="en-US" altLang="zh-CN"/>
              <a:t>, </a:t>
            </a:r>
            <a:r>
              <a:rPr lang="zh-CN" altLang="en-US"/>
              <a:t>此时的流为</a:t>
            </a:r>
            <a:r>
              <a:rPr lang="zh-CN" altLang="en-US">
                <a:solidFill>
                  <a:srgbClr val="FF3300"/>
                </a:solidFill>
              </a:rPr>
              <a:t>最大流</a:t>
            </a:r>
            <a:r>
              <a:rPr lang="zh-CN" altLang="en-US"/>
              <a:t>。</a:t>
            </a:r>
          </a:p>
          <a:p>
            <a:pPr lvl="1" eaLnBrk="1" hangingPunct="1"/>
            <a:endParaRPr lang="en-US" altLang="zh-CN"/>
          </a:p>
        </p:txBody>
      </p:sp>
      <p:sp>
        <p:nvSpPr>
          <p:cNvPr id="68612" name="Oval 5">
            <a:extLst>
              <a:ext uri="{FF2B5EF4-FFF2-40B4-BE49-F238E27FC236}">
                <a16:creationId xmlns:a16="http://schemas.microsoft.com/office/drawing/2014/main" id="{B5FADF7E-4A96-40D2-BF68-D4077DA2F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19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68613" name="Oval 6">
            <a:extLst>
              <a:ext uri="{FF2B5EF4-FFF2-40B4-BE49-F238E27FC236}">
                <a16:creationId xmlns:a16="http://schemas.microsoft.com/office/drawing/2014/main" id="{6551C3F7-E7CB-4588-ABC8-ECA363F52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352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8614" name="Oval 7">
            <a:extLst>
              <a:ext uri="{FF2B5EF4-FFF2-40B4-BE49-F238E27FC236}">
                <a16:creationId xmlns:a16="http://schemas.microsoft.com/office/drawing/2014/main" id="{965867B5-A5D9-450A-A0C9-B411F6F71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8615" name="Oval 8">
            <a:extLst>
              <a:ext uri="{FF2B5EF4-FFF2-40B4-BE49-F238E27FC236}">
                <a16:creationId xmlns:a16="http://schemas.microsoft.com/office/drawing/2014/main" id="{E97B8331-DB23-4953-A641-3FB9CD15A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352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8616" name="Oval 9">
            <a:extLst>
              <a:ext uri="{FF2B5EF4-FFF2-40B4-BE49-F238E27FC236}">
                <a16:creationId xmlns:a16="http://schemas.microsoft.com/office/drawing/2014/main" id="{8A5E3E78-BF2D-4167-BC5C-6111A4AEA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486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8617" name="Oval 10">
            <a:extLst>
              <a:ext uri="{FF2B5EF4-FFF2-40B4-BE49-F238E27FC236}">
                <a16:creationId xmlns:a16="http://schemas.microsoft.com/office/drawing/2014/main" id="{B6A5812C-B968-4973-AEA3-4398DA0B6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419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68618" name="Line 11">
            <a:extLst>
              <a:ext uri="{FF2B5EF4-FFF2-40B4-BE49-F238E27FC236}">
                <a16:creationId xmlns:a16="http://schemas.microsoft.com/office/drawing/2014/main" id="{DE9593DF-BD54-4C5B-8981-626BAF149C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7338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19" name="Line 12">
            <a:extLst>
              <a:ext uri="{FF2B5EF4-FFF2-40B4-BE49-F238E27FC236}">
                <a16:creationId xmlns:a16="http://schemas.microsoft.com/office/drawing/2014/main" id="{BC2D7582-9D9E-4F91-8D55-4266C8CAE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800600"/>
            <a:ext cx="1447800" cy="838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20" name="Line 13">
            <a:extLst>
              <a:ext uri="{FF2B5EF4-FFF2-40B4-BE49-F238E27FC236}">
                <a16:creationId xmlns:a16="http://schemas.microsoft.com/office/drawing/2014/main" id="{24B31545-71B3-468D-B3C2-7F2EB31318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810000"/>
            <a:ext cx="0" cy="1676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21" name="Line 14">
            <a:extLst>
              <a:ext uri="{FF2B5EF4-FFF2-40B4-BE49-F238E27FC236}">
                <a16:creationId xmlns:a16="http://schemas.microsoft.com/office/drawing/2014/main" id="{57D67BC7-A29E-43CA-BB7D-6F478C0683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581400"/>
            <a:ext cx="17526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22" name="Line 15">
            <a:extLst>
              <a:ext uri="{FF2B5EF4-FFF2-40B4-BE49-F238E27FC236}">
                <a16:creationId xmlns:a16="http://schemas.microsoft.com/office/drawing/2014/main" id="{F40B07E7-E361-4AE2-AB40-F30DDEAD0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7150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23" name="Line 16">
            <a:extLst>
              <a:ext uri="{FF2B5EF4-FFF2-40B4-BE49-F238E27FC236}">
                <a16:creationId xmlns:a16="http://schemas.microsoft.com/office/drawing/2014/main" id="{A61BF091-5D9F-4C4E-B927-558E6C6D11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8100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24" name="Line 17">
            <a:extLst>
              <a:ext uri="{FF2B5EF4-FFF2-40B4-BE49-F238E27FC236}">
                <a16:creationId xmlns:a16="http://schemas.microsoft.com/office/drawing/2014/main" id="{5852888F-80B0-4A79-B038-77AFBA0F62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733800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25" name="Line 18">
            <a:extLst>
              <a:ext uri="{FF2B5EF4-FFF2-40B4-BE49-F238E27FC236}">
                <a16:creationId xmlns:a16="http://schemas.microsoft.com/office/drawing/2014/main" id="{5EAEB451-ABF0-4575-BCEC-36EA42AD3C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733800"/>
            <a:ext cx="1600200" cy="838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26" name="Line 19">
            <a:extLst>
              <a:ext uri="{FF2B5EF4-FFF2-40B4-BE49-F238E27FC236}">
                <a16:creationId xmlns:a16="http://schemas.microsoft.com/office/drawing/2014/main" id="{90F60E05-B498-4414-8219-26264CCB06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4800600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27" name="Text Box 20">
            <a:extLst>
              <a:ext uri="{FF2B5EF4-FFF2-40B4-BE49-F238E27FC236}">
                <a16:creationId xmlns:a16="http://schemas.microsoft.com/office/drawing/2014/main" id="{EC418BC6-ED46-4FFB-9785-12947088D3CD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828800" y="36576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8628" name="Text Box 21">
            <a:extLst>
              <a:ext uri="{FF2B5EF4-FFF2-40B4-BE49-F238E27FC236}">
                <a16:creationId xmlns:a16="http://schemas.microsoft.com/office/drawing/2014/main" id="{BF81D77F-351C-49B1-B33B-1C2E39F94932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828800" y="5181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(5,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8629" name="Text Box 22">
            <a:extLst>
              <a:ext uri="{FF2B5EF4-FFF2-40B4-BE49-F238E27FC236}">
                <a16:creationId xmlns:a16="http://schemas.microsoft.com/office/drawing/2014/main" id="{257A8579-2731-4FB9-8DBE-C7D0AC404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124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(4,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8630" name="Text Box 23">
            <a:extLst>
              <a:ext uri="{FF2B5EF4-FFF2-40B4-BE49-F238E27FC236}">
                <a16:creationId xmlns:a16="http://schemas.microsoft.com/office/drawing/2014/main" id="{436EA7B5-9E90-4AE9-9146-2EA1430DF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2</a:t>
            </a:r>
            <a:r>
              <a:rPr lang="en-US" altLang="zh-CN" sz="2400"/>
              <a:t>)</a:t>
            </a:r>
          </a:p>
        </p:txBody>
      </p:sp>
      <p:sp>
        <p:nvSpPr>
          <p:cNvPr id="68631" name="Text Box 24">
            <a:extLst>
              <a:ext uri="{FF2B5EF4-FFF2-40B4-BE49-F238E27FC236}">
                <a16:creationId xmlns:a16="http://schemas.microsoft.com/office/drawing/2014/main" id="{98D9D620-BC8C-4185-BCF8-7A6FB4D5A3BC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4038600" y="4114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8632" name="Text Box 25">
            <a:extLst>
              <a:ext uri="{FF2B5EF4-FFF2-40B4-BE49-F238E27FC236}">
                <a16:creationId xmlns:a16="http://schemas.microsoft.com/office/drawing/2014/main" id="{1B40BD8E-04D8-4182-93EF-8D412DFC2E37}"/>
              </a:ext>
            </a:extLst>
          </p:cNvPr>
          <p:cNvSpPr txBox="1">
            <a:spLocks noChangeArrowheads="1"/>
          </p:cNvSpPr>
          <p:nvPr/>
        </p:nvSpPr>
        <p:spPr bwMode="auto">
          <a:xfrm rot="1498140">
            <a:off x="6096000" y="3733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(5,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8633" name="Text Box 26">
            <a:extLst>
              <a:ext uri="{FF2B5EF4-FFF2-40B4-BE49-F238E27FC236}">
                <a16:creationId xmlns:a16="http://schemas.microsoft.com/office/drawing/2014/main" id="{16CF931F-3974-4ACD-AA6D-49B5B81A3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343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68634" name="Text Box 27">
            <a:extLst>
              <a:ext uri="{FF2B5EF4-FFF2-40B4-BE49-F238E27FC236}">
                <a16:creationId xmlns:a16="http://schemas.microsoft.com/office/drawing/2014/main" id="{AB3B6A95-4436-40B0-8EB0-D5A8804A71AA}"/>
              </a:ext>
            </a:extLst>
          </p:cNvPr>
          <p:cNvSpPr txBox="1">
            <a:spLocks noChangeArrowheads="1"/>
          </p:cNvSpPr>
          <p:nvPr/>
        </p:nvSpPr>
        <p:spPr bwMode="auto">
          <a:xfrm rot="-1604546">
            <a:off x="6248400" y="5105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8635" name="Text Box 28">
            <a:extLst>
              <a:ext uri="{FF2B5EF4-FFF2-40B4-BE49-F238E27FC236}">
                <a16:creationId xmlns:a16="http://schemas.microsoft.com/office/drawing/2014/main" id="{63B4FE3F-63D4-4951-8161-364F687B5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495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8636" name="Text Box 29">
            <a:extLst>
              <a:ext uri="{FF2B5EF4-FFF2-40B4-BE49-F238E27FC236}">
                <a16:creationId xmlns:a16="http://schemas.microsoft.com/office/drawing/2014/main" id="{8C935FF4-29A7-48F6-B80E-2D25331A1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8862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[∞,v</a:t>
            </a:r>
            <a:r>
              <a:rPr lang="en-US" altLang="zh-CN" sz="2400" baseline="-25000">
                <a:solidFill>
                  <a:srgbClr val="000099"/>
                </a:solidFill>
              </a:rPr>
              <a:t>s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68637" name="Text Box 30">
            <a:extLst>
              <a:ext uri="{FF2B5EF4-FFF2-40B4-BE49-F238E27FC236}">
                <a16:creationId xmlns:a16="http://schemas.microsoft.com/office/drawing/2014/main" id="{5C7EE604-0DB7-4ED4-AB9B-10142D30D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943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[4,v</a:t>
            </a:r>
            <a:r>
              <a:rPr lang="en-US" altLang="zh-CN" sz="2400" baseline="-25000">
                <a:solidFill>
                  <a:srgbClr val="000099"/>
                </a:solidFill>
              </a:rPr>
              <a:t>s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68638" name="Text Box 31">
            <a:extLst>
              <a:ext uri="{FF2B5EF4-FFF2-40B4-BE49-F238E27FC236}">
                <a16:creationId xmlns:a16="http://schemas.microsoft.com/office/drawing/2014/main" id="{8A1BC124-C337-482D-ADEF-2116C7819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895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[1,-v</a:t>
            </a:r>
            <a:r>
              <a:rPr lang="en-US" altLang="zh-CN" sz="2400" baseline="-25000">
                <a:solidFill>
                  <a:srgbClr val="000099"/>
                </a:solidFill>
              </a:rPr>
              <a:t>3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68639" name="Text Box 32">
            <a:extLst>
              <a:ext uri="{FF2B5EF4-FFF2-40B4-BE49-F238E27FC236}">
                <a16:creationId xmlns:a16="http://schemas.microsoft.com/office/drawing/2014/main" id="{5C5A3A5B-7412-41B4-B311-2DB7CAD36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819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[1, v</a:t>
            </a:r>
            <a:r>
              <a:rPr lang="en-US" altLang="zh-CN" sz="2400" baseline="-25000">
                <a:solidFill>
                  <a:srgbClr val="000099"/>
                </a:solidFill>
              </a:rPr>
              <a:t>2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68640" name="Text Box 33">
            <a:extLst>
              <a:ext uri="{FF2B5EF4-FFF2-40B4-BE49-F238E27FC236}">
                <a16:creationId xmlns:a16="http://schemas.microsoft.com/office/drawing/2014/main" id="{E940CE51-F020-4921-8951-9E2D33ACF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943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[1,-v</a:t>
            </a:r>
            <a:r>
              <a:rPr lang="en-US" altLang="zh-CN" sz="2400" baseline="-25000">
                <a:solidFill>
                  <a:srgbClr val="000099"/>
                </a:solidFill>
              </a:rPr>
              <a:t>2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68641" name="Text Box 34">
            <a:extLst>
              <a:ext uri="{FF2B5EF4-FFF2-40B4-BE49-F238E27FC236}">
                <a16:creationId xmlns:a16="http://schemas.microsoft.com/office/drawing/2014/main" id="{9072A927-9630-40B1-91D0-CAE12AA52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3886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[2, v</a:t>
            </a:r>
            <a:r>
              <a:rPr lang="en-US" altLang="zh-CN" sz="2400" baseline="-25000">
                <a:solidFill>
                  <a:srgbClr val="000099"/>
                </a:solidFill>
              </a:rPr>
              <a:t>4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4C05192F-EDD4-469E-83A9-F581D853BA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求最大流</a:t>
            </a:r>
            <a:r>
              <a:rPr lang="en-US" altLang="zh-CN">
                <a:latin typeface="Arial" panose="020B0604020202020204" pitchFamily="34" charset="0"/>
              </a:rPr>
              <a:t>—</a:t>
            </a:r>
            <a:r>
              <a:rPr lang="zh-CN" altLang="en-US"/>
              <a:t>标号法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1C90D3FA-FA19-40C0-A050-EEA63D09D23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458200" cy="4987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5</a:t>
            </a:r>
            <a:r>
              <a:rPr lang="zh-CN" altLang="en-US" sz="2800"/>
              <a:t>、调整：取</a:t>
            </a:r>
            <a:r>
              <a:rPr lang="zh-CN" altLang="zh-CN" sz="2800"/>
              <a:t>θ</a:t>
            </a:r>
            <a:r>
              <a:rPr lang="en-US" altLang="zh-CN" sz="2800"/>
              <a:t>=min {</a:t>
            </a:r>
            <a:r>
              <a:rPr lang="zh-CN" altLang="zh-CN" sz="2800"/>
              <a:t>θ</a:t>
            </a:r>
            <a:r>
              <a:rPr lang="en-US" altLang="zh-CN" sz="2800" baseline="-25000"/>
              <a:t>j </a:t>
            </a:r>
            <a:r>
              <a:rPr lang="en-US" altLang="zh-CN" sz="2800"/>
              <a:t>|  v</a:t>
            </a:r>
            <a:r>
              <a:rPr lang="en-US" altLang="zh-CN" sz="2800" baseline="-25000"/>
              <a:t>j</a:t>
            </a:r>
            <a:r>
              <a:rPr lang="en-US" altLang="zh-CN" sz="2800"/>
              <a:t>∈u }</a:t>
            </a:r>
          </a:p>
          <a:p>
            <a:pPr lvl="1" eaLnBrk="1" hangingPunct="1"/>
            <a:r>
              <a:rPr lang="en-US" altLang="zh-CN"/>
              <a:t>u</a:t>
            </a:r>
            <a:r>
              <a:rPr lang="en-US" altLang="zh-CN" baseline="30000"/>
              <a:t>+</a:t>
            </a:r>
            <a:r>
              <a:rPr lang="zh-CN" altLang="en-US"/>
              <a:t>中弧的流量加上 </a:t>
            </a:r>
            <a:r>
              <a:rPr lang="zh-CN" altLang="zh-CN" sz="2400"/>
              <a:t>θ</a:t>
            </a:r>
            <a:endParaRPr lang="en-US" altLang="zh-CN"/>
          </a:p>
          <a:p>
            <a:pPr lvl="1" eaLnBrk="1" hangingPunct="1"/>
            <a:r>
              <a:rPr lang="en-US" altLang="zh-CN"/>
              <a:t>u</a:t>
            </a:r>
            <a:r>
              <a:rPr lang="en-US" altLang="zh-CN" baseline="30000"/>
              <a:t>-</a:t>
            </a:r>
            <a:r>
              <a:rPr lang="zh-CN" altLang="en-US"/>
              <a:t>中弧的流量减去 </a:t>
            </a:r>
            <a:r>
              <a:rPr lang="zh-CN" altLang="zh-CN" sz="2400"/>
              <a:t>θ</a:t>
            </a:r>
            <a:endParaRPr lang="en-US" altLang="zh-CN"/>
          </a:p>
          <a:p>
            <a:pPr lvl="1" eaLnBrk="1" hangingPunct="1"/>
            <a:endParaRPr lang="en-US" altLang="zh-CN"/>
          </a:p>
        </p:txBody>
      </p:sp>
      <p:sp>
        <p:nvSpPr>
          <p:cNvPr id="69636" name="Oval 4">
            <a:extLst>
              <a:ext uri="{FF2B5EF4-FFF2-40B4-BE49-F238E27FC236}">
                <a16:creationId xmlns:a16="http://schemas.microsoft.com/office/drawing/2014/main" id="{5379780C-6E30-4792-B82B-C77BABBEA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19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69637" name="Oval 5">
            <a:extLst>
              <a:ext uri="{FF2B5EF4-FFF2-40B4-BE49-F238E27FC236}">
                <a16:creationId xmlns:a16="http://schemas.microsoft.com/office/drawing/2014/main" id="{8002A413-F5D6-41F8-B194-1030672E3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352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9638" name="Oval 6">
            <a:extLst>
              <a:ext uri="{FF2B5EF4-FFF2-40B4-BE49-F238E27FC236}">
                <a16:creationId xmlns:a16="http://schemas.microsoft.com/office/drawing/2014/main" id="{3DC26EE8-1831-4D64-AACE-A9578DB54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9639" name="Oval 7">
            <a:extLst>
              <a:ext uri="{FF2B5EF4-FFF2-40B4-BE49-F238E27FC236}">
                <a16:creationId xmlns:a16="http://schemas.microsoft.com/office/drawing/2014/main" id="{995BEA88-8256-405C-BC8D-F2A1AB5A8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352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9640" name="Oval 8">
            <a:extLst>
              <a:ext uri="{FF2B5EF4-FFF2-40B4-BE49-F238E27FC236}">
                <a16:creationId xmlns:a16="http://schemas.microsoft.com/office/drawing/2014/main" id="{CFCF265E-F8A0-4069-A340-C037BDB9F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486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9641" name="Oval 9">
            <a:extLst>
              <a:ext uri="{FF2B5EF4-FFF2-40B4-BE49-F238E27FC236}">
                <a16:creationId xmlns:a16="http://schemas.microsoft.com/office/drawing/2014/main" id="{B7E3568A-5D4A-409A-B5AC-C56DDA73E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419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69642" name="Line 10">
            <a:extLst>
              <a:ext uri="{FF2B5EF4-FFF2-40B4-BE49-F238E27FC236}">
                <a16:creationId xmlns:a16="http://schemas.microsoft.com/office/drawing/2014/main" id="{1F9D0E4B-8F2B-49DB-9B9B-5A82DCA469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7338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3" name="Line 11">
            <a:extLst>
              <a:ext uri="{FF2B5EF4-FFF2-40B4-BE49-F238E27FC236}">
                <a16:creationId xmlns:a16="http://schemas.microsoft.com/office/drawing/2014/main" id="{49A9FC00-BFEE-495A-8663-884023397D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800600"/>
            <a:ext cx="1447800" cy="838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4" name="Line 12">
            <a:extLst>
              <a:ext uri="{FF2B5EF4-FFF2-40B4-BE49-F238E27FC236}">
                <a16:creationId xmlns:a16="http://schemas.microsoft.com/office/drawing/2014/main" id="{436B90C4-C5B6-42F5-91B1-C4C634917D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810000"/>
            <a:ext cx="0" cy="1676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5" name="Line 13">
            <a:extLst>
              <a:ext uri="{FF2B5EF4-FFF2-40B4-BE49-F238E27FC236}">
                <a16:creationId xmlns:a16="http://schemas.microsoft.com/office/drawing/2014/main" id="{9105DDE4-EC7B-4FA3-AF71-548B4B29E3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581400"/>
            <a:ext cx="17526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6" name="Line 14">
            <a:extLst>
              <a:ext uri="{FF2B5EF4-FFF2-40B4-BE49-F238E27FC236}">
                <a16:creationId xmlns:a16="http://schemas.microsoft.com/office/drawing/2014/main" id="{4C771047-A4E3-4BDC-BB2F-BC6537FA79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7150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7" name="Line 15">
            <a:extLst>
              <a:ext uri="{FF2B5EF4-FFF2-40B4-BE49-F238E27FC236}">
                <a16:creationId xmlns:a16="http://schemas.microsoft.com/office/drawing/2014/main" id="{E2916BA7-7B75-484B-9CCF-09C89119A5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8100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8" name="Line 16">
            <a:extLst>
              <a:ext uri="{FF2B5EF4-FFF2-40B4-BE49-F238E27FC236}">
                <a16:creationId xmlns:a16="http://schemas.microsoft.com/office/drawing/2014/main" id="{D56F5712-E82F-4112-A740-53D0F43CB2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733800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9" name="Line 17">
            <a:extLst>
              <a:ext uri="{FF2B5EF4-FFF2-40B4-BE49-F238E27FC236}">
                <a16:creationId xmlns:a16="http://schemas.microsoft.com/office/drawing/2014/main" id="{DE1099BC-5A84-4BA6-AD45-2BFF996DC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733800"/>
            <a:ext cx="1600200" cy="838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50" name="Line 18">
            <a:extLst>
              <a:ext uri="{FF2B5EF4-FFF2-40B4-BE49-F238E27FC236}">
                <a16:creationId xmlns:a16="http://schemas.microsoft.com/office/drawing/2014/main" id="{6D5C09F2-2246-4A75-A325-F7293A9189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4800600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51" name="Text Box 19">
            <a:extLst>
              <a:ext uri="{FF2B5EF4-FFF2-40B4-BE49-F238E27FC236}">
                <a16:creationId xmlns:a16="http://schemas.microsoft.com/office/drawing/2014/main" id="{837D9AB1-48E1-4090-BC0A-E11CB5D2E721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828800" y="36576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9652" name="Text Box 20">
            <a:extLst>
              <a:ext uri="{FF2B5EF4-FFF2-40B4-BE49-F238E27FC236}">
                <a16:creationId xmlns:a16="http://schemas.microsoft.com/office/drawing/2014/main" id="{F527B6CC-40C8-4A03-8D6E-EB78395C57EA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828800" y="5181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(5,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9653" name="Text Box 21">
            <a:extLst>
              <a:ext uri="{FF2B5EF4-FFF2-40B4-BE49-F238E27FC236}">
                <a16:creationId xmlns:a16="http://schemas.microsoft.com/office/drawing/2014/main" id="{85C5933B-E9F4-4488-A67F-E100FA8CA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124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(4,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9654" name="Text Box 22">
            <a:extLst>
              <a:ext uri="{FF2B5EF4-FFF2-40B4-BE49-F238E27FC236}">
                <a16:creationId xmlns:a16="http://schemas.microsoft.com/office/drawing/2014/main" id="{ED032025-09B0-497E-AAD1-84D76635B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2</a:t>
            </a:r>
            <a:r>
              <a:rPr lang="en-US" altLang="zh-CN" sz="2400"/>
              <a:t>)</a:t>
            </a:r>
          </a:p>
        </p:txBody>
      </p:sp>
      <p:sp>
        <p:nvSpPr>
          <p:cNvPr id="69655" name="Text Box 23">
            <a:extLst>
              <a:ext uri="{FF2B5EF4-FFF2-40B4-BE49-F238E27FC236}">
                <a16:creationId xmlns:a16="http://schemas.microsoft.com/office/drawing/2014/main" id="{E5849FD5-C3F9-428F-89C2-ABE1B7AAFF3C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4038600" y="4114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9656" name="Text Box 24">
            <a:extLst>
              <a:ext uri="{FF2B5EF4-FFF2-40B4-BE49-F238E27FC236}">
                <a16:creationId xmlns:a16="http://schemas.microsoft.com/office/drawing/2014/main" id="{A14096DD-8FBE-4BF2-AD6E-80FB6C47E73E}"/>
              </a:ext>
            </a:extLst>
          </p:cNvPr>
          <p:cNvSpPr txBox="1">
            <a:spLocks noChangeArrowheads="1"/>
          </p:cNvSpPr>
          <p:nvPr/>
        </p:nvSpPr>
        <p:spPr bwMode="auto">
          <a:xfrm rot="1498140">
            <a:off x="6096000" y="3733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(5,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69657" name="Text Box 25">
            <a:extLst>
              <a:ext uri="{FF2B5EF4-FFF2-40B4-BE49-F238E27FC236}">
                <a16:creationId xmlns:a16="http://schemas.microsoft.com/office/drawing/2014/main" id="{0E2F6477-59B1-434B-9AFC-044DD0146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343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69658" name="Text Box 26">
            <a:extLst>
              <a:ext uri="{FF2B5EF4-FFF2-40B4-BE49-F238E27FC236}">
                <a16:creationId xmlns:a16="http://schemas.microsoft.com/office/drawing/2014/main" id="{61A1D4EB-9636-4C0A-BBFD-745F322865F2}"/>
              </a:ext>
            </a:extLst>
          </p:cNvPr>
          <p:cNvSpPr txBox="1">
            <a:spLocks noChangeArrowheads="1"/>
          </p:cNvSpPr>
          <p:nvPr/>
        </p:nvSpPr>
        <p:spPr bwMode="auto">
          <a:xfrm rot="-1604546">
            <a:off x="6248400" y="5105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9659" name="Text Box 27">
            <a:extLst>
              <a:ext uri="{FF2B5EF4-FFF2-40B4-BE49-F238E27FC236}">
                <a16:creationId xmlns:a16="http://schemas.microsoft.com/office/drawing/2014/main" id="{80B26F9B-3D56-4375-8ABE-504A7EC94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495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69660" name="Text Box 28">
            <a:extLst>
              <a:ext uri="{FF2B5EF4-FFF2-40B4-BE49-F238E27FC236}">
                <a16:creationId xmlns:a16="http://schemas.microsoft.com/office/drawing/2014/main" id="{7C162855-2C18-4ECA-8C7E-BAE4A96D8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8862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[∞,v</a:t>
            </a:r>
            <a:r>
              <a:rPr lang="en-US" altLang="zh-CN" sz="2400" baseline="-25000">
                <a:solidFill>
                  <a:srgbClr val="000099"/>
                </a:solidFill>
              </a:rPr>
              <a:t>s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69661" name="Text Box 29">
            <a:extLst>
              <a:ext uri="{FF2B5EF4-FFF2-40B4-BE49-F238E27FC236}">
                <a16:creationId xmlns:a16="http://schemas.microsoft.com/office/drawing/2014/main" id="{6C5DFB66-51EC-44C0-9ADC-764C1732D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943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[4,v</a:t>
            </a:r>
            <a:r>
              <a:rPr lang="en-US" altLang="zh-CN" sz="2400" baseline="-25000">
                <a:solidFill>
                  <a:srgbClr val="000099"/>
                </a:solidFill>
              </a:rPr>
              <a:t>s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69662" name="Text Box 30">
            <a:extLst>
              <a:ext uri="{FF2B5EF4-FFF2-40B4-BE49-F238E27FC236}">
                <a16:creationId xmlns:a16="http://schemas.microsoft.com/office/drawing/2014/main" id="{48258D8A-631C-4D8A-A323-57C8278CB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895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[1,-v</a:t>
            </a:r>
            <a:r>
              <a:rPr lang="en-US" altLang="zh-CN" sz="2400" baseline="-25000">
                <a:solidFill>
                  <a:srgbClr val="000099"/>
                </a:solidFill>
              </a:rPr>
              <a:t>3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69663" name="Text Box 31">
            <a:extLst>
              <a:ext uri="{FF2B5EF4-FFF2-40B4-BE49-F238E27FC236}">
                <a16:creationId xmlns:a16="http://schemas.microsoft.com/office/drawing/2014/main" id="{FA528EDB-4CB9-4503-8EDA-FF950C7F9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819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[1, v</a:t>
            </a:r>
            <a:r>
              <a:rPr lang="en-US" altLang="zh-CN" sz="2400" baseline="-25000">
                <a:solidFill>
                  <a:srgbClr val="000099"/>
                </a:solidFill>
              </a:rPr>
              <a:t>2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69664" name="Text Box 32">
            <a:extLst>
              <a:ext uri="{FF2B5EF4-FFF2-40B4-BE49-F238E27FC236}">
                <a16:creationId xmlns:a16="http://schemas.microsoft.com/office/drawing/2014/main" id="{BAB1FD34-72E7-46EB-8EAE-A01AEFB79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943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[1,-v</a:t>
            </a:r>
            <a:r>
              <a:rPr lang="en-US" altLang="zh-CN" sz="2400" baseline="-25000">
                <a:solidFill>
                  <a:srgbClr val="000099"/>
                </a:solidFill>
              </a:rPr>
              <a:t>2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69665" name="Text Box 33">
            <a:extLst>
              <a:ext uri="{FF2B5EF4-FFF2-40B4-BE49-F238E27FC236}">
                <a16:creationId xmlns:a16="http://schemas.microsoft.com/office/drawing/2014/main" id="{411B0713-C32F-4BAB-AABC-0058E743A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3886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[2, v</a:t>
            </a:r>
            <a:r>
              <a:rPr lang="en-US" altLang="zh-CN" sz="2400" baseline="-25000">
                <a:solidFill>
                  <a:srgbClr val="000099"/>
                </a:solidFill>
              </a:rPr>
              <a:t>4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</p:spTree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D2C7705A-ABCA-4A54-8024-72150EE923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求最大流</a:t>
            </a:r>
            <a:r>
              <a:rPr lang="en-US" altLang="zh-CN">
                <a:latin typeface="Arial" panose="020B0604020202020204" pitchFamily="34" charset="0"/>
              </a:rPr>
              <a:t>—</a:t>
            </a:r>
            <a:r>
              <a:rPr lang="zh-CN" altLang="en-US"/>
              <a:t>标号法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CFAC2F9D-E1D2-4C10-AA7C-0FBBE695643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458200" cy="4987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5</a:t>
            </a:r>
            <a:r>
              <a:rPr lang="zh-CN" altLang="en-US" sz="2800"/>
              <a:t>、调整：取</a:t>
            </a:r>
            <a:r>
              <a:rPr lang="zh-CN" altLang="zh-CN" sz="2800"/>
              <a:t>θ</a:t>
            </a:r>
            <a:r>
              <a:rPr lang="en-US" altLang="zh-CN" sz="2800"/>
              <a:t>=min {</a:t>
            </a:r>
            <a:r>
              <a:rPr lang="zh-CN" altLang="zh-CN" sz="2800"/>
              <a:t>θ</a:t>
            </a:r>
            <a:r>
              <a:rPr lang="en-US" altLang="zh-CN" sz="2800" baseline="-25000"/>
              <a:t>j </a:t>
            </a:r>
            <a:r>
              <a:rPr lang="en-US" altLang="zh-CN" sz="2800"/>
              <a:t>|  v</a:t>
            </a:r>
            <a:r>
              <a:rPr lang="en-US" altLang="zh-CN" sz="2800" baseline="-25000"/>
              <a:t>j</a:t>
            </a:r>
            <a:r>
              <a:rPr lang="en-US" altLang="zh-CN" sz="2800"/>
              <a:t>∈u }</a:t>
            </a:r>
          </a:p>
          <a:p>
            <a:pPr lvl="1" eaLnBrk="1" hangingPunct="1"/>
            <a:r>
              <a:rPr lang="en-US" altLang="zh-CN"/>
              <a:t>u</a:t>
            </a:r>
            <a:r>
              <a:rPr lang="en-US" altLang="zh-CN" baseline="30000"/>
              <a:t>+</a:t>
            </a:r>
            <a:r>
              <a:rPr lang="zh-CN" altLang="en-US"/>
              <a:t>中弧的流量加上 </a:t>
            </a:r>
            <a:r>
              <a:rPr lang="zh-CN" altLang="zh-CN"/>
              <a:t>θ</a:t>
            </a:r>
            <a:endParaRPr lang="en-US" altLang="zh-CN"/>
          </a:p>
          <a:p>
            <a:pPr lvl="1" eaLnBrk="1" hangingPunct="1"/>
            <a:r>
              <a:rPr lang="en-US" altLang="zh-CN"/>
              <a:t>u</a:t>
            </a:r>
            <a:r>
              <a:rPr lang="en-US" altLang="zh-CN" baseline="30000"/>
              <a:t>-</a:t>
            </a:r>
            <a:r>
              <a:rPr lang="zh-CN" altLang="en-US"/>
              <a:t>中弧的流量减去 </a:t>
            </a:r>
            <a:r>
              <a:rPr lang="zh-CN" altLang="zh-CN"/>
              <a:t>θ</a:t>
            </a:r>
            <a:endParaRPr lang="en-US" altLang="zh-CN"/>
          </a:p>
          <a:p>
            <a:pPr lvl="1" eaLnBrk="1" hangingPunct="1"/>
            <a:endParaRPr lang="en-US" altLang="zh-CN"/>
          </a:p>
        </p:txBody>
      </p:sp>
      <p:sp>
        <p:nvSpPr>
          <p:cNvPr id="70660" name="Oval 4">
            <a:extLst>
              <a:ext uri="{FF2B5EF4-FFF2-40B4-BE49-F238E27FC236}">
                <a16:creationId xmlns:a16="http://schemas.microsoft.com/office/drawing/2014/main" id="{0D474307-FC16-44CF-94A7-560A7FC38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19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70661" name="Oval 5">
            <a:extLst>
              <a:ext uri="{FF2B5EF4-FFF2-40B4-BE49-F238E27FC236}">
                <a16:creationId xmlns:a16="http://schemas.microsoft.com/office/drawing/2014/main" id="{8BA21DAB-FA0D-4262-9F02-AF6F494DB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352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0662" name="Oval 6">
            <a:extLst>
              <a:ext uri="{FF2B5EF4-FFF2-40B4-BE49-F238E27FC236}">
                <a16:creationId xmlns:a16="http://schemas.microsoft.com/office/drawing/2014/main" id="{E1AA0C88-CC5A-40BC-9D4B-A127A115D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0663" name="Oval 7">
            <a:extLst>
              <a:ext uri="{FF2B5EF4-FFF2-40B4-BE49-F238E27FC236}">
                <a16:creationId xmlns:a16="http://schemas.microsoft.com/office/drawing/2014/main" id="{AA34D9AC-D720-4A09-B999-ADE03CC8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352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70664" name="Oval 8">
            <a:extLst>
              <a:ext uri="{FF2B5EF4-FFF2-40B4-BE49-F238E27FC236}">
                <a16:creationId xmlns:a16="http://schemas.microsoft.com/office/drawing/2014/main" id="{7C6C7B1D-3547-4B3B-8946-4741A5B90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486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70665" name="Oval 9">
            <a:extLst>
              <a:ext uri="{FF2B5EF4-FFF2-40B4-BE49-F238E27FC236}">
                <a16:creationId xmlns:a16="http://schemas.microsoft.com/office/drawing/2014/main" id="{09714FCC-D02E-4A16-B1CB-5D1FA710E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419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70666" name="Line 10">
            <a:extLst>
              <a:ext uri="{FF2B5EF4-FFF2-40B4-BE49-F238E27FC236}">
                <a16:creationId xmlns:a16="http://schemas.microsoft.com/office/drawing/2014/main" id="{59F62731-ADD8-496F-9FAB-C27C284B07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7338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7" name="Line 11">
            <a:extLst>
              <a:ext uri="{FF2B5EF4-FFF2-40B4-BE49-F238E27FC236}">
                <a16:creationId xmlns:a16="http://schemas.microsoft.com/office/drawing/2014/main" id="{1C53EF25-B5E3-4854-98BB-F7A48FCF5D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800600"/>
            <a:ext cx="1447800" cy="838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8" name="Line 12">
            <a:extLst>
              <a:ext uri="{FF2B5EF4-FFF2-40B4-BE49-F238E27FC236}">
                <a16:creationId xmlns:a16="http://schemas.microsoft.com/office/drawing/2014/main" id="{4995A26D-1497-484C-B420-D640B110E1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810000"/>
            <a:ext cx="0" cy="1676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9" name="Line 13">
            <a:extLst>
              <a:ext uri="{FF2B5EF4-FFF2-40B4-BE49-F238E27FC236}">
                <a16:creationId xmlns:a16="http://schemas.microsoft.com/office/drawing/2014/main" id="{2DCA43E5-F364-4ED2-9F09-343380E461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581400"/>
            <a:ext cx="17526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70" name="Line 14">
            <a:extLst>
              <a:ext uri="{FF2B5EF4-FFF2-40B4-BE49-F238E27FC236}">
                <a16:creationId xmlns:a16="http://schemas.microsoft.com/office/drawing/2014/main" id="{BE761566-6387-4925-9A9A-EC04353DF6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7150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71" name="Line 15">
            <a:extLst>
              <a:ext uri="{FF2B5EF4-FFF2-40B4-BE49-F238E27FC236}">
                <a16:creationId xmlns:a16="http://schemas.microsoft.com/office/drawing/2014/main" id="{8D0589D8-E03B-4DAE-842E-898009FC59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8100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72" name="Line 16">
            <a:extLst>
              <a:ext uri="{FF2B5EF4-FFF2-40B4-BE49-F238E27FC236}">
                <a16:creationId xmlns:a16="http://schemas.microsoft.com/office/drawing/2014/main" id="{65956D62-1F07-47F6-855D-864F18A602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733800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73" name="Line 17">
            <a:extLst>
              <a:ext uri="{FF2B5EF4-FFF2-40B4-BE49-F238E27FC236}">
                <a16:creationId xmlns:a16="http://schemas.microsoft.com/office/drawing/2014/main" id="{D182469C-A60A-4F5B-9383-DF8B5C207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733800"/>
            <a:ext cx="1600200" cy="838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74" name="Line 18">
            <a:extLst>
              <a:ext uri="{FF2B5EF4-FFF2-40B4-BE49-F238E27FC236}">
                <a16:creationId xmlns:a16="http://schemas.microsoft.com/office/drawing/2014/main" id="{625274C1-48CB-4AB1-BC19-D75806A2D8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4800600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75" name="Text Box 19">
            <a:extLst>
              <a:ext uri="{FF2B5EF4-FFF2-40B4-BE49-F238E27FC236}">
                <a16:creationId xmlns:a16="http://schemas.microsoft.com/office/drawing/2014/main" id="{5D0766E6-9FE9-4616-BA29-A5F48F4FD42C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828800" y="36576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70676" name="Text Box 20">
            <a:extLst>
              <a:ext uri="{FF2B5EF4-FFF2-40B4-BE49-F238E27FC236}">
                <a16:creationId xmlns:a16="http://schemas.microsoft.com/office/drawing/2014/main" id="{BE9841CE-F70F-4B6B-AE04-8F150DB110C6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828800" y="5181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(5, </a:t>
            </a:r>
            <a:r>
              <a:rPr lang="en-US" altLang="zh-CN" sz="2400">
                <a:solidFill>
                  <a:srgbClr val="FF3300"/>
                </a:solidFill>
              </a:rPr>
              <a:t>2</a:t>
            </a:r>
            <a:r>
              <a:rPr lang="en-US" altLang="zh-CN" sz="2400"/>
              <a:t>)</a:t>
            </a:r>
          </a:p>
        </p:txBody>
      </p:sp>
      <p:sp>
        <p:nvSpPr>
          <p:cNvPr id="70677" name="Text Box 21">
            <a:extLst>
              <a:ext uri="{FF2B5EF4-FFF2-40B4-BE49-F238E27FC236}">
                <a16:creationId xmlns:a16="http://schemas.microsoft.com/office/drawing/2014/main" id="{D456E378-57AE-4FE1-B800-16978C208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124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(4, </a:t>
            </a:r>
            <a:r>
              <a:rPr lang="en-US" altLang="zh-CN" sz="2400">
                <a:solidFill>
                  <a:srgbClr val="FF3300"/>
                </a:solidFill>
              </a:rPr>
              <a:t>4</a:t>
            </a:r>
            <a:r>
              <a:rPr lang="en-US" altLang="zh-CN" sz="2400"/>
              <a:t>)</a:t>
            </a:r>
          </a:p>
        </p:txBody>
      </p:sp>
      <p:sp>
        <p:nvSpPr>
          <p:cNvPr id="70678" name="Text Box 22">
            <a:extLst>
              <a:ext uri="{FF2B5EF4-FFF2-40B4-BE49-F238E27FC236}">
                <a16:creationId xmlns:a16="http://schemas.microsoft.com/office/drawing/2014/main" id="{81632C51-FD48-4AF7-8E86-F9467BC10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2</a:t>
            </a:r>
            <a:r>
              <a:rPr lang="en-US" altLang="zh-CN" sz="2400"/>
              <a:t>)</a:t>
            </a:r>
          </a:p>
        </p:txBody>
      </p:sp>
      <p:sp>
        <p:nvSpPr>
          <p:cNvPr id="70679" name="Text Box 23">
            <a:extLst>
              <a:ext uri="{FF2B5EF4-FFF2-40B4-BE49-F238E27FC236}">
                <a16:creationId xmlns:a16="http://schemas.microsoft.com/office/drawing/2014/main" id="{1CE3DB06-D953-4A26-8B69-0610E8D56AC1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4038600" y="4114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70680" name="Text Box 24">
            <a:extLst>
              <a:ext uri="{FF2B5EF4-FFF2-40B4-BE49-F238E27FC236}">
                <a16:creationId xmlns:a16="http://schemas.microsoft.com/office/drawing/2014/main" id="{A58EB7B6-C36D-4F40-9E28-EB016EAD29D0}"/>
              </a:ext>
            </a:extLst>
          </p:cNvPr>
          <p:cNvSpPr txBox="1">
            <a:spLocks noChangeArrowheads="1"/>
          </p:cNvSpPr>
          <p:nvPr/>
        </p:nvSpPr>
        <p:spPr bwMode="auto">
          <a:xfrm rot="1498140">
            <a:off x="6096000" y="3733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(5, </a:t>
            </a:r>
            <a:r>
              <a:rPr lang="en-US" altLang="zh-CN" sz="2400">
                <a:solidFill>
                  <a:srgbClr val="FF3300"/>
                </a:solidFill>
              </a:rPr>
              <a:t>4</a:t>
            </a:r>
            <a:r>
              <a:rPr lang="en-US" altLang="zh-CN" sz="2400"/>
              <a:t>)</a:t>
            </a:r>
          </a:p>
        </p:txBody>
      </p:sp>
      <p:sp>
        <p:nvSpPr>
          <p:cNvPr id="70681" name="Text Box 25">
            <a:extLst>
              <a:ext uri="{FF2B5EF4-FFF2-40B4-BE49-F238E27FC236}">
                <a16:creationId xmlns:a16="http://schemas.microsoft.com/office/drawing/2014/main" id="{C7F562FC-DC29-439B-8A08-A32393824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343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70682" name="Text Box 26">
            <a:extLst>
              <a:ext uri="{FF2B5EF4-FFF2-40B4-BE49-F238E27FC236}">
                <a16:creationId xmlns:a16="http://schemas.microsoft.com/office/drawing/2014/main" id="{9B1D9C4C-74D7-4D1C-B0F9-B5930BEB7E68}"/>
              </a:ext>
            </a:extLst>
          </p:cNvPr>
          <p:cNvSpPr txBox="1">
            <a:spLocks noChangeArrowheads="1"/>
          </p:cNvSpPr>
          <p:nvPr/>
        </p:nvSpPr>
        <p:spPr bwMode="auto">
          <a:xfrm rot="-1604546">
            <a:off x="6248400" y="5105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70683" name="Text Box 27">
            <a:extLst>
              <a:ext uri="{FF2B5EF4-FFF2-40B4-BE49-F238E27FC236}">
                <a16:creationId xmlns:a16="http://schemas.microsoft.com/office/drawing/2014/main" id="{5070B99F-7375-4115-815F-57FCC00FE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495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70684" name="Text Box 28">
            <a:extLst>
              <a:ext uri="{FF2B5EF4-FFF2-40B4-BE49-F238E27FC236}">
                <a16:creationId xmlns:a16="http://schemas.microsoft.com/office/drawing/2014/main" id="{2E148B28-D255-4ADB-9844-DD2D6F179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8862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[∞,v</a:t>
            </a:r>
            <a:r>
              <a:rPr lang="en-US" altLang="zh-CN" sz="2400" baseline="-25000">
                <a:solidFill>
                  <a:srgbClr val="000099"/>
                </a:solidFill>
              </a:rPr>
              <a:t>s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70685" name="Text Box 29">
            <a:extLst>
              <a:ext uri="{FF2B5EF4-FFF2-40B4-BE49-F238E27FC236}">
                <a16:creationId xmlns:a16="http://schemas.microsoft.com/office/drawing/2014/main" id="{8EAC5D7A-362D-483B-949F-6CA8CC42F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943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[4,v</a:t>
            </a:r>
            <a:r>
              <a:rPr lang="en-US" altLang="zh-CN" sz="2400" baseline="-25000">
                <a:solidFill>
                  <a:srgbClr val="000099"/>
                </a:solidFill>
              </a:rPr>
              <a:t>s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70686" name="Text Box 30">
            <a:extLst>
              <a:ext uri="{FF2B5EF4-FFF2-40B4-BE49-F238E27FC236}">
                <a16:creationId xmlns:a16="http://schemas.microsoft.com/office/drawing/2014/main" id="{B6B3ED33-6A3D-4FB3-832C-0DCCB030B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895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[1,-v</a:t>
            </a:r>
            <a:r>
              <a:rPr lang="en-US" altLang="zh-CN" sz="2400" baseline="-25000">
                <a:solidFill>
                  <a:srgbClr val="000099"/>
                </a:solidFill>
              </a:rPr>
              <a:t>3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70687" name="Text Box 31">
            <a:extLst>
              <a:ext uri="{FF2B5EF4-FFF2-40B4-BE49-F238E27FC236}">
                <a16:creationId xmlns:a16="http://schemas.microsoft.com/office/drawing/2014/main" id="{4B65B160-12F5-4C1F-A4AD-ADA95BB8D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819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[1, v</a:t>
            </a:r>
            <a:r>
              <a:rPr lang="en-US" altLang="zh-CN" sz="2400" baseline="-25000">
                <a:solidFill>
                  <a:srgbClr val="000099"/>
                </a:solidFill>
              </a:rPr>
              <a:t>2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70688" name="Text Box 32">
            <a:extLst>
              <a:ext uri="{FF2B5EF4-FFF2-40B4-BE49-F238E27FC236}">
                <a16:creationId xmlns:a16="http://schemas.microsoft.com/office/drawing/2014/main" id="{D482FBCD-8C23-4C39-9D6D-BBFDE5FEF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943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[1,-v</a:t>
            </a:r>
            <a:r>
              <a:rPr lang="en-US" altLang="zh-CN" sz="2400" baseline="-25000">
                <a:solidFill>
                  <a:srgbClr val="000099"/>
                </a:solidFill>
              </a:rPr>
              <a:t>2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70689" name="Text Box 33">
            <a:extLst>
              <a:ext uri="{FF2B5EF4-FFF2-40B4-BE49-F238E27FC236}">
                <a16:creationId xmlns:a16="http://schemas.microsoft.com/office/drawing/2014/main" id="{E06DC5FB-F3EB-442F-BE6D-E7F977C70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3886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[2, v</a:t>
            </a:r>
            <a:r>
              <a:rPr lang="en-US" altLang="zh-CN" sz="2400" baseline="-25000">
                <a:solidFill>
                  <a:srgbClr val="000099"/>
                </a:solidFill>
              </a:rPr>
              <a:t>4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</p:spTree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Oval 34">
            <a:extLst>
              <a:ext uri="{FF2B5EF4-FFF2-40B4-BE49-F238E27FC236}">
                <a16:creationId xmlns:a16="http://schemas.microsoft.com/office/drawing/2014/main" id="{214D2646-517C-43A0-830F-A5D5F1BEE352}"/>
              </a:ext>
            </a:extLst>
          </p:cNvPr>
          <p:cNvSpPr>
            <a:spLocks noChangeArrowheads="1"/>
          </p:cNvSpPr>
          <p:nvPr/>
        </p:nvSpPr>
        <p:spPr bwMode="auto">
          <a:xfrm rot="2015731">
            <a:off x="914400" y="4572000"/>
            <a:ext cx="2971800" cy="12192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BE9323A7-FE5E-440F-8475-7B7D36D6B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求最大流</a:t>
            </a:r>
            <a:r>
              <a:rPr lang="en-US" altLang="zh-CN">
                <a:latin typeface="Arial" panose="020B0604020202020204" pitchFamily="34" charset="0"/>
              </a:rPr>
              <a:t>—</a:t>
            </a:r>
            <a:r>
              <a:rPr lang="zh-CN" altLang="en-US"/>
              <a:t>标号法</a:t>
            </a:r>
          </a:p>
        </p:txBody>
      </p:sp>
      <p:sp>
        <p:nvSpPr>
          <p:cNvPr id="277507" name="Rectangle 3">
            <a:extLst>
              <a:ext uri="{FF2B5EF4-FFF2-40B4-BE49-F238E27FC236}">
                <a16:creationId xmlns:a16="http://schemas.microsoft.com/office/drawing/2014/main" id="{CDF09375-1EDF-4552-9D48-22FF50643BB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458200" cy="4987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6</a:t>
            </a:r>
            <a:r>
              <a:rPr lang="zh-CN" altLang="en-US" sz="2800"/>
              <a:t>、对于得到的新流，重复</a:t>
            </a:r>
            <a:r>
              <a:rPr lang="en-US" altLang="zh-CN" sz="2800"/>
              <a:t>1-5</a:t>
            </a:r>
          </a:p>
          <a:p>
            <a:pPr lvl="1" eaLnBrk="1" hangingPunct="1"/>
            <a:r>
              <a:rPr lang="zh-CN" altLang="en-US" sz="2400"/>
              <a:t>例：标号无法进行，当前为最大流</a:t>
            </a:r>
          </a:p>
          <a:p>
            <a:pPr lvl="1" eaLnBrk="1" hangingPunct="1"/>
            <a:r>
              <a:rPr lang="zh-CN" altLang="en-US" sz="2400"/>
              <a:t>最大流量为</a:t>
            </a:r>
            <a:r>
              <a:rPr lang="en-US" altLang="zh-CN" sz="2400"/>
              <a:t>5</a:t>
            </a:r>
            <a:r>
              <a:rPr lang="zh-CN" altLang="en-US" sz="2400"/>
              <a:t>；最小截集为</a:t>
            </a:r>
            <a:r>
              <a:rPr lang="en-US" altLang="zh-CN" sz="2400"/>
              <a:t>{ (v</a:t>
            </a:r>
            <a:r>
              <a:rPr lang="en-US" altLang="zh-CN" sz="2400" baseline="-25000"/>
              <a:t>s</a:t>
            </a:r>
            <a:r>
              <a:rPr lang="en-US" altLang="zh-CN" sz="2400"/>
              <a:t>,v</a:t>
            </a:r>
            <a:r>
              <a:rPr lang="en-US" altLang="zh-CN" sz="2400" baseline="-25000"/>
              <a:t>2</a:t>
            </a:r>
            <a:r>
              <a:rPr lang="en-US" altLang="zh-CN" sz="2400"/>
              <a:t>),  (v</a:t>
            </a:r>
            <a:r>
              <a:rPr lang="en-US" altLang="zh-CN" sz="2400" baseline="-25000"/>
              <a:t>3</a:t>
            </a:r>
            <a:r>
              <a:rPr lang="en-US" altLang="zh-CN" sz="2400"/>
              <a:t>,v</a:t>
            </a:r>
            <a:r>
              <a:rPr lang="en-US" altLang="zh-CN" sz="2400" baseline="-25000"/>
              <a:t>5</a:t>
            </a:r>
            <a:r>
              <a:rPr lang="en-US" altLang="zh-CN" sz="2400"/>
              <a:t>) }</a:t>
            </a:r>
          </a:p>
          <a:p>
            <a:pPr lvl="1" eaLnBrk="1" hangingPunct="1"/>
            <a:endParaRPr lang="en-US" altLang="zh-CN" sz="2400"/>
          </a:p>
          <a:p>
            <a:pPr lvl="1" eaLnBrk="1" hangingPunct="1"/>
            <a:endParaRPr lang="en-US" altLang="zh-CN"/>
          </a:p>
        </p:txBody>
      </p:sp>
      <p:sp>
        <p:nvSpPr>
          <p:cNvPr id="71685" name="Oval 4">
            <a:extLst>
              <a:ext uri="{FF2B5EF4-FFF2-40B4-BE49-F238E27FC236}">
                <a16:creationId xmlns:a16="http://schemas.microsoft.com/office/drawing/2014/main" id="{06C28EAE-6775-4764-910E-973331D73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19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71686" name="Oval 5">
            <a:extLst>
              <a:ext uri="{FF2B5EF4-FFF2-40B4-BE49-F238E27FC236}">
                <a16:creationId xmlns:a16="http://schemas.microsoft.com/office/drawing/2014/main" id="{9D560D8D-D513-4150-8902-9DA4EE843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352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1687" name="Oval 6">
            <a:extLst>
              <a:ext uri="{FF2B5EF4-FFF2-40B4-BE49-F238E27FC236}">
                <a16:creationId xmlns:a16="http://schemas.microsoft.com/office/drawing/2014/main" id="{03A0A7B3-F5A4-492A-9E83-BF379B56E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1688" name="Oval 7">
            <a:extLst>
              <a:ext uri="{FF2B5EF4-FFF2-40B4-BE49-F238E27FC236}">
                <a16:creationId xmlns:a16="http://schemas.microsoft.com/office/drawing/2014/main" id="{1BA527F4-2D75-482D-8977-939ED87D2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3528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71689" name="Oval 8">
            <a:extLst>
              <a:ext uri="{FF2B5EF4-FFF2-40B4-BE49-F238E27FC236}">
                <a16:creationId xmlns:a16="http://schemas.microsoft.com/office/drawing/2014/main" id="{BD5E31CB-9FC6-4C9A-9526-6E8B9FB30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4864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71690" name="Oval 9">
            <a:extLst>
              <a:ext uri="{FF2B5EF4-FFF2-40B4-BE49-F238E27FC236}">
                <a16:creationId xmlns:a16="http://schemas.microsoft.com/office/drawing/2014/main" id="{81E4F545-9F6F-49F0-99C1-8303AB72C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419600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71691" name="Line 10">
            <a:extLst>
              <a:ext uri="{FF2B5EF4-FFF2-40B4-BE49-F238E27FC236}">
                <a16:creationId xmlns:a16="http://schemas.microsoft.com/office/drawing/2014/main" id="{27C8980B-A9E0-4314-A874-E1EC79B6D9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7338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2" name="Line 11">
            <a:extLst>
              <a:ext uri="{FF2B5EF4-FFF2-40B4-BE49-F238E27FC236}">
                <a16:creationId xmlns:a16="http://schemas.microsoft.com/office/drawing/2014/main" id="{BF37ACBC-2B72-4976-878D-13863E65DF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800600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3" name="Line 12">
            <a:extLst>
              <a:ext uri="{FF2B5EF4-FFF2-40B4-BE49-F238E27FC236}">
                <a16:creationId xmlns:a16="http://schemas.microsoft.com/office/drawing/2014/main" id="{584A0F44-0DF0-4847-B279-16227E337F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8100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4" name="Line 13">
            <a:extLst>
              <a:ext uri="{FF2B5EF4-FFF2-40B4-BE49-F238E27FC236}">
                <a16:creationId xmlns:a16="http://schemas.microsoft.com/office/drawing/2014/main" id="{BC2D388B-286E-4117-8884-1A0B5A81C3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5814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5" name="Line 14">
            <a:extLst>
              <a:ext uri="{FF2B5EF4-FFF2-40B4-BE49-F238E27FC236}">
                <a16:creationId xmlns:a16="http://schemas.microsoft.com/office/drawing/2014/main" id="{4179AEC7-7705-4E8E-8F06-C33064861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7150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6" name="Line 15">
            <a:extLst>
              <a:ext uri="{FF2B5EF4-FFF2-40B4-BE49-F238E27FC236}">
                <a16:creationId xmlns:a16="http://schemas.microsoft.com/office/drawing/2014/main" id="{919B1190-A7D2-4CA7-A47A-60301CAAE6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8100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7" name="Line 16">
            <a:extLst>
              <a:ext uri="{FF2B5EF4-FFF2-40B4-BE49-F238E27FC236}">
                <a16:creationId xmlns:a16="http://schemas.microsoft.com/office/drawing/2014/main" id="{E7A29B2A-9D5D-42F0-BA7A-689EEB28D2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733800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8" name="Line 17">
            <a:extLst>
              <a:ext uri="{FF2B5EF4-FFF2-40B4-BE49-F238E27FC236}">
                <a16:creationId xmlns:a16="http://schemas.microsoft.com/office/drawing/2014/main" id="{684A7EB6-02C1-487E-9767-EFC6F512EA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733800"/>
            <a:ext cx="1600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9" name="Line 18">
            <a:extLst>
              <a:ext uri="{FF2B5EF4-FFF2-40B4-BE49-F238E27FC236}">
                <a16:creationId xmlns:a16="http://schemas.microsoft.com/office/drawing/2014/main" id="{B169851D-98D1-42E7-B09E-2EFB0C1539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4800600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00" name="Text Box 19">
            <a:extLst>
              <a:ext uri="{FF2B5EF4-FFF2-40B4-BE49-F238E27FC236}">
                <a16:creationId xmlns:a16="http://schemas.microsoft.com/office/drawing/2014/main" id="{E87E071F-0787-4B14-8428-A9AC3624BA91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828800" y="36576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71701" name="Text Box 20">
            <a:extLst>
              <a:ext uri="{FF2B5EF4-FFF2-40B4-BE49-F238E27FC236}">
                <a16:creationId xmlns:a16="http://schemas.microsoft.com/office/drawing/2014/main" id="{0A54347D-FC28-4424-925F-BDE7C7177CFB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828800" y="5181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(5, </a:t>
            </a:r>
            <a:r>
              <a:rPr lang="en-US" altLang="zh-CN" sz="2400">
                <a:solidFill>
                  <a:srgbClr val="FF3300"/>
                </a:solidFill>
              </a:rPr>
              <a:t>2</a:t>
            </a:r>
            <a:r>
              <a:rPr lang="en-US" altLang="zh-CN" sz="2400"/>
              <a:t>)</a:t>
            </a:r>
          </a:p>
        </p:txBody>
      </p:sp>
      <p:sp>
        <p:nvSpPr>
          <p:cNvPr id="71702" name="Text Box 21">
            <a:extLst>
              <a:ext uri="{FF2B5EF4-FFF2-40B4-BE49-F238E27FC236}">
                <a16:creationId xmlns:a16="http://schemas.microsoft.com/office/drawing/2014/main" id="{08511040-421E-4CD2-A2D4-E05DDD54F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124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(4, </a:t>
            </a:r>
            <a:r>
              <a:rPr lang="en-US" altLang="zh-CN" sz="2400">
                <a:solidFill>
                  <a:srgbClr val="FF3300"/>
                </a:solidFill>
              </a:rPr>
              <a:t>4</a:t>
            </a:r>
            <a:r>
              <a:rPr lang="en-US" altLang="zh-CN" sz="2400"/>
              <a:t>)</a:t>
            </a:r>
          </a:p>
        </p:txBody>
      </p:sp>
      <p:sp>
        <p:nvSpPr>
          <p:cNvPr id="71703" name="Text Box 22">
            <a:extLst>
              <a:ext uri="{FF2B5EF4-FFF2-40B4-BE49-F238E27FC236}">
                <a16:creationId xmlns:a16="http://schemas.microsoft.com/office/drawing/2014/main" id="{EAF45A18-6189-4A6F-8CB9-82C34E085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2</a:t>
            </a:r>
            <a:r>
              <a:rPr lang="en-US" altLang="zh-CN" sz="2400"/>
              <a:t>)</a:t>
            </a:r>
          </a:p>
        </p:txBody>
      </p:sp>
      <p:sp>
        <p:nvSpPr>
          <p:cNvPr id="71704" name="Text Box 23">
            <a:extLst>
              <a:ext uri="{FF2B5EF4-FFF2-40B4-BE49-F238E27FC236}">
                <a16:creationId xmlns:a16="http://schemas.microsoft.com/office/drawing/2014/main" id="{6CBA9015-DC58-4AF0-A837-5047BBD69E29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4038600" y="4114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71705" name="Text Box 24">
            <a:extLst>
              <a:ext uri="{FF2B5EF4-FFF2-40B4-BE49-F238E27FC236}">
                <a16:creationId xmlns:a16="http://schemas.microsoft.com/office/drawing/2014/main" id="{27CAB21F-32AB-4BB6-B46E-AA7C2DE2EAD0}"/>
              </a:ext>
            </a:extLst>
          </p:cNvPr>
          <p:cNvSpPr txBox="1">
            <a:spLocks noChangeArrowheads="1"/>
          </p:cNvSpPr>
          <p:nvPr/>
        </p:nvSpPr>
        <p:spPr bwMode="auto">
          <a:xfrm rot="1498140">
            <a:off x="6096000" y="3733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(5, </a:t>
            </a:r>
            <a:r>
              <a:rPr lang="en-US" altLang="zh-CN" sz="2400">
                <a:solidFill>
                  <a:srgbClr val="FF3300"/>
                </a:solidFill>
              </a:rPr>
              <a:t>4</a:t>
            </a:r>
            <a:r>
              <a:rPr lang="en-US" altLang="zh-CN" sz="2400"/>
              <a:t>)</a:t>
            </a:r>
          </a:p>
        </p:txBody>
      </p:sp>
      <p:sp>
        <p:nvSpPr>
          <p:cNvPr id="71706" name="Text Box 25">
            <a:extLst>
              <a:ext uri="{FF2B5EF4-FFF2-40B4-BE49-F238E27FC236}">
                <a16:creationId xmlns:a16="http://schemas.microsoft.com/office/drawing/2014/main" id="{F6D4F12A-7CBF-4459-A91C-FC94449B6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343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71707" name="Text Box 26">
            <a:extLst>
              <a:ext uri="{FF2B5EF4-FFF2-40B4-BE49-F238E27FC236}">
                <a16:creationId xmlns:a16="http://schemas.microsoft.com/office/drawing/2014/main" id="{D2FCB103-F13E-4391-9EF4-51AE07DCE965}"/>
              </a:ext>
            </a:extLst>
          </p:cNvPr>
          <p:cNvSpPr txBox="1">
            <a:spLocks noChangeArrowheads="1"/>
          </p:cNvSpPr>
          <p:nvPr/>
        </p:nvSpPr>
        <p:spPr bwMode="auto">
          <a:xfrm rot="-1604546">
            <a:off x="6248400" y="5105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/>
              <a:t>)</a:t>
            </a:r>
          </a:p>
        </p:txBody>
      </p:sp>
      <p:sp>
        <p:nvSpPr>
          <p:cNvPr id="71708" name="Text Box 27">
            <a:extLst>
              <a:ext uri="{FF2B5EF4-FFF2-40B4-BE49-F238E27FC236}">
                <a16:creationId xmlns:a16="http://schemas.microsoft.com/office/drawing/2014/main" id="{6AA90D1F-C7AD-49F4-B447-9B88E0DF8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495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71709" name="Text Box 28">
            <a:extLst>
              <a:ext uri="{FF2B5EF4-FFF2-40B4-BE49-F238E27FC236}">
                <a16:creationId xmlns:a16="http://schemas.microsoft.com/office/drawing/2014/main" id="{9FBFEA42-24CB-4CC4-9085-A1F7CA806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8862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[∞,v</a:t>
            </a:r>
            <a:r>
              <a:rPr lang="en-US" altLang="zh-CN" sz="2400" baseline="-25000">
                <a:solidFill>
                  <a:srgbClr val="000099"/>
                </a:solidFill>
              </a:rPr>
              <a:t>s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71710" name="Text Box 29">
            <a:extLst>
              <a:ext uri="{FF2B5EF4-FFF2-40B4-BE49-F238E27FC236}">
                <a16:creationId xmlns:a16="http://schemas.microsoft.com/office/drawing/2014/main" id="{2B9FD954-F6CE-4ABE-80F3-D1DE5D2F3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943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[3,v</a:t>
            </a:r>
            <a:r>
              <a:rPr lang="en-US" altLang="zh-CN" sz="2400" baseline="-25000">
                <a:solidFill>
                  <a:srgbClr val="000099"/>
                </a:solidFill>
              </a:rPr>
              <a:t>s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71711" name="Text Box 30">
            <a:extLst>
              <a:ext uri="{FF2B5EF4-FFF2-40B4-BE49-F238E27FC236}">
                <a16:creationId xmlns:a16="http://schemas.microsoft.com/office/drawing/2014/main" id="{51B7CD1E-A196-4F4A-83AA-258D431F7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895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99"/>
                </a:solidFill>
              </a:rPr>
              <a:t>[1,-v</a:t>
            </a:r>
            <a:r>
              <a:rPr lang="en-US" altLang="zh-CN" sz="2400" baseline="-25000">
                <a:solidFill>
                  <a:srgbClr val="000099"/>
                </a:solidFill>
              </a:rPr>
              <a:t>3</a:t>
            </a:r>
            <a:r>
              <a:rPr lang="en-US" altLang="zh-CN" sz="240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277539" name="Line 35">
            <a:extLst>
              <a:ext uri="{FF2B5EF4-FFF2-40B4-BE49-F238E27FC236}">
                <a16:creationId xmlns:a16="http://schemas.microsoft.com/office/drawing/2014/main" id="{40E84265-5483-4F4B-A53B-CD593E7441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3352800" cy="2743200"/>
          </a:xfrm>
          <a:prstGeom prst="line">
            <a:avLst/>
          </a:prstGeom>
          <a:noFill/>
          <a:ln w="28575">
            <a:solidFill>
              <a:srgbClr val="FF00FF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7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2CD71CA-517A-41C6-8A09-1BE464AE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更多的例子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6B561C59-61F2-4367-8E48-4E839B324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831" y="35279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2C78205F-3E1F-410C-B580-BBEF846C0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631" y="24611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v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96E338DB-3C03-485B-94F3-BB3E43A69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631" y="45947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8BD8BD8E-07D3-493C-BC53-01759D2F3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431" y="24611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D5D4C10A-6E18-4B77-8FEA-D6330D643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431" y="45947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55CF20B2-E7AB-4C38-A2B5-0F5CD7DA6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631" y="35279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1083110C-3C05-4C75-A5A1-C657C15965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82831" y="2842136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011AE8B2-070A-4103-8424-F0B65580B4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2831" y="3908936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D1B4B401-1427-42F1-B6E5-79FBE906A6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9231" y="2918336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7745935B-3822-48D1-B3E2-3E90D4CD4F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7831" y="2689736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A6201DC5-0996-424B-9717-BF273703F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7831" y="4823336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AD05D83E-FCC4-483A-9F61-C6F8CDDCD6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9031" y="2918336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AD035602-2ABE-4347-A7EA-B5BBF5B15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1631" y="2842136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A2197A2F-1C76-4B96-9E3A-CCDEF50526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1631" y="2842136"/>
            <a:ext cx="19050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E68F4707-BFB8-45A7-BA17-3C6722F66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1431" y="2842136"/>
            <a:ext cx="1600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45904BCF-9F71-4814-ACA7-6E4C7441E2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97631" y="3908936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7C61CE3A-284B-4632-9D18-F58A16EB0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1431" y="28421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10</a:t>
            </a: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32E11C3A-9E47-446D-A4BF-6F1A7E408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7631" y="41375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8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9CF5FE70-BAA5-40FD-82DF-5EC2FD3F8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431" y="22325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288EB3AB-B397-4985-AA9A-D98972A2A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431" y="47471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6</a:t>
            </a: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85441FBF-BD96-4AA1-B119-C3572A839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6431" y="28421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B7DEAE74-FA77-47C6-BEC2-B0C3C2B0A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2631" y="41375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29" name="Text Box 28">
            <a:extLst>
              <a:ext uri="{FF2B5EF4-FFF2-40B4-BE49-F238E27FC236}">
                <a16:creationId xmlns:a16="http://schemas.microsoft.com/office/drawing/2014/main" id="{297F68C1-7B70-4FC6-AF17-3A13A7EF4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631" y="27659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11</a:t>
            </a: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E14D6C05-853B-43B7-8B19-7699F64CC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9031" y="34517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0D49097E-A677-48EB-B1BF-0AADAE062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1031" y="42899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17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67E50EB6-05A0-44D5-AC6E-7C53122E1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231" y="34517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4</a:t>
            </a: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6F173C0C-0393-43E7-8020-9F8CA7C82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831" y="26135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648E23CA-EC77-4090-B579-771E7C4C1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431" y="43661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5" name="Text Box 34">
            <a:extLst>
              <a:ext uri="{FF2B5EF4-FFF2-40B4-BE49-F238E27FC236}">
                <a16:creationId xmlns:a16="http://schemas.microsoft.com/office/drawing/2014/main" id="{DED1ECC8-2BDC-4E66-80C6-9DC2F0F74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231" y="22325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6" name="Text Box 35">
            <a:extLst>
              <a:ext uri="{FF2B5EF4-FFF2-40B4-BE49-F238E27FC236}">
                <a16:creationId xmlns:a16="http://schemas.microsoft.com/office/drawing/2014/main" id="{3C5C2EF3-3111-40C0-BED9-FA0D23C55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031" y="30707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7" name="Text Box 36">
            <a:extLst>
              <a:ext uri="{FF2B5EF4-FFF2-40B4-BE49-F238E27FC236}">
                <a16:creationId xmlns:a16="http://schemas.microsoft.com/office/drawing/2014/main" id="{A7443F78-A2D0-4366-823A-EB0D954D0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2031" y="38327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8" name="Text Box 37">
            <a:extLst>
              <a:ext uri="{FF2B5EF4-FFF2-40B4-BE49-F238E27FC236}">
                <a16:creationId xmlns:a16="http://schemas.microsoft.com/office/drawing/2014/main" id="{36D13882-A6F5-4046-91A6-80FF98569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231" y="39089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9" name="Text Box 38">
            <a:extLst>
              <a:ext uri="{FF2B5EF4-FFF2-40B4-BE49-F238E27FC236}">
                <a16:creationId xmlns:a16="http://schemas.microsoft.com/office/drawing/2014/main" id="{B3646A16-7EB7-48F2-96FD-1F6A85BB6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231" y="47471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0" name="Text Box 39">
            <a:extLst>
              <a:ext uri="{FF2B5EF4-FFF2-40B4-BE49-F238E27FC236}">
                <a16:creationId xmlns:a16="http://schemas.microsoft.com/office/drawing/2014/main" id="{534CB2B4-B9B8-40E2-BEC9-2EF0AC04C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9631" y="29183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1" name="Text Box 40">
            <a:extLst>
              <a:ext uri="{FF2B5EF4-FFF2-40B4-BE49-F238E27FC236}">
                <a16:creationId xmlns:a16="http://schemas.microsoft.com/office/drawing/2014/main" id="{974758C5-6693-4E43-904B-D03B25122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9031" y="37565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2" name="Text Box 41">
            <a:extLst>
              <a:ext uri="{FF2B5EF4-FFF2-40B4-BE49-F238E27FC236}">
                <a16:creationId xmlns:a16="http://schemas.microsoft.com/office/drawing/2014/main" id="{4F205CF3-DD3E-42D8-BEBD-86486C3EC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2031" y="41375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8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37098795-0658-4564-8DE6-00334EFAFB03}"/>
              </a:ext>
            </a:extLst>
          </p:cNvPr>
          <p:cNvGrpSpPr/>
          <p:nvPr/>
        </p:nvGrpSpPr>
        <p:grpSpPr>
          <a:xfrm>
            <a:off x="1520932" y="1955686"/>
            <a:ext cx="2486893" cy="1624325"/>
            <a:chOff x="1520932" y="1955686"/>
            <a:chExt cx="2486893" cy="1624325"/>
          </a:xfrm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715DF061-995B-47CB-AAFB-B71E7758C394}"/>
                </a:ext>
              </a:extLst>
            </p:cNvPr>
            <p:cNvSpPr txBox="1"/>
            <p:nvPr/>
          </p:nvSpPr>
          <p:spPr>
            <a:xfrm>
              <a:off x="2473431" y="1955686"/>
              <a:ext cx="15343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（</a:t>
              </a:r>
              <a:r>
                <a:rPr lang="en-US" altLang="zh-CN" dirty="0"/>
                <a:t>v1,2</a:t>
              </a:r>
              <a:r>
                <a:rPr lang="zh-CN" altLang="en-US" dirty="0"/>
                <a:t>）</a:t>
              </a:r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D84CFD5F-A344-4D54-B5D4-5ECF70CCAEB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520932" y="2911981"/>
              <a:ext cx="1295399" cy="668030"/>
            </a:xfrm>
            <a:prstGeom prst="line">
              <a:avLst/>
            </a:prstGeom>
            <a:noFill/>
            <a:ln w="762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9D17D9AA-F505-4905-8B33-1DC95A36D226}"/>
              </a:ext>
            </a:extLst>
          </p:cNvPr>
          <p:cNvGrpSpPr/>
          <p:nvPr/>
        </p:nvGrpSpPr>
        <p:grpSpPr>
          <a:xfrm>
            <a:off x="2505386" y="2980279"/>
            <a:ext cx="1534394" cy="2646388"/>
            <a:chOff x="2505386" y="2980279"/>
            <a:chExt cx="1534394" cy="2646388"/>
          </a:xfrm>
        </p:grpSpPr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3EDF6964-4991-470A-AE84-1E6D030AF5F9}"/>
                </a:ext>
              </a:extLst>
            </p:cNvPr>
            <p:cNvSpPr txBox="1"/>
            <p:nvPr/>
          </p:nvSpPr>
          <p:spPr>
            <a:xfrm>
              <a:off x="2505386" y="5103447"/>
              <a:ext cx="15343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（</a:t>
              </a:r>
              <a:r>
                <a:rPr lang="en-US" altLang="zh-CN" dirty="0"/>
                <a:t>v2,4</a:t>
              </a:r>
              <a:r>
                <a:rPr lang="zh-CN" altLang="en-US" dirty="0"/>
                <a:t>）</a:t>
              </a:r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0913CCA8-31BC-4950-ABAF-518F7BE52B3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159231" y="2980279"/>
              <a:ext cx="1" cy="1432842"/>
            </a:xfrm>
            <a:prstGeom prst="line">
              <a:avLst/>
            </a:prstGeom>
            <a:noFill/>
            <a:ln w="762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3A954908-D9CA-4A32-A807-D9AC16890A2C}"/>
              </a:ext>
            </a:extLst>
          </p:cNvPr>
          <p:cNvGrpSpPr/>
          <p:nvPr/>
        </p:nvGrpSpPr>
        <p:grpSpPr>
          <a:xfrm>
            <a:off x="3390900" y="1973275"/>
            <a:ext cx="2935547" cy="2652082"/>
            <a:chOff x="3390900" y="1973275"/>
            <a:chExt cx="2935547" cy="2652082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14636340-F945-4037-86EC-7DB1DD257C1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90900" y="2969847"/>
              <a:ext cx="1711431" cy="1655510"/>
            </a:xfrm>
            <a:prstGeom prst="line">
              <a:avLst/>
            </a:prstGeom>
            <a:noFill/>
            <a:ln w="762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99B902AD-0C11-410F-A6DF-2FDCFE0028CA}"/>
                </a:ext>
              </a:extLst>
            </p:cNvPr>
            <p:cNvSpPr txBox="1"/>
            <p:nvPr/>
          </p:nvSpPr>
          <p:spPr>
            <a:xfrm>
              <a:off x="4792053" y="1973275"/>
              <a:ext cx="15343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（</a:t>
              </a:r>
              <a:r>
                <a:rPr lang="en-US" altLang="zh-CN" dirty="0"/>
                <a:t>v3,5</a:t>
              </a:r>
              <a:r>
                <a:rPr lang="zh-CN" altLang="en-US" dirty="0"/>
                <a:t>）</a:t>
              </a: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D621CA24-52CF-4B3B-B6BB-DA73884D6D16}"/>
              </a:ext>
            </a:extLst>
          </p:cNvPr>
          <p:cNvGrpSpPr/>
          <p:nvPr/>
        </p:nvGrpSpPr>
        <p:grpSpPr>
          <a:xfrm>
            <a:off x="5562600" y="2895600"/>
            <a:ext cx="3061470" cy="781931"/>
            <a:chOff x="5562600" y="2895600"/>
            <a:chExt cx="3061470" cy="781931"/>
          </a:xfrm>
        </p:grpSpPr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AC2D0E14-67AB-4112-8938-5B2CE89B2654}"/>
                </a:ext>
              </a:extLst>
            </p:cNvPr>
            <p:cNvSpPr txBox="1"/>
            <p:nvPr/>
          </p:nvSpPr>
          <p:spPr>
            <a:xfrm>
              <a:off x="7089676" y="3154311"/>
              <a:ext cx="15343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（</a:t>
              </a:r>
              <a:r>
                <a:rPr lang="en-US" altLang="zh-CN" dirty="0"/>
                <a:t>v4,6</a:t>
              </a:r>
              <a:r>
                <a:rPr lang="zh-CN" altLang="en-US" dirty="0"/>
                <a:t>）</a:t>
              </a: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294E79B9-9AE2-451D-8182-494BFFE887FE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562600" y="2895600"/>
              <a:ext cx="1330431" cy="680881"/>
            </a:xfrm>
            <a:prstGeom prst="line">
              <a:avLst/>
            </a:prstGeom>
            <a:noFill/>
            <a:ln w="762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CFDF3C8-273E-4879-8127-DDAA7B477D87}"/>
              </a:ext>
            </a:extLst>
          </p:cNvPr>
          <p:cNvGrpSpPr/>
          <p:nvPr/>
        </p:nvGrpSpPr>
        <p:grpSpPr>
          <a:xfrm>
            <a:off x="2187055" y="2275726"/>
            <a:ext cx="5051166" cy="1851630"/>
            <a:chOff x="2187055" y="2275726"/>
            <a:chExt cx="5051166" cy="1851630"/>
          </a:xfrm>
        </p:grpSpPr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20E26D4-1F12-4107-BAE2-A2938A663805}"/>
                </a:ext>
              </a:extLst>
            </p:cNvPr>
            <p:cNvSpPr txBox="1"/>
            <p:nvPr/>
          </p:nvSpPr>
          <p:spPr>
            <a:xfrm>
              <a:off x="2187055" y="2275726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+2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6393B6DC-E625-4D67-A0D2-83ED89DC2C47}"/>
                </a:ext>
              </a:extLst>
            </p:cNvPr>
            <p:cNvSpPr txBox="1"/>
            <p:nvPr/>
          </p:nvSpPr>
          <p:spPr>
            <a:xfrm>
              <a:off x="3065037" y="3604136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+2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A88CDD74-7432-4417-A002-473A477708B0}"/>
                </a:ext>
              </a:extLst>
            </p:cNvPr>
            <p:cNvSpPr txBox="1"/>
            <p:nvPr/>
          </p:nvSpPr>
          <p:spPr>
            <a:xfrm>
              <a:off x="4382662" y="3465635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+2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3ECB8806-67CD-47A5-B00A-0E6F7E4629D6}"/>
                </a:ext>
              </a:extLst>
            </p:cNvPr>
            <p:cNvSpPr txBox="1"/>
            <p:nvPr/>
          </p:nvSpPr>
          <p:spPr>
            <a:xfrm>
              <a:off x="6668834" y="2757756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+2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3357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2CD71CA-517A-41C6-8A09-1BE464AE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更多的例子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6B561C59-61F2-4367-8E48-4E839B324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831" y="35279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2C78205F-3E1F-410C-B580-BBEF846C0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631" y="24611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v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96E338DB-3C03-485B-94F3-BB3E43A69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631" y="45947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8BD8BD8E-07D3-493C-BC53-01759D2F3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431" y="24611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D5D4C10A-6E18-4B77-8FEA-D6330D643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431" y="45947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55CF20B2-E7AB-4C38-A2B5-0F5CD7DA6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631" y="35279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1083110C-3C05-4C75-A5A1-C657C15965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82831" y="2842136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011AE8B2-070A-4103-8424-F0B65580B4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2831" y="3908936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D1B4B401-1427-42F1-B6E5-79FBE906A6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9231" y="2918336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7745935B-3822-48D1-B3E2-3E90D4CD4F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7831" y="2689736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A6201DC5-0996-424B-9717-BF273703F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7831" y="4823336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AD05D83E-FCC4-483A-9F61-C6F8CDDCD6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9031" y="2918336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AD035602-2ABE-4347-A7EA-B5BBF5B15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1631" y="2842136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A2197A2F-1C76-4B96-9E3A-CCDEF50526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1631" y="2842136"/>
            <a:ext cx="19050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E68F4707-BFB8-45A7-BA17-3C6722F66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1431" y="2842136"/>
            <a:ext cx="1600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45904BCF-9F71-4814-ACA7-6E4C7441E2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97631" y="3908936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7C61CE3A-284B-4632-9D18-F58A16EB0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1431" y="28421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10</a:t>
            </a: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32E11C3A-9E47-446D-A4BF-6F1A7E408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7631" y="41375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8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9CF5FE70-BAA5-40FD-82DF-5EC2FD3F8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431" y="22325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288EB3AB-B397-4985-AA9A-D98972A2A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431" y="47471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6</a:t>
            </a: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85441FBF-BD96-4AA1-B119-C3572A839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6431" y="28421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B7DEAE74-FA77-47C6-BEC2-B0C3C2B0A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2631" y="41375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29" name="Text Box 28">
            <a:extLst>
              <a:ext uri="{FF2B5EF4-FFF2-40B4-BE49-F238E27FC236}">
                <a16:creationId xmlns:a16="http://schemas.microsoft.com/office/drawing/2014/main" id="{297F68C1-7B70-4FC6-AF17-3A13A7EF4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631" y="27659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11</a:t>
            </a: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E14D6C05-853B-43B7-8B19-7699F64CC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9031" y="34517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/>
              <a:t>3</a:t>
            </a:r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0D49097E-A677-48EB-B1BF-0AADAE062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1031" y="42899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17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67E50EB6-05A0-44D5-AC6E-7C53122E1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231" y="34517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4</a:t>
            </a: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6F173C0C-0393-43E7-8020-9F8CA7C82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6223" y="2652261"/>
            <a:ext cx="605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648E23CA-EC77-4090-B579-771E7C4C1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431" y="43661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5" name="Text Box 34">
            <a:extLst>
              <a:ext uri="{FF2B5EF4-FFF2-40B4-BE49-F238E27FC236}">
                <a16:creationId xmlns:a16="http://schemas.microsoft.com/office/drawing/2014/main" id="{DED1ECC8-2BDC-4E66-80C6-9DC2F0F74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231" y="22325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6" name="Text Box 35">
            <a:extLst>
              <a:ext uri="{FF2B5EF4-FFF2-40B4-BE49-F238E27FC236}">
                <a16:creationId xmlns:a16="http://schemas.microsoft.com/office/drawing/2014/main" id="{3C5C2EF3-3111-40C0-BED9-FA0D23C55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031" y="30707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7" name="Text Box 36">
            <a:extLst>
              <a:ext uri="{FF2B5EF4-FFF2-40B4-BE49-F238E27FC236}">
                <a16:creationId xmlns:a16="http://schemas.microsoft.com/office/drawing/2014/main" id="{A7443F78-A2D0-4366-823A-EB0D954D0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2031" y="38327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8" name="Text Box 37">
            <a:extLst>
              <a:ext uri="{FF2B5EF4-FFF2-40B4-BE49-F238E27FC236}">
                <a16:creationId xmlns:a16="http://schemas.microsoft.com/office/drawing/2014/main" id="{36D13882-A6F5-4046-91A6-80FF98569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231" y="39089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9" name="Text Box 38">
            <a:extLst>
              <a:ext uri="{FF2B5EF4-FFF2-40B4-BE49-F238E27FC236}">
                <a16:creationId xmlns:a16="http://schemas.microsoft.com/office/drawing/2014/main" id="{B3646A16-7EB7-48F2-96FD-1F6A85BB6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231" y="47471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0" name="Text Box 39">
            <a:extLst>
              <a:ext uri="{FF2B5EF4-FFF2-40B4-BE49-F238E27FC236}">
                <a16:creationId xmlns:a16="http://schemas.microsoft.com/office/drawing/2014/main" id="{534CB2B4-B9B8-40E2-BEC9-2EF0AC04C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9631" y="29183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41" name="Text Box 40">
            <a:extLst>
              <a:ext uri="{FF2B5EF4-FFF2-40B4-BE49-F238E27FC236}">
                <a16:creationId xmlns:a16="http://schemas.microsoft.com/office/drawing/2014/main" id="{974758C5-6693-4E43-904B-D03B25122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9031" y="37565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2" name="Text Box 41">
            <a:extLst>
              <a:ext uri="{FF2B5EF4-FFF2-40B4-BE49-F238E27FC236}">
                <a16:creationId xmlns:a16="http://schemas.microsoft.com/office/drawing/2014/main" id="{4F205CF3-DD3E-42D8-BEBD-86486C3EC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2031" y="41375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532418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2CD71CA-517A-41C6-8A09-1BE464AE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更多的例子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6B561C59-61F2-4367-8E48-4E839B324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831" y="35279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2C78205F-3E1F-410C-B580-BBEF846C0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631" y="24611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v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96E338DB-3C03-485B-94F3-BB3E43A69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631" y="45947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8BD8BD8E-07D3-493C-BC53-01759D2F3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431" y="24611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D5D4C10A-6E18-4B77-8FEA-D6330D643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431" y="45947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55CF20B2-E7AB-4C38-A2B5-0F5CD7DA6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631" y="35279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1083110C-3C05-4C75-A5A1-C657C15965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82831" y="2842136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011AE8B2-070A-4103-8424-F0B65580B4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2831" y="3908936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D1B4B401-1427-42F1-B6E5-79FBE906A6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9231" y="2918336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7745935B-3822-48D1-B3E2-3E90D4CD4F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7831" y="2689736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A6201DC5-0996-424B-9717-BF273703F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7831" y="4823336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AD05D83E-FCC4-483A-9F61-C6F8CDDCD6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9031" y="2918336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AD035602-2ABE-4347-A7EA-B5BBF5B15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1631" y="2842136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A2197A2F-1C76-4B96-9E3A-CCDEF50526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1631" y="2842136"/>
            <a:ext cx="19050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E68F4707-BFB8-45A7-BA17-3C6722F66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1431" y="2842136"/>
            <a:ext cx="1600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45904BCF-9F71-4814-ACA7-6E4C7441E2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97631" y="3908936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7C61CE3A-284B-4632-9D18-F58A16EB0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1431" y="28421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10</a:t>
            </a: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32E11C3A-9E47-446D-A4BF-6F1A7E408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7631" y="41375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8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9CF5FE70-BAA5-40FD-82DF-5EC2FD3F8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431" y="22325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288EB3AB-B397-4985-AA9A-D98972A2A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431" y="47471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6</a:t>
            </a: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85441FBF-BD96-4AA1-B119-C3572A839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6431" y="28421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B7DEAE74-FA77-47C6-BEC2-B0C3C2B0A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2631" y="41375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29" name="Text Box 28">
            <a:extLst>
              <a:ext uri="{FF2B5EF4-FFF2-40B4-BE49-F238E27FC236}">
                <a16:creationId xmlns:a16="http://schemas.microsoft.com/office/drawing/2014/main" id="{297F68C1-7B70-4FC6-AF17-3A13A7EF4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631" y="27659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11</a:t>
            </a: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E14D6C05-853B-43B7-8B19-7699F64CC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9031" y="34517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/>
              <a:t>3</a:t>
            </a:r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0D49097E-A677-48EB-B1BF-0AADAE062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1031" y="42899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17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67E50EB6-05A0-44D5-AC6E-7C53122E1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231" y="34517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4</a:t>
            </a: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6F173C0C-0393-43E7-8020-9F8CA7C82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6223" y="2652261"/>
            <a:ext cx="605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648E23CA-EC77-4090-B579-771E7C4C1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431" y="43661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5" name="Text Box 34">
            <a:extLst>
              <a:ext uri="{FF2B5EF4-FFF2-40B4-BE49-F238E27FC236}">
                <a16:creationId xmlns:a16="http://schemas.microsoft.com/office/drawing/2014/main" id="{DED1ECC8-2BDC-4E66-80C6-9DC2F0F74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231" y="22325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6" name="Text Box 35">
            <a:extLst>
              <a:ext uri="{FF2B5EF4-FFF2-40B4-BE49-F238E27FC236}">
                <a16:creationId xmlns:a16="http://schemas.microsoft.com/office/drawing/2014/main" id="{3C5C2EF3-3111-40C0-BED9-FA0D23C55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031" y="30707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7" name="Text Box 36">
            <a:extLst>
              <a:ext uri="{FF2B5EF4-FFF2-40B4-BE49-F238E27FC236}">
                <a16:creationId xmlns:a16="http://schemas.microsoft.com/office/drawing/2014/main" id="{A7443F78-A2D0-4366-823A-EB0D954D0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2031" y="38327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8" name="Text Box 37">
            <a:extLst>
              <a:ext uri="{FF2B5EF4-FFF2-40B4-BE49-F238E27FC236}">
                <a16:creationId xmlns:a16="http://schemas.microsoft.com/office/drawing/2014/main" id="{36D13882-A6F5-4046-91A6-80FF98569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231" y="39089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9" name="Text Box 38">
            <a:extLst>
              <a:ext uri="{FF2B5EF4-FFF2-40B4-BE49-F238E27FC236}">
                <a16:creationId xmlns:a16="http://schemas.microsoft.com/office/drawing/2014/main" id="{B3646A16-7EB7-48F2-96FD-1F6A85BB6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231" y="47471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0" name="Text Box 39">
            <a:extLst>
              <a:ext uri="{FF2B5EF4-FFF2-40B4-BE49-F238E27FC236}">
                <a16:creationId xmlns:a16="http://schemas.microsoft.com/office/drawing/2014/main" id="{534CB2B4-B9B8-40E2-BEC9-2EF0AC04C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9631" y="29183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41" name="Text Box 40">
            <a:extLst>
              <a:ext uri="{FF2B5EF4-FFF2-40B4-BE49-F238E27FC236}">
                <a16:creationId xmlns:a16="http://schemas.microsoft.com/office/drawing/2014/main" id="{974758C5-6693-4E43-904B-D03B25122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9031" y="37565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2" name="Text Box 41">
            <a:extLst>
              <a:ext uri="{FF2B5EF4-FFF2-40B4-BE49-F238E27FC236}">
                <a16:creationId xmlns:a16="http://schemas.microsoft.com/office/drawing/2014/main" id="{4F205CF3-DD3E-42D8-BEBD-86486C3EC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2031" y="41375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8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391763A7-3A97-4930-8A36-57A4573B3B56}"/>
              </a:ext>
            </a:extLst>
          </p:cNvPr>
          <p:cNvGrpSpPr/>
          <p:nvPr/>
        </p:nvGrpSpPr>
        <p:grpSpPr>
          <a:xfrm>
            <a:off x="1482831" y="3908936"/>
            <a:ext cx="2448794" cy="1633210"/>
            <a:chOff x="1482831" y="3908936"/>
            <a:chExt cx="2448794" cy="1633210"/>
          </a:xfrm>
        </p:grpSpPr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8C4DA4A-954F-4E08-A2BE-FE5D0064A9D3}"/>
                </a:ext>
              </a:extLst>
            </p:cNvPr>
            <p:cNvSpPr txBox="1"/>
            <p:nvPr/>
          </p:nvSpPr>
          <p:spPr>
            <a:xfrm>
              <a:off x="2397231" y="5018926"/>
              <a:ext cx="15343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（</a:t>
              </a:r>
              <a:r>
                <a:rPr lang="en-US" altLang="zh-CN" dirty="0"/>
                <a:t>v1,3</a:t>
              </a:r>
              <a:r>
                <a:rPr lang="zh-CN" altLang="en-US" dirty="0"/>
                <a:t>）</a:t>
              </a:r>
            </a:p>
          </p:txBody>
        </p: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F2F5C8EF-94BF-4688-8833-A8137EAF3413}"/>
                </a:ext>
              </a:extLst>
            </p:cNvPr>
            <p:cNvCxnSpPr>
              <a:cxnSpLocks/>
              <a:stCxn id="14" idx="0"/>
            </p:cNvCxnSpPr>
            <p:nvPr/>
          </p:nvCxnSpPr>
          <p:spPr bwMode="auto">
            <a:xfrm>
              <a:off x="1482831" y="3908936"/>
              <a:ext cx="1295399" cy="762000"/>
            </a:xfrm>
            <a:prstGeom prst="line">
              <a:avLst/>
            </a:prstGeom>
            <a:noFill/>
            <a:ln w="762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9558B31F-F38B-4EB8-BDF0-0C6AD12A62F8}"/>
              </a:ext>
            </a:extLst>
          </p:cNvPr>
          <p:cNvGrpSpPr/>
          <p:nvPr/>
        </p:nvGrpSpPr>
        <p:grpSpPr>
          <a:xfrm>
            <a:off x="3349731" y="2014116"/>
            <a:ext cx="2938897" cy="2598440"/>
            <a:chOff x="2031822" y="2014116"/>
            <a:chExt cx="2938897" cy="2598440"/>
          </a:xfrm>
        </p:grpSpPr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DBE6DC0A-5EF6-4E2D-90FD-C028874D1E0E}"/>
                </a:ext>
              </a:extLst>
            </p:cNvPr>
            <p:cNvSpPr txBox="1"/>
            <p:nvPr/>
          </p:nvSpPr>
          <p:spPr>
            <a:xfrm>
              <a:off x="3436325" y="2014116"/>
              <a:ext cx="15343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（</a:t>
              </a:r>
              <a:r>
                <a:rPr lang="en-US" altLang="zh-CN" dirty="0"/>
                <a:t>v3,3</a:t>
              </a:r>
              <a:r>
                <a:rPr lang="zh-CN" altLang="en-US" dirty="0"/>
                <a:t>）</a:t>
              </a:r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3BDFCA63-05F8-4F8D-BA65-AB43CCFA1EF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031822" y="2972941"/>
              <a:ext cx="1774249" cy="1639615"/>
            </a:xfrm>
            <a:prstGeom prst="line">
              <a:avLst/>
            </a:prstGeom>
            <a:noFill/>
            <a:ln w="762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AAF08F6C-E2E7-48B2-9E32-642F7BA1718C}"/>
              </a:ext>
            </a:extLst>
          </p:cNvPr>
          <p:cNvGrpSpPr/>
          <p:nvPr/>
        </p:nvGrpSpPr>
        <p:grpSpPr>
          <a:xfrm>
            <a:off x="5521431" y="2842136"/>
            <a:ext cx="2677394" cy="743893"/>
            <a:chOff x="2282071" y="2842136"/>
            <a:chExt cx="2677394" cy="743893"/>
          </a:xfrm>
        </p:grpSpPr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E7B05601-88E8-46C5-BBA4-D7D4CA133AA3}"/>
                </a:ext>
              </a:extLst>
            </p:cNvPr>
            <p:cNvSpPr txBox="1"/>
            <p:nvPr/>
          </p:nvSpPr>
          <p:spPr>
            <a:xfrm>
              <a:off x="3425071" y="3047906"/>
              <a:ext cx="15343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（</a:t>
              </a:r>
              <a:r>
                <a:rPr lang="en-US" altLang="zh-CN" dirty="0"/>
                <a:t>v4,4</a:t>
              </a:r>
              <a:r>
                <a:rPr lang="zh-CN" altLang="en-US" dirty="0"/>
                <a:t>）</a:t>
              </a:r>
            </a:p>
          </p:txBody>
        </p: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F156EE50-8052-4674-8B6F-33DD46EF926D}"/>
                </a:ext>
              </a:extLst>
            </p:cNvPr>
            <p:cNvCxnSpPr>
              <a:cxnSpLocks/>
              <a:stCxn id="21" idx="0"/>
            </p:cNvCxnSpPr>
            <p:nvPr/>
          </p:nvCxnSpPr>
          <p:spPr bwMode="auto">
            <a:xfrm>
              <a:off x="2282071" y="2842136"/>
              <a:ext cx="1447800" cy="743893"/>
            </a:xfrm>
            <a:prstGeom prst="line">
              <a:avLst/>
            </a:prstGeom>
            <a:noFill/>
            <a:ln w="762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E74B6850-3F6C-49DD-9646-72DB9A7743DE}"/>
              </a:ext>
            </a:extLst>
          </p:cNvPr>
          <p:cNvGrpSpPr/>
          <p:nvPr/>
        </p:nvGrpSpPr>
        <p:grpSpPr>
          <a:xfrm>
            <a:off x="2056443" y="2637860"/>
            <a:ext cx="5047715" cy="1692726"/>
            <a:chOff x="2056443" y="2637860"/>
            <a:chExt cx="5047715" cy="1692726"/>
          </a:xfrm>
        </p:grpSpPr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320BE5DE-A0E6-467F-8F7E-40277F3CC89D}"/>
                </a:ext>
              </a:extLst>
            </p:cNvPr>
            <p:cNvSpPr txBox="1"/>
            <p:nvPr/>
          </p:nvSpPr>
          <p:spPr>
            <a:xfrm>
              <a:off x="2056443" y="3807366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+3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DAD0D754-89A1-4BB9-846F-F9930BA57DE7}"/>
                </a:ext>
              </a:extLst>
            </p:cNvPr>
            <p:cNvSpPr txBox="1"/>
            <p:nvPr/>
          </p:nvSpPr>
          <p:spPr>
            <a:xfrm>
              <a:off x="4382662" y="3465635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+3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C81A30E3-06BB-41A5-A6F6-82F65CE8C487}"/>
                </a:ext>
              </a:extLst>
            </p:cNvPr>
            <p:cNvSpPr txBox="1"/>
            <p:nvPr/>
          </p:nvSpPr>
          <p:spPr>
            <a:xfrm>
              <a:off x="6534771" y="2637860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49DA"/>
                  </a:solidFill>
                </a:rPr>
                <a:t>+3</a:t>
              </a:r>
              <a:endParaRPr lang="zh-CN" altLang="en-US" dirty="0">
                <a:solidFill>
                  <a:srgbClr val="0049D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244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2CD71CA-517A-41C6-8A09-1BE464AE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更多的例子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6B561C59-61F2-4367-8E48-4E839B324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831" y="35279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2C78205F-3E1F-410C-B580-BBEF846C0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631" y="24611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v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96E338DB-3C03-485B-94F3-BB3E43A69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631" y="45947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8BD8BD8E-07D3-493C-BC53-01759D2F3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431" y="24611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D5D4C10A-6E18-4B77-8FEA-D6330D643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431" y="45947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55CF20B2-E7AB-4C38-A2B5-0F5CD7DA6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631" y="3527936"/>
            <a:ext cx="457200" cy="4572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1083110C-3C05-4C75-A5A1-C657C15965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82831" y="2842136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011AE8B2-070A-4103-8424-F0B65580B4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2831" y="3908936"/>
            <a:ext cx="1447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D1B4B401-1427-42F1-B6E5-79FBE906A6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9231" y="2918336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7745935B-3822-48D1-B3E2-3E90D4CD4F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7831" y="2689736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A6201DC5-0996-424B-9717-BF273703F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7831" y="4823336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AD05D83E-FCC4-483A-9F61-C6F8CDDCD6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9031" y="2918336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AD035602-2ABE-4347-A7EA-B5BBF5B15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1631" y="2842136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A2197A2F-1C76-4B96-9E3A-CCDEF50526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1631" y="2842136"/>
            <a:ext cx="19050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E68F4707-BFB8-45A7-BA17-3C6722F66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1431" y="2842136"/>
            <a:ext cx="1600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45904BCF-9F71-4814-ACA7-6E4C7441E2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97631" y="3908936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7C61CE3A-284B-4632-9D18-F58A16EB0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1431" y="28421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10</a:t>
            </a: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32E11C3A-9E47-446D-A4BF-6F1A7E408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7631" y="41375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8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9CF5FE70-BAA5-40FD-82DF-5EC2FD3F8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431" y="22325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288EB3AB-B397-4985-AA9A-D98972A2A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431" y="47471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6</a:t>
            </a: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85441FBF-BD96-4AA1-B119-C3572A839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6431" y="28421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B7DEAE74-FA77-47C6-BEC2-B0C3C2B0A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2631" y="41375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5</a:t>
            </a:r>
          </a:p>
        </p:txBody>
      </p:sp>
      <p:sp>
        <p:nvSpPr>
          <p:cNvPr id="29" name="Text Box 28">
            <a:extLst>
              <a:ext uri="{FF2B5EF4-FFF2-40B4-BE49-F238E27FC236}">
                <a16:creationId xmlns:a16="http://schemas.microsoft.com/office/drawing/2014/main" id="{297F68C1-7B70-4FC6-AF17-3A13A7EF4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631" y="27659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11</a:t>
            </a: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E14D6C05-853B-43B7-8B19-7699F64CC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9031" y="34517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/>
              <a:t>3</a:t>
            </a:r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0D49097E-A677-48EB-B1BF-0AADAE062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1031" y="42899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17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67E50EB6-05A0-44D5-AC6E-7C53122E1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231" y="3451736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4</a:t>
            </a: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6F173C0C-0393-43E7-8020-9F8CA7C82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6223" y="2652261"/>
            <a:ext cx="605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648E23CA-EC77-4090-B579-771E7C4C1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431" y="43661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5" name="Text Box 34">
            <a:extLst>
              <a:ext uri="{FF2B5EF4-FFF2-40B4-BE49-F238E27FC236}">
                <a16:creationId xmlns:a16="http://schemas.microsoft.com/office/drawing/2014/main" id="{DED1ECC8-2BDC-4E66-80C6-9DC2F0F74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231" y="22325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6" name="Text Box 35">
            <a:extLst>
              <a:ext uri="{FF2B5EF4-FFF2-40B4-BE49-F238E27FC236}">
                <a16:creationId xmlns:a16="http://schemas.microsoft.com/office/drawing/2014/main" id="{3C5C2EF3-3111-40C0-BED9-FA0D23C55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031" y="30707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7" name="Text Box 36">
            <a:extLst>
              <a:ext uri="{FF2B5EF4-FFF2-40B4-BE49-F238E27FC236}">
                <a16:creationId xmlns:a16="http://schemas.microsoft.com/office/drawing/2014/main" id="{A7443F78-A2D0-4366-823A-EB0D954D0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2031" y="38327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8" name="Text Box 37">
            <a:extLst>
              <a:ext uri="{FF2B5EF4-FFF2-40B4-BE49-F238E27FC236}">
                <a16:creationId xmlns:a16="http://schemas.microsoft.com/office/drawing/2014/main" id="{36D13882-A6F5-4046-91A6-80FF98569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231" y="39089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9" name="Text Box 38">
            <a:extLst>
              <a:ext uri="{FF2B5EF4-FFF2-40B4-BE49-F238E27FC236}">
                <a16:creationId xmlns:a16="http://schemas.microsoft.com/office/drawing/2014/main" id="{B3646A16-7EB7-48F2-96FD-1F6A85BB6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231" y="47471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0" name="Text Box 39">
            <a:extLst>
              <a:ext uri="{FF2B5EF4-FFF2-40B4-BE49-F238E27FC236}">
                <a16:creationId xmlns:a16="http://schemas.microsoft.com/office/drawing/2014/main" id="{534CB2B4-B9B8-40E2-BEC9-2EF0AC04C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9631" y="2918336"/>
            <a:ext cx="60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41" name="Text Box 40">
            <a:extLst>
              <a:ext uri="{FF2B5EF4-FFF2-40B4-BE49-F238E27FC236}">
                <a16:creationId xmlns:a16="http://schemas.microsoft.com/office/drawing/2014/main" id="{974758C5-6693-4E43-904B-D03B25122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9031" y="37565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2" name="Text Box 41">
            <a:extLst>
              <a:ext uri="{FF2B5EF4-FFF2-40B4-BE49-F238E27FC236}">
                <a16:creationId xmlns:a16="http://schemas.microsoft.com/office/drawing/2014/main" id="{4F205CF3-DD3E-42D8-BEBD-86486C3EC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2031" y="41375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6316541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0BF3FA17-3A14-4CBB-AD17-E054B27EDF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应用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647B86B6-1478-4EC1-80E8-2042D4E7E2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b="0"/>
              <a:t>图中</a:t>
            </a:r>
            <a:r>
              <a:rPr lang="en-US" altLang="zh-CN" sz="2800"/>
              <a:t>A</a:t>
            </a:r>
            <a:r>
              <a:rPr lang="zh-CN" altLang="en-US" sz="2800" b="0"/>
              <a:t>、</a:t>
            </a:r>
            <a:r>
              <a:rPr lang="en-US" altLang="zh-CN" sz="2800"/>
              <a:t>B</a:t>
            </a:r>
            <a:r>
              <a:rPr lang="zh-CN" altLang="en-US" sz="2800" b="0"/>
              <a:t>、</a:t>
            </a:r>
            <a:r>
              <a:rPr lang="en-US" altLang="zh-CN" sz="2800"/>
              <a:t>C</a:t>
            </a:r>
            <a:r>
              <a:rPr lang="zh-CN" altLang="en-US" sz="2800" b="0"/>
              <a:t>、</a:t>
            </a:r>
            <a:r>
              <a:rPr lang="en-US" altLang="zh-CN" sz="2800"/>
              <a:t>D</a:t>
            </a:r>
            <a:r>
              <a:rPr lang="zh-CN" altLang="en-US" sz="2800" b="0"/>
              <a:t>、</a:t>
            </a:r>
            <a:r>
              <a:rPr lang="en-US" altLang="zh-CN" sz="2800"/>
              <a:t>E</a:t>
            </a:r>
            <a:r>
              <a:rPr lang="zh-CN" altLang="en-US" sz="2800" b="0"/>
              <a:t>、</a:t>
            </a:r>
            <a:r>
              <a:rPr lang="en-US" altLang="zh-CN" sz="2800"/>
              <a:t>F</a:t>
            </a:r>
            <a:r>
              <a:rPr lang="zh-CN" altLang="en-US" sz="2800" b="0"/>
              <a:t>分别表示陆地和岛屿，①②</a:t>
            </a:r>
            <a:r>
              <a:rPr lang="en-US" altLang="zh-CN" sz="2800"/>
              <a:t>……</a:t>
            </a:r>
            <a:r>
              <a:rPr lang="en-US" altLang="zh-CN" sz="2800" b="0"/>
              <a:t>⒁</a:t>
            </a:r>
            <a:r>
              <a:rPr lang="zh-CN" altLang="en-US" sz="2800" b="0"/>
              <a:t>表示桥梁及其编号。河两岸分别互为敌对的双方部队占领，问至少应切断几座桥梁（具体指出编号）才能达到阻止对方部队过河的目的</a:t>
            </a:r>
          </a:p>
          <a:p>
            <a:pPr eaLnBrk="1" hangingPunct="1"/>
            <a:endParaRPr lang="en-US" altLang="zh-CN"/>
          </a:p>
        </p:txBody>
      </p:sp>
      <p:pic>
        <p:nvPicPr>
          <p:cNvPr id="72708" name="Picture 5">
            <a:extLst>
              <a:ext uri="{FF2B5EF4-FFF2-40B4-BE49-F238E27FC236}">
                <a16:creationId xmlns:a16="http://schemas.microsoft.com/office/drawing/2014/main" id="{28D13BA0-8E36-4F63-9C5E-2263F78F3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675" y="3276600"/>
            <a:ext cx="7070725" cy="325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A28CA08B-7F87-4924-8198-89F83BE5B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第七章之第四节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5524AAE4-6184-44D8-9942-A0C70B58FD1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5400"/>
              <a:t>最小费用最大流问题</a:t>
            </a:r>
          </a:p>
        </p:txBody>
      </p:sp>
    </p:spTree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00BE970F-1DF9-4AF6-91F9-D1CF04371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问题提出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D73F46DA-F947-4780-AA14-C89EC748BAE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7924800" cy="4987925"/>
          </a:xfrm>
        </p:spPr>
        <p:txBody>
          <a:bodyPr/>
          <a:lstStyle/>
          <a:p>
            <a:pPr eaLnBrk="1" hangingPunct="1"/>
            <a:r>
              <a:rPr lang="zh-CN" altLang="en-US"/>
              <a:t>给定网络</a:t>
            </a:r>
            <a:r>
              <a:rPr lang="en-US" altLang="zh-CN"/>
              <a:t>D=(V,A,C)</a:t>
            </a:r>
            <a:r>
              <a:rPr lang="zh-CN" altLang="en-US"/>
              <a:t>，弧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 baseline="-25000"/>
              <a:t>i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j</a:t>
            </a:r>
            <a:r>
              <a:rPr lang="en-US" altLang="zh-CN"/>
              <a:t>)</a:t>
            </a:r>
            <a:r>
              <a:rPr lang="zh-CN" altLang="en-US"/>
              <a:t>的容量为 </a:t>
            </a:r>
            <a:r>
              <a:rPr lang="en-US" altLang="zh-CN"/>
              <a:t>c</a:t>
            </a:r>
            <a:r>
              <a:rPr lang="en-US" altLang="zh-CN" baseline="-25000"/>
              <a:t>ij</a:t>
            </a:r>
            <a:r>
              <a:rPr lang="zh-CN" altLang="en-US"/>
              <a:t>，单位流量的费用 </a:t>
            </a:r>
            <a:r>
              <a:rPr lang="en-US" altLang="zh-CN" i="1"/>
              <a:t>b</a:t>
            </a:r>
            <a:r>
              <a:rPr lang="en-US" altLang="zh-CN" baseline="-25000"/>
              <a:t>ij </a:t>
            </a:r>
            <a:r>
              <a:rPr lang="en-US" altLang="zh-CN"/>
              <a:t>≥ 0</a:t>
            </a:r>
            <a:r>
              <a:rPr lang="zh-CN" altLang="en-US"/>
              <a:t>，求一个最大流 </a:t>
            </a:r>
            <a:r>
              <a:rPr lang="en-US" altLang="zh-CN" i="1"/>
              <a:t>f</a:t>
            </a:r>
            <a:r>
              <a:rPr lang="zh-CN" altLang="en-US"/>
              <a:t>，使总输送费用</a:t>
            </a:r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取极小值。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/>
          </a:p>
        </p:txBody>
      </p:sp>
      <p:graphicFrame>
        <p:nvGraphicFramePr>
          <p:cNvPr id="74756" name="Object 4">
            <a:extLst>
              <a:ext uri="{FF2B5EF4-FFF2-40B4-BE49-F238E27FC236}">
                <a16:creationId xmlns:a16="http://schemas.microsoft.com/office/drawing/2014/main" id="{96277953-B026-46FC-BF56-C77433385297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905000" y="3048000"/>
          <a:ext cx="3581400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0" name="公式" r:id="rId3" imgW="1040948" imgH="380835" progId="Equation.3">
                  <p:embed/>
                </p:oleObj>
              </mc:Choice>
              <mc:Fallback>
                <p:oleObj name="公式" r:id="rId3" imgW="1040948" imgH="3808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048000"/>
                        <a:ext cx="3581400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2ADE1B1A-CDAB-43FD-8817-7080DAD58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增广链的费用</a:t>
            </a:r>
          </a:p>
        </p:txBody>
      </p:sp>
      <p:sp>
        <p:nvSpPr>
          <p:cNvPr id="304131" name="Rectangle 3">
            <a:extLst>
              <a:ext uri="{FF2B5EF4-FFF2-40B4-BE49-F238E27FC236}">
                <a16:creationId xmlns:a16="http://schemas.microsoft.com/office/drawing/2014/main" id="{2E75278F-3BC3-4A99-A177-29F57469551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001000" cy="4987925"/>
          </a:xfrm>
        </p:spPr>
        <p:txBody>
          <a:bodyPr/>
          <a:lstStyle/>
          <a:p>
            <a:pPr eaLnBrk="1" hangingPunct="1"/>
            <a:r>
              <a:rPr lang="zh-CN" altLang="en-US"/>
              <a:t>沿 </a:t>
            </a:r>
            <a:r>
              <a:rPr lang="en-US" altLang="zh-CN" i="1"/>
              <a:t>f </a:t>
            </a:r>
            <a:r>
              <a:rPr lang="zh-CN" altLang="en-US"/>
              <a:t>的增广链</a:t>
            </a:r>
            <a:r>
              <a:rPr lang="en-US" altLang="zh-CN"/>
              <a:t>u</a:t>
            </a:r>
            <a:r>
              <a:rPr lang="zh-CN" altLang="en-US"/>
              <a:t>调整时，提高一单位流量所增加的输送费用</a:t>
            </a:r>
          </a:p>
          <a:p>
            <a:pPr eaLnBrk="1" hangingPunct="1"/>
            <a:endParaRPr lang="en-US" altLang="zh-CN" sz="2800"/>
          </a:p>
        </p:txBody>
      </p:sp>
      <p:graphicFrame>
        <p:nvGraphicFramePr>
          <p:cNvPr id="304133" name="Object 5">
            <a:extLst>
              <a:ext uri="{FF2B5EF4-FFF2-40B4-BE49-F238E27FC236}">
                <a16:creationId xmlns:a16="http://schemas.microsoft.com/office/drawing/2014/main" id="{6DE0DC98-A449-4E49-A333-B7355578437C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838200" y="3352800"/>
          <a:ext cx="754380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29" name="公式" r:id="rId3" imgW="2794000" imgH="355600" progId="Equation.3">
                  <p:embed/>
                </p:oleObj>
              </mc:Choice>
              <mc:Fallback>
                <p:oleObj name="公式" r:id="rId3" imgW="2794000" imgH="355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352800"/>
                        <a:ext cx="7543800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2" name="Text Box 4">
            <a:extLst>
              <a:ext uri="{FF2B5EF4-FFF2-40B4-BE49-F238E27FC236}">
                <a16:creationId xmlns:a16="http://schemas.microsoft.com/office/drawing/2014/main" id="{752C27E4-C8B8-445B-96C4-C9890C378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514600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设得到的新可行流为 </a:t>
            </a:r>
            <a:r>
              <a:rPr lang="en-US" altLang="zh-CN" sz="2800" i="1"/>
              <a:t>f</a:t>
            </a:r>
            <a:r>
              <a:rPr lang="en-US" altLang="zh-CN" sz="2800">
                <a:latin typeface="Arial" panose="020B0604020202020204" pitchFamily="34" charset="0"/>
              </a:rPr>
              <a:t>′</a:t>
            </a:r>
          </a:p>
        </p:txBody>
      </p:sp>
      <p:graphicFrame>
        <p:nvGraphicFramePr>
          <p:cNvPr id="304135" name="Object 7">
            <a:extLst>
              <a:ext uri="{FF2B5EF4-FFF2-40B4-BE49-F238E27FC236}">
                <a16:creationId xmlns:a16="http://schemas.microsoft.com/office/drawing/2014/main" id="{6EFF54B9-F97C-47FA-8299-E6B2BFA21A59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971800" y="4572000"/>
          <a:ext cx="24384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30" name="公式" r:id="rId5" imgW="939392" imgH="355446" progId="Equation.3">
                  <p:embed/>
                </p:oleObj>
              </mc:Choice>
              <mc:Fallback>
                <p:oleObj name="公式" r:id="rId5" imgW="939392" imgH="35544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572000"/>
                        <a:ext cx="243840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1" grpId="0" build="p"/>
      <p:bldP spid="30413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0BEF0F98-EE49-4D9C-9C95-372A8B0611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理论依据</a:t>
            </a:r>
          </a:p>
        </p:txBody>
      </p:sp>
      <p:sp>
        <p:nvSpPr>
          <p:cNvPr id="283651" name="Rectangle 3">
            <a:extLst>
              <a:ext uri="{FF2B5EF4-FFF2-40B4-BE49-F238E27FC236}">
                <a16:creationId xmlns:a16="http://schemas.microsoft.com/office/drawing/2014/main" id="{0383E23C-1CBB-442D-8A99-225A795814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若 </a:t>
            </a:r>
            <a:r>
              <a:rPr lang="en-US" altLang="zh-CN" i="1"/>
              <a:t>f </a:t>
            </a:r>
            <a:r>
              <a:rPr lang="zh-CN" altLang="en-US"/>
              <a:t>是流量为 </a:t>
            </a:r>
            <a:r>
              <a:rPr lang="en-US" altLang="zh-CN"/>
              <a:t>v(</a:t>
            </a:r>
            <a:r>
              <a:rPr lang="en-US" altLang="zh-CN" i="1"/>
              <a:t>f</a:t>
            </a:r>
            <a:r>
              <a:rPr lang="en-US" altLang="zh-CN"/>
              <a:t>)</a:t>
            </a:r>
            <a:r>
              <a:rPr lang="zh-CN" altLang="en-US"/>
              <a:t>的可行流中费用最小者，</a:t>
            </a:r>
            <a:r>
              <a:rPr lang="en-US" altLang="zh-CN"/>
              <a:t>u</a:t>
            </a:r>
            <a:r>
              <a:rPr lang="zh-CN" altLang="en-US"/>
              <a:t>是其费用最小的增广链，那么沿</a:t>
            </a:r>
            <a:r>
              <a:rPr lang="en-US" altLang="zh-CN"/>
              <a:t>u</a:t>
            </a:r>
            <a:r>
              <a:rPr lang="zh-CN" altLang="en-US"/>
              <a:t>调整得到的可行流 </a:t>
            </a:r>
            <a:r>
              <a:rPr lang="en-US" altLang="zh-CN" i="1"/>
              <a:t>f</a:t>
            </a:r>
            <a:r>
              <a:rPr lang="en-US" altLang="en-US"/>
              <a:t>′</a:t>
            </a:r>
            <a:r>
              <a:rPr lang="zh-CN" altLang="en-US"/>
              <a:t>就是流量为 </a:t>
            </a:r>
            <a:r>
              <a:rPr lang="en-US" altLang="zh-CN"/>
              <a:t>v( </a:t>
            </a:r>
            <a:r>
              <a:rPr lang="en-US" altLang="zh-CN" i="1"/>
              <a:t>f </a:t>
            </a:r>
            <a:r>
              <a:rPr lang="en-US" altLang="en-US" sz="2800"/>
              <a:t>′</a:t>
            </a:r>
            <a:r>
              <a:rPr lang="en-US" altLang="zh-CN"/>
              <a:t>)</a:t>
            </a:r>
            <a:r>
              <a:rPr lang="zh-CN" altLang="en-US"/>
              <a:t>的所有可行流中的最小费用流</a:t>
            </a:r>
          </a:p>
          <a:p>
            <a:pPr lvl="1" eaLnBrk="1" hangingPunct="1"/>
            <a:r>
              <a:rPr lang="zh-CN" altLang="en-US"/>
              <a:t>总可从 </a:t>
            </a:r>
            <a:r>
              <a:rPr lang="en-US" altLang="zh-CN" sz="3200" i="1"/>
              <a:t>f</a:t>
            </a:r>
            <a:r>
              <a:rPr lang="en-US" altLang="zh-CN"/>
              <a:t>=0</a:t>
            </a:r>
            <a:r>
              <a:rPr lang="zh-CN" altLang="en-US"/>
              <a:t>开始</a:t>
            </a:r>
          </a:p>
          <a:p>
            <a:pPr lvl="1" eaLnBrk="1" hangingPunct="1"/>
            <a:r>
              <a:rPr lang="zh-CN" altLang="en-US"/>
              <a:t>如何寻找 </a:t>
            </a:r>
            <a:r>
              <a:rPr lang="en-US" altLang="zh-CN" sz="3200" i="1"/>
              <a:t>f </a:t>
            </a:r>
            <a:r>
              <a:rPr lang="zh-CN" altLang="en-US"/>
              <a:t>的最小费用增广链？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3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3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1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157662C8-B0E3-43EB-9677-35A3F9D406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求最小费用增广链</a:t>
            </a:r>
          </a:p>
        </p:txBody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B3C751D0-E741-46FF-BB83-06231A3353D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153400" cy="5181600"/>
          </a:xfrm>
        </p:spPr>
        <p:txBody>
          <a:bodyPr/>
          <a:lstStyle/>
          <a:p>
            <a:pPr eaLnBrk="1" hangingPunct="1"/>
            <a:r>
              <a:rPr lang="zh-CN" altLang="en-US"/>
              <a:t>构造赋权有向图 </a:t>
            </a:r>
            <a:r>
              <a:rPr lang="en-US" altLang="zh-CN"/>
              <a:t>W(</a:t>
            </a:r>
            <a:r>
              <a:rPr lang="en-US" altLang="zh-CN" i="1"/>
              <a:t>f</a:t>
            </a:r>
            <a:r>
              <a:rPr lang="en-US" altLang="zh-CN"/>
              <a:t>)</a:t>
            </a:r>
          </a:p>
          <a:p>
            <a:pPr lvl="1" eaLnBrk="1" hangingPunct="1"/>
            <a:r>
              <a:rPr lang="zh-CN" altLang="en-US"/>
              <a:t>顶点为原网络顶点</a:t>
            </a:r>
          </a:p>
          <a:p>
            <a:pPr lvl="1" eaLnBrk="1" hangingPunct="1"/>
            <a:endParaRPr lang="zh-CN" altLang="en-US"/>
          </a:p>
          <a:p>
            <a:pPr lvl="1" eaLnBrk="1" hangingPunct="1"/>
            <a:endParaRPr lang="zh-CN" altLang="en-US"/>
          </a:p>
          <a:p>
            <a:pPr lvl="1" eaLnBrk="1" hangingPunct="1"/>
            <a:r>
              <a:rPr lang="zh-CN" altLang="en-US"/>
              <a:t>弧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 baseline="-25000"/>
              <a:t>i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j</a:t>
            </a:r>
            <a:r>
              <a:rPr lang="en-US" altLang="zh-CN"/>
              <a:t>)</a:t>
            </a:r>
          </a:p>
          <a:p>
            <a:pPr lvl="1" eaLnBrk="1" hangingPunct="1"/>
            <a:endParaRPr lang="en-US" altLang="zh-CN"/>
          </a:p>
          <a:p>
            <a:pPr lvl="1" eaLnBrk="1" hangingPunct="1"/>
            <a:endParaRPr lang="en-US" altLang="zh-CN"/>
          </a:p>
          <a:p>
            <a:pPr lvl="1" eaLnBrk="1" hangingPunct="1"/>
            <a:endParaRPr lang="en-US" altLang="zh-CN"/>
          </a:p>
          <a:p>
            <a:pPr eaLnBrk="1" hangingPunct="1"/>
            <a:r>
              <a:rPr lang="zh-CN" altLang="en-US"/>
              <a:t>等价于</a:t>
            </a:r>
            <a:r>
              <a:rPr lang="zh-CN" altLang="en-US">
                <a:solidFill>
                  <a:srgbClr val="FF3300"/>
                </a:solidFill>
              </a:rPr>
              <a:t>在</a:t>
            </a:r>
            <a:r>
              <a:rPr lang="en-US" altLang="zh-CN">
                <a:solidFill>
                  <a:srgbClr val="FF3300"/>
                </a:solidFill>
              </a:rPr>
              <a:t>W(</a:t>
            </a:r>
            <a:r>
              <a:rPr lang="en-US" altLang="zh-CN" i="1">
                <a:solidFill>
                  <a:srgbClr val="FF3300"/>
                </a:solidFill>
              </a:rPr>
              <a:t>f</a:t>
            </a:r>
            <a:r>
              <a:rPr lang="en-US" altLang="zh-CN">
                <a:solidFill>
                  <a:srgbClr val="FF3300"/>
                </a:solidFill>
              </a:rPr>
              <a:t>)</a:t>
            </a:r>
            <a:r>
              <a:rPr lang="zh-CN" altLang="en-US">
                <a:solidFill>
                  <a:srgbClr val="FF3300"/>
                </a:solidFill>
              </a:rPr>
              <a:t>中求</a:t>
            </a:r>
            <a:r>
              <a:rPr lang="en-US" altLang="zh-CN">
                <a:solidFill>
                  <a:srgbClr val="FF3300"/>
                </a:solidFill>
              </a:rPr>
              <a:t>v</a:t>
            </a:r>
            <a:r>
              <a:rPr lang="en-US" altLang="zh-CN" baseline="-25000">
                <a:solidFill>
                  <a:srgbClr val="FF3300"/>
                </a:solidFill>
              </a:rPr>
              <a:t>s</a:t>
            </a:r>
            <a:r>
              <a:rPr lang="zh-CN" altLang="en-US">
                <a:solidFill>
                  <a:srgbClr val="FF3300"/>
                </a:solidFill>
              </a:rPr>
              <a:t>到</a:t>
            </a:r>
            <a:r>
              <a:rPr lang="en-US" altLang="zh-CN">
                <a:solidFill>
                  <a:srgbClr val="FF3300"/>
                </a:solidFill>
              </a:rPr>
              <a:t>v</a:t>
            </a:r>
            <a:r>
              <a:rPr lang="en-US" altLang="zh-CN" baseline="-25000">
                <a:solidFill>
                  <a:srgbClr val="FF3300"/>
                </a:solidFill>
              </a:rPr>
              <a:t>t</a:t>
            </a:r>
            <a:r>
              <a:rPr lang="zh-CN" altLang="en-US">
                <a:solidFill>
                  <a:srgbClr val="FF3300"/>
                </a:solidFill>
              </a:rPr>
              <a:t>的最短路问题</a:t>
            </a:r>
          </a:p>
        </p:txBody>
      </p:sp>
      <p:graphicFrame>
        <p:nvGraphicFramePr>
          <p:cNvPr id="284676" name="Object 4">
            <a:extLst>
              <a:ext uri="{FF2B5EF4-FFF2-40B4-BE49-F238E27FC236}">
                <a16:creationId xmlns:a16="http://schemas.microsoft.com/office/drawing/2014/main" id="{8CBD12F2-7F7B-4CF3-8497-335E33CD13BE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724400" y="2362200"/>
          <a:ext cx="2895600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0" name="公式" r:id="rId3" imgW="1244600" imgH="482600" progId="Equation.3">
                  <p:embed/>
                </p:oleObj>
              </mc:Choice>
              <mc:Fallback>
                <p:oleObj name="公式" r:id="rId3" imgW="12446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362200"/>
                        <a:ext cx="2895600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78" name="Object 6">
            <a:extLst>
              <a:ext uri="{FF2B5EF4-FFF2-40B4-BE49-F238E27FC236}">
                <a16:creationId xmlns:a16="http://schemas.microsoft.com/office/drawing/2014/main" id="{067661D3-AFC4-4538-8A39-33BE3A30339A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800600" y="3657600"/>
          <a:ext cx="2667000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1" name="公式" r:id="rId5" imgW="1218671" imgH="482391" progId="Equation.3">
                  <p:embed/>
                </p:oleObj>
              </mc:Choice>
              <mc:Fallback>
                <p:oleObj name="公式" r:id="rId5" imgW="1218671" imgH="48239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657600"/>
                        <a:ext cx="2667000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0" name="Text Box 8">
            <a:extLst>
              <a:ext uri="{FF2B5EF4-FFF2-40B4-BE49-F238E27FC236}">
                <a16:creationId xmlns:a16="http://schemas.microsoft.com/office/drawing/2014/main" id="{A3C809E5-085A-4FF8-820F-FACC5B063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667000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(</a:t>
            </a:r>
            <a:r>
              <a:rPr lang="en-US" altLang="zh-CN" sz="2800" i="1"/>
              <a:t>v</a:t>
            </a:r>
            <a:r>
              <a:rPr lang="en-US" altLang="zh-CN" sz="2800" baseline="-25000"/>
              <a:t>i</a:t>
            </a:r>
            <a:r>
              <a:rPr lang="en-US" altLang="zh-CN" sz="2800"/>
              <a:t>,</a:t>
            </a:r>
            <a:r>
              <a:rPr lang="en-US" altLang="zh-CN" sz="2800" i="1"/>
              <a:t>v</a:t>
            </a:r>
            <a:r>
              <a:rPr lang="en-US" altLang="zh-CN" sz="2800" baseline="-25000"/>
              <a:t>j</a:t>
            </a:r>
            <a:r>
              <a:rPr lang="en-US" altLang="zh-CN" sz="2800"/>
              <a:t>)</a:t>
            </a:r>
            <a:r>
              <a:rPr lang="zh-CN" altLang="en-US" sz="2800"/>
              <a:t>，权</a:t>
            </a:r>
          </a:p>
        </p:txBody>
      </p:sp>
      <p:sp>
        <p:nvSpPr>
          <p:cNvPr id="284681" name="Text Box 9">
            <a:extLst>
              <a:ext uri="{FF2B5EF4-FFF2-40B4-BE49-F238E27FC236}">
                <a16:creationId xmlns:a16="http://schemas.microsoft.com/office/drawing/2014/main" id="{D6157802-41D1-425B-AFE2-9536760D6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900488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(</a:t>
            </a:r>
            <a:r>
              <a:rPr lang="en-US" altLang="zh-CN" sz="2800" i="1"/>
              <a:t>v</a:t>
            </a:r>
            <a:r>
              <a:rPr lang="en-US" altLang="zh-CN" sz="2800" baseline="-25000"/>
              <a:t>j</a:t>
            </a:r>
            <a:r>
              <a:rPr lang="en-US" altLang="zh-CN" sz="2800"/>
              <a:t>,</a:t>
            </a:r>
            <a:r>
              <a:rPr lang="en-US" altLang="zh-CN" sz="2800" i="1"/>
              <a:t>v</a:t>
            </a:r>
            <a:r>
              <a:rPr lang="en-US" altLang="zh-CN" sz="2800" baseline="-25000"/>
              <a:t>i</a:t>
            </a:r>
            <a:r>
              <a:rPr lang="en-US" altLang="zh-CN" sz="2800"/>
              <a:t>)</a:t>
            </a:r>
            <a:r>
              <a:rPr lang="zh-CN" altLang="en-US" sz="2800"/>
              <a:t>，权</a:t>
            </a:r>
          </a:p>
        </p:txBody>
      </p:sp>
      <p:sp>
        <p:nvSpPr>
          <p:cNvPr id="284682" name="Line 10">
            <a:extLst>
              <a:ext uri="{FF2B5EF4-FFF2-40B4-BE49-F238E27FC236}">
                <a16:creationId xmlns:a16="http://schemas.microsoft.com/office/drawing/2014/main" id="{3F074809-AD54-4F4A-995C-A9987C2272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3124200"/>
            <a:ext cx="53340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4683" name="Line 11">
            <a:extLst>
              <a:ext uri="{FF2B5EF4-FFF2-40B4-BE49-F238E27FC236}">
                <a16:creationId xmlns:a16="http://schemas.microsoft.com/office/drawing/2014/main" id="{A513191C-AB78-4B83-A15B-000B86FC0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3733800"/>
            <a:ext cx="53340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4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84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84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8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8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84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5" grpId="0" build="p"/>
      <p:bldP spid="284680" grpId="0"/>
      <p:bldP spid="28468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7CADDDFE-4262-4B45-81F5-1A377686F4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</a:p>
        </p:txBody>
      </p:sp>
      <p:sp>
        <p:nvSpPr>
          <p:cNvPr id="288771" name="Rectangle 3">
            <a:extLst>
              <a:ext uri="{FF2B5EF4-FFF2-40B4-BE49-F238E27FC236}">
                <a16:creationId xmlns:a16="http://schemas.microsoft.com/office/drawing/2014/main" id="{A657A26D-7256-4EF5-B01C-6A1A2765BC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初始，</a:t>
            </a:r>
            <a:r>
              <a:rPr lang="en-US" altLang="zh-CN" i="1"/>
              <a:t>f </a:t>
            </a:r>
            <a:r>
              <a:rPr lang="en-US" altLang="zh-CN" baseline="30000"/>
              <a:t>(0)</a:t>
            </a:r>
            <a:r>
              <a:rPr lang="en-US" altLang="zh-CN"/>
              <a:t>=0</a:t>
            </a:r>
          </a:p>
          <a:p>
            <a:pPr eaLnBrk="1" hangingPunct="1"/>
            <a:r>
              <a:rPr lang="zh-CN" altLang="en-US"/>
              <a:t>由 </a:t>
            </a:r>
            <a:r>
              <a:rPr lang="en-US" altLang="zh-CN" i="1"/>
              <a:t>f </a:t>
            </a:r>
            <a:r>
              <a:rPr lang="en-US" altLang="zh-CN" baseline="30000"/>
              <a:t>(k-1)</a:t>
            </a:r>
            <a:r>
              <a:rPr lang="en-US" altLang="zh-CN"/>
              <a:t> →W(</a:t>
            </a:r>
            <a:r>
              <a:rPr lang="en-US" altLang="zh-CN" i="1"/>
              <a:t>f </a:t>
            </a:r>
            <a:r>
              <a:rPr lang="en-US" altLang="zh-CN" baseline="30000"/>
              <a:t>(k-1)</a:t>
            </a:r>
            <a:r>
              <a:rPr lang="en-US" altLang="zh-CN"/>
              <a:t>)</a:t>
            </a:r>
            <a:r>
              <a:rPr lang="zh-CN" altLang="en-US"/>
              <a:t>，寻求</a:t>
            </a:r>
            <a:r>
              <a:rPr lang="en-US" altLang="zh-CN"/>
              <a:t>v</a:t>
            </a:r>
            <a:r>
              <a:rPr lang="en-US" altLang="zh-CN" baseline="-25000"/>
              <a:t>s</a:t>
            </a:r>
            <a:r>
              <a:rPr lang="en-US" altLang="zh-CN"/>
              <a:t>,v</a:t>
            </a:r>
            <a:r>
              <a:rPr lang="en-US" altLang="zh-CN" baseline="-25000"/>
              <a:t>t</a:t>
            </a:r>
            <a:r>
              <a:rPr lang="zh-CN" altLang="en-US"/>
              <a:t>最短路</a:t>
            </a:r>
          </a:p>
          <a:p>
            <a:pPr lvl="1" eaLnBrk="1" hangingPunct="1"/>
            <a:r>
              <a:rPr lang="zh-CN" altLang="en-US"/>
              <a:t>若该最短路不存在，</a:t>
            </a:r>
            <a:r>
              <a:rPr lang="en-US" altLang="zh-CN" sz="3200" i="1"/>
              <a:t>f </a:t>
            </a:r>
            <a:r>
              <a:rPr lang="en-US" altLang="zh-CN" sz="3200" baseline="30000"/>
              <a:t>(k-1)</a:t>
            </a:r>
            <a:r>
              <a:rPr lang="zh-CN" altLang="en-US"/>
              <a:t>为最小费用最大流</a:t>
            </a:r>
          </a:p>
          <a:p>
            <a:pPr lvl="1" eaLnBrk="1" hangingPunct="1"/>
            <a:r>
              <a:rPr lang="zh-CN" altLang="en-US"/>
              <a:t>否则，得到增广链 </a:t>
            </a:r>
            <a:r>
              <a:rPr lang="en-US" altLang="zh-CN"/>
              <a:t>u</a:t>
            </a:r>
          </a:p>
          <a:p>
            <a:pPr lvl="1" eaLnBrk="1" hangingPunct="1"/>
            <a:r>
              <a:rPr lang="zh-CN" altLang="en-US"/>
              <a:t>对</a:t>
            </a:r>
            <a:r>
              <a:rPr lang="en-US" altLang="zh-CN"/>
              <a:t>u</a:t>
            </a:r>
            <a:r>
              <a:rPr lang="zh-CN" altLang="en-US"/>
              <a:t>调整得新可行流 </a:t>
            </a:r>
            <a:r>
              <a:rPr lang="en-US" altLang="zh-CN" sz="3200" i="1"/>
              <a:t>f </a:t>
            </a:r>
            <a:r>
              <a:rPr lang="en-US" altLang="zh-CN" sz="3200" baseline="30000"/>
              <a:t>(k)</a:t>
            </a:r>
            <a:r>
              <a:rPr lang="en-US" altLang="zh-CN"/>
              <a:t>, </a:t>
            </a:r>
            <a:r>
              <a:rPr lang="zh-CN" altLang="en-US"/>
              <a:t>返回迭代</a:t>
            </a:r>
          </a:p>
          <a:p>
            <a:pPr lvl="1" eaLnBrk="1" hangingPunct="1"/>
            <a:endParaRPr lang="zh-CN" altLang="en-US"/>
          </a:p>
          <a:p>
            <a:pPr lvl="1" eaLnBrk="1" hangingPunct="1"/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8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8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1" grpId="0" build="p" bldLvl="3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AEA9EA33-3760-4CBC-A2F0-E446F37E63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例子</a:t>
            </a:r>
          </a:p>
        </p:txBody>
      </p:sp>
      <p:sp>
        <p:nvSpPr>
          <p:cNvPr id="79875" name="Text Box 22">
            <a:extLst>
              <a:ext uri="{FF2B5EF4-FFF2-40B4-BE49-F238E27FC236}">
                <a16:creationId xmlns:a16="http://schemas.microsoft.com/office/drawing/2014/main" id="{2EC2C0DA-8DCF-472D-8704-102CB21D1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990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7, </a:t>
            </a:r>
            <a:r>
              <a:rPr lang="en-US" altLang="zh-CN" sz="2400">
                <a:solidFill>
                  <a:srgbClr val="6C04AC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79876" name="Oval 5">
            <a:extLst>
              <a:ext uri="{FF2B5EF4-FFF2-40B4-BE49-F238E27FC236}">
                <a16:creationId xmlns:a16="http://schemas.microsoft.com/office/drawing/2014/main" id="{95E11F0B-198B-4D05-9CFE-E4AF894DA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119313"/>
            <a:ext cx="457200" cy="385762"/>
          </a:xfrm>
          <a:prstGeom prst="ellipse">
            <a:avLst/>
          </a:prstGeom>
          <a:solidFill>
            <a:schemeClr val="tx2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79877" name="Oval 6">
            <a:extLst>
              <a:ext uri="{FF2B5EF4-FFF2-40B4-BE49-F238E27FC236}">
                <a16:creationId xmlns:a16="http://schemas.microsoft.com/office/drawing/2014/main" id="{0B02A377-B893-4652-8325-BC3D16407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219200"/>
            <a:ext cx="457200" cy="385763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9878" name="Oval 7">
            <a:extLst>
              <a:ext uri="{FF2B5EF4-FFF2-40B4-BE49-F238E27FC236}">
                <a16:creationId xmlns:a16="http://schemas.microsoft.com/office/drawing/2014/main" id="{5F55BE8F-4243-4A3B-A5BD-CB2D0E53F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019425"/>
            <a:ext cx="457200" cy="384175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9879" name="Oval 8">
            <a:extLst>
              <a:ext uri="{FF2B5EF4-FFF2-40B4-BE49-F238E27FC236}">
                <a16:creationId xmlns:a16="http://schemas.microsoft.com/office/drawing/2014/main" id="{03AB624C-994C-493D-9D0B-A6CC10AD2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219200"/>
            <a:ext cx="457200" cy="3857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79880" name="Line 11">
            <a:extLst>
              <a:ext uri="{FF2B5EF4-FFF2-40B4-BE49-F238E27FC236}">
                <a16:creationId xmlns:a16="http://schemas.microsoft.com/office/drawing/2014/main" id="{D634A063-7CAA-498F-9598-4D6698B767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1539875"/>
            <a:ext cx="1447800" cy="6429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81" name="Line 12">
            <a:extLst>
              <a:ext uri="{FF2B5EF4-FFF2-40B4-BE49-F238E27FC236}">
                <a16:creationId xmlns:a16="http://schemas.microsoft.com/office/drawing/2014/main" id="{457FF89E-B67F-46B6-8C9C-ADEFCE45DF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2439988"/>
            <a:ext cx="1447800" cy="708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82" name="Line 13">
            <a:extLst>
              <a:ext uri="{FF2B5EF4-FFF2-40B4-BE49-F238E27FC236}">
                <a16:creationId xmlns:a16="http://schemas.microsoft.com/office/drawing/2014/main" id="{7FDFD145-716F-4EC8-A80E-0539C8F456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604963"/>
            <a:ext cx="0" cy="141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83" name="Line 14">
            <a:extLst>
              <a:ext uri="{FF2B5EF4-FFF2-40B4-BE49-F238E27FC236}">
                <a16:creationId xmlns:a16="http://schemas.microsoft.com/office/drawing/2014/main" id="{37AA2BD9-F1D6-4AB9-A961-B3B62F9137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411288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84" name="Line 15">
            <a:extLst>
              <a:ext uri="{FF2B5EF4-FFF2-40B4-BE49-F238E27FC236}">
                <a16:creationId xmlns:a16="http://schemas.microsoft.com/office/drawing/2014/main" id="{D83AC3C5-F226-440B-8C56-AA371D2687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211513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85" name="Line 17">
            <a:extLst>
              <a:ext uri="{FF2B5EF4-FFF2-40B4-BE49-F238E27FC236}">
                <a16:creationId xmlns:a16="http://schemas.microsoft.com/office/drawing/2014/main" id="{8E726552-ADCA-43B1-941B-1E3476555C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539875"/>
            <a:ext cx="1828800" cy="154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86" name="Text Box 20">
            <a:extLst>
              <a:ext uri="{FF2B5EF4-FFF2-40B4-BE49-F238E27FC236}">
                <a16:creationId xmlns:a16="http://schemas.microsoft.com/office/drawing/2014/main" id="{DE2C4B75-4954-441D-84F9-40736429AFED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295400" y="1447800"/>
            <a:ext cx="1360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(4, </a:t>
            </a:r>
            <a:r>
              <a:rPr lang="en-US" altLang="zh-CN" sz="2400">
                <a:solidFill>
                  <a:srgbClr val="FF3300"/>
                </a:solidFill>
              </a:rPr>
              <a:t>10, </a:t>
            </a:r>
            <a:r>
              <a:rPr lang="en-US" altLang="zh-CN" sz="2400">
                <a:solidFill>
                  <a:srgbClr val="6C04AC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79887" name="Text Box 21">
            <a:extLst>
              <a:ext uri="{FF2B5EF4-FFF2-40B4-BE49-F238E27FC236}">
                <a16:creationId xmlns:a16="http://schemas.microsoft.com/office/drawing/2014/main" id="{E5BDD03D-3E8E-4759-9983-8351E8E16D9E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485900" y="2817813"/>
            <a:ext cx="1181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8, </a:t>
            </a:r>
            <a:r>
              <a:rPr lang="en-US" altLang="zh-CN" sz="2400">
                <a:solidFill>
                  <a:srgbClr val="6C04AC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79888" name="Text Box 23">
            <a:extLst>
              <a:ext uri="{FF2B5EF4-FFF2-40B4-BE49-F238E27FC236}">
                <a16:creationId xmlns:a16="http://schemas.microsoft.com/office/drawing/2014/main" id="{46EFF848-9C0C-4720-82BA-DF81BF5EA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148013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10, </a:t>
            </a:r>
            <a:r>
              <a:rPr lang="en-US" altLang="zh-CN" sz="2400">
                <a:solidFill>
                  <a:srgbClr val="6C04AC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79889" name="Text Box 24">
            <a:extLst>
              <a:ext uri="{FF2B5EF4-FFF2-40B4-BE49-F238E27FC236}">
                <a16:creationId xmlns:a16="http://schemas.microsoft.com/office/drawing/2014/main" id="{7E64362B-4AF7-489F-8213-6324F61C8141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3673475" y="1925638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(6, </a:t>
            </a:r>
            <a:r>
              <a:rPr lang="en-US" altLang="zh-CN" sz="2400">
                <a:solidFill>
                  <a:srgbClr val="FF3300"/>
                </a:solidFill>
              </a:rPr>
              <a:t>2, </a:t>
            </a:r>
            <a:r>
              <a:rPr lang="en-US" altLang="zh-CN" sz="2400">
                <a:solidFill>
                  <a:srgbClr val="6C04AC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79890" name="Text Box 28">
            <a:extLst>
              <a:ext uri="{FF2B5EF4-FFF2-40B4-BE49-F238E27FC236}">
                <a16:creationId xmlns:a16="http://schemas.microsoft.com/office/drawing/2014/main" id="{3757E267-CDFB-482B-B211-E0535952DC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182813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5, </a:t>
            </a:r>
            <a:r>
              <a:rPr lang="en-US" altLang="zh-CN" sz="2400">
                <a:solidFill>
                  <a:srgbClr val="6C04AC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79891" name="Oval 34">
            <a:extLst>
              <a:ext uri="{FF2B5EF4-FFF2-40B4-BE49-F238E27FC236}">
                <a16:creationId xmlns:a16="http://schemas.microsoft.com/office/drawing/2014/main" id="{B5981B20-3DF5-4A18-AB45-1190E2412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954338"/>
            <a:ext cx="457200" cy="385762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9892" name="Line 35">
            <a:extLst>
              <a:ext uri="{FF2B5EF4-FFF2-40B4-BE49-F238E27FC236}">
                <a16:creationId xmlns:a16="http://schemas.microsoft.com/office/drawing/2014/main" id="{DB9863F1-140A-433A-A334-372B84C054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1604963"/>
            <a:ext cx="0" cy="1349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93" name="Text Box 36">
            <a:extLst>
              <a:ext uri="{FF2B5EF4-FFF2-40B4-BE49-F238E27FC236}">
                <a16:creationId xmlns:a16="http://schemas.microsoft.com/office/drawing/2014/main" id="{2A6FD5FD-DBA9-4236-82EA-854D6D69A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119313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4, </a:t>
            </a:r>
            <a:r>
              <a:rPr lang="en-US" altLang="zh-CN" sz="2400">
                <a:solidFill>
                  <a:srgbClr val="6C04AC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289830" name="Oval 38">
            <a:extLst>
              <a:ext uri="{FF2B5EF4-FFF2-40B4-BE49-F238E27FC236}">
                <a16:creationId xmlns:a16="http://schemas.microsoft.com/office/drawing/2014/main" id="{869CFF48-C26E-4B3D-BC7B-838EE62AF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143500"/>
            <a:ext cx="457200" cy="385763"/>
          </a:xfrm>
          <a:prstGeom prst="ellipse">
            <a:avLst/>
          </a:prstGeom>
          <a:solidFill>
            <a:schemeClr val="tx2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289831" name="Oval 39">
            <a:extLst>
              <a:ext uri="{FF2B5EF4-FFF2-40B4-BE49-F238E27FC236}">
                <a16:creationId xmlns:a16="http://schemas.microsoft.com/office/drawing/2014/main" id="{40A89029-8E7A-4EC8-B31A-59F84F16F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243388"/>
            <a:ext cx="457200" cy="385762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89832" name="Oval 40">
            <a:extLst>
              <a:ext uri="{FF2B5EF4-FFF2-40B4-BE49-F238E27FC236}">
                <a16:creationId xmlns:a16="http://schemas.microsoft.com/office/drawing/2014/main" id="{B8FA0F92-4D33-4724-9510-7B50AFA92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6043613"/>
            <a:ext cx="457200" cy="384175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89833" name="Oval 41">
            <a:extLst>
              <a:ext uri="{FF2B5EF4-FFF2-40B4-BE49-F238E27FC236}">
                <a16:creationId xmlns:a16="http://schemas.microsoft.com/office/drawing/2014/main" id="{199AFE94-1D59-437E-AE8F-A4C1AF11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243388"/>
            <a:ext cx="457200" cy="3857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89834" name="Line 42">
            <a:extLst>
              <a:ext uri="{FF2B5EF4-FFF2-40B4-BE49-F238E27FC236}">
                <a16:creationId xmlns:a16="http://schemas.microsoft.com/office/drawing/2014/main" id="{133F2A95-7831-4140-BAEF-8E8A309BB8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4564063"/>
            <a:ext cx="1447800" cy="6429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9835" name="Line 43">
            <a:extLst>
              <a:ext uri="{FF2B5EF4-FFF2-40B4-BE49-F238E27FC236}">
                <a16:creationId xmlns:a16="http://schemas.microsoft.com/office/drawing/2014/main" id="{4C5593CD-CFBE-4E3F-B261-E3C4C7B824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5464175"/>
            <a:ext cx="1447800" cy="708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9836" name="Line 44">
            <a:extLst>
              <a:ext uri="{FF2B5EF4-FFF2-40B4-BE49-F238E27FC236}">
                <a16:creationId xmlns:a16="http://schemas.microsoft.com/office/drawing/2014/main" id="{0C09C5FB-8411-48DB-9E0A-AE00D4786B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629150"/>
            <a:ext cx="0" cy="141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9837" name="Line 45">
            <a:extLst>
              <a:ext uri="{FF2B5EF4-FFF2-40B4-BE49-F238E27FC236}">
                <a16:creationId xmlns:a16="http://schemas.microsoft.com/office/drawing/2014/main" id="{EDD04625-E8D7-46ED-BD53-48F4A7668B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435475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9838" name="Line 46">
            <a:extLst>
              <a:ext uri="{FF2B5EF4-FFF2-40B4-BE49-F238E27FC236}">
                <a16:creationId xmlns:a16="http://schemas.microsoft.com/office/drawing/2014/main" id="{9ECE6320-3CBB-4A73-B48A-EC5FDB4E7B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62357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9839" name="Line 47">
            <a:extLst>
              <a:ext uri="{FF2B5EF4-FFF2-40B4-BE49-F238E27FC236}">
                <a16:creationId xmlns:a16="http://schemas.microsoft.com/office/drawing/2014/main" id="{A0D56C67-F360-4BD0-AD15-CC78B8548D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564063"/>
            <a:ext cx="1828800" cy="154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9840" name="Text Box 48">
            <a:extLst>
              <a:ext uri="{FF2B5EF4-FFF2-40B4-BE49-F238E27FC236}">
                <a16:creationId xmlns:a16="http://schemas.microsoft.com/office/drawing/2014/main" id="{709C312E-A537-4A93-B390-05CDE2DB5F85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460500" y="4495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4</a:t>
            </a:r>
          </a:p>
        </p:txBody>
      </p:sp>
      <p:sp>
        <p:nvSpPr>
          <p:cNvPr id="289841" name="Text Box 49">
            <a:extLst>
              <a:ext uri="{FF2B5EF4-FFF2-40B4-BE49-F238E27FC236}">
                <a16:creationId xmlns:a16="http://schemas.microsoft.com/office/drawing/2014/main" id="{C94A4930-2AAB-4E8F-840D-5F760F2C6A3A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428750" y="5781675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</a:t>
            </a:r>
          </a:p>
        </p:txBody>
      </p:sp>
      <p:sp>
        <p:nvSpPr>
          <p:cNvPr id="289842" name="Text Box 50">
            <a:extLst>
              <a:ext uri="{FF2B5EF4-FFF2-40B4-BE49-F238E27FC236}">
                <a16:creationId xmlns:a16="http://schemas.microsoft.com/office/drawing/2014/main" id="{029D9AE5-C5CD-498E-A601-4DA6B6E29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61722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289843" name="Text Box 51">
            <a:extLst>
              <a:ext uri="{FF2B5EF4-FFF2-40B4-BE49-F238E27FC236}">
                <a16:creationId xmlns:a16="http://schemas.microsoft.com/office/drawing/2014/main" id="{71D446CB-C4E3-4759-B746-AD97AA4E86BB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3657600" y="4953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6</a:t>
            </a:r>
          </a:p>
        </p:txBody>
      </p:sp>
      <p:sp>
        <p:nvSpPr>
          <p:cNvPr id="289844" name="Text Box 52">
            <a:extLst>
              <a:ext uri="{FF2B5EF4-FFF2-40B4-BE49-F238E27FC236}">
                <a16:creationId xmlns:a16="http://schemas.microsoft.com/office/drawing/2014/main" id="{B17C7EB6-0511-43B5-BF88-4BF275040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2070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 2</a:t>
            </a:r>
          </a:p>
        </p:txBody>
      </p:sp>
      <p:sp>
        <p:nvSpPr>
          <p:cNvPr id="289845" name="Oval 53">
            <a:extLst>
              <a:ext uri="{FF2B5EF4-FFF2-40B4-BE49-F238E27FC236}">
                <a16:creationId xmlns:a16="http://schemas.microsoft.com/office/drawing/2014/main" id="{2A2A6101-3458-4667-B73A-E8580C64B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978525"/>
            <a:ext cx="457200" cy="385763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89846" name="Line 54">
            <a:extLst>
              <a:ext uri="{FF2B5EF4-FFF2-40B4-BE49-F238E27FC236}">
                <a16:creationId xmlns:a16="http://schemas.microsoft.com/office/drawing/2014/main" id="{8BF65597-EB6A-4E6D-A7A7-46F0AD1109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4629150"/>
            <a:ext cx="0" cy="1349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9847" name="Text Box 55">
            <a:extLst>
              <a:ext uri="{FF2B5EF4-FFF2-40B4-BE49-F238E27FC236}">
                <a16:creationId xmlns:a16="http://schemas.microsoft.com/office/drawing/2014/main" id="{E6227962-A35F-4EC6-B6F3-F3CB493DF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51435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2</a:t>
            </a:r>
          </a:p>
        </p:txBody>
      </p:sp>
      <p:sp>
        <p:nvSpPr>
          <p:cNvPr id="79912" name="Text Box 56">
            <a:extLst>
              <a:ext uri="{FF2B5EF4-FFF2-40B4-BE49-F238E27FC236}">
                <a16:creationId xmlns:a16="http://schemas.microsoft.com/office/drawing/2014/main" id="{8E806BD8-16A2-4876-AC5F-8D39E8CBA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20574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i="1"/>
              <a:t>f </a:t>
            </a:r>
            <a:r>
              <a:rPr lang="en-US" altLang="zh-CN" sz="2800" baseline="30000"/>
              <a:t>(0)</a:t>
            </a:r>
            <a:r>
              <a:rPr lang="en-US" altLang="zh-CN" sz="2800"/>
              <a:t>=0</a:t>
            </a:r>
          </a:p>
        </p:txBody>
      </p:sp>
      <p:sp>
        <p:nvSpPr>
          <p:cNvPr id="289849" name="Text Box 57">
            <a:extLst>
              <a:ext uri="{FF2B5EF4-FFF2-40B4-BE49-F238E27FC236}">
                <a16:creationId xmlns:a16="http://schemas.microsoft.com/office/drawing/2014/main" id="{5461B85D-7849-4029-8FBC-A34865855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45720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W(</a:t>
            </a:r>
            <a:r>
              <a:rPr lang="en-US" altLang="zh-CN" sz="2800" i="1"/>
              <a:t>f </a:t>
            </a:r>
            <a:r>
              <a:rPr lang="en-US" altLang="zh-CN" sz="2800" baseline="30000"/>
              <a:t>(0)</a:t>
            </a:r>
            <a:r>
              <a:rPr lang="en-US" altLang="zh-CN" sz="2800"/>
              <a:t>)</a:t>
            </a:r>
          </a:p>
        </p:txBody>
      </p:sp>
      <p:sp>
        <p:nvSpPr>
          <p:cNvPr id="289850" name="Text Box 58">
            <a:extLst>
              <a:ext uri="{FF2B5EF4-FFF2-40B4-BE49-F238E27FC236}">
                <a16:creationId xmlns:a16="http://schemas.microsoft.com/office/drawing/2014/main" id="{5F9BBB23-CC70-461A-9C82-C15E55484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962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</a:t>
            </a:r>
          </a:p>
        </p:txBody>
      </p:sp>
      <p:sp>
        <p:nvSpPr>
          <p:cNvPr id="289851" name="Line 59">
            <a:extLst>
              <a:ext uri="{FF2B5EF4-FFF2-40B4-BE49-F238E27FC236}">
                <a16:creationId xmlns:a16="http://schemas.microsoft.com/office/drawing/2014/main" id="{AAAC3BD0-0F6F-4012-8CBE-3DCAC7EACE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5464175"/>
            <a:ext cx="1447800" cy="7080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9852" name="Line 60">
            <a:extLst>
              <a:ext uri="{FF2B5EF4-FFF2-40B4-BE49-F238E27FC236}">
                <a16:creationId xmlns:a16="http://schemas.microsoft.com/office/drawing/2014/main" id="{78D4CFC3-98B9-437F-B4D9-77FDBF3852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648200"/>
            <a:ext cx="0" cy="141446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9853" name="Line 61">
            <a:extLst>
              <a:ext uri="{FF2B5EF4-FFF2-40B4-BE49-F238E27FC236}">
                <a16:creationId xmlns:a16="http://schemas.microsoft.com/office/drawing/2014/main" id="{AC781B2E-34AB-4C23-B7CE-3E01F9F5F5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419600"/>
            <a:ext cx="17526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9854" name="Line 62">
            <a:extLst>
              <a:ext uri="{FF2B5EF4-FFF2-40B4-BE49-F238E27FC236}">
                <a16:creationId xmlns:a16="http://schemas.microsoft.com/office/drawing/2014/main" id="{FF1CBB6B-B1B8-42F4-BCCD-823CE06F91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2438400"/>
            <a:ext cx="1447800" cy="708025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9855" name="Line 63">
            <a:extLst>
              <a:ext uri="{FF2B5EF4-FFF2-40B4-BE49-F238E27FC236}">
                <a16:creationId xmlns:a16="http://schemas.microsoft.com/office/drawing/2014/main" id="{81E5536A-43F4-4389-8A5A-FB057B3E20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600200"/>
            <a:ext cx="0" cy="1414463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9858" name="Line 66">
            <a:extLst>
              <a:ext uri="{FF2B5EF4-FFF2-40B4-BE49-F238E27FC236}">
                <a16:creationId xmlns:a16="http://schemas.microsoft.com/office/drawing/2014/main" id="{8B3B9FE8-8A7D-4E12-8D1B-03919B93C1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1752600" cy="0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9859" name="Text Box 67">
            <a:extLst>
              <a:ext uri="{FF2B5EF4-FFF2-40B4-BE49-F238E27FC236}">
                <a16:creationId xmlns:a16="http://schemas.microsoft.com/office/drawing/2014/main" id="{FD05F3AE-61C6-4493-B4C2-B4CCA1730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6670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800">
                <a:solidFill>
                  <a:srgbClr val="FF9900"/>
                </a:solidFill>
                <a:cs typeface="Times New Roman" panose="02020603050405020304" pitchFamily="18" charset="0"/>
              </a:rPr>
              <a:t>θ</a:t>
            </a:r>
            <a:r>
              <a:rPr lang="en-US" altLang="zh-CN" sz="2800" i="1">
                <a:solidFill>
                  <a:srgbClr val="FF9900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sz="2800">
                <a:solidFill>
                  <a:srgbClr val="FF9900"/>
                </a:solidFill>
                <a:cs typeface="Times New Roman" panose="02020603050405020304" pitchFamily="18" charset="0"/>
              </a:rPr>
              <a:t>5</a:t>
            </a:r>
            <a:endParaRPr lang="en-US" altLang="zh-CN" sz="280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30" grpId="0" animBg="1"/>
      <p:bldP spid="289831" grpId="0" animBg="1"/>
      <p:bldP spid="289832" grpId="0" animBg="1"/>
      <p:bldP spid="289833" grpId="0" animBg="1"/>
      <p:bldP spid="289840" grpId="0"/>
      <p:bldP spid="289841" grpId="0"/>
      <p:bldP spid="289842" grpId="0"/>
      <p:bldP spid="289843" grpId="0"/>
      <p:bldP spid="289844" grpId="0"/>
      <p:bldP spid="289845" grpId="0" animBg="1"/>
      <p:bldP spid="289847" grpId="0"/>
      <p:bldP spid="289849" grpId="0"/>
      <p:bldP spid="289850" grpId="0"/>
      <p:bldP spid="289859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94" name="Freeform 54">
            <a:extLst>
              <a:ext uri="{FF2B5EF4-FFF2-40B4-BE49-F238E27FC236}">
                <a16:creationId xmlns:a16="http://schemas.microsoft.com/office/drawing/2014/main" id="{D20BB9BE-2DA9-4ECD-ADCB-5C889647B714}"/>
              </a:ext>
            </a:extLst>
          </p:cNvPr>
          <p:cNvSpPr>
            <a:spLocks/>
          </p:cNvSpPr>
          <p:nvPr/>
        </p:nvSpPr>
        <p:spPr bwMode="auto">
          <a:xfrm>
            <a:off x="3200400" y="4114800"/>
            <a:ext cx="1752600" cy="271463"/>
          </a:xfrm>
          <a:custGeom>
            <a:avLst/>
            <a:gdLst>
              <a:gd name="T0" fmla="*/ 0 w 1104"/>
              <a:gd name="T1" fmla="*/ 2147483646 h 171"/>
              <a:gd name="T2" fmla="*/ 2147483646 w 1104"/>
              <a:gd name="T3" fmla="*/ 0 h 171"/>
              <a:gd name="T4" fmla="*/ 2147483646 w 1104"/>
              <a:gd name="T5" fmla="*/ 2147483646 h 171"/>
              <a:gd name="T6" fmla="*/ 0 60000 65536"/>
              <a:gd name="T7" fmla="*/ 0 60000 65536"/>
              <a:gd name="T8" fmla="*/ 0 60000 65536"/>
              <a:gd name="T9" fmla="*/ 0 w 1104"/>
              <a:gd name="T10" fmla="*/ 0 h 171"/>
              <a:gd name="T11" fmla="*/ 1104 w 1104"/>
              <a:gd name="T12" fmla="*/ 171 h 1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171">
                <a:moveTo>
                  <a:pt x="0" y="170"/>
                </a:moveTo>
                <a:cubicBezTo>
                  <a:pt x="88" y="142"/>
                  <a:pt x="342" y="0"/>
                  <a:pt x="526" y="0"/>
                </a:cubicBezTo>
                <a:cubicBezTo>
                  <a:pt x="710" y="0"/>
                  <a:pt x="984" y="136"/>
                  <a:pt x="1104" y="171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6480776A-34ED-41CE-9B5F-CDA570202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例子</a:t>
            </a:r>
          </a:p>
        </p:txBody>
      </p:sp>
      <p:sp>
        <p:nvSpPr>
          <p:cNvPr id="80900" name="Text Box 3">
            <a:extLst>
              <a:ext uri="{FF2B5EF4-FFF2-40B4-BE49-F238E27FC236}">
                <a16:creationId xmlns:a16="http://schemas.microsoft.com/office/drawing/2014/main" id="{561786E7-41FF-4690-9BD4-5944BB6E5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990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7, </a:t>
            </a:r>
            <a:r>
              <a:rPr lang="en-US" altLang="zh-CN" sz="2400">
                <a:solidFill>
                  <a:srgbClr val="6C04AC"/>
                </a:solidFill>
              </a:rPr>
              <a:t>5</a:t>
            </a:r>
            <a:r>
              <a:rPr lang="en-US" altLang="zh-CN" sz="2400"/>
              <a:t>)</a:t>
            </a:r>
          </a:p>
        </p:txBody>
      </p:sp>
      <p:sp>
        <p:nvSpPr>
          <p:cNvPr id="80901" name="Oval 4">
            <a:extLst>
              <a:ext uri="{FF2B5EF4-FFF2-40B4-BE49-F238E27FC236}">
                <a16:creationId xmlns:a16="http://schemas.microsoft.com/office/drawing/2014/main" id="{A77FDC99-A962-42A3-B105-F27B69CDB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119313"/>
            <a:ext cx="457200" cy="385762"/>
          </a:xfrm>
          <a:prstGeom prst="ellipse">
            <a:avLst/>
          </a:prstGeom>
          <a:solidFill>
            <a:schemeClr val="tx2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80902" name="Oval 5">
            <a:extLst>
              <a:ext uri="{FF2B5EF4-FFF2-40B4-BE49-F238E27FC236}">
                <a16:creationId xmlns:a16="http://schemas.microsoft.com/office/drawing/2014/main" id="{E016EC78-67EC-42E3-B524-81D81D758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219200"/>
            <a:ext cx="457200" cy="385763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0903" name="Oval 6">
            <a:extLst>
              <a:ext uri="{FF2B5EF4-FFF2-40B4-BE49-F238E27FC236}">
                <a16:creationId xmlns:a16="http://schemas.microsoft.com/office/drawing/2014/main" id="{C5FAFE79-4610-461B-9A6A-C1AB32FC3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019425"/>
            <a:ext cx="457200" cy="384175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0904" name="Oval 7">
            <a:extLst>
              <a:ext uri="{FF2B5EF4-FFF2-40B4-BE49-F238E27FC236}">
                <a16:creationId xmlns:a16="http://schemas.microsoft.com/office/drawing/2014/main" id="{5E7F0EB5-CFAA-4C64-AC28-F7F994D03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219200"/>
            <a:ext cx="457200" cy="3857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80905" name="Line 8">
            <a:extLst>
              <a:ext uri="{FF2B5EF4-FFF2-40B4-BE49-F238E27FC236}">
                <a16:creationId xmlns:a16="http://schemas.microsoft.com/office/drawing/2014/main" id="{8141702C-0BF6-4659-B358-6EF99DD3B0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1539875"/>
            <a:ext cx="1447800" cy="6429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06" name="Line 9">
            <a:extLst>
              <a:ext uri="{FF2B5EF4-FFF2-40B4-BE49-F238E27FC236}">
                <a16:creationId xmlns:a16="http://schemas.microsoft.com/office/drawing/2014/main" id="{5DB3AC7A-EB5B-418A-B59E-E3C7794C19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2439988"/>
            <a:ext cx="1447800" cy="708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07" name="Line 10">
            <a:extLst>
              <a:ext uri="{FF2B5EF4-FFF2-40B4-BE49-F238E27FC236}">
                <a16:creationId xmlns:a16="http://schemas.microsoft.com/office/drawing/2014/main" id="{57A22149-54C2-48CA-8CDA-FF5A9E2CFF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604963"/>
            <a:ext cx="0" cy="141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08" name="Line 11">
            <a:extLst>
              <a:ext uri="{FF2B5EF4-FFF2-40B4-BE49-F238E27FC236}">
                <a16:creationId xmlns:a16="http://schemas.microsoft.com/office/drawing/2014/main" id="{962A4FDB-787D-44FD-AF6C-C85772E294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411288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09" name="Line 12">
            <a:extLst>
              <a:ext uri="{FF2B5EF4-FFF2-40B4-BE49-F238E27FC236}">
                <a16:creationId xmlns:a16="http://schemas.microsoft.com/office/drawing/2014/main" id="{3A9D5E24-F631-4AFA-A6D7-1D920CF7DC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211513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10" name="Line 13">
            <a:extLst>
              <a:ext uri="{FF2B5EF4-FFF2-40B4-BE49-F238E27FC236}">
                <a16:creationId xmlns:a16="http://schemas.microsoft.com/office/drawing/2014/main" id="{CBA44BFF-0ACF-4298-8C99-43727EB816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539875"/>
            <a:ext cx="1828800" cy="154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11" name="Text Box 14">
            <a:extLst>
              <a:ext uri="{FF2B5EF4-FFF2-40B4-BE49-F238E27FC236}">
                <a16:creationId xmlns:a16="http://schemas.microsoft.com/office/drawing/2014/main" id="{9D252C5B-E045-4C64-AB32-49388758C97A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295400" y="1447800"/>
            <a:ext cx="1360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(4, </a:t>
            </a:r>
            <a:r>
              <a:rPr lang="en-US" altLang="zh-CN" sz="2400">
                <a:solidFill>
                  <a:srgbClr val="FF3300"/>
                </a:solidFill>
              </a:rPr>
              <a:t>10, </a:t>
            </a:r>
            <a:r>
              <a:rPr lang="en-US" altLang="zh-CN" sz="2400">
                <a:solidFill>
                  <a:srgbClr val="6C04AC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80912" name="Text Box 15">
            <a:extLst>
              <a:ext uri="{FF2B5EF4-FFF2-40B4-BE49-F238E27FC236}">
                <a16:creationId xmlns:a16="http://schemas.microsoft.com/office/drawing/2014/main" id="{1D28CD8B-35AF-4886-8B58-F2303DB05448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485900" y="2817813"/>
            <a:ext cx="1181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8, </a:t>
            </a:r>
            <a:r>
              <a:rPr lang="en-US" altLang="zh-CN" sz="2400">
                <a:solidFill>
                  <a:srgbClr val="6C04AC"/>
                </a:solidFill>
              </a:rPr>
              <a:t>5</a:t>
            </a:r>
            <a:r>
              <a:rPr lang="en-US" altLang="zh-CN" sz="2400"/>
              <a:t>)</a:t>
            </a:r>
          </a:p>
        </p:txBody>
      </p:sp>
      <p:sp>
        <p:nvSpPr>
          <p:cNvPr id="80913" name="Text Box 16">
            <a:extLst>
              <a:ext uri="{FF2B5EF4-FFF2-40B4-BE49-F238E27FC236}">
                <a16:creationId xmlns:a16="http://schemas.microsoft.com/office/drawing/2014/main" id="{50F17974-B50E-4D30-B15F-523AECFCD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148013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10, </a:t>
            </a:r>
            <a:r>
              <a:rPr lang="en-US" altLang="zh-CN" sz="2400">
                <a:solidFill>
                  <a:srgbClr val="6C04AC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80914" name="Text Box 17">
            <a:extLst>
              <a:ext uri="{FF2B5EF4-FFF2-40B4-BE49-F238E27FC236}">
                <a16:creationId xmlns:a16="http://schemas.microsoft.com/office/drawing/2014/main" id="{1F942535-A701-418B-A803-3F976CDD035E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3673475" y="1925638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(6, </a:t>
            </a:r>
            <a:r>
              <a:rPr lang="en-US" altLang="zh-CN" sz="2400">
                <a:solidFill>
                  <a:srgbClr val="FF3300"/>
                </a:solidFill>
              </a:rPr>
              <a:t>2, </a:t>
            </a:r>
            <a:r>
              <a:rPr lang="en-US" altLang="zh-CN" sz="2400">
                <a:solidFill>
                  <a:srgbClr val="6C04AC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80915" name="Text Box 18">
            <a:extLst>
              <a:ext uri="{FF2B5EF4-FFF2-40B4-BE49-F238E27FC236}">
                <a16:creationId xmlns:a16="http://schemas.microsoft.com/office/drawing/2014/main" id="{B6BE31AF-F6E3-4AA6-B0F4-EF13E80ED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182813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5, </a:t>
            </a:r>
            <a:r>
              <a:rPr lang="en-US" altLang="zh-CN" sz="2400">
                <a:solidFill>
                  <a:srgbClr val="6C04AC"/>
                </a:solidFill>
              </a:rPr>
              <a:t>5</a:t>
            </a:r>
            <a:r>
              <a:rPr lang="en-US" altLang="zh-CN" sz="2400"/>
              <a:t>)</a:t>
            </a:r>
          </a:p>
        </p:txBody>
      </p:sp>
      <p:sp>
        <p:nvSpPr>
          <p:cNvPr id="80916" name="Oval 19">
            <a:extLst>
              <a:ext uri="{FF2B5EF4-FFF2-40B4-BE49-F238E27FC236}">
                <a16:creationId xmlns:a16="http://schemas.microsoft.com/office/drawing/2014/main" id="{78E23EC2-F785-4970-9731-AB8253DCD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954338"/>
            <a:ext cx="457200" cy="385762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0917" name="Line 20">
            <a:extLst>
              <a:ext uri="{FF2B5EF4-FFF2-40B4-BE49-F238E27FC236}">
                <a16:creationId xmlns:a16="http://schemas.microsoft.com/office/drawing/2014/main" id="{4AEB9E68-28E2-4A33-9F7E-5C57555165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1604963"/>
            <a:ext cx="0" cy="1349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18" name="Text Box 21">
            <a:extLst>
              <a:ext uri="{FF2B5EF4-FFF2-40B4-BE49-F238E27FC236}">
                <a16:creationId xmlns:a16="http://schemas.microsoft.com/office/drawing/2014/main" id="{85F2F624-0126-4123-9403-05139F0D4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119313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4, </a:t>
            </a:r>
            <a:r>
              <a:rPr lang="en-US" altLang="zh-CN" sz="2400">
                <a:solidFill>
                  <a:srgbClr val="6C04AC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291862" name="Oval 22">
            <a:extLst>
              <a:ext uri="{FF2B5EF4-FFF2-40B4-BE49-F238E27FC236}">
                <a16:creationId xmlns:a16="http://schemas.microsoft.com/office/drawing/2014/main" id="{47FB8BF9-02A5-4D8B-8534-241FB0361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143500"/>
            <a:ext cx="457200" cy="385763"/>
          </a:xfrm>
          <a:prstGeom prst="ellipse">
            <a:avLst/>
          </a:prstGeom>
          <a:solidFill>
            <a:schemeClr val="tx2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291863" name="Oval 23">
            <a:extLst>
              <a:ext uri="{FF2B5EF4-FFF2-40B4-BE49-F238E27FC236}">
                <a16:creationId xmlns:a16="http://schemas.microsoft.com/office/drawing/2014/main" id="{E81C6D0B-5200-4382-8C32-73957AD4B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243388"/>
            <a:ext cx="457200" cy="385762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91864" name="Oval 24">
            <a:extLst>
              <a:ext uri="{FF2B5EF4-FFF2-40B4-BE49-F238E27FC236}">
                <a16:creationId xmlns:a16="http://schemas.microsoft.com/office/drawing/2014/main" id="{93B0D2D8-C158-44DF-84AB-87085A652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6043613"/>
            <a:ext cx="457200" cy="384175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91865" name="Oval 25">
            <a:extLst>
              <a:ext uri="{FF2B5EF4-FFF2-40B4-BE49-F238E27FC236}">
                <a16:creationId xmlns:a16="http://schemas.microsoft.com/office/drawing/2014/main" id="{1C2E16A1-DD74-42B8-98F5-BAB757962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243388"/>
            <a:ext cx="457200" cy="3857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91866" name="Line 26">
            <a:extLst>
              <a:ext uri="{FF2B5EF4-FFF2-40B4-BE49-F238E27FC236}">
                <a16:creationId xmlns:a16="http://schemas.microsoft.com/office/drawing/2014/main" id="{F6FC4314-D549-4FD2-80DE-C2F1CF960F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4564063"/>
            <a:ext cx="1447800" cy="6429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1867" name="Freeform 27">
            <a:extLst>
              <a:ext uri="{FF2B5EF4-FFF2-40B4-BE49-F238E27FC236}">
                <a16:creationId xmlns:a16="http://schemas.microsoft.com/office/drawing/2014/main" id="{FC0A4B42-BDC0-40ED-AE92-04D62C768786}"/>
              </a:ext>
            </a:extLst>
          </p:cNvPr>
          <p:cNvSpPr>
            <a:spLocks/>
          </p:cNvSpPr>
          <p:nvPr/>
        </p:nvSpPr>
        <p:spPr bwMode="auto">
          <a:xfrm>
            <a:off x="1295400" y="5540375"/>
            <a:ext cx="1447800" cy="708025"/>
          </a:xfrm>
          <a:custGeom>
            <a:avLst/>
            <a:gdLst>
              <a:gd name="T0" fmla="*/ 0 w 912"/>
              <a:gd name="T1" fmla="*/ 0 h 446"/>
              <a:gd name="T2" fmla="*/ 2147483646 w 912"/>
              <a:gd name="T3" fmla="*/ 2147483646 h 446"/>
              <a:gd name="T4" fmla="*/ 2147483646 w 912"/>
              <a:gd name="T5" fmla="*/ 2147483646 h 446"/>
              <a:gd name="T6" fmla="*/ 0 60000 65536"/>
              <a:gd name="T7" fmla="*/ 0 60000 65536"/>
              <a:gd name="T8" fmla="*/ 0 60000 65536"/>
              <a:gd name="T9" fmla="*/ 0 w 912"/>
              <a:gd name="T10" fmla="*/ 0 h 446"/>
              <a:gd name="T11" fmla="*/ 912 w 912"/>
              <a:gd name="T12" fmla="*/ 446 h 4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446">
                <a:moveTo>
                  <a:pt x="0" y="0"/>
                </a:moveTo>
                <a:cubicBezTo>
                  <a:pt x="60" y="49"/>
                  <a:pt x="211" y="223"/>
                  <a:pt x="363" y="297"/>
                </a:cubicBezTo>
                <a:cubicBezTo>
                  <a:pt x="515" y="371"/>
                  <a:pt x="798" y="415"/>
                  <a:pt x="912" y="446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1868" name="Line 28">
            <a:extLst>
              <a:ext uri="{FF2B5EF4-FFF2-40B4-BE49-F238E27FC236}">
                <a16:creationId xmlns:a16="http://schemas.microsoft.com/office/drawing/2014/main" id="{304D379B-366D-4C56-B7D0-3316A2F5CE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629150"/>
            <a:ext cx="0" cy="141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1869" name="Freeform 29">
            <a:extLst>
              <a:ext uri="{FF2B5EF4-FFF2-40B4-BE49-F238E27FC236}">
                <a16:creationId xmlns:a16="http://schemas.microsoft.com/office/drawing/2014/main" id="{EE27D622-C339-41C6-A425-DE14EC81D293}"/>
              </a:ext>
            </a:extLst>
          </p:cNvPr>
          <p:cNvSpPr>
            <a:spLocks/>
          </p:cNvSpPr>
          <p:nvPr/>
        </p:nvSpPr>
        <p:spPr bwMode="auto">
          <a:xfrm>
            <a:off x="3200400" y="4114800"/>
            <a:ext cx="1752600" cy="271463"/>
          </a:xfrm>
          <a:custGeom>
            <a:avLst/>
            <a:gdLst>
              <a:gd name="T0" fmla="*/ 0 w 1104"/>
              <a:gd name="T1" fmla="*/ 2147483646 h 171"/>
              <a:gd name="T2" fmla="*/ 2147483646 w 1104"/>
              <a:gd name="T3" fmla="*/ 0 h 171"/>
              <a:gd name="T4" fmla="*/ 2147483646 w 1104"/>
              <a:gd name="T5" fmla="*/ 2147483646 h 171"/>
              <a:gd name="T6" fmla="*/ 0 60000 65536"/>
              <a:gd name="T7" fmla="*/ 0 60000 65536"/>
              <a:gd name="T8" fmla="*/ 0 60000 65536"/>
              <a:gd name="T9" fmla="*/ 0 w 1104"/>
              <a:gd name="T10" fmla="*/ 0 h 171"/>
              <a:gd name="T11" fmla="*/ 1104 w 1104"/>
              <a:gd name="T12" fmla="*/ 171 h 1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171">
                <a:moveTo>
                  <a:pt x="0" y="170"/>
                </a:moveTo>
                <a:cubicBezTo>
                  <a:pt x="88" y="142"/>
                  <a:pt x="342" y="0"/>
                  <a:pt x="526" y="0"/>
                </a:cubicBezTo>
                <a:cubicBezTo>
                  <a:pt x="710" y="0"/>
                  <a:pt x="984" y="136"/>
                  <a:pt x="1104" y="171"/>
                </a:cubicBezTo>
              </a:path>
            </a:pathLst>
          </a:cu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1870" name="Line 30">
            <a:extLst>
              <a:ext uri="{FF2B5EF4-FFF2-40B4-BE49-F238E27FC236}">
                <a16:creationId xmlns:a16="http://schemas.microsoft.com/office/drawing/2014/main" id="{DBB894B9-D571-4C8F-8E8B-4AB0310AE4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62357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1871" name="Line 31">
            <a:extLst>
              <a:ext uri="{FF2B5EF4-FFF2-40B4-BE49-F238E27FC236}">
                <a16:creationId xmlns:a16="http://schemas.microsoft.com/office/drawing/2014/main" id="{A378240A-6463-435C-BB78-9C52D56C0A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564063"/>
            <a:ext cx="1828800" cy="154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1872" name="Text Box 32">
            <a:extLst>
              <a:ext uri="{FF2B5EF4-FFF2-40B4-BE49-F238E27FC236}">
                <a16:creationId xmlns:a16="http://schemas.microsoft.com/office/drawing/2014/main" id="{CE90F408-E5DB-415E-BF78-8EA691702927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460500" y="4495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4</a:t>
            </a:r>
          </a:p>
        </p:txBody>
      </p:sp>
      <p:sp>
        <p:nvSpPr>
          <p:cNvPr id="291873" name="Text Box 33">
            <a:extLst>
              <a:ext uri="{FF2B5EF4-FFF2-40B4-BE49-F238E27FC236}">
                <a16:creationId xmlns:a16="http://schemas.microsoft.com/office/drawing/2014/main" id="{83F06E8E-2A53-46F0-822B-4B8D6C4A092D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524000" y="6019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</a:t>
            </a:r>
          </a:p>
        </p:txBody>
      </p:sp>
      <p:sp>
        <p:nvSpPr>
          <p:cNvPr id="291874" name="Text Box 34">
            <a:extLst>
              <a:ext uri="{FF2B5EF4-FFF2-40B4-BE49-F238E27FC236}">
                <a16:creationId xmlns:a16="http://schemas.microsoft.com/office/drawing/2014/main" id="{FEAB1414-70A3-471C-82B5-D50439877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61722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291875" name="Text Box 35">
            <a:extLst>
              <a:ext uri="{FF2B5EF4-FFF2-40B4-BE49-F238E27FC236}">
                <a16:creationId xmlns:a16="http://schemas.microsoft.com/office/drawing/2014/main" id="{F8A5D6C4-48DC-46DF-A278-DB737B6969BC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3657600" y="4953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6</a:t>
            </a:r>
          </a:p>
        </p:txBody>
      </p:sp>
      <p:sp>
        <p:nvSpPr>
          <p:cNvPr id="291876" name="Text Box 36">
            <a:extLst>
              <a:ext uri="{FF2B5EF4-FFF2-40B4-BE49-F238E27FC236}">
                <a16:creationId xmlns:a16="http://schemas.microsoft.com/office/drawing/2014/main" id="{7F7B359B-D644-49A8-AD46-797CEA15E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2070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 -2</a:t>
            </a:r>
          </a:p>
        </p:txBody>
      </p:sp>
      <p:sp>
        <p:nvSpPr>
          <p:cNvPr id="291877" name="Oval 37">
            <a:extLst>
              <a:ext uri="{FF2B5EF4-FFF2-40B4-BE49-F238E27FC236}">
                <a16:creationId xmlns:a16="http://schemas.microsoft.com/office/drawing/2014/main" id="{C4AA5520-4E82-4E9A-B92F-10A8E6D73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978525"/>
            <a:ext cx="457200" cy="385763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91878" name="Line 38">
            <a:extLst>
              <a:ext uri="{FF2B5EF4-FFF2-40B4-BE49-F238E27FC236}">
                <a16:creationId xmlns:a16="http://schemas.microsoft.com/office/drawing/2014/main" id="{59E6E712-24BF-4AE3-8A08-34A2E5618C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4629150"/>
            <a:ext cx="0" cy="1349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1879" name="Text Box 39">
            <a:extLst>
              <a:ext uri="{FF2B5EF4-FFF2-40B4-BE49-F238E27FC236}">
                <a16:creationId xmlns:a16="http://schemas.microsoft.com/office/drawing/2014/main" id="{182A91C5-766B-4697-8DB5-468AF1801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51435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2</a:t>
            </a:r>
          </a:p>
        </p:txBody>
      </p:sp>
      <p:sp>
        <p:nvSpPr>
          <p:cNvPr id="80937" name="Text Box 40">
            <a:extLst>
              <a:ext uri="{FF2B5EF4-FFF2-40B4-BE49-F238E27FC236}">
                <a16:creationId xmlns:a16="http://schemas.microsoft.com/office/drawing/2014/main" id="{A5A4FB2E-6289-47D7-AB71-3406AC914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20574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i="1"/>
              <a:t>f </a:t>
            </a:r>
            <a:r>
              <a:rPr lang="en-US" altLang="zh-CN" sz="2800" baseline="30000"/>
              <a:t>(1)</a:t>
            </a:r>
            <a:endParaRPr lang="en-US" altLang="zh-CN" sz="2800"/>
          </a:p>
        </p:txBody>
      </p:sp>
      <p:sp>
        <p:nvSpPr>
          <p:cNvPr id="291881" name="Text Box 41">
            <a:extLst>
              <a:ext uri="{FF2B5EF4-FFF2-40B4-BE49-F238E27FC236}">
                <a16:creationId xmlns:a16="http://schemas.microsoft.com/office/drawing/2014/main" id="{CFC9B8FC-0E26-451B-AD5A-2EB9AB2F1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45720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W(</a:t>
            </a:r>
            <a:r>
              <a:rPr lang="en-US" altLang="zh-CN" sz="2800" i="1"/>
              <a:t>f </a:t>
            </a:r>
            <a:r>
              <a:rPr lang="en-US" altLang="zh-CN" sz="2800" baseline="30000"/>
              <a:t>(1)</a:t>
            </a:r>
            <a:r>
              <a:rPr lang="en-US" altLang="zh-CN" sz="2800"/>
              <a:t>)</a:t>
            </a:r>
          </a:p>
        </p:txBody>
      </p:sp>
      <p:sp>
        <p:nvSpPr>
          <p:cNvPr id="291882" name="Text Box 42">
            <a:extLst>
              <a:ext uri="{FF2B5EF4-FFF2-40B4-BE49-F238E27FC236}">
                <a16:creationId xmlns:a16="http://schemas.microsoft.com/office/drawing/2014/main" id="{EA248740-C612-40A4-AFC7-F9F9B6B91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7338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</a:t>
            </a:r>
          </a:p>
        </p:txBody>
      </p:sp>
      <p:sp>
        <p:nvSpPr>
          <p:cNvPr id="291889" name="Freeform 49">
            <a:extLst>
              <a:ext uri="{FF2B5EF4-FFF2-40B4-BE49-F238E27FC236}">
                <a16:creationId xmlns:a16="http://schemas.microsoft.com/office/drawing/2014/main" id="{CFA40DC5-336A-42BB-B39F-D7DC06D17A49}"/>
              </a:ext>
            </a:extLst>
          </p:cNvPr>
          <p:cNvSpPr>
            <a:spLocks/>
          </p:cNvSpPr>
          <p:nvPr/>
        </p:nvSpPr>
        <p:spPr bwMode="auto">
          <a:xfrm>
            <a:off x="3200400" y="4513263"/>
            <a:ext cx="1752600" cy="211137"/>
          </a:xfrm>
          <a:custGeom>
            <a:avLst/>
            <a:gdLst>
              <a:gd name="T0" fmla="*/ 2147483646 w 1104"/>
              <a:gd name="T1" fmla="*/ 0 h 133"/>
              <a:gd name="T2" fmla="*/ 2147483646 w 1104"/>
              <a:gd name="T3" fmla="*/ 2147483646 h 133"/>
              <a:gd name="T4" fmla="*/ 0 w 1104"/>
              <a:gd name="T5" fmla="*/ 2147483646 h 133"/>
              <a:gd name="T6" fmla="*/ 0 60000 65536"/>
              <a:gd name="T7" fmla="*/ 0 60000 65536"/>
              <a:gd name="T8" fmla="*/ 0 60000 65536"/>
              <a:gd name="T9" fmla="*/ 0 w 1104"/>
              <a:gd name="T10" fmla="*/ 0 h 133"/>
              <a:gd name="T11" fmla="*/ 1104 w 1104"/>
              <a:gd name="T12" fmla="*/ 133 h 1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133">
                <a:moveTo>
                  <a:pt x="1104" y="0"/>
                </a:moveTo>
                <a:cubicBezTo>
                  <a:pt x="1003" y="22"/>
                  <a:pt x="682" y="133"/>
                  <a:pt x="498" y="133"/>
                </a:cubicBezTo>
                <a:cubicBezTo>
                  <a:pt x="314" y="133"/>
                  <a:pt x="104" y="28"/>
                  <a:pt x="0" y="1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1890" name="Text Box 50">
            <a:extLst>
              <a:ext uri="{FF2B5EF4-FFF2-40B4-BE49-F238E27FC236}">
                <a16:creationId xmlns:a16="http://schemas.microsoft.com/office/drawing/2014/main" id="{BCA2B5B5-D49B-4FEA-A912-E25658B81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343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-1</a:t>
            </a:r>
          </a:p>
        </p:txBody>
      </p:sp>
      <p:sp>
        <p:nvSpPr>
          <p:cNvPr id="291891" name="Freeform 51">
            <a:extLst>
              <a:ext uri="{FF2B5EF4-FFF2-40B4-BE49-F238E27FC236}">
                <a16:creationId xmlns:a16="http://schemas.microsoft.com/office/drawing/2014/main" id="{9E929DED-3279-48A6-BB8D-60567A6F4ECA}"/>
              </a:ext>
            </a:extLst>
          </p:cNvPr>
          <p:cNvSpPr>
            <a:spLocks/>
          </p:cNvSpPr>
          <p:nvPr/>
        </p:nvSpPr>
        <p:spPr bwMode="auto">
          <a:xfrm>
            <a:off x="1371600" y="5387975"/>
            <a:ext cx="1447800" cy="708025"/>
          </a:xfrm>
          <a:custGeom>
            <a:avLst/>
            <a:gdLst>
              <a:gd name="T0" fmla="*/ 0 w 912"/>
              <a:gd name="T1" fmla="*/ 0 h 446"/>
              <a:gd name="T2" fmla="*/ 2147483646 w 912"/>
              <a:gd name="T3" fmla="*/ 2147483646 h 446"/>
              <a:gd name="T4" fmla="*/ 2147483646 w 912"/>
              <a:gd name="T5" fmla="*/ 2147483646 h 446"/>
              <a:gd name="T6" fmla="*/ 0 60000 65536"/>
              <a:gd name="T7" fmla="*/ 0 60000 65536"/>
              <a:gd name="T8" fmla="*/ 0 60000 65536"/>
              <a:gd name="T9" fmla="*/ 0 w 912"/>
              <a:gd name="T10" fmla="*/ 0 h 446"/>
              <a:gd name="T11" fmla="*/ 912 w 912"/>
              <a:gd name="T12" fmla="*/ 446 h 4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446">
                <a:moveTo>
                  <a:pt x="0" y="0"/>
                </a:moveTo>
                <a:cubicBezTo>
                  <a:pt x="79" y="18"/>
                  <a:pt x="321" y="36"/>
                  <a:pt x="473" y="110"/>
                </a:cubicBezTo>
                <a:cubicBezTo>
                  <a:pt x="625" y="184"/>
                  <a:pt x="821" y="376"/>
                  <a:pt x="912" y="446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1892" name="Text Box 52">
            <a:extLst>
              <a:ext uri="{FF2B5EF4-FFF2-40B4-BE49-F238E27FC236}">
                <a16:creationId xmlns:a16="http://schemas.microsoft.com/office/drawing/2014/main" id="{F3376098-4AA0-451E-A7A9-BE78E7667008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2057400" y="5334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-1</a:t>
            </a:r>
          </a:p>
        </p:txBody>
      </p:sp>
      <p:sp>
        <p:nvSpPr>
          <p:cNvPr id="291893" name="Line 53">
            <a:extLst>
              <a:ext uri="{FF2B5EF4-FFF2-40B4-BE49-F238E27FC236}">
                <a16:creationId xmlns:a16="http://schemas.microsoft.com/office/drawing/2014/main" id="{C0A7FECF-A383-4B91-98C5-5C5B8ABCD3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4572000"/>
            <a:ext cx="1447800" cy="64293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1895" name="Line 55">
            <a:extLst>
              <a:ext uri="{FF2B5EF4-FFF2-40B4-BE49-F238E27FC236}">
                <a16:creationId xmlns:a16="http://schemas.microsoft.com/office/drawing/2014/main" id="{6BF87D60-8267-4852-8E0C-8273F2E61E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1524000"/>
            <a:ext cx="1447800" cy="642938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1896" name="Line 56">
            <a:extLst>
              <a:ext uri="{FF2B5EF4-FFF2-40B4-BE49-F238E27FC236}">
                <a16:creationId xmlns:a16="http://schemas.microsoft.com/office/drawing/2014/main" id="{CEC33F15-91A5-4BC2-A057-56E6A7F3B4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1752600" cy="0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1897" name="Text Box 57">
            <a:extLst>
              <a:ext uri="{FF2B5EF4-FFF2-40B4-BE49-F238E27FC236}">
                <a16:creationId xmlns:a16="http://schemas.microsoft.com/office/drawing/2014/main" id="{C1462F7B-0762-4D0F-ABEF-2D76E9242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6670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800">
                <a:solidFill>
                  <a:srgbClr val="FF9900"/>
                </a:solidFill>
                <a:cs typeface="Times New Roman" panose="02020603050405020304" pitchFamily="18" charset="0"/>
              </a:rPr>
              <a:t>θ</a:t>
            </a:r>
            <a:r>
              <a:rPr lang="en-US" altLang="zh-CN" sz="2800" i="1">
                <a:solidFill>
                  <a:srgbClr val="FF9900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sz="2800">
                <a:solidFill>
                  <a:srgbClr val="FF9900"/>
                </a:solidFill>
                <a:cs typeface="Times New Roman" panose="02020603050405020304" pitchFamily="18" charset="0"/>
              </a:rPr>
              <a:t>2</a:t>
            </a:r>
            <a:endParaRPr lang="en-US" altLang="zh-CN" sz="280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62" grpId="0" animBg="1"/>
      <p:bldP spid="291863" grpId="0" animBg="1"/>
      <p:bldP spid="291864" grpId="0" animBg="1"/>
      <p:bldP spid="291865" grpId="0" animBg="1"/>
      <p:bldP spid="291872" grpId="0"/>
      <p:bldP spid="291873" grpId="0"/>
      <p:bldP spid="291874" grpId="0"/>
      <p:bldP spid="291875" grpId="0"/>
      <p:bldP spid="291876" grpId="0"/>
      <p:bldP spid="291877" grpId="0" animBg="1"/>
      <p:bldP spid="291879" grpId="0"/>
      <p:bldP spid="291881" grpId="0"/>
      <p:bldP spid="291882" grpId="0"/>
      <p:bldP spid="291890" grpId="0"/>
      <p:bldP spid="291892" grpId="0"/>
      <p:bldP spid="291897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B724BFB9-E2D9-48A3-A0D3-71AB0C0ED1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例子</a:t>
            </a:r>
          </a:p>
        </p:txBody>
      </p:sp>
      <p:sp>
        <p:nvSpPr>
          <p:cNvPr id="81923" name="Text Box 3">
            <a:extLst>
              <a:ext uri="{FF2B5EF4-FFF2-40B4-BE49-F238E27FC236}">
                <a16:creationId xmlns:a16="http://schemas.microsoft.com/office/drawing/2014/main" id="{722454FF-8F5A-417B-88F4-462FE1A96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990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7, </a:t>
            </a:r>
            <a:r>
              <a:rPr lang="en-US" altLang="zh-CN" sz="2400">
                <a:solidFill>
                  <a:srgbClr val="6C04AC"/>
                </a:solidFill>
              </a:rPr>
              <a:t>7</a:t>
            </a:r>
            <a:r>
              <a:rPr lang="en-US" altLang="zh-CN" sz="2400"/>
              <a:t>)</a:t>
            </a:r>
          </a:p>
        </p:txBody>
      </p:sp>
      <p:sp>
        <p:nvSpPr>
          <p:cNvPr id="81924" name="Oval 4">
            <a:extLst>
              <a:ext uri="{FF2B5EF4-FFF2-40B4-BE49-F238E27FC236}">
                <a16:creationId xmlns:a16="http://schemas.microsoft.com/office/drawing/2014/main" id="{76EC5B84-7977-44D3-AF0A-CA9E69FD0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119313"/>
            <a:ext cx="457200" cy="385762"/>
          </a:xfrm>
          <a:prstGeom prst="ellipse">
            <a:avLst/>
          </a:prstGeom>
          <a:solidFill>
            <a:schemeClr val="tx2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81925" name="Oval 5">
            <a:extLst>
              <a:ext uri="{FF2B5EF4-FFF2-40B4-BE49-F238E27FC236}">
                <a16:creationId xmlns:a16="http://schemas.microsoft.com/office/drawing/2014/main" id="{186BF76D-3B19-4920-8A30-A16323E4B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219200"/>
            <a:ext cx="457200" cy="385763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1926" name="Oval 6">
            <a:extLst>
              <a:ext uri="{FF2B5EF4-FFF2-40B4-BE49-F238E27FC236}">
                <a16:creationId xmlns:a16="http://schemas.microsoft.com/office/drawing/2014/main" id="{BC4E3AB2-958F-4BFD-A607-4A9948295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019425"/>
            <a:ext cx="457200" cy="384175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1927" name="Oval 7">
            <a:extLst>
              <a:ext uri="{FF2B5EF4-FFF2-40B4-BE49-F238E27FC236}">
                <a16:creationId xmlns:a16="http://schemas.microsoft.com/office/drawing/2014/main" id="{76EE70DA-12D1-4E67-8B03-D5411A8BB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219200"/>
            <a:ext cx="457200" cy="3857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81928" name="Line 8">
            <a:extLst>
              <a:ext uri="{FF2B5EF4-FFF2-40B4-BE49-F238E27FC236}">
                <a16:creationId xmlns:a16="http://schemas.microsoft.com/office/drawing/2014/main" id="{3A27178F-6901-487B-8DAA-C08EA1BE67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1539875"/>
            <a:ext cx="1447800" cy="6429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9" name="Line 9">
            <a:extLst>
              <a:ext uri="{FF2B5EF4-FFF2-40B4-BE49-F238E27FC236}">
                <a16:creationId xmlns:a16="http://schemas.microsoft.com/office/drawing/2014/main" id="{F16E61D2-BBB7-48F8-B143-E7482E225D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2439988"/>
            <a:ext cx="1447800" cy="708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0" name="Line 10">
            <a:extLst>
              <a:ext uri="{FF2B5EF4-FFF2-40B4-BE49-F238E27FC236}">
                <a16:creationId xmlns:a16="http://schemas.microsoft.com/office/drawing/2014/main" id="{6A773BAA-95B3-458F-B993-D65788E4C8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604963"/>
            <a:ext cx="0" cy="141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1" name="Line 11">
            <a:extLst>
              <a:ext uri="{FF2B5EF4-FFF2-40B4-BE49-F238E27FC236}">
                <a16:creationId xmlns:a16="http://schemas.microsoft.com/office/drawing/2014/main" id="{513ECE0E-3FDC-49AF-B0C4-C8F5C237C8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411288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2" name="Line 12">
            <a:extLst>
              <a:ext uri="{FF2B5EF4-FFF2-40B4-BE49-F238E27FC236}">
                <a16:creationId xmlns:a16="http://schemas.microsoft.com/office/drawing/2014/main" id="{ACE99F10-4C13-4B6A-B7F5-B483932634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211513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3" name="Line 13">
            <a:extLst>
              <a:ext uri="{FF2B5EF4-FFF2-40B4-BE49-F238E27FC236}">
                <a16:creationId xmlns:a16="http://schemas.microsoft.com/office/drawing/2014/main" id="{00D590A1-58AB-4119-9FA9-D7F1886D73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539875"/>
            <a:ext cx="1828800" cy="154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4" name="Text Box 14">
            <a:extLst>
              <a:ext uri="{FF2B5EF4-FFF2-40B4-BE49-F238E27FC236}">
                <a16:creationId xmlns:a16="http://schemas.microsoft.com/office/drawing/2014/main" id="{F4807655-2C9F-4F29-ACBD-C31553B1AC36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295400" y="1447800"/>
            <a:ext cx="1360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(4, </a:t>
            </a:r>
            <a:r>
              <a:rPr lang="en-US" altLang="zh-CN" sz="2400">
                <a:solidFill>
                  <a:srgbClr val="FF3300"/>
                </a:solidFill>
              </a:rPr>
              <a:t>10, </a:t>
            </a:r>
            <a:r>
              <a:rPr lang="en-US" altLang="zh-CN" sz="2400">
                <a:solidFill>
                  <a:srgbClr val="6C04AC"/>
                </a:solidFill>
              </a:rPr>
              <a:t>2</a:t>
            </a:r>
            <a:r>
              <a:rPr lang="en-US" altLang="zh-CN" sz="2400"/>
              <a:t>)</a:t>
            </a:r>
          </a:p>
        </p:txBody>
      </p:sp>
      <p:sp>
        <p:nvSpPr>
          <p:cNvPr id="81935" name="Text Box 15">
            <a:extLst>
              <a:ext uri="{FF2B5EF4-FFF2-40B4-BE49-F238E27FC236}">
                <a16:creationId xmlns:a16="http://schemas.microsoft.com/office/drawing/2014/main" id="{A1A754A2-670B-4C01-A976-140BBFD51CCA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485900" y="2817813"/>
            <a:ext cx="1181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8, </a:t>
            </a:r>
            <a:r>
              <a:rPr lang="en-US" altLang="zh-CN" sz="2400">
                <a:solidFill>
                  <a:srgbClr val="6C04AC"/>
                </a:solidFill>
              </a:rPr>
              <a:t>5</a:t>
            </a:r>
            <a:r>
              <a:rPr lang="en-US" altLang="zh-CN" sz="2400"/>
              <a:t>)</a:t>
            </a:r>
          </a:p>
        </p:txBody>
      </p:sp>
      <p:sp>
        <p:nvSpPr>
          <p:cNvPr id="81936" name="Text Box 16">
            <a:extLst>
              <a:ext uri="{FF2B5EF4-FFF2-40B4-BE49-F238E27FC236}">
                <a16:creationId xmlns:a16="http://schemas.microsoft.com/office/drawing/2014/main" id="{2FE29CB3-8529-423E-AC98-A52316643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148013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10, </a:t>
            </a:r>
            <a:r>
              <a:rPr lang="en-US" altLang="zh-CN" sz="2400">
                <a:solidFill>
                  <a:srgbClr val="6C04AC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81937" name="Text Box 17">
            <a:extLst>
              <a:ext uri="{FF2B5EF4-FFF2-40B4-BE49-F238E27FC236}">
                <a16:creationId xmlns:a16="http://schemas.microsoft.com/office/drawing/2014/main" id="{15F2BAFA-D66E-4A8C-BB8C-9CF20DCCEDBA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3673475" y="1925638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(6, </a:t>
            </a:r>
            <a:r>
              <a:rPr lang="en-US" altLang="zh-CN" sz="2400">
                <a:solidFill>
                  <a:srgbClr val="FF3300"/>
                </a:solidFill>
              </a:rPr>
              <a:t>2, </a:t>
            </a:r>
            <a:r>
              <a:rPr lang="en-US" altLang="zh-CN" sz="2400">
                <a:solidFill>
                  <a:srgbClr val="6C04AC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81938" name="Text Box 18">
            <a:extLst>
              <a:ext uri="{FF2B5EF4-FFF2-40B4-BE49-F238E27FC236}">
                <a16:creationId xmlns:a16="http://schemas.microsoft.com/office/drawing/2014/main" id="{8A6FE263-3F7E-44AF-95EE-49596921F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182813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5, </a:t>
            </a:r>
            <a:r>
              <a:rPr lang="en-US" altLang="zh-CN" sz="2400">
                <a:solidFill>
                  <a:srgbClr val="6C04AC"/>
                </a:solidFill>
              </a:rPr>
              <a:t>5</a:t>
            </a:r>
            <a:r>
              <a:rPr lang="en-US" altLang="zh-CN" sz="2400"/>
              <a:t>)</a:t>
            </a:r>
          </a:p>
        </p:txBody>
      </p:sp>
      <p:sp>
        <p:nvSpPr>
          <p:cNvPr id="81939" name="Oval 19">
            <a:extLst>
              <a:ext uri="{FF2B5EF4-FFF2-40B4-BE49-F238E27FC236}">
                <a16:creationId xmlns:a16="http://schemas.microsoft.com/office/drawing/2014/main" id="{B769F1C7-C9D0-46CE-A7D3-A905784FE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954338"/>
            <a:ext cx="457200" cy="385762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1940" name="Line 20">
            <a:extLst>
              <a:ext uri="{FF2B5EF4-FFF2-40B4-BE49-F238E27FC236}">
                <a16:creationId xmlns:a16="http://schemas.microsoft.com/office/drawing/2014/main" id="{2A5D4B12-A09A-43D6-AD9F-EA19EFCC4D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1604963"/>
            <a:ext cx="0" cy="1349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1" name="Text Box 21">
            <a:extLst>
              <a:ext uri="{FF2B5EF4-FFF2-40B4-BE49-F238E27FC236}">
                <a16:creationId xmlns:a16="http://schemas.microsoft.com/office/drawing/2014/main" id="{177BC56E-3B8E-44FD-BAC0-73B451DAD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119313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4, </a:t>
            </a:r>
            <a:r>
              <a:rPr lang="en-US" altLang="zh-CN" sz="2400">
                <a:solidFill>
                  <a:srgbClr val="6C04AC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292886" name="Oval 22">
            <a:extLst>
              <a:ext uri="{FF2B5EF4-FFF2-40B4-BE49-F238E27FC236}">
                <a16:creationId xmlns:a16="http://schemas.microsoft.com/office/drawing/2014/main" id="{BC80766E-BE40-4F6B-A434-9C6835895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143500"/>
            <a:ext cx="457200" cy="385763"/>
          </a:xfrm>
          <a:prstGeom prst="ellipse">
            <a:avLst/>
          </a:prstGeom>
          <a:solidFill>
            <a:schemeClr val="tx2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292887" name="Oval 23">
            <a:extLst>
              <a:ext uri="{FF2B5EF4-FFF2-40B4-BE49-F238E27FC236}">
                <a16:creationId xmlns:a16="http://schemas.microsoft.com/office/drawing/2014/main" id="{8F512CA7-66BD-4F95-8458-9FE5BFA54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243388"/>
            <a:ext cx="457200" cy="385762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92888" name="Oval 24">
            <a:extLst>
              <a:ext uri="{FF2B5EF4-FFF2-40B4-BE49-F238E27FC236}">
                <a16:creationId xmlns:a16="http://schemas.microsoft.com/office/drawing/2014/main" id="{53101C32-514E-4B97-BCD8-502FEA87A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6043613"/>
            <a:ext cx="457200" cy="384175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92889" name="Oval 25">
            <a:extLst>
              <a:ext uri="{FF2B5EF4-FFF2-40B4-BE49-F238E27FC236}">
                <a16:creationId xmlns:a16="http://schemas.microsoft.com/office/drawing/2014/main" id="{EDB0CF5F-973A-47C0-BC2A-825120BDD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243388"/>
            <a:ext cx="457200" cy="3857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92890" name="Freeform 26">
            <a:extLst>
              <a:ext uri="{FF2B5EF4-FFF2-40B4-BE49-F238E27FC236}">
                <a16:creationId xmlns:a16="http://schemas.microsoft.com/office/drawing/2014/main" id="{8AC9151A-D424-40D6-943F-388CFB387C70}"/>
              </a:ext>
            </a:extLst>
          </p:cNvPr>
          <p:cNvSpPr>
            <a:spLocks/>
          </p:cNvSpPr>
          <p:nvPr/>
        </p:nvSpPr>
        <p:spPr bwMode="auto">
          <a:xfrm>
            <a:off x="1295400" y="4495800"/>
            <a:ext cx="1447800" cy="642938"/>
          </a:xfrm>
          <a:custGeom>
            <a:avLst/>
            <a:gdLst>
              <a:gd name="T0" fmla="*/ 0 w 912"/>
              <a:gd name="T1" fmla="*/ 2147483646 h 405"/>
              <a:gd name="T2" fmla="*/ 2147483646 w 912"/>
              <a:gd name="T3" fmla="*/ 2147483646 h 405"/>
              <a:gd name="T4" fmla="*/ 2147483646 w 912"/>
              <a:gd name="T5" fmla="*/ 0 h 405"/>
              <a:gd name="T6" fmla="*/ 0 60000 65536"/>
              <a:gd name="T7" fmla="*/ 0 60000 65536"/>
              <a:gd name="T8" fmla="*/ 0 60000 65536"/>
              <a:gd name="T9" fmla="*/ 0 w 912"/>
              <a:gd name="T10" fmla="*/ 0 h 405"/>
              <a:gd name="T11" fmla="*/ 912 w 912"/>
              <a:gd name="T12" fmla="*/ 405 h 4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405">
                <a:moveTo>
                  <a:pt x="0" y="405"/>
                </a:moveTo>
                <a:cubicBezTo>
                  <a:pt x="65" y="360"/>
                  <a:pt x="239" y="200"/>
                  <a:pt x="391" y="132"/>
                </a:cubicBezTo>
                <a:cubicBezTo>
                  <a:pt x="543" y="64"/>
                  <a:pt x="804" y="28"/>
                  <a:pt x="912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2891" name="Freeform 27">
            <a:extLst>
              <a:ext uri="{FF2B5EF4-FFF2-40B4-BE49-F238E27FC236}">
                <a16:creationId xmlns:a16="http://schemas.microsoft.com/office/drawing/2014/main" id="{F9348975-80C4-4BA8-9345-191821B17E2C}"/>
              </a:ext>
            </a:extLst>
          </p:cNvPr>
          <p:cNvSpPr>
            <a:spLocks/>
          </p:cNvSpPr>
          <p:nvPr/>
        </p:nvSpPr>
        <p:spPr bwMode="auto">
          <a:xfrm>
            <a:off x="1295400" y="5540375"/>
            <a:ext cx="1447800" cy="708025"/>
          </a:xfrm>
          <a:custGeom>
            <a:avLst/>
            <a:gdLst>
              <a:gd name="T0" fmla="*/ 0 w 912"/>
              <a:gd name="T1" fmla="*/ 0 h 446"/>
              <a:gd name="T2" fmla="*/ 2147483646 w 912"/>
              <a:gd name="T3" fmla="*/ 2147483646 h 446"/>
              <a:gd name="T4" fmla="*/ 2147483646 w 912"/>
              <a:gd name="T5" fmla="*/ 2147483646 h 446"/>
              <a:gd name="T6" fmla="*/ 0 60000 65536"/>
              <a:gd name="T7" fmla="*/ 0 60000 65536"/>
              <a:gd name="T8" fmla="*/ 0 60000 65536"/>
              <a:gd name="T9" fmla="*/ 0 w 912"/>
              <a:gd name="T10" fmla="*/ 0 h 446"/>
              <a:gd name="T11" fmla="*/ 912 w 912"/>
              <a:gd name="T12" fmla="*/ 446 h 4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446">
                <a:moveTo>
                  <a:pt x="0" y="0"/>
                </a:moveTo>
                <a:cubicBezTo>
                  <a:pt x="60" y="49"/>
                  <a:pt x="211" y="223"/>
                  <a:pt x="363" y="297"/>
                </a:cubicBezTo>
                <a:cubicBezTo>
                  <a:pt x="515" y="371"/>
                  <a:pt x="798" y="415"/>
                  <a:pt x="912" y="446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2892" name="Line 28">
            <a:extLst>
              <a:ext uri="{FF2B5EF4-FFF2-40B4-BE49-F238E27FC236}">
                <a16:creationId xmlns:a16="http://schemas.microsoft.com/office/drawing/2014/main" id="{495CD2C8-7C6B-4171-8484-3E871695FB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629150"/>
            <a:ext cx="0" cy="141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2894" name="Line 30">
            <a:extLst>
              <a:ext uri="{FF2B5EF4-FFF2-40B4-BE49-F238E27FC236}">
                <a16:creationId xmlns:a16="http://schemas.microsoft.com/office/drawing/2014/main" id="{D3E5B764-5B3E-474A-B8CF-36B5F9F30B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62357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2895" name="Line 31">
            <a:extLst>
              <a:ext uri="{FF2B5EF4-FFF2-40B4-BE49-F238E27FC236}">
                <a16:creationId xmlns:a16="http://schemas.microsoft.com/office/drawing/2014/main" id="{13E2C77F-9A99-4910-80E1-CA826D4371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564063"/>
            <a:ext cx="1828800" cy="154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2896" name="Text Box 32">
            <a:extLst>
              <a:ext uri="{FF2B5EF4-FFF2-40B4-BE49-F238E27FC236}">
                <a16:creationId xmlns:a16="http://schemas.microsoft.com/office/drawing/2014/main" id="{BEA5226C-2659-4910-B610-EA5AC1FBE502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524000" y="4343400"/>
            <a:ext cx="368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4</a:t>
            </a:r>
          </a:p>
        </p:txBody>
      </p:sp>
      <p:sp>
        <p:nvSpPr>
          <p:cNvPr id="292897" name="Text Box 33">
            <a:extLst>
              <a:ext uri="{FF2B5EF4-FFF2-40B4-BE49-F238E27FC236}">
                <a16:creationId xmlns:a16="http://schemas.microsoft.com/office/drawing/2014/main" id="{2D410E7F-FB46-49DC-A880-50EAE78EEF5D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550988" y="591026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1</a:t>
            </a:r>
          </a:p>
        </p:txBody>
      </p:sp>
      <p:sp>
        <p:nvSpPr>
          <p:cNvPr id="292898" name="Text Box 34">
            <a:extLst>
              <a:ext uri="{FF2B5EF4-FFF2-40B4-BE49-F238E27FC236}">
                <a16:creationId xmlns:a16="http://schemas.microsoft.com/office/drawing/2014/main" id="{38FC9A53-33D8-4474-8DF9-7C5493D3C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61722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292899" name="Text Box 35">
            <a:extLst>
              <a:ext uri="{FF2B5EF4-FFF2-40B4-BE49-F238E27FC236}">
                <a16:creationId xmlns:a16="http://schemas.microsoft.com/office/drawing/2014/main" id="{A5803C8B-D508-41DF-86FF-413C537E34CC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3657600" y="4953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6</a:t>
            </a:r>
          </a:p>
        </p:txBody>
      </p:sp>
      <p:sp>
        <p:nvSpPr>
          <p:cNvPr id="292900" name="Text Box 36">
            <a:extLst>
              <a:ext uri="{FF2B5EF4-FFF2-40B4-BE49-F238E27FC236}">
                <a16:creationId xmlns:a16="http://schemas.microsoft.com/office/drawing/2014/main" id="{04E0CC04-9634-4A11-9799-AF8E5CD1F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2070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 -2</a:t>
            </a:r>
          </a:p>
        </p:txBody>
      </p:sp>
      <p:sp>
        <p:nvSpPr>
          <p:cNvPr id="292901" name="Oval 37">
            <a:extLst>
              <a:ext uri="{FF2B5EF4-FFF2-40B4-BE49-F238E27FC236}">
                <a16:creationId xmlns:a16="http://schemas.microsoft.com/office/drawing/2014/main" id="{43C7078C-FB94-4958-947C-B6A7144B5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978525"/>
            <a:ext cx="457200" cy="385763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92902" name="Line 38">
            <a:extLst>
              <a:ext uri="{FF2B5EF4-FFF2-40B4-BE49-F238E27FC236}">
                <a16:creationId xmlns:a16="http://schemas.microsoft.com/office/drawing/2014/main" id="{6AE7AC10-5833-4449-AD44-98668212AF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4629150"/>
            <a:ext cx="0" cy="1349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2903" name="Text Box 39">
            <a:extLst>
              <a:ext uri="{FF2B5EF4-FFF2-40B4-BE49-F238E27FC236}">
                <a16:creationId xmlns:a16="http://schemas.microsoft.com/office/drawing/2014/main" id="{8269600E-5266-4208-B059-A39D8F314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51435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2</a:t>
            </a:r>
          </a:p>
        </p:txBody>
      </p:sp>
      <p:sp>
        <p:nvSpPr>
          <p:cNvPr id="81959" name="Text Box 40">
            <a:extLst>
              <a:ext uri="{FF2B5EF4-FFF2-40B4-BE49-F238E27FC236}">
                <a16:creationId xmlns:a16="http://schemas.microsoft.com/office/drawing/2014/main" id="{8A318B7D-CE44-4259-A3B4-FF6A0A785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20574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i="1"/>
              <a:t>f </a:t>
            </a:r>
            <a:r>
              <a:rPr lang="en-US" altLang="zh-CN" sz="2800" baseline="30000"/>
              <a:t>(2)</a:t>
            </a:r>
            <a:endParaRPr lang="en-US" altLang="zh-CN" sz="2800"/>
          </a:p>
        </p:txBody>
      </p:sp>
      <p:sp>
        <p:nvSpPr>
          <p:cNvPr id="292905" name="Text Box 41">
            <a:extLst>
              <a:ext uri="{FF2B5EF4-FFF2-40B4-BE49-F238E27FC236}">
                <a16:creationId xmlns:a16="http://schemas.microsoft.com/office/drawing/2014/main" id="{B2CAF3B0-E4BA-4C13-95A1-F4BAF1568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45720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W(</a:t>
            </a:r>
            <a:r>
              <a:rPr lang="en-US" altLang="zh-CN" sz="2800" i="1"/>
              <a:t>f </a:t>
            </a:r>
            <a:r>
              <a:rPr lang="en-US" altLang="zh-CN" sz="2800" baseline="30000"/>
              <a:t>(2)</a:t>
            </a:r>
            <a:r>
              <a:rPr lang="en-US" altLang="zh-CN" sz="2800"/>
              <a:t>)</a:t>
            </a:r>
          </a:p>
        </p:txBody>
      </p:sp>
      <p:sp>
        <p:nvSpPr>
          <p:cNvPr id="292908" name="Text Box 44">
            <a:extLst>
              <a:ext uri="{FF2B5EF4-FFF2-40B4-BE49-F238E27FC236}">
                <a16:creationId xmlns:a16="http://schemas.microsoft.com/office/drawing/2014/main" id="{7A7E7DAA-0A5C-45A1-AF91-711A314D1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962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-1</a:t>
            </a:r>
          </a:p>
        </p:txBody>
      </p:sp>
      <p:sp>
        <p:nvSpPr>
          <p:cNvPr id="292909" name="Freeform 45">
            <a:extLst>
              <a:ext uri="{FF2B5EF4-FFF2-40B4-BE49-F238E27FC236}">
                <a16:creationId xmlns:a16="http://schemas.microsoft.com/office/drawing/2014/main" id="{1CC27C85-AB75-4A4F-A34D-C9EFBCA39C0E}"/>
              </a:ext>
            </a:extLst>
          </p:cNvPr>
          <p:cNvSpPr>
            <a:spLocks/>
          </p:cNvSpPr>
          <p:nvPr/>
        </p:nvSpPr>
        <p:spPr bwMode="auto">
          <a:xfrm>
            <a:off x="1371600" y="5387975"/>
            <a:ext cx="1447800" cy="708025"/>
          </a:xfrm>
          <a:custGeom>
            <a:avLst/>
            <a:gdLst>
              <a:gd name="T0" fmla="*/ 0 w 912"/>
              <a:gd name="T1" fmla="*/ 0 h 446"/>
              <a:gd name="T2" fmla="*/ 2147483646 w 912"/>
              <a:gd name="T3" fmla="*/ 2147483646 h 446"/>
              <a:gd name="T4" fmla="*/ 2147483646 w 912"/>
              <a:gd name="T5" fmla="*/ 2147483646 h 446"/>
              <a:gd name="T6" fmla="*/ 0 60000 65536"/>
              <a:gd name="T7" fmla="*/ 0 60000 65536"/>
              <a:gd name="T8" fmla="*/ 0 60000 65536"/>
              <a:gd name="T9" fmla="*/ 0 w 912"/>
              <a:gd name="T10" fmla="*/ 0 h 446"/>
              <a:gd name="T11" fmla="*/ 912 w 912"/>
              <a:gd name="T12" fmla="*/ 446 h 4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446">
                <a:moveTo>
                  <a:pt x="0" y="0"/>
                </a:moveTo>
                <a:cubicBezTo>
                  <a:pt x="79" y="18"/>
                  <a:pt x="321" y="36"/>
                  <a:pt x="473" y="110"/>
                </a:cubicBezTo>
                <a:cubicBezTo>
                  <a:pt x="625" y="184"/>
                  <a:pt x="821" y="376"/>
                  <a:pt x="912" y="446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2910" name="Text Box 46">
            <a:extLst>
              <a:ext uri="{FF2B5EF4-FFF2-40B4-BE49-F238E27FC236}">
                <a16:creationId xmlns:a16="http://schemas.microsoft.com/office/drawing/2014/main" id="{38B81F8E-19B2-438F-825C-3F1081E6B96F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2057400" y="5334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-1</a:t>
            </a:r>
          </a:p>
        </p:txBody>
      </p:sp>
      <p:sp>
        <p:nvSpPr>
          <p:cNvPr id="292912" name="Line 48">
            <a:extLst>
              <a:ext uri="{FF2B5EF4-FFF2-40B4-BE49-F238E27FC236}">
                <a16:creationId xmlns:a16="http://schemas.microsoft.com/office/drawing/2014/main" id="{B182B26C-70DD-4CFD-B993-44AEB3F1F6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4196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2913" name="Freeform 49">
            <a:extLst>
              <a:ext uri="{FF2B5EF4-FFF2-40B4-BE49-F238E27FC236}">
                <a16:creationId xmlns:a16="http://schemas.microsoft.com/office/drawing/2014/main" id="{AC0C0196-C960-4CBA-B781-924886EA8C0D}"/>
              </a:ext>
            </a:extLst>
          </p:cNvPr>
          <p:cNvSpPr>
            <a:spLocks/>
          </p:cNvSpPr>
          <p:nvPr/>
        </p:nvSpPr>
        <p:spPr bwMode="auto">
          <a:xfrm>
            <a:off x="1371600" y="4648200"/>
            <a:ext cx="1447800" cy="642938"/>
          </a:xfrm>
          <a:custGeom>
            <a:avLst/>
            <a:gdLst>
              <a:gd name="T0" fmla="*/ 0 w 912"/>
              <a:gd name="T1" fmla="*/ 2147483646 h 405"/>
              <a:gd name="T2" fmla="*/ 2147483646 w 912"/>
              <a:gd name="T3" fmla="*/ 2147483646 h 405"/>
              <a:gd name="T4" fmla="*/ 2147483646 w 912"/>
              <a:gd name="T5" fmla="*/ 0 h 405"/>
              <a:gd name="T6" fmla="*/ 0 60000 65536"/>
              <a:gd name="T7" fmla="*/ 0 60000 65536"/>
              <a:gd name="T8" fmla="*/ 0 60000 65536"/>
              <a:gd name="T9" fmla="*/ 0 w 912"/>
              <a:gd name="T10" fmla="*/ 0 h 405"/>
              <a:gd name="T11" fmla="*/ 912 w 912"/>
              <a:gd name="T12" fmla="*/ 405 h 4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405">
                <a:moveTo>
                  <a:pt x="0" y="405"/>
                </a:moveTo>
                <a:cubicBezTo>
                  <a:pt x="80" y="387"/>
                  <a:pt x="328" y="366"/>
                  <a:pt x="480" y="298"/>
                </a:cubicBezTo>
                <a:cubicBezTo>
                  <a:pt x="632" y="230"/>
                  <a:pt x="822" y="62"/>
                  <a:pt x="912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2914" name="Text Box 50">
            <a:extLst>
              <a:ext uri="{FF2B5EF4-FFF2-40B4-BE49-F238E27FC236}">
                <a16:creationId xmlns:a16="http://schemas.microsoft.com/office/drawing/2014/main" id="{58949136-58AC-4EE4-AE59-A5CEBD7A0BBA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828800" y="4724400"/>
            <a:ext cx="458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-4</a:t>
            </a:r>
          </a:p>
        </p:txBody>
      </p:sp>
      <p:sp>
        <p:nvSpPr>
          <p:cNvPr id="292915" name="Freeform 51">
            <a:extLst>
              <a:ext uri="{FF2B5EF4-FFF2-40B4-BE49-F238E27FC236}">
                <a16:creationId xmlns:a16="http://schemas.microsoft.com/office/drawing/2014/main" id="{855E4718-0ECE-4D87-972C-CEA50D618B91}"/>
              </a:ext>
            </a:extLst>
          </p:cNvPr>
          <p:cNvSpPr>
            <a:spLocks/>
          </p:cNvSpPr>
          <p:nvPr/>
        </p:nvSpPr>
        <p:spPr bwMode="auto">
          <a:xfrm>
            <a:off x="1295400" y="5540375"/>
            <a:ext cx="1447800" cy="708025"/>
          </a:xfrm>
          <a:custGeom>
            <a:avLst/>
            <a:gdLst>
              <a:gd name="T0" fmla="*/ 0 w 912"/>
              <a:gd name="T1" fmla="*/ 0 h 446"/>
              <a:gd name="T2" fmla="*/ 2147483646 w 912"/>
              <a:gd name="T3" fmla="*/ 2147483646 h 446"/>
              <a:gd name="T4" fmla="*/ 2147483646 w 912"/>
              <a:gd name="T5" fmla="*/ 2147483646 h 446"/>
              <a:gd name="T6" fmla="*/ 0 60000 65536"/>
              <a:gd name="T7" fmla="*/ 0 60000 65536"/>
              <a:gd name="T8" fmla="*/ 0 60000 65536"/>
              <a:gd name="T9" fmla="*/ 0 w 912"/>
              <a:gd name="T10" fmla="*/ 0 h 446"/>
              <a:gd name="T11" fmla="*/ 912 w 912"/>
              <a:gd name="T12" fmla="*/ 446 h 4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446">
                <a:moveTo>
                  <a:pt x="0" y="0"/>
                </a:moveTo>
                <a:cubicBezTo>
                  <a:pt x="60" y="49"/>
                  <a:pt x="211" y="223"/>
                  <a:pt x="363" y="297"/>
                </a:cubicBezTo>
                <a:cubicBezTo>
                  <a:pt x="515" y="371"/>
                  <a:pt x="798" y="415"/>
                  <a:pt x="912" y="446"/>
                </a:cubicBezTo>
              </a:path>
            </a:pathLst>
          </a:cu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2916" name="Line 52">
            <a:extLst>
              <a:ext uri="{FF2B5EF4-FFF2-40B4-BE49-F238E27FC236}">
                <a16:creationId xmlns:a16="http://schemas.microsoft.com/office/drawing/2014/main" id="{68875D82-545A-49B1-A938-03F0470C54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6248400"/>
            <a:ext cx="17526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2917" name="Line 53">
            <a:extLst>
              <a:ext uri="{FF2B5EF4-FFF2-40B4-BE49-F238E27FC236}">
                <a16:creationId xmlns:a16="http://schemas.microsoft.com/office/drawing/2014/main" id="{F9B7BD75-9B88-4FA9-BC46-A0B1B20CDA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4648200"/>
            <a:ext cx="0" cy="13493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2918" name="Line 54">
            <a:extLst>
              <a:ext uri="{FF2B5EF4-FFF2-40B4-BE49-F238E27FC236}">
                <a16:creationId xmlns:a16="http://schemas.microsoft.com/office/drawing/2014/main" id="{21E4C211-6A4D-4313-A0C2-CBF95057FA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2438400"/>
            <a:ext cx="1447800" cy="708025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2919" name="Line 55">
            <a:extLst>
              <a:ext uri="{FF2B5EF4-FFF2-40B4-BE49-F238E27FC236}">
                <a16:creationId xmlns:a16="http://schemas.microsoft.com/office/drawing/2014/main" id="{CAD10769-1907-4A1B-9351-9797F38A38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200400"/>
            <a:ext cx="1752600" cy="0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2921" name="Line 57">
            <a:extLst>
              <a:ext uri="{FF2B5EF4-FFF2-40B4-BE49-F238E27FC236}">
                <a16:creationId xmlns:a16="http://schemas.microsoft.com/office/drawing/2014/main" id="{1855A1FD-FA72-487A-933C-E02E559397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1600200"/>
            <a:ext cx="0" cy="1349375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2922" name="Text Box 58">
            <a:extLst>
              <a:ext uri="{FF2B5EF4-FFF2-40B4-BE49-F238E27FC236}">
                <a16:creationId xmlns:a16="http://schemas.microsoft.com/office/drawing/2014/main" id="{79F36F5A-4AF3-40B3-8A3A-C02A874F8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6670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800">
                <a:solidFill>
                  <a:srgbClr val="FF9900"/>
                </a:solidFill>
                <a:cs typeface="Times New Roman" panose="02020603050405020304" pitchFamily="18" charset="0"/>
              </a:rPr>
              <a:t>θ</a:t>
            </a:r>
            <a:r>
              <a:rPr lang="en-US" altLang="zh-CN" sz="2800" i="1">
                <a:solidFill>
                  <a:srgbClr val="FF9900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sz="2800">
                <a:solidFill>
                  <a:srgbClr val="FF9900"/>
                </a:solidFill>
                <a:cs typeface="Times New Roman" panose="02020603050405020304" pitchFamily="18" charset="0"/>
              </a:rPr>
              <a:t>3</a:t>
            </a:r>
            <a:endParaRPr lang="en-US" altLang="zh-CN" sz="280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86" grpId="0" animBg="1"/>
      <p:bldP spid="292887" grpId="0" animBg="1"/>
      <p:bldP spid="292888" grpId="0" animBg="1"/>
      <p:bldP spid="292889" grpId="0" animBg="1"/>
      <p:bldP spid="292896" grpId="0"/>
      <p:bldP spid="292897" grpId="0"/>
      <p:bldP spid="292898" grpId="0"/>
      <p:bldP spid="292899" grpId="0"/>
      <p:bldP spid="292900" grpId="0"/>
      <p:bldP spid="292901" grpId="0" animBg="1"/>
      <p:bldP spid="292903" grpId="0"/>
      <p:bldP spid="292905" grpId="0"/>
      <p:bldP spid="292908" grpId="0"/>
      <p:bldP spid="292910" grpId="0"/>
      <p:bldP spid="292914" grpId="0"/>
      <p:bldP spid="292922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AEB23549-4E98-4D49-9D64-01EAD3F6C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例子</a:t>
            </a:r>
          </a:p>
        </p:txBody>
      </p:sp>
      <p:sp>
        <p:nvSpPr>
          <p:cNvPr id="82947" name="Text Box 3">
            <a:extLst>
              <a:ext uri="{FF2B5EF4-FFF2-40B4-BE49-F238E27FC236}">
                <a16:creationId xmlns:a16="http://schemas.microsoft.com/office/drawing/2014/main" id="{02DECE7A-6D3B-4E9F-A054-E6612EAA3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990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7, </a:t>
            </a:r>
            <a:r>
              <a:rPr lang="en-US" altLang="zh-CN" sz="2400">
                <a:solidFill>
                  <a:srgbClr val="6C04AC"/>
                </a:solidFill>
              </a:rPr>
              <a:t>7</a:t>
            </a:r>
            <a:r>
              <a:rPr lang="en-US" altLang="zh-CN" sz="2400"/>
              <a:t>)</a:t>
            </a:r>
          </a:p>
        </p:txBody>
      </p:sp>
      <p:sp>
        <p:nvSpPr>
          <p:cNvPr id="82948" name="Oval 4">
            <a:extLst>
              <a:ext uri="{FF2B5EF4-FFF2-40B4-BE49-F238E27FC236}">
                <a16:creationId xmlns:a16="http://schemas.microsoft.com/office/drawing/2014/main" id="{C877816D-057C-4039-B532-3563F7EE1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119313"/>
            <a:ext cx="457200" cy="385762"/>
          </a:xfrm>
          <a:prstGeom prst="ellipse">
            <a:avLst/>
          </a:prstGeom>
          <a:solidFill>
            <a:schemeClr val="tx2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82949" name="Oval 5">
            <a:extLst>
              <a:ext uri="{FF2B5EF4-FFF2-40B4-BE49-F238E27FC236}">
                <a16:creationId xmlns:a16="http://schemas.microsoft.com/office/drawing/2014/main" id="{CC510890-5E19-4FBF-A4AD-EEBA1D776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219200"/>
            <a:ext cx="457200" cy="385763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2950" name="Oval 6">
            <a:extLst>
              <a:ext uri="{FF2B5EF4-FFF2-40B4-BE49-F238E27FC236}">
                <a16:creationId xmlns:a16="http://schemas.microsoft.com/office/drawing/2014/main" id="{F4B7A6A2-6793-4140-9002-D38825348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019425"/>
            <a:ext cx="457200" cy="384175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2951" name="Oval 7">
            <a:extLst>
              <a:ext uri="{FF2B5EF4-FFF2-40B4-BE49-F238E27FC236}">
                <a16:creationId xmlns:a16="http://schemas.microsoft.com/office/drawing/2014/main" id="{EC414E2B-CF4B-4C27-85D6-E20A747DC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219200"/>
            <a:ext cx="457200" cy="3857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82952" name="Line 8">
            <a:extLst>
              <a:ext uri="{FF2B5EF4-FFF2-40B4-BE49-F238E27FC236}">
                <a16:creationId xmlns:a16="http://schemas.microsoft.com/office/drawing/2014/main" id="{0E28F178-0338-46A9-BE9F-5934BD81F2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1539875"/>
            <a:ext cx="1447800" cy="6429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3" name="Line 9">
            <a:extLst>
              <a:ext uri="{FF2B5EF4-FFF2-40B4-BE49-F238E27FC236}">
                <a16:creationId xmlns:a16="http://schemas.microsoft.com/office/drawing/2014/main" id="{03845EBF-B071-47F2-B8D3-564B6AAB1F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2439988"/>
            <a:ext cx="1447800" cy="708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4" name="Line 10">
            <a:extLst>
              <a:ext uri="{FF2B5EF4-FFF2-40B4-BE49-F238E27FC236}">
                <a16:creationId xmlns:a16="http://schemas.microsoft.com/office/drawing/2014/main" id="{78CD4AD4-7CD2-4702-93E5-A2B56703A7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604963"/>
            <a:ext cx="0" cy="141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5" name="Line 11">
            <a:extLst>
              <a:ext uri="{FF2B5EF4-FFF2-40B4-BE49-F238E27FC236}">
                <a16:creationId xmlns:a16="http://schemas.microsoft.com/office/drawing/2014/main" id="{E8BB814F-11DF-4AFF-92FD-6FD0D9D193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411288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6" name="Line 12">
            <a:extLst>
              <a:ext uri="{FF2B5EF4-FFF2-40B4-BE49-F238E27FC236}">
                <a16:creationId xmlns:a16="http://schemas.microsoft.com/office/drawing/2014/main" id="{6E4A06ED-B03D-451D-98A0-6799B18417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211513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7" name="Line 13">
            <a:extLst>
              <a:ext uri="{FF2B5EF4-FFF2-40B4-BE49-F238E27FC236}">
                <a16:creationId xmlns:a16="http://schemas.microsoft.com/office/drawing/2014/main" id="{B2F7FBE7-8A17-4182-872F-0A3CB62F03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539875"/>
            <a:ext cx="1828800" cy="154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8" name="Text Box 14">
            <a:extLst>
              <a:ext uri="{FF2B5EF4-FFF2-40B4-BE49-F238E27FC236}">
                <a16:creationId xmlns:a16="http://schemas.microsoft.com/office/drawing/2014/main" id="{9294CA4D-ACAE-4E5A-B6F5-4B3B7B04C64F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295400" y="1447800"/>
            <a:ext cx="1360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(4, </a:t>
            </a:r>
            <a:r>
              <a:rPr lang="en-US" altLang="zh-CN" sz="2400">
                <a:solidFill>
                  <a:srgbClr val="FF3300"/>
                </a:solidFill>
              </a:rPr>
              <a:t>10, </a:t>
            </a:r>
            <a:r>
              <a:rPr lang="en-US" altLang="zh-CN" sz="2400">
                <a:solidFill>
                  <a:srgbClr val="6C04AC"/>
                </a:solidFill>
              </a:rPr>
              <a:t>2</a:t>
            </a:r>
            <a:r>
              <a:rPr lang="en-US" altLang="zh-CN" sz="2400"/>
              <a:t>)</a:t>
            </a:r>
          </a:p>
        </p:txBody>
      </p:sp>
      <p:sp>
        <p:nvSpPr>
          <p:cNvPr id="82959" name="Text Box 15">
            <a:extLst>
              <a:ext uri="{FF2B5EF4-FFF2-40B4-BE49-F238E27FC236}">
                <a16:creationId xmlns:a16="http://schemas.microsoft.com/office/drawing/2014/main" id="{DF5119F3-60EC-4620-B5FB-CAB3EF797B64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485900" y="2817813"/>
            <a:ext cx="1181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8, </a:t>
            </a:r>
            <a:r>
              <a:rPr lang="en-US" altLang="zh-CN" sz="2400">
                <a:solidFill>
                  <a:srgbClr val="6C04AC"/>
                </a:solidFill>
              </a:rPr>
              <a:t>8</a:t>
            </a:r>
            <a:r>
              <a:rPr lang="en-US" altLang="zh-CN" sz="2400"/>
              <a:t>)</a:t>
            </a:r>
          </a:p>
        </p:txBody>
      </p:sp>
      <p:sp>
        <p:nvSpPr>
          <p:cNvPr id="82960" name="Text Box 16">
            <a:extLst>
              <a:ext uri="{FF2B5EF4-FFF2-40B4-BE49-F238E27FC236}">
                <a16:creationId xmlns:a16="http://schemas.microsoft.com/office/drawing/2014/main" id="{1B4B5343-9BB5-4B77-A7EF-8F024CD90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148013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10, </a:t>
            </a:r>
            <a:r>
              <a:rPr lang="en-US" altLang="zh-CN" sz="2400">
                <a:solidFill>
                  <a:srgbClr val="6C04AC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82961" name="Text Box 17">
            <a:extLst>
              <a:ext uri="{FF2B5EF4-FFF2-40B4-BE49-F238E27FC236}">
                <a16:creationId xmlns:a16="http://schemas.microsoft.com/office/drawing/2014/main" id="{E3AB60CB-5030-4991-8285-7E27090C1ACE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3673475" y="1925638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(6, </a:t>
            </a:r>
            <a:r>
              <a:rPr lang="en-US" altLang="zh-CN" sz="2400">
                <a:solidFill>
                  <a:srgbClr val="FF3300"/>
                </a:solidFill>
              </a:rPr>
              <a:t>2, </a:t>
            </a:r>
            <a:r>
              <a:rPr lang="en-US" altLang="zh-CN" sz="2400">
                <a:solidFill>
                  <a:srgbClr val="6C04AC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82962" name="Text Box 18">
            <a:extLst>
              <a:ext uri="{FF2B5EF4-FFF2-40B4-BE49-F238E27FC236}">
                <a16:creationId xmlns:a16="http://schemas.microsoft.com/office/drawing/2014/main" id="{22B865E3-C6EF-48D6-BBE4-52817F623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182813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5, </a:t>
            </a:r>
            <a:r>
              <a:rPr lang="en-US" altLang="zh-CN" sz="2400">
                <a:solidFill>
                  <a:srgbClr val="6C04AC"/>
                </a:solidFill>
              </a:rPr>
              <a:t>5</a:t>
            </a:r>
            <a:r>
              <a:rPr lang="en-US" altLang="zh-CN" sz="2400"/>
              <a:t>)</a:t>
            </a:r>
          </a:p>
        </p:txBody>
      </p:sp>
      <p:sp>
        <p:nvSpPr>
          <p:cNvPr id="82963" name="Oval 19">
            <a:extLst>
              <a:ext uri="{FF2B5EF4-FFF2-40B4-BE49-F238E27FC236}">
                <a16:creationId xmlns:a16="http://schemas.microsoft.com/office/drawing/2014/main" id="{F7B86093-DEE6-4E2B-B41B-AEADD0E67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954338"/>
            <a:ext cx="457200" cy="385762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2964" name="Line 20">
            <a:extLst>
              <a:ext uri="{FF2B5EF4-FFF2-40B4-BE49-F238E27FC236}">
                <a16:creationId xmlns:a16="http://schemas.microsoft.com/office/drawing/2014/main" id="{9342B278-D5AC-4C16-9047-2A8282EE67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1604963"/>
            <a:ext cx="0" cy="1349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65" name="Text Box 21">
            <a:extLst>
              <a:ext uri="{FF2B5EF4-FFF2-40B4-BE49-F238E27FC236}">
                <a16:creationId xmlns:a16="http://schemas.microsoft.com/office/drawing/2014/main" id="{AA13598F-C9EB-4B76-AE5B-23055BE99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119313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4, </a:t>
            </a:r>
            <a:r>
              <a:rPr lang="en-US" altLang="zh-CN" sz="2400">
                <a:solidFill>
                  <a:srgbClr val="6C04AC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293910" name="Oval 22">
            <a:extLst>
              <a:ext uri="{FF2B5EF4-FFF2-40B4-BE49-F238E27FC236}">
                <a16:creationId xmlns:a16="http://schemas.microsoft.com/office/drawing/2014/main" id="{9CB9DE2F-5DA2-4FEC-8E31-DBCB8D963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143500"/>
            <a:ext cx="457200" cy="385763"/>
          </a:xfrm>
          <a:prstGeom prst="ellipse">
            <a:avLst/>
          </a:prstGeom>
          <a:solidFill>
            <a:schemeClr val="tx2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293911" name="Oval 23">
            <a:extLst>
              <a:ext uri="{FF2B5EF4-FFF2-40B4-BE49-F238E27FC236}">
                <a16:creationId xmlns:a16="http://schemas.microsoft.com/office/drawing/2014/main" id="{CD0B4B7F-60A7-4330-98BD-C3506E4A5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243388"/>
            <a:ext cx="457200" cy="385762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93912" name="Oval 24">
            <a:extLst>
              <a:ext uri="{FF2B5EF4-FFF2-40B4-BE49-F238E27FC236}">
                <a16:creationId xmlns:a16="http://schemas.microsoft.com/office/drawing/2014/main" id="{D10E447E-97B8-442E-9453-83FBDAB29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6043613"/>
            <a:ext cx="457200" cy="384175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93913" name="Oval 25">
            <a:extLst>
              <a:ext uri="{FF2B5EF4-FFF2-40B4-BE49-F238E27FC236}">
                <a16:creationId xmlns:a16="http://schemas.microsoft.com/office/drawing/2014/main" id="{333A9C82-964B-4C2A-8AB9-A9DC05CAE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243388"/>
            <a:ext cx="457200" cy="3857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93914" name="Freeform 26">
            <a:extLst>
              <a:ext uri="{FF2B5EF4-FFF2-40B4-BE49-F238E27FC236}">
                <a16:creationId xmlns:a16="http://schemas.microsoft.com/office/drawing/2014/main" id="{56FDDCF5-6B8A-4EEB-9DC5-2C443BB7E3A4}"/>
              </a:ext>
            </a:extLst>
          </p:cNvPr>
          <p:cNvSpPr>
            <a:spLocks/>
          </p:cNvSpPr>
          <p:nvPr/>
        </p:nvSpPr>
        <p:spPr bwMode="auto">
          <a:xfrm>
            <a:off x="1295400" y="4495800"/>
            <a:ext cx="1447800" cy="642938"/>
          </a:xfrm>
          <a:custGeom>
            <a:avLst/>
            <a:gdLst>
              <a:gd name="T0" fmla="*/ 0 w 912"/>
              <a:gd name="T1" fmla="*/ 2147483646 h 405"/>
              <a:gd name="T2" fmla="*/ 2147483646 w 912"/>
              <a:gd name="T3" fmla="*/ 2147483646 h 405"/>
              <a:gd name="T4" fmla="*/ 2147483646 w 912"/>
              <a:gd name="T5" fmla="*/ 0 h 405"/>
              <a:gd name="T6" fmla="*/ 0 60000 65536"/>
              <a:gd name="T7" fmla="*/ 0 60000 65536"/>
              <a:gd name="T8" fmla="*/ 0 60000 65536"/>
              <a:gd name="T9" fmla="*/ 0 w 912"/>
              <a:gd name="T10" fmla="*/ 0 h 405"/>
              <a:gd name="T11" fmla="*/ 912 w 912"/>
              <a:gd name="T12" fmla="*/ 405 h 4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405">
                <a:moveTo>
                  <a:pt x="0" y="405"/>
                </a:moveTo>
                <a:cubicBezTo>
                  <a:pt x="65" y="360"/>
                  <a:pt x="239" y="200"/>
                  <a:pt x="391" y="132"/>
                </a:cubicBezTo>
                <a:cubicBezTo>
                  <a:pt x="543" y="64"/>
                  <a:pt x="804" y="28"/>
                  <a:pt x="912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16" name="Line 28">
            <a:extLst>
              <a:ext uri="{FF2B5EF4-FFF2-40B4-BE49-F238E27FC236}">
                <a16:creationId xmlns:a16="http://schemas.microsoft.com/office/drawing/2014/main" id="{AFBAD0D4-5C4C-4F50-9765-1352202C0F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629150"/>
            <a:ext cx="0" cy="141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17" name="Freeform 29">
            <a:extLst>
              <a:ext uri="{FF2B5EF4-FFF2-40B4-BE49-F238E27FC236}">
                <a16:creationId xmlns:a16="http://schemas.microsoft.com/office/drawing/2014/main" id="{0EDAE04D-5681-4422-87D2-E2EB5C8CF84B}"/>
              </a:ext>
            </a:extLst>
          </p:cNvPr>
          <p:cNvSpPr>
            <a:spLocks/>
          </p:cNvSpPr>
          <p:nvPr/>
        </p:nvSpPr>
        <p:spPr bwMode="auto">
          <a:xfrm>
            <a:off x="3200400" y="6264275"/>
            <a:ext cx="1752600" cy="136525"/>
          </a:xfrm>
          <a:custGeom>
            <a:avLst/>
            <a:gdLst>
              <a:gd name="T0" fmla="*/ 0 w 1104"/>
              <a:gd name="T1" fmla="*/ 0 h 86"/>
              <a:gd name="T2" fmla="*/ 2147483646 w 1104"/>
              <a:gd name="T3" fmla="*/ 2147483646 h 86"/>
              <a:gd name="T4" fmla="*/ 2147483646 w 1104"/>
              <a:gd name="T5" fmla="*/ 2147483646 h 86"/>
              <a:gd name="T6" fmla="*/ 0 60000 65536"/>
              <a:gd name="T7" fmla="*/ 0 60000 65536"/>
              <a:gd name="T8" fmla="*/ 0 60000 65536"/>
              <a:gd name="T9" fmla="*/ 0 w 1104"/>
              <a:gd name="T10" fmla="*/ 0 h 86"/>
              <a:gd name="T11" fmla="*/ 1104 w 1104"/>
              <a:gd name="T12" fmla="*/ 86 h 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86">
                <a:moveTo>
                  <a:pt x="0" y="0"/>
                </a:moveTo>
                <a:cubicBezTo>
                  <a:pt x="84" y="14"/>
                  <a:pt x="323" y="86"/>
                  <a:pt x="507" y="86"/>
                </a:cubicBezTo>
                <a:cubicBezTo>
                  <a:pt x="691" y="86"/>
                  <a:pt x="980" y="19"/>
                  <a:pt x="1104" y="1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18" name="Line 30">
            <a:extLst>
              <a:ext uri="{FF2B5EF4-FFF2-40B4-BE49-F238E27FC236}">
                <a16:creationId xmlns:a16="http://schemas.microsoft.com/office/drawing/2014/main" id="{DFF3E60A-6EEC-408C-A797-CDDE95B2AE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564063"/>
            <a:ext cx="1828800" cy="154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19" name="Text Box 31">
            <a:extLst>
              <a:ext uri="{FF2B5EF4-FFF2-40B4-BE49-F238E27FC236}">
                <a16:creationId xmlns:a16="http://schemas.microsoft.com/office/drawing/2014/main" id="{183C4A17-F7EF-451C-87F4-869106607A4E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524000" y="4343400"/>
            <a:ext cx="368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4</a:t>
            </a:r>
          </a:p>
        </p:txBody>
      </p:sp>
      <p:sp>
        <p:nvSpPr>
          <p:cNvPr id="293921" name="Text Box 33">
            <a:extLst>
              <a:ext uri="{FF2B5EF4-FFF2-40B4-BE49-F238E27FC236}">
                <a16:creationId xmlns:a16="http://schemas.microsoft.com/office/drawing/2014/main" id="{5B013F16-DECC-413B-BF72-91ED39777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324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293922" name="Text Box 34">
            <a:extLst>
              <a:ext uri="{FF2B5EF4-FFF2-40B4-BE49-F238E27FC236}">
                <a16:creationId xmlns:a16="http://schemas.microsoft.com/office/drawing/2014/main" id="{FA351AAB-309F-4B54-B4AF-22A97E187311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3657600" y="4953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6</a:t>
            </a:r>
          </a:p>
        </p:txBody>
      </p:sp>
      <p:sp>
        <p:nvSpPr>
          <p:cNvPr id="293923" name="Text Box 35">
            <a:extLst>
              <a:ext uri="{FF2B5EF4-FFF2-40B4-BE49-F238E27FC236}">
                <a16:creationId xmlns:a16="http://schemas.microsoft.com/office/drawing/2014/main" id="{189A19B6-B1DE-49B0-A3AA-15841CDBB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2070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 -2</a:t>
            </a:r>
          </a:p>
        </p:txBody>
      </p:sp>
      <p:sp>
        <p:nvSpPr>
          <p:cNvPr id="293924" name="Oval 36">
            <a:extLst>
              <a:ext uri="{FF2B5EF4-FFF2-40B4-BE49-F238E27FC236}">
                <a16:creationId xmlns:a16="http://schemas.microsoft.com/office/drawing/2014/main" id="{0C44EBB7-5FEC-49B0-9DA7-9AC40D1DA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978525"/>
            <a:ext cx="457200" cy="385763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93925" name="Freeform 37">
            <a:extLst>
              <a:ext uri="{FF2B5EF4-FFF2-40B4-BE49-F238E27FC236}">
                <a16:creationId xmlns:a16="http://schemas.microsoft.com/office/drawing/2014/main" id="{DA1A4F98-4619-424E-A921-6BD0E0A30F84}"/>
              </a:ext>
            </a:extLst>
          </p:cNvPr>
          <p:cNvSpPr>
            <a:spLocks/>
          </p:cNvSpPr>
          <p:nvPr/>
        </p:nvSpPr>
        <p:spPr bwMode="auto">
          <a:xfrm>
            <a:off x="4978400" y="4629150"/>
            <a:ext cx="204788" cy="1349375"/>
          </a:xfrm>
          <a:custGeom>
            <a:avLst/>
            <a:gdLst>
              <a:gd name="T0" fmla="*/ 2147483646 w 129"/>
              <a:gd name="T1" fmla="*/ 2147483646 h 850"/>
              <a:gd name="T2" fmla="*/ 0 w 129"/>
              <a:gd name="T3" fmla="*/ 2147483646 h 850"/>
              <a:gd name="T4" fmla="*/ 2147483646 w 129"/>
              <a:gd name="T5" fmla="*/ 0 h 850"/>
              <a:gd name="T6" fmla="*/ 0 60000 65536"/>
              <a:gd name="T7" fmla="*/ 0 60000 65536"/>
              <a:gd name="T8" fmla="*/ 0 60000 65536"/>
              <a:gd name="T9" fmla="*/ 0 w 129"/>
              <a:gd name="T10" fmla="*/ 0 h 850"/>
              <a:gd name="T11" fmla="*/ 129 w 129"/>
              <a:gd name="T12" fmla="*/ 850 h 8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" h="850">
                <a:moveTo>
                  <a:pt x="128" y="850"/>
                </a:moveTo>
                <a:cubicBezTo>
                  <a:pt x="107" y="766"/>
                  <a:pt x="0" y="490"/>
                  <a:pt x="0" y="348"/>
                </a:cubicBezTo>
                <a:cubicBezTo>
                  <a:pt x="0" y="206"/>
                  <a:pt x="102" y="73"/>
                  <a:pt x="129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26" name="Text Box 38">
            <a:extLst>
              <a:ext uri="{FF2B5EF4-FFF2-40B4-BE49-F238E27FC236}">
                <a16:creationId xmlns:a16="http://schemas.microsoft.com/office/drawing/2014/main" id="{EE42A542-0083-407C-AE55-CDAC06D7C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1054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2</a:t>
            </a:r>
          </a:p>
        </p:txBody>
      </p:sp>
      <p:sp>
        <p:nvSpPr>
          <p:cNvPr id="82981" name="Text Box 39">
            <a:extLst>
              <a:ext uri="{FF2B5EF4-FFF2-40B4-BE49-F238E27FC236}">
                <a16:creationId xmlns:a16="http://schemas.microsoft.com/office/drawing/2014/main" id="{CC2450D2-6091-44C2-9CDF-9DAD4116C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20574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i="1"/>
              <a:t>f </a:t>
            </a:r>
            <a:r>
              <a:rPr lang="en-US" altLang="zh-CN" sz="2800" baseline="30000"/>
              <a:t>(3)</a:t>
            </a:r>
            <a:endParaRPr lang="en-US" altLang="zh-CN" sz="2800"/>
          </a:p>
        </p:txBody>
      </p:sp>
      <p:sp>
        <p:nvSpPr>
          <p:cNvPr id="293928" name="Text Box 40">
            <a:extLst>
              <a:ext uri="{FF2B5EF4-FFF2-40B4-BE49-F238E27FC236}">
                <a16:creationId xmlns:a16="http://schemas.microsoft.com/office/drawing/2014/main" id="{3E1490CB-A57A-42D4-AE62-F0B48E0C9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45720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W(</a:t>
            </a:r>
            <a:r>
              <a:rPr lang="en-US" altLang="zh-CN" sz="2800" i="1"/>
              <a:t>f </a:t>
            </a:r>
            <a:r>
              <a:rPr lang="en-US" altLang="zh-CN" sz="2800" baseline="30000"/>
              <a:t>(3)</a:t>
            </a:r>
            <a:r>
              <a:rPr lang="en-US" altLang="zh-CN" sz="2800"/>
              <a:t>)</a:t>
            </a:r>
          </a:p>
        </p:txBody>
      </p:sp>
      <p:sp>
        <p:nvSpPr>
          <p:cNvPr id="293929" name="Text Box 41">
            <a:extLst>
              <a:ext uri="{FF2B5EF4-FFF2-40B4-BE49-F238E27FC236}">
                <a16:creationId xmlns:a16="http://schemas.microsoft.com/office/drawing/2014/main" id="{29FF24D3-C251-43F0-8318-2B844C92C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962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-1</a:t>
            </a:r>
          </a:p>
        </p:txBody>
      </p:sp>
      <p:sp>
        <p:nvSpPr>
          <p:cNvPr id="293931" name="Text Box 43">
            <a:extLst>
              <a:ext uri="{FF2B5EF4-FFF2-40B4-BE49-F238E27FC236}">
                <a16:creationId xmlns:a16="http://schemas.microsoft.com/office/drawing/2014/main" id="{B4809CB9-D761-461E-80C4-1B3B2D82BCAA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676400" y="571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-1</a:t>
            </a:r>
          </a:p>
        </p:txBody>
      </p:sp>
      <p:sp>
        <p:nvSpPr>
          <p:cNvPr id="293932" name="Line 44">
            <a:extLst>
              <a:ext uri="{FF2B5EF4-FFF2-40B4-BE49-F238E27FC236}">
                <a16:creationId xmlns:a16="http://schemas.microsoft.com/office/drawing/2014/main" id="{A0BD9F97-CF7F-47B2-8F76-F240360FD1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4196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33" name="Freeform 45">
            <a:extLst>
              <a:ext uri="{FF2B5EF4-FFF2-40B4-BE49-F238E27FC236}">
                <a16:creationId xmlns:a16="http://schemas.microsoft.com/office/drawing/2014/main" id="{84D7B002-47F1-4D1A-9D7C-CE721C376C82}"/>
              </a:ext>
            </a:extLst>
          </p:cNvPr>
          <p:cNvSpPr>
            <a:spLocks/>
          </p:cNvSpPr>
          <p:nvPr/>
        </p:nvSpPr>
        <p:spPr bwMode="auto">
          <a:xfrm>
            <a:off x="1371600" y="4648200"/>
            <a:ext cx="1447800" cy="642938"/>
          </a:xfrm>
          <a:custGeom>
            <a:avLst/>
            <a:gdLst>
              <a:gd name="T0" fmla="*/ 0 w 912"/>
              <a:gd name="T1" fmla="*/ 2147483646 h 405"/>
              <a:gd name="T2" fmla="*/ 2147483646 w 912"/>
              <a:gd name="T3" fmla="*/ 2147483646 h 405"/>
              <a:gd name="T4" fmla="*/ 2147483646 w 912"/>
              <a:gd name="T5" fmla="*/ 0 h 405"/>
              <a:gd name="T6" fmla="*/ 0 60000 65536"/>
              <a:gd name="T7" fmla="*/ 0 60000 65536"/>
              <a:gd name="T8" fmla="*/ 0 60000 65536"/>
              <a:gd name="T9" fmla="*/ 0 w 912"/>
              <a:gd name="T10" fmla="*/ 0 h 405"/>
              <a:gd name="T11" fmla="*/ 912 w 912"/>
              <a:gd name="T12" fmla="*/ 405 h 4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405">
                <a:moveTo>
                  <a:pt x="0" y="405"/>
                </a:moveTo>
                <a:cubicBezTo>
                  <a:pt x="80" y="387"/>
                  <a:pt x="328" y="366"/>
                  <a:pt x="480" y="298"/>
                </a:cubicBezTo>
                <a:cubicBezTo>
                  <a:pt x="632" y="230"/>
                  <a:pt x="822" y="62"/>
                  <a:pt x="912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34" name="Text Box 46">
            <a:extLst>
              <a:ext uri="{FF2B5EF4-FFF2-40B4-BE49-F238E27FC236}">
                <a16:creationId xmlns:a16="http://schemas.microsoft.com/office/drawing/2014/main" id="{DA05F430-EF55-4B18-9DF0-91C8F0F2FAA1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828800" y="4724400"/>
            <a:ext cx="458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-4</a:t>
            </a:r>
          </a:p>
        </p:txBody>
      </p:sp>
      <p:sp>
        <p:nvSpPr>
          <p:cNvPr id="293937" name="Line 49">
            <a:extLst>
              <a:ext uri="{FF2B5EF4-FFF2-40B4-BE49-F238E27FC236}">
                <a16:creationId xmlns:a16="http://schemas.microsoft.com/office/drawing/2014/main" id="{89CB53FE-AD58-4492-8142-006EE4C9D1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5486400"/>
            <a:ext cx="1447800" cy="708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38" name="Freeform 50">
            <a:extLst>
              <a:ext uri="{FF2B5EF4-FFF2-40B4-BE49-F238E27FC236}">
                <a16:creationId xmlns:a16="http://schemas.microsoft.com/office/drawing/2014/main" id="{407B2CF9-C8C4-4D2F-B724-DF2A4D3D9054}"/>
              </a:ext>
            </a:extLst>
          </p:cNvPr>
          <p:cNvSpPr>
            <a:spLocks/>
          </p:cNvSpPr>
          <p:nvPr/>
        </p:nvSpPr>
        <p:spPr bwMode="auto">
          <a:xfrm>
            <a:off x="3200400" y="6019800"/>
            <a:ext cx="1752600" cy="168275"/>
          </a:xfrm>
          <a:custGeom>
            <a:avLst/>
            <a:gdLst>
              <a:gd name="T0" fmla="*/ 0 w 1104"/>
              <a:gd name="T1" fmla="*/ 2147483646 h 106"/>
              <a:gd name="T2" fmla="*/ 2147483646 w 1104"/>
              <a:gd name="T3" fmla="*/ 0 h 106"/>
              <a:gd name="T4" fmla="*/ 2147483646 w 1104"/>
              <a:gd name="T5" fmla="*/ 2147483646 h 106"/>
              <a:gd name="T6" fmla="*/ 0 60000 65536"/>
              <a:gd name="T7" fmla="*/ 0 60000 65536"/>
              <a:gd name="T8" fmla="*/ 0 60000 65536"/>
              <a:gd name="T9" fmla="*/ 0 w 1104"/>
              <a:gd name="T10" fmla="*/ 0 h 106"/>
              <a:gd name="T11" fmla="*/ 1104 w 1104"/>
              <a:gd name="T12" fmla="*/ 106 h 1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106">
                <a:moveTo>
                  <a:pt x="0" y="105"/>
                </a:moveTo>
                <a:cubicBezTo>
                  <a:pt x="81" y="88"/>
                  <a:pt x="305" y="0"/>
                  <a:pt x="489" y="0"/>
                </a:cubicBezTo>
                <a:cubicBezTo>
                  <a:pt x="673" y="0"/>
                  <a:pt x="976" y="84"/>
                  <a:pt x="1104" y="106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39" name="Text Box 51">
            <a:extLst>
              <a:ext uri="{FF2B5EF4-FFF2-40B4-BE49-F238E27FC236}">
                <a16:creationId xmlns:a16="http://schemas.microsoft.com/office/drawing/2014/main" id="{6462AE84-3B6C-428E-99DF-855FF7D43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638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-3</a:t>
            </a:r>
          </a:p>
        </p:txBody>
      </p:sp>
      <p:sp>
        <p:nvSpPr>
          <p:cNvPr id="293940" name="Freeform 52">
            <a:extLst>
              <a:ext uri="{FF2B5EF4-FFF2-40B4-BE49-F238E27FC236}">
                <a16:creationId xmlns:a16="http://schemas.microsoft.com/office/drawing/2014/main" id="{6706AA68-DA2C-4193-AB8F-72DF1238DF03}"/>
              </a:ext>
            </a:extLst>
          </p:cNvPr>
          <p:cNvSpPr>
            <a:spLocks/>
          </p:cNvSpPr>
          <p:nvPr/>
        </p:nvSpPr>
        <p:spPr bwMode="auto">
          <a:xfrm>
            <a:off x="5235575" y="4648200"/>
            <a:ext cx="174625" cy="1349375"/>
          </a:xfrm>
          <a:custGeom>
            <a:avLst/>
            <a:gdLst>
              <a:gd name="T0" fmla="*/ 0 w 110"/>
              <a:gd name="T1" fmla="*/ 2147483646 h 850"/>
              <a:gd name="T2" fmla="*/ 2147483646 w 110"/>
              <a:gd name="T3" fmla="*/ 2147483646 h 850"/>
              <a:gd name="T4" fmla="*/ 2147483646 w 110"/>
              <a:gd name="T5" fmla="*/ 0 h 850"/>
              <a:gd name="T6" fmla="*/ 0 60000 65536"/>
              <a:gd name="T7" fmla="*/ 0 60000 65536"/>
              <a:gd name="T8" fmla="*/ 0 60000 65536"/>
              <a:gd name="T9" fmla="*/ 0 w 110"/>
              <a:gd name="T10" fmla="*/ 0 h 850"/>
              <a:gd name="T11" fmla="*/ 110 w 110"/>
              <a:gd name="T12" fmla="*/ 850 h 8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" h="850">
                <a:moveTo>
                  <a:pt x="0" y="850"/>
                </a:moveTo>
                <a:cubicBezTo>
                  <a:pt x="18" y="772"/>
                  <a:pt x="110" y="524"/>
                  <a:pt x="110" y="382"/>
                </a:cubicBezTo>
                <a:cubicBezTo>
                  <a:pt x="110" y="240"/>
                  <a:pt x="24" y="80"/>
                  <a:pt x="1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41" name="Text Box 53">
            <a:extLst>
              <a:ext uri="{FF2B5EF4-FFF2-40B4-BE49-F238E27FC236}">
                <a16:creationId xmlns:a16="http://schemas.microsoft.com/office/drawing/2014/main" id="{A4E05C0C-E893-4700-BEAD-77130412E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9530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-2</a:t>
            </a:r>
          </a:p>
        </p:txBody>
      </p:sp>
      <p:sp>
        <p:nvSpPr>
          <p:cNvPr id="293942" name="Freeform 54">
            <a:extLst>
              <a:ext uri="{FF2B5EF4-FFF2-40B4-BE49-F238E27FC236}">
                <a16:creationId xmlns:a16="http://schemas.microsoft.com/office/drawing/2014/main" id="{B0A8120B-5236-4CD6-8475-410A0FBA0107}"/>
              </a:ext>
            </a:extLst>
          </p:cNvPr>
          <p:cNvSpPr>
            <a:spLocks/>
          </p:cNvSpPr>
          <p:nvPr/>
        </p:nvSpPr>
        <p:spPr bwMode="auto">
          <a:xfrm>
            <a:off x="1295400" y="4495800"/>
            <a:ext cx="1447800" cy="642938"/>
          </a:xfrm>
          <a:custGeom>
            <a:avLst/>
            <a:gdLst>
              <a:gd name="T0" fmla="*/ 0 w 912"/>
              <a:gd name="T1" fmla="*/ 2147483646 h 405"/>
              <a:gd name="T2" fmla="*/ 2147483646 w 912"/>
              <a:gd name="T3" fmla="*/ 2147483646 h 405"/>
              <a:gd name="T4" fmla="*/ 2147483646 w 912"/>
              <a:gd name="T5" fmla="*/ 0 h 405"/>
              <a:gd name="T6" fmla="*/ 0 60000 65536"/>
              <a:gd name="T7" fmla="*/ 0 60000 65536"/>
              <a:gd name="T8" fmla="*/ 0 60000 65536"/>
              <a:gd name="T9" fmla="*/ 0 w 912"/>
              <a:gd name="T10" fmla="*/ 0 h 405"/>
              <a:gd name="T11" fmla="*/ 912 w 912"/>
              <a:gd name="T12" fmla="*/ 405 h 4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405">
                <a:moveTo>
                  <a:pt x="0" y="405"/>
                </a:moveTo>
                <a:cubicBezTo>
                  <a:pt x="65" y="360"/>
                  <a:pt x="239" y="200"/>
                  <a:pt x="391" y="132"/>
                </a:cubicBezTo>
                <a:cubicBezTo>
                  <a:pt x="543" y="64"/>
                  <a:pt x="804" y="28"/>
                  <a:pt x="912" y="0"/>
                </a:cubicBezTo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43" name="Line 55">
            <a:extLst>
              <a:ext uri="{FF2B5EF4-FFF2-40B4-BE49-F238E27FC236}">
                <a16:creationId xmlns:a16="http://schemas.microsoft.com/office/drawing/2014/main" id="{E195BFF0-6E0A-4083-A005-BE8847B11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648200"/>
            <a:ext cx="0" cy="141446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44" name="Freeform 56">
            <a:extLst>
              <a:ext uri="{FF2B5EF4-FFF2-40B4-BE49-F238E27FC236}">
                <a16:creationId xmlns:a16="http://schemas.microsoft.com/office/drawing/2014/main" id="{EDE83388-D3D6-4681-B7F4-F8D69F52D038}"/>
              </a:ext>
            </a:extLst>
          </p:cNvPr>
          <p:cNvSpPr>
            <a:spLocks/>
          </p:cNvSpPr>
          <p:nvPr/>
        </p:nvSpPr>
        <p:spPr bwMode="auto">
          <a:xfrm>
            <a:off x="3200400" y="6264275"/>
            <a:ext cx="1752600" cy="136525"/>
          </a:xfrm>
          <a:custGeom>
            <a:avLst/>
            <a:gdLst>
              <a:gd name="T0" fmla="*/ 0 w 1104"/>
              <a:gd name="T1" fmla="*/ 0 h 86"/>
              <a:gd name="T2" fmla="*/ 2147483646 w 1104"/>
              <a:gd name="T3" fmla="*/ 2147483646 h 86"/>
              <a:gd name="T4" fmla="*/ 2147483646 w 1104"/>
              <a:gd name="T5" fmla="*/ 2147483646 h 86"/>
              <a:gd name="T6" fmla="*/ 0 60000 65536"/>
              <a:gd name="T7" fmla="*/ 0 60000 65536"/>
              <a:gd name="T8" fmla="*/ 0 60000 65536"/>
              <a:gd name="T9" fmla="*/ 0 w 1104"/>
              <a:gd name="T10" fmla="*/ 0 h 86"/>
              <a:gd name="T11" fmla="*/ 1104 w 1104"/>
              <a:gd name="T12" fmla="*/ 86 h 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86">
                <a:moveTo>
                  <a:pt x="0" y="0"/>
                </a:moveTo>
                <a:cubicBezTo>
                  <a:pt x="84" y="14"/>
                  <a:pt x="323" y="86"/>
                  <a:pt x="507" y="86"/>
                </a:cubicBezTo>
                <a:cubicBezTo>
                  <a:pt x="691" y="86"/>
                  <a:pt x="980" y="19"/>
                  <a:pt x="1104" y="1"/>
                </a:cubicBezTo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45" name="Freeform 57">
            <a:extLst>
              <a:ext uri="{FF2B5EF4-FFF2-40B4-BE49-F238E27FC236}">
                <a16:creationId xmlns:a16="http://schemas.microsoft.com/office/drawing/2014/main" id="{3DB8F8EB-123F-4998-B119-7CCBAE35DC7F}"/>
              </a:ext>
            </a:extLst>
          </p:cNvPr>
          <p:cNvSpPr>
            <a:spLocks/>
          </p:cNvSpPr>
          <p:nvPr/>
        </p:nvSpPr>
        <p:spPr bwMode="auto">
          <a:xfrm>
            <a:off x="5235575" y="4648200"/>
            <a:ext cx="174625" cy="1349375"/>
          </a:xfrm>
          <a:custGeom>
            <a:avLst/>
            <a:gdLst>
              <a:gd name="T0" fmla="*/ 0 w 110"/>
              <a:gd name="T1" fmla="*/ 2147483646 h 850"/>
              <a:gd name="T2" fmla="*/ 2147483646 w 110"/>
              <a:gd name="T3" fmla="*/ 2147483646 h 850"/>
              <a:gd name="T4" fmla="*/ 2147483646 w 110"/>
              <a:gd name="T5" fmla="*/ 0 h 850"/>
              <a:gd name="T6" fmla="*/ 0 60000 65536"/>
              <a:gd name="T7" fmla="*/ 0 60000 65536"/>
              <a:gd name="T8" fmla="*/ 0 60000 65536"/>
              <a:gd name="T9" fmla="*/ 0 w 110"/>
              <a:gd name="T10" fmla="*/ 0 h 850"/>
              <a:gd name="T11" fmla="*/ 110 w 110"/>
              <a:gd name="T12" fmla="*/ 850 h 8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" h="850">
                <a:moveTo>
                  <a:pt x="0" y="850"/>
                </a:moveTo>
                <a:cubicBezTo>
                  <a:pt x="18" y="772"/>
                  <a:pt x="110" y="524"/>
                  <a:pt x="110" y="382"/>
                </a:cubicBezTo>
                <a:cubicBezTo>
                  <a:pt x="110" y="240"/>
                  <a:pt x="24" y="80"/>
                  <a:pt x="1" y="0"/>
                </a:cubicBezTo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46" name="Line 58">
            <a:extLst>
              <a:ext uri="{FF2B5EF4-FFF2-40B4-BE49-F238E27FC236}">
                <a16:creationId xmlns:a16="http://schemas.microsoft.com/office/drawing/2014/main" id="{F3743D10-50C0-4897-B30E-6516CAE7EA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1524000"/>
            <a:ext cx="1447800" cy="642938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47" name="Line 59">
            <a:extLst>
              <a:ext uri="{FF2B5EF4-FFF2-40B4-BE49-F238E27FC236}">
                <a16:creationId xmlns:a16="http://schemas.microsoft.com/office/drawing/2014/main" id="{8A2961CE-732C-435E-82DE-47D73272B8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589088"/>
            <a:ext cx="0" cy="1414462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48" name="Line 60">
            <a:extLst>
              <a:ext uri="{FF2B5EF4-FFF2-40B4-BE49-F238E27FC236}">
                <a16:creationId xmlns:a16="http://schemas.microsoft.com/office/drawing/2014/main" id="{808DCC16-D9F7-447F-B320-6DAB469509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195638"/>
            <a:ext cx="1752600" cy="0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49" name="Line 61">
            <a:extLst>
              <a:ext uri="{FF2B5EF4-FFF2-40B4-BE49-F238E27FC236}">
                <a16:creationId xmlns:a16="http://schemas.microsoft.com/office/drawing/2014/main" id="{D05CEB18-0F82-48A1-B68E-35F3E99335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1589088"/>
            <a:ext cx="0" cy="1349375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50" name="Text Box 62">
            <a:extLst>
              <a:ext uri="{FF2B5EF4-FFF2-40B4-BE49-F238E27FC236}">
                <a16:creationId xmlns:a16="http://schemas.microsoft.com/office/drawing/2014/main" id="{430FF83F-C79F-480E-A98E-395ED5AA5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6670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800">
                <a:solidFill>
                  <a:srgbClr val="FF9900"/>
                </a:solidFill>
                <a:cs typeface="Times New Roman" panose="02020603050405020304" pitchFamily="18" charset="0"/>
              </a:rPr>
              <a:t>θ</a:t>
            </a:r>
            <a:r>
              <a:rPr lang="en-US" altLang="zh-CN" sz="2800" i="1">
                <a:solidFill>
                  <a:srgbClr val="FF9900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sz="2800">
                <a:solidFill>
                  <a:srgbClr val="FF9900"/>
                </a:solidFill>
                <a:cs typeface="Times New Roman" panose="02020603050405020304" pitchFamily="18" charset="0"/>
              </a:rPr>
              <a:t>1</a:t>
            </a:r>
            <a:endParaRPr lang="en-US" altLang="zh-CN" sz="2800">
              <a:solidFill>
                <a:srgbClr val="FF99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910" grpId="0" animBg="1"/>
      <p:bldP spid="293911" grpId="0" animBg="1"/>
      <p:bldP spid="293912" grpId="0" animBg="1"/>
      <p:bldP spid="293913" grpId="0" animBg="1"/>
      <p:bldP spid="293919" grpId="0"/>
      <p:bldP spid="293921" grpId="0"/>
      <p:bldP spid="293922" grpId="0"/>
      <p:bldP spid="293923" grpId="0"/>
      <p:bldP spid="293924" grpId="0" animBg="1"/>
      <p:bldP spid="293926" grpId="0"/>
      <p:bldP spid="293928" grpId="0"/>
      <p:bldP spid="293929" grpId="0"/>
      <p:bldP spid="293931" grpId="0"/>
      <p:bldP spid="293934" grpId="0"/>
      <p:bldP spid="293939" grpId="0"/>
      <p:bldP spid="293941" grpId="0"/>
      <p:bldP spid="293950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68" name="Text Box 56">
            <a:extLst>
              <a:ext uri="{FF2B5EF4-FFF2-40B4-BE49-F238E27FC236}">
                <a16:creationId xmlns:a16="http://schemas.microsoft.com/office/drawing/2014/main" id="{43C08742-023F-4894-B260-FDDC2873C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025650"/>
            <a:ext cx="2438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cs typeface="Times New Roman" panose="02020603050405020304" pitchFamily="18" charset="0"/>
              </a:rPr>
              <a:t>          </a:t>
            </a:r>
            <a:r>
              <a:rPr lang="zh-CN" altLang="en-US" sz="2800">
                <a:solidFill>
                  <a:srgbClr val="FF3300"/>
                </a:solidFill>
                <a:cs typeface="Times New Roman" panose="02020603050405020304" pitchFamily="18" charset="0"/>
              </a:rPr>
              <a:t>为最小费用最大流</a:t>
            </a:r>
            <a:endParaRPr lang="zh-CN" altLang="en-US" sz="2800">
              <a:solidFill>
                <a:srgbClr val="FF3300"/>
              </a:solidFill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DB5EE7D7-D9CC-4B9A-90B8-921723B5F9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例子</a:t>
            </a:r>
          </a:p>
        </p:txBody>
      </p:sp>
      <p:sp>
        <p:nvSpPr>
          <p:cNvPr id="83972" name="Text Box 3">
            <a:extLst>
              <a:ext uri="{FF2B5EF4-FFF2-40B4-BE49-F238E27FC236}">
                <a16:creationId xmlns:a16="http://schemas.microsoft.com/office/drawing/2014/main" id="{EEFBE9A7-287A-4668-8561-A9B7871D0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990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7, </a:t>
            </a:r>
            <a:r>
              <a:rPr lang="en-US" altLang="zh-CN" sz="2400">
                <a:solidFill>
                  <a:srgbClr val="6C04AC"/>
                </a:solidFill>
              </a:rPr>
              <a:t>7</a:t>
            </a:r>
            <a:r>
              <a:rPr lang="en-US" altLang="zh-CN" sz="2400"/>
              <a:t>)</a:t>
            </a:r>
          </a:p>
        </p:txBody>
      </p:sp>
      <p:sp>
        <p:nvSpPr>
          <p:cNvPr id="83973" name="Oval 4">
            <a:extLst>
              <a:ext uri="{FF2B5EF4-FFF2-40B4-BE49-F238E27FC236}">
                <a16:creationId xmlns:a16="http://schemas.microsoft.com/office/drawing/2014/main" id="{330068F7-6F40-4AEA-B8BB-98E3FB9D0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119313"/>
            <a:ext cx="457200" cy="385762"/>
          </a:xfrm>
          <a:prstGeom prst="ellipse">
            <a:avLst/>
          </a:prstGeom>
          <a:solidFill>
            <a:schemeClr val="tx2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83974" name="Oval 5">
            <a:extLst>
              <a:ext uri="{FF2B5EF4-FFF2-40B4-BE49-F238E27FC236}">
                <a16:creationId xmlns:a16="http://schemas.microsoft.com/office/drawing/2014/main" id="{140B0EDC-017C-42A1-AC3C-996E1875F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219200"/>
            <a:ext cx="457200" cy="385763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3975" name="Oval 6">
            <a:extLst>
              <a:ext uri="{FF2B5EF4-FFF2-40B4-BE49-F238E27FC236}">
                <a16:creationId xmlns:a16="http://schemas.microsoft.com/office/drawing/2014/main" id="{B341D6BF-C92F-488B-B5E2-27D02421B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019425"/>
            <a:ext cx="457200" cy="384175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3976" name="Oval 7">
            <a:extLst>
              <a:ext uri="{FF2B5EF4-FFF2-40B4-BE49-F238E27FC236}">
                <a16:creationId xmlns:a16="http://schemas.microsoft.com/office/drawing/2014/main" id="{7070B793-C93A-4E99-AB52-910568996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219200"/>
            <a:ext cx="457200" cy="3857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83977" name="Line 8">
            <a:extLst>
              <a:ext uri="{FF2B5EF4-FFF2-40B4-BE49-F238E27FC236}">
                <a16:creationId xmlns:a16="http://schemas.microsoft.com/office/drawing/2014/main" id="{12DA0589-C94E-4535-8D05-2BD2C510C6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1539875"/>
            <a:ext cx="1447800" cy="6429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8" name="Line 9">
            <a:extLst>
              <a:ext uri="{FF2B5EF4-FFF2-40B4-BE49-F238E27FC236}">
                <a16:creationId xmlns:a16="http://schemas.microsoft.com/office/drawing/2014/main" id="{837BDD46-9526-495D-9CAC-64DC396E07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2439988"/>
            <a:ext cx="1447800" cy="708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9" name="Line 10">
            <a:extLst>
              <a:ext uri="{FF2B5EF4-FFF2-40B4-BE49-F238E27FC236}">
                <a16:creationId xmlns:a16="http://schemas.microsoft.com/office/drawing/2014/main" id="{81EE02B6-6BA6-4A41-AF65-DE11BDCEE5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604963"/>
            <a:ext cx="0" cy="141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80" name="Line 11">
            <a:extLst>
              <a:ext uri="{FF2B5EF4-FFF2-40B4-BE49-F238E27FC236}">
                <a16:creationId xmlns:a16="http://schemas.microsoft.com/office/drawing/2014/main" id="{74D9CD1C-002F-4E7C-9B34-080AA3C64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411288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81" name="Line 12">
            <a:extLst>
              <a:ext uri="{FF2B5EF4-FFF2-40B4-BE49-F238E27FC236}">
                <a16:creationId xmlns:a16="http://schemas.microsoft.com/office/drawing/2014/main" id="{99111F91-FAFA-4ABF-AC43-4584DED85E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211513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82" name="Line 13">
            <a:extLst>
              <a:ext uri="{FF2B5EF4-FFF2-40B4-BE49-F238E27FC236}">
                <a16:creationId xmlns:a16="http://schemas.microsoft.com/office/drawing/2014/main" id="{09349A1D-F899-44A8-9A9A-D3BBA163F5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539875"/>
            <a:ext cx="1828800" cy="154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83" name="Text Box 14">
            <a:extLst>
              <a:ext uri="{FF2B5EF4-FFF2-40B4-BE49-F238E27FC236}">
                <a16:creationId xmlns:a16="http://schemas.microsoft.com/office/drawing/2014/main" id="{27568BD3-925C-4AA0-93BD-36949085CF23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295400" y="1447800"/>
            <a:ext cx="1360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(4, </a:t>
            </a:r>
            <a:r>
              <a:rPr lang="en-US" altLang="zh-CN" sz="2400">
                <a:solidFill>
                  <a:srgbClr val="FF3300"/>
                </a:solidFill>
              </a:rPr>
              <a:t>10, </a:t>
            </a:r>
            <a:r>
              <a:rPr lang="en-US" altLang="zh-CN" sz="2400">
                <a:solidFill>
                  <a:srgbClr val="6C04AC"/>
                </a:solidFill>
              </a:rPr>
              <a:t>3</a:t>
            </a:r>
            <a:r>
              <a:rPr lang="en-US" altLang="zh-CN" sz="2400"/>
              <a:t>)</a:t>
            </a:r>
          </a:p>
        </p:txBody>
      </p:sp>
      <p:sp>
        <p:nvSpPr>
          <p:cNvPr id="83984" name="Text Box 15">
            <a:extLst>
              <a:ext uri="{FF2B5EF4-FFF2-40B4-BE49-F238E27FC236}">
                <a16:creationId xmlns:a16="http://schemas.microsoft.com/office/drawing/2014/main" id="{56E73F17-A9BA-43DE-9E7C-52081947E4ED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485900" y="2817813"/>
            <a:ext cx="1181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(1, </a:t>
            </a:r>
            <a:r>
              <a:rPr lang="en-US" altLang="zh-CN" sz="2400">
                <a:solidFill>
                  <a:srgbClr val="FF3300"/>
                </a:solidFill>
              </a:rPr>
              <a:t>8, </a:t>
            </a:r>
            <a:r>
              <a:rPr lang="en-US" altLang="zh-CN" sz="2400">
                <a:solidFill>
                  <a:srgbClr val="6C04AC"/>
                </a:solidFill>
              </a:rPr>
              <a:t>8</a:t>
            </a:r>
            <a:r>
              <a:rPr lang="en-US" altLang="zh-CN" sz="2400"/>
              <a:t>)</a:t>
            </a:r>
          </a:p>
        </p:txBody>
      </p:sp>
      <p:sp>
        <p:nvSpPr>
          <p:cNvPr id="83985" name="Text Box 16">
            <a:extLst>
              <a:ext uri="{FF2B5EF4-FFF2-40B4-BE49-F238E27FC236}">
                <a16:creationId xmlns:a16="http://schemas.microsoft.com/office/drawing/2014/main" id="{74ECAB7C-4D28-4445-80DD-D2123E37F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148013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(3, </a:t>
            </a:r>
            <a:r>
              <a:rPr lang="en-US" altLang="zh-CN" sz="2400">
                <a:solidFill>
                  <a:srgbClr val="FF3300"/>
                </a:solidFill>
              </a:rPr>
              <a:t>10, </a:t>
            </a:r>
            <a:r>
              <a:rPr lang="en-US" altLang="zh-CN" sz="2400">
                <a:solidFill>
                  <a:srgbClr val="6C04AC"/>
                </a:solidFill>
              </a:rPr>
              <a:t>4</a:t>
            </a:r>
            <a:r>
              <a:rPr lang="en-US" altLang="zh-CN" sz="2400"/>
              <a:t>)</a:t>
            </a:r>
          </a:p>
        </p:txBody>
      </p:sp>
      <p:sp>
        <p:nvSpPr>
          <p:cNvPr id="83986" name="Text Box 17">
            <a:extLst>
              <a:ext uri="{FF2B5EF4-FFF2-40B4-BE49-F238E27FC236}">
                <a16:creationId xmlns:a16="http://schemas.microsoft.com/office/drawing/2014/main" id="{3DCE35B3-7A4C-44F0-A07F-D662F3119E81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3673475" y="1925638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(6, </a:t>
            </a:r>
            <a:r>
              <a:rPr lang="en-US" altLang="zh-CN" sz="2400">
                <a:solidFill>
                  <a:srgbClr val="FF3300"/>
                </a:solidFill>
              </a:rPr>
              <a:t>2, </a:t>
            </a:r>
            <a:r>
              <a:rPr lang="en-US" altLang="zh-CN" sz="2400">
                <a:solidFill>
                  <a:srgbClr val="6C04AC"/>
                </a:solidFill>
              </a:rPr>
              <a:t>0</a:t>
            </a:r>
            <a:r>
              <a:rPr lang="en-US" altLang="zh-CN" sz="2400"/>
              <a:t>)</a:t>
            </a:r>
          </a:p>
        </p:txBody>
      </p:sp>
      <p:sp>
        <p:nvSpPr>
          <p:cNvPr id="83987" name="Text Box 18">
            <a:extLst>
              <a:ext uri="{FF2B5EF4-FFF2-40B4-BE49-F238E27FC236}">
                <a16:creationId xmlns:a16="http://schemas.microsoft.com/office/drawing/2014/main" id="{7E42AADE-6B5D-412E-98B4-FCBF402F4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182813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5, </a:t>
            </a:r>
            <a:r>
              <a:rPr lang="en-US" altLang="zh-CN" sz="2400">
                <a:solidFill>
                  <a:srgbClr val="6C04AC"/>
                </a:solidFill>
              </a:rPr>
              <a:t>4</a:t>
            </a:r>
            <a:r>
              <a:rPr lang="en-US" altLang="zh-CN" sz="2400"/>
              <a:t>)</a:t>
            </a:r>
          </a:p>
        </p:txBody>
      </p:sp>
      <p:sp>
        <p:nvSpPr>
          <p:cNvPr id="83988" name="Oval 19">
            <a:extLst>
              <a:ext uri="{FF2B5EF4-FFF2-40B4-BE49-F238E27FC236}">
                <a16:creationId xmlns:a16="http://schemas.microsoft.com/office/drawing/2014/main" id="{F9AB269B-D3F8-4AD5-BD5C-DA9029FF8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954338"/>
            <a:ext cx="457200" cy="385762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3989" name="Line 20">
            <a:extLst>
              <a:ext uri="{FF2B5EF4-FFF2-40B4-BE49-F238E27FC236}">
                <a16:creationId xmlns:a16="http://schemas.microsoft.com/office/drawing/2014/main" id="{A52C603B-53DA-4215-9F37-CB3FCA1359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1604963"/>
            <a:ext cx="0" cy="1349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90" name="Text Box 21">
            <a:extLst>
              <a:ext uri="{FF2B5EF4-FFF2-40B4-BE49-F238E27FC236}">
                <a16:creationId xmlns:a16="http://schemas.microsoft.com/office/drawing/2014/main" id="{2A66ACDF-2E23-4917-8F5C-503A65B16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119313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(2, </a:t>
            </a:r>
            <a:r>
              <a:rPr lang="en-US" altLang="zh-CN" sz="2400">
                <a:solidFill>
                  <a:srgbClr val="FF3300"/>
                </a:solidFill>
              </a:rPr>
              <a:t>4, </a:t>
            </a:r>
            <a:r>
              <a:rPr lang="en-US" altLang="zh-CN" sz="2400">
                <a:solidFill>
                  <a:srgbClr val="6C04AC"/>
                </a:solidFill>
              </a:rPr>
              <a:t>4</a:t>
            </a:r>
            <a:r>
              <a:rPr lang="en-US" altLang="zh-CN" sz="2400"/>
              <a:t>)</a:t>
            </a:r>
          </a:p>
        </p:txBody>
      </p:sp>
      <p:sp>
        <p:nvSpPr>
          <p:cNvPr id="294934" name="Oval 22">
            <a:extLst>
              <a:ext uri="{FF2B5EF4-FFF2-40B4-BE49-F238E27FC236}">
                <a16:creationId xmlns:a16="http://schemas.microsoft.com/office/drawing/2014/main" id="{E10AD554-CBD7-48BB-99BD-F0541803D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143500"/>
            <a:ext cx="457200" cy="385763"/>
          </a:xfrm>
          <a:prstGeom prst="ellipse">
            <a:avLst/>
          </a:prstGeom>
          <a:solidFill>
            <a:schemeClr val="tx2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294935" name="Oval 23">
            <a:extLst>
              <a:ext uri="{FF2B5EF4-FFF2-40B4-BE49-F238E27FC236}">
                <a16:creationId xmlns:a16="http://schemas.microsoft.com/office/drawing/2014/main" id="{6DCFA049-9AE0-4A94-A823-15FDDC17C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243388"/>
            <a:ext cx="457200" cy="385762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94936" name="Oval 24">
            <a:extLst>
              <a:ext uri="{FF2B5EF4-FFF2-40B4-BE49-F238E27FC236}">
                <a16:creationId xmlns:a16="http://schemas.microsoft.com/office/drawing/2014/main" id="{FF26F829-1678-438E-A48D-AE5937309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6043613"/>
            <a:ext cx="457200" cy="384175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94937" name="Oval 25">
            <a:extLst>
              <a:ext uri="{FF2B5EF4-FFF2-40B4-BE49-F238E27FC236}">
                <a16:creationId xmlns:a16="http://schemas.microsoft.com/office/drawing/2014/main" id="{9214F5D8-D468-4814-AD93-5F502BF0F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243388"/>
            <a:ext cx="457200" cy="3857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94938" name="Freeform 26">
            <a:extLst>
              <a:ext uri="{FF2B5EF4-FFF2-40B4-BE49-F238E27FC236}">
                <a16:creationId xmlns:a16="http://schemas.microsoft.com/office/drawing/2014/main" id="{33ECF2EF-96C6-4167-8C1B-70040E19FF5B}"/>
              </a:ext>
            </a:extLst>
          </p:cNvPr>
          <p:cNvSpPr>
            <a:spLocks/>
          </p:cNvSpPr>
          <p:nvPr/>
        </p:nvSpPr>
        <p:spPr bwMode="auto">
          <a:xfrm>
            <a:off x="1295400" y="4495800"/>
            <a:ext cx="1447800" cy="642938"/>
          </a:xfrm>
          <a:custGeom>
            <a:avLst/>
            <a:gdLst>
              <a:gd name="T0" fmla="*/ 0 w 912"/>
              <a:gd name="T1" fmla="*/ 2147483646 h 405"/>
              <a:gd name="T2" fmla="*/ 2147483646 w 912"/>
              <a:gd name="T3" fmla="*/ 2147483646 h 405"/>
              <a:gd name="T4" fmla="*/ 2147483646 w 912"/>
              <a:gd name="T5" fmla="*/ 0 h 405"/>
              <a:gd name="T6" fmla="*/ 0 60000 65536"/>
              <a:gd name="T7" fmla="*/ 0 60000 65536"/>
              <a:gd name="T8" fmla="*/ 0 60000 65536"/>
              <a:gd name="T9" fmla="*/ 0 w 912"/>
              <a:gd name="T10" fmla="*/ 0 h 405"/>
              <a:gd name="T11" fmla="*/ 912 w 912"/>
              <a:gd name="T12" fmla="*/ 405 h 4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405">
                <a:moveTo>
                  <a:pt x="0" y="405"/>
                </a:moveTo>
                <a:cubicBezTo>
                  <a:pt x="65" y="360"/>
                  <a:pt x="239" y="200"/>
                  <a:pt x="391" y="132"/>
                </a:cubicBezTo>
                <a:cubicBezTo>
                  <a:pt x="543" y="64"/>
                  <a:pt x="804" y="28"/>
                  <a:pt x="912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4939" name="Freeform 27">
            <a:extLst>
              <a:ext uri="{FF2B5EF4-FFF2-40B4-BE49-F238E27FC236}">
                <a16:creationId xmlns:a16="http://schemas.microsoft.com/office/drawing/2014/main" id="{0625FFD7-1693-41C2-B0E8-6FDFAC576D84}"/>
              </a:ext>
            </a:extLst>
          </p:cNvPr>
          <p:cNvSpPr>
            <a:spLocks/>
          </p:cNvSpPr>
          <p:nvPr/>
        </p:nvSpPr>
        <p:spPr bwMode="auto">
          <a:xfrm>
            <a:off x="2743200" y="4629150"/>
            <a:ext cx="142875" cy="1414463"/>
          </a:xfrm>
          <a:custGeom>
            <a:avLst/>
            <a:gdLst>
              <a:gd name="T0" fmla="*/ 2147483646 w 90"/>
              <a:gd name="T1" fmla="*/ 0 h 891"/>
              <a:gd name="T2" fmla="*/ 0 w 90"/>
              <a:gd name="T3" fmla="*/ 2147483646 h 891"/>
              <a:gd name="T4" fmla="*/ 2147483646 w 90"/>
              <a:gd name="T5" fmla="*/ 2147483646 h 891"/>
              <a:gd name="T6" fmla="*/ 0 60000 65536"/>
              <a:gd name="T7" fmla="*/ 0 60000 65536"/>
              <a:gd name="T8" fmla="*/ 0 60000 65536"/>
              <a:gd name="T9" fmla="*/ 0 w 90"/>
              <a:gd name="T10" fmla="*/ 0 h 891"/>
              <a:gd name="T11" fmla="*/ 90 w 90"/>
              <a:gd name="T12" fmla="*/ 891 h 8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0" h="891">
                <a:moveTo>
                  <a:pt x="89" y="0"/>
                </a:moveTo>
                <a:cubicBezTo>
                  <a:pt x="74" y="64"/>
                  <a:pt x="0" y="237"/>
                  <a:pt x="0" y="385"/>
                </a:cubicBezTo>
                <a:cubicBezTo>
                  <a:pt x="0" y="533"/>
                  <a:pt x="71" y="786"/>
                  <a:pt x="90" y="891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4940" name="Freeform 28">
            <a:extLst>
              <a:ext uri="{FF2B5EF4-FFF2-40B4-BE49-F238E27FC236}">
                <a16:creationId xmlns:a16="http://schemas.microsoft.com/office/drawing/2014/main" id="{59C6C0AF-9464-4AD4-8A64-8DF6D372437D}"/>
              </a:ext>
            </a:extLst>
          </p:cNvPr>
          <p:cNvSpPr>
            <a:spLocks/>
          </p:cNvSpPr>
          <p:nvPr/>
        </p:nvSpPr>
        <p:spPr bwMode="auto">
          <a:xfrm>
            <a:off x="3200400" y="6264275"/>
            <a:ext cx="1752600" cy="136525"/>
          </a:xfrm>
          <a:custGeom>
            <a:avLst/>
            <a:gdLst>
              <a:gd name="T0" fmla="*/ 0 w 1104"/>
              <a:gd name="T1" fmla="*/ 0 h 86"/>
              <a:gd name="T2" fmla="*/ 2147483646 w 1104"/>
              <a:gd name="T3" fmla="*/ 2147483646 h 86"/>
              <a:gd name="T4" fmla="*/ 2147483646 w 1104"/>
              <a:gd name="T5" fmla="*/ 2147483646 h 86"/>
              <a:gd name="T6" fmla="*/ 0 60000 65536"/>
              <a:gd name="T7" fmla="*/ 0 60000 65536"/>
              <a:gd name="T8" fmla="*/ 0 60000 65536"/>
              <a:gd name="T9" fmla="*/ 0 w 1104"/>
              <a:gd name="T10" fmla="*/ 0 h 86"/>
              <a:gd name="T11" fmla="*/ 1104 w 1104"/>
              <a:gd name="T12" fmla="*/ 86 h 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86">
                <a:moveTo>
                  <a:pt x="0" y="0"/>
                </a:moveTo>
                <a:cubicBezTo>
                  <a:pt x="84" y="14"/>
                  <a:pt x="323" y="86"/>
                  <a:pt x="507" y="86"/>
                </a:cubicBezTo>
                <a:cubicBezTo>
                  <a:pt x="691" y="86"/>
                  <a:pt x="980" y="19"/>
                  <a:pt x="1104" y="1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4941" name="Line 29">
            <a:extLst>
              <a:ext uri="{FF2B5EF4-FFF2-40B4-BE49-F238E27FC236}">
                <a16:creationId xmlns:a16="http://schemas.microsoft.com/office/drawing/2014/main" id="{0BD66371-4948-49EE-879E-602A7A4BFB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564063"/>
            <a:ext cx="1828800" cy="154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4942" name="Text Box 30">
            <a:extLst>
              <a:ext uri="{FF2B5EF4-FFF2-40B4-BE49-F238E27FC236}">
                <a16:creationId xmlns:a16="http://schemas.microsoft.com/office/drawing/2014/main" id="{5AB473AF-2539-48C3-82DD-307B3398AD32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524000" y="4343400"/>
            <a:ext cx="368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4</a:t>
            </a:r>
          </a:p>
        </p:txBody>
      </p:sp>
      <p:sp>
        <p:nvSpPr>
          <p:cNvPr id="294943" name="Text Box 31">
            <a:extLst>
              <a:ext uri="{FF2B5EF4-FFF2-40B4-BE49-F238E27FC236}">
                <a16:creationId xmlns:a16="http://schemas.microsoft.com/office/drawing/2014/main" id="{48832A63-629B-4C2B-AB27-D4276A38B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324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3</a:t>
            </a:r>
          </a:p>
        </p:txBody>
      </p:sp>
      <p:sp>
        <p:nvSpPr>
          <p:cNvPr id="294944" name="Text Box 32">
            <a:extLst>
              <a:ext uri="{FF2B5EF4-FFF2-40B4-BE49-F238E27FC236}">
                <a16:creationId xmlns:a16="http://schemas.microsoft.com/office/drawing/2014/main" id="{417A137E-0FD2-4541-A058-3A7ABB326BD8}"/>
              </a:ext>
            </a:extLst>
          </p:cNvPr>
          <p:cNvSpPr txBox="1">
            <a:spLocks noChangeArrowheads="1"/>
          </p:cNvSpPr>
          <p:nvPr/>
        </p:nvSpPr>
        <p:spPr bwMode="auto">
          <a:xfrm rot="2563541">
            <a:off x="3657600" y="4953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6</a:t>
            </a:r>
          </a:p>
        </p:txBody>
      </p:sp>
      <p:sp>
        <p:nvSpPr>
          <p:cNvPr id="294945" name="Text Box 33">
            <a:extLst>
              <a:ext uri="{FF2B5EF4-FFF2-40B4-BE49-F238E27FC236}">
                <a16:creationId xmlns:a16="http://schemas.microsoft.com/office/drawing/2014/main" id="{CCD79C18-95D9-4767-89ED-E97E78F9C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1054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 -2</a:t>
            </a:r>
          </a:p>
        </p:txBody>
      </p:sp>
      <p:sp>
        <p:nvSpPr>
          <p:cNvPr id="294946" name="Oval 34">
            <a:extLst>
              <a:ext uri="{FF2B5EF4-FFF2-40B4-BE49-F238E27FC236}">
                <a16:creationId xmlns:a16="http://schemas.microsoft.com/office/drawing/2014/main" id="{B1E3107E-D42E-4A53-9CDA-17BD6B5F7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978525"/>
            <a:ext cx="457200" cy="385763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v</a:t>
            </a:r>
            <a:r>
              <a:rPr lang="en-US" altLang="zh-CN" sz="2400" baseline="-25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4004" name="Text Box 37">
            <a:extLst>
              <a:ext uri="{FF2B5EF4-FFF2-40B4-BE49-F238E27FC236}">
                <a16:creationId xmlns:a16="http://schemas.microsoft.com/office/drawing/2014/main" id="{6CF9A361-C572-46B3-871E-50CDBFE29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0574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i="1"/>
              <a:t>f </a:t>
            </a:r>
            <a:r>
              <a:rPr lang="en-US" altLang="zh-CN" sz="2800" baseline="30000"/>
              <a:t>(4)</a:t>
            </a:r>
            <a:endParaRPr lang="en-US" altLang="zh-CN" sz="2800"/>
          </a:p>
        </p:txBody>
      </p:sp>
      <p:sp>
        <p:nvSpPr>
          <p:cNvPr id="294950" name="Text Box 38">
            <a:extLst>
              <a:ext uri="{FF2B5EF4-FFF2-40B4-BE49-F238E27FC236}">
                <a16:creationId xmlns:a16="http://schemas.microsoft.com/office/drawing/2014/main" id="{2D9EA568-91BD-4E02-A9C1-FED94F48C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45720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W(</a:t>
            </a:r>
            <a:r>
              <a:rPr lang="en-US" altLang="zh-CN" sz="2800" i="1"/>
              <a:t>f </a:t>
            </a:r>
            <a:r>
              <a:rPr lang="en-US" altLang="zh-CN" sz="2800" baseline="30000"/>
              <a:t>(4)</a:t>
            </a:r>
            <a:r>
              <a:rPr lang="en-US" altLang="zh-CN" sz="2800"/>
              <a:t>)</a:t>
            </a:r>
          </a:p>
        </p:txBody>
      </p:sp>
      <p:sp>
        <p:nvSpPr>
          <p:cNvPr id="294951" name="Text Box 39">
            <a:extLst>
              <a:ext uri="{FF2B5EF4-FFF2-40B4-BE49-F238E27FC236}">
                <a16:creationId xmlns:a16="http://schemas.microsoft.com/office/drawing/2014/main" id="{866E13B7-1D52-4010-A6C3-7AA7B7D74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962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-1</a:t>
            </a:r>
          </a:p>
        </p:txBody>
      </p:sp>
      <p:sp>
        <p:nvSpPr>
          <p:cNvPr id="294952" name="Text Box 40">
            <a:extLst>
              <a:ext uri="{FF2B5EF4-FFF2-40B4-BE49-F238E27FC236}">
                <a16:creationId xmlns:a16="http://schemas.microsoft.com/office/drawing/2014/main" id="{127FA4B5-3A53-4732-9FF6-1E597F1A8CF4}"/>
              </a:ext>
            </a:extLst>
          </p:cNvPr>
          <p:cNvSpPr txBox="1">
            <a:spLocks noChangeArrowheads="1"/>
          </p:cNvSpPr>
          <p:nvPr/>
        </p:nvSpPr>
        <p:spPr bwMode="auto">
          <a:xfrm rot="1691091">
            <a:off x="1676400" y="571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-1</a:t>
            </a:r>
          </a:p>
        </p:txBody>
      </p:sp>
      <p:sp>
        <p:nvSpPr>
          <p:cNvPr id="294953" name="Line 41">
            <a:extLst>
              <a:ext uri="{FF2B5EF4-FFF2-40B4-BE49-F238E27FC236}">
                <a16:creationId xmlns:a16="http://schemas.microsoft.com/office/drawing/2014/main" id="{24F53FC5-E8CD-4B9D-8B08-6FC6473750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4196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4954" name="Freeform 42">
            <a:extLst>
              <a:ext uri="{FF2B5EF4-FFF2-40B4-BE49-F238E27FC236}">
                <a16:creationId xmlns:a16="http://schemas.microsoft.com/office/drawing/2014/main" id="{A4EC1955-F41A-4CE7-A2A1-688D9B791D1A}"/>
              </a:ext>
            </a:extLst>
          </p:cNvPr>
          <p:cNvSpPr>
            <a:spLocks/>
          </p:cNvSpPr>
          <p:nvPr/>
        </p:nvSpPr>
        <p:spPr bwMode="auto">
          <a:xfrm>
            <a:off x="1371600" y="4648200"/>
            <a:ext cx="1447800" cy="642938"/>
          </a:xfrm>
          <a:custGeom>
            <a:avLst/>
            <a:gdLst>
              <a:gd name="T0" fmla="*/ 0 w 912"/>
              <a:gd name="T1" fmla="*/ 2147483646 h 405"/>
              <a:gd name="T2" fmla="*/ 2147483646 w 912"/>
              <a:gd name="T3" fmla="*/ 2147483646 h 405"/>
              <a:gd name="T4" fmla="*/ 2147483646 w 912"/>
              <a:gd name="T5" fmla="*/ 0 h 405"/>
              <a:gd name="T6" fmla="*/ 0 60000 65536"/>
              <a:gd name="T7" fmla="*/ 0 60000 65536"/>
              <a:gd name="T8" fmla="*/ 0 60000 65536"/>
              <a:gd name="T9" fmla="*/ 0 w 912"/>
              <a:gd name="T10" fmla="*/ 0 h 405"/>
              <a:gd name="T11" fmla="*/ 912 w 912"/>
              <a:gd name="T12" fmla="*/ 405 h 4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405">
                <a:moveTo>
                  <a:pt x="0" y="405"/>
                </a:moveTo>
                <a:cubicBezTo>
                  <a:pt x="80" y="387"/>
                  <a:pt x="328" y="366"/>
                  <a:pt x="480" y="298"/>
                </a:cubicBezTo>
                <a:cubicBezTo>
                  <a:pt x="632" y="230"/>
                  <a:pt x="822" y="62"/>
                  <a:pt x="912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4955" name="Text Box 43">
            <a:extLst>
              <a:ext uri="{FF2B5EF4-FFF2-40B4-BE49-F238E27FC236}">
                <a16:creationId xmlns:a16="http://schemas.microsoft.com/office/drawing/2014/main" id="{AE538AE1-AE13-48AC-8423-AFC3A309A679}"/>
              </a:ext>
            </a:extLst>
          </p:cNvPr>
          <p:cNvSpPr txBox="1">
            <a:spLocks noChangeArrowheads="1"/>
          </p:cNvSpPr>
          <p:nvPr/>
        </p:nvSpPr>
        <p:spPr bwMode="auto">
          <a:xfrm rot="-1466637">
            <a:off x="1828800" y="4724400"/>
            <a:ext cx="458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-4</a:t>
            </a:r>
          </a:p>
        </p:txBody>
      </p:sp>
      <p:sp>
        <p:nvSpPr>
          <p:cNvPr id="294956" name="Line 44">
            <a:extLst>
              <a:ext uri="{FF2B5EF4-FFF2-40B4-BE49-F238E27FC236}">
                <a16:creationId xmlns:a16="http://schemas.microsoft.com/office/drawing/2014/main" id="{4BB4A1E1-8EEA-4370-B2B7-CDBEA5EFF9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5486400"/>
            <a:ext cx="1447800" cy="708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4957" name="Freeform 45">
            <a:extLst>
              <a:ext uri="{FF2B5EF4-FFF2-40B4-BE49-F238E27FC236}">
                <a16:creationId xmlns:a16="http://schemas.microsoft.com/office/drawing/2014/main" id="{58E3D5DE-F810-457D-9052-2896DD14F4B1}"/>
              </a:ext>
            </a:extLst>
          </p:cNvPr>
          <p:cNvSpPr>
            <a:spLocks/>
          </p:cNvSpPr>
          <p:nvPr/>
        </p:nvSpPr>
        <p:spPr bwMode="auto">
          <a:xfrm>
            <a:off x="3200400" y="6019800"/>
            <a:ext cx="1752600" cy="168275"/>
          </a:xfrm>
          <a:custGeom>
            <a:avLst/>
            <a:gdLst>
              <a:gd name="T0" fmla="*/ 0 w 1104"/>
              <a:gd name="T1" fmla="*/ 2147483646 h 106"/>
              <a:gd name="T2" fmla="*/ 2147483646 w 1104"/>
              <a:gd name="T3" fmla="*/ 0 h 106"/>
              <a:gd name="T4" fmla="*/ 2147483646 w 1104"/>
              <a:gd name="T5" fmla="*/ 2147483646 h 106"/>
              <a:gd name="T6" fmla="*/ 0 60000 65536"/>
              <a:gd name="T7" fmla="*/ 0 60000 65536"/>
              <a:gd name="T8" fmla="*/ 0 60000 65536"/>
              <a:gd name="T9" fmla="*/ 0 w 1104"/>
              <a:gd name="T10" fmla="*/ 0 h 106"/>
              <a:gd name="T11" fmla="*/ 1104 w 1104"/>
              <a:gd name="T12" fmla="*/ 106 h 1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106">
                <a:moveTo>
                  <a:pt x="0" y="105"/>
                </a:moveTo>
                <a:cubicBezTo>
                  <a:pt x="81" y="88"/>
                  <a:pt x="305" y="0"/>
                  <a:pt x="489" y="0"/>
                </a:cubicBezTo>
                <a:cubicBezTo>
                  <a:pt x="673" y="0"/>
                  <a:pt x="976" y="84"/>
                  <a:pt x="1104" y="106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4958" name="Text Box 46">
            <a:extLst>
              <a:ext uri="{FF2B5EF4-FFF2-40B4-BE49-F238E27FC236}">
                <a16:creationId xmlns:a16="http://schemas.microsoft.com/office/drawing/2014/main" id="{40331D17-E16A-4D45-AB81-E56EEB03E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638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-3</a:t>
            </a:r>
          </a:p>
        </p:txBody>
      </p:sp>
      <p:sp>
        <p:nvSpPr>
          <p:cNvPr id="294960" name="Text Box 48">
            <a:extLst>
              <a:ext uri="{FF2B5EF4-FFF2-40B4-BE49-F238E27FC236}">
                <a16:creationId xmlns:a16="http://schemas.microsoft.com/office/drawing/2014/main" id="{94DDB7BB-A4B1-4779-AC7E-8758336A2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9530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-2</a:t>
            </a:r>
          </a:p>
        </p:txBody>
      </p:sp>
      <p:sp>
        <p:nvSpPr>
          <p:cNvPr id="294965" name="Line 53">
            <a:extLst>
              <a:ext uri="{FF2B5EF4-FFF2-40B4-BE49-F238E27FC236}">
                <a16:creationId xmlns:a16="http://schemas.microsoft.com/office/drawing/2014/main" id="{DDFEAE36-8B3D-4CFB-8F64-A25E3FAB96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4648200"/>
            <a:ext cx="0" cy="1349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4966" name="Freeform 54">
            <a:extLst>
              <a:ext uri="{FF2B5EF4-FFF2-40B4-BE49-F238E27FC236}">
                <a16:creationId xmlns:a16="http://schemas.microsoft.com/office/drawing/2014/main" id="{BBEBCEE9-B180-4FE5-99DB-81B10DB49BB6}"/>
              </a:ext>
            </a:extLst>
          </p:cNvPr>
          <p:cNvSpPr>
            <a:spLocks/>
          </p:cNvSpPr>
          <p:nvPr/>
        </p:nvSpPr>
        <p:spPr bwMode="auto">
          <a:xfrm>
            <a:off x="3048000" y="4648200"/>
            <a:ext cx="134938" cy="1414463"/>
          </a:xfrm>
          <a:custGeom>
            <a:avLst/>
            <a:gdLst>
              <a:gd name="T0" fmla="*/ 0 w 85"/>
              <a:gd name="T1" fmla="*/ 0 h 891"/>
              <a:gd name="T2" fmla="*/ 2147483646 w 85"/>
              <a:gd name="T3" fmla="*/ 2147483646 h 891"/>
              <a:gd name="T4" fmla="*/ 2147483646 w 85"/>
              <a:gd name="T5" fmla="*/ 2147483646 h 891"/>
              <a:gd name="T6" fmla="*/ 0 60000 65536"/>
              <a:gd name="T7" fmla="*/ 0 60000 65536"/>
              <a:gd name="T8" fmla="*/ 0 60000 65536"/>
              <a:gd name="T9" fmla="*/ 0 w 85"/>
              <a:gd name="T10" fmla="*/ 0 h 891"/>
              <a:gd name="T11" fmla="*/ 85 w 85"/>
              <a:gd name="T12" fmla="*/ 891 h 8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" h="891">
                <a:moveTo>
                  <a:pt x="0" y="0"/>
                </a:moveTo>
                <a:cubicBezTo>
                  <a:pt x="14" y="62"/>
                  <a:pt x="85" y="225"/>
                  <a:pt x="85" y="373"/>
                </a:cubicBezTo>
                <a:cubicBezTo>
                  <a:pt x="85" y="521"/>
                  <a:pt x="18" y="783"/>
                  <a:pt x="1" y="891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4967" name="Text Box 55">
            <a:extLst>
              <a:ext uri="{FF2B5EF4-FFF2-40B4-BE49-F238E27FC236}">
                <a16:creationId xmlns:a16="http://schemas.microsoft.com/office/drawing/2014/main" id="{24697623-E050-4EDD-8587-7B8613190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1054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2</a:t>
            </a:r>
          </a:p>
        </p:txBody>
      </p:sp>
      <p:sp>
        <p:nvSpPr>
          <p:cNvPr id="294969" name="Text Box 57">
            <a:extLst>
              <a:ext uri="{FF2B5EF4-FFF2-40B4-BE49-F238E27FC236}">
                <a16:creationId xmlns:a16="http://schemas.microsoft.com/office/drawing/2014/main" id="{B79E0627-8526-483C-BD87-791517B64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4102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FF3300"/>
                </a:solidFill>
                <a:cs typeface="Times New Roman" panose="02020603050405020304" pitchFamily="18" charset="0"/>
              </a:rPr>
              <a:t>不存在最短路！</a:t>
            </a:r>
            <a:endParaRPr lang="zh-CN" altLang="en-US" sz="2800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68" grpId="0"/>
      <p:bldP spid="294934" grpId="0" animBg="1"/>
      <p:bldP spid="294935" grpId="0" animBg="1"/>
      <p:bldP spid="294936" grpId="0" animBg="1"/>
      <p:bldP spid="294937" grpId="0" animBg="1"/>
      <p:bldP spid="294942" grpId="0"/>
      <p:bldP spid="294943" grpId="0"/>
      <p:bldP spid="294944" grpId="0"/>
      <p:bldP spid="294945" grpId="0"/>
      <p:bldP spid="294946" grpId="0" animBg="1"/>
      <p:bldP spid="294950" grpId="0"/>
      <p:bldP spid="294951" grpId="0"/>
      <p:bldP spid="294952" grpId="0"/>
      <p:bldP spid="294955" grpId="0"/>
      <p:bldP spid="294958" grpId="0"/>
      <p:bldP spid="294960" grpId="0"/>
      <p:bldP spid="294967" grpId="0"/>
      <p:bldP spid="294969" grpId="0"/>
    </p:bldLst>
  </p:timing>
</p:sld>
</file>

<file path=ppt/theme/theme1.xml><?xml version="1.0" encoding="utf-8"?>
<a:theme xmlns:a="http://schemas.openxmlformats.org/drawingml/2006/main" name="绪论">
  <a:themeElements>
    <a:clrScheme name="绪论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绪论">
      <a:majorFont>
        <a:latin typeface="Garamond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绪论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绪论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绪论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绪论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绪论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绪论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绪论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绪论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绪论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/>
  <Words>6866</Words>
  <Application>Microsoft Office PowerPoint</Application>
  <PresentationFormat>全屏显示(4:3)</PresentationFormat>
  <Paragraphs>1927</Paragraphs>
  <Slides>89</Slides>
  <Notes>27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89</vt:i4>
      </vt:variant>
    </vt:vector>
  </HeadingPairs>
  <TitlesOfParts>
    <vt:vector size="101" baseType="lpstr">
      <vt:lpstr>等线</vt:lpstr>
      <vt:lpstr>楷体_GB2312</vt:lpstr>
      <vt:lpstr>宋体</vt:lpstr>
      <vt:lpstr>Arial</vt:lpstr>
      <vt:lpstr>Cambria Math</vt:lpstr>
      <vt:lpstr>Garamond</vt:lpstr>
      <vt:lpstr>Times New Roman</vt:lpstr>
      <vt:lpstr>Wingdings</vt:lpstr>
      <vt:lpstr>绪论</vt:lpstr>
      <vt:lpstr>VISIO</vt:lpstr>
      <vt:lpstr>SmartDraw</vt:lpstr>
      <vt:lpstr>公式</vt:lpstr>
      <vt:lpstr> 运  筹  学</vt:lpstr>
      <vt:lpstr>第七章</vt:lpstr>
      <vt:lpstr>图论起源</vt:lpstr>
      <vt:lpstr>主要内容</vt:lpstr>
      <vt:lpstr>第七章之第一节</vt:lpstr>
      <vt:lpstr> 图</vt:lpstr>
      <vt:lpstr> 图</vt:lpstr>
      <vt:lpstr> 链与路、圈与回路</vt:lpstr>
      <vt:lpstr>初等圈与简单圈</vt:lpstr>
      <vt:lpstr>连通图</vt:lpstr>
      <vt:lpstr>支撑子图</vt:lpstr>
      <vt:lpstr>赋权图（网络）</vt:lpstr>
      <vt:lpstr>七桥问题的解</vt:lpstr>
      <vt:lpstr>Chinese Postman Problem</vt:lpstr>
      <vt:lpstr>思路</vt:lpstr>
      <vt:lpstr>奇偶点图上作业法</vt:lpstr>
      <vt:lpstr>奇偶点图上作业法</vt:lpstr>
      <vt:lpstr>奇偶点图上作业法</vt:lpstr>
      <vt:lpstr>奇偶点图上作业法</vt:lpstr>
      <vt:lpstr>奇偶点图上作业法</vt:lpstr>
      <vt:lpstr>树</vt:lpstr>
      <vt:lpstr>图的支撑树</vt:lpstr>
      <vt:lpstr>最小支撑树</vt:lpstr>
      <vt:lpstr>避圈法</vt:lpstr>
      <vt:lpstr>破圈法</vt:lpstr>
      <vt:lpstr>第七章之第二节</vt:lpstr>
      <vt:lpstr>引例</vt:lpstr>
      <vt:lpstr>Dijkstra标号法</vt:lpstr>
      <vt:lpstr>步骤</vt:lpstr>
      <vt:lpstr>步骤</vt:lpstr>
      <vt:lpstr>步骤</vt:lpstr>
      <vt:lpstr>步骤</vt:lpstr>
      <vt:lpstr>步骤</vt:lpstr>
      <vt:lpstr>步骤</vt:lpstr>
      <vt:lpstr>步骤</vt:lpstr>
      <vt:lpstr>步骤</vt:lpstr>
      <vt:lpstr>步骤</vt:lpstr>
      <vt:lpstr>无向图</vt:lpstr>
      <vt:lpstr>负权弧</vt:lpstr>
      <vt:lpstr>负权弧</vt:lpstr>
      <vt:lpstr>负权弧</vt:lpstr>
      <vt:lpstr>负权弧</vt:lpstr>
      <vt:lpstr>负权弧</vt:lpstr>
      <vt:lpstr>思考题</vt:lpstr>
      <vt:lpstr>第七章之第三节</vt:lpstr>
      <vt:lpstr>引例</vt:lpstr>
      <vt:lpstr>引例</vt:lpstr>
      <vt:lpstr>引例</vt:lpstr>
      <vt:lpstr>一般提法</vt:lpstr>
      <vt:lpstr>最大流模型</vt:lpstr>
      <vt:lpstr>弧按流量分类</vt:lpstr>
      <vt:lpstr>截集与截量</vt:lpstr>
      <vt:lpstr>截量与流量</vt:lpstr>
      <vt:lpstr>链</vt:lpstr>
      <vt:lpstr>PowerPoint 演示文稿</vt:lpstr>
      <vt:lpstr>PowerPoint 演示文稿</vt:lpstr>
      <vt:lpstr>结论</vt:lpstr>
      <vt:lpstr>增广链</vt:lpstr>
      <vt:lpstr>增广链</vt:lpstr>
      <vt:lpstr>增广链</vt:lpstr>
      <vt:lpstr>增广链</vt:lpstr>
      <vt:lpstr>调整示例</vt:lpstr>
      <vt:lpstr>练习</vt:lpstr>
      <vt:lpstr>求最大流—标号法</vt:lpstr>
      <vt:lpstr>求最大流—标号法</vt:lpstr>
      <vt:lpstr>求最大流—标号法</vt:lpstr>
      <vt:lpstr>求最大流—标号法</vt:lpstr>
      <vt:lpstr>求最大流—标号法</vt:lpstr>
      <vt:lpstr>求最大流—标号法</vt:lpstr>
      <vt:lpstr>求最大流—标号法</vt:lpstr>
      <vt:lpstr>求最大流—标号法</vt:lpstr>
      <vt:lpstr>求最大流—标号法</vt:lpstr>
      <vt:lpstr>求最大流—标号法</vt:lpstr>
      <vt:lpstr>更多的例子</vt:lpstr>
      <vt:lpstr>更多的例子</vt:lpstr>
      <vt:lpstr>更多的例子</vt:lpstr>
      <vt:lpstr>更多的例子</vt:lpstr>
      <vt:lpstr>应用</vt:lpstr>
      <vt:lpstr>第七章之第四节</vt:lpstr>
      <vt:lpstr>问题提出</vt:lpstr>
      <vt:lpstr>增广链的费用</vt:lpstr>
      <vt:lpstr>理论依据</vt:lpstr>
      <vt:lpstr>求最小费用增广链</vt:lpstr>
      <vt:lpstr>算法</vt:lpstr>
      <vt:lpstr>例子</vt:lpstr>
      <vt:lpstr>例子</vt:lpstr>
      <vt:lpstr>例子</vt:lpstr>
      <vt:lpstr>例子</vt:lpstr>
      <vt:lpstr>例子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>
  <dc:title>PowerPoint Presentation</dc:title>
  <cp:revision>252</cp:revision>
</cp:coreProperties>
</file>

<file path=docProps/custom.xml><?xml version="1.0" encoding="utf-8"?>
<Properties xmlns="http://schemas.openxmlformats.org/officeDocument/2006/custom-properties"/>
</file>