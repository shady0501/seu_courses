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Lst>
  <p:notesMasterIdLst>
    <p:notesMasterId r:id="rId94"/>
  </p:notesMasterIdLst>
  <p:sldIdLst>
    <p:sldId id="256" r:id="rId2"/>
    <p:sldId id="261" r:id="rId3"/>
    <p:sldId id="262" r:id="rId4"/>
    <p:sldId id="459" r:id="rId5"/>
    <p:sldId id="460" r:id="rId6"/>
    <p:sldId id="461" r:id="rId7"/>
    <p:sldId id="264" r:id="rId8"/>
    <p:sldId id="462" r:id="rId9"/>
    <p:sldId id="463" r:id="rId10"/>
    <p:sldId id="464" r:id="rId11"/>
    <p:sldId id="465" r:id="rId12"/>
    <p:sldId id="472" r:id="rId13"/>
    <p:sldId id="466" r:id="rId14"/>
    <p:sldId id="467" r:id="rId15"/>
    <p:sldId id="473" r:id="rId16"/>
    <p:sldId id="468" r:id="rId17"/>
    <p:sldId id="469" r:id="rId18"/>
    <p:sldId id="265" r:id="rId19"/>
    <p:sldId id="266" r:id="rId20"/>
    <p:sldId id="298" r:id="rId21"/>
    <p:sldId id="272" r:id="rId22"/>
    <p:sldId id="394" r:id="rId23"/>
    <p:sldId id="395" r:id="rId24"/>
    <p:sldId id="299" r:id="rId25"/>
    <p:sldId id="396" r:id="rId26"/>
    <p:sldId id="316" r:id="rId27"/>
    <p:sldId id="300" r:id="rId28"/>
    <p:sldId id="471" r:id="rId29"/>
    <p:sldId id="470" r:id="rId30"/>
    <p:sldId id="269" r:id="rId31"/>
    <p:sldId id="303" r:id="rId32"/>
    <p:sldId id="304" r:id="rId33"/>
    <p:sldId id="305" r:id="rId34"/>
    <p:sldId id="474" r:id="rId35"/>
    <p:sldId id="413" r:id="rId36"/>
    <p:sldId id="475" r:id="rId37"/>
    <p:sldId id="476" r:id="rId38"/>
    <p:sldId id="477" r:id="rId39"/>
    <p:sldId id="342" r:id="rId40"/>
    <p:sldId id="420" r:id="rId41"/>
    <p:sldId id="340" r:id="rId42"/>
    <p:sldId id="430" r:id="rId43"/>
    <p:sldId id="431" r:id="rId44"/>
    <p:sldId id="270" r:id="rId45"/>
    <p:sldId id="347" r:id="rId46"/>
    <p:sldId id="478" r:id="rId47"/>
    <p:sldId id="479" r:id="rId48"/>
    <p:sldId id="312" r:id="rId49"/>
    <p:sldId id="313" r:id="rId50"/>
    <p:sldId id="314" r:id="rId51"/>
    <p:sldId id="311" r:id="rId52"/>
    <p:sldId id="348" r:id="rId53"/>
    <p:sldId id="349" r:id="rId54"/>
    <p:sldId id="307" r:id="rId55"/>
    <p:sldId id="318" r:id="rId56"/>
    <p:sldId id="273" r:id="rId57"/>
    <p:sldId id="322" r:id="rId58"/>
    <p:sldId id="350" r:id="rId59"/>
    <p:sldId id="351" r:id="rId60"/>
    <p:sldId id="353" r:id="rId61"/>
    <p:sldId id="354" r:id="rId62"/>
    <p:sldId id="326" r:id="rId63"/>
    <p:sldId id="455" r:id="rId64"/>
    <p:sldId id="456" r:id="rId65"/>
    <p:sldId id="457" r:id="rId66"/>
    <p:sldId id="275" r:id="rId67"/>
    <p:sldId id="277" r:id="rId68"/>
    <p:sldId id="432" r:id="rId69"/>
    <p:sldId id="433" r:id="rId70"/>
    <p:sldId id="278" r:id="rId71"/>
    <p:sldId id="481" r:id="rId72"/>
    <p:sldId id="482" r:id="rId73"/>
    <p:sldId id="486" r:id="rId74"/>
    <p:sldId id="483" r:id="rId75"/>
    <p:sldId id="484" r:id="rId76"/>
    <p:sldId id="485" r:id="rId77"/>
    <p:sldId id="487" r:id="rId78"/>
    <p:sldId id="488" r:id="rId79"/>
    <p:sldId id="279" r:id="rId80"/>
    <p:sldId id="422" r:id="rId81"/>
    <p:sldId id="362" r:id="rId82"/>
    <p:sldId id="363" r:id="rId83"/>
    <p:sldId id="423" r:id="rId84"/>
    <p:sldId id="365" r:id="rId85"/>
    <p:sldId id="435" r:id="rId86"/>
    <p:sldId id="436" r:id="rId87"/>
    <p:sldId id="437" r:id="rId88"/>
    <p:sldId id="438" r:id="rId89"/>
    <p:sldId id="444" r:id="rId90"/>
    <p:sldId id="442" r:id="rId91"/>
    <p:sldId id="367" r:id="rId92"/>
    <p:sldId id="434" r:id="rId9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FF9900"/>
    <a:srgbClr val="00CC00"/>
    <a:srgbClr val="FF3300"/>
    <a:srgbClr val="CCFFCC"/>
    <a:srgbClr val="CCE8C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2086" autoAdjust="0"/>
  </p:normalViewPr>
  <p:slideViewPr>
    <p:cSldViewPr>
      <p:cViewPr varScale="1">
        <p:scale>
          <a:sx n="89" d="100"/>
          <a:sy n="89" d="100"/>
        </p:scale>
        <p:origin x="1988"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5" Type="http://schemas.openxmlformats.org/officeDocument/2006/relationships/image" Target="../media/image30.wmf"/><Relationship Id="rId4"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4"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41.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image" Target="../media/image42.wmf"/><Relationship Id="rId7" Type="http://schemas.openxmlformats.org/officeDocument/2006/relationships/image" Target="../media/image50.wmf"/><Relationship Id="rId2" Type="http://schemas.openxmlformats.org/officeDocument/2006/relationships/image" Target="../media/image43.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10" Type="http://schemas.openxmlformats.org/officeDocument/2006/relationships/image" Target="../media/image53.wmf"/><Relationship Id="rId4" Type="http://schemas.openxmlformats.org/officeDocument/2006/relationships/image" Target="../media/image47.wmf"/><Relationship Id="rId9" Type="http://schemas.openxmlformats.org/officeDocument/2006/relationships/image" Target="../media/image5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3.wmf"/><Relationship Id="rId1" Type="http://schemas.openxmlformats.org/officeDocument/2006/relationships/image" Target="../media/image44.wmf"/><Relationship Id="rId5" Type="http://schemas.openxmlformats.org/officeDocument/2006/relationships/image" Target="../media/image55.wmf"/><Relationship Id="rId4" Type="http://schemas.openxmlformats.org/officeDocument/2006/relationships/image" Target="../media/image54.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image" Target="../media/image61.wmf"/><Relationship Id="rId7" Type="http://schemas.openxmlformats.org/officeDocument/2006/relationships/image" Target="../media/image65.wmf"/><Relationship Id="rId2" Type="http://schemas.openxmlformats.org/officeDocument/2006/relationships/image" Target="../media/image60.wmf"/><Relationship Id="rId1" Type="http://schemas.openxmlformats.org/officeDocument/2006/relationships/image" Target="../media/image59.wmf"/><Relationship Id="rId6" Type="http://schemas.openxmlformats.org/officeDocument/2006/relationships/image" Target="../media/image64.wmf"/><Relationship Id="rId11" Type="http://schemas.openxmlformats.org/officeDocument/2006/relationships/image" Target="../media/image69.wmf"/><Relationship Id="rId5" Type="http://schemas.openxmlformats.org/officeDocument/2006/relationships/image" Target="../media/image63.wmf"/><Relationship Id="rId10" Type="http://schemas.openxmlformats.org/officeDocument/2006/relationships/image" Target="../media/image68.wmf"/><Relationship Id="rId4" Type="http://schemas.openxmlformats.org/officeDocument/2006/relationships/image" Target="../media/image62.wmf"/><Relationship Id="rId9" Type="http://schemas.openxmlformats.org/officeDocument/2006/relationships/image" Target="../media/image67.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90.wmf"/><Relationship Id="rId7" Type="http://schemas.openxmlformats.org/officeDocument/2006/relationships/image" Target="../media/image94.wmf"/><Relationship Id="rId12" Type="http://schemas.openxmlformats.org/officeDocument/2006/relationships/image" Target="../media/image99.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11" Type="http://schemas.openxmlformats.org/officeDocument/2006/relationships/image" Target="../media/image98.wmf"/><Relationship Id="rId5" Type="http://schemas.openxmlformats.org/officeDocument/2006/relationships/image" Target="../media/image92.wmf"/><Relationship Id="rId10" Type="http://schemas.openxmlformats.org/officeDocument/2006/relationships/image" Target="../media/image97.wmf"/><Relationship Id="rId4" Type="http://schemas.openxmlformats.org/officeDocument/2006/relationships/image" Target="../media/image91.wmf"/><Relationship Id="rId9" Type="http://schemas.openxmlformats.org/officeDocument/2006/relationships/image" Target="../media/image9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0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image" Target="../media/image90.wmf"/><Relationship Id="rId7" Type="http://schemas.openxmlformats.org/officeDocument/2006/relationships/image" Target="../media/image96.wmf"/><Relationship Id="rId12" Type="http://schemas.openxmlformats.org/officeDocument/2006/relationships/image" Target="../media/image92.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5.wmf"/><Relationship Id="rId11" Type="http://schemas.openxmlformats.org/officeDocument/2006/relationships/image" Target="../media/image91.wmf"/><Relationship Id="rId5" Type="http://schemas.openxmlformats.org/officeDocument/2006/relationships/image" Target="../media/image94.wmf"/><Relationship Id="rId10" Type="http://schemas.openxmlformats.org/officeDocument/2006/relationships/image" Target="../media/image99.wmf"/><Relationship Id="rId4" Type="http://schemas.openxmlformats.org/officeDocument/2006/relationships/image" Target="../media/image93.wmf"/><Relationship Id="rId9" Type="http://schemas.openxmlformats.org/officeDocument/2006/relationships/image" Target="../media/image9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25.wmf"/><Relationship Id="rId2" Type="http://schemas.openxmlformats.org/officeDocument/2006/relationships/image" Target="../media/image124.wmf"/><Relationship Id="rId1" Type="http://schemas.openxmlformats.org/officeDocument/2006/relationships/image" Target="../media/image123.wmf"/><Relationship Id="rId4" Type="http://schemas.openxmlformats.org/officeDocument/2006/relationships/image" Target="../media/image126.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28.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43.wmf"/><Relationship Id="rId3" Type="http://schemas.openxmlformats.org/officeDocument/2006/relationships/image" Target="../media/image89.wmf"/><Relationship Id="rId7"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28.wmf"/><Relationship Id="rId6" Type="http://schemas.openxmlformats.org/officeDocument/2006/relationships/image" Target="../media/image94.wmf"/><Relationship Id="rId11" Type="http://schemas.openxmlformats.org/officeDocument/2006/relationships/image" Target="../media/image146.wmf"/><Relationship Id="rId5" Type="http://schemas.openxmlformats.org/officeDocument/2006/relationships/image" Target="../media/image93.wmf"/><Relationship Id="rId10" Type="http://schemas.openxmlformats.org/officeDocument/2006/relationships/image" Target="../media/image145.wmf"/><Relationship Id="rId4" Type="http://schemas.openxmlformats.org/officeDocument/2006/relationships/image" Target="../media/image90.wmf"/><Relationship Id="rId9" Type="http://schemas.openxmlformats.org/officeDocument/2006/relationships/image" Target="../media/image14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68.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73.wmf"/><Relationship Id="rId2" Type="http://schemas.openxmlformats.org/officeDocument/2006/relationships/image" Target="../media/image172.wmf"/><Relationship Id="rId1" Type="http://schemas.openxmlformats.org/officeDocument/2006/relationships/image" Target="../media/image171.wmf"/><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image" Target="../media/image174.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78.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0.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84.wmf"/><Relationship Id="rId1" Type="http://schemas.openxmlformats.org/officeDocument/2006/relationships/image" Target="../media/image183.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3E5C06E-A5C9-4B11-B4E9-7404D9859D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zh-CN" altLang="en-US"/>
          </a:p>
        </p:txBody>
      </p:sp>
      <p:sp>
        <p:nvSpPr>
          <p:cNvPr id="3" name="日期占位符 2">
            <a:extLst>
              <a:ext uri="{FF2B5EF4-FFF2-40B4-BE49-F238E27FC236}">
                <a16:creationId xmlns:a16="http://schemas.microsoft.com/office/drawing/2014/main" id="{4D2A76B2-875C-45A6-9883-1CA9EEB50C18}"/>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94D88514-53C1-4398-9EDD-CD919CF7EA86}" type="datetimeFigureOut">
              <a:rPr lang="zh-CN" altLang="en-US"/>
              <a:pPr>
                <a:defRPr/>
              </a:pPr>
              <a:t>2024/3/18</a:t>
            </a:fld>
            <a:endParaRPr lang="zh-CN" altLang="en-US"/>
          </a:p>
        </p:txBody>
      </p:sp>
      <p:sp>
        <p:nvSpPr>
          <p:cNvPr id="4" name="幻灯片图像占位符 3">
            <a:extLst>
              <a:ext uri="{FF2B5EF4-FFF2-40B4-BE49-F238E27FC236}">
                <a16:creationId xmlns:a16="http://schemas.microsoft.com/office/drawing/2014/main" id="{932F29FB-A55A-4C9D-BCE7-C929F03FD09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104AD47A-89F8-4180-ABD4-803A0AE70ED2}"/>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D2379F09-9CAF-4D6C-993F-6E8CD0C3EE3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zh-CN" altLang="en-US"/>
          </a:p>
        </p:txBody>
      </p:sp>
      <p:sp>
        <p:nvSpPr>
          <p:cNvPr id="7" name="灯片编号占位符 6">
            <a:extLst>
              <a:ext uri="{FF2B5EF4-FFF2-40B4-BE49-F238E27FC236}">
                <a16:creationId xmlns:a16="http://schemas.microsoft.com/office/drawing/2014/main" id="{ECEE78FF-F3F4-4EE9-B4B3-7372CB41142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1C2B5EB-018C-40E1-9932-0B6950AE528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C0772249-6C92-4331-943E-8153BEA2E47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备注占位符 2">
            <a:extLst>
              <a:ext uri="{FF2B5EF4-FFF2-40B4-BE49-F238E27FC236}">
                <a16:creationId xmlns:a16="http://schemas.microsoft.com/office/drawing/2014/main" id="{E7EBC395-38CD-41C2-90C3-C37E951E6DA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改进单纯形法的两大法宝都与</a:t>
            </a:r>
            <a:r>
              <a:rPr lang="en-US" altLang="zh-CN"/>
              <a:t>B-1</a:t>
            </a:r>
            <a:r>
              <a:rPr lang="zh-CN" altLang="en-US"/>
              <a:t>有关。</a:t>
            </a:r>
          </a:p>
        </p:txBody>
      </p:sp>
      <p:sp>
        <p:nvSpPr>
          <p:cNvPr id="18436" name="灯片编号占位符 3">
            <a:extLst>
              <a:ext uri="{FF2B5EF4-FFF2-40B4-BE49-F238E27FC236}">
                <a16:creationId xmlns:a16="http://schemas.microsoft.com/office/drawing/2014/main" id="{B44F6543-B3B7-44CA-9D39-4C497497176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54F695-17F8-4B77-9CBC-75211818CF2A}" type="slidenum">
              <a:rPr lang="zh-CN" altLang="en-US" smtClean="0"/>
              <a:pPr/>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9EA627A-4686-49B5-A876-810F6257FE6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FE98C54-9C74-45B9-9086-D2ABDEC278CC}" type="slidenum">
              <a:rPr lang="en-US" altLang="zh-CN" smtClean="0"/>
              <a:pPr/>
              <a:t>20</a:t>
            </a:fld>
            <a:endParaRPr lang="en-US" altLang="zh-CN"/>
          </a:p>
        </p:txBody>
      </p:sp>
      <p:sp>
        <p:nvSpPr>
          <p:cNvPr id="33795" name="Rectangle 2">
            <a:extLst>
              <a:ext uri="{FF2B5EF4-FFF2-40B4-BE49-F238E27FC236}">
                <a16:creationId xmlns:a16="http://schemas.microsoft.com/office/drawing/2014/main" id="{7B23DBB3-2DAD-4F96-818B-2582B71B93E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a:extLst>
              <a:ext uri="{FF2B5EF4-FFF2-40B4-BE49-F238E27FC236}">
                <a16:creationId xmlns:a16="http://schemas.microsoft.com/office/drawing/2014/main" id="{CC1EAB85-25DE-4DF9-BA3F-19F8B351E87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直接去看是原问题，将它转</a:t>
            </a:r>
            <a:r>
              <a:rPr lang="en-US" altLang="zh-CN"/>
              <a:t>900</a:t>
            </a:r>
            <a:r>
              <a:rPr lang="zh-CN" altLang="en-US"/>
              <a:t>看便是对偶问题。当然，对偶是相互的，若把表转</a:t>
            </a:r>
            <a:r>
              <a:rPr lang="en-US" altLang="zh-CN"/>
              <a:t>900</a:t>
            </a:r>
            <a:r>
              <a:rPr lang="zh-CN" altLang="en-US"/>
              <a:t>看成是问题，则原表亦可看成是相应的对偶问题。</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D3DE8833-A973-42D3-B83D-569BE3F5ABD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90F17F7A-7A1C-4CEB-97D9-B198E75DCF38}" type="slidenum">
              <a:rPr lang="en-US" altLang="zh-CN" sz="1200"/>
              <a:pPr algn="r" eaLnBrk="1" hangingPunct="1"/>
              <a:t>48</a:t>
            </a:fld>
            <a:endParaRPr lang="en-US" altLang="zh-CN" sz="1200"/>
          </a:p>
        </p:txBody>
      </p:sp>
      <p:sp>
        <p:nvSpPr>
          <p:cNvPr id="55299" name="Rectangle 2">
            <a:extLst>
              <a:ext uri="{FF2B5EF4-FFF2-40B4-BE49-F238E27FC236}">
                <a16:creationId xmlns:a16="http://schemas.microsoft.com/office/drawing/2014/main" id="{BD7271C2-A218-4EBA-9E0B-BE4A2AC523C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a:extLst>
              <a:ext uri="{FF2B5EF4-FFF2-40B4-BE49-F238E27FC236}">
                <a16:creationId xmlns:a16="http://schemas.microsoft.com/office/drawing/2014/main" id="{8A558F15-60F2-4872-9424-C7BB4C87FD3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30BFCB62-EB64-478F-997C-B32C45B19AC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F36E0B1C-668A-42A1-8981-D80750B0122F}" type="slidenum">
              <a:rPr lang="en-US" altLang="zh-CN" sz="1200"/>
              <a:pPr algn="r" eaLnBrk="1" hangingPunct="1"/>
              <a:t>49</a:t>
            </a:fld>
            <a:endParaRPr lang="en-US" altLang="zh-CN" sz="1200"/>
          </a:p>
        </p:txBody>
      </p:sp>
      <p:sp>
        <p:nvSpPr>
          <p:cNvPr id="57347" name="Rectangle 2">
            <a:extLst>
              <a:ext uri="{FF2B5EF4-FFF2-40B4-BE49-F238E27FC236}">
                <a16:creationId xmlns:a16="http://schemas.microsoft.com/office/drawing/2014/main" id="{2E2AEFD1-E508-4CBE-8B92-1CAE069B3C8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a:extLst>
              <a:ext uri="{FF2B5EF4-FFF2-40B4-BE49-F238E27FC236}">
                <a16:creationId xmlns:a16="http://schemas.microsoft.com/office/drawing/2014/main" id="{72C33005-978A-40DC-9A2E-BDA99BD33FC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3E43CB2A-3D62-4C79-BD42-F2681879E4C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8550CC8E-E95D-44BA-9754-710AF81F6848}" type="slidenum">
              <a:rPr lang="en-US" altLang="zh-CN" sz="1200"/>
              <a:pPr algn="r" eaLnBrk="1" hangingPunct="1"/>
              <a:t>50</a:t>
            </a:fld>
            <a:endParaRPr lang="en-US" altLang="zh-CN" sz="1200"/>
          </a:p>
        </p:txBody>
      </p:sp>
      <p:sp>
        <p:nvSpPr>
          <p:cNvPr id="59395" name="Rectangle 2">
            <a:extLst>
              <a:ext uri="{FF2B5EF4-FFF2-40B4-BE49-F238E27FC236}">
                <a16:creationId xmlns:a16="http://schemas.microsoft.com/office/drawing/2014/main" id="{B3006F91-27BF-4450-82D6-BF0D3F6ED8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a:extLst>
              <a:ext uri="{FF2B5EF4-FFF2-40B4-BE49-F238E27FC236}">
                <a16:creationId xmlns:a16="http://schemas.microsoft.com/office/drawing/2014/main" id="{FA6F92C7-1AE4-486E-BA23-FFC53C87DD9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FB22F882-A6D0-4F65-AF2E-E37DA322340B}"/>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a:extLst>
              <a:ext uri="{FF2B5EF4-FFF2-40B4-BE49-F238E27FC236}">
                <a16:creationId xmlns:a16="http://schemas.microsoft.com/office/drawing/2014/main" id="{450F729A-B655-4166-9D75-C9A4731B0337}"/>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 name="Picture 9" descr="校徽">
            <a:extLst>
              <a:ext uri="{FF2B5EF4-FFF2-40B4-BE49-F238E27FC236}">
                <a16:creationId xmlns:a16="http://schemas.microsoft.com/office/drawing/2014/main" id="{26E30F55-7DB6-44AD-A069-5FA710244A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152400"/>
            <a:ext cx="990600" cy="966788"/>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57698" name="Rectangle 2"/>
          <p:cNvSpPr>
            <a:spLocks noGrp="1" noChangeArrowheads="1"/>
          </p:cNvSpPr>
          <p:nvPr>
            <p:ph type="ctrTitle"/>
          </p:nvPr>
        </p:nvSpPr>
        <p:spPr>
          <a:xfrm>
            <a:off x="914400" y="1524000"/>
            <a:ext cx="7623175" cy="1752600"/>
          </a:xfrm>
        </p:spPr>
        <p:txBody>
          <a:bodyPr/>
          <a:lstStyle>
            <a:lvl1pPr>
              <a:defRPr sz="3600"/>
            </a:lvl1pPr>
          </a:lstStyle>
          <a:p>
            <a:r>
              <a:rPr lang="zh-CN" altLang="en-US"/>
              <a:t>单击此处编辑母版标题样式</a:t>
            </a:r>
          </a:p>
        </p:txBody>
      </p:sp>
      <p:sp>
        <p:nvSpPr>
          <p:cNvPr id="157699" name="Rectangle 3"/>
          <p:cNvSpPr>
            <a:spLocks noGrp="1" noChangeArrowheads="1"/>
          </p:cNvSpPr>
          <p:nvPr>
            <p:ph type="subTitle" idx="1"/>
          </p:nvPr>
        </p:nvSpPr>
        <p:spPr>
          <a:xfrm>
            <a:off x="1981200" y="2997200"/>
            <a:ext cx="6553200" cy="1752600"/>
          </a:xfrm>
        </p:spPr>
        <p:txBody>
          <a:bodyPr/>
          <a:lstStyle>
            <a:lvl1pPr marL="0" indent="0" algn="ctr">
              <a:buFont typeface="Wingdings" pitchFamily="2" charset="2"/>
              <a:buNone/>
              <a:defRPr sz="5400">
                <a:solidFill>
                  <a:schemeClr val="tx2"/>
                </a:solidFill>
              </a:defRPr>
            </a:lvl1pPr>
          </a:lstStyle>
          <a:p>
            <a:r>
              <a:rPr lang="zh-CN" altLang="en-US"/>
              <a:t>单击此处编辑母版副标题样式</a:t>
            </a:r>
          </a:p>
        </p:txBody>
      </p:sp>
      <p:sp>
        <p:nvSpPr>
          <p:cNvPr id="7" name="Rectangle 4">
            <a:extLst>
              <a:ext uri="{FF2B5EF4-FFF2-40B4-BE49-F238E27FC236}">
                <a16:creationId xmlns:a16="http://schemas.microsoft.com/office/drawing/2014/main" id="{6BCA1F79-FCD3-47E2-8167-B7999BEA0E9B}"/>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1356E054-7EF4-4133-84CF-9FDBBF852C6F}"/>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4C5EA6A2-28BE-40B7-AF68-CB7150CC323E}"/>
              </a:ext>
            </a:extLst>
          </p:cNvPr>
          <p:cNvSpPr>
            <a:spLocks noGrp="1" noChangeArrowheads="1"/>
          </p:cNvSpPr>
          <p:nvPr>
            <p:ph type="sldNum" sz="quarter" idx="12"/>
          </p:nvPr>
        </p:nvSpPr>
        <p:spPr/>
        <p:txBody>
          <a:bodyPr/>
          <a:lstStyle>
            <a:lvl1pPr>
              <a:defRPr/>
            </a:lvl1pPr>
          </a:lstStyle>
          <a:p>
            <a:pPr>
              <a:defRPr/>
            </a:pPr>
            <a:fld id="{A1109B0C-DD75-4170-8400-C4C49A37BA52}" type="slidenum">
              <a:rPr lang="en-US" altLang="zh-CN"/>
              <a:pPr>
                <a:defRPr/>
              </a:pPr>
              <a:t>‹#›</a:t>
            </a:fld>
            <a:endParaRPr lang="en-US" altLang="zh-CN"/>
          </a:p>
        </p:txBody>
      </p:sp>
    </p:spTree>
    <p:extLst>
      <p:ext uri="{BB962C8B-B14F-4D97-AF65-F5344CB8AC3E}">
        <p14:creationId xmlns:p14="http://schemas.microsoft.com/office/powerpoint/2010/main" val="92959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092E445-2C16-4987-809C-F30C30ACC5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964C323-19A4-4D8E-919D-0A72C70533A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CD297C3-4319-4F98-AD72-63EA5D7B6A51}"/>
              </a:ext>
            </a:extLst>
          </p:cNvPr>
          <p:cNvSpPr>
            <a:spLocks noGrp="1" noChangeArrowheads="1"/>
          </p:cNvSpPr>
          <p:nvPr>
            <p:ph type="sldNum" sz="quarter" idx="12"/>
          </p:nvPr>
        </p:nvSpPr>
        <p:spPr>
          <a:ln/>
        </p:spPr>
        <p:txBody>
          <a:bodyPr/>
          <a:lstStyle>
            <a:lvl1pPr>
              <a:defRPr/>
            </a:lvl1pPr>
          </a:lstStyle>
          <a:p>
            <a:pPr>
              <a:defRPr/>
            </a:pPr>
            <a:fld id="{06F1B6C4-6091-4B78-BE61-87D6C734C17B}" type="slidenum">
              <a:rPr lang="en-US" altLang="zh-CN"/>
              <a:pPr>
                <a:defRPr/>
              </a:pPr>
              <a:t>‹#›</a:t>
            </a:fld>
            <a:endParaRPr lang="en-US" altLang="zh-CN"/>
          </a:p>
        </p:txBody>
      </p:sp>
    </p:spTree>
    <p:extLst>
      <p:ext uri="{BB962C8B-B14F-4D97-AF65-F5344CB8AC3E}">
        <p14:creationId xmlns:p14="http://schemas.microsoft.com/office/powerpoint/2010/main" val="19227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0E89DCF3-4C6C-440B-A329-6EE5A73F2F8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BFCA074-9913-41CC-9E4A-DA2EE89CE20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C10F209-7644-4F0B-BBE5-4DC34DA556B5}"/>
              </a:ext>
            </a:extLst>
          </p:cNvPr>
          <p:cNvSpPr>
            <a:spLocks noGrp="1" noChangeArrowheads="1"/>
          </p:cNvSpPr>
          <p:nvPr>
            <p:ph type="sldNum" sz="quarter" idx="12"/>
          </p:nvPr>
        </p:nvSpPr>
        <p:spPr>
          <a:ln/>
        </p:spPr>
        <p:txBody>
          <a:bodyPr/>
          <a:lstStyle>
            <a:lvl1pPr>
              <a:defRPr/>
            </a:lvl1pPr>
          </a:lstStyle>
          <a:p>
            <a:pPr>
              <a:defRPr/>
            </a:pPr>
            <a:fld id="{1C86F282-3D49-4ED8-B66E-3962B19C2E67}" type="slidenum">
              <a:rPr lang="en-US" altLang="zh-CN"/>
              <a:pPr>
                <a:defRPr/>
              </a:pPr>
              <a:t>‹#›</a:t>
            </a:fld>
            <a:endParaRPr lang="en-US" altLang="zh-CN"/>
          </a:p>
        </p:txBody>
      </p:sp>
    </p:spTree>
    <p:extLst>
      <p:ext uri="{BB962C8B-B14F-4D97-AF65-F5344CB8AC3E}">
        <p14:creationId xmlns:p14="http://schemas.microsoft.com/office/powerpoint/2010/main" val="3288014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54805BAF-5943-4B39-96DC-7742A3A6262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F978D71-DDC2-4F6F-8C67-5514C83801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B9147E4-1E3F-44C3-B578-D52B70C29E9D}"/>
              </a:ext>
            </a:extLst>
          </p:cNvPr>
          <p:cNvSpPr>
            <a:spLocks noGrp="1" noChangeArrowheads="1"/>
          </p:cNvSpPr>
          <p:nvPr>
            <p:ph type="sldNum" sz="quarter" idx="12"/>
          </p:nvPr>
        </p:nvSpPr>
        <p:spPr>
          <a:ln/>
        </p:spPr>
        <p:txBody>
          <a:bodyPr/>
          <a:lstStyle>
            <a:lvl1pPr>
              <a:defRPr/>
            </a:lvl1pPr>
          </a:lstStyle>
          <a:p>
            <a:pPr>
              <a:defRPr/>
            </a:pPr>
            <a:fld id="{0E5E7988-50EC-4B5F-B0A1-4B62CDBE0C5A}" type="slidenum">
              <a:rPr lang="en-US" altLang="zh-CN"/>
              <a:pPr>
                <a:defRPr/>
              </a:pPr>
              <a:t>‹#›</a:t>
            </a:fld>
            <a:endParaRPr lang="en-US" altLang="zh-CN"/>
          </a:p>
        </p:txBody>
      </p:sp>
    </p:spTree>
    <p:extLst>
      <p:ext uri="{BB962C8B-B14F-4D97-AF65-F5344CB8AC3E}">
        <p14:creationId xmlns:p14="http://schemas.microsoft.com/office/powerpoint/2010/main" val="1060252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C6A6559-4E75-4BC1-A8BE-767351BA6A9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E3012733-06E8-409B-B98D-D79B27D5C0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6FDAF28-8C82-44A6-AB84-8F55E935DBE2}"/>
              </a:ext>
            </a:extLst>
          </p:cNvPr>
          <p:cNvSpPr>
            <a:spLocks noGrp="1" noChangeArrowheads="1"/>
          </p:cNvSpPr>
          <p:nvPr>
            <p:ph type="sldNum" sz="quarter" idx="12"/>
          </p:nvPr>
        </p:nvSpPr>
        <p:spPr>
          <a:ln/>
        </p:spPr>
        <p:txBody>
          <a:bodyPr/>
          <a:lstStyle>
            <a:lvl1pPr>
              <a:defRPr/>
            </a:lvl1pPr>
          </a:lstStyle>
          <a:p>
            <a:pPr>
              <a:defRPr/>
            </a:pPr>
            <a:fld id="{289E1BE9-43F6-4D7B-AC04-DB3CD905E221}" type="slidenum">
              <a:rPr lang="en-US" altLang="zh-CN"/>
              <a:pPr>
                <a:defRPr/>
              </a:pPr>
              <a:t>‹#›</a:t>
            </a:fld>
            <a:endParaRPr lang="en-US" altLang="zh-CN"/>
          </a:p>
        </p:txBody>
      </p:sp>
    </p:spTree>
    <p:extLst>
      <p:ext uri="{BB962C8B-B14F-4D97-AF65-F5344CB8AC3E}">
        <p14:creationId xmlns:p14="http://schemas.microsoft.com/office/powerpoint/2010/main" val="1036246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B256265-ED77-4766-BF96-59C233DCECF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408217D4-7C33-45FD-B4EA-35D25AD5643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48F041B-5492-4F64-8E92-A7C9027B5392}"/>
              </a:ext>
            </a:extLst>
          </p:cNvPr>
          <p:cNvSpPr>
            <a:spLocks noGrp="1" noChangeArrowheads="1"/>
          </p:cNvSpPr>
          <p:nvPr>
            <p:ph type="sldNum" sz="quarter" idx="12"/>
          </p:nvPr>
        </p:nvSpPr>
        <p:spPr>
          <a:ln/>
        </p:spPr>
        <p:txBody>
          <a:bodyPr/>
          <a:lstStyle>
            <a:lvl1pPr>
              <a:defRPr/>
            </a:lvl1pPr>
          </a:lstStyle>
          <a:p>
            <a:pPr>
              <a:defRPr/>
            </a:pPr>
            <a:fld id="{4E69C677-1904-459E-96EC-A798CABBBCA6}" type="slidenum">
              <a:rPr lang="en-US" altLang="zh-CN"/>
              <a:pPr>
                <a:defRPr/>
              </a:pPr>
              <a:t>‹#›</a:t>
            </a:fld>
            <a:endParaRPr lang="en-US" altLang="zh-CN"/>
          </a:p>
        </p:txBody>
      </p:sp>
    </p:spTree>
    <p:extLst>
      <p:ext uri="{BB962C8B-B14F-4D97-AF65-F5344CB8AC3E}">
        <p14:creationId xmlns:p14="http://schemas.microsoft.com/office/powerpoint/2010/main" val="1642444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7032B6B-6A59-47BF-9A84-9200FC33EC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5125684-E52C-403B-A274-144CE2CF21E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CB9AD27-E3A2-40C2-877B-363B5059FF3B}"/>
              </a:ext>
            </a:extLst>
          </p:cNvPr>
          <p:cNvSpPr>
            <a:spLocks noGrp="1" noChangeArrowheads="1"/>
          </p:cNvSpPr>
          <p:nvPr>
            <p:ph type="sldNum" sz="quarter" idx="12"/>
          </p:nvPr>
        </p:nvSpPr>
        <p:spPr>
          <a:ln/>
        </p:spPr>
        <p:txBody>
          <a:bodyPr/>
          <a:lstStyle>
            <a:lvl1pPr>
              <a:defRPr/>
            </a:lvl1pPr>
          </a:lstStyle>
          <a:p>
            <a:pPr>
              <a:defRPr/>
            </a:pPr>
            <a:fld id="{2E6E44F5-ACC5-4E46-8386-DC36BE2100FC}" type="slidenum">
              <a:rPr lang="en-US" altLang="zh-CN"/>
              <a:pPr>
                <a:defRPr/>
              </a:pPr>
              <a:t>‹#›</a:t>
            </a:fld>
            <a:endParaRPr lang="en-US" altLang="zh-CN"/>
          </a:p>
        </p:txBody>
      </p:sp>
    </p:spTree>
    <p:extLst>
      <p:ext uri="{BB962C8B-B14F-4D97-AF65-F5344CB8AC3E}">
        <p14:creationId xmlns:p14="http://schemas.microsoft.com/office/powerpoint/2010/main" val="453052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FA6A9A4-C698-4176-8CE8-0A9291119AD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181C3E7-878B-4EF6-9189-C97B957257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9B09FAA-202E-46C6-A318-FD62F87997EE}"/>
              </a:ext>
            </a:extLst>
          </p:cNvPr>
          <p:cNvSpPr>
            <a:spLocks noGrp="1" noChangeArrowheads="1"/>
          </p:cNvSpPr>
          <p:nvPr>
            <p:ph type="sldNum" sz="quarter" idx="12"/>
          </p:nvPr>
        </p:nvSpPr>
        <p:spPr>
          <a:ln/>
        </p:spPr>
        <p:txBody>
          <a:bodyPr/>
          <a:lstStyle>
            <a:lvl1pPr>
              <a:defRPr/>
            </a:lvl1pPr>
          </a:lstStyle>
          <a:p>
            <a:pPr>
              <a:defRPr/>
            </a:pPr>
            <a:fld id="{621DA16C-DAE3-4479-8FCD-666E65DC7D94}" type="slidenum">
              <a:rPr lang="en-US" altLang="zh-CN"/>
              <a:pPr>
                <a:defRPr/>
              </a:pPr>
              <a:t>‹#›</a:t>
            </a:fld>
            <a:endParaRPr lang="en-US" altLang="zh-CN"/>
          </a:p>
        </p:txBody>
      </p:sp>
    </p:spTree>
    <p:extLst>
      <p:ext uri="{BB962C8B-B14F-4D97-AF65-F5344CB8AC3E}">
        <p14:creationId xmlns:p14="http://schemas.microsoft.com/office/powerpoint/2010/main" val="1184441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103091D-50A5-4F88-A50A-A0309A94B8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C5EA617-23E2-4DB4-A77B-7EF95B4B9E9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33E848E-87F6-43F0-9A14-AC21193E6730}"/>
              </a:ext>
            </a:extLst>
          </p:cNvPr>
          <p:cNvSpPr>
            <a:spLocks noGrp="1" noChangeArrowheads="1"/>
          </p:cNvSpPr>
          <p:nvPr>
            <p:ph type="sldNum" sz="quarter" idx="12"/>
          </p:nvPr>
        </p:nvSpPr>
        <p:spPr>
          <a:ln/>
        </p:spPr>
        <p:txBody>
          <a:bodyPr/>
          <a:lstStyle>
            <a:lvl1pPr>
              <a:defRPr/>
            </a:lvl1pPr>
          </a:lstStyle>
          <a:p>
            <a:pPr>
              <a:defRPr/>
            </a:pPr>
            <a:fld id="{3431AFC5-1A00-4A98-8BE2-1BD0822C6775}" type="slidenum">
              <a:rPr lang="en-US" altLang="zh-CN"/>
              <a:pPr>
                <a:defRPr/>
              </a:pPr>
              <a:t>‹#›</a:t>
            </a:fld>
            <a:endParaRPr lang="en-US" altLang="zh-CN"/>
          </a:p>
        </p:txBody>
      </p:sp>
    </p:spTree>
    <p:extLst>
      <p:ext uri="{BB962C8B-B14F-4D97-AF65-F5344CB8AC3E}">
        <p14:creationId xmlns:p14="http://schemas.microsoft.com/office/powerpoint/2010/main" val="2230370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5AFC181-DF1C-464A-84AB-7CDF6F7A4F5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F76E204-2E9E-4656-A9C5-9EB03C0A53F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F06AD50-A325-4D3D-B9EA-93AAC6AB2AD7}"/>
              </a:ext>
            </a:extLst>
          </p:cNvPr>
          <p:cNvSpPr>
            <a:spLocks noGrp="1" noChangeArrowheads="1"/>
          </p:cNvSpPr>
          <p:nvPr>
            <p:ph type="sldNum" sz="quarter" idx="12"/>
          </p:nvPr>
        </p:nvSpPr>
        <p:spPr>
          <a:ln/>
        </p:spPr>
        <p:txBody>
          <a:bodyPr/>
          <a:lstStyle>
            <a:lvl1pPr>
              <a:defRPr/>
            </a:lvl1pPr>
          </a:lstStyle>
          <a:p>
            <a:pPr>
              <a:defRPr/>
            </a:pPr>
            <a:fld id="{DB497CE5-E194-4680-BC68-CEC6A4B4621E}" type="slidenum">
              <a:rPr lang="en-US" altLang="zh-CN"/>
              <a:pPr>
                <a:defRPr/>
              </a:pPr>
              <a:t>‹#›</a:t>
            </a:fld>
            <a:endParaRPr lang="en-US" altLang="zh-CN"/>
          </a:p>
        </p:txBody>
      </p:sp>
    </p:spTree>
    <p:extLst>
      <p:ext uri="{BB962C8B-B14F-4D97-AF65-F5344CB8AC3E}">
        <p14:creationId xmlns:p14="http://schemas.microsoft.com/office/powerpoint/2010/main" val="2776769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548568B-AD5F-41E2-A364-7010494F957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512E9DE-CC67-4940-B461-F715156FB3E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BAE583E-51BA-4403-A3D4-E631E7334181}"/>
              </a:ext>
            </a:extLst>
          </p:cNvPr>
          <p:cNvSpPr>
            <a:spLocks noGrp="1" noChangeArrowheads="1"/>
          </p:cNvSpPr>
          <p:nvPr>
            <p:ph type="sldNum" sz="quarter" idx="12"/>
          </p:nvPr>
        </p:nvSpPr>
        <p:spPr>
          <a:ln/>
        </p:spPr>
        <p:txBody>
          <a:bodyPr/>
          <a:lstStyle>
            <a:lvl1pPr>
              <a:defRPr/>
            </a:lvl1pPr>
          </a:lstStyle>
          <a:p>
            <a:pPr>
              <a:defRPr/>
            </a:pPr>
            <a:fld id="{973109F7-60D5-4D34-B2FD-C736B760CBF0}" type="slidenum">
              <a:rPr lang="en-US" altLang="zh-CN"/>
              <a:pPr>
                <a:defRPr/>
              </a:pPr>
              <a:t>‹#›</a:t>
            </a:fld>
            <a:endParaRPr lang="en-US" altLang="zh-CN"/>
          </a:p>
        </p:txBody>
      </p:sp>
    </p:spTree>
    <p:extLst>
      <p:ext uri="{BB962C8B-B14F-4D97-AF65-F5344CB8AC3E}">
        <p14:creationId xmlns:p14="http://schemas.microsoft.com/office/powerpoint/2010/main" val="2920109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30725"/>
          </a:xfrm>
        </p:spPr>
        <p:txBody>
          <a:bodyPr/>
          <a:lstStyle/>
          <a:p>
            <a:pPr lvl="0"/>
            <a:endParaRPr lang="zh-CN" altLang="en-US" noProof="0"/>
          </a:p>
        </p:txBody>
      </p:sp>
      <p:sp>
        <p:nvSpPr>
          <p:cNvPr id="4" name="Rectangle 4">
            <a:extLst>
              <a:ext uri="{FF2B5EF4-FFF2-40B4-BE49-F238E27FC236}">
                <a16:creationId xmlns:a16="http://schemas.microsoft.com/office/drawing/2014/main" id="{E6B3FC0B-A99C-4B85-A00C-2CDC5C9A061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9CBD34A-45F8-4BC7-811C-942C2872B6A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E3B8301-1842-4649-AAFC-601E0530ED8E}"/>
              </a:ext>
            </a:extLst>
          </p:cNvPr>
          <p:cNvSpPr>
            <a:spLocks noGrp="1" noChangeArrowheads="1"/>
          </p:cNvSpPr>
          <p:nvPr>
            <p:ph type="sldNum" sz="quarter" idx="12"/>
          </p:nvPr>
        </p:nvSpPr>
        <p:spPr>
          <a:ln/>
        </p:spPr>
        <p:txBody>
          <a:bodyPr/>
          <a:lstStyle>
            <a:lvl1pPr>
              <a:defRPr/>
            </a:lvl1pPr>
          </a:lstStyle>
          <a:p>
            <a:pPr>
              <a:defRPr/>
            </a:pPr>
            <a:fld id="{8FD12C1D-1C3D-4F9E-B898-559169D4A3BD}" type="slidenum">
              <a:rPr lang="en-US" altLang="zh-CN"/>
              <a:pPr>
                <a:defRPr/>
              </a:pPr>
              <a:t>‹#›</a:t>
            </a:fld>
            <a:endParaRPr lang="en-US" altLang="zh-CN"/>
          </a:p>
        </p:txBody>
      </p:sp>
    </p:spTree>
    <p:extLst>
      <p:ext uri="{BB962C8B-B14F-4D97-AF65-F5344CB8AC3E}">
        <p14:creationId xmlns:p14="http://schemas.microsoft.com/office/powerpoint/2010/main" val="27849982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04063B86-98CA-4943-AFBF-85236F743F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2BF8B01D-4428-4956-9287-131FEF798F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1C605295-9921-4F7C-A553-FE1F0E0FF9A4}"/>
              </a:ext>
            </a:extLst>
          </p:cNvPr>
          <p:cNvSpPr>
            <a:spLocks noGrp="1" noChangeArrowheads="1"/>
          </p:cNvSpPr>
          <p:nvPr>
            <p:ph type="sldNum" sz="quarter" idx="12"/>
          </p:nvPr>
        </p:nvSpPr>
        <p:spPr>
          <a:ln/>
        </p:spPr>
        <p:txBody>
          <a:bodyPr/>
          <a:lstStyle>
            <a:lvl1pPr>
              <a:defRPr/>
            </a:lvl1pPr>
          </a:lstStyle>
          <a:p>
            <a:pPr>
              <a:defRPr/>
            </a:pPr>
            <a:fld id="{34B388AF-C0DC-4C10-91D1-0CDE735D9D60}" type="slidenum">
              <a:rPr lang="en-US" altLang="zh-CN"/>
              <a:pPr>
                <a:defRPr/>
              </a:pPr>
              <a:t>‹#›</a:t>
            </a:fld>
            <a:endParaRPr lang="en-US" altLang="zh-CN"/>
          </a:p>
        </p:txBody>
      </p:sp>
    </p:spTree>
    <p:extLst>
      <p:ext uri="{BB962C8B-B14F-4D97-AF65-F5344CB8AC3E}">
        <p14:creationId xmlns:p14="http://schemas.microsoft.com/office/powerpoint/2010/main" val="823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F6B5BC95-00DC-4263-B0EC-0655A556E47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B946A4B-C1C3-4F54-BDCF-A13E57C70DF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80BF15C-C75F-4AA9-A508-3A6BEA8A9117}"/>
              </a:ext>
            </a:extLst>
          </p:cNvPr>
          <p:cNvSpPr>
            <a:spLocks noGrp="1" noChangeArrowheads="1"/>
          </p:cNvSpPr>
          <p:nvPr>
            <p:ph type="sldNum" sz="quarter" idx="12"/>
          </p:nvPr>
        </p:nvSpPr>
        <p:spPr>
          <a:ln/>
        </p:spPr>
        <p:txBody>
          <a:bodyPr/>
          <a:lstStyle>
            <a:lvl1pPr>
              <a:defRPr/>
            </a:lvl1pPr>
          </a:lstStyle>
          <a:p>
            <a:pPr>
              <a:defRPr/>
            </a:pPr>
            <a:fld id="{5CA4A880-58E6-4BF6-A427-93278885BAA5}" type="slidenum">
              <a:rPr lang="en-US" altLang="zh-CN"/>
              <a:pPr>
                <a:defRPr/>
              </a:pPr>
              <a:t>‹#›</a:t>
            </a:fld>
            <a:endParaRPr lang="en-US" altLang="zh-CN"/>
          </a:p>
        </p:txBody>
      </p:sp>
    </p:spTree>
    <p:extLst>
      <p:ext uri="{BB962C8B-B14F-4D97-AF65-F5344CB8AC3E}">
        <p14:creationId xmlns:p14="http://schemas.microsoft.com/office/powerpoint/2010/main" val="1700574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7813"/>
            <a:ext cx="82296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767E3DCA-1EDC-445F-8661-B1210330B23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09D28750-553A-4E5C-9863-73C82CF1AF1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F7E3F18-61BF-4F6E-9168-95E378C8901A}"/>
              </a:ext>
            </a:extLst>
          </p:cNvPr>
          <p:cNvSpPr>
            <a:spLocks noGrp="1" noChangeArrowheads="1"/>
          </p:cNvSpPr>
          <p:nvPr>
            <p:ph type="sldNum" sz="quarter" idx="12"/>
          </p:nvPr>
        </p:nvSpPr>
        <p:spPr>
          <a:ln/>
        </p:spPr>
        <p:txBody>
          <a:bodyPr/>
          <a:lstStyle>
            <a:lvl1pPr>
              <a:defRPr/>
            </a:lvl1pPr>
          </a:lstStyle>
          <a:p>
            <a:pPr>
              <a:defRPr/>
            </a:pPr>
            <a:fld id="{9D3EBA5A-B24A-485B-9AE0-43442C57CC0B}" type="slidenum">
              <a:rPr lang="en-US" altLang="zh-CN"/>
              <a:pPr>
                <a:defRPr/>
              </a:pPr>
              <a:t>‹#›</a:t>
            </a:fld>
            <a:endParaRPr lang="en-US" altLang="zh-CN"/>
          </a:p>
        </p:txBody>
      </p:sp>
    </p:spTree>
    <p:extLst>
      <p:ext uri="{BB962C8B-B14F-4D97-AF65-F5344CB8AC3E}">
        <p14:creationId xmlns:p14="http://schemas.microsoft.com/office/powerpoint/2010/main" val="1382840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0CA22A4-83EB-40B0-AB2A-DD2CE96E1320}"/>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6BE5AE29-EF44-44F3-B7D4-75753C17E60D}"/>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6676" name="Rectangle 4">
            <a:extLst>
              <a:ext uri="{FF2B5EF4-FFF2-40B4-BE49-F238E27FC236}">
                <a16:creationId xmlns:a16="http://schemas.microsoft.com/office/drawing/2014/main" id="{48F7A5C5-6AB2-4115-A294-429197089F23}"/>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mj-lt"/>
              </a:defRPr>
            </a:lvl1pPr>
          </a:lstStyle>
          <a:p>
            <a:pPr>
              <a:defRPr/>
            </a:pPr>
            <a:endParaRPr lang="en-US" altLang="zh-CN"/>
          </a:p>
        </p:txBody>
      </p:sp>
      <p:sp>
        <p:nvSpPr>
          <p:cNvPr id="156677" name="Rectangle 5">
            <a:extLst>
              <a:ext uri="{FF2B5EF4-FFF2-40B4-BE49-F238E27FC236}">
                <a16:creationId xmlns:a16="http://schemas.microsoft.com/office/drawing/2014/main" id="{EF0284FD-001C-4CD0-8DA7-04F7307DBEE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mj-lt"/>
              </a:defRPr>
            </a:lvl1pPr>
          </a:lstStyle>
          <a:p>
            <a:pPr>
              <a:defRPr/>
            </a:pPr>
            <a:endParaRPr lang="en-US" altLang="zh-CN"/>
          </a:p>
        </p:txBody>
      </p:sp>
      <p:sp>
        <p:nvSpPr>
          <p:cNvPr id="156678" name="Rectangle 6">
            <a:extLst>
              <a:ext uri="{FF2B5EF4-FFF2-40B4-BE49-F238E27FC236}">
                <a16:creationId xmlns:a16="http://schemas.microsoft.com/office/drawing/2014/main" id="{7706F534-0D79-44F4-945E-5B638CD06FEB}"/>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pPr>
              <a:defRPr/>
            </a:pPr>
            <a:fld id="{1F57E673-FCA2-4F01-9BE2-2B03FAD553CB}" type="slidenum">
              <a:rPr lang="en-US" altLang="zh-CN"/>
              <a:pPr>
                <a:defRPr/>
              </a:pPr>
              <a:t>‹#›</a:t>
            </a:fld>
            <a:endParaRPr lang="en-US" altLang="zh-CN"/>
          </a:p>
        </p:txBody>
      </p:sp>
      <p:sp>
        <p:nvSpPr>
          <p:cNvPr id="1031" name="Freeform 7">
            <a:extLst>
              <a:ext uri="{FF2B5EF4-FFF2-40B4-BE49-F238E27FC236}">
                <a16:creationId xmlns:a16="http://schemas.microsoft.com/office/drawing/2014/main" id="{F2F0CDF9-9BFA-491F-A32E-1861327EF188}"/>
              </a:ext>
            </a:extLst>
          </p:cNvPr>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a:extLst>
              <a:ext uri="{FF2B5EF4-FFF2-40B4-BE49-F238E27FC236}">
                <a16:creationId xmlns:a16="http://schemas.microsoft.com/office/drawing/2014/main" id="{2E905252-B908-496D-98F2-06A2889546D8}"/>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33" name="Picture 9" descr="校徽">
            <a:extLst>
              <a:ext uri="{FF2B5EF4-FFF2-40B4-BE49-F238E27FC236}">
                <a16:creationId xmlns:a16="http://schemas.microsoft.com/office/drawing/2014/main" id="{31E0B862-715B-4827-9DB7-5ED070DE975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20000" y="306388"/>
            <a:ext cx="938213" cy="912812"/>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10" r:id="rId1"/>
    <p:sldLayoutId id="2147484396" r:id="rId2"/>
    <p:sldLayoutId id="2147484397" r:id="rId3"/>
    <p:sldLayoutId id="2147484398" r:id="rId4"/>
    <p:sldLayoutId id="2147484399" r:id="rId5"/>
    <p:sldLayoutId id="2147484400" r:id="rId6"/>
    <p:sldLayoutId id="2147484401" r:id="rId7"/>
    <p:sldLayoutId id="2147484402" r:id="rId8"/>
    <p:sldLayoutId id="2147484403" r:id="rId9"/>
    <p:sldLayoutId id="2147484404" r:id="rId10"/>
    <p:sldLayoutId id="2147484405" r:id="rId11"/>
    <p:sldLayoutId id="2147484406" r:id="rId12"/>
    <p:sldLayoutId id="2147484407" r:id="rId13"/>
    <p:sldLayoutId id="2147484408" r:id="rId14"/>
    <p:sldLayoutId id="2147484409" r:id="rId15"/>
  </p:sldLayoutIdLst>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Garamond" pitchFamily="18" charset="0"/>
          <a:ea typeface="宋体" pitchFamily="2" charset="-122"/>
        </a:defRPr>
      </a:lvl2pPr>
      <a:lvl3pPr algn="l" rtl="0" eaLnBrk="0" fontAlgn="base" hangingPunct="0">
        <a:spcBef>
          <a:spcPct val="0"/>
        </a:spcBef>
        <a:spcAft>
          <a:spcPct val="0"/>
        </a:spcAft>
        <a:defRPr sz="4200" b="1">
          <a:solidFill>
            <a:schemeClr val="tx2"/>
          </a:solidFill>
          <a:latin typeface="Garamond" pitchFamily="18" charset="0"/>
          <a:ea typeface="宋体" pitchFamily="2" charset="-122"/>
        </a:defRPr>
      </a:lvl3pPr>
      <a:lvl4pPr algn="l" rtl="0" eaLnBrk="0" fontAlgn="base" hangingPunct="0">
        <a:spcBef>
          <a:spcPct val="0"/>
        </a:spcBef>
        <a:spcAft>
          <a:spcPct val="0"/>
        </a:spcAft>
        <a:defRPr sz="4200" b="1">
          <a:solidFill>
            <a:schemeClr val="tx2"/>
          </a:solidFill>
          <a:latin typeface="Garamond" pitchFamily="18" charset="0"/>
          <a:ea typeface="宋体" pitchFamily="2" charset="-122"/>
        </a:defRPr>
      </a:lvl4pPr>
      <a:lvl5pPr algn="l" rtl="0" eaLnBrk="0" fontAlgn="base" hangingPunct="0">
        <a:spcBef>
          <a:spcPct val="0"/>
        </a:spcBef>
        <a:spcAft>
          <a:spcPct val="0"/>
        </a:spcAft>
        <a:defRPr sz="4200" b="1">
          <a:solidFill>
            <a:schemeClr val="tx2"/>
          </a:solidFill>
          <a:latin typeface="Garamond" pitchFamily="18" charset="0"/>
          <a:ea typeface="宋体" pitchFamily="2" charset="-122"/>
        </a:defRPr>
      </a:lvl5pPr>
      <a:lvl6pPr marL="457200" algn="l" rtl="0" fontAlgn="base">
        <a:spcBef>
          <a:spcPct val="0"/>
        </a:spcBef>
        <a:spcAft>
          <a:spcPct val="0"/>
        </a:spcAft>
        <a:defRPr sz="4200" b="1">
          <a:solidFill>
            <a:schemeClr val="tx2"/>
          </a:solidFill>
          <a:latin typeface="Garamond" pitchFamily="18" charset="0"/>
          <a:ea typeface="宋体" pitchFamily="2" charset="-122"/>
        </a:defRPr>
      </a:lvl6pPr>
      <a:lvl7pPr marL="914400" algn="l" rtl="0" fontAlgn="base">
        <a:spcBef>
          <a:spcPct val="0"/>
        </a:spcBef>
        <a:spcAft>
          <a:spcPct val="0"/>
        </a:spcAft>
        <a:defRPr sz="4200" b="1">
          <a:solidFill>
            <a:schemeClr val="tx2"/>
          </a:solidFill>
          <a:latin typeface="Garamond" pitchFamily="18" charset="0"/>
          <a:ea typeface="宋体" pitchFamily="2" charset="-122"/>
        </a:defRPr>
      </a:lvl7pPr>
      <a:lvl8pPr marL="1371600" algn="l" rtl="0" fontAlgn="base">
        <a:spcBef>
          <a:spcPct val="0"/>
        </a:spcBef>
        <a:spcAft>
          <a:spcPct val="0"/>
        </a:spcAft>
        <a:defRPr sz="4200" b="1">
          <a:solidFill>
            <a:schemeClr val="tx2"/>
          </a:solidFill>
          <a:latin typeface="Garamond" pitchFamily="18" charset="0"/>
          <a:ea typeface="宋体" pitchFamily="2" charset="-122"/>
        </a:defRPr>
      </a:lvl8pPr>
      <a:lvl9pPr marL="1828800" algn="l" rtl="0" fontAlgn="base">
        <a:spcBef>
          <a:spcPct val="0"/>
        </a:spcBef>
        <a:spcAft>
          <a:spcPct val="0"/>
        </a:spcAft>
        <a:defRPr sz="42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21" Type="http://schemas.openxmlformats.org/officeDocument/2006/relationships/image" Target="../media/image34.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31.png"/><Relationship Id="rId26" Type="http://schemas.openxmlformats.org/officeDocument/2006/relationships/image" Target="../media/image52.png"/><Relationship Id="rId3" Type="http://schemas.openxmlformats.org/officeDocument/2006/relationships/image" Target="../media/image36.png"/><Relationship Id="rId21" Type="http://schemas.openxmlformats.org/officeDocument/2006/relationships/image" Target="../media/image3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30.png"/><Relationship Id="rId25" Type="http://schemas.openxmlformats.org/officeDocument/2006/relationships/image" Target="../media/image51.png"/><Relationship Id="rId2" Type="http://schemas.openxmlformats.org/officeDocument/2006/relationships/image" Target="../media/image35.png"/><Relationship Id="rId16" Type="http://schemas.openxmlformats.org/officeDocument/2006/relationships/image" Target="../media/image47.png"/><Relationship Id="rId20" Type="http://schemas.openxmlformats.org/officeDocument/2006/relationships/image" Target="../media/image33.png"/><Relationship Id="rId29"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0.png"/><Relationship Id="rId5" Type="http://schemas.openxmlformats.org/officeDocument/2006/relationships/image" Target="../media/image38.png"/><Relationship Id="rId15" Type="http://schemas.openxmlformats.org/officeDocument/2006/relationships/image" Target="../media/image28.png"/><Relationship Id="rId23" Type="http://schemas.openxmlformats.org/officeDocument/2006/relationships/image" Target="../media/image49.png"/><Relationship Id="rId28" Type="http://schemas.openxmlformats.org/officeDocument/2006/relationships/image" Target="../media/image54.png"/><Relationship Id="rId10" Type="http://schemas.openxmlformats.org/officeDocument/2006/relationships/image" Target="../media/image43.png"/><Relationship Id="rId19" Type="http://schemas.openxmlformats.org/officeDocument/2006/relationships/image" Target="../media/image32.png"/><Relationship Id="rId31" Type="http://schemas.openxmlformats.org/officeDocument/2006/relationships/image" Target="../media/image57.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27.png"/><Relationship Id="rId22" Type="http://schemas.openxmlformats.org/officeDocument/2006/relationships/image" Target="../media/image48.png"/><Relationship Id="rId27" Type="http://schemas.openxmlformats.org/officeDocument/2006/relationships/image" Target="../media/image53.png"/><Relationship Id="rId30" Type="http://schemas.openxmlformats.org/officeDocument/2006/relationships/image" Target="../media/image5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50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31.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7.wmf"/><Relationship Id="rId2" Type="http://schemas.openxmlformats.org/officeDocument/2006/relationships/slideLayout" Target="../slideLayouts/slideLayout14.xml"/><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2.wmf"/><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10.bin"/><Relationship Id="rId14" Type="http://schemas.openxmlformats.org/officeDocument/2006/relationships/image" Target="../media/image13.wmf"/></Relationships>
</file>

<file path=ppt/slides/_rels/slide26.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14.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6.bin"/></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4.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9.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0.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14.xml"/><Relationship Id="rId1" Type="http://schemas.openxmlformats.org/officeDocument/2006/relationships/vmlDrawing" Target="../drawings/vmlDrawing5.vml"/><Relationship Id="rId6" Type="http://schemas.openxmlformats.org/officeDocument/2006/relationships/image" Target="../media/image19.wmf"/><Relationship Id="rId5" Type="http://schemas.openxmlformats.org/officeDocument/2006/relationships/oleObject" Target="../embeddings/oleObject18.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20.bin"/></Relationships>
</file>

<file path=ppt/slides/_rels/slide31.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92.png"/><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91.png"/><Relationship Id="rId2" Type="http://schemas.openxmlformats.org/officeDocument/2006/relationships/slideLayout" Target="../slideLayouts/slideLayout14.xml"/><Relationship Id="rId16" Type="http://schemas.openxmlformats.org/officeDocument/2006/relationships/image" Target="../media/image95.png"/><Relationship Id="rId1" Type="http://schemas.openxmlformats.org/officeDocument/2006/relationships/vmlDrawing" Target="../drawings/vmlDrawing6.vml"/><Relationship Id="rId6" Type="http://schemas.openxmlformats.org/officeDocument/2006/relationships/image" Target="../media/image23.wmf"/><Relationship Id="rId11" Type="http://schemas.openxmlformats.org/officeDocument/2006/relationships/image" Target="../media/image90.png"/><Relationship Id="rId5" Type="http://schemas.openxmlformats.org/officeDocument/2006/relationships/oleObject" Target="../embeddings/oleObject22.bin"/><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image" Target="../media/image22.wmf"/><Relationship Id="rId9" Type="http://schemas.openxmlformats.org/officeDocument/2006/relationships/image" Target="../media/image88.png"/><Relationship Id="rId14" Type="http://schemas.openxmlformats.org/officeDocument/2006/relationships/image" Target="../media/image93.png"/></Relationships>
</file>

<file path=ppt/slides/_rels/slide32.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oleObject" Target="../embeddings/oleObject24.bin"/><Relationship Id="rId7" Type="http://schemas.openxmlformats.org/officeDocument/2006/relationships/image" Target="../media/image99.png"/><Relationship Id="rId2" Type="http://schemas.openxmlformats.org/officeDocument/2006/relationships/slideLayout" Target="../slideLayouts/slideLayout14.xml"/><Relationship Id="rId1" Type="http://schemas.openxmlformats.org/officeDocument/2006/relationships/vmlDrawing" Target="../drawings/vmlDrawing7.vml"/><Relationship Id="rId6" Type="http://schemas.openxmlformats.org/officeDocument/2006/relationships/image" Target="../media/image98.png"/><Relationship Id="rId5" Type="http://schemas.openxmlformats.org/officeDocument/2006/relationships/image" Target="../media/image97.png"/><Relationship Id="rId10" Type="http://schemas.openxmlformats.org/officeDocument/2006/relationships/image" Target="../media/image102.png"/><Relationship Id="rId4" Type="http://schemas.openxmlformats.org/officeDocument/2006/relationships/image" Target="../media/image25.wmf"/><Relationship Id="rId9" Type="http://schemas.openxmlformats.org/officeDocument/2006/relationships/image" Target="../media/image101.pn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29.wmf"/><Relationship Id="rId3" Type="http://schemas.openxmlformats.org/officeDocument/2006/relationships/audio" Target="../media/audio1.wav"/><Relationship Id="rId7" Type="http://schemas.openxmlformats.org/officeDocument/2006/relationships/image" Target="../media/image27.wmf"/><Relationship Id="rId12" Type="http://schemas.openxmlformats.org/officeDocument/2006/relationships/oleObject" Target="../embeddings/oleObject30.bin"/><Relationship Id="rId2" Type="http://schemas.openxmlformats.org/officeDocument/2006/relationships/slideLayout" Target="../slideLayouts/slideLayout14.xml"/><Relationship Id="rId1" Type="http://schemas.openxmlformats.org/officeDocument/2006/relationships/vmlDrawing" Target="../drawings/vmlDrawing8.vml"/><Relationship Id="rId6" Type="http://schemas.openxmlformats.org/officeDocument/2006/relationships/oleObject" Target="../embeddings/oleObject26.bin"/><Relationship Id="rId11" Type="http://schemas.openxmlformats.org/officeDocument/2006/relationships/oleObject" Target="../embeddings/oleObject29.bin"/><Relationship Id="rId5" Type="http://schemas.openxmlformats.org/officeDocument/2006/relationships/image" Target="../media/image26.wmf"/><Relationship Id="rId15" Type="http://schemas.openxmlformats.org/officeDocument/2006/relationships/image" Target="../media/image30.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28.wmf"/><Relationship Id="rId14" Type="http://schemas.openxmlformats.org/officeDocument/2006/relationships/oleObject" Target="../embeddings/oleObject31.bin"/></Relationships>
</file>

<file path=ppt/slides/_rels/slide34.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 Id="rId9" Type="http://schemas.openxmlformats.org/officeDocument/2006/relationships/image" Target="../media/image96.png"/></Relationships>
</file>

<file path=ppt/slides/_rels/slide37.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4.png"/><Relationship Id="rId7" Type="http://schemas.openxmlformats.org/officeDocument/2006/relationships/image" Target="../media/image128.png"/><Relationship Id="rId2"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 Id="rId9" Type="http://schemas.openxmlformats.org/officeDocument/2006/relationships/image" Target="../media/image130.png"/></Relationships>
</file>

<file path=ppt/slides/_rels/slide38.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37.png"/></Relationships>
</file>

<file path=ppt/slides/_rels/slide3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14.xml"/><Relationship Id="rId1" Type="http://schemas.openxmlformats.org/officeDocument/2006/relationships/vmlDrawing" Target="../drawings/vmlDrawing9.vml"/><Relationship Id="rId6" Type="http://schemas.openxmlformats.org/officeDocument/2006/relationships/image" Target="../media/image32.wmf"/><Relationship Id="rId5" Type="http://schemas.openxmlformats.org/officeDocument/2006/relationships/oleObject" Target="../embeddings/oleObject33.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35.bin"/></Relationships>
</file>

<file path=ppt/slides/_rels/slide40.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39.wmf"/><Relationship Id="rId2" Type="http://schemas.openxmlformats.org/officeDocument/2006/relationships/slideLayout" Target="../slideLayouts/slideLayout14.xml"/><Relationship Id="rId16" Type="http://schemas.openxmlformats.org/officeDocument/2006/relationships/image" Target="../media/image41.wmf"/><Relationship Id="rId1" Type="http://schemas.openxmlformats.org/officeDocument/2006/relationships/vmlDrawing" Target="../drawings/vmlDrawing10.vml"/><Relationship Id="rId6" Type="http://schemas.openxmlformats.org/officeDocument/2006/relationships/image" Target="../media/image36.w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9.bin"/><Relationship Id="rId14" Type="http://schemas.openxmlformats.org/officeDocument/2006/relationships/image" Target="../media/image40.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slideLayout" Target="../slideLayouts/slideLayout14.xml"/><Relationship Id="rId1" Type="http://schemas.openxmlformats.org/officeDocument/2006/relationships/vmlDrawing" Target="../drawings/vmlDrawing11.vml"/><Relationship Id="rId6" Type="http://schemas.openxmlformats.org/officeDocument/2006/relationships/image" Target="../media/image15.wmf"/><Relationship Id="rId5" Type="http://schemas.openxmlformats.org/officeDocument/2006/relationships/oleObject" Target="../embeddings/oleObject44.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46.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image" Target="../media/image155.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47.xml.rels><?xml version="1.0" encoding="UTF-8" standalone="yes"?>
<Relationships xmlns="http://schemas.openxmlformats.org/package/2006/relationships"><Relationship Id="rId3" Type="http://schemas.openxmlformats.org/officeDocument/2006/relationships/image" Target="../media/image157.png"/><Relationship Id="rId7" Type="http://schemas.openxmlformats.org/officeDocument/2006/relationships/image" Target="../media/image155.png"/><Relationship Id="rId2" Type="http://schemas.openxmlformats.org/officeDocument/2006/relationships/image" Target="../media/image156.png"/><Relationship Id="rId1" Type="http://schemas.openxmlformats.org/officeDocument/2006/relationships/slideLayout" Target="../slideLayouts/slideLayout2.xml"/><Relationship Id="rId6" Type="http://schemas.openxmlformats.org/officeDocument/2006/relationships/image" Target="../media/image159.png"/><Relationship Id="rId5" Type="http://schemas.openxmlformats.org/officeDocument/2006/relationships/image" Target="../media/image153.png"/><Relationship Id="rId4" Type="http://schemas.openxmlformats.org/officeDocument/2006/relationships/image" Target="../media/image158.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notesSlide" Target="../notesSlides/notesSlide3.xml"/><Relationship Id="rId7" Type="http://schemas.openxmlformats.org/officeDocument/2006/relationships/image" Target="../media/image42.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47.bin"/><Relationship Id="rId11" Type="http://schemas.openxmlformats.org/officeDocument/2006/relationships/image" Target="../media/image44.wmf"/><Relationship Id="rId5" Type="http://schemas.openxmlformats.org/officeDocument/2006/relationships/image" Target="../media/image46.emf"/><Relationship Id="rId10" Type="http://schemas.openxmlformats.org/officeDocument/2006/relationships/oleObject" Target="../embeddings/oleObject49.bin"/><Relationship Id="rId4" Type="http://schemas.openxmlformats.org/officeDocument/2006/relationships/image" Target="../media/image45.emf"/><Relationship Id="rId9" Type="http://schemas.openxmlformats.org/officeDocument/2006/relationships/image" Target="../media/image43.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47.wmf"/><Relationship Id="rId18" Type="http://schemas.openxmlformats.org/officeDocument/2006/relationships/oleObject" Target="../embeddings/oleObject56.bin"/><Relationship Id="rId3" Type="http://schemas.openxmlformats.org/officeDocument/2006/relationships/notesSlide" Target="../notesSlides/notesSlide4.xml"/><Relationship Id="rId21" Type="http://schemas.openxmlformats.org/officeDocument/2006/relationships/image" Target="../media/image51.wmf"/><Relationship Id="rId7" Type="http://schemas.openxmlformats.org/officeDocument/2006/relationships/image" Target="../media/image43.wmf"/><Relationship Id="rId12" Type="http://schemas.openxmlformats.org/officeDocument/2006/relationships/oleObject" Target="../embeddings/oleObject53.bin"/><Relationship Id="rId17" Type="http://schemas.openxmlformats.org/officeDocument/2006/relationships/image" Target="../media/image49.wmf"/><Relationship Id="rId25" Type="http://schemas.openxmlformats.org/officeDocument/2006/relationships/image" Target="../media/image53.wmf"/><Relationship Id="rId2" Type="http://schemas.openxmlformats.org/officeDocument/2006/relationships/slideLayout" Target="../slideLayouts/slideLayout7.xml"/><Relationship Id="rId16" Type="http://schemas.openxmlformats.org/officeDocument/2006/relationships/oleObject" Target="../embeddings/oleObject55.bin"/><Relationship Id="rId20" Type="http://schemas.openxmlformats.org/officeDocument/2006/relationships/oleObject" Target="../embeddings/oleObject57.bin"/><Relationship Id="rId1" Type="http://schemas.openxmlformats.org/officeDocument/2006/relationships/vmlDrawing" Target="../drawings/vmlDrawing13.vml"/><Relationship Id="rId6" Type="http://schemas.openxmlformats.org/officeDocument/2006/relationships/oleObject" Target="../embeddings/oleObject51.bin"/><Relationship Id="rId11" Type="http://schemas.openxmlformats.org/officeDocument/2006/relationships/image" Target="../media/image46.emf"/><Relationship Id="rId24" Type="http://schemas.openxmlformats.org/officeDocument/2006/relationships/oleObject" Target="../embeddings/oleObject59.bin"/><Relationship Id="rId5" Type="http://schemas.openxmlformats.org/officeDocument/2006/relationships/image" Target="../media/image44.wmf"/><Relationship Id="rId15" Type="http://schemas.openxmlformats.org/officeDocument/2006/relationships/image" Target="../media/image48.wmf"/><Relationship Id="rId23" Type="http://schemas.openxmlformats.org/officeDocument/2006/relationships/image" Target="../media/image52.wmf"/><Relationship Id="rId10" Type="http://schemas.openxmlformats.org/officeDocument/2006/relationships/image" Target="../media/image45.emf"/><Relationship Id="rId19" Type="http://schemas.openxmlformats.org/officeDocument/2006/relationships/image" Target="../media/image50.wmf"/><Relationship Id="rId4" Type="http://schemas.openxmlformats.org/officeDocument/2006/relationships/oleObject" Target="../embeddings/oleObject50.bin"/><Relationship Id="rId9" Type="http://schemas.openxmlformats.org/officeDocument/2006/relationships/image" Target="../media/image42.wmf"/><Relationship Id="rId14" Type="http://schemas.openxmlformats.org/officeDocument/2006/relationships/oleObject" Target="../embeddings/oleObject54.bin"/><Relationship Id="rId22" Type="http://schemas.openxmlformats.org/officeDocument/2006/relationships/oleObject" Target="../embeddings/oleObject58.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55.wmf"/><Relationship Id="rId3" Type="http://schemas.openxmlformats.org/officeDocument/2006/relationships/notesSlide" Target="../notesSlides/notesSlide5.xml"/><Relationship Id="rId7" Type="http://schemas.openxmlformats.org/officeDocument/2006/relationships/image" Target="../media/image43.wmf"/><Relationship Id="rId12"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61.bin"/><Relationship Id="rId11" Type="http://schemas.openxmlformats.org/officeDocument/2006/relationships/image" Target="../media/image54.wmf"/><Relationship Id="rId5" Type="http://schemas.openxmlformats.org/officeDocument/2006/relationships/image" Target="../media/image44.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42.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5.bin"/><Relationship Id="rId7" Type="http://schemas.openxmlformats.org/officeDocument/2006/relationships/image" Target="../media/image58.png"/><Relationship Id="rId2" Type="http://schemas.openxmlformats.org/officeDocument/2006/relationships/slideLayout" Target="../slideLayouts/slideLayout14.xml"/><Relationship Id="rId1" Type="http://schemas.openxmlformats.org/officeDocument/2006/relationships/vmlDrawing" Target="../drawings/vmlDrawing15.vml"/><Relationship Id="rId6" Type="http://schemas.openxmlformats.org/officeDocument/2006/relationships/image" Target="../media/image57.wmf"/><Relationship Id="rId5" Type="http://schemas.openxmlformats.org/officeDocument/2006/relationships/oleObject" Target="../embeddings/oleObject66.bin"/><Relationship Id="rId4" Type="http://schemas.openxmlformats.org/officeDocument/2006/relationships/image" Target="../media/image56.wmf"/></Relationships>
</file>

<file path=ppt/slides/_rels/slide53.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oleObject" Target="../embeddings/oleObject72.bin"/><Relationship Id="rId18" Type="http://schemas.openxmlformats.org/officeDocument/2006/relationships/image" Target="../media/image66.wmf"/><Relationship Id="rId26" Type="http://schemas.openxmlformats.org/officeDocument/2006/relationships/image" Target="../media/image87.png"/><Relationship Id="rId3" Type="http://schemas.openxmlformats.org/officeDocument/2006/relationships/oleObject" Target="../embeddings/oleObject67.bin"/><Relationship Id="rId21" Type="http://schemas.openxmlformats.org/officeDocument/2006/relationships/oleObject" Target="../embeddings/oleObject76.bin"/><Relationship Id="rId7" Type="http://schemas.openxmlformats.org/officeDocument/2006/relationships/oleObject" Target="../embeddings/oleObject69.bin"/><Relationship Id="rId12" Type="http://schemas.openxmlformats.org/officeDocument/2006/relationships/image" Target="../media/image63.wmf"/><Relationship Id="rId17" Type="http://schemas.openxmlformats.org/officeDocument/2006/relationships/oleObject" Target="../embeddings/oleObject74.bin"/><Relationship Id="rId25" Type="http://schemas.openxmlformats.org/officeDocument/2006/relationships/image" Target="../media/image86.png"/><Relationship Id="rId2" Type="http://schemas.openxmlformats.org/officeDocument/2006/relationships/slideLayout" Target="../slideLayouts/slideLayout14.xml"/><Relationship Id="rId16" Type="http://schemas.openxmlformats.org/officeDocument/2006/relationships/image" Target="../media/image65.wmf"/><Relationship Id="rId20" Type="http://schemas.openxmlformats.org/officeDocument/2006/relationships/image" Target="../media/image67.wmf"/><Relationship Id="rId1" Type="http://schemas.openxmlformats.org/officeDocument/2006/relationships/vmlDrawing" Target="../drawings/vmlDrawing16.vml"/><Relationship Id="rId6" Type="http://schemas.openxmlformats.org/officeDocument/2006/relationships/image" Target="../media/image60.wmf"/><Relationship Id="rId11" Type="http://schemas.openxmlformats.org/officeDocument/2006/relationships/oleObject" Target="../embeddings/oleObject71.bin"/><Relationship Id="rId24" Type="http://schemas.openxmlformats.org/officeDocument/2006/relationships/image" Target="../media/image69.wmf"/><Relationship Id="rId5" Type="http://schemas.openxmlformats.org/officeDocument/2006/relationships/oleObject" Target="../embeddings/oleObject68.bin"/><Relationship Id="rId15" Type="http://schemas.openxmlformats.org/officeDocument/2006/relationships/oleObject" Target="../embeddings/oleObject73.bin"/><Relationship Id="rId23" Type="http://schemas.openxmlformats.org/officeDocument/2006/relationships/oleObject" Target="../embeddings/oleObject77.bin"/><Relationship Id="rId10" Type="http://schemas.openxmlformats.org/officeDocument/2006/relationships/image" Target="../media/image62.wmf"/><Relationship Id="rId19" Type="http://schemas.openxmlformats.org/officeDocument/2006/relationships/oleObject" Target="../embeddings/oleObject75.bin"/><Relationship Id="rId4" Type="http://schemas.openxmlformats.org/officeDocument/2006/relationships/image" Target="../media/image59.wmf"/><Relationship Id="rId9" Type="http://schemas.openxmlformats.org/officeDocument/2006/relationships/oleObject" Target="../embeddings/oleObject70.bin"/><Relationship Id="rId14" Type="http://schemas.openxmlformats.org/officeDocument/2006/relationships/image" Target="../media/image64.wmf"/><Relationship Id="rId22" Type="http://schemas.openxmlformats.org/officeDocument/2006/relationships/image" Target="../media/image68.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80.bin"/><Relationship Id="rId13" Type="http://schemas.openxmlformats.org/officeDocument/2006/relationships/image" Target="../media/image92.wmf"/><Relationship Id="rId18" Type="http://schemas.openxmlformats.org/officeDocument/2006/relationships/oleObject" Target="../embeddings/oleObject85.bin"/><Relationship Id="rId26" Type="http://schemas.openxmlformats.org/officeDocument/2006/relationships/oleObject" Target="../embeddings/oleObject89.bin"/><Relationship Id="rId3" Type="http://schemas.openxmlformats.org/officeDocument/2006/relationships/image" Target="../media/image103.png"/><Relationship Id="rId21" Type="http://schemas.openxmlformats.org/officeDocument/2006/relationships/image" Target="../media/image96.wmf"/><Relationship Id="rId7" Type="http://schemas.openxmlformats.org/officeDocument/2006/relationships/image" Target="../media/image89.wmf"/><Relationship Id="rId12" Type="http://schemas.openxmlformats.org/officeDocument/2006/relationships/oleObject" Target="../embeddings/oleObject82.bin"/><Relationship Id="rId17" Type="http://schemas.openxmlformats.org/officeDocument/2006/relationships/image" Target="../media/image94.wmf"/><Relationship Id="rId25" Type="http://schemas.openxmlformats.org/officeDocument/2006/relationships/image" Target="../media/image98.wmf"/><Relationship Id="rId2" Type="http://schemas.openxmlformats.org/officeDocument/2006/relationships/slideLayout" Target="../slideLayouts/slideLayout7.xml"/><Relationship Id="rId16" Type="http://schemas.openxmlformats.org/officeDocument/2006/relationships/oleObject" Target="../embeddings/oleObject84.bin"/><Relationship Id="rId20" Type="http://schemas.openxmlformats.org/officeDocument/2006/relationships/oleObject" Target="../embeddings/oleObject86.bin"/><Relationship Id="rId1" Type="http://schemas.openxmlformats.org/officeDocument/2006/relationships/vmlDrawing" Target="../drawings/vmlDrawing17.vml"/><Relationship Id="rId6" Type="http://schemas.openxmlformats.org/officeDocument/2006/relationships/oleObject" Target="../embeddings/oleObject79.bin"/><Relationship Id="rId11" Type="http://schemas.openxmlformats.org/officeDocument/2006/relationships/image" Target="../media/image91.wmf"/><Relationship Id="rId24" Type="http://schemas.openxmlformats.org/officeDocument/2006/relationships/oleObject" Target="../embeddings/oleObject88.bin"/><Relationship Id="rId5" Type="http://schemas.openxmlformats.org/officeDocument/2006/relationships/image" Target="../media/image88.wmf"/><Relationship Id="rId15" Type="http://schemas.openxmlformats.org/officeDocument/2006/relationships/image" Target="../media/image93.wmf"/><Relationship Id="rId23" Type="http://schemas.openxmlformats.org/officeDocument/2006/relationships/image" Target="../media/image97.wmf"/><Relationship Id="rId10" Type="http://schemas.openxmlformats.org/officeDocument/2006/relationships/oleObject" Target="../embeddings/oleObject81.bin"/><Relationship Id="rId19" Type="http://schemas.openxmlformats.org/officeDocument/2006/relationships/image" Target="../media/image95.wmf"/><Relationship Id="rId4" Type="http://schemas.openxmlformats.org/officeDocument/2006/relationships/oleObject" Target="../embeddings/oleObject78.bin"/><Relationship Id="rId9" Type="http://schemas.openxmlformats.org/officeDocument/2006/relationships/image" Target="../media/image90.wmf"/><Relationship Id="rId14" Type="http://schemas.openxmlformats.org/officeDocument/2006/relationships/oleObject" Target="../embeddings/oleObject83.bin"/><Relationship Id="rId22" Type="http://schemas.openxmlformats.org/officeDocument/2006/relationships/oleObject" Target="../embeddings/oleObject87.bin"/><Relationship Id="rId27" Type="http://schemas.openxmlformats.org/officeDocument/2006/relationships/image" Target="../media/image99.wmf"/></Relationships>
</file>

<file path=ppt/slides/_rels/slide56.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06.wmf"/><Relationship Id="rId5" Type="http://schemas.openxmlformats.org/officeDocument/2006/relationships/oleObject" Target="../embeddings/oleObject91.bin"/><Relationship Id="rId4" Type="http://schemas.openxmlformats.org/officeDocument/2006/relationships/image" Target="../media/image105.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108.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109.wmf"/></Relationships>
</file>

<file path=ppt/slides/_rels/slide6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slideLayout" Target="../slideLayouts/slideLayout14.xml"/><Relationship Id="rId1" Type="http://schemas.openxmlformats.org/officeDocument/2006/relationships/vmlDrawing" Target="../drawings/vmlDrawing21.vml"/><Relationship Id="rId6" Type="http://schemas.openxmlformats.org/officeDocument/2006/relationships/image" Target="../media/image91.wmf"/><Relationship Id="rId5" Type="http://schemas.openxmlformats.org/officeDocument/2006/relationships/oleObject" Target="../embeddings/oleObject95.bin"/><Relationship Id="rId4" Type="http://schemas.openxmlformats.org/officeDocument/2006/relationships/image" Target="../media/image122.png"/></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94.wmf"/><Relationship Id="rId18" Type="http://schemas.openxmlformats.org/officeDocument/2006/relationships/oleObject" Target="../embeddings/oleObject103.bin"/><Relationship Id="rId26" Type="http://schemas.openxmlformats.org/officeDocument/2006/relationships/oleObject" Target="../embeddings/oleObject107.bin"/><Relationship Id="rId3" Type="http://schemas.openxmlformats.org/officeDocument/2006/relationships/image" Target="../media/image103.png"/><Relationship Id="rId21" Type="http://schemas.openxmlformats.org/officeDocument/2006/relationships/image" Target="../media/image98.wmf"/><Relationship Id="rId7" Type="http://schemas.openxmlformats.org/officeDocument/2006/relationships/image" Target="../media/image89.wmf"/><Relationship Id="rId12" Type="http://schemas.openxmlformats.org/officeDocument/2006/relationships/oleObject" Target="../embeddings/oleObject100.bin"/><Relationship Id="rId17" Type="http://schemas.openxmlformats.org/officeDocument/2006/relationships/image" Target="../media/image96.wmf"/><Relationship Id="rId25" Type="http://schemas.openxmlformats.org/officeDocument/2006/relationships/image" Target="../media/image91.wmf"/><Relationship Id="rId2" Type="http://schemas.openxmlformats.org/officeDocument/2006/relationships/slideLayout" Target="../slideLayouts/slideLayout2.xml"/><Relationship Id="rId16" Type="http://schemas.openxmlformats.org/officeDocument/2006/relationships/oleObject" Target="../embeddings/oleObject102.bin"/><Relationship Id="rId20" Type="http://schemas.openxmlformats.org/officeDocument/2006/relationships/oleObject" Target="../embeddings/oleObject104.bin"/><Relationship Id="rId1" Type="http://schemas.openxmlformats.org/officeDocument/2006/relationships/vmlDrawing" Target="../drawings/vmlDrawing22.vml"/><Relationship Id="rId6" Type="http://schemas.openxmlformats.org/officeDocument/2006/relationships/oleObject" Target="../embeddings/oleObject97.bin"/><Relationship Id="rId11" Type="http://schemas.openxmlformats.org/officeDocument/2006/relationships/image" Target="../media/image93.wmf"/><Relationship Id="rId24" Type="http://schemas.openxmlformats.org/officeDocument/2006/relationships/oleObject" Target="../embeddings/oleObject106.bin"/><Relationship Id="rId5" Type="http://schemas.openxmlformats.org/officeDocument/2006/relationships/image" Target="../media/image88.wmf"/><Relationship Id="rId15" Type="http://schemas.openxmlformats.org/officeDocument/2006/relationships/image" Target="../media/image95.wmf"/><Relationship Id="rId23" Type="http://schemas.openxmlformats.org/officeDocument/2006/relationships/image" Target="../media/image99.wmf"/><Relationship Id="rId10" Type="http://schemas.openxmlformats.org/officeDocument/2006/relationships/oleObject" Target="../embeddings/oleObject99.bin"/><Relationship Id="rId19" Type="http://schemas.openxmlformats.org/officeDocument/2006/relationships/image" Target="../media/image97.wmf"/><Relationship Id="rId4" Type="http://schemas.openxmlformats.org/officeDocument/2006/relationships/oleObject" Target="../embeddings/oleObject96.bin"/><Relationship Id="rId9" Type="http://schemas.openxmlformats.org/officeDocument/2006/relationships/image" Target="../media/image90.wmf"/><Relationship Id="rId14" Type="http://schemas.openxmlformats.org/officeDocument/2006/relationships/oleObject" Target="../embeddings/oleObject101.bin"/><Relationship Id="rId22" Type="http://schemas.openxmlformats.org/officeDocument/2006/relationships/oleObject" Target="../embeddings/oleObject105.bin"/><Relationship Id="rId27" Type="http://schemas.openxmlformats.org/officeDocument/2006/relationships/image" Target="../media/image92.wmf"/></Relationships>
</file>

<file path=ppt/slides/_rels/slide62.x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oleObject" Target="../embeddings/oleObject108.bin"/><Relationship Id="rId7" Type="http://schemas.openxmlformats.org/officeDocument/2006/relationships/oleObject" Target="../embeddings/oleObject110.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24.wmf"/><Relationship Id="rId11" Type="http://schemas.openxmlformats.org/officeDocument/2006/relationships/image" Target="../media/image127.jpeg"/><Relationship Id="rId5" Type="http://schemas.openxmlformats.org/officeDocument/2006/relationships/oleObject" Target="../embeddings/oleObject109.bin"/><Relationship Id="rId10" Type="http://schemas.openxmlformats.org/officeDocument/2006/relationships/image" Target="../media/image126.wmf"/><Relationship Id="rId4" Type="http://schemas.openxmlformats.org/officeDocument/2006/relationships/image" Target="../media/image123.wmf"/><Relationship Id="rId9" Type="http://schemas.openxmlformats.org/officeDocument/2006/relationships/oleObject" Target="../embeddings/oleObject111.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12.xml"/><Relationship Id="rId1" Type="http://schemas.openxmlformats.org/officeDocument/2006/relationships/vmlDrawing" Target="../drawings/vmlDrawing24.vml"/><Relationship Id="rId4" Type="http://schemas.openxmlformats.org/officeDocument/2006/relationships/image" Target="../media/image128.wmf"/></Relationships>
</file>

<file path=ppt/slides/_rels/slide6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2.xml"/><Relationship Id="rId4" Type="http://schemas.openxmlformats.org/officeDocument/2006/relationships/image" Target="../media/image103.png"/></Relationships>
</file>

<file path=ppt/slides/_rels/slide65.xml.rels><?xml version="1.0" encoding="UTF-8" standalone="yes"?>
<Relationships xmlns="http://schemas.openxmlformats.org/package/2006/relationships"><Relationship Id="rId8" Type="http://schemas.openxmlformats.org/officeDocument/2006/relationships/image" Target="../media/image141.wmf"/><Relationship Id="rId13" Type="http://schemas.openxmlformats.org/officeDocument/2006/relationships/oleObject" Target="../embeddings/oleObject117.bin"/><Relationship Id="rId18" Type="http://schemas.openxmlformats.org/officeDocument/2006/relationships/image" Target="../media/image142.wmf"/><Relationship Id="rId26" Type="http://schemas.openxmlformats.org/officeDocument/2006/relationships/image" Target="../media/image146.wmf"/><Relationship Id="rId3" Type="http://schemas.openxmlformats.org/officeDocument/2006/relationships/image" Target="../media/image103.png"/><Relationship Id="rId21" Type="http://schemas.openxmlformats.org/officeDocument/2006/relationships/oleObject" Target="../embeddings/oleObject121.bin"/><Relationship Id="rId7" Type="http://schemas.openxmlformats.org/officeDocument/2006/relationships/oleObject" Target="../embeddings/oleObject114.bin"/><Relationship Id="rId12" Type="http://schemas.openxmlformats.org/officeDocument/2006/relationships/image" Target="../media/image90.wmf"/><Relationship Id="rId17" Type="http://schemas.openxmlformats.org/officeDocument/2006/relationships/oleObject" Target="../embeddings/oleObject119.bin"/><Relationship Id="rId25" Type="http://schemas.openxmlformats.org/officeDocument/2006/relationships/oleObject" Target="../embeddings/oleObject123.bin"/><Relationship Id="rId2" Type="http://schemas.openxmlformats.org/officeDocument/2006/relationships/slideLayout" Target="../slideLayouts/slideLayout12.xml"/><Relationship Id="rId16" Type="http://schemas.openxmlformats.org/officeDocument/2006/relationships/image" Target="../media/image94.wmf"/><Relationship Id="rId20" Type="http://schemas.openxmlformats.org/officeDocument/2006/relationships/image" Target="../media/image143.wmf"/><Relationship Id="rId1" Type="http://schemas.openxmlformats.org/officeDocument/2006/relationships/vmlDrawing" Target="../drawings/vmlDrawing25.vml"/><Relationship Id="rId6" Type="http://schemas.openxmlformats.org/officeDocument/2006/relationships/image" Target="../media/image128.wmf"/><Relationship Id="rId11" Type="http://schemas.openxmlformats.org/officeDocument/2006/relationships/oleObject" Target="../embeddings/oleObject116.bin"/><Relationship Id="rId24" Type="http://schemas.openxmlformats.org/officeDocument/2006/relationships/image" Target="../media/image145.wmf"/><Relationship Id="rId5" Type="http://schemas.openxmlformats.org/officeDocument/2006/relationships/oleObject" Target="../embeddings/oleObject113.bin"/><Relationship Id="rId15" Type="http://schemas.openxmlformats.org/officeDocument/2006/relationships/oleObject" Target="../embeddings/oleObject118.bin"/><Relationship Id="rId23" Type="http://schemas.openxmlformats.org/officeDocument/2006/relationships/oleObject" Target="../embeddings/oleObject122.bin"/><Relationship Id="rId10" Type="http://schemas.openxmlformats.org/officeDocument/2006/relationships/image" Target="../media/image89.wmf"/><Relationship Id="rId19" Type="http://schemas.openxmlformats.org/officeDocument/2006/relationships/oleObject" Target="../embeddings/oleObject120.bin"/><Relationship Id="rId4" Type="http://schemas.openxmlformats.org/officeDocument/2006/relationships/image" Target="../media/image147.png"/><Relationship Id="rId9" Type="http://schemas.openxmlformats.org/officeDocument/2006/relationships/oleObject" Target="../embeddings/oleObject115.bin"/><Relationship Id="rId14" Type="http://schemas.openxmlformats.org/officeDocument/2006/relationships/image" Target="../media/image93.wmf"/><Relationship Id="rId22" Type="http://schemas.openxmlformats.org/officeDocument/2006/relationships/image" Target="../media/image144.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8" Type="http://schemas.openxmlformats.org/officeDocument/2006/relationships/image" Target="../media/image150.wmf"/><Relationship Id="rId3" Type="http://schemas.openxmlformats.org/officeDocument/2006/relationships/oleObject" Target="../embeddings/oleObject124.bin"/><Relationship Id="rId7" Type="http://schemas.openxmlformats.org/officeDocument/2006/relationships/oleObject" Target="../embeddings/oleObject126.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49.wmf"/><Relationship Id="rId5" Type="http://schemas.openxmlformats.org/officeDocument/2006/relationships/oleObject" Target="../embeddings/oleObject125.bin"/><Relationship Id="rId10" Type="http://schemas.openxmlformats.org/officeDocument/2006/relationships/oleObject" Target="../embeddings/oleObject128.bin"/><Relationship Id="rId4" Type="http://schemas.openxmlformats.org/officeDocument/2006/relationships/image" Target="../media/image148.wmf"/><Relationship Id="rId9" Type="http://schemas.openxmlformats.org/officeDocument/2006/relationships/oleObject" Target="../embeddings/oleObject127.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29.png"/><Relationship Id="rId7" Type="http://schemas.openxmlformats.org/officeDocument/2006/relationships/image" Target="../media/image233.png"/><Relationship Id="rId2" Type="http://schemas.openxmlformats.org/officeDocument/2006/relationships/image" Target="../media/image228.png"/><Relationship Id="rId1" Type="http://schemas.openxmlformats.org/officeDocument/2006/relationships/slideLayout" Target="../slideLayouts/slideLayout2.xml"/><Relationship Id="rId6" Type="http://schemas.openxmlformats.org/officeDocument/2006/relationships/image" Target="../media/image232.png"/><Relationship Id="rId5" Type="http://schemas.openxmlformats.org/officeDocument/2006/relationships/image" Target="../media/image231.png"/><Relationship Id="rId4" Type="http://schemas.openxmlformats.org/officeDocument/2006/relationships/image" Target="../media/image230.png"/></Relationships>
</file>

<file path=ppt/slides/_rels/slide71.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235.png"/><Relationship Id="rId7" Type="http://schemas.openxmlformats.org/officeDocument/2006/relationships/image" Target="../media/image239.png"/><Relationship Id="rId2" Type="http://schemas.openxmlformats.org/officeDocument/2006/relationships/image" Target="../media/image234.png"/><Relationship Id="rId1" Type="http://schemas.openxmlformats.org/officeDocument/2006/relationships/slideLayout" Target="../slideLayouts/slideLayout2.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36.png"/></Relationships>
</file>

<file path=ppt/slides/_rels/slide7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241.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244.png"/><Relationship Id="rId7" Type="http://schemas.openxmlformats.org/officeDocument/2006/relationships/image" Target="../media/image1600.png"/><Relationship Id="rId2" Type="http://schemas.openxmlformats.org/officeDocument/2006/relationships/image" Target="../media/image243.png"/><Relationship Id="rId1" Type="http://schemas.openxmlformats.org/officeDocument/2006/relationships/slideLayout" Target="../slideLayouts/slideLayout2.xml"/><Relationship Id="rId6" Type="http://schemas.openxmlformats.org/officeDocument/2006/relationships/image" Target="../media/image247.png"/><Relationship Id="rId5" Type="http://schemas.openxmlformats.org/officeDocument/2006/relationships/image" Target="../media/image246.png"/><Relationship Id="rId4" Type="http://schemas.openxmlformats.org/officeDocument/2006/relationships/image" Target="../media/image245.png"/></Relationships>
</file>

<file path=ppt/slides/_rels/slide7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24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257.png"/><Relationship Id="rId3" Type="http://schemas.openxmlformats.org/officeDocument/2006/relationships/image" Target="../media/image252.png"/><Relationship Id="rId7" Type="http://schemas.openxmlformats.org/officeDocument/2006/relationships/image" Target="../media/image256.png"/><Relationship Id="rId12"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255.png"/><Relationship Id="rId11" Type="http://schemas.openxmlformats.org/officeDocument/2006/relationships/image" Target="../media/image260.png"/><Relationship Id="rId5" Type="http://schemas.openxmlformats.org/officeDocument/2006/relationships/image" Target="../media/image254.png"/><Relationship Id="rId10" Type="http://schemas.openxmlformats.org/officeDocument/2006/relationships/image" Target="../media/image259.png"/><Relationship Id="rId4" Type="http://schemas.openxmlformats.org/officeDocument/2006/relationships/image" Target="../media/image253.png"/><Relationship Id="rId9" Type="http://schemas.openxmlformats.org/officeDocument/2006/relationships/image" Target="../media/image258.png"/></Relationships>
</file>

<file path=ppt/slides/_rels/slide76.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image" Target="../media/image261.png"/><Relationship Id="rId1" Type="http://schemas.openxmlformats.org/officeDocument/2006/relationships/slideLayout" Target="../slideLayouts/slideLayout2.xml"/><Relationship Id="rId5" Type="http://schemas.openxmlformats.org/officeDocument/2006/relationships/image" Target="../media/image264.png"/><Relationship Id="rId4" Type="http://schemas.openxmlformats.org/officeDocument/2006/relationships/image" Target="../media/image263.png"/></Relationships>
</file>

<file path=ppt/slides/_rels/slide77.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 Id="rId4" Type="http://schemas.openxmlformats.org/officeDocument/2006/relationships/image" Target="../media/image168.png"/></Relationships>
</file>

<file path=ppt/slides/_rels/slide8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168.wmf"/><Relationship Id="rId5" Type="http://schemas.openxmlformats.org/officeDocument/2006/relationships/oleObject" Target="../embeddings/oleObject129.bin"/><Relationship Id="rId4" Type="http://schemas.openxmlformats.org/officeDocument/2006/relationships/image" Target="../media/image170.png"/></Relationships>
</file>

<file path=ppt/slides/_rels/slide83.xml.rels><?xml version="1.0" encoding="UTF-8" standalone="yes"?>
<Relationships xmlns="http://schemas.openxmlformats.org/package/2006/relationships"><Relationship Id="rId3" Type="http://schemas.openxmlformats.org/officeDocument/2006/relationships/image" Target="../media/image174.png"/><Relationship Id="rId7" Type="http://schemas.openxmlformats.org/officeDocument/2006/relationships/image" Target="../media/image170.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130.bin"/><Relationship Id="rId5" Type="http://schemas.openxmlformats.org/officeDocument/2006/relationships/image" Target="../media/image170.wmf"/><Relationship Id="rId4" Type="http://schemas.openxmlformats.org/officeDocument/2006/relationships/oleObject" Target="../embeddings/oleObject130.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133.bin"/><Relationship Id="rId13" Type="http://schemas.openxmlformats.org/officeDocument/2006/relationships/image" Target="../media/image175.wmf"/><Relationship Id="rId3" Type="http://schemas.openxmlformats.org/officeDocument/2006/relationships/oleObject" Target="../embeddings/oleObject131.bin"/><Relationship Id="rId7" Type="http://schemas.openxmlformats.org/officeDocument/2006/relationships/image" Target="../media/image172.wmf"/><Relationship Id="rId12" Type="http://schemas.openxmlformats.org/officeDocument/2006/relationships/oleObject" Target="../embeddings/oleObject135.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132.bin"/><Relationship Id="rId11" Type="http://schemas.openxmlformats.org/officeDocument/2006/relationships/image" Target="../media/image174.wmf"/><Relationship Id="rId5" Type="http://schemas.openxmlformats.org/officeDocument/2006/relationships/image" Target="../media/image177.gif"/><Relationship Id="rId15" Type="http://schemas.openxmlformats.org/officeDocument/2006/relationships/image" Target="../media/image176.wmf"/><Relationship Id="rId10" Type="http://schemas.openxmlformats.org/officeDocument/2006/relationships/oleObject" Target="../embeddings/oleObject134.bin"/><Relationship Id="rId4" Type="http://schemas.openxmlformats.org/officeDocument/2006/relationships/image" Target="../media/image171.wmf"/><Relationship Id="rId9" Type="http://schemas.openxmlformats.org/officeDocument/2006/relationships/image" Target="../media/image173.wmf"/><Relationship Id="rId14" Type="http://schemas.openxmlformats.org/officeDocument/2006/relationships/oleObject" Target="../embeddings/oleObject136.bin"/></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178.wmf"/></Relationships>
</file>

<file path=ppt/slides/_rels/slide86.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38.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180.wmf"/></Relationships>
</file>

<file path=ppt/slides/_rels/slide88.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39.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182.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40.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184.wmf"/><Relationship Id="rId5" Type="http://schemas.openxmlformats.org/officeDocument/2006/relationships/oleObject" Target="../embeddings/oleObject141.bin"/><Relationship Id="rId4" Type="http://schemas.openxmlformats.org/officeDocument/2006/relationships/image" Target="../media/image183.wmf"/></Relationships>
</file>

<file path=ppt/slides/_rels/slide91.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85.wmf"/><Relationship Id="rId5" Type="http://schemas.openxmlformats.org/officeDocument/2006/relationships/oleObject" Target="../embeddings/oleObject142.bin"/><Relationship Id="rId4" Type="http://schemas.openxmlformats.org/officeDocument/2006/relationships/image" Target="../media/image18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B758C60D-446B-4AAD-8DD1-98581BBB6E1D}"/>
              </a:ext>
            </a:extLst>
          </p:cNvPr>
          <p:cNvSpPr>
            <a:spLocks noGrp="1" noChangeArrowheads="1"/>
          </p:cNvSpPr>
          <p:nvPr>
            <p:ph type="ctrTitle"/>
          </p:nvPr>
        </p:nvSpPr>
        <p:spPr/>
        <p:txBody>
          <a:bodyPr/>
          <a:lstStyle/>
          <a:p>
            <a:pPr eaLnBrk="1" hangingPunct="1"/>
            <a:r>
              <a:rPr lang="zh-CN" altLang="en-US"/>
              <a:t>第三章</a:t>
            </a:r>
          </a:p>
        </p:txBody>
      </p:sp>
      <p:sp>
        <p:nvSpPr>
          <p:cNvPr id="4099" name="Rectangle 3">
            <a:extLst>
              <a:ext uri="{FF2B5EF4-FFF2-40B4-BE49-F238E27FC236}">
                <a16:creationId xmlns:a16="http://schemas.microsoft.com/office/drawing/2014/main" id="{A1187613-34C2-45C6-A115-E470DF41075A}"/>
              </a:ext>
            </a:extLst>
          </p:cNvPr>
          <p:cNvSpPr>
            <a:spLocks noGrp="1" noChangeArrowheads="1"/>
          </p:cNvSpPr>
          <p:nvPr>
            <p:ph type="subTitle" idx="1"/>
          </p:nvPr>
        </p:nvSpPr>
        <p:spPr>
          <a:xfrm>
            <a:off x="1524000" y="2997200"/>
            <a:ext cx="7391400" cy="1752600"/>
          </a:xfrm>
        </p:spPr>
        <p:txBody>
          <a:bodyPr/>
          <a:lstStyle/>
          <a:p>
            <a:pPr eaLnBrk="1" hangingPunct="1"/>
            <a:r>
              <a:rPr lang="zh-CN" altLang="en-US"/>
              <a:t>对偶理论和灵敏度分析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D45C1FCC-1673-4B3A-BB82-4488D4DB85C1}"/>
              </a:ext>
            </a:extLst>
          </p:cNvPr>
          <p:cNvSpPr>
            <a:spLocks noGrp="1" noChangeArrowheads="1"/>
          </p:cNvSpPr>
          <p:nvPr>
            <p:ph type="ctrTitle"/>
          </p:nvPr>
        </p:nvSpPr>
        <p:spPr/>
        <p:txBody>
          <a:bodyPr/>
          <a:lstStyle/>
          <a:p>
            <a:pPr eaLnBrk="1" hangingPunct="1"/>
            <a:endParaRPr lang="zh-CN" altLang="en-US" dirty="0"/>
          </a:p>
        </p:txBody>
      </p:sp>
      <p:sp>
        <p:nvSpPr>
          <p:cNvPr id="16387" name="Rectangle 5">
            <a:extLst>
              <a:ext uri="{FF2B5EF4-FFF2-40B4-BE49-F238E27FC236}">
                <a16:creationId xmlns:a16="http://schemas.microsoft.com/office/drawing/2014/main" id="{B654DE9D-96E4-426D-BD1D-6FF293230E0C}"/>
              </a:ext>
            </a:extLst>
          </p:cNvPr>
          <p:cNvSpPr>
            <a:spLocks noGrp="1" noChangeArrowheads="1"/>
          </p:cNvSpPr>
          <p:nvPr>
            <p:ph type="subTitle" idx="1"/>
          </p:nvPr>
        </p:nvSpPr>
        <p:spPr/>
        <p:txBody>
          <a:bodyPr/>
          <a:lstStyle/>
          <a:p>
            <a:pPr eaLnBrk="1" hangingPunct="1"/>
            <a:r>
              <a:rPr lang="zh-CN" altLang="en-US"/>
              <a:t>改进单纯形法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A8E77B3-0B9C-413F-9863-794D1DB82789}"/>
              </a:ext>
            </a:extLst>
          </p:cNvPr>
          <p:cNvSpPr>
            <a:spLocks noGrp="1" noChangeArrowheads="1"/>
          </p:cNvSpPr>
          <p:nvPr>
            <p:ph type="title"/>
          </p:nvPr>
        </p:nvSpPr>
        <p:spPr/>
        <p:txBody>
          <a:bodyPr/>
          <a:lstStyle/>
          <a:p>
            <a:pPr eaLnBrk="1" hangingPunct="1"/>
            <a:r>
              <a:rPr lang="zh-CN" altLang="en-US"/>
              <a:t>与普通单纯形法的区别</a:t>
            </a:r>
            <a:endParaRPr lang="zh-CN" altLang="zh-CN"/>
          </a:p>
        </p:txBody>
      </p:sp>
      <mc:AlternateContent xmlns:mc="http://schemas.openxmlformats.org/markup-compatibility/2006" xmlns:a14="http://schemas.microsoft.com/office/drawing/2010/main">
        <mc:Choice Requires="a14">
          <p:sp>
            <p:nvSpPr>
              <p:cNvPr id="102403" name="Rectangle 3">
                <a:extLst>
                  <a:ext uri="{FF2B5EF4-FFF2-40B4-BE49-F238E27FC236}">
                    <a16:creationId xmlns:a16="http://schemas.microsoft.com/office/drawing/2014/main" id="{7548D58B-EAC9-4027-838D-900D72CA8334}"/>
                  </a:ext>
                </a:extLst>
              </p:cNvPr>
              <p:cNvSpPr>
                <a:spLocks noGrp="1" noChangeArrowheads="1"/>
              </p:cNvSpPr>
              <p:nvPr>
                <p:ph type="body" idx="1"/>
              </p:nvPr>
            </p:nvSpPr>
            <p:spPr>
              <a:xfrm>
                <a:off x="152400" y="1371600"/>
                <a:ext cx="8915400" cy="5292725"/>
              </a:xfrm>
            </p:spPr>
            <p:txBody>
              <a:bodyPr/>
              <a:lstStyle/>
              <a:p>
                <a:pPr eaLnBrk="1" hangingPunct="1">
                  <a:lnSpc>
                    <a:spcPct val="150000"/>
                  </a:lnSpc>
                  <a:spcAft>
                    <a:spcPts val="1200"/>
                  </a:spcAft>
                  <a:defRPr/>
                </a:pPr>
                <a:r>
                  <a:rPr lang="zh-CN" altLang="en-US" dirty="0"/>
                  <a:t>单纯形法需要选定基变量和非基变量，然后确定基矩阵</a:t>
                </a:r>
                <a:r>
                  <a:rPr lang="en-US" altLang="zh-CN" dirty="0"/>
                  <a:t>B</a:t>
                </a:r>
                <a:r>
                  <a:rPr lang="zh-CN" altLang="en-US" dirty="0"/>
                  <a:t>，并计算基矩阵的逆</a:t>
                </a:r>
                <a14:m>
                  <m:oMath xmlns:m="http://schemas.openxmlformats.org/officeDocument/2006/math">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𝑩</m:t>
                        </m:r>
                      </m:e>
                      <m:sup>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p>
                    </m:sSup>
                    <m:r>
                      <a:rPr lang="zh-CN" altLang="en-US" i="1">
                        <a:latin typeface="Cambria Math" panose="02040503050406030204" pitchFamily="18" charset="0"/>
                      </a:rPr>
                      <m:t>以及</m:t>
                    </m:r>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b="1" i="1" smtClean="0">
                        <a:latin typeface="Cambria Math" panose="02040503050406030204" pitchFamily="18" charset="0"/>
                      </a:rPr>
                      <m:t>𝑨</m:t>
                    </m:r>
                  </m:oMath>
                </a14:m>
                <a:endParaRPr lang="en-US" altLang="zh-CN" dirty="0"/>
              </a:p>
              <a:p>
                <a:pPr eaLnBrk="1" hangingPunct="1">
                  <a:lnSpc>
                    <a:spcPct val="150000"/>
                  </a:lnSpc>
                  <a:spcAft>
                    <a:spcPts val="1200"/>
                  </a:spcAft>
                  <a:defRPr/>
                </a:pPr>
                <a:r>
                  <a:rPr lang="zh-CN" altLang="en-US" dirty="0"/>
                  <a:t>计算量最大的部分就是计算</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rPr>
                      <m:t>𝑨</m:t>
                    </m:r>
                  </m:oMath>
                </a14:m>
                <a:endParaRPr lang="en-US" altLang="zh-CN" dirty="0"/>
              </a:p>
              <a:p>
                <a:pPr eaLnBrk="1" hangingPunct="1">
                  <a:lnSpc>
                    <a:spcPct val="150000"/>
                  </a:lnSpc>
                  <a:spcAft>
                    <a:spcPts val="1200"/>
                  </a:spcAft>
                  <a:defRPr/>
                </a:pPr>
                <a:r>
                  <a:rPr lang="zh-CN" altLang="en-US" dirty="0"/>
                  <a:t>单纯形表的计算启发我们对于</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rPr>
                      <m:t>𝑨</m:t>
                    </m:r>
                  </m:oMath>
                </a14:m>
                <a:r>
                  <a:rPr lang="zh-CN" altLang="en-US" dirty="0"/>
                  <a:t>，不一定要直接计算</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oMath>
                </a14:m>
                <a:r>
                  <a:rPr lang="zh-CN" altLang="en-US" dirty="0"/>
                  <a:t>，而是可以根据上一次的迭代结果减少计算量</a:t>
                </a:r>
                <a:endParaRPr lang="en-US" altLang="zh-CN" dirty="0"/>
              </a:p>
            </p:txBody>
          </p:sp>
        </mc:Choice>
        <mc:Fallback xmlns="">
          <p:sp>
            <p:nvSpPr>
              <p:cNvPr id="102403" name="Rectangle 3">
                <a:extLst>
                  <a:ext uri="{FF2B5EF4-FFF2-40B4-BE49-F238E27FC236}">
                    <a16:creationId xmlns:a16="http://schemas.microsoft.com/office/drawing/2014/main" id="{7548D58B-EAC9-4027-838D-900D72CA8334}"/>
                  </a:ext>
                </a:extLst>
              </p:cNvPr>
              <p:cNvSpPr>
                <a:spLocks noGrp="1" noRot="1" noChangeAspect="1" noMove="1" noResize="1" noEditPoints="1" noAdjustHandles="1" noChangeArrowheads="1" noChangeShapeType="1" noTextEdit="1"/>
              </p:cNvSpPr>
              <p:nvPr>
                <p:ph type="body" idx="1"/>
              </p:nvPr>
            </p:nvSpPr>
            <p:spPr>
              <a:xfrm>
                <a:off x="152400" y="1371600"/>
                <a:ext cx="8915400" cy="5292725"/>
              </a:xfrm>
              <a:blipFill>
                <a:blip r:embed="rId3"/>
                <a:stretch>
                  <a:fillRect l="-410" r="-1094"/>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7877E8-5CFA-457C-8E83-3A693D6553EC}"/>
              </a:ext>
            </a:extLst>
          </p:cNvPr>
          <p:cNvSpPr>
            <a:spLocks noGrp="1"/>
          </p:cNvSpPr>
          <p:nvPr>
            <p:ph type="title"/>
          </p:nvPr>
        </p:nvSpPr>
        <p:spPr/>
        <p:txBody>
          <a:bodyPr/>
          <a:lstStyle/>
          <a:p>
            <a:r>
              <a:rPr lang="zh-CN" altLang="en-US" dirty="0"/>
              <a:t>例子</a:t>
            </a:r>
          </a:p>
        </p:txBody>
      </p:sp>
      <p:graphicFrame>
        <p:nvGraphicFramePr>
          <p:cNvPr id="4" name="内容占位符 3">
            <a:extLst>
              <a:ext uri="{FF2B5EF4-FFF2-40B4-BE49-F238E27FC236}">
                <a16:creationId xmlns:a16="http://schemas.microsoft.com/office/drawing/2014/main" id="{B3F2FAF7-4EDF-4E3F-98B7-3EE9AB7F5058}"/>
              </a:ext>
            </a:extLst>
          </p:cNvPr>
          <p:cNvGraphicFramePr>
            <a:graphicFrameLocks noGrp="1"/>
          </p:cNvGraphicFramePr>
          <p:nvPr>
            <p:ph idx="1"/>
            <p:extLst>
              <p:ext uri="{D42A27DB-BD31-4B8C-83A1-F6EECF244321}">
                <p14:modId xmlns:p14="http://schemas.microsoft.com/office/powerpoint/2010/main" val="1753114283"/>
              </p:ext>
            </p:extLst>
          </p:nvPr>
        </p:nvGraphicFramePr>
        <p:xfrm>
          <a:off x="985690" y="1371600"/>
          <a:ext cx="5873752" cy="1541144"/>
        </p:xfrm>
        <a:graphic>
          <a:graphicData uri="http://schemas.openxmlformats.org/drawingml/2006/table">
            <a:tbl>
              <a:tblPr firstRow="1" bandRow="1">
                <a:tableStyleId>{5C22544A-7EE6-4342-B048-85BDC9FD1C3A}</a:tableStyleId>
              </a:tblPr>
              <a:tblGrid>
                <a:gridCol w="1468438">
                  <a:extLst>
                    <a:ext uri="{9D8B030D-6E8A-4147-A177-3AD203B41FA5}">
                      <a16:colId xmlns:a16="http://schemas.microsoft.com/office/drawing/2014/main" val="194517144"/>
                    </a:ext>
                  </a:extLst>
                </a:gridCol>
                <a:gridCol w="1468438">
                  <a:extLst>
                    <a:ext uri="{9D8B030D-6E8A-4147-A177-3AD203B41FA5}">
                      <a16:colId xmlns:a16="http://schemas.microsoft.com/office/drawing/2014/main" val="262937075"/>
                    </a:ext>
                  </a:extLst>
                </a:gridCol>
                <a:gridCol w="1468438">
                  <a:extLst>
                    <a:ext uri="{9D8B030D-6E8A-4147-A177-3AD203B41FA5}">
                      <a16:colId xmlns:a16="http://schemas.microsoft.com/office/drawing/2014/main" val="1809024897"/>
                    </a:ext>
                  </a:extLst>
                </a:gridCol>
                <a:gridCol w="1468438">
                  <a:extLst>
                    <a:ext uri="{9D8B030D-6E8A-4147-A177-3AD203B41FA5}">
                      <a16:colId xmlns:a16="http://schemas.microsoft.com/office/drawing/2014/main" val="1127211881"/>
                    </a:ext>
                  </a:extLst>
                </a:gridCol>
              </a:tblGrid>
              <a:tr h="763588">
                <a:tc>
                  <a:txBody>
                    <a:bodyPr/>
                    <a:lstStyle/>
                    <a:p>
                      <a:pPr algn="ctr"/>
                      <a:r>
                        <a:rPr lang="en-US" altLang="zh-CN" sz="3900" b="1" dirty="0">
                          <a:solidFill>
                            <a:schemeClr val="tx1"/>
                          </a:solidFill>
                        </a:rPr>
                        <a:t>2</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763588">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2</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bl>
          </a:graphicData>
        </a:graphic>
      </p:graphicFrame>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87171039-41E1-4A9F-B8A1-C68BB5F93DA1}"/>
                  </a:ext>
                </a:extLst>
              </p:cNvPr>
              <p:cNvGraphicFramePr>
                <a:graphicFrameLocks noGrp="1"/>
              </p:cNvGraphicFramePr>
              <p:nvPr>
                <p:extLst>
                  <p:ext uri="{D42A27DB-BD31-4B8C-83A1-F6EECF244321}">
                    <p14:modId xmlns:p14="http://schemas.microsoft.com/office/powerpoint/2010/main" val="3403839551"/>
                  </p:ext>
                </p:extLst>
              </p:nvPr>
            </p:nvGraphicFramePr>
            <p:xfrm>
              <a:off x="71290" y="1479755"/>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𝟏</m:t>
                                    </m:r>
                                  </m:sub>
                                </m:sSub>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𝟐</m:t>
                                    </m:r>
                                  </m:sub>
                                </m:sSub>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5" name="表格 4">
                <a:extLst>
                  <a:ext uri="{FF2B5EF4-FFF2-40B4-BE49-F238E27FC236}">
                    <a16:creationId xmlns:a16="http://schemas.microsoft.com/office/drawing/2014/main" id="{87171039-41E1-4A9F-B8A1-C68BB5F93DA1}"/>
                  </a:ext>
                </a:extLst>
              </p:cNvPr>
              <p:cNvGraphicFramePr>
                <a:graphicFrameLocks noGrp="1"/>
              </p:cNvGraphicFramePr>
              <p:nvPr>
                <p:extLst>
                  <p:ext uri="{D42A27DB-BD31-4B8C-83A1-F6EECF244321}">
                    <p14:modId xmlns:p14="http://schemas.microsoft.com/office/powerpoint/2010/main" val="3403839551"/>
                  </p:ext>
                </p:extLst>
              </p:nvPr>
            </p:nvGraphicFramePr>
            <p:xfrm>
              <a:off x="71290" y="1479755"/>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2"/>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t="-101053"/>
                          </a:stretch>
                        </a:blipFill>
                      </a:tcPr>
                    </a:tc>
                    <a:extLst>
                      <a:ext uri="{0D108BD9-81ED-4DB2-BD59-A6C34878D82A}">
                        <a16:rowId xmlns:a16="http://schemas.microsoft.com/office/drawing/2014/main" val="4132285909"/>
                      </a:ext>
                    </a:extLst>
                  </a:tr>
                </a:tbl>
              </a:graphicData>
            </a:graphic>
          </p:graphicFrame>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52B82F3-6CF3-47BC-AFDE-E9818ADB7630}"/>
                  </a:ext>
                </a:extLst>
              </p:cNvPr>
              <p:cNvSpPr/>
              <p:nvPr/>
            </p:nvSpPr>
            <p:spPr>
              <a:xfrm>
                <a:off x="1372992" y="786825"/>
                <a:ext cx="833460"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a:latin typeface="Cambria Math" panose="02040503050406030204" pitchFamily="18" charset="0"/>
                            </a:rPr>
                            <m:t>𝟏</m:t>
                          </m:r>
                        </m:sub>
                      </m:sSub>
                    </m:oMath>
                  </m:oMathPara>
                </a14:m>
                <a:endParaRPr lang="zh-CN" altLang="en-US" sz="3200" dirty="0"/>
              </a:p>
            </p:txBody>
          </p:sp>
        </mc:Choice>
        <mc:Fallback xmlns="">
          <p:sp>
            <p:nvSpPr>
              <p:cNvPr id="6" name="矩形 5">
                <a:extLst>
                  <a:ext uri="{FF2B5EF4-FFF2-40B4-BE49-F238E27FC236}">
                    <a16:creationId xmlns:a16="http://schemas.microsoft.com/office/drawing/2014/main" id="{E52B82F3-6CF3-47BC-AFDE-E9818ADB7630}"/>
                  </a:ext>
                </a:extLst>
              </p:cNvPr>
              <p:cNvSpPr>
                <a:spLocks noRot="1" noChangeAspect="1" noMove="1" noResize="1" noEditPoints="1" noAdjustHandles="1" noChangeArrowheads="1" noChangeShapeType="1" noTextEdit="1"/>
              </p:cNvSpPr>
              <p:nvPr/>
            </p:nvSpPr>
            <p:spPr>
              <a:xfrm>
                <a:off x="1372992" y="786825"/>
                <a:ext cx="833460"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1DFF6BD2-D313-42A5-A813-6AEF333E17FF}"/>
                  </a:ext>
                </a:extLst>
              </p:cNvPr>
              <p:cNvSpPr/>
              <p:nvPr/>
            </p:nvSpPr>
            <p:spPr>
              <a:xfrm>
                <a:off x="2918654" y="786825"/>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𝟐</m:t>
                          </m:r>
                        </m:sub>
                      </m:sSub>
                    </m:oMath>
                  </m:oMathPara>
                </a14:m>
                <a:endParaRPr lang="zh-CN" altLang="en-US" sz="3200" dirty="0"/>
              </a:p>
            </p:txBody>
          </p:sp>
        </mc:Choice>
        <mc:Fallback xmlns="">
          <p:sp>
            <p:nvSpPr>
              <p:cNvPr id="7" name="矩形 6">
                <a:extLst>
                  <a:ext uri="{FF2B5EF4-FFF2-40B4-BE49-F238E27FC236}">
                    <a16:creationId xmlns:a16="http://schemas.microsoft.com/office/drawing/2014/main" id="{1DFF6BD2-D313-42A5-A813-6AEF333E17FF}"/>
                  </a:ext>
                </a:extLst>
              </p:cNvPr>
              <p:cNvSpPr>
                <a:spLocks noRot="1" noChangeAspect="1" noMove="1" noResize="1" noEditPoints="1" noAdjustHandles="1" noChangeArrowheads="1" noChangeShapeType="1" noTextEdit="1"/>
              </p:cNvSpPr>
              <p:nvPr/>
            </p:nvSpPr>
            <p:spPr>
              <a:xfrm>
                <a:off x="2918654" y="786825"/>
                <a:ext cx="711477"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AAD112B2-08FB-4407-B142-3A94078A385F}"/>
                  </a:ext>
                </a:extLst>
              </p:cNvPr>
              <p:cNvSpPr/>
              <p:nvPr/>
            </p:nvSpPr>
            <p:spPr>
              <a:xfrm>
                <a:off x="4399151" y="786825"/>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𝟑</m:t>
                          </m:r>
                        </m:sub>
                      </m:sSub>
                    </m:oMath>
                  </m:oMathPara>
                </a14:m>
                <a:endParaRPr lang="zh-CN" altLang="en-US" sz="3200" dirty="0"/>
              </a:p>
            </p:txBody>
          </p:sp>
        </mc:Choice>
        <mc:Fallback xmlns="">
          <p:sp>
            <p:nvSpPr>
              <p:cNvPr id="8" name="矩形 7">
                <a:extLst>
                  <a:ext uri="{FF2B5EF4-FFF2-40B4-BE49-F238E27FC236}">
                    <a16:creationId xmlns:a16="http://schemas.microsoft.com/office/drawing/2014/main" id="{AAD112B2-08FB-4407-B142-3A94078A385F}"/>
                  </a:ext>
                </a:extLst>
              </p:cNvPr>
              <p:cNvSpPr>
                <a:spLocks noRot="1" noChangeAspect="1" noMove="1" noResize="1" noEditPoints="1" noAdjustHandles="1" noChangeArrowheads="1" noChangeShapeType="1" noTextEdit="1"/>
              </p:cNvSpPr>
              <p:nvPr/>
            </p:nvSpPr>
            <p:spPr>
              <a:xfrm>
                <a:off x="4399151" y="786825"/>
                <a:ext cx="711477" cy="58477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C516BD1-B9FE-4C4A-B06A-C5620BE0E12B}"/>
                  </a:ext>
                </a:extLst>
              </p:cNvPr>
              <p:cNvSpPr/>
              <p:nvPr/>
            </p:nvSpPr>
            <p:spPr>
              <a:xfrm>
                <a:off x="5822831" y="786825"/>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𝟒</m:t>
                          </m:r>
                        </m:sub>
                      </m:sSub>
                    </m:oMath>
                  </m:oMathPara>
                </a14:m>
                <a:endParaRPr lang="zh-CN" altLang="en-US" sz="3200" dirty="0"/>
              </a:p>
            </p:txBody>
          </p:sp>
        </mc:Choice>
        <mc:Fallback xmlns="">
          <p:sp>
            <p:nvSpPr>
              <p:cNvPr id="9" name="矩形 8">
                <a:extLst>
                  <a:ext uri="{FF2B5EF4-FFF2-40B4-BE49-F238E27FC236}">
                    <a16:creationId xmlns:a16="http://schemas.microsoft.com/office/drawing/2014/main" id="{CC516BD1-B9FE-4C4A-B06A-C5620BE0E12B}"/>
                  </a:ext>
                </a:extLst>
              </p:cNvPr>
              <p:cNvSpPr>
                <a:spLocks noRot="1" noChangeAspect="1" noMove="1" noResize="1" noEditPoints="1" noAdjustHandles="1" noChangeArrowheads="1" noChangeShapeType="1" noTextEdit="1"/>
              </p:cNvSpPr>
              <p:nvPr/>
            </p:nvSpPr>
            <p:spPr>
              <a:xfrm>
                <a:off x="5822831" y="786825"/>
                <a:ext cx="711477" cy="58477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492A017A-8509-4CD2-94A8-2F3D962DB5B1}"/>
                  </a:ext>
                </a:extLst>
              </p:cNvPr>
              <p:cNvGraphicFramePr>
                <a:graphicFrameLocks noGrp="1"/>
              </p:cNvGraphicFramePr>
              <p:nvPr>
                <p:extLst>
                  <p:ext uri="{D42A27DB-BD31-4B8C-83A1-F6EECF244321}">
                    <p14:modId xmlns:p14="http://schemas.microsoft.com/office/powerpoint/2010/main" val="1347403675"/>
                  </p:ext>
                </p:extLst>
              </p:nvPr>
            </p:nvGraphicFramePr>
            <p:xfrm>
              <a:off x="7063622" y="1479755"/>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𝟏𝟐</m:t>
                                </m:r>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𝟗</m:t>
                                </m:r>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12" name="表格 11">
                <a:extLst>
                  <a:ext uri="{FF2B5EF4-FFF2-40B4-BE49-F238E27FC236}">
                    <a16:creationId xmlns:a16="http://schemas.microsoft.com/office/drawing/2014/main" id="{492A017A-8509-4CD2-94A8-2F3D962DB5B1}"/>
                  </a:ext>
                </a:extLst>
              </p:cNvPr>
              <p:cNvGraphicFramePr>
                <a:graphicFrameLocks noGrp="1"/>
              </p:cNvGraphicFramePr>
              <p:nvPr>
                <p:extLst>
                  <p:ext uri="{D42A27DB-BD31-4B8C-83A1-F6EECF244321}">
                    <p14:modId xmlns:p14="http://schemas.microsoft.com/office/powerpoint/2010/main" val="1347403675"/>
                  </p:ext>
                </p:extLst>
              </p:nvPr>
            </p:nvGraphicFramePr>
            <p:xfrm>
              <a:off x="7063622" y="1479755"/>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7"/>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7"/>
                          <a:stretch>
                            <a:fillRect t="-101053"/>
                          </a:stretch>
                        </a:blipFill>
                      </a:tcPr>
                    </a:tc>
                    <a:extLst>
                      <a:ext uri="{0D108BD9-81ED-4DB2-BD59-A6C34878D82A}">
                        <a16:rowId xmlns:a16="http://schemas.microsoft.com/office/drawing/2014/main" val="4132285909"/>
                      </a:ext>
                    </a:extLst>
                  </a:tr>
                </a:tbl>
              </a:graphicData>
            </a:graphic>
          </p:graphicFrame>
        </mc:Fallback>
      </mc:AlternateContent>
      <p:sp>
        <p:nvSpPr>
          <p:cNvPr id="13" name="矩形 12">
            <a:extLst>
              <a:ext uri="{FF2B5EF4-FFF2-40B4-BE49-F238E27FC236}">
                <a16:creationId xmlns:a16="http://schemas.microsoft.com/office/drawing/2014/main" id="{74187302-300E-4B3C-9008-22168F12DF75}"/>
              </a:ext>
            </a:extLst>
          </p:cNvPr>
          <p:cNvSpPr/>
          <p:nvPr/>
        </p:nvSpPr>
        <p:spPr>
          <a:xfrm>
            <a:off x="1361780" y="1479755"/>
            <a:ext cx="2189358" cy="1339645"/>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38A383FA-ED2B-4567-906D-D0B0DA038097}"/>
              </a:ext>
            </a:extLst>
          </p:cNvPr>
          <p:cNvSpPr txBox="1"/>
          <p:nvPr/>
        </p:nvSpPr>
        <p:spPr>
          <a:xfrm>
            <a:off x="1047750" y="2927555"/>
            <a:ext cx="5896166" cy="369332"/>
          </a:xfrm>
          <a:prstGeom prst="rect">
            <a:avLst/>
          </a:prstGeom>
          <a:noFill/>
        </p:spPr>
        <p:txBody>
          <a:bodyPr wrap="none" rtlCol="0">
            <a:spAutoFit/>
          </a:bodyPr>
          <a:lstStyle/>
          <a:p>
            <a:r>
              <a:rPr lang="zh-CN" altLang="en-US" dirty="0"/>
              <a:t>对于原始的矩阵</a:t>
            </a:r>
            <a:r>
              <a:rPr lang="en-US" altLang="zh-CN" dirty="0"/>
              <a:t>A</a:t>
            </a:r>
            <a:r>
              <a:rPr lang="zh-CN" altLang="en-US" dirty="0"/>
              <a:t>，需要计算框中基矩阵的逆，较为复杂</a:t>
            </a: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B209E2F0-E000-43CE-9BA2-DF5897D491F4}"/>
                  </a:ext>
                </a:extLst>
              </p:cNvPr>
              <p:cNvSpPr/>
              <p:nvPr/>
            </p:nvSpPr>
            <p:spPr>
              <a:xfrm>
                <a:off x="7088700" y="786825"/>
                <a:ext cx="528734" cy="6576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3200" b="0" i="1" dirty="0" smtClean="0">
                              <a:latin typeface="Cambria Math" panose="02040503050406030204" pitchFamily="18" charset="0"/>
                            </a:rPr>
                          </m:ctrlPr>
                        </m:accPr>
                        <m:e>
                          <m:r>
                            <a:rPr lang="en-US" altLang="zh-CN" sz="3200" i="1" dirty="0" smtClean="0">
                              <a:latin typeface="Cambria Math" panose="02040503050406030204" pitchFamily="18" charset="0"/>
                            </a:rPr>
                            <m:t>𝑏</m:t>
                          </m:r>
                        </m:e>
                      </m:acc>
                    </m:oMath>
                  </m:oMathPara>
                </a14:m>
                <a:endParaRPr lang="zh-CN" altLang="en-US" sz="3200" dirty="0"/>
              </a:p>
            </p:txBody>
          </p:sp>
        </mc:Choice>
        <mc:Fallback xmlns="">
          <p:sp>
            <p:nvSpPr>
              <p:cNvPr id="18" name="矩形 17">
                <a:extLst>
                  <a:ext uri="{FF2B5EF4-FFF2-40B4-BE49-F238E27FC236}">
                    <a16:creationId xmlns:a16="http://schemas.microsoft.com/office/drawing/2014/main" id="{B209E2F0-E000-43CE-9BA2-DF5897D491F4}"/>
                  </a:ext>
                </a:extLst>
              </p:cNvPr>
              <p:cNvSpPr>
                <a:spLocks noRot="1" noChangeAspect="1" noMove="1" noResize="1" noEditPoints="1" noAdjustHandles="1" noChangeArrowheads="1" noChangeShapeType="1" noTextEdit="1"/>
              </p:cNvSpPr>
              <p:nvPr/>
            </p:nvSpPr>
            <p:spPr>
              <a:xfrm>
                <a:off x="7088700" y="786825"/>
                <a:ext cx="528734" cy="657681"/>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575AA46-A84B-4109-AC2F-2A3AAB88C828}"/>
                  </a:ext>
                </a:extLst>
              </p:cNvPr>
              <p:cNvSpPr txBox="1"/>
              <p:nvPr/>
            </p:nvSpPr>
            <p:spPr>
              <a:xfrm>
                <a:off x="1103166" y="5137782"/>
                <a:ext cx="5638800" cy="646331"/>
              </a:xfrm>
              <a:prstGeom prst="rect">
                <a:avLst/>
              </a:prstGeom>
              <a:noFill/>
            </p:spPr>
            <p:txBody>
              <a:bodyPr wrap="square" rtlCol="0">
                <a:spAutoFit/>
              </a:bodyPr>
              <a:lstStyle/>
              <a:p>
                <a:r>
                  <a:rPr lang="zh-CN" altLang="en-US" dirty="0"/>
                  <a:t>这个是单纯形法的一个中间结果，当时以</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a:latin typeface="Cambria Math" panose="02040503050406030204" pitchFamily="18" charset="0"/>
                          </a:rPr>
                          <m:t>𝟏</m:t>
                        </m:r>
                      </m:sub>
                    </m:sSub>
                  </m:oMath>
                </a14:m>
                <a:r>
                  <a:rPr lang="zh-CN" altLang="en-US" dirty="0"/>
                  <a:t>和</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𝒙</m:t>
                        </m:r>
                      </m:e>
                      <m:sub>
                        <m:r>
                          <a:rPr lang="en-US" altLang="zh-CN" b="1" i="1" smtClean="0">
                            <a:latin typeface="Cambria Math" panose="02040503050406030204" pitchFamily="18" charset="0"/>
                          </a:rPr>
                          <m:t>𝟒</m:t>
                        </m:r>
                      </m:sub>
                    </m:sSub>
                  </m:oMath>
                </a14:m>
                <a:r>
                  <a:rPr lang="zh-CN" altLang="en-US" dirty="0"/>
                  <a:t>为基变量。只要把第二列通过高斯消元化成</a:t>
                </a:r>
                <a:r>
                  <a:rPr lang="en-US" altLang="zh-CN" dirty="0"/>
                  <a:t>[0 1]</a:t>
                </a:r>
                <a:r>
                  <a:rPr lang="zh-CN" altLang="en-US" dirty="0"/>
                  <a:t>即可</a:t>
                </a:r>
              </a:p>
            </p:txBody>
          </p:sp>
        </mc:Choice>
        <mc:Fallback xmlns="">
          <p:sp>
            <p:nvSpPr>
              <p:cNvPr id="19" name="文本框 18">
                <a:extLst>
                  <a:ext uri="{FF2B5EF4-FFF2-40B4-BE49-F238E27FC236}">
                    <a16:creationId xmlns:a16="http://schemas.microsoft.com/office/drawing/2014/main" id="{6575AA46-A84B-4109-AC2F-2A3AAB88C828}"/>
                  </a:ext>
                </a:extLst>
              </p:cNvPr>
              <p:cNvSpPr txBox="1">
                <a:spLocks noRot="1" noChangeAspect="1" noMove="1" noResize="1" noEditPoints="1" noAdjustHandles="1" noChangeArrowheads="1" noChangeShapeType="1" noTextEdit="1"/>
              </p:cNvSpPr>
              <p:nvPr/>
            </p:nvSpPr>
            <p:spPr>
              <a:xfrm>
                <a:off x="1103166" y="5137782"/>
                <a:ext cx="5638800" cy="646331"/>
              </a:xfrm>
              <a:prstGeom prst="rect">
                <a:avLst/>
              </a:prstGeom>
              <a:blipFill>
                <a:blip r:embed="rId9"/>
                <a:stretch>
                  <a:fillRect l="-973" t="-7547" b="-15094"/>
                </a:stretch>
              </a:blipFill>
            </p:spPr>
            <p:txBody>
              <a:bodyPr/>
              <a:lstStyle/>
              <a:p>
                <a:r>
                  <a:rPr lang="zh-CN" altLang="en-US">
                    <a:noFill/>
                  </a:rPr>
                  <a:t> </a:t>
                </a:r>
              </a:p>
            </p:txBody>
          </p:sp>
        </mc:Fallback>
      </mc:AlternateContent>
      <p:graphicFrame>
        <p:nvGraphicFramePr>
          <p:cNvPr id="20" name="内容占位符 3">
            <a:extLst>
              <a:ext uri="{FF2B5EF4-FFF2-40B4-BE49-F238E27FC236}">
                <a16:creationId xmlns:a16="http://schemas.microsoft.com/office/drawing/2014/main" id="{8C2106FE-4CD6-4C97-A968-E75E06B4FE5C}"/>
              </a:ext>
            </a:extLst>
          </p:cNvPr>
          <p:cNvGraphicFramePr>
            <a:graphicFrameLocks/>
          </p:cNvGraphicFramePr>
          <p:nvPr>
            <p:extLst>
              <p:ext uri="{D42A27DB-BD31-4B8C-83A1-F6EECF244321}">
                <p14:modId xmlns:p14="http://schemas.microsoft.com/office/powerpoint/2010/main" val="1429561672"/>
              </p:ext>
            </p:extLst>
          </p:nvPr>
        </p:nvGraphicFramePr>
        <p:xfrm>
          <a:off x="950339" y="3497519"/>
          <a:ext cx="5873752" cy="1541144"/>
        </p:xfrm>
        <a:graphic>
          <a:graphicData uri="http://schemas.openxmlformats.org/drawingml/2006/table">
            <a:tbl>
              <a:tblPr firstRow="1" bandRow="1">
                <a:tableStyleId>{5C22544A-7EE6-4342-B048-85BDC9FD1C3A}</a:tableStyleId>
              </a:tblPr>
              <a:tblGrid>
                <a:gridCol w="1468438">
                  <a:extLst>
                    <a:ext uri="{9D8B030D-6E8A-4147-A177-3AD203B41FA5}">
                      <a16:colId xmlns:a16="http://schemas.microsoft.com/office/drawing/2014/main" val="194517144"/>
                    </a:ext>
                  </a:extLst>
                </a:gridCol>
                <a:gridCol w="1468438">
                  <a:extLst>
                    <a:ext uri="{9D8B030D-6E8A-4147-A177-3AD203B41FA5}">
                      <a16:colId xmlns:a16="http://schemas.microsoft.com/office/drawing/2014/main" val="262937075"/>
                    </a:ext>
                  </a:extLst>
                </a:gridCol>
                <a:gridCol w="1468438">
                  <a:extLst>
                    <a:ext uri="{9D8B030D-6E8A-4147-A177-3AD203B41FA5}">
                      <a16:colId xmlns:a16="http://schemas.microsoft.com/office/drawing/2014/main" val="1809024897"/>
                    </a:ext>
                  </a:extLst>
                </a:gridCol>
                <a:gridCol w="1468438">
                  <a:extLst>
                    <a:ext uri="{9D8B030D-6E8A-4147-A177-3AD203B41FA5}">
                      <a16:colId xmlns:a16="http://schemas.microsoft.com/office/drawing/2014/main" val="1127211881"/>
                    </a:ext>
                  </a:extLst>
                </a:gridCol>
              </a:tblGrid>
              <a:tr h="763588">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1/2</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1/2</a:t>
                      </a:r>
                      <a:endParaRPr lang="zh-CN" altLang="en-US" sz="39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763588">
                <a:tc>
                  <a:txBody>
                    <a:bodyPr/>
                    <a:lstStyle/>
                    <a:p>
                      <a:pPr algn="ctr"/>
                      <a:r>
                        <a:rPr lang="en-US" altLang="zh-CN" sz="3900" b="1" dirty="0">
                          <a:solidFill>
                            <a:schemeClr val="tx1"/>
                          </a:solidFill>
                        </a:rPr>
                        <a:t>0</a:t>
                      </a:r>
                      <a:endParaRPr lang="zh-CN" altLang="en-US" sz="39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[3/2]</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-1/2</a:t>
                      </a:r>
                      <a:endParaRPr lang="zh-CN" altLang="en-US" sz="39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3900" b="1" dirty="0">
                          <a:solidFill>
                            <a:schemeClr val="tx1"/>
                          </a:solidFill>
                        </a:rPr>
                        <a:t>1</a:t>
                      </a:r>
                      <a:endParaRPr lang="zh-CN" altLang="en-US" sz="39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bl>
          </a:graphicData>
        </a:graphic>
      </p:graphicFrame>
      <mc:AlternateContent xmlns:mc="http://schemas.openxmlformats.org/markup-compatibility/2006" xmlns:a14="http://schemas.microsoft.com/office/drawing/2010/main">
        <mc:Choice Requires="a14">
          <p:graphicFrame>
            <p:nvGraphicFramePr>
              <p:cNvPr id="21" name="表格 20">
                <a:extLst>
                  <a:ext uri="{FF2B5EF4-FFF2-40B4-BE49-F238E27FC236}">
                    <a16:creationId xmlns:a16="http://schemas.microsoft.com/office/drawing/2014/main" id="{9D974989-9789-432A-BB28-200545025DC8}"/>
                  </a:ext>
                </a:extLst>
              </p:cNvPr>
              <p:cNvGraphicFramePr>
                <a:graphicFrameLocks noGrp="1"/>
              </p:cNvGraphicFramePr>
              <p:nvPr>
                <p:extLst>
                  <p:ext uri="{D42A27DB-BD31-4B8C-83A1-F6EECF244321}">
                    <p14:modId xmlns:p14="http://schemas.microsoft.com/office/powerpoint/2010/main" val="146981472"/>
                  </p:ext>
                </p:extLst>
              </p:nvPr>
            </p:nvGraphicFramePr>
            <p:xfrm>
              <a:off x="35939" y="3605674"/>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𝟏</m:t>
                                    </m:r>
                                  </m:sub>
                                </m:sSub>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3200" b="1" i="1" smtClean="0">
                                        <a:solidFill>
                                          <a:schemeClr val="tx1"/>
                                        </a:solidFill>
                                        <a:latin typeface="Cambria Math" panose="02040503050406030204" pitchFamily="18" charset="0"/>
                                      </a:rPr>
                                    </m:ctrlPr>
                                  </m:sSubPr>
                                  <m:e>
                                    <m:r>
                                      <a:rPr lang="en-US" altLang="zh-CN" sz="3200" b="1" i="1" smtClean="0">
                                        <a:solidFill>
                                          <a:schemeClr val="tx1"/>
                                        </a:solidFill>
                                        <a:latin typeface="Cambria Math" panose="02040503050406030204" pitchFamily="18" charset="0"/>
                                      </a:rPr>
                                      <m:t>𝒙</m:t>
                                    </m:r>
                                  </m:e>
                                  <m:sub>
                                    <m:r>
                                      <a:rPr lang="en-US" altLang="zh-CN" sz="3200" b="1" i="1" smtClean="0">
                                        <a:solidFill>
                                          <a:schemeClr val="tx1"/>
                                        </a:solidFill>
                                        <a:latin typeface="Cambria Math" panose="02040503050406030204" pitchFamily="18" charset="0"/>
                                      </a:rPr>
                                      <m:t>𝟒</m:t>
                                    </m:r>
                                  </m:sub>
                                </m:sSub>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21" name="表格 20">
                <a:extLst>
                  <a:ext uri="{FF2B5EF4-FFF2-40B4-BE49-F238E27FC236}">
                    <a16:creationId xmlns:a16="http://schemas.microsoft.com/office/drawing/2014/main" id="{9D974989-9789-432A-BB28-200545025DC8}"/>
                  </a:ext>
                </a:extLst>
              </p:cNvPr>
              <p:cNvGraphicFramePr>
                <a:graphicFrameLocks noGrp="1"/>
              </p:cNvGraphicFramePr>
              <p:nvPr>
                <p:extLst>
                  <p:ext uri="{D42A27DB-BD31-4B8C-83A1-F6EECF244321}">
                    <p14:modId xmlns:p14="http://schemas.microsoft.com/office/powerpoint/2010/main" val="146981472"/>
                  </p:ext>
                </p:extLst>
              </p:nvPr>
            </p:nvGraphicFramePr>
            <p:xfrm>
              <a:off x="35939" y="3605674"/>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10"/>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10"/>
                          <a:stretch>
                            <a:fillRect t="-101053"/>
                          </a:stretch>
                        </a:blipFill>
                      </a:tcPr>
                    </a:tc>
                    <a:extLst>
                      <a:ext uri="{0D108BD9-81ED-4DB2-BD59-A6C34878D82A}">
                        <a16:rowId xmlns:a16="http://schemas.microsoft.com/office/drawing/2014/main" val="413228590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2" name="表格 21">
                <a:extLst>
                  <a:ext uri="{FF2B5EF4-FFF2-40B4-BE49-F238E27FC236}">
                    <a16:creationId xmlns:a16="http://schemas.microsoft.com/office/drawing/2014/main" id="{5D1496B2-5D06-448F-98AA-A6BA96FEC184}"/>
                  </a:ext>
                </a:extLst>
              </p:cNvPr>
              <p:cNvGraphicFramePr>
                <a:graphicFrameLocks noGrp="1"/>
              </p:cNvGraphicFramePr>
              <p:nvPr>
                <p:extLst>
                  <p:ext uri="{D42A27DB-BD31-4B8C-83A1-F6EECF244321}">
                    <p14:modId xmlns:p14="http://schemas.microsoft.com/office/powerpoint/2010/main" val="594588948"/>
                  </p:ext>
                </p:extLst>
              </p:nvPr>
            </p:nvGraphicFramePr>
            <p:xfrm>
              <a:off x="7028271" y="3605674"/>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𝟔</m:t>
                                </m:r>
                              </m:oMath>
                            </m:oMathPara>
                          </a14:m>
                          <a:endParaRPr lang="zh-CN" altLang="en-US" sz="20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r>
                                  <a:rPr lang="en-US" altLang="zh-CN" sz="3200" b="1" i="1" smtClean="0">
                                    <a:solidFill>
                                      <a:schemeClr val="tx1"/>
                                    </a:solidFill>
                                    <a:latin typeface="Cambria Math" panose="02040503050406030204" pitchFamily="18" charset="0"/>
                                  </a:rPr>
                                  <m:t>𝟑</m:t>
                                </m:r>
                              </m:oMath>
                            </m:oMathPara>
                          </a14:m>
                          <a:endParaRPr lang="zh-CN" altLang="en-US" sz="32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22" name="表格 21">
                <a:extLst>
                  <a:ext uri="{FF2B5EF4-FFF2-40B4-BE49-F238E27FC236}">
                    <a16:creationId xmlns:a16="http://schemas.microsoft.com/office/drawing/2014/main" id="{5D1496B2-5D06-448F-98AA-A6BA96FEC184}"/>
                  </a:ext>
                </a:extLst>
              </p:cNvPr>
              <p:cNvGraphicFramePr>
                <a:graphicFrameLocks noGrp="1"/>
              </p:cNvGraphicFramePr>
              <p:nvPr>
                <p:extLst>
                  <p:ext uri="{D42A27DB-BD31-4B8C-83A1-F6EECF244321}">
                    <p14:modId xmlns:p14="http://schemas.microsoft.com/office/powerpoint/2010/main" val="594588948"/>
                  </p:ext>
                </p:extLst>
              </p:nvPr>
            </p:nvGraphicFramePr>
            <p:xfrm>
              <a:off x="7028271" y="3605674"/>
              <a:ext cx="762000" cy="11582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579120">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11"/>
                          <a:stretch>
                            <a:fillRect b="-98958"/>
                          </a:stretch>
                        </a:blipFill>
                      </a:tcPr>
                    </a:tc>
                    <a:extLst>
                      <a:ext uri="{0D108BD9-81ED-4DB2-BD59-A6C34878D82A}">
                        <a16:rowId xmlns:a16="http://schemas.microsoft.com/office/drawing/2014/main" val="4276338532"/>
                      </a:ext>
                    </a:extLst>
                  </a:tr>
                  <a:tr h="579120">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11"/>
                          <a:stretch>
                            <a:fillRect t="-101053"/>
                          </a:stretch>
                        </a:blipFill>
                      </a:tcPr>
                    </a:tc>
                    <a:extLst>
                      <a:ext uri="{0D108BD9-81ED-4DB2-BD59-A6C34878D82A}">
                        <a16:rowId xmlns:a16="http://schemas.microsoft.com/office/drawing/2014/main" val="4132285909"/>
                      </a:ext>
                    </a:extLst>
                  </a:tr>
                </a:tbl>
              </a:graphicData>
            </a:graphic>
          </p:graphicFrame>
        </mc:Fallback>
      </mc:AlternateContent>
      <p:sp>
        <p:nvSpPr>
          <p:cNvPr id="25" name="文本框 24">
            <a:extLst>
              <a:ext uri="{FF2B5EF4-FFF2-40B4-BE49-F238E27FC236}">
                <a16:creationId xmlns:a16="http://schemas.microsoft.com/office/drawing/2014/main" id="{DAA811FB-16E9-45CC-99B0-18836ECEEE79}"/>
              </a:ext>
            </a:extLst>
          </p:cNvPr>
          <p:cNvSpPr txBox="1"/>
          <p:nvPr/>
        </p:nvSpPr>
        <p:spPr>
          <a:xfrm>
            <a:off x="7180567" y="4665686"/>
            <a:ext cx="1659429" cy="369332"/>
          </a:xfrm>
          <a:prstGeom prst="rect">
            <a:avLst/>
          </a:prstGeom>
          <a:noFill/>
        </p:spPr>
        <p:txBody>
          <a:bodyPr wrap="none" rtlCol="0">
            <a:spAutoFit/>
          </a:bodyPr>
          <a:lstStyle/>
          <a:p>
            <a:r>
              <a:rPr lang="zh-CN" altLang="en-US" dirty="0"/>
              <a:t>第二行除以</a:t>
            </a:r>
            <a:r>
              <a:rPr lang="en-US" altLang="zh-CN" dirty="0"/>
              <a:t>3/2</a:t>
            </a:r>
            <a:endParaRPr lang="zh-CN" altLang="en-US" dirty="0"/>
          </a:p>
        </p:txBody>
      </p:sp>
      <p:sp>
        <p:nvSpPr>
          <p:cNvPr id="33" name="文本框 32">
            <a:extLst>
              <a:ext uri="{FF2B5EF4-FFF2-40B4-BE49-F238E27FC236}">
                <a16:creationId xmlns:a16="http://schemas.microsoft.com/office/drawing/2014/main" id="{4D3AA415-2E42-4EDF-9EB8-F36DAD1222B6}"/>
              </a:ext>
            </a:extLst>
          </p:cNvPr>
          <p:cNvSpPr txBox="1"/>
          <p:nvPr/>
        </p:nvSpPr>
        <p:spPr>
          <a:xfrm>
            <a:off x="7180567" y="3144009"/>
            <a:ext cx="1831366" cy="646331"/>
          </a:xfrm>
          <a:prstGeom prst="rect">
            <a:avLst/>
          </a:prstGeom>
          <a:noFill/>
        </p:spPr>
        <p:txBody>
          <a:bodyPr wrap="square" rtlCol="0">
            <a:spAutoFit/>
          </a:bodyPr>
          <a:lstStyle/>
          <a:p>
            <a:r>
              <a:rPr lang="zh-CN" altLang="en-US" dirty="0"/>
              <a:t>第一行</a:t>
            </a:r>
            <a:r>
              <a:rPr lang="en-US" altLang="zh-CN" dirty="0"/>
              <a:t>-</a:t>
            </a:r>
            <a:r>
              <a:rPr lang="zh-CN" altLang="en-US" dirty="0"/>
              <a:t>第二行除以</a:t>
            </a:r>
            <a:r>
              <a:rPr lang="en-US" altLang="zh-CN" dirty="0"/>
              <a:t>3/2 </a:t>
            </a:r>
            <a:r>
              <a:rPr lang="zh-CN" altLang="en-US" dirty="0"/>
              <a:t>乘以</a:t>
            </a:r>
            <a:r>
              <a:rPr lang="en-US" altLang="zh-CN" dirty="0"/>
              <a:t>1/2</a:t>
            </a:r>
            <a:endParaRPr lang="zh-CN" altLang="en-US" dirty="0"/>
          </a:p>
        </p:txBody>
      </p:sp>
      <p:graphicFrame>
        <p:nvGraphicFramePr>
          <p:cNvPr id="34" name="内容占位符 3">
            <a:extLst>
              <a:ext uri="{FF2B5EF4-FFF2-40B4-BE49-F238E27FC236}">
                <a16:creationId xmlns:a16="http://schemas.microsoft.com/office/drawing/2014/main" id="{E256F8C8-9E1D-4AED-9CA6-B4D54AA87860}"/>
              </a:ext>
            </a:extLst>
          </p:cNvPr>
          <p:cNvGraphicFramePr>
            <a:graphicFrameLocks/>
          </p:cNvGraphicFramePr>
          <p:nvPr>
            <p:extLst>
              <p:ext uri="{D42A27DB-BD31-4B8C-83A1-F6EECF244321}">
                <p14:modId xmlns:p14="http://schemas.microsoft.com/office/powerpoint/2010/main" val="1263413122"/>
              </p:ext>
            </p:extLst>
          </p:nvPr>
        </p:nvGraphicFramePr>
        <p:xfrm>
          <a:off x="3140806" y="5890651"/>
          <a:ext cx="3240664" cy="840104"/>
        </p:xfrm>
        <a:graphic>
          <a:graphicData uri="http://schemas.openxmlformats.org/drawingml/2006/table">
            <a:tbl>
              <a:tblPr firstRow="1" bandRow="1">
                <a:tableStyleId>{5C22544A-7EE6-4342-B048-85BDC9FD1C3A}</a:tableStyleId>
              </a:tblPr>
              <a:tblGrid>
                <a:gridCol w="810166">
                  <a:extLst>
                    <a:ext uri="{9D8B030D-6E8A-4147-A177-3AD203B41FA5}">
                      <a16:colId xmlns:a16="http://schemas.microsoft.com/office/drawing/2014/main" val="194517144"/>
                    </a:ext>
                  </a:extLst>
                </a:gridCol>
                <a:gridCol w="810166">
                  <a:extLst>
                    <a:ext uri="{9D8B030D-6E8A-4147-A177-3AD203B41FA5}">
                      <a16:colId xmlns:a16="http://schemas.microsoft.com/office/drawing/2014/main" val="262937075"/>
                    </a:ext>
                  </a:extLst>
                </a:gridCol>
                <a:gridCol w="810166">
                  <a:extLst>
                    <a:ext uri="{9D8B030D-6E8A-4147-A177-3AD203B41FA5}">
                      <a16:colId xmlns:a16="http://schemas.microsoft.com/office/drawing/2014/main" val="1809024897"/>
                    </a:ext>
                  </a:extLst>
                </a:gridCol>
                <a:gridCol w="810166">
                  <a:extLst>
                    <a:ext uri="{9D8B030D-6E8A-4147-A177-3AD203B41FA5}">
                      <a16:colId xmlns:a16="http://schemas.microsoft.com/office/drawing/2014/main" val="1127211881"/>
                    </a:ext>
                  </a:extLst>
                </a:gridCol>
              </a:tblGrid>
              <a:tr h="321969">
                <a:tc>
                  <a:txBody>
                    <a:bodyPr/>
                    <a:lstStyle/>
                    <a:p>
                      <a:pPr algn="ctr"/>
                      <a:r>
                        <a:rPr lang="en-US" altLang="zh-CN" sz="1600" b="1" dirty="0">
                          <a:solidFill>
                            <a:schemeClr val="tx1"/>
                          </a:solidFill>
                        </a:rPr>
                        <a:t>1</a:t>
                      </a:r>
                      <a:endParaRPr lang="zh-CN" altLang="en-US" sz="16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1600" b="1" dirty="0">
                          <a:solidFill>
                            <a:schemeClr val="tx1"/>
                          </a:solidFill>
                        </a:rPr>
                        <a:t>1/2</a:t>
                      </a:r>
                      <a:endParaRPr lang="zh-CN" altLang="en-US" sz="16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1600" b="1" dirty="0">
                          <a:solidFill>
                            <a:schemeClr val="tx1"/>
                          </a:solidFill>
                        </a:rPr>
                        <a:t>1/2</a:t>
                      </a:r>
                      <a:endParaRPr lang="zh-CN" altLang="en-US" sz="1600" b="1"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1600" b="1" dirty="0">
                          <a:solidFill>
                            <a:schemeClr val="tx1"/>
                          </a:solidFill>
                        </a:rPr>
                        <a:t>0</a:t>
                      </a:r>
                      <a:endParaRPr lang="zh-CN" altLang="en-US" sz="16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321969">
                <a:tc>
                  <a:txBody>
                    <a:bodyPr/>
                    <a:lstStyle/>
                    <a:p>
                      <a:pPr algn="ctr"/>
                      <a:r>
                        <a:rPr lang="en-US" altLang="zh-CN" sz="1600" b="1" dirty="0">
                          <a:solidFill>
                            <a:schemeClr val="tx1"/>
                          </a:solidFill>
                        </a:rPr>
                        <a:t>0</a:t>
                      </a:r>
                      <a:endParaRPr lang="zh-CN" altLang="en-US" sz="16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solidFill>
                            <a:schemeClr val="tx1"/>
                          </a:solidFill>
                        </a:rPr>
                        <a:t>[3/2]</a:t>
                      </a:r>
                      <a:endParaRPr lang="zh-CN" altLang="en-US" sz="16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solidFill>
                            <a:schemeClr val="tx1"/>
                          </a:solidFill>
                        </a:rPr>
                        <a:t>-1/2</a:t>
                      </a:r>
                      <a:endParaRPr lang="zh-CN" altLang="en-US" sz="1600" b="1"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solidFill>
                            <a:schemeClr val="tx1"/>
                          </a:solidFill>
                        </a:rPr>
                        <a:t>1</a:t>
                      </a:r>
                      <a:endParaRPr lang="zh-CN" altLang="en-US" sz="16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bl>
          </a:graphicData>
        </a:graphic>
      </p:graphicFrame>
      <mc:AlternateContent xmlns:mc="http://schemas.openxmlformats.org/markup-compatibility/2006" xmlns:a14="http://schemas.microsoft.com/office/drawing/2010/main">
        <mc:Choice Requires="a14">
          <p:graphicFrame>
            <p:nvGraphicFramePr>
              <p:cNvPr id="35" name="表格 34">
                <a:extLst>
                  <a:ext uri="{FF2B5EF4-FFF2-40B4-BE49-F238E27FC236}">
                    <a16:creationId xmlns:a16="http://schemas.microsoft.com/office/drawing/2014/main" id="{F629857C-907E-4D90-B540-DD2BAA380EFB}"/>
                  </a:ext>
                </a:extLst>
              </p:cNvPr>
              <p:cNvGraphicFramePr>
                <a:graphicFrameLocks noGrp="1"/>
              </p:cNvGraphicFramePr>
              <p:nvPr>
                <p:extLst>
                  <p:ext uri="{D42A27DB-BD31-4B8C-83A1-F6EECF244321}">
                    <p14:modId xmlns:p14="http://schemas.microsoft.com/office/powerpoint/2010/main" val="2709403507"/>
                  </p:ext>
                </p:extLst>
              </p:nvPr>
            </p:nvGraphicFramePr>
            <p:xfrm>
              <a:off x="6181916" y="5883232"/>
              <a:ext cx="762000" cy="78541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𝟔</m:t>
                                </m:r>
                              </m:oMath>
                            </m:oMathPara>
                          </a14:m>
                          <a:endParaRPr lang="zh-CN" altLang="en-US" sz="1200" b="1"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6338532"/>
                      </a:ext>
                    </a:extLst>
                  </a:tr>
                  <a:tr h="392709">
                    <a:tc>
                      <a:txBody>
                        <a:bodyPr/>
                        <a:lstStyle/>
                        <a:p>
                          <a:pPr algn="ct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𝟑</m:t>
                                </m:r>
                              </m:oMath>
                            </m:oMathPara>
                          </a14:m>
                          <a:endParaRPr lang="zh-CN" altLang="en-US" sz="1800" b="1"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32285909"/>
                      </a:ext>
                    </a:extLst>
                  </a:tr>
                </a:tbl>
              </a:graphicData>
            </a:graphic>
          </p:graphicFrame>
        </mc:Choice>
        <mc:Fallback xmlns="">
          <p:graphicFrame>
            <p:nvGraphicFramePr>
              <p:cNvPr id="35" name="表格 34">
                <a:extLst>
                  <a:ext uri="{FF2B5EF4-FFF2-40B4-BE49-F238E27FC236}">
                    <a16:creationId xmlns:a16="http://schemas.microsoft.com/office/drawing/2014/main" id="{F629857C-907E-4D90-B540-DD2BAA380EFB}"/>
                  </a:ext>
                </a:extLst>
              </p:cNvPr>
              <p:cNvGraphicFramePr>
                <a:graphicFrameLocks noGrp="1"/>
              </p:cNvGraphicFramePr>
              <p:nvPr>
                <p:extLst>
                  <p:ext uri="{D42A27DB-BD31-4B8C-83A1-F6EECF244321}">
                    <p14:modId xmlns:p14="http://schemas.microsoft.com/office/powerpoint/2010/main" val="2709403507"/>
                  </p:ext>
                </p:extLst>
              </p:nvPr>
            </p:nvGraphicFramePr>
            <p:xfrm>
              <a:off x="6181916" y="5883232"/>
              <a:ext cx="762000" cy="78541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83828263"/>
                        </a:ext>
                      </a:extLst>
                    </a:gridCol>
                  </a:tblGrid>
                  <a:tr h="392709">
                    <a:tc>
                      <a:txBody>
                        <a:bodyPr/>
                        <a:lstStyle/>
                        <a:p>
                          <a:endParaRPr lang="zh-CN"/>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12"/>
                          <a:stretch>
                            <a:fillRect b="-98462"/>
                          </a:stretch>
                        </a:blipFill>
                      </a:tcPr>
                    </a:tc>
                    <a:extLst>
                      <a:ext uri="{0D108BD9-81ED-4DB2-BD59-A6C34878D82A}">
                        <a16:rowId xmlns:a16="http://schemas.microsoft.com/office/drawing/2014/main" val="4276338532"/>
                      </a:ext>
                    </a:extLst>
                  </a:tr>
                  <a:tr h="392709">
                    <a:tc>
                      <a:txBody>
                        <a:bodyPr/>
                        <a:lstStyle/>
                        <a:p>
                          <a:endParaRPr lang="zh-CN"/>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12"/>
                          <a:stretch>
                            <a:fillRect t="-101563"/>
                          </a:stretch>
                        </a:blipFill>
                      </a:tcPr>
                    </a:tc>
                    <a:extLst>
                      <a:ext uri="{0D108BD9-81ED-4DB2-BD59-A6C34878D82A}">
                        <a16:rowId xmlns:a16="http://schemas.microsoft.com/office/drawing/2014/main" val="413228590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内容占位符 3">
                <a:extLst>
                  <a:ext uri="{FF2B5EF4-FFF2-40B4-BE49-F238E27FC236}">
                    <a16:creationId xmlns:a16="http://schemas.microsoft.com/office/drawing/2014/main" id="{9F0181BC-38A3-4767-B599-E3B6F6DB333B}"/>
                  </a:ext>
                </a:extLst>
              </p:cNvPr>
              <p:cNvGraphicFramePr>
                <a:graphicFrameLocks/>
              </p:cNvGraphicFramePr>
              <p:nvPr>
                <p:extLst>
                  <p:ext uri="{D42A27DB-BD31-4B8C-83A1-F6EECF244321}">
                    <p14:modId xmlns:p14="http://schemas.microsoft.com/office/powerpoint/2010/main" val="719420905"/>
                  </p:ext>
                </p:extLst>
              </p:nvPr>
            </p:nvGraphicFramePr>
            <p:xfrm>
              <a:off x="1199859" y="5733311"/>
              <a:ext cx="1913452" cy="1104836"/>
            </p:xfrm>
            <a:graphic>
              <a:graphicData uri="http://schemas.openxmlformats.org/drawingml/2006/table">
                <a:tbl>
                  <a:tblPr firstRow="1" bandRow="1">
                    <a:tableStyleId>{5C22544A-7EE6-4342-B048-85BDC9FD1C3A}</a:tableStyleId>
                  </a:tblPr>
                  <a:tblGrid>
                    <a:gridCol w="956726">
                      <a:extLst>
                        <a:ext uri="{9D8B030D-6E8A-4147-A177-3AD203B41FA5}">
                          <a16:colId xmlns:a16="http://schemas.microsoft.com/office/drawing/2014/main" val="194517144"/>
                        </a:ext>
                      </a:extLst>
                    </a:gridCol>
                    <a:gridCol w="956726">
                      <a:extLst>
                        <a:ext uri="{9D8B030D-6E8A-4147-A177-3AD203B41FA5}">
                          <a16:colId xmlns:a16="http://schemas.microsoft.com/office/drawing/2014/main" val="262937075"/>
                        </a:ext>
                      </a:extLst>
                    </a:gridCol>
                  </a:tblGrid>
                  <a:tr h="421586">
                    <a:tc>
                      <a:txBody>
                        <a:bodyPr/>
                        <a:lstStyle/>
                        <a:p>
                          <a:pPr algn="ctr"/>
                          <a:r>
                            <a:rPr lang="en-US" altLang="zh-CN" sz="1600" b="1" dirty="0">
                              <a:solidFill>
                                <a:schemeClr val="tx1"/>
                              </a:solidFill>
                            </a:rPr>
                            <a:t>1</a:t>
                          </a:r>
                          <a:endParaRPr lang="zh-CN" altLang="en-US" sz="16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r>
                                  <a:rPr lang="en-US" altLang="zh-CN" sz="1200" b="1" i="1" smtClean="0">
                                    <a:solidFill>
                                      <a:schemeClr val="tx1"/>
                                    </a:solidFill>
                                    <a:latin typeface="Cambria Math" panose="02040503050406030204" pitchFamily="18" charset="0"/>
                                  </a:rPr>
                                  <m:t>−</m:t>
                                </m:r>
                                <m:f>
                                  <m:fPr>
                                    <m:ctrlPr>
                                      <a:rPr lang="en-US" altLang="zh-CN" sz="1200" b="1" i="1" smtClean="0">
                                        <a:solidFill>
                                          <a:schemeClr val="tx1"/>
                                        </a:solidFill>
                                        <a:latin typeface="Cambria Math" panose="02040503050406030204" pitchFamily="18" charset="0"/>
                                      </a:rPr>
                                    </m:ctrlPr>
                                  </m:fPr>
                                  <m:num>
                                    <m:r>
                                      <a:rPr lang="en-US" altLang="zh-CN" sz="1200" b="1" i="1" smtClean="0">
                                        <a:solidFill>
                                          <a:schemeClr val="tx1"/>
                                        </a:solidFill>
                                        <a:latin typeface="Cambria Math" panose="02040503050406030204" pitchFamily="18" charset="0"/>
                                      </a:rPr>
                                      <m:t>𝟏</m:t>
                                    </m:r>
                                    <m:r>
                                      <a:rPr lang="en-US" altLang="zh-CN" sz="1200" b="1" i="1" smtClean="0">
                                        <a:solidFill>
                                          <a:schemeClr val="tx1"/>
                                        </a:solidFill>
                                        <a:latin typeface="Cambria Math" panose="02040503050406030204" pitchFamily="18" charset="0"/>
                                      </a:rPr>
                                      <m:t>/</m:t>
                                    </m:r>
                                    <m:r>
                                      <a:rPr lang="en-US" altLang="zh-CN" sz="1200" b="1" i="1" smtClean="0">
                                        <a:solidFill>
                                          <a:schemeClr val="tx1"/>
                                        </a:solidFill>
                                        <a:latin typeface="Cambria Math" panose="02040503050406030204" pitchFamily="18" charset="0"/>
                                      </a:rPr>
                                      <m:t>𝟐</m:t>
                                    </m:r>
                                  </m:num>
                                  <m:den>
                                    <m:r>
                                      <a:rPr lang="en-US" altLang="zh-CN" sz="1200" b="1" i="1" smtClean="0">
                                        <a:solidFill>
                                          <a:schemeClr val="tx1"/>
                                        </a:solidFill>
                                        <a:latin typeface="Cambria Math" panose="02040503050406030204" pitchFamily="18" charset="0"/>
                                      </a:rPr>
                                      <m:t>𝟑</m:t>
                                    </m:r>
                                    <m:r>
                                      <a:rPr lang="en-US" altLang="zh-CN" sz="1200" b="1" i="1" smtClean="0">
                                        <a:solidFill>
                                          <a:schemeClr val="tx1"/>
                                        </a:solidFill>
                                        <a:latin typeface="Cambria Math" panose="02040503050406030204" pitchFamily="18" charset="0"/>
                                      </a:rPr>
                                      <m:t>/</m:t>
                                    </m:r>
                                    <m:r>
                                      <a:rPr lang="en-US" altLang="zh-CN" sz="1200" b="1" i="1" smtClean="0">
                                        <a:solidFill>
                                          <a:schemeClr val="tx1"/>
                                        </a:solidFill>
                                        <a:latin typeface="Cambria Math" panose="02040503050406030204" pitchFamily="18" charset="0"/>
                                      </a:rPr>
                                      <m:t>𝟐</m:t>
                                    </m:r>
                                  </m:den>
                                </m:f>
                              </m:oMath>
                            </m:oMathPara>
                          </a14:m>
                          <a:endParaRPr lang="zh-CN" altLang="en-US" sz="12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418518">
                    <a:tc>
                      <a:txBody>
                        <a:bodyPr/>
                        <a:lstStyle/>
                        <a:p>
                          <a:pPr algn="ctr"/>
                          <a:r>
                            <a:rPr lang="en-US" altLang="zh-CN" sz="1600" b="1" dirty="0">
                              <a:solidFill>
                                <a:schemeClr val="tx1"/>
                              </a:solidFill>
                            </a:rPr>
                            <a:t>0</a:t>
                          </a:r>
                          <a:endParaRPr lang="zh-CN" altLang="en-US" sz="16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CN" sz="1200" b="1" i="1" smtClean="0">
                                        <a:solidFill>
                                          <a:schemeClr val="tx1"/>
                                        </a:solidFill>
                                        <a:latin typeface="Cambria Math" panose="02040503050406030204" pitchFamily="18" charset="0"/>
                                      </a:rPr>
                                    </m:ctrlPr>
                                  </m:fPr>
                                  <m:num>
                                    <m:r>
                                      <a:rPr lang="en-US" altLang="zh-CN" sz="1200" b="1" i="1" smtClean="0">
                                        <a:solidFill>
                                          <a:schemeClr val="tx1"/>
                                        </a:solidFill>
                                        <a:latin typeface="Cambria Math" panose="02040503050406030204" pitchFamily="18" charset="0"/>
                                      </a:rPr>
                                      <m:t>𝟏</m:t>
                                    </m:r>
                                  </m:num>
                                  <m:den>
                                    <m:r>
                                      <a:rPr lang="en-US" altLang="zh-CN" sz="1200" b="1" i="1" smtClean="0">
                                        <a:solidFill>
                                          <a:schemeClr val="tx1"/>
                                        </a:solidFill>
                                        <a:latin typeface="Cambria Math" panose="02040503050406030204" pitchFamily="18" charset="0"/>
                                      </a:rPr>
                                      <m:t>𝟑</m:t>
                                    </m:r>
                                    <m:r>
                                      <a:rPr lang="en-US" altLang="zh-CN" sz="1200" b="1" i="1" smtClean="0">
                                        <a:solidFill>
                                          <a:schemeClr val="tx1"/>
                                        </a:solidFill>
                                        <a:latin typeface="Cambria Math" panose="02040503050406030204" pitchFamily="18" charset="0"/>
                                      </a:rPr>
                                      <m:t>/</m:t>
                                    </m:r>
                                    <m:r>
                                      <a:rPr lang="en-US" altLang="zh-CN" sz="1200" b="1" i="1" smtClean="0">
                                        <a:solidFill>
                                          <a:schemeClr val="tx1"/>
                                        </a:solidFill>
                                        <a:latin typeface="Cambria Math" panose="02040503050406030204" pitchFamily="18" charset="0"/>
                                      </a:rPr>
                                      <m:t>𝟐</m:t>
                                    </m:r>
                                  </m:den>
                                </m:f>
                              </m:oMath>
                            </m:oMathPara>
                          </a14:m>
                          <a:endParaRPr lang="zh-CN" altLang="en-US" sz="1200" b="1"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bl>
              </a:graphicData>
            </a:graphic>
          </p:graphicFrame>
        </mc:Choice>
        <mc:Fallback xmlns="">
          <p:graphicFrame>
            <p:nvGraphicFramePr>
              <p:cNvPr id="36" name="内容占位符 3">
                <a:extLst>
                  <a:ext uri="{FF2B5EF4-FFF2-40B4-BE49-F238E27FC236}">
                    <a16:creationId xmlns:a16="http://schemas.microsoft.com/office/drawing/2014/main" id="{9F0181BC-38A3-4767-B599-E3B6F6DB333B}"/>
                  </a:ext>
                </a:extLst>
              </p:cNvPr>
              <p:cNvGraphicFramePr>
                <a:graphicFrameLocks/>
              </p:cNvGraphicFramePr>
              <p:nvPr>
                <p:extLst>
                  <p:ext uri="{D42A27DB-BD31-4B8C-83A1-F6EECF244321}">
                    <p14:modId xmlns:p14="http://schemas.microsoft.com/office/powerpoint/2010/main" val="719420905"/>
                  </p:ext>
                </p:extLst>
              </p:nvPr>
            </p:nvGraphicFramePr>
            <p:xfrm>
              <a:off x="1199859" y="5733311"/>
              <a:ext cx="1913452" cy="1104836"/>
            </p:xfrm>
            <a:graphic>
              <a:graphicData uri="http://schemas.openxmlformats.org/drawingml/2006/table">
                <a:tbl>
                  <a:tblPr firstRow="1" bandRow="1">
                    <a:tableStyleId>{5C22544A-7EE6-4342-B048-85BDC9FD1C3A}</a:tableStyleId>
                  </a:tblPr>
                  <a:tblGrid>
                    <a:gridCol w="956726">
                      <a:extLst>
                        <a:ext uri="{9D8B030D-6E8A-4147-A177-3AD203B41FA5}">
                          <a16:colId xmlns:a16="http://schemas.microsoft.com/office/drawing/2014/main" val="194517144"/>
                        </a:ext>
                      </a:extLst>
                    </a:gridCol>
                    <a:gridCol w="956726">
                      <a:extLst>
                        <a:ext uri="{9D8B030D-6E8A-4147-A177-3AD203B41FA5}">
                          <a16:colId xmlns:a16="http://schemas.microsoft.com/office/drawing/2014/main" val="262937075"/>
                        </a:ext>
                      </a:extLst>
                    </a:gridCol>
                  </a:tblGrid>
                  <a:tr h="554291">
                    <a:tc>
                      <a:txBody>
                        <a:bodyPr/>
                        <a:lstStyle/>
                        <a:p>
                          <a:pPr algn="ctr"/>
                          <a:r>
                            <a:rPr lang="en-US" altLang="zh-CN" sz="1600" b="1" dirty="0">
                              <a:solidFill>
                                <a:schemeClr val="tx1"/>
                              </a:solidFill>
                            </a:rPr>
                            <a:t>1</a:t>
                          </a:r>
                          <a:endParaRPr lang="zh-CN" altLang="en-US" sz="16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zh-CN"/>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13"/>
                          <a:stretch>
                            <a:fillRect l="-101274" t="-1099" r="-1274" b="-102198"/>
                          </a:stretch>
                        </a:blipFill>
                      </a:tcPr>
                    </a:tc>
                    <a:extLst>
                      <a:ext uri="{0D108BD9-81ED-4DB2-BD59-A6C34878D82A}">
                        <a16:rowId xmlns:a16="http://schemas.microsoft.com/office/drawing/2014/main" val="3811693389"/>
                      </a:ext>
                    </a:extLst>
                  </a:tr>
                  <a:tr h="550545">
                    <a:tc>
                      <a:txBody>
                        <a:bodyPr/>
                        <a:lstStyle/>
                        <a:p>
                          <a:pPr algn="ctr"/>
                          <a:r>
                            <a:rPr lang="en-US" altLang="zh-CN" sz="1600" b="1" dirty="0">
                              <a:solidFill>
                                <a:schemeClr val="tx1"/>
                              </a:solidFill>
                            </a:rPr>
                            <a:t>0</a:t>
                          </a:r>
                          <a:endParaRPr lang="zh-CN" altLang="en-US" sz="1600" b="1"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13"/>
                          <a:stretch>
                            <a:fillRect l="-101274" t="-101099" r="-1274" b="-2198"/>
                          </a:stretch>
                        </a:blipFill>
                      </a:tcPr>
                    </a:tc>
                    <a:extLst>
                      <a:ext uri="{0D108BD9-81ED-4DB2-BD59-A6C34878D82A}">
                        <a16:rowId xmlns:a16="http://schemas.microsoft.com/office/drawing/2014/main" val="814370936"/>
                      </a:ext>
                    </a:extLst>
                  </a:tr>
                </a:tbl>
              </a:graphicData>
            </a:graphic>
          </p:graphicFrame>
        </mc:Fallback>
      </mc:AlternateContent>
    </p:spTree>
    <p:extLst>
      <p:ext uri="{BB962C8B-B14F-4D97-AF65-F5344CB8AC3E}">
        <p14:creationId xmlns:p14="http://schemas.microsoft.com/office/powerpoint/2010/main" val="1170061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B198110B-91E3-426C-9C46-16EF55F89242}"/>
              </a:ext>
            </a:extLst>
          </p:cNvPr>
          <p:cNvSpPr/>
          <p:nvPr/>
        </p:nvSpPr>
        <p:spPr>
          <a:xfrm>
            <a:off x="3834641" y="1931602"/>
            <a:ext cx="4267200" cy="300247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 name="标题 1">
            <a:extLst>
              <a:ext uri="{FF2B5EF4-FFF2-40B4-BE49-F238E27FC236}">
                <a16:creationId xmlns:a16="http://schemas.microsoft.com/office/drawing/2014/main" id="{05C5804D-BC32-4B45-B893-B62E07F47D48}"/>
              </a:ext>
            </a:extLst>
          </p:cNvPr>
          <p:cNvSpPr>
            <a:spLocks noGrp="1"/>
          </p:cNvSpPr>
          <p:nvPr>
            <p:ph type="title"/>
          </p:nvPr>
        </p:nvSpPr>
        <p:spPr/>
        <p:txBody>
          <a:bodyPr/>
          <a:lstStyle/>
          <a:p>
            <a:r>
              <a:rPr lang="zh-CN" altLang="en-US" dirty="0"/>
              <a:t>矩阵表述</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D7CFCE3-4DA6-4584-99A8-A0BB25355CA2}"/>
                  </a:ext>
                </a:extLst>
              </p:cNvPr>
              <p:cNvSpPr txBox="1"/>
              <p:nvPr/>
            </p:nvSpPr>
            <p:spPr>
              <a:xfrm>
                <a:off x="5206241" y="1931601"/>
                <a:ext cx="59978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5" name="文本框 4">
                <a:extLst>
                  <a:ext uri="{FF2B5EF4-FFF2-40B4-BE49-F238E27FC236}">
                    <a16:creationId xmlns:a16="http://schemas.microsoft.com/office/drawing/2014/main" id="{AD7CFCE3-4DA6-4584-99A8-A0BB25355CA2}"/>
                  </a:ext>
                </a:extLst>
              </p:cNvPr>
              <p:cNvSpPr txBox="1">
                <a:spLocks noRot="1" noChangeAspect="1" noMove="1" noResize="1" noEditPoints="1" noAdjustHandles="1" noChangeArrowheads="1" noChangeShapeType="1" noTextEdit="1"/>
              </p:cNvSpPr>
              <p:nvPr/>
            </p:nvSpPr>
            <p:spPr>
              <a:xfrm>
                <a:off x="5206241" y="1931601"/>
                <a:ext cx="599780" cy="369332"/>
              </a:xfrm>
              <a:prstGeom prst="rect">
                <a:avLst/>
              </a:prstGeom>
              <a:blipFill>
                <a:blip r:embed="rId2"/>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96A1B17-6EFB-4EC4-B958-B4FF06B92F8A}"/>
                  </a:ext>
                </a:extLst>
              </p:cNvPr>
              <p:cNvSpPr txBox="1"/>
              <p:nvPr/>
            </p:nvSpPr>
            <p:spPr>
              <a:xfrm>
                <a:off x="5206241" y="2419478"/>
                <a:ext cx="599780"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𝟐</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6" name="文本框 5">
                <a:extLst>
                  <a:ext uri="{FF2B5EF4-FFF2-40B4-BE49-F238E27FC236}">
                    <a16:creationId xmlns:a16="http://schemas.microsoft.com/office/drawing/2014/main" id="{396A1B17-6EFB-4EC4-B958-B4FF06B92F8A}"/>
                  </a:ext>
                </a:extLst>
              </p:cNvPr>
              <p:cNvSpPr txBox="1">
                <a:spLocks noRot="1" noChangeAspect="1" noMove="1" noResize="1" noEditPoints="1" noAdjustHandles="1" noChangeArrowheads="1" noChangeShapeType="1" noTextEdit="1"/>
              </p:cNvSpPr>
              <p:nvPr/>
            </p:nvSpPr>
            <p:spPr>
              <a:xfrm>
                <a:off x="5206241" y="2419478"/>
                <a:ext cx="599780" cy="38151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4FDD602-62C5-4303-B18B-B181190F5B98}"/>
                  </a:ext>
                </a:extLst>
              </p:cNvPr>
              <p:cNvSpPr txBox="1"/>
              <p:nvPr/>
            </p:nvSpPr>
            <p:spPr>
              <a:xfrm>
                <a:off x="5206241" y="2880668"/>
                <a:ext cx="599780"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𝟑</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7" name="文本框 6">
                <a:extLst>
                  <a:ext uri="{FF2B5EF4-FFF2-40B4-BE49-F238E27FC236}">
                    <a16:creationId xmlns:a16="http://schemas.microsoft.com/office/drawing/2014/main" id="{A4FDD602-62C5-4303-B18B-B181190F5B98}"/>
                  </a:ext>
                </a:extLst>
              </p:cNvPr>
              <p:cNvSpPr txBox="1">
                <a:spLocks noRot="1" noChangeAspect="1" noMove="1" noResize="1" noEditPoints="1" noAdjustHandles="1" noChangeArrowheads="1" noChangeShapeType="1" noTextEdit="1"/>
              </p:cNvSpPr>
              <p:nvPr/>
            </p:nvSpPr>
            <p:spPr>
              <a:xfrm>
                <a:off x="5206241" y="2880668"/>
                <a:ext cx="599780" cy="38151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98143BD-D122-4947-9822-5DBEB185C3AB}"/>
                  </a:ext>
                </a:extLst>
              </p:cNvPr>
              <p:cNvSpPr txBox="1"/>
              <p:nvPr/>
            </p:nvSpPr>
            <p:spPr>
              <a:xfrm>
                <a:off x="5206241" y="3638678"/>
                <a:ext cx="564514" cy="3956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𝒋</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9" name="文本框 8">
                <a:extLst>
                  <a:ext uri="{FF2B5EF4-FFF2-40B4-BE49-F238E27FC236}">
                    <a16:creationId xmlns:a16="http://schemas.microsoft.com/office/drawing/2014/main" id="{098143BD-D122-4947-9822-5DBEB185C3AB}"/>
                  </a:ext>
                </a:extLst>
              </p:cNvPr>
              <p:cNvSpPr txBox="1">
                <a:spLocks noRot="1" noChangeAspect="1" noMove="1" noResize="1" noEditPoints="1" noAdjustHandles="1" noChangeArrowheads="1" noChangeShapeType="1" noTextEdit="1"/>
              </p:cNvSpPr>
              <p:nvPr/>
            </p:nvSpPr>
            <p:spPr>
              <a:xfrm>
                <a:off x="5206241" y="3638678"/>
                <a:ext cx="564514" cy="395621"/>
              </a:xfrm>
              <a:prstGeom prst="rect">
                <a:avLst/>
              </a:prstGeom>
              <a:blipFill>
                <a:blip r:embed="rId5"/>
                <a:stretch>
                  <a:fillRect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E71055C-A901-4B10-A18C-3B85708E6725}"/>
                  </a:ext>
                </a:extLst>
              </p:cNvPr>
              <p:cNvSpPr txBox="1"/>
              <p:nvPr/>
            </p:nvSpPr>
            <p:spPr>
              <a:xfrm>
                <a:off x="5206241" y="4438006"/>
                <a:ext cx="654282"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𝒎</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10" name="文本框 9">
                <a:extLst>
                  <a:ext uri="{FF2B5EF4-FFF2-40B4-BE49-F238E27FC236}">
                    <a16:creationId xmlns:a16="http://schemas.microsoft.com/office/drawing/2014/main" id="{8E71055C-A901-4B10-A18C-3B85708E6725}"/>
                  </a:ext>
                </a:extLst>
              </p:cNvPr>
              <p:cNvSpPr txBox="1">
                <a:spLocks noRot="1" noChangeAspect="1" noMove="1" noResize="1" noEditPoints="1" noAdjustHandles="1" noChangeArrowheads="1" noChangeShapeType="1" noTextEdit="1"/>
              </p:cNvSpPr>
              <p:nvPr/>
            </p:nvSpPr>
            <p:spPr>
              <a:xfrm>
                <a:off x="5206241" y="4438006"/>
                <a:ext cx="654282" cy="38151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8C6E10E-7602-4883-A74C-0C3D302062DE}"/>
                  </a:ext>
                </a:extLst>
              </p:cNvPr>
              <p:cNvSpPr txBox="1"/>
              <p:nvPr/>
            </p:nvSpPr>
            <p:spPr>
              <a:xfrm>
                <a:off x="5275619" y="3256305"/>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11" name="文本框 10">
                <a:extLst>
                  <a:ext uri="{FF2B5EF4-FFF2-40B4-BE49-F238E27FC236}">
                    <a16:creationId xmlns:a16="http://schemas.microsoft.com/office/drawing/2014/main" id="{78C6E10E-7602-4883-A74C-0C3D302062DE}"/>
                  </a:ext>
                </a:extLst>
              </p:cNvPr>
              <p:cNvSpPr txBox="1">
                <a:spLocks noRot="1" noChangeAspect="1" noMove="1" noResize="1" noEditPoints="1" noAdjustHandles="1" noChangeArrowheads="1" noChangeShapeType="1" noTextEdit="1"/>
              </p:cNvSpPr>
              <p:nvPr/>
            </p:nvSpPr>
            <p:spPr>
              <a:xfrm>
                <a:off x="5275619" y="3256305"/>
                <a:ext cx="445955"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2D7F691-2EA6-44D6-B800-93113BDF9F43}"/>
                  </a:ext>
                </a:extLst>
              </p:cNvPr>
              <p:cNvSpPr txBox="1"/>
              <p:nvPr/>
            </p:nvSpPr>
            <p:spPr>
              <a:xfrm>
                <a:off x="5275619" y="4043365"/>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12" name="文本框 11">
                <a:extLst>
                  <a:ext uri="{FF2B5EF4-FFF2-40B4-BE49-F238E27FC236}">
                    <a16:creationId xmlns:a16="http://schemas.microsoft.com/office/drawing/2014/main" id="{22D7F691-2EA6-44D6-B800-93113BDF9F43}"/>
                  </a:ext>
                </a:extLst>
              </p:cNvPr>
              <p:cNvSpPr txBox="1">
                <a:spLocks noRot="1" noChangeAspect="1" noMove="1" noResize="1" noEditPoints="1" noAdjustHandles="1" noChangeArrowheads="1" noChangeShapeType="1" noTextEdit="1"/>
              </p:cNvSpPr>
              <p:nvPr/>
            </p:nvSpPr>
            <p:spPr>
              <a:xfrm>
                <a:off x="5275619" y="4043365"/>
                <a:ext cx="445955" cy="369332"/>
              </a:xfrm>
              <a:prstGeom prst="rect">
                <a:avLst/>
              </a:prstGeom>
              <a:blipFill>
                <a:blip r:embed="rId8"/>
                <a:stretch>
                  <a:fillRect/>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2EDFC61B-466A-4F2F-9BE7-481711847DB8}"/>
              </a:ext>
            </a:extLst>
          </p:cNvPr>
          <p:cNvSpPr/>
          <p:nvPr/>
        </p:nvSpPr>
        <p:spPr>
          <a:xfrm>
            <a:off x="3987041" y="2038478"/>
            <a:ext cx="1219199" cy="27810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6" name="矩形 15">
            <a:extLst>
              <a:ext uri="{FF2B5EF4-FFF2-40B4-BE49-F238E27FC236}">
                <a16:creationId xmlns:a16="http://schemas.microsoft.com/office/drawing/2014/main" id="{55400095-76AB-4F8B-B2C7-1B7916554287}"/>
              </a:ext>
            </a:extLst>
          </p:cNvPr>
          <p:cNvSpPr/>
          <p:nvPr/>
        </p:nvSpPr>
        <p:spPr>
          <a:xfrm>
            <a:off x="5867400" y="2038478"/>
            <a:ext cx="2082041" cy="27810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19" name="直接箭头连接符 18">
            <a:extLst>
              <a:ext uri="{FF2B5EF4-FFF2-40B4-BE49-F238E27FC236}">
                <a16:creationId xmlns:a16="http://schemas.microsoft.com/office/drawing/2014/main" id="{E9092F5D-E47A-4047-8727-37BA8F48671F}"/>
              </a:ext>
            </a:extLst>
          </p:cNvPr>
          <p:cNvCxnSpPr>
            <a:cxnSpLocks/>
            <a:stCxn id="9" idx="3"/>
          </p:cNvCxnSpPr>
          <p:nvPr/>
        </p:nvCxnSpPr>
        <p:spPr>
          <a:xfrm flipV="1">
            <a:off x="5770755" y="3714879"/>
            <a:ext cx="426086" cy="121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ED45AAE2-ECA3-48DF-96D9-30ADADA56478}"/>
                  </a:ext>
                </a:extLst>
              </p:cNvPr>
              <p:cNvSpPr txBox="1"/>
              <p:nvPr/>
            </p:nvSpPr>
            <p:spPr>
              <a:xfrm>
                <a:off x="6138293" y="3530212"/>
                <a:ext cx="2784673" cy="395621"/>
              </a:xfrm>
              <a:prstGeom prst="rect">
                <a:avLst/>
              </a:prstGeom>
              <a:noFill/>
            </p:spPr>
            <p:txBody>
              <a:bodyPr wrap="none" rtlCol="0">
                <a:spAutoFit/>
              </a:bodyPr>
              <a:lstStyle/>
              <a:p>
                <a:r>
                  <a:rPr lang="zh-CN" altLang="en-US" b="1" dirty="0"/>
                  <a:t>这个变成</a:t>
                </a:r>
                <a:r>
                  <a:rPr lang="en-US" altLang="zh-CN" b="1" dirty="0"/>
                  <a:t>1</a:t>
                </a:r>
                <a:r>
                  <a:rPr lang="zh-CN" altLang="en-US" b="1" dirty="0"/>
                  <a:t>：第</a:t>
                </a:r>
                <a:r>
                  <a:rPr lang="en-US" altLang="zh-CN" b="1" dirty="0"/>
                  <a:t>j</a:t>
                </a:r>
                <a:r>
                  <a:rPr lang="zh-CN" altLang="en-US" b="1" dirty="0"/>
                  <a:t>行除以</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sub>
                    </m:sSub>
                  </m:oMath>
                </a14:m>
                <a:endParaRPr lang="zh-CN" altLang="en-US" b="1" dirty="0"/>
              </a:p>
            </p:txBody>
          </p:sp>
        </mc:Choice>
        <mc:Fallback xmlns="">
          <p:sp>
            <p:nvSpPr>
              <p:cNvPr id="20" name="文本框 19">
                <a:extLst>
                  <a:ext uri="{FF2B5EF4-FFF2-40B4-BE49-F238E27FC236}">
                    <a16:creationId xmlns:a16="http://schemas.microsoft.com/office/drawing/2014/main" id="{ED45AAE2-ECA3-48DF-96D9-30ADADA56478}"/>
                  </a:ext>
                </a:extLst>
              </p:cNvPr>
              <p:cNvSpPr txBox="1">
                <a:spLocks noRot="1" noChangeAspect="1" noMove="1" noResize="1" noEditPoints="1" noAdjustHandles="1" noChangeArrowheads="1" noChangeShapeType="1" noTextEdit="1"/>
              </p:cNvSpPr>
              <p:nvPr/>
            </p:nvSpPr>
            <p:spPr>
              <a:xfrm>
                <a:off x="6138293" y="3530212"/>
                <a:ext cx="2784673" cy="395621"/>
              </a:xfrm>
              <a:prstGeom prst="rect">
                <a:avLst/>
              </a:prstGeom>
              <a:blipFill>
                <a:blip r:embed="rId9"/>
                <a:stretch>
                  <a:fillRect l="-1969" t="-12308" b="-1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BDC1EC73-A88D-477E-A55E-AF56B2124921}"/>
                  </a:ext>
                </a:extLst>
              </p:cNvPr>
              <p:cNvSpPr txBox="1"/>
              <p:nvPr/>
            </p:nvSpPr>
            <p:spPr>
              <a:xfrm>
                <a:off x="5932028" y="2610235"/>
                <a:ext cx="2556662" cy="668645"/>
              </a:xfrm>
              <a:prstGeom prst="rect">
                <a:avLst/>
              </a:prstGeom>
              <a:noFill/>
            </p:spPr>
            <p:txBody>
              <a:bodyPr wrap="none" rtlCol="0">
                <a:spAutoFit/>
              </a:bodyPr>
              <a:lstStyle/>
              <a:p>
                <a:r>
                  <a:rPr lang="zh-CN" altLang="en-US" b="1" dirty="0"/>
                  <a:t>这些变成</a:t>
                </a:r>
                <a:r>
                  <a:rPr lang="en-US" altLang="zh-CN" b="1" dirty="0"/>
                  <a:t>0</a:t>
                </a:r>
                <a:r>
                  <a:rPr lang="zh-CN" altLang="en-US" b="1" dirty="0"/>
                  <a:t>：第</a:t>
                </a:r>
                <a:r>
                  <a:rPr lang="en-US" altLang="zh-CN" b="1" dirty="0"/>
                  <a:t>k</a:t>
                </a:r>
                <a:r>
                  <a:rPr lang="zh-CN" altLang="en-US" b="1" dirty="0"/>
                  <a:t>行</a:t>
                </a:r>
                <a:endParaRPr lang="en-US" altLang="zh-CN" b="1" dirty="0"/>
              </a:p>
              <a:p>
                <a:r>
                  <a:rPr lang="en-US" altLang="zh-CN" b="1" dirty="0"/>
                  <a:t>– </a:t>
                </a:r>
                <a:r>
                  <a:rPr lang="zh-CN" altLang="en-US" b="1" dirty="0"/>
                  <a:t>第</a:t>
                </a:r>
                <a:r>
                  <a:rPr lang="en-US" altLang="zh-CN" b="1" dirty="0"/>
                  <a:t>j</a:t>
                </a:r>
                <a:r>
                  <a:rPr lang="zh-CN" altLang="en-US" b="1" dirty="0"/>
                  <a:t>行除以</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sub>
                    </m:sSub>
                  </m:oMath>
                </a14:m>
                <a:r>
                  <a:rPr lang="zh-CN" altLang="en-US" b="1" dirty="0"/>
                  <a:t> 乘以</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sub>
                    </m:sSub>
                  </m:oMath>
                </a14:m>
                <a:endParaRPr lang="zh-CN" altLang="en-US" b="1" dirty="0"/>
              </a:p>
            </p:txBody>
          </p:sp>
        </mc:Choice>
        <mc:Fallback xmlns="">
          <p:sp>
            <p:nvSpPr>
              <p:cNvPr id="21" name="文本框 20">
                <a:extLst>
                  <a:ext uri="{FF2B5EF4-FFF2-40B4-BE49-F238E27FC236}">
                    <a16:creationId xmlns:a16="http://schemas.microsoft.com/office/drawing/2014/main" id="{BDC1EC73-A88D-477E-A55E-AF56B2124921}"/>
                  </a:ext>
                </a:extLst>
              </p:cNvPr>
              <p:cNvSpPr txBox="1">
                <a:spLocks noRot="1" noChangeAspect="1" noMove="1" noResize="1" noEditPoints="1" noAdjustHandles="1" noChangeArrowheads="1" noChangeShapeType="1" noTextEdit="1"/>
              </p:cNvSpPr>
              <p:nvPr/>
            </p:nvSpPr>
            <p:spPr>
              <a:xfrm>
                <a:off x="5932028" y="2610235"/>
                <a:ext cx="2556662" cy="668645"/>
              </a:xfrm>
              <a:prstGeom prst="rect">
                <a:avLst/>
              </a:prstGeom>
              <a:blipFill>
                <a:blip r:embed="rId10"/>
                <a:stretch>
                  <a:fillRect l="-1905" t="-6364" b="-10000"/>
                </a:stretch>
              </a:blipFill>
            </p:spPr>
            <p:txBody>
              <a:bodyPr/>
              <a:lstStyle/>
              <a:p>
                <a:r>
                  <a:rPr lang="zh-CN" altLang="en-US">
                    <a:noFill/>
                  </a:rPr>
                  <a:t> </a:t>
                </a:r>
              </a:p>
            </p:txBody>
          </p:sp>
        </mc:Fallback>
      </mc:AlternateContent>
      <p:sp>
        <p:nvSpPr>
          <p:cNvPr id="22" name="右大括号 21">
            <a:extLst>
              <a:ext uri="{FF2B5EF4-FFF2-40B4-BE49-F238E27FC236}">
                <a16:creationId xmlns:a16="http://schemas.microsoft.com/office/drawing/2014/main" id="{4F5F4354-86D6-4354-A970-CF6894DBAE55}"/>
              </a:ext>
            </a:extLst>
          </p:cNvPr>
          <p:cNvSpPr/>
          <p:nvPr/>
        </p:nvSpPr>
        <p:spPr>
          <a:xfrm>
            <a:off x="5663441" y="2141967"/>
            <a:ext cx="323723" cy="1300888"/>
          </a:xfrm>
          <a:prstGeom prst="rightBrace">
            <a:avLst>
              <a:gd name="adj1" fmla="val 12416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25" name="右大括号 24">
            <a:extLst>
              <a:ext uri="{FF2B5EF4-FFF2-40B4-BE49-F238E27FC236}">
                <a16:creationId xmlns:a16="http://schemas.microsoft.com/office/drawing/2014/main" id="{11074BF1-2BCE-4FAF-BCD0-724ACC9B0440}"/>
              </a:ext>
            </a:extLst>
          </p:cNvPr>
          <p:cNvSpPr/>
          <p:nvPr/>
        </p:nvSpPr>
        <p:spPr>
          <a:xfrm>
            <a:off x="5758816" y="4106523"/>
            <a:ext cx="323723" cy="623363"/>
          </a:xfrm>
          <a:prstGeom prst="rightBrace">
            <a:avLst>
              <a:gd name="adj1" fmla="val 12416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26" name="文本框 25">
            <a:extLst>
              <a:ext uri="{FF2B5EF4-FFF2-40B4-BE49-F238E27FC236}">
                <a16:creationId xmlns:a16="http://schemas.microsoft.com/office/drawing/2014/main" id="{D6909E92-D97A-4132-A38F-0984BF41F922}"/>
              </a:ext>
            </a:extLst>
          </p:cNvPr>
          <p:cNvSpPr txBox="1"/>
          <p:nvPr/>
        </p:nvSpPr>
        <p:spPr>
          <a:xfrm>
            <a:off x="5997827" y="4220706"/>
            <a:ext cx="1236236" cy="369332"/>
          </a:xfrm>
          <a:prstGeom prst="rect">
            <a:avLst/>
          </a:prstGeom>
          <a:noFill/>
        </p:spPr>
        <p:txBody>
          <a:bodyPr wrap="none" rtlCol="0">
            <a:spAutoFit/>
          </a:bodyPr>
          <a:lstStyle/>
          <a:p>
            <a:r>
              <a:rPr lang="zh-CN" altLang="en-US" b="1" dirty="0"/>
              <a:t>这些变成</a:t>
            </a:r>
            <a:r>
              <a:rPr lang="en-US" altLang="zh-CN" b="1" dirty="0"/>
              <a:t>0</a:t>
            </a:r>
            <a:endParaRPr lang="zh-CN" altLang="en-US" b="1" dirty="0"/>
          </a:p>
        </p:txBody>
      </p:sp>
      <p:sp>
        <p:nvSpPr>
          <p:cNvPr id="28" name="箭头: 下 27">
            <a:extLst>
              <a:ext uri="{FF2B5EF4-FFF2-40B4-BE49-F238E27FC236}">
                <a16:creationId xmlns:a16="http://schemas.microsoft.com/office/drawing/2014/main" id="{6FB542EA-391A-4FB1-854C-CA345C311D79}"/>
              </a:ext>
            </a:extLst>
          </p:cNvPr>
          <p:cNvSpPr/>
          <p:nvPr/>
        </p:nvSpPr>
        <p:spPr>
          <a:xfrm rot="5400000">
            <a:off x="3451023" y="3350662"/>
            <a:ext cx="342107" cy="2539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3" name="组合 2">
            <a:extLst>
              <a:ext uri="{FF2B5EF4-FFF2-40B4-BE49-F238E27FC236}">
                <a16:creationId xmlns:a16="http://schemas.microsoft.com/office/drawing/2014/main" id="{28B46FEE-47B4-4D89-996F-7566FCAEB8EC}"/>
              </a:ext>
            </a:extLst>
          </p:cNvPr>
          <p:cNvGrpSpPr/>
          <p:nvPr/>
        </p:nvGrpSpPr>
        <p:grpSpPr>
          <a:xfrm>
            <a:off x="332349" y="1930728"/>
            <a:ext cx="3043063" cy="3003350"/>
            <a:chOff x="332349" y="1930728"/>
            <a:chExt cx="3043063" cy="3003350"/>
          </a:xfrm>
        </p:grpSpPr>
        <p:sp>
          <p:nvSpPr>
            <p:cNvPr id="29" name="矩形 28">
              <a:extLst>
                <a:ext uri="{FF2B5EF4-FFF2-40B4-BE49-F238E27FC236}">
                  <a16:creationId xmlns:a16="http://schemas.microsoft.com/office/drawing/2014/main" id="{63AE654F-4C89-4158-9F61-4E9969DF9EAB}"/>
                </a:ext>
              </a:extLst>
            </p:cNvPr>
            <p:cNvSpPr/>
            <p:nvPr/>
          </p:nvSpPr>
          <p:spPr>
            <a:xfrm>
              <a:off x="332349" y="1931602"/>
              <a:ext cx="3043063" cy="300247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B1D9A940-8E1F-4904-91B6-2451DB153489}"/>
                    </a:ext>
                  </a:extLst>
                </p:cNvPr>
                <p:cNvSpPr txBox="1"/>
                <p:nvPr/>
              </p:nvSpPr>
              <p:spPr>
                <a:xfrm>
                  <a:off x="1634910" y="3342570"/>
                  <a:ext cx="437940" cy="4939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sz="1200" b="1" i="1" smtClean="0">
                                <a:latin typeface="Cambria Math" panose="02040503050406030204" pitchFamily="18" charset="0"/>
                              </a:rPr>
                            </m:ctrlPr>
                          </m:fPr>
                          <m:num>
                            <m:r>
                              <a:rPr lang="en-US" altLang="zh-CN" sz="1200" b="1" i="1" smtClean="0">
                                <a:latin typeface="Cambria Math" panose="02040503050406030204" pitchFamily="18" charset="0"/>
                              </a:rPr>
                              <m:t>𝟏</m:t>
                            </m:r>
                          </m:num>
                          <m:den>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𝒂</m:t>
                                </m:r>
                              </m:e>
                              <m:sub>
                                <m:r>
                                  <a:rPr lang="en-US" altLang="zh-CN" sz="1200" b="1" i="1" smtClean="0">
                                    <a:latin typeface="Cambria Math" panose="02040503050406030204" pitchFamily="18" charset="0"/>
                                  </a:rPr>
                                  <m:t>𝒋</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𝒊</m:t>
                                </m:r>
                              </m:sub>
                            </m:sSub>
                          </m:den>
                        </m:f>
                      </m:oMath>
                    </m:oMathPara>
                  </a14:m>
                  <a:endParaRPr lang="zh-CN" altLang="en-US" sz="1200" b="1" dirty="0"/>
                </a:p>
              </p:txBody>
            </p:sp>
          </mc:Choice>
          <mc:Fallback xmlns="">
            <p:sp>
              <p:nvSpPr>
                <p:cNvPr id="30" name="文本框 29">
                  <a:extLst>
                    <a:ext uri="{FF2B5EF4-FFF2-40B4-BE49-F238E27FC236}">
                      <a16:creationId xmlns:a16="http://schemas.microsoft.com/office/drawing/2014/main" id="{B1D9A940-8E1F-4904-91B6-2451DB153489}"/>
                    </a:ext>
                  </a:extLst>
                </p:cNvPr>
                <p:cNvSpPr txBox="1">
                  <a:spLocks noRot="1" noChangeAspect="1" noMove="1" noResize="1" noEditPoints="1" noAdjustHandles="1" noChangeArrowheads="1" noChangeShapeType="1" noTextEdit="1"/>
                </p:cNvSpPr>
                <p:nvPr/>
              </p:nvSpPr>
              <p:spPr>
                <a:xfrm>
                  <a:off x="1634910" y="3342570"/>
                  <a:ext cx="437940" cy="493918"/>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EA389AE9-72C3-47AE-8654-A213A6C9C706}"/>
                    </a:ext>
                  </a:extLst>
                </p:cNvPr>
                <p:cNvSpPr txBox="1"/>
                <p:nvPr/>
              </p:nvSpPr>
              <p:spPr>
                <a:xfrm>
                  <a:off x="1552355" y="1930728"/>
                  <a:ext cx="603049" cy="4658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m:t>
                        </m:r>
                        <m:f>
                          <m:fPr>
                            <m:ctrlPr>
                              <a:rPr lang="en-US" altLang="zh-CN" sz="1200" b="1" i="1" smtClean="0">
                                <a:latin typeface="Cambria Math" panose="02040503050406030204" pitchFamily="18" charset="0"/>
                              </a:rPr>
                            </m:ctrlPr>
                          </m:fPr>
                          <m:num>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𝒂</m:t>
                                </m:r>
                              </m:e>
                              <m:sub>
                                <m:r>
                                  <a:rPr lang="en-US" altLang="zh-CN" sz="1200" b="1" i="1" smtClean="0">
                                    <a:latin typeface="Cambria Math" panose="02040503050406030204" pitchFamily="18" charset="0"/>
                                  </a:rPr>
                                  <m:t>𝟏</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𝒊</m:t>
                                </m:r>
                              </m:sub>
                            </m:sSub>
                          </m:num>
                          <m:den>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𝒂</m:t>
                                </m:r>
                              </m:e>
                              <m:sub>
                                <m:r>
                                  <a:rPr lang="en-US" altLang="zh-CN" sz="1200" b="1" i="1" smtClean="0">
                                    <a:latin typeface="Cambria Math" panose="02040503050406030204" pitchFamily="18" charset="0"/>
                                  </a:rPr>
                                  <m:t>𝒋</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𝒊</m:t>
                                </m:r>
                              </m:sub>
                            </m:sSub>
                          </m:den>
                        </m:f>
                      </m:oMath>
                    </m:oMathPara>
                  </a14:m>
                  <a:endParaRPr lang="zh-CN" altLang="en-US" sz="1200" b="1" dirty="0"/>
                </a:p>
              </p:txBody>
            </p:sp>
          </mc:Choice>
          <mc:Fallback xmlns="">
            <p:sp>
              <p:nvSpPr>
                <p:cNvPr id="31" name="文本框 30">
                  <a:extLst>
                    <a:ext uri="{FF2B5EF4-FFF2-40B4-BE49-F238E27FC236}">
                      <a16:creationId xmlns:a16="http://schemas.microsoft.com/office/drawing/2014/main" id="{EA389AE9-72C3-47AE-8654-A213A6C9C706}"/>
                    </a:ext>
                  </a:extLst>
                </p:cNvPr>
                <p:cNvSpPr txBox="1">
                  <a:spLocks noRot="1" noChangeAspect="1" noMove="1" noResize="1" noEditPoints="1" noAdjustHandles="1" noChangeArrowheads="1" noChangeShapeType="1" noTextEdit="1"/>
                </p:cNvSpPr>
                <p:nvPr/>
              </p:nvSpPr>
              <p:spPr>
                <a:xfrm>
                  <a:off x="1552355" y="1930728"/>
                  <a:ext cx="603049" cy="465897"/>
                </a:xfrm>
                <a:prstGeom prst="rect">
                  <a:avLst/>
                </a:prstGeom>
                <a:blipFill>
                  <a:blip r:embed="rId12"/>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7ADC39F5-97D2-45F2-A07B-154A89C8A1D5}"/>
                    </a:ext>
                  </a:extLst>
                </p:cNvPr>
                <p:cNvSpPr txBox="1"/>
                <p:nvPr/>
              </p:nvSpPr>
              <p:spPr>
                <a:xfrm>
                  <a:off x="1552355" y="2466748"/>
                  <a:ext cx="603049" cy="4658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m:t>
                        </m:r>
                        <m:f>
                          <m:fPr>
                            <m:ctrlPr>
                              <a:rPr lang="en-US" altLang="zh-CN" sz="1200" b="1" i="1" smtClean="0">
                                <a:latin typeface="Cambria Math" panose="02040503050406030204" pitchFamily="18" charset="0"/>
                              </a:rPr>
                            </m:ctrlPr>
                          </m:fPr>
                          <m:num>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𝒂</m:t>
                                </m:r>
                              </m:e>
                              <m:sub>
                                <m:r>
                                  <a:rPr lang="en-US" altLang="zh-CN" sz="1200" b="1" i="1" smtClean="0">
                                    <a:latin typeface="Cambria Math" panose="02040503050406030204" pitchFamily="18" charset="0"/>
                                  </a:rPr>
                                  <m:t>𝟐</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𝒊</m:t>
                                </m:r>
                              </m:sub>
                            </m:sSub>
                          </m:num>
                          <m:den>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𝒂</m:t>
                                </m:r>
                              </m:e>
                              <m:sub>
                                <m:r>
                                  <a:rPr lang="en-US" altLang="zh-CN" sz="1200" b="1" i="1" smtClean="0">
                                    <a:latin typeface="Cambria Math" panose="02040503050406030204" pitchFamily="18" charset="0"/>
                                  </a:rPr>
                                  <m:t>𝒋</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𝒊</m:t>
                                </m:r>
                              </m:sub>
                            </m:sSub>
                          </m:den>
                        </m:f>
                      </m:oMath>
                    </m:oMathPara>
                  </a14:m>
                  <a:endParaRPr lang="zh-CN" altLang="en-US" sz="1200" b="1" dirty="0"/>
                </a:p>
              </p:txBody>
            </p:sp>
          </mc:Choice>
          <mc:Fallback xmlns="">
            <p:sp>
              <p:nvSpPr>
                <p:cNvPr id="32" name="文本框 31">
                  <a:extLst>
                    <a:ext uri="{FF2B5EF4-FFF2-40B4-BE49-F238E27FC236}">
                      <a16:creationId xmlns:a16="http://schemas.microsoft.com/office/drawing/2014/main" id="{7ADC39F5-97D2-45F2-A07B-154A89C8A1D5}"/>
                    </a:ext>
                  </a:extLst>
                </p:cNvPr>
                <p:cNvSpPr txBox="1">
                  <a:spLocks noRot="1" noChangeAspect="1" noMove="1" noResize="1" noEditPoints="1" noAdjustHandles="1" noChangeArrowheads="1" noChangeShapeType="1" noTextEdit="1"/>
                </p:cNvSpPr>
                <p:nvPr/>
              </p:nvSpPr>
              <p:spPr>
                <a:xfrm>
                  <a:off x="1552355" y="2466748"/>
                  <a:ext cx="603049" cy="465897"/>
                </a:xfrm>
                <a:prstGeom prst="rect">
                  <a:avLst/>
                </a:prstGeom>
                <a:blipFill>
                  <a:blip r:embed="rId13"/>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EC52AA1E-26BF-4991-8992-800BF97623D9}"/>
                    </a:ext>
                  </a:extLst>
                </p:cNvPr>
                <p:cNvSpPr txBox="1"/>
                <p:nvPr/>
              </p:nvSpPr>
              <p:spPr>
                <a:xfrm>
                  <a:off x="1634910" y="2973238"/>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33" name="文本框 32">
                  <a:extLst>
                    <a:ext uri="{FF2B5EF4-FFF2-40B4-BE49-F238E27FC236}">
                      <a16:creationId xmlns:a16="http://schemas.microsoft.com/office/drawing/2014/main" id="{EC52AA1E-26BF-4991-8992-800BF97623D9}"/>
                    </a:ext>
                  </a:extLst>
                </p:cNvPr>
                <p:cNvSpPr txBox="1">
                  <a:spLocks noRot="1" noChangeAspect="1" noMove="1" noResize="1" noEditPoints="1" noAdjustHandles="1" noChangeArrowheads="1" noChangeShapeType="1" noTextEdit="1"/>
                </p:cNvSpPr>
                <p:nvPr/>
              </p:nvSpPr>
              <p:spPr>
                <a:xfrm>
                  <a:off x="1634910" y="2973238"/>
                  <a:ext cx="445955" cy="369332"/>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D00994D3-EE4F-4072-93B4-EB3633D6CC4B}"/>
                    </a:ext>
                  </a:extLst>
                </p:cNvPr>
                <p:cNvSpPr txBox="1"/>
                <p:nvPr/>
              </p:nvSpPr>
              <p:spPr>
                <a:xfrm>
                  <a:off x="1634910" y="3858699"/>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34" name="文本框 33">
                  <a:extLst>
                    <a:ext uri="{FF2B5EF4-FFF2-40B4-BE49-F238E27FC236}">
                      <a16:creationId xmlns:a16="http://schemas.microsoft.com/office/drawing/2014/main" id="{D00994D3-EE4F-4072-93B4-EB3633D6CC4B}"/>
                    </a:ext>
                  </a:extLst>
                </p:cNvPr>
                <p:cNvSpPr txBox="1">
                  <a:spLocks noRot="1" noChangeAspect="1" noMove="1" noResize="1" noEditPoints="1" noAdjustHandles="1" noChangeArrowheads="1" noChangeShapeType="1" noTextEdit="1"/>
                </p:cNvSpPr>
                <p:nvPr/>
              </p:nvSpPr>
              <p:spPr>
                <a:xfrm>
                  <a:off x="1634910" y="3858699"/>
                  <a:ext cx="445955" cy="369332"/>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D4DFE893-327E-4704-8F1D-B5591D3A1DC6}"/>
                    </a:ext>
                  </a:extLst>
                </p:cNvPr>
                <p:cNvSpPr txBox="1"/>
                <p:nvPr/>
              </p:nvSpPr>
              <p:spPr>
                <a:xfrm>
                  <a:off x="1552355" y="4265498"/>
                  <a:ext cx="639919" cy="4658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m:t>
                        </m:r>
                        <m:f>
                          <m:fPr>
                            <m:ctrlPr>
                              <a:rPr lang="en-US" altLang="zh-CN" sz="1200" b="1" i="1" smtClean="0">
                                <a:latin typeface="Cambria Math" panose="02040503050406030204" pitchFamily="18" charset="0"/>
                              </a:rPr>
                            </m:ctrlPr>
                          </m:fPr>
                          <m:num>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𝒂</m:t>
                                </m:r>
                              </m:e>
                              <m:sub>
                                <m:r>
                                  <a:rPr lang="en-US" altLang="zh-CN" sz="1200" b="1" i="1" smtClean="0">
                                    <a:latin typeface="Cambria Math" panose="02040503050406030204" pitchFamily="18" charset="0"/>
                                  </a:rPr>
                                  <m:t>𝒎</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𝒊</m:t>
                                </m:r>
                              </m:sub>
                            </m:sSub>
                          </m:num>
                          <m:den>
                            <m:sSub>
                              <m:sSubPr>
                                <m:ctrlPr>
                                  <a:rPr lang="en-US" altLang="zh-CN" sz="1200" b="1" i="1" smtClean="0">
                                    <a:latin typeface="Cambria Math" panose="02040503050406030204" pitchFamily="18" charset="0"/>
                                  </a:rPr>
                                </m:ctrlPr>
                              </m:sSubPr>
                              <m:e>
                                <m:r>
                                  <a:rPr lang="en-US" altLang="zh-CN" sz="1200" b="1" i="1" smtClean="0">
                                    <a:latin typeface="Cambria Math" panose="02040503050406030204" pitchFamily="18" charset="0"/>
                                  </a:rPr>
                                  <m:t>𝒂</m:t>
                                </m:r>
                              </m:e>
                              <m:sub>
                                <m:r>
                                  <a:rPr lang="en-US" altLang="zh-CN" sz="1200" b="1" i="1" smtClean="0">
                                    <a:latin typeface="Cambria Math" panose="02040503050406030204" pitchFamily="18" charset="0"/>
                                  </a:rPr>
                                  <m:t>𝒋</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𝒊</m:t>
                                </m:r>
                              </m:sub>
                            </m:sSub>
                          </m:den>
                        </m:f>
                      </m:oMath>
                    </m:oMathPara>
                  </a14:m>
                  <a:endParaRPr lang="zh-CN" altLang="en-US" sz="1200" b="1" dirty="0"/>
                </a:p>
              </p:txBody>
            </p:sp>
          </mc:Choice>
          <mc:Fallback xmlns="">
            <p:sp>
              <p:nvSpPr>
                <p:cNvPr id="35" name="文本框 34">
                  <a:extLst>
                    <a:ext uri="{FF2B5EF4-FFF2-40B4-BE49-F238E27FC236}">
                      <a16:creationId xmlns:a16="http://schemas.microsoft.com/office/drawing/2014/main" id="{D4DFE893-327E-4704-8F1D-B5591D3A1DC6}"/>
                    </a:ext>
                  </a:extLst>
                </p:cNvPr>
                <p:cNvSpPr txBox="1">
                  <a:spLocks noRot="1" noChangeAspect="1" noMove="1" noResize="1" noEditPoints="1" noAdjustHandles="1" noChangeArrowheads="1" noChangeShapeType="1" noTextEdit="1"/>
                </p:cNvSpPr>
                <p:nvPr/>
              </p:nvSpPr>
              <p:spPr>
                <a:xfrm>
                  <a:off x="1552355" y="4265498"/>
                  <a:ext cx="639919" cy="465897"/>
                </a:xfrm>
                <a:prstGeom prst="rect">
                  <a:avLst/>
                </a:prstGeom>
                <a:blipFill>
                  <a:blip r:embed="rId16"/>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A140C85F-4AE2-4994-BA45-F52476B14E13}"/>
                    </a:ext>
                  </a:extLst>
                </p:cNvPr>
                <p:cNvSpPr txBox="1"/>
                <p:nvPr/>
              </p:nvSpPr>
              <p:spPr>
                <a:xfrm>
                  <a:off x="332607" y="1977767"/>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36" name="文本框 35">
                  <a:extLst>
                    <a:ext uri="{FF2B5EF4-FFF2-40B4-BE49-F238E27FC236}">
                      <a16:creationId xmlns:a16="http://schemas.microsoft.com/office/drawing/2014/main" id="{A140C85F-4AE2-4994-BA45-F52476B14E13}"/>
                    </a:ext>
                  </a:extLst>
                </p:cNvPr>
                <p:cNvSpPr txBox="1">
                  <a:spLocks noRot="1" noChangeAspect="1" noMove="1" noResize="1" noEditPoints="1" noAdjustHandles="1" noChangeArrowheads="1" noChangeShapeType="1" noTextEdit="1"/>
                </p:cNvSpPr>
                <p:nvPr/>
              </p:nvSpPr>
              <p:spPr>
                <a:xfrm>
                  <a:off x="332607" y="1977767"/>
                  <a:ext cx="319318" cy="276999"/>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AFEE7522-1E6E-4D2B-84D3-4A4602C35785}"/>
                    </a:ext>
                  </a:extLst>
                </p:cNvPr>
                <p:cNvSpPr txBox="1"/>
                <p:nvPr/>
              </p:nvSpPr>
              <p:spPr>
                <a:xfrm>
                  <a:off x="600850" y="2196925"/>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37" name="文本框 36">
                  <a:extLst>
                    <a:ext uri="{FF2B5EF4-FFF2-40B4-BE49-F238E27FC236}">
                      <a16:creationId xmlns:a16="http://schemas.microsoft.com/office/drawing/2014/main" id="{AFEE7522-1E6E-4D2B-84D3-4A4602C35785}"/>
                    </a:ext>
                  </a:extLst>
                </p:cNvPr>
                <p:cNvSpPr txBox="1">
                  <a:spLocks noRot="1" noChangeAspect="1" noMove="1" noResize="1" noEditPoints="1" noAdjustHandles="1" noChangeArrowheads="1" noChangeShapeType="1" noTextEdit="1"/>
                </p:cNvSpPr>
                <p:nvPr/>
              </p:nvSpPr>
              <p:spPr>
                <a:xfrm>
                  <a:off x="600850" y="2196925"/>
                  <a:ext cx="319318" cy="276999"/>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3F2821B3-4521-4A6B-8B8D-AC170A8CB8E7}"/>
                    </a:ext>
                  </a:extLst>
                </p:cNvPr>
                <p:cNvSpPr txBox="1"/>
                <p:nvPr/>
              </p:nvSpPr>
              <p:spPr>
                <a:xfrm>
                  <a:off x="857154" y="2474440"/>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38" name="文本框 37">
                  <a:extLst>
                    <a:ext uri="{FF2B5EF4-FFF2-40B4-BE49-F238E27FC236}">
                      <a16:creationId xmlns:a16="http://schemas.microsoft.com/office/drawing/2014/main" id="{3F2821B3-4521-4A6B-8B8D-AC170A8CB8E7}"/>
                    </a:ext>
                  </a:extLst>
                </p:cNvPr>
                <p:cNvSpPr txBox="1">
                  <a:spLocks noRot="1" noChangeAspect="1" noMove="1" noResize="1" noEditPoints="1" noAdjustHandles="1" noChangeArrowheads="1" noChangeShapeType="1" noTextEdit="1"/>
                </p:cNvSpPr>
                <p:nvPr/>
              </p:nvSpPr>
              <p:spPr>
                <a:xfrm>
                  <a:off x="857154" y="2474440"/>
                  <a:ext cx="319318" cy="276999"/>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BF423DDE-A07A-4292-AB66-BEE096F2FEF0}"/>
                    </a:ext>
                  </a:extLst>
                </p:cNvPr>
                <p:cNvSpPr txBox="1"/>
                <p:nvPr/>
              </p:nvSpPr>
              <p:spPr>
                <a:xfrm>
                  <a:off x="1146151" y="2815131"/>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39" name="文本框 38">
                  <a:extLst>
                    <a:ext uri="{FF2B5EF4-FFF2-40B4-BE49-F238E27FC236}">
                      <a16:creationId xmlns:a16="http://schemas.microsoft.com/office/drawing/2014/main" id="{BF423DDE-A07A-4292-AB66-BEE096F2FEF0}"/>
                    </a:ext>
                  </a:extLst>
                </p:cNvPr>
                <p:cNvSpPr txBox="1">
                  <a:spLocks noRot="1" noChangeAspect="1" noMove="1" noResize="1" noEditPoints="1" noAdjustHandles="1" noChangeArrowheads="1" noChangeShapeType="1" noTextEdit="1"/>
                </p:cNvSpPr>
                <p:nvPr/>
              </p:nvSpPr>
              <p:spPr>
                <a:xfrm>
                  <a:off x="1146151" y="2815131"/>
                  <a:ext cx="445955" cy="369332"/>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E8D03C49-7BDC-41EC-807B-95D8047EBB41}"/>
                    </a:ext>
                  </a:extLst>
                </p:cNvPr>
                <p:cNvSpPr txBox="1"/>
                <p:nvPr/>
              </p:nvSpPr>
              <p:spPr>
                <a:xfrm>
                  <a:off x="2625503" y="4057758"/>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40" name="文本框 39">
                  <a:extLst>
                    <a:ext uri="{FF2B5EF4-FFF2-40B4-BE49-F238E27FC236}">
                      <a16:creationId xmlns:a16="http://schemas.microsoft.com/office/drawing/2014/main" id="{E8D03C49-7BDC-41EC-807B-95D8047EBB41}"/>
                    </a:ext>
                  </a:extLst>
                </p:cNvPr>
                <p:cNvSpPr txBox="1">
                  <a:spLocks noRot="1" noChangeAspect="1" noMove="1" noResize="1" noEditPoints="1" noAdjustHandles="1" noChangeArrowheads="1" noChangeShapeType="1" noTextEdit="1"/>
                </p:cNvSpPr>
                <p:nvPr/>
              </p:nvSpPr>
              <p:spPr>
                <a:xfrm>
                  <a:off x="2625503" y="4057758"/>
                  <a:ext cx="319318" cy="276999"/>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69307D76-3897-4B83-95CD-00F50B987877}"/>
                    </a:ext>
                  </a:extLst>
                </p:cNvPr>
                <p:cNvSpPr txBox="1"/>
                <p:nvPr/>
              </p:nvSpPr>
              <p:spPr>
                <a:xfrm>
                  <a:off x="2872304" y="4438006"/>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41" name="文本框 40">
                  <a:extLst>
                    <a:ext uri="{FF2B5EF4-FFF2-40B4-BE49-F238E27FC236}">
                      <a16:creationId xmlns:a16="http://schemas.microsoft.com/office/drawing/2014/main" id="{69307D76-3897-4B83-95CD-00F50B987877}"/>
                    </a:ext>
                  </a:extLst>
                </p:cNvPr>
                <p:cNvSpPr txBox="1">
                  <a:spLocks noRot="1" noChangeAspect="1" noMove="1" noResize="1" noEditPoints="1" noAdjustHandles="1" noChangeArrowheads="1" noChangeShapeType="1" noTextEdit="1"/>
                </p:cNvSpPr>
                <p:nvPr/>
              </p:nvSpPr>
              <p:spPr>
                <a:xfrm>
                  <a:off x="2872304" y="4438006"/>
                  <a:ext cx="319318" cy="276999"/>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5E6ED278-BE42-4FFC-B56B-581208AB0225}"/>
                    </a:ext>
                  </a:extLst>
                </p:cNvPr>
                <p:cNvSpPr txBox="1"/>
                <p:nvPr/>
              </p:nvSpPr>
              <p:spPr>
                <a:xfrm>
                  <a:off x="2217097" y="3688426"/>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42" name="文本框 41">
                  <a:extLst>
                    <a:ext uri="{FF2B5EF4-FFF2-40B4-BE49-F238E27FC236}">
                      <a16:creationId xmlns:a16="http://schemas.microsoft.com/office/drawing/2014/main" id="{5E6ED278-BE42-4FFC-B56B-581208AB0225}"/>
                    </a:ext>
                  </a:extLst>
                </p:cNvPr>
                <p:cNvSpPr txBox="1">
                  <a:spLocks noRot="1" noChangeAspect="1" noMove="1" noResize="1" noEditPoints="1" noAdjustHandles="1" noChangeArrowheads="1" noChangeShapeType="1" noTextEdit="1"/>
                </p:cNvSpPr>
                <p:nvPr/>
              </p:nvSpPr>
              <p:spPr>
                <a:xfrm>
                  <a:off x="2217097" y="3688426"/>
                  <a:ext cx="445955" cy="369332"/>
                </a:xfrm>
                <a:prstGeom prst="rect">
                  <a:avLst/>
                </a:prstGeom>
                <a:blipFill>
                  <a:blip r:embed="rId21"/>
                  <a:stretch>
                    <a:fillRect/>
                  </a:stretch>
                </a:blipFill>
              </p:spPr>
              <p:txBody>
                <a:bodyPr/>
                <a:lstStyle/>
                <a:p>
                  <a:r>
                    <a:rPr lang="zh-CN" altLang="en-US">
                      <a:noFill/>
                    </a:rPr>
                    <a:t> </a:t>
                  </a:r>
                </a:p>
              </p:txBody>
            </p:sp>
          </mc:Fallback>
        </mc:AlternateContent>
      </p:grpSp>
      <p:sp>
        <p:nvSpPr>
          <p:cNvPr id="43" name="文本框 42">
            <a:extLst>
              <a:ext uri="{FF2B5EF4-FFF2-40B4-BE49-F238E27FC236}">
                <a16:creationId xmlns:a16="http://schemas.microsoft.com/office/drawing/2014/main" id="{FA66E4E2-C527-40FD-A6A2-9C448AC5F5B9}"/>
              </a:ext>
            </a:extLst>
          </p:cNvPr>
          <p:cNvSpPr txBox="1"/>
          <p:nvPr/>
        </p:nvSpPr>
        <p:spPr>
          <a:xfrm>
            <a:off x="1634910" y="1556899"/>
            <a:ext cx="697627" cy="369332"/>
          </a:xfrm>
          <a:prstGeom prst="rect">
            <a:avLst/>
          </a:prstGeom>
          <a:noFill/>
        </p:spPr>
        <p:txBody>
          <a:bodyPr wrap="none" rtlCol="0">
            <a:spAutoFit/>
          </a:bodyPr>
          <a:lstStyle/>
          <a:p>
            <a:r>
              <a:rPr lang="zh-CN" altLang="en-US" dirty="0"/>
              <a:t>第</a:t>
            </a:r>
            <a:r>
              <a:rPr lang="en-US" altLang="zh-CN" dirty="0"/>
              <a:t>j</a:t>
            </a:r>
            <a:r>
              <a:rPr lang="zh-CN" altLang="en-US" dirty="0"/>
              <a:t>列</a:t>
            </a:r>
          </a:p>
        </p:txBody>
      </p:sp>
      <p:sp>
        <p:nvSpPr>
          <p:cNvPr id="44" name="文本框 43">
            <a:extLst>
              <a:ext uri="{FF2B5EF4-FFF2-40B4-BE49-F238E27FC236}">
                <a16:creationId xmlns:a16="http://schemas.microsoft.com/office/drawing/2014/main" id="{5E9306DC-00B8-46DF-A67D-A8597BC544CF}"/>
              </a:ext>
            </a:extLst>
          </p:cNvPr>
          <p:cNvSpPr txBox="1"/>
          <p:nvPr/>
        </p:nvSpPr>
        <p:spPr>
          <a:xfrm>
            <a:off x="1206967" y="4897209"/>
            <a:ext cx="1338828" cy="369332"/>
          </a:xfrm>
          <a:prstGeom prst="rect">
            <a:avLst/>
          </a:prstGeom>
          <a:noFill/>
        </p:spPr>
        <p:txBody>
          <a:bodyPr wrap="none" rtlCol="0">
            <a:spAutoFit/>
          </a:bodyPr>
          <a:lstStyle/>
          <a:p>
            <a:r>
              <a:rPr lang="en-US" altLang="zh-CN" dirty="0"/>
              <a:t>m x m </a:t>
            </a:r>
            <a:r>
              <a:rPr lang="zh-CN" altLang="en-US" dirty="0"/>
              <a:t>矩阵</a:t>
            </a:r>
          </a:p>
        </p:txBody>
      </p:sp>
    </p:spTree>
    <p:extLst>
      <p:ext uri="{BB962C8B-B14F-4D97-AF65-F5344CB8AC3E}">
        <p14:creationId xmlns:p14="http://schemas.microsoft.com/office/powerpoint/2010/main" val="3987738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a:extLst>
              <a:ext uri="{FF2B5EF4-FFF2-40B4-BE49-F238E27FC236}">
                <a16:creationId xmlns:a16="http://schemas.microsoft.com/office/drawing/2014/main" id="{3C317157-6D91-4DE0-809D-3A77B41250EE}"/>
              </a:ext>
            </a:extLst>
          </p:cNvPr>
          <p:cNvGrpSpPr/>
          <p:nvPr/>
        </p:nvGrpSpPr>
        <p:grpSpPr>
          <a:xfrm>
            <a:off x="838200" y="51285"/>
            <a:ext cx="8590617" cy="3709642"/>
            <a:chOff x="332349" y="1556899"/>
            <a:chExt cx="8590617" cy="3709642"/>
          </a:xfrm>
        </p:grpSpPr>
        <p:sp>
          <p:nvSpPr>
            <p:cNvPr id="16" name="矩形 15">
              <a:extLst>
                <a:ext uri="{FF2B5EF4-FFF2-40B4-BE49-F238E27FC236}">
                  <a16:creationId xmlns:a16="http://schemas.microsoft.com/office/drawing/2014/main" id="{E9DCD952-A1CA-4D73-9419-72CF3F7E201C}"/>
                </a:ext>
              </a:extLst>
            </p:cNvPr>
            <p:cNvSpPr/>
            <p:nvPr/>
          </p:nvSpPr>
          <p:spPr>
            <a:xfrm>
              <a:off x="3834641" y="1931602"/>
              <a:ext cx="4267200" cy="300247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403A020-C4A3-49A2-B572-9B8A8A5B8F9D}"/>
                    </a:ext>
                  </a:extLst>
                </p:cNvPr>
                <p:cNvSpPr txBox="1"/>
                <p:nvPr/>
              </p:nvSpPr>
              <p:spPr>
                <a:xfrm>
                  <a:off x="5206241" y="1931601"/>
                  <a:ext cx="59978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17" name="文本框 16">
                  <a:extLst>
                    <a:ext uri="{FF2B5EF4-FFF2-40B4-BE49-F238E27FC236}">
                      <a16:creationId xmlns:a16="http://schemas.microsoft.com/office/drawing/2014/main" id="{1403A020-C4A3-49A2-B572-9B8A8A5B8F9D}"/>
                    </a:ext>
                  </a:extLst>
                </p:cNvPr>
                <p:cNvSpPr txBox="1">
                  <a:spLocks noRot="1" noChangeAspect="1" noMove="1" noResize="1" noEditPoints="1" noAdjustHandles="1" noChangeArrowheads="1" noChangeShapeType="1" noTextEdit="1"/>
                </p:cNvSpPr>
                <p:nvPr/>
              </p:nvSpPr>
              <p:spPr>
                <a:xfrm>
                  <a:off x="5206241" y="1931601"/>
                  <a:ext cx="599780" cy="369332"/>
                </a:xfrm>
                <a:prstGeom prst="rect">
                  <a:avLst/>
                </a:prstGeom>
                <a:blipFill>
                  <a:blip r:embed="rId2"/>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EA43CD79-0B4E-4E81-A1E1-684DC8D31BBA}"/>
                    </a:ext>
                  </a:extLst>
                </p:cNvPr>
                <p:cNvSpPr txBox="1"/>
                <p:nvPr/>
              </p:nvSpPr>
              <p:spPr>
                <a:xfrm>
                  <a:off x="5206241" y="2419478"/>
                  <a:ext cx="599780"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𝟐</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18" name="文本框 17">
                  <a:extLst>
                    <a:ext uri="{FF2B5EF4-FFF2-40B4-BE49-F238E27FC236}">
                      <a16:creationId xmlns:a16="http://schemas.microsoft.com/office/drawing/2014/main" id="{EA43CD79-0B4E-4E81-A1E1-684DC8D31BBA}"/>
                    </a:ext>
                  </a:extLst>
                </p:cNvPr>
                <p:cNvSpPr txBox="1">
                  <a:spLocks noRot="1" noChangeAspect="1" noMove="1" noResize="1" noEditPoints="1" noAdjustHandles="1" noChangeArrowheads="1" noChangeShapeType="1" noTextEdit="1"/>
                </p:cNvSpPr>
                <p:nvPr/>
              </p:nvSpPr>
              <p:spPr>
                <a:xfrm>
                  <a:off x="5206241" y="2419478"/>
                  <a:ext cx="599780" cy="38151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23E71804-7872-4C8B-9131-BB07378ECFA6}"/>
                    </a:ext>
                  </a:extLst>
                </p:cNvPr>
                <p:cNvSpPr txBox="1"/>
                <p:nvPr/>
              </p:nvSpPr>
              <p:spPr>
                <a:xfrm>
                  <a:off x="5206241" y="2880668"/>
                  <a:ext cx="599780"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𝟑</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19" name="文本框 18">
                  <a:extLst>
                    <a:ext uri="{FF2B5EF4-FFF2-40B4-BE49-F238E27FC236}">
                      <a16:creationId xmlns:a16="http://schemas.microsoft.com/office/drawing/2014/main" id="{23E71804-7872-4C8B-9131-BB07378ECFA6}"/>
                    </a:ext>
                  </a:extLst>
                </p:cNvPr>
                <p:cNvSpPr txBox="1">
                  <a:spLocks noRot="1" noChangeAspect="1" noMove="1" noResize="1" noEditPoints="1" noAdjustHandles="1" noChangeArrowheads="1" noChangeShapeType="1" noTextEdit="1"/>
                </p:cNvSpPr>
                <p:nvPr/>
              </p:nvSpPr>
              <p:spPr>
                <a:xfrm>
                  <a:off x="5206241" y="2880668"/>
                  <a:ext cx="599780" cy="38151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694036A7-0608-4039-AE45-B1696D840F67}"/>
                    </a:ext>
                  </a:extLst>
                </p:cNvPr>
                <p:cNvSpPr txBox="1"/>
                <p:nvPr/>
              </p:nvSpPr>
              <p:spPr>
                <a:xfrm>
                  <a:off x="5206241" y="3638678"/>
                  <a:ext cx="564514" cy="3956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𝒋</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20" name="文本框 19">
                  <a:extLst>
                    <a:ext uri="{FF2B5EF4-FFF2-40B4-BE49-F238E27FC236}">
                      <a16:creationId xmlns:a16="http://schemas.microsoft.com/office/drawing/2014/main" id="{694036A7-0608-4039-AE45-B1696D840F67}"/>
                    </a:ext>
                  </a:extLst>
                </p:cNvPr>
                <p:cNvSpPr txBox="1">
                  <a:spLocks noRot="1" noChangeAspect="1" noMove="1" noResize="1" noEditPoints="1" noAdjustHandles="1" noChangeArrowheads="1" noChangeShapeType="1" noTextEdit="1"/>
                </p:cNvSpPr>
                <p:nvPr/>
              </p:nvSpPr>
              <p:spPr>
                <a:xfrm>
                  <a:off x="5206241" y="3638678"/>
                  <a:ext cx="564514" cy="395621"/>
                </a:xfrm>
                <a:prstGeom prst="rect">
                  <a:avLst/>
                </a:prstGeom>
                <a:blipFill>
                  <a:blip r:embed="rId5"/>
                  <a:stretch>
                    <a:fillRect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BA27CD5C-55FA-4F2A-A82F-49302AB63B55}"/>
                    </a:ext>
                  </a:extLst>
                </p:cNvPr>
                <p:cNvSpPr txBox="1"/>
                <p:nvPr/>
              </p:nvSpPr>
              <p:spPr>
                <a:xfrm>
                  <a:off x="5206241" y="4438006"/>
                  <a:ext cx="654282" cy="3815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𝒎</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oMath>
                    </m:oMathPara>
                  </a14:m>
                  <a:endParaRPr lang="zh-CN" altLang="en-US" b="1" dirty="0"/>
                </a:p>
              </p:txBody>
            </p:sp>
          </mc:Choice>
          <mc:Fallback xmlns="">
            <p:sp>
              <p:nvSpPr>
                <p:cNvPr id="21" name="文本框 20">
                  <a:extLst>
                    <a:ext uri="{FF2B5EF4-FFF2-40B4-BE49-F238E27FC236}">
                      <a16:creationId xmlns:a16="http://schemas.microsoft.com/office/drawing/2014/main" id="{BA27CD5C-55FA-4F2A-A82F-49302AB63B55}"/>
                    </a:ext>
                  </a:extLst>
                </p:cNvPr>
                <p:cNvSpPr txBox="1">
                  <a:spLocks noRot="1" noChangeAspect="1" noMove="1" noResize="1" noEditPoints="1" noAdjustHandles="1" noChangeArrowheads="1" noChangeShapeType="1" noTextEdit="1"/>
                </p:cNvSpPr>
                <p:nvPr/>
              </p:nvSpPr>
              <p:spPr>
                <a:xfrm>
                  <a:off x="5206241" y="4438006"/>
                  <a:ext cx="654282" cy="38151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08B6900-95DB-4E19-A12D-7F84F5FD45E7}"/>
                    </a:ext>
                  </a:extLst>
                </p:cNvPr>
                <p:cNvSpPr txBox="1"/>
                <p:nvPr/>
              </p:nvSpPr>
              <p:spPr>
                <a:xfrm>
                  <a:off x="5275619" y="3256305"/>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22" name="文本框 21">
                  <a:extLst>
                    <a:ext uri="{FF2B5EF4-FFF2-40B4-BE49-F238E27FC236}">
                      <a16:creationId xmlns:a16="http://schemas.microsoft.com/office/drawing/2014/main" id="{C08B6900-95DB-4E19-A12D-7F84F5FD45E7}"/>
                    </a:ext>
                  </a:extLst>
                </p:cNvPr>
                <p:cNvSpPr txBox="1">
                  <a:spLocks noRot="1" noChangeAspect="1" noMove="1" noResize="1" noEditPoints="1" noAdjustHandles="1" noChangeArrowheads="1" noChangeShapeType="1" noTextEdit="1"/>
                </p:cNvSpPr>
                <p:nvPr/>
              </p:nvSpPr>
              <p:spPr>
                <a:xfrm>
                  <a:off x="5275619" y="3256305"/>
                  <a:ext cx="445955"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2C14F329-4F80-4708-8B9E-AE280C164202}"/>
                    </a:ext>
                  </a:extLst>
                </p:cNvPr>
                <p:cNvSpPr txBox="1"/>
                <p:nvPr/>
              </p:nvSpPr>
              <p:spPr>
                <a:xfrm>
                  <a:off x="5275619" y="4043365"/>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23" name="文本框 22">
                  <a:extLst>
                    <a:ext uri="{FF2B5EF4-FFF2-40B4-BE49-F238E27FC236}">
                      <a16:creationId xmlns:a16="http://schemas.microsoft.com/office/drawing/2014/main" id="{2C14F329-4F80-4708-8B9E-AE280C164202}"/>
                    </a:ext>
                  </a:extLst>
                </p:cNvPr>
                <p:cNvSpPr txBox="1">
                  <a:spLocks noRot="1" noChangeAspect="1" noMove="1" noResize="1" noEditPoints="1" noAdjustHandles="1" noChangeArrowheads="1" noChangeShapeType="1" noTextEdit="1"/>
                </p:cNvSpPr>
                <p:nvPr/>
              </p:nvSpPr>
              <p:spPr>
                <a:xfrm>
                  <a:off x="5275619" y="4043365"/>
                  <a:ext cx="445955" cy="369332"/>
                </a:xfrm>
                <a:prstGeom prst="rect">
                  <a:avLst/>
                </a:prstGeom>
                <a:blipFill>
                  <a:blip r:embed="rId8"/>
                  <a:stretch>
                    <a:fillRect/>
                  </a:stretch>
                </a:blipFill>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0A85252C-A437-44D1-B751-B6E95691BAE5}"/>
                </a:ext>
              </a:extLst>
            </p:cNvPr>
            <p:cNvSpPr/>
            <p:nvPr/>
          </p:nvSpPr>
          <p:spPr>
            <a:xfrm>
              <a:off x="3987041" y="2038478"/>
              <a:ext cx="1219199" cy="27810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5" name="矩形 24">
              <a:extLst>
                <a:ext uri="{FF2B5EF4-FFF2-40B4-BE49-F238E27FC236}">
                  <a16:creationId xmlns:a16="http://schemas.microsoft.com/office/drawing/2014/main" id="{20816FB0-A8DB-4D62-9281-D0688FD5935B}"/>
                </a:ext>
              </a:extLst>
            </p:cNvPr>
            <p:cNvSpPr/>
            <p:nvPr/>
          </p:nvSpPr>
          <p:spPr>
            <a:xfrm>
              <a:off x="5867400" y="2038478"/>
              <a:ext cx="2082041" cy="27810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26" name="直接箭头连接符 25">
              <a:extLst>
                <a:ext uri="{FF2B5EF4-FFF2-40B4-BE49-F238E27FC236}">
                  <a16:creationId xmlns:a16="http://schemas.microsoft.com/office/drawing/2014/main" id="{C0293680-9A1B-49BF-9FA2-BB56DB818621}"/>
                </a:ext>
              </a:extLst>
            </p:cNvPr>
            <p:cNvCxnSpPr>
              <a:cxnSpLocks/>
              <a:stCxn id="20" idx="3"/>
            </p:cNvCxnSpPr>
            <p:nvPr/>
          </p:nvCxnSpPr>
          <p:spPr>
            <a:xfrm flipV="1">
              <a:off x="5770755" y="3714879"/>
              <a:ext cx="426086" cy="121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4ED6591-3AEA-428B-A744-D36841C1A3B2}"/>
                    </a:ext>
                  </a:extLst>
                </p:cNvPr>
                <p:cNvSpPr txBox="1"/>
                <p:nvPr/>
              </p:nvSpPr>
              <p:spPr>
                <a:xfrm>
                  <a:off x="6138293" y="3530212"/>
                  <a:ext cx="2784673" cy="395621"/>
                </a:xfrm>
                <a:prstGeom prst="rect">
                  <a:avLst/>
                </a:prstGeom>
                <a:noFill/>
              </p:spPr>
              <p:txBody>
                <a:bodyPr wrap="none" rtlCol="0">
                  <a:spAutoFit/>
                </a:bodyPr>
                <a:lstStyle/>
                <a:p>
                  <a:r>
                    <a:rPr lang="zh-CN" altLang="en-US" b="1" dirty="0"/>
                    <a:t>这个变成</a:t>
                  </a:r>
                  <a:r>
                    <a:rPr lang="en-US" altLang="zh-CN" b="1" dirty="0"/>
                    <a:t>1</a:t>
                  </a:r>
                  <a:r>
                    <a:rPr lang="zh-CN" altLang="en-US" b="1" dirty="0"/>
                    <a:t>：第</a:t>
                  </a:r>
                  <a:r>
                    <a:rPr lang="en-US" altLang="zh-CN" b="1" dirty="0"/>
                    <a:t>j</a:t>
                  </a:r>
                  <a:r>
                    <a:rPr lang="zh-CN" altLang="en-US" b="1" dirty="0"/>
                    <a:t>行除以</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sub>
                      </m:sSub>
                    </m:oMath>
                  </a14:m>
                  <a:endParaRPr lang="zh-CN" altLang="en-US" b="1" dirty="0"/>
                </a:p>
              </p:txBody>
            </p:sp>
          </mc:Choice>
          <mc:Fallback xmlns="">
            <p:sp>
              <p:nvSpPr>
                <p:cNvPr id="27" name="文本框 26">
                  <a:extLst>
                    <a:ext uri="{FF2B5EF4-FFF2-40B4-BE49-F238E27FC236}">
                      <a16:creationId xmlns:a16="http://schemas.microsoft.com/office/drawing/2014/main" id="{24ED6591-3AEA-428B-A744-D36841C1A3B2}"/>
                    </a:ext>
                  </a:extLst>
                </p:cNvPr>
                <p:cNvSpPr txBox="1">
                  <a:spLocks noRot="1" noChangeAspect="1" noMove="1" noResize="1" noEditPoints="1" noAdjustHandles="1" noChangeArrowheads="1" noChangeShapeType="1" noTextEdit="1"/>
                </p:cNvSpPr>
                <p:nvPr/>
              </p:nvSpPr>
              <p:spPr>
                <a:xfrm>
                  <a:off x="6138293" y="3530212"/>
                  <a:ext cx="2784673" cy="395621"/>
                </a:xfrm>
                <a:prstGeom prst="rect">
                  <a:avLst/>
                </a:prstGeom>
                <a:blipFill>
                  <a:blip r:embed="rId9"/>
                  <a:stretch>
                    <a:fillRect l="-1969" t="-12308" b="-1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124E0608-047C-46E3-A997-1FDDF4DADCD9}"/>
                    </a:ext>
                  </a:extLst>
                </p:cNvPr>
                <p:cNvSpPr txBox="1"/>
                <p:nvPr/>
              </p:nvSpPr>
              <p:spPr>
                <a:xfrm>
                  <a:off x="5932028" y="2610235"/>
                  <a:ext cx="2556662" cy="668645"/>
                </a:xfrm>
                <a:prstGeom prst="rect">
                  <a:avLst/>
                </a:prstGeom>
                <a:noFill/>
              </p:spPr>
              <p:txBody>
                <a:bodyPr wrap="none" rtlCol="0">
                  <a:spAutoFit/>
                </a:bodyPr>
                <a:lstStyle/>
                <a:p>
                  <a:r>
                    <a:rPr lang="zh-CN" altLang="en-US" b="1" dirty="0"/>
                    <a:t>这些变成</a:t>
                  </a:r>
                  <a:r>
                    <a:rPr lang="en-US" altLang="zh-CN" b="1" dirty="0"/>
                    <a:t>0</a:t>
                  </a:r>
                  <a:r>
                    <a:rPr lang="zh-CN" altLang="en-US" b="1" dirty="0"/>
                    <a:t>：第</a:t>
                  </a:r>
                  <a:r>
                    <a:rPr lang="en-US" altLang="zh-CN" b="1" dirty="0"/>
                    <a:t>k</a:t>
                  </a:r>
                  <a:r>
                    <a:rPr lang="zh-CN" altLang="en-US" b="1" dirty="0"/>
                    <a:t>行</a:t>
                  </a:r>
                  <a:endParaRPr lang="en-US" altLang="zh-CN" b="1" dirty="0"/>
                </a:p>
                <a:p>
                  <a:r>
                    <a:rPr lang="en-US" altLang="zh-CN" b="1" dirty="0"/>
                    <a:t>– </a:t>
                  </a:r>
                  <a:r>
                    <a:rPr lang="zh-CN" altLang="en-US" b="1" dirty="0"/>
                    <a:t>第</a:t>
                  </a:r>
                  <a:r>
                    <a:rPr lang="en-US" altLang="zh-CN" b="1" dirty="0"/>
                    <a:t>j</a:t>
                  </a:r>
                  <a:r>
                    <a:rPr lang="zh-CN" altLang="en-US" b="1" dirty="0"/>
                    <a:t>行除以</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sub>
                      </m:sSub>
                    </m:oMath>
                  </a14:m>
                  <a:r>
                    <a:rPr lang="zh-CN" altLang="en-US" b="1" dirty="0"/>
                    <a:t> 乘以</a:t>
                  </a:r>
                  <a14:m>
                    <m:oMath xmlns:m="http://schemas.openxmlformats.org/officeDocument/2006/math">
                      <m:sSub>
                        <m:sSubPr>
                          <m:ctrlPr>
                            <a:rPr lang="en-US" altLang="zh-CN" b="1"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𝒋</m:t>
                          </m:r>
                        </m:sub>
                      </m:sSub>
                    </m:oMath>
                  </a14:m>
                  <a:endParaRPr lang="zh-CN" altLang="en-US" b="1" dirty="0"/>
                </a:p>
              </p:txBody>
            </p:sp>
          </mc:Choice>
          <mc:Fallback xmlns="">
            <p:sp>
              <p:nvSpPr>
                <p:cNvPr id="28" name="文本框 27">
                  <a:extLst>
                    <a:ext uri="{FF2B5EF4-FFF2-40B4-BE49-F238E27FC236}">
                      <a16:creationId xmlns:a16="http://schemas.microsoft.com/office/drawing/2014/main" id="{124E0608-047C-46E3-A997-1FDDF4DADCD9}"/>
                    </a:ext>
                  </a:extLst>
                </p:cNvPr>
                <p:cNvSpPr txBox="1">
                  <a:spLocks noRot="1" noChangeAspect="1" noMove="1" noResize="1" noEditPoints="1" noAdjustHandles="1" noChangeArrowheads="1" noChangeShapeType="1" noTextEdit="1"/>
                </p:cNvSpPr>
                <p:nvPr/>
              </p:nvSpPr>
              <p:spPr>
                <a:xfrm>
                  <a:off x="5932028" y="2610235"/>
                  <a:ext cx="2556662" cy="668645"/>
                </a:xfrm>
                <a:prstGeom prst="rect">
                  <a:avLst/>
                </a:prstGeom>
                <a:blipFill>
                  <a:blip r:embed="rId10"/>
                  <a:stretch>
                    <a:fillRect l="-1909" t="-6364" b="-10000"/>
                  </a:stretch>
                </a:blipFill>
              </p:spPr>
              <p:txBody>
                <a:bodyPr/>
                <a:lstStyle/>
                <a:p>
                  <a:r>
                    <a:rPr lang="zh-CN" altLang="en-US">
                      <a:noFill/>
                    </a:rPr>
                    <a:t> </a:t>
                  </a:r>
                </a:p>
              </p:txBody>
            </p:sp>
          </mc:Fallback>
        </mc:AlternateContent>
        <p:sp>
          <p:nvSpPr>
            <p:cNvPr id="29" name="右大括号 28">
              <a:extLst>
                <a:ext uri="{FF2B5EF4-FFF2-40B4-BE49-F238E27FC236}">
                  <a16:creationId xmlns:a16="http://schemas.microsoft.com/office/drawing/2014/main" id="{C01FA5C1-C513-4BE7-B4F0-F944D70A1AD6}"/>
                </a:ext>
              </a:extLst>
            </p:cNvPr>
            <p:cNvSpPr/>
            <p:nvPr/>
          </p:nvSpPr>
          <p:spPr>
            <a:xfrm>
              <a:off x="5663441" y="2141967"/>
              <a:ext cx="323723" cy="1300888"/>
            </a:xfrm>
            <a:prstGeom prst="rightBrace">
              <a:avLst>
                <a:gd name="adj1" fmla="val 12416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30" name="右大括号 29">
              <a:extLst>
                <a:ext uri="{FF2B5EF4-FFF2-40B4-BE49-F238E27FC236}">
                  <a16:creationId xmlns:a16="http://schemas.microsoft.com/office/drawing/2014/main" id="{D4795F64-B6BF-46C7-A407-D7C29F92CFFF}"/>
                </a:ext>
              </a:extLst>
            </p:cNvPr>
            <p:cNvSpPr/>
            <p:nvPr/>
          </p:nvSpPr>
          <p:spPr>
            <a:xfrm>
              <a:off x="5758816" y="4106523"/>
              <a:ext cx="323723" cy="623363"/>
            </a:xfrm>
            <a:prstGeom prst="rightBrace">
              <a:avLst>
                <a:gd name="adj1" fmla="val 12416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31" name="文本框 30">
              <a:extLst>
                <a:ext uri="{FF2B5EF4-FFF2-40B4-BE49-F238E27FC236}">
                  <a16:creationId xmlns:a16="http://schemas.microsoft.com/office/drawing/2014/main" id="{CFB94915-D194-4E53-B529-5F67634E7DAE}"/>
                </a:ext>
              </a:extLst>
            </p:cNvPr>
            <p:cNvSpPr txBox="1"/>
            <p:nvPr/>
          </p:nvSpPr>
          <p:spPr>
            <a:xfrm>
              <a:off x="5997827" y="4220706"/>
              <a:ext cx="1236236" cy="369332"/>
            </a:xfrm>
            <a:prstGeom prst="rect">
              <a:avLst/>
            </a:prstGeom>
            <a:noFill/>
          </p:spPr>
          <p:txBody>
            <a:bodyPr wrap="none" rtlCol="0">
              <a:spAutoFit/>
            </a:bodyPr>
            <a:lstStyle/>
            <a:p>
              <a:r>
                <a:rPr lang="zh-CN" altLang="en-US" b="1" dirty="0"/>
                <a:t>这些变成</a:t>
              </a:r>
              <a:r>
                <a:rPr lang="en-US" altLang="zh-CN" b="1" dirty="0"/>
                <a:t>0</a:t>
              </a:r>
              <a:endParaRPr lang="zh-CN" altLang="en-US" b="1" dirty="0"/>
            </a:p>
          </p:txBody>
        </p:sp>
        <p:sp>
          <p:nvSpPr>
            <p:cNvPr id="32" name="箭头: 下 31">
              <a:extLst>
                <a:ext uri="{FF2B5EF4-FFF2-40B4-BE49-F238E27FC236}">
                  <a16:creationId xmlns:a16="http://schemas.microsoft.com/office/drawing/2014/main" id="{CBDAC72C-4947-4587-A34B-967EAC911E73}"/>
                </a:ext>
              </a:extLst>
            </p:cNvPr>
            <p:cNvSpPr/>
            <p:nvPr/>
          </p:nvSpPr>
          <p:spPr>
            <a:xfrm rot="5400000">
              <a:off x="3451023" y="3350662"/>
              <a:ext cx="342107" cy="2539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33" name="组合 32">
              <a:extLst>
                <a:ext uri="{FF2B5EF4-FFF2-40B4-BE49-F238E27FC236}">
                  <a16:creationId xmlns:a16="http://schemas.microsoft.com/office/drawing/2014/main" id="{31A9175D-A6FA-44D1-8CE8-C3903572BC77}"/>
                </a:ext>
              </a:extLst>
            </p:cNvPr>
            <p:cNvGrpSpPr/>
            <p:nvPr/>
          </p:nvGrpSpPr>
          <p:grpSpPr>
            <a:xfrm>
              <a:off x="332349" y="1926231"/>
              <a:ext cx="3043063" cy="3007847"/>
              <a:chOff x="332349" y="1926231"/>
              <a:chExt cx="3043063" cy="3007847"/>
            </a:xfrm>
          </p:grpSpPr>
          <p:sp>
            <p:nvSpPr>
              <p:cNvPr id="34" name="矩形 33">
                <a:extLst>
                  <a:ext uri="{FF2B5EF4-FFF2-40B4-BE49-F238E27FC236}">
                    <a16:creationId xmlns:a16="http://schemas.microsoft.com/office/drawing/2014/main" id="{BE7D6C26-6CDE-4181-99D3-4F58E3CA7255}"/>
                  </a:ext>
                </a:extLst>
              </p:cNvPr>
              <p:cNvSpPr/>
              <p:nvPr/>
            </p:nvSpPr>
            <p:spPr>
              <a:xfrm>
                <a:off x="332349" y="1931602"/>
                <a:ext cx="3043063" cy="300247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65C8C108-DCF3-4FD4-96B5-FDD1D7DAFFB5}"/>
                      </a:ext>
                    </a:extLst>
                  </p:cNvPr>
                  <p:cNvSpPr txBox="1"/>
                  <p:nvPr/>
                </p:nvSpPr>
                <p:spPr>
                  <a:xfrm>
                    <a:off x="1542268" y="3338073"/>
                    <a:ext cx="564514" cy="6948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𝒋</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den>
                          </m:f>
                        </m:oMath>
                      </m:oMathPara>
                    </a14:m>
                    <a:endParaRPr lang="zh-CN" altLang="en-US" b="1" dirty="0"/>
                  </a:p>
                </p:txBody>
              </p:sp>
            </mc:Choice>
            <mc:Fallback xmlns="">
              <p:sp>
                <p:nvSpPr>
                  <p:cNvPr id="35" name="文本框 34">
                    <a:extLst>
                      <a:ext uri="{FF2B5EF4-FFF2-40B4-BE49-F238E27FC236}">
                        <a16:creationId xmlns:a16="http://schemas.microsoft.com/office/drawing/2014/main" id="{65C8C108-DCF3-4FD4-96B5-FDD1D7DAFFB5}"/>
                      </a:ext>
                    </a:extLst>
                  </p:cNvPr>
                  <p:cNvSpPr txBox="1">
                    <a:spLocks noRot="1" noChangeAspect="1" noMove="1" noResize="1" noEditPoints="1" noAdjustHandles="1" noChangeArrowheads="1" noChangeShapeType="1" noTextEdit="1"/>
                  </p:cNvSpPr>
                  <p:nvPr/>
                </p:nvSpPr>
                <p:spPr>
                  <a:xfrm>
                    <a:off x="1542268" y="3338073"/>
                    <a:ext cx="564514" cy="69487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568F12C2-65EC-4EC5-B2B0-27540D0C8C72}"/>
                      </a:ext>
                    </a:extLst>
                  </p:cNvPr>
                  <p:cNvSpPr txBox="1"/>
                  <p:nvPr/>
                </p:nvSpPr>
                <p:spPr>
                  <a:xfrm>
                    <a:off x="1459713" y="1926231"/>
                    <a:ext cx="811376" cy="6528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num>
                            <m:den>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𝒋</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den>
                          </m:f>
                        </m:oMath>
                      </m:oMathPara>
                    </a14:m>
                    <a:endParaRPr lang="zh-CN" altLang="en-US" b="1" dirty="0"/>
                  </a:p>
                </p:txBody>
              </p:sp>
            </mc:Choice>
            <mc:Fallback xmlns="">
              <p:sp>
                <p:nvSpPr>
                  <p:cNvPr id="36" name="文本框 35">
                    <a:extLst>
                      <a:ext uri="{FF2B5EF4-FFF2-40B4-BE49-F238E27FC236}">
                        <a16:creationId xmlns:a16="http://schemas.microsoft.com/office/drawing/2014/main" id="{568F12C2-65EC-4EC5-B2B0-27540D0C8C72}"/>
                      </a:ext>
                    </a:extLst>
                  </p:cNvPr>
                  <p:cNvSpPr txBox="1">
                    <a:spLocks noRot="1" noChangeAspect="1" noMove="1" noResize="1" noEditPoints="1" noAdjustHandles="1" noChangeArrowheads="1" noChangeShapeType="1" noTextEdit="1"/>
                  </p:cNvSpPr>
                  <p:nvPr/>
                </p:nvSpPr>
                <p:spPr>
                  <a:xfrm>
                    <a:off x="1459713" y="1926231"/>
                    <a:ext cx="811376" cy="652807"/>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12957354-536A-4914-A83E-7B02208573A9}"/>
                      </a:ext>
                    </a:extLst>
                  </p:cNvPr>
                  <p:cNvSpPr txBox="1"/>
                  <p:nvPr/>
                </p:nvSpPr>
                <p:spPr>
                  <a:xfrm>
                    <a:off x="1459713" y="2462251"/>
                    <a:ext cx="811376" cy="6528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𝟐</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num>
                            <m:den>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𝒋</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den>
                          </m:f>
                        </m:oMath>
                      </m:oMathPara>
                    </a14:m>
                    <a:endParaRPr lang="zh-CN" altLang="en-US" b="1" dirty="0"/>
                  </a:p>
                </p:txBody>
              </p:sp>
            </mc:Choice>
            <mc:Fallback xmlns="">
              <p:sp>
                <p:nvSpPr>
                  <p:cNvPr id="37" name="文本框 36">
                    <a:extLst>
                      <a:ext uri="{FF2B5EF4-FFF2-40B4-BE49-F238E27FC236}">
                        <a16:creationId xmlns:a16="http://schemas.microsoft.com/office/drawing/2014/main" id="{12957354-536A-4914-A83E-7B02208573A9}"/>
                      </a:ext>
                    </a:extLst>
                  </p:cNvPr>
                  <p:cNvSpPr txBox="1">
                    <a:spLocks noRot="1" noChangeAspect="1" noMove="1" noResize="1" noEditPoints="1" noAdjustHandles="1" noChangeArrowheads="1" noChangeShapeType="1" noTextEdit="1"/>
                  </p:cNvSpPr>
                  <p:nvPr/>
                </p:nvSpPr>
                <p:spPr>
                  <a:xfrm>
                    <a:off x="1459713" y="2462251"/>
                    <a:ext cx="811376" cy="65280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A839F302-0655-4291-B8DB-5E9A9E56C03C}"/>
                      </a:ext>
                    </a:extLst>
                  </p:cNvPr>
                  <p:cNvSpPr txBox="1"/>
                  <p:nvPr/>
                </p:nvSpPr>
                <p:spPr>
                  <a:xfrm>
                    <a:off x="1634910" y="2973238"/>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33" name="文本框 32">
                    <a:extLst>
                      <a:ext uri="{FF2B5EF4-FFF2-40B4-BE49-F238E27FC236}">
                        <a16:creationId xmlns:a16="http://schemas.microsoft.com/office/drawing/2014/main" id="{EC52AA1E-26BF-4991-8992-800BF97623D9}"/>
                      </a:ext>
                    </a:extLst>
                  </p:cNvPr>
                  <p:cNvSpPr txBox="1">
                    <a:spLocks noRot="1" noChangeAspect="1" noMove="1" noResize="1" noEditPoints="1" noAdjustHandles="1" noChangeArrowheads="1" noChangeShapeType="1" noTextEdit="1"/>
                  </p:cNvSpPr>
                  <p:nvPr/>
                </p:nvSpPr>
                <p:spPr>
                  <a:xfrm>
                    <a:off x="1634910" y="2973238"/>
                    <a:ext cx="445955" cy="369332"/>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03E58B9D-F439-4E00-9470-BC74DA401BFD}"/>
                      </a:ext>
                    </a:extLst>
                  </p:cNvPr>
                  <p:cNvSpPr txBox="1"/>
                  <p:nvPr/>
                </p:nvSpPr>
                <p:spPr>
                  <a:xfrm>
                    <a:off x="1634910" y="3858699"/>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34" name="文本框 33">
                    <a:extLst>
                      <a:ext uri="{FF2B5EF4-FFF2-40B4-BE49-F238E27FC236}">
                        <a16:creationId xmlns:a16="http://schemas.microsoft.com/office/drawing/2014/main" id="{D00994D3-EE4F-4072-93B4-EB3633D6CC4B}"/>
                      </a:ext>
                    </a:extLst>
                  </p:cNvPr>
                  <p:cNvSpPr txBox="1">
                    <a:spLocks noRot="1" noChangeAspect="1" noMove="1" noResize="1" noEditPoints="1" noAdjustHandles="1" noChangeArrowheads="1" noChangeShapeType="1" noTextEdit="1"/>
                  </p:cNvSpPr>
                  <p:nvPr/>
                </p:nvSpPr>
                <p:spPr>
                  <a:xfrm>
                    <a:off x="1634910" y="3858699"/>
                    <a:ext cx="445955" cy="369332"/>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75216BD0-3A5B-4A5E-9DAE-2ED3BF15FE4B}"/>
                      </a:ext>
                    </a:extLst>
                  </p:cNvPr>
                  <p:cNvSpPr txBox="1"/>
                  <p:nvPr/>
                </p:nvSpPr>
                <p:spPr>
                  <a:xfrm>
                    <a:off x="1459713" y="4261001"/>
                    <a:ext cx="865878" cy="6528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𝒎</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num>
                            <m:den>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𝒋</m:t>
                                  </m:r>
                                  <m:r>
                                    <a:rPr lang="en-US" altLang="zh-CN" b="1" i="1" smtClean="0">
                                      <a:latin typeface="Cambria Math" panose="02040503050406030204" pitchFamily="18" charset="0"/>
                                    </a:rPr>
                                    <m:t>,</m:t>
                                  </m:r>
                                  <m:r>
                                    <a:rPr lang="en-US" altLang="zh-CN" b="1" i="1" smtClean="0">
                                      <a:latin typeface="Cambria Math" panose="02040503050406030204" pitchFamily="18" charset="0"/>
                                    </a:rPr>
                                    <m:t>𝒊</m:t>
                                  </m:r>
                                </m:sub>
                              </m:sSub>
                            </m:den>
                          </m:f>
                        </m:oMath>
                      </m:oMathPara>
                    </a14:m>
                    <a:endParaRPr lang="zh-CN" altLang="en-US" b="1" dirty="0"/>
                  </a:p>
                </p:txBody>
              </p:sp>
            </mc:Choice>
            <mc:Fallback xmlns="">
              <p:sp>
                <p:nvSpPr>
                  <p:cNvPr id="40" name="文本框 39">
                    <a:extLst>
                      <a:ext uri="{FF2B5EF4-FFF2-40B4-BE49-F238E27FC236}">
                        <a16:creationId xmlns:a16="http://schemas.microsoft.com/office/drawing/2014/main" id="{75216BD0-3A5B-4A5E-9DAE-2ED3BF15FE4B}"/>
                      </a:ext>
                    </a:extLst>
                  </p:cNvPr>
                  <p:cNvSpPr txBox="1">
                    <a:spLocks noRot="1" noChangeAspect="1" noMove="1" noResize="1" noEditPoints="1" noAdjustHandles="1" noChangeArrowheads="1" noChangeShapeType="1" noTextEdit="1"/>
                  </p:cNvSpPr>
                  <p:nvPr/>
                </p:nvSpPr>
                <p:spPr>
                  <a:xfrm>
                    <a:off x="1459713" y="4261001"/>
                    <a:ext cx="865878" cy="652807"/>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6C532932-8521-4E6D-AD1B-DA0DB56C32C5}"/>
                      </a:ext>
                    </a:extLst>
                  </p:cNvPr>
                  <p:cNvSpPr txBox="1"/>
                  <p:nvPr/>
                </p:nvSpPr>
                <p:spPr>
                  <a:xfrm>
                    <a:off x="332607" y="1977767"/>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36" name="文本框 35">
                    <a:extLst>
                      <a:ext uri="{FF2B5EF4-FFF2-40B4-BE49-F238E27FC236}">
                        <a16:creationId xmlns:a16="http://schemas.microsoft.com/office/drawing/2014/main" id="{A140C85F-4AE2-4994-BA45-F52476B14E13}"/>
                      </a:ext>
                    </a:extLst>
                  </p:cNvPr>
                  <p:cNvSpPr txBox="1">
                    <a:spLocks noRot="1" noChangeAspect="1" noMove="1" noResize="1" noEditPoints="1" noAdjustHandles="1" noChangeArrowheads="1" noChangeShapeType="1" noTextEdit="1"/>
                  </p:cNvSpPr>
                  <p:nvPr/>
                </p:nvSpPr>
                <p:spPr>
                  <a:xfrm>
                    <a:off x="332607" y="1977767"/>
                    <a:ext cx="319318" cy="276999"/>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F4CB5EE8-FC77-490D-BC96-E0CEB8521178}"/>
                      </a:ext>
                    </a:extLst>
                  </p:cNvPr>
                  <p:cNvSpPr txBox="1"/>
                  <p:nvPr/>
                </p:nvSpPr>
                <p:spPr>
                  <a:xfrm>
                    <a:off x="600850" y="2196925"/>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37" name="文本框 36">
                    <a:extLst>
                      <a:ext uri="{FF2B5EF4-FFF2-40B4-BE49-F238E27FC236}">
                        <a16:creationId xmlns:a16="http://schemas.microsoft.com/office/drawing/2014/main" id="{AFEE7522-1E6E-4D2B-84D3-4A4602C35785}"/>
                      </a:ext>
                    </a:extLst>
                  </p:cNvPr>
                  <p:cNvSpPr txBox="1">
                    <a:spLocks noRot="1" noChangeAspect="1" noMove="1" noResize="1" noEditPoints="1" noAdjustHandles="1" noChangeArrowheads="1" noChangeShapeType="1" noTextEdit="1"/>
                  </p:cNvSpPr>
                  <p:nvPr/>
                </p:nvSpPr>
                <p:spPr>
                  <a:xfrm>
                    <a:off x="600850" y="2196925"/>
                    <a:ext cx="319318" cy="276999"/>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4F09D289-983A-4301-897D-3A01BE19955A}"/>
                      </a:ext>
                    </a:extLst>
                  </p:cNvPr>
                  <p:cNvSpPr txBox="1"/>
                  <p:nvPr/>
                </p:nvSpPr>
                <p:spPr>
                  <a:xfrm>
                    <a:off x="857154" y="2474440"/>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38" name="文本框 37">
                    <a:extLst>
                      <a:ext uri="{FF2B5EF4-FFF2-40B4-BE49-F238E27FC236}">
                        <a16:creationId xmlns:a16="http://schemas.microsoft.com/office/drawing/2014/main" id="{3F2821B3-4521-4A6B-8B8D-AC170A8CB8E7}"/>
                      </a:ext>
                    </a:extLst>
                  </p:cNvPr>
                  <p:cNvSpPr txBox="1">
                    <a:spLocks noRot="1" noChangeAspect="1" noMove="1" noResize="1" noEditPoints="1" noAdjustHandles="1" noChangeArrowheads="1" noChangeShapeType="1" noTextEdit="1"/>
                  </p:cNvSpPr>
                  <p:nvPr/>
                </p:nvSpPr>
                <p:spPr>
                  <a:xfrm>
                    <a:off x="857154" y="2474440"/>
                    <a:ext cx="319318" cy="276999"/>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EBF7F19C-3AF1-4C52-A546-6C9FE2EE6A50}"/>
                      </a:ext>
                    </a:extLst>
                  </p:cNvPr>
                  <p:cNvSpPr txBox="1"/>
                  <p:nvPr/>
                </p:nvSpPr>
                <p:spPr>
                  <a:xfrm>
                    <a:off x="1146151" y="2815131"/>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39" name="文本框 38">
                    <a:extLst>
                      <a:ext uri="{FF2B5EF4-FFF2-40B4-BE49-F238E27FC236}">
                        <a16:creationId xmlns:a16="http://schemas.microsoft.com/office/drawing/2014/main" id="{BF423DDE-A07A-4292-AB66-BEE096F2FEF0}"/>
                      </a:ext>
                    </a:extLst>
                  </p:cNvPr>
                  <p:cNvSpPr txBox="1">
                    <a:spLocks noRot="1" noChangeAspect="1" noMove="1" noResize="1" noEditPoints="1" noAdjustHandles="1" noChangeArrowheads="1" noChangeShapeType="1" noTextEdit="1"/>
                  </p:cNvSpPr>
                  <p:nvPr/>
                </p:nvSpPr>
                <p:spPr>
                  <a:xfrm>
                    <a:off x="1146151" y="2815131"/>
                    <a:ext cx="445955" cy="369332"/>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540974E-93CC-41C9-BE05-C08CD645E86C}"/>
                      </a:ext>
                    </a:extLst>
                  </p:cNvPr>
                  <p:cNvSpPr txBox="1"/>
                  <p:nvPr/>
                </p:nvSpPr>
                <p:spPr>
                  <a:xfrm>
                    <a:off x="2625503" y="4057758"/>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40" name="文本框 39">
                    <a:extLst>
                      <a:ext uri="{FF2B5EF4-FFF2-40B4-BE49-F238E27FC236}">
                        <a16:creationId xmlns:a16="http://schemas.microsoft.com/office/drawing/2014/main" id="{E8D03C49-7BDC-41EC-807B-95D8047EBB41}"/>
                      </a:ext>
                    </a:extLst>
                  </p:cNvPr>
                  <p:cNvSpPr txBox="1">
                    <a:spLocks noRot="1" noChangeAspect="1" noMove="1" noResize="1" noEditPoints="1" noAdjustHandles="1" noChangeArrowheads="1" noChangeShapeType="1" noTextEdit="1"/>
                  </p:cNvSpPr>
                  <p:nvPr/>
                </p:nvSpPr>
                <p:spPr>
                  <a:xfrm>
                    <a:off x="2625503" y="4057758"/>
                    <a:ext cx="319318" cy="276999"/>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2FAF8CD2-73BA-4B7B-8351-16562208502E}"/>
                      </a:ext>
                    </a:extLst>
                  </p:cNvPr>
                  <p:cNvSpPr txBox="1"/>
                  <p:nvPr/>
                </p:nvSpPr>
                <p:spPr>
                  <a:xfrm>
                    <a:off x="2872304" y="4438006"/>
                    <a:ext cx="31931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𝟏</m:t>
                          </m:r>
                        </m:oMath>
                      </m:oMathPara>
                    </a14:m>
                    <a:endParaRPr lang="zh-CN" altLang="en-US" sz="1200" b="1" dirty="0"/>
                  </a:p>
                </p:txBody>
              </p:sp>
            </mc:Choice>
            <mc:Fallback xmlns="">
              <p:sp>
                <p:nvSpPr>
                  <p:cNvPr id="41" name="文本框 40">
                    <a:extLst>
                      <a:ext uri="{FF2B5EF4-FFF2-40B4-BE49-F238E27FC236}">
                        <a16:creationId xmlns:a16="http://schemas.microsoft.com/office/drawing/2014/main" id="{69307D76-3897-4B83-95CD-00F50B987877}"/>
                      </a:ext>
                    </a:extLst>
                  </p:cNvPr>
                  <p:cNvSpPr txBox="1">
                    <a:spLocks noRot="1" noChangeAspect="1" noMove="1" noResize="1" noEditPoints="1" noAdjustHandles="1" noChangeArrowheads="1" noChangeShapeType="1" noTextEdit="1"/>
                  </p:cNvSpPr>
                  <p:nvPr/>
                </p:nvSpPr>
                <p:spPr>
                  <a:xfrm>
                    <a:off x="2872304" y="4438006"/>
                    <a:ext cx="319318" cy="276999"/>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54B53F5D-0353-4034-A412-C53402723AEC}"/>
                      </a:ext>
                    </a:extLst>
                  </p:cNvPr>
                  <p:cNvSpPr txBox="1"/>
                  <p:nvPr/>
                </p:nvSpPr>
                <p:spPr>
                  <a:xfrm>
                    <a:off x="2217097" y="3688426"/>
                    <a:ext cx="4459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m:t>
                          </m:r>
                        </m:oMath>
                      </m:oMathPara>
                    </a14:m>
                    <a:endParaRPr lang="zh-CN" altLang="en-US" b="1" dirty="0"/>
                  </a:p>
                </p:txBody>
              </p:sp>
            </mc:Choice>
            <mc:Fallback xmlns="">
              <p:sp>
                <p:nvSpPr>
                  <p:cNvPr id="42" name="文本框 41">
                    <a:extLst>
                      <a:ext uri="{FF2B5EF4-FFF2-40B4-BE49-F238E27FC236}">
                        <a16:creationId xmlns:a16="http://schemas.microsoft.com/office/drawing/2014/main" id="{5E6ED278-BE42-4FFC-B56B-581208AB0225}"/>
                      </a:ext>
                    </a:extLst>
                  </p:cNvPr>
                  <p:cNvSpPr txBox="1">
                    <a:spLocks noRot="1" noChangeAspect="1" noMove="1" noResize="1" noEditPoints="1" noAdjustHandles="1" noChangeArrowheads="1" noChangeShapeType="1" noTextEdit="1"/>
                  </p:cNvSpPr>
                  <p:nvPr/>
                </p:nvSpPr>
                <p:spPr>
                  <a:xfrm>
                    <a:off x="2217097" y="3688426"/>
                    <a:ext cx="445955" cy="369332"/>
                  </a:xfrm>
                  <a:prstGeom prst="rect">
                    <a:avLst/>
                  </a:prstGeom>
                  <a:blipFill>
                    <a:blip r:embed="rId21"/>
                    <a:stretch>
                      <a:fillRect/>
                    </a:stretch>
                  </a:blipFill>
                </p:spPr>
                <p:txBody>
                  <a:bodyPr/>
                  <a:lstStyle/>
                  <a:p>
                    <a:r>
                      <a:rPr lang="zh-CN" altLang="en-US">
                        <a:noFill/>
                      </a:rPr>
                      <a:t> </a:t>
                    </a:r>
                  </a:p>
                </p:txBody>
              </p:sp>
            </mc:Fallback>
          </mc:AlternateContent>
        </p:grpSp>
        <p:sp>
          <p:nvSpPr>
            <p:cNvPr id="48" name="文本框 47">
              <a:extLst>
                <a:ext uri="{FF2B5EF4-FFF2-40B4-BE49-F238E27FC236}">
                  <a16:creationId xmlns:a16="http://schemas.microsoft.com/office/drawing/2014/main" id="{DA259D40-270D-441F-9B28-158D5686B616}"/>
                </a:ext>
              </a:extLst>
            </p:cNvPr>
            <p:cNvSpPr txBox="1"/>
            <p:nvPr/>
          </p:nvSpPr>
          <p:spPr>
            <a:xfrm>
              <a:off x="1634910" y="1556899"/>
              <a:ext cx="697627" cy="369332"/>
            </a:xfrm>
            <a:prstGeom prst="rect">
              <a:avLst/>
            </a:prstGeom>
            <a:noFill/>
          </p:spPr>
          <p:txBody>
            <a:bodyPr wrap="none" rtlCol="0">
              <a:spAutoFit/>
            </a:bodyPr>
            <a:lstStyle/>
            <a:p>
              <a:r>
                <a:rPr lang="zh-CN" altLang="en-US" dirty="0"/>
                <a:t>第</a:t>
              </a:r>
              <a:r>
                <a:rPr lang="en-US" altLang="zh-CN" dirty="0"/>
                <a:t>j</a:t>
              </a:r>
              <a:r>
                <a:rPr lang="zh-CN" altLang="en-US" dirty="0"/>
                <a:t>列</a:t>
              </a:r>
            </a:p>
          </p:txBody>
        </p:sp>
        <p:sp>
          <p:nvSpPr>
            <p:cNvPr id="49" name="文本框 48">
              <a:extLst>
                <a:ext uri="{FF2B5EF4-FFF2-40B4-BE49-F238E27FC236}">
                  <a16:creationId xmlns:a16="http://schemas.microsoft.com/office/drawing/2014/main" id="{87749851-9C66-4DE2-8369-2D089CC1320C}"/>
                </a:ext>
              </a:extLst>
            </p:cNvPr>
            <p:cNvSpPr txBox="1"/>
            <p:nvPr/>
          </p:nvSpPr>
          <p:spPr>
            <a:xfrm>
              <a:off x="1206967" y="4897209"/>
              <a:ext cx="1338828" cy="369332"/>
            </a:xfrm>
            <a:prstGeom prst="rect">
              <a:avLst/>
            </a:prstGeom>
            <a:noFill/>
          </p:spPr>
          <p:txBody>
            <a:bodyPr wrap="none" rtlCol="0">
              <a:spAutoFit/>
            </a:bodyPr>
            <a:lstStyle/>
            <a:p>
              <a:r>
                <a:rPr lang="en-US" altLang="zh-CN" dirty="0"/>
                <a:t>m x m </a:t>
              </a:r>
              <a:r>
                <a:rPr lang="zh-CN" altLang="en-US" dirty="0"/>
                <a:t>矩阵</a:t>
              </a:r>
            </a:p>
          </p:txBody>
        </p:sp>
      </p:grpSp>
      <p:sp>
        <p:nvSpPr>
          <p:cNvPr id="2" name="标题 1">
            <a:extLst>
              <a:ext uri="{FF2B5EF4-FFF2-40B4-BE49-F238E27FC236}">
                <a16:creationId xmlns:a16="http://schemas.microsoft.com/office/drawing/2014/main" id="{46767B7C-01FA-4F48-AC2B-E21EC557C2BB}"/>
              </a:ext>
            </a:extLst>
          </p:cNvPr>
          <p:cNvSpPr>
            <a:spLocks noGrp="1"/>
          </p:cNvSpPr>
          <p:nvPr>
            <p:ph type="title"/>
          </p:nvPr>
        </p:nvSpPr>
        <p:spPr/>
        <p:txBody>
          <a:bodyPr/>
          <a:lstStyle/>
          <a:p>
            <a:r>
              <a:rPr lang="zh-CN" altLang="en-US" dirty="0"/>
              <a:t>习题：</a:t>
            </a:r>
          </a:p>
        </p:txBody>
      </p:sp>
      <p:graphicFrame>
        <p:nvGraphicFramePr>
          <p:cNvPr id="4" name="内容占位符 3">
            <a:extLst>
              <a:ext uri="{FF2B5EF4-FFF2-40B4-BE49-F238E27FC236}">
                <a16:creationId xmlns:a16="http://schemas.microsoft.com/office/drawing/2014/main" id="{BCCABBC5-EF64-4964-AE93-EEC2737DE41D}"/>
              </a:ext>
            </a:extLst>
          </p:cNvPr>
          <p:cNvGraphicFramePr>
            <a:graphicFrameLocks noGrp="1"/>
          </p:cNvGraphicFramePr>
          <p:nvPr>
            <p:ph idx="1"/>
            <p:extLst>
              <p:ext uri="{D42A27DB-BD31-4B8C-83A1-F6EECF244321}">
                <p14:modId xmlns:p14="http://schemas.microsoft.com/office/powerpoint/2010/main" val="1223258152"/>
              </p:ext>
            </p:extLst>
          </p:nvPr>
        </p:nvGraphicFramePr>
        <p:xfrm>
          <a:off x="1334705" y="3721387"/>
          <a:ext cx="7066386" cy="2784816"/>
        </p:xfrm>
        <a:graphic>
          <a:graphicData uri="http://schemas.openxmlformats.org/drawingml/2006/table">
            <a:tbl>
              <a:tblPr firstRow="1" bandRow="1">
                <a:tableStyleId>{5C22544A-7EE6-4342-B048-85BDC9FD1C3A}</a:tableStyleId>
              </a:tblPr>
              <a:tblGrid>
                <a:gridCol w="1177731">
                  <a:extLst>
                    <a:ext uri="{9D8B030D-6E8A-4147-A177-3AD203B41FA5}">
                      <a16:colId xmlns:a16="http://schemas.microsoft.com/office/drawing/2014/main" val="194517144"/>
                    </a:ext>
                  </a:extLst>
                </a:gridCol>
                <a:gridCol w="1177731">
                  <a:extLst>
                    <a:ext uri="{9D8B030D-6E8A-4147-A177-3AD203B41FA5}">
                      <a16:colId xmlns:a16="http://schemas.microsoft.com/office/drawing/2014/main" val="262937075"/>
                    </a:ext>
                  </a:extLst>
                </a:gridCol>
                <a:gridCol w="1177731">
                  <a:extLst>
                    <a:ext uri="{9D8B030D-6E8A-4147-A177-3AD203B41FA5}">
                      <a16:colId xmlns:a16="http://schemas.microsoft.com/office/drawing/2014/main" val="1809024897"/>
                    </a:ext>
                  </a:extLst>
                </a:gridCol>
                <a:gridCol w="1177731">
                  <a:extLst>
                    <a:ext uri="{9D8B030D-6E8A-4147-A177-3AD203B41FA5}">
                      <a16:colId xmlns:a16="http://schemas.microsoft.com/office/drawing/2014/main" val="1127211881"/>
                    </a:ext>
                  </a:extLst>
                </a:gridCol>
                <a:gridCol w="1177731">
                  <a:extLst>
                    <a:ext uri="{9D8B030D-6E8A-4147-A177-3AD203B41FA5}">
                      <a16:colId xmlns:a16="http://schemas.microsoft.com/office/drawing/2014/main" val="419935813"/>
                    </a:ext>
                  </a:extLst>
                </a:gridCol>
                <a:gridCol w="1177731">
                  <a:extLst>
                    <a:ext uri="{9D8B030D-6E8A-4147-A177-3AD203B41FA5}">
                      <a16:colId xmlns:a16="http://schemas.microsoft.com/office/drawing/2014/main" val="689481572"/>
                    </a:ext>
                  </a:extLst>
                </a:gridCol>
              </a:tblGrid>
              <a:tr h="927033">
                <a:tc>
                  <a:txBody>
                    <a:bodyPr/>
                    <a:lstStyle/>
                    <a:p>
                      <a:pPr algn="ctr"/>
                      <a:r>
                        <a:rPr lang="en-US" altLang="zh-CN" sz="4700" b="1" dirty="0">
                          <a:solidFill>
                            <a:schemeClr val="tx1"/>
                          </a:solidFill>
                        </a:rPr>
                        <a:t>2</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2</a:t>
                      </a:r>
                      <a:endParaRPr lang="zh-CN" altLang="en-US" sz="4700" b="1" dirty="0">
                        <a:solidFill>
                          <a:schemeClr val="tx1"/>
                        </a:solidFill>
                      </a:endParaRPr>
                    </a:p>
                  </a:txBody>
                  <a:tcPr marL="211992" marR="211992" marT="105996" marB="10599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1</a:t>
                      </a:r>
                      <a:endParaRPr lang="zh-CN" altLang="en-US" sz="4700" b="1" dirty="0">
                        <a:solidFill>
                          <a:schemeClr val="tx1"/>
                        </a:solidFill>
                      </a:endParaRPr>
                    </a:p>
                  </a:txBody>
                  <a:tcPr marL="211992" marR="211992" marT="105996" marB="10599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3</a:t>
                      </a:r>
                      <a:endParaRPr lang="zh-CN" altLang="en-US" sz="4700" b="1" dirty="0">
                        <a:solidFill>
                          <a:schemeClr val="tx1"/>
                        </a:solidFill>
                      </a:endParaRPr>
                    </a:p>
                  </a:txBody>
                  <a:tcPr marL="211992" marR="211992" marT="105996" marB="105996"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1693389"/>
                  </a:ext>
                </a:extLst>
              </a:tr>
              <a:tr h="927033">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2</a:t>
                      </a:r>
                      <a:endParaRPr lang="zh-CN" altLang="en-US" sz="4700" b="1" dirty="0">
                        <a:solidFill>
                          <a:schemeClr val="tx1"/>
                        </a:solidFill>
                      </a:endParaRPr>
                    </a:p>
                  </a:txBody>
                  <a:tcPr marL="211992" marR="211992" marT="105996" marB="105996"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1</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4</a:t>
                      </a:r>
                      <a:endParaRPr lang="zh-CN" altLang="en-US" sz="4700" b="1" dirty="0">
                        <a:solidFill>
                          <a:schemeClr val="tx1"/>
                        </a:solidFill>
                      </a:endParaRPr>
                    </a:p>
                  </a:txBody>
                  <a:tcPr marL="211992" marR="211992" marT="105996" marB="10599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370936"/>
                  </a:ext>
                </a:extLst>
              </a:tr>
              <a:tr h="927033">
                <a:tc>
                  <a:txBody>
                    <a:bodyPr/>
                    <a:lstStyle/>
                    <a:p>
                      <a:pPr algn="ctr"/>
                      <a:r>
                        <a:rPr lang="en-US" altLang="zh-CN" sz="4700" b="1" dirty="0">
                          <a:solidFill>
                            <a:schemeClr val="tx1"/>
                          </a:solidFill>
                        </a:rPr>
                        <a:t>3</a:t>
                      </a:r>
                      <a:endParaRPr lang="zh-CN" altLang="en-US" sz="4700" b="1" dirty="0">
                        <a:solidFill>
                          <a:schemeClr val="tx1"/>
                        </a:solidFill>
                      </a:endParaRPr>
                    </a:p>
                  </a:txBody>
                  <a:tcPr marL="211992" marR="211992" marT="105996" marB="10599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4</a:t>
                      </a:r>
                      <a:endParaRPr lang="zh-CN" altLang="en-US" sz="4700" b="1" dirty="0">
                        <a:solidFill>
                          <a:schemeClr val="tx1"/>
                        </a:solidFill>
                      </a:endParaRPr>
                    </a:p>
                  </a:txBody>
                  <a:tcPr marL="211992" marR="211992" marT="105996" marB="10599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1</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0</a:t>
                      </a:r>
                      <a:endParaRPr lang="zh-CN" altLang="en-US" sz="4700" b="1" dirty="0">
                        <a:solidFill>
                          <a:schemeClr val="tx1"/>
                        </a:solidFill>
                      </a:endParaRPr>
                    </a:p>
                  </a:txBody>
                  <a:tcPr marL="211992" marR="211992" marT="105996" marB="105996" anchor="ct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4700" b="1" dirty="0">
                          <a:solidFill>
                            <a:schemeClr val="tx1"/>
                          </a:solidFill>
                        </a:rPr>
                        <a:t>5</a:t>
                      </a:r>
                      <a:endParaRPr lang="zh-CN" altLang="en-US" sz="4700" b="1" dirty="0">
                        <a:solidFill>
                          <a:schemeClr val="tx1"/>
                        </a:solidFill>
                      </a:endParaRPr>
                    </a:p>
                  </a:txBody>
                  <a:tcPr marL="211992" marR="211992" marT="105996" marB="10599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6832789"/>
                  </a:ext>
                </a:extLst>
              </a:tr>
            </a:tbl>
          </a:graphicData>
        </a:graphic>
      </p:graphicFrame>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0DA7AA2-C6CB-45A1-B08C-D9E568B63992}"/>
                  </a:ext>
                </a:extLst>
              </p:cNvPr>
              <p:cNvSpPr/>
              <p:nvPr/>
            </p:nvSpPr>
            <p:spPr>
              <a:xfrm>
                <a:off x="1664134" y="3136612"/>
                <a:ext cx="833460"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a:latin typeface="Cambria Math" panose="02040503050406030204" pitchFamily="18" charset="0"/>
                            </a:rPr>
                            <m:t>𝟏</m:t>
                          </m:r>
                        </m:sub>
                      </m:sSub>
                    </m:oMath>
                  </m:oMathPara>
                </a14:m>
                <a:endParaRPr lang="zh-CN" altLang="en-US" sz="3200" dirty="0"/>
              </a:p>
            </p:txBody>
          </p:sp>
        </mc:Choice>
        <mc:Fallback xmlns="">
          <p:sp>
            <p:nvSpPr>
              <p:cNvPr id="5" name="矩形 4">
                <a:extLst>
                  <a:ext uri="{FF2B5EF4-FFF2-40B4-BE49-F238E27FC236}">
                    <a16:creationId xmlns:a16="http://schemas.microsoft.com/office/drawing/2014/main" id="{40DA7AA2-C6CB-45A1-B08C-D9E568B63992}"/>
                  </a:ext>
                </a:extLst>
              </p:cNvPr>
              <p:cNvSpPr>
                <a:spLocks noRot="1" noChangeAspect="1" noMove="1" noResize="1" noEditPoints="1" noAdjustHandles="1" noChangeArrowheads="1" noChangeShapeType="1" noTextEdit="1"/>
              </p:cNvSpPr>
              <p:nvPr/>
            </p:nvSpPr>
            <p:spPr>
              <a:xfrm>
                <a:off x="1664134" y="3136612"/>
                <a:ext cx="833460" cy="584775"/>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F0F4E4B-0C06-4228-AA9A-330A76CF4D26}"/>
                  </a:ext>
                </a:extLst>
              </p:cNvPr>
              <p:cNvSpPr/>
              <p:nvPr/>
            </p:nvSpPr>
            <p:spPr>
              <a:xfrm>
                <a:off x="628650" y="3865817"/>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𝟑</m:t>
                          </m:r>
                        </m:sub>
                      </m:sSub>
                    </m:oMath>
                  </m:oMathPara>
                </a14:m>
                <a:endParaRPr lang="zh-CN" altLang="en-US" sz="3200" dirty="0"/>
              </a:p>
            </p:txBody>
          </p:sp>
        </mc:Choice>
        <mc:Fallback xmlns="">
          <p:sp>
            <p:nvSpPr>
              <p:cNvPr id="10" name="矩形 9">
                <a:extLst>
                  <a:ext uri="{FF2B5EF4-FFF2-40B4-BE49-F238E27FC236}">
                    <a16:creationId xmlns:a16="http://schemas.microsoft.com/office/drawing/2014/main" id="{2F0F4E4B-0C06-4228-AA9A-330A76CF4D26}"/>
                  </a:ext>
                </a:extLst>
              </p:cNvPr>
              <p:cNvSpPr>
                <a:spLocks noRot="1" noChangeAspect="1" noMove="1" noResize="1" noEditPoints="1" noAdjustHandles="1" noChangeArrowheads="1" noChangeShapeType="1" noTextEdit="1"/>
              </p:cNvSpPr>
              <p:nvPr/>
            </p:nvSpPr>
            <p:spPr>
              <a:xfrm>
                <a:off x="628650" y="3865817"/>
                <a:ext cx="711477" cy="584775"/>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22B642CD-167D-486D-A389-AB0F0073BF53}"/>
                  </a:ext>
                </a:extLst>
              </p:cNvPr>
              <p:cNvSpPr/>
              <p:nvPr/>
            </p:nvSpPr>
            <p:spPr>
              <a:xfrm>
                <a:off x="628649" y="5772857"/>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𝟒</m:t>
                          </m:r>
                        </m:sub>
                      </m:sSub>
                    </m:oMath>
                  </m:oMathPara>
                </a14:m>
                <a:endParaRPr lang="zh-CN" altLang="en-US" sz="3200" dirty="0"/>
              </a:p>
            </p:txBody>
          </p:sp>
        </mc:Choice>
        <mc:Fallback xmlns="">
          <p:sp>
            <p:nvSpPr>
              <p:cNvPr id="11" name="矩形 10">
                <a:extLst>
                  <a:ext uri="{FF2B5EF4-FFF2-40B4-BE49-F238E27FC236}">
                    <a16:creationId xmlns:a16="http://schemas.microsoft.com/office/drawing/2014/main" id="{22B642CD-167D-486D-A389-AB0F0073BF53}"/>
                  </a:ext>
                </a:extLst>
              </p:cNvPr>
              <p:cNvSpPr>
                <a:spLocks noRot="1" noChangeAspect="1" noMove="1" noResize="1" noEditPoints="1" noAdjustHandles="1" noChangeArrowheads="1" noChangeShapeType="1" noTextEdit="1"/>
              </p:cNvSpPr>
              <p:nvPr/>
            </p:nvSpPr>
            <p:spPr>
              <a:xfrm>
                <a:off x="628649" y="5772857"/>
                <a:ext cx="711477" cy="584775"/>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5A19B85F-0221-4DCE-832E-85AB7DBB5568}"/>
                  </a:ext>
                </a:extLst>
              </p:cNvPr>
              <p:cNvSpPr/>
              <p:nvPr/>
            </p:nvSpPr>
            <p:spPr>
              <a:xfrm>
                <a:off x="623228" y="4742979"/>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𝟓</m:t>
                          </m:r>
                        </m:sub>
                      </m:sSub>
                    </m:oMath>
                  </m:oMathPara>
                </a14:m>
                <a:endParaRPr lang="zh-CN" altLang="en-US" sz="3200" dirty="0"/>
              </a:p>
            </p:txBody>
          </p:sp>
        </mc:Choice>
        <mc:Fallback xmlns="">
          <p:sp>
            <p:nvSpPr>
              <p:cNvPr id="12" name="矩形 11">
                <a:extLst>
                  <a:ext uri="{FF2B5EF4-FFF2-40B4-BE49-F238E27FC236}">
                    <a16:creationId xmlns:a16="http://schemas.microsoft.com/office/drawing/2014/main" id="{5A19B85F-0221-4DCE-832E-85AB7DBB5568}"/>
                  </a:ext>
                </a:extLst>
              </p:cNvPr>
              <p:cNvSpPr>
                <a:spLocks noRot="1" noChangeAspect="1" noMove="1" noResize="1" noEditPoints="1" noAdjustHandles="1" noChangeArrowheads="1" noChangeShapeType="1" noTextEdit="1"/>
              </p:cNvSpPr>
              <p:nvPr/>
            </p:nvSpPr>
            <p:spPr>
              <a:xfrm>
                <a:off x="623228" y="4742979"/>
                <a:ext cx="711477" cy="584775"/>
              </a:xfrm>
              <a:prstGeom prst="rect">
                <a:avLst/>
              </a:prstGeom>
              <a:blipFill>
                <a:blip r:embed="rId25"/>
                <a:stretch>
                  <a:fillRect/>
                </a:stretch>
              </a:blipFill>
            </p:spPr>
            <p:txBody>
              <a:bodyPr/>
              <a:lstStyle/>
              <a:p>
                <a:r>
                  <a:rPr lang="zh-CN" altLang="en-US">
                    <a:noFill/>
                  </a:rPr>
                  <a:t> </a:t>
                </a:r>
              </a:p>
            </p:txBody>
          </p:sp>
        </mc:Fallback>
      </mc:AlternateContent>
      <p:sp>
        <p:nvSpPr>
          <p:cNvPr id="13" name="箭头: 右 12">
            <a:extLst>
              <a:ext uri="{FF2B5EF4-FFF2-40B4-BE49-F238E27FC236}">
                <a16:creationId xmlns:a16="http://schemas.microsoft.com/office/drawing/2014/main" id="{15924F21-CB99-4995-A97B-0F6D5827437C}"/>
              </a:ext>
            </a:extLst>
          </p:cNvPr>
          <p:cNvSpPr/>
          <p:nvPr/>
        </p:nvSpPr>
        <p:spPr>
          <a:xfrm rot="10800000">
            <a:off x="500742" y="4981421"/>
            <a:ext cx="200297" cy="1915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9659DA8C-94DB-4B63-8ED7-D5449EDFAB20}"/>
                  </a:ext>
                </a:extLst>
              </p:cNvPr>
              <p:cNvSpPr/>
              <p:nvPr/>
            </p:nvSpPr>
            <p:spPr>
              <a:xfrm>
                <a:off x="-88249" y="4742978"/>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𝟐</m:t>
                          </m:r>
                        </m:sub>
                      </m:sSub>
                    </m:oMath>
                  </m:oMathPara>
                </a14:m>
                <a:endParaRPr lang="zh-CN" altLang="en-US" sz="3200" dirty="0"/>
              </a:p>
            </p:txBody>
          </p:sp>
        </mc:Choice>
        <mc:Fallback xmlns="">
          <p:sp>
            <p:nvSpPr>
              <p:cNvPr id="14" name="矩形 13">
                <a:extLst>
                  <a:ext uri="{FF2B5EF4-FFF2-40B4-BE49-F238E27FC236}">
                    <a16:creationId xmlns:a16="http://schemas.microsoft.com/office/drawing/2014/main" id="{9659DA8C-94DB-4B63-8ED7-D5449EDFAB20}"/>
                  </a:ext>
                </a:extLst>
              </p:cNvPr>
              <p:cNvSpPr>
                <a:spLocks noRot="1" noChangeAspect="1" noMove="1" noResize="1" noEditPoints="1" noAdjustHandles="1" noChangeArrowheads="1" noChangeShapeType="1" noTextEdit="1"/>
              </p:cNvSpPr>
              <p:nvPr/>
            </p:nvSpPr>
            <p:spPr>
              <a:xfrm>
                <a:off x="-88249" y="4742978"/>
                <a:ext cx="711477" cy="584775"/>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2724A53-1DD2-4CA1-AB4D-C28756B8BB3F}"/>
                  </a:ext>
                </a:extLst>
              </p:cNvPr>
              <p:cNvSpPr txBox="1"/>
              <p:nvPr/>
            </p:nvSpPr>
            <p:spPr>
              <a:xfrm>
                <a:off x="7326488" y="3223814"/>
                <a:ext cx="741742" cy="41036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m:rPr>
                              <m:sty m:val="p"/>
                            </m:rPr>
                            <a:rPr lang="en-US" altLang="zh-CN" i="1" smtClean="0">
                              <a:latin typeface="Cambria Math" panose="02040503050406030204" pitchFamily="18" charset="0"/>
                            </a:rPr>
                            <m:t>B</m:t>
                          </m:r>
                        </m:e>
                        <m:sup>
                          <m:r>
                            <a:rPr lang="en-US" altLang="zh-CN" b="0" i="0" smtClean="0">
                              <a:latin typeface="Cambria Math" panose="02040503050406030204" pitchFamily="18" charset="0"/>
                            </a:rPr>
                            <m:t>−1</m:t>
                          </m:r>
                        </m:sup>
                      </m:sSup>
                      <m:acc>
                        <m:accPr>
                          <m:chr m:val="⃗"/>
                          <m:ctrlPr>
                            <a:rPr lang="en-US" altLang="zh-CN" b="0" i="1" smtClean="0">
                              <a:latin typeface="Cambria Math" panose="02040503050406030204" pitchFamily="18" charset="0"/>
                            </a:rPr>
                          </m:ctrlPr>
                        </m:accPr>
                        <m:e>
                          <m:r>
                            <m:rPr>
                              <m:sty m:val="p"/>
                            </m:rPr>
                            <a:rPr lang="en-US" altLang="zh-CN" b="0" i="0" smtClean="0">
                              <a:latin typeface="Cambria Math" panose="02040503050406030204" pitchFamily="18" charset="0"/>
                            </a:rPr>
                            <m:t>b</m:t>
                          </m:r>
                        </m:e>
                      </m:acc>
                    </m:oMath>
                  </m:oMathPara>
                </a14:m>
                <a:endParaRPr lang="zh-CN" altLang="en-US" dirty="0"/>
              </a:p>
            </p:txBody>
          </p:sp>
        </mc:Choice>
        <mc:Fallback xmlns="">
          <p:sp>
            <p:nvSpPr>
              <p:cNvPr id="15" name="文本框 14">
                <a:extLst>
                  <a:ext uri="{FF2B5EF4-FFF2-40B4-BE49-F238E27FC236}">
                    <a16:creationId xmlns:a16="http://schemas.microsoft.com/office/drawing/2014/main" id="{62724A53-1DD2-4CA1-AB4D-C28756B8BB3F}"/>
                  </a:ext>
                </a:extLst>
              </p:cNvPr>
              <p:cNvSpPr txBox="1">
                <a:spLocks noRot="1" noChangeAspect="1" noMove="1" noResize="1" noEditPoints="1" noAdjustHandles="1" noChangeArrowheads="1" noChangeShapeType="1" noTextEdit="1"/>
              </p:cNvSpPr>
              <p:nvPr/>
            </p:nvSpPr>
            <p:spPr>
              <a:xfrm>
                <a:off x="7326488" y="3223814"/>
                <a:ext cx="741742" cy="410369"/>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04D9C72-5B4D-4E86-B6F6-A863E4347062}"/>
                  </a:ext>
                </a:extLst>
              </p:cNvPr>
              <p:cNvSpPr/>
              <p:nvPr/>
            </p:nvSpPr>
            <p:spPr>
              <a:xfrm>
                <a:off x="2652447" y="3136612"/>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𝟐</m:t>
                          </m:r>
                        </m:sub>
                      </m:sSub>
                    </m:oMath>
                  </m:oMathPara>
                </a14:m>
                <a:endParaRPr lang="zh-CN" altLang="en-US" sz="3200" dirty="0"/>
              </a:p>
            </p:txBody>
          </p:sp>
        </mc:Choice>
        <mc:Fallback xmlns="">
          <p:sp>
            <p:nvSpPr>
              <p:cNvPr id="6" name="矩形 5">
                <a:extLst>
                  <a:ext uri="{FF2B5EF4-FFF2-40B4-BE49-F238E27FC236}">
                    <a16:creationId xmlns:a16="http://schemas.microsoft.com/office/drawing/2014/main" id="{104D9C72-5B4D-4E86-B6F6-A863E4347062}"/>
                  </a:ext>
                </a:extLst>
              </p:cNvPr>
              <p:cNvSpPr>
                <a:spLocks noRot="1" noChangeAspect="1" noMove="1" noResize="1" noEditPoints="1" noAdjustHandles="1" noChangeArrowheads="1" noChangeShapeType="1" noTextEdit="1"/>
              </p:cNvSpPr>
              <p:nvPr/>
            </p:nvSpPr>
            <p:spPr>
              <a:xfrm>
                <a:off x="2652447" y="3136612"/>
                <a:ext cx="711477" cy="584775"/>
              </a:xfrm>
              <a:prstGeom prst="rect">
                <a:avLst/>
              </a:prstGeom>
              <a:blipFill>
                <a:blip r:embed="rId2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8DC3A87-1258-4895-9D06-68B260173331}"/>
                  </a:ext>
                </a:extLst>
              </p:cNvPr>
              <p:cNvSpPr/>
              <p:nvPr/>
            </p:nvSpPr>
            <p:spPr>
              <a:xfrm>
                <a:off x="3938833" y="3136612"/>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𝟑</m:t>
                          </m:r>
                        </m:sub>
                      </m:sSub>
                    </m:oMath>
                  </m:oMathPara>
                </a14:m>
                <a:endParaRPr lang="zh-CN" altLang="en-US" sz="3200" dirty="0"/>
              </a:p>
            </p:txBody>
          </p:sp>
        </mc:Choice>
        <mc:Fallback xmlns="">
          <p:sp>
            <p:nvSpPr>
              <p:cNvPr id="7" name="矩形 6">
                <a:extLst>
                  <a:ext uri="{FF2B5EF4-FFF2-40B4-BE49-F238E27FC236}">
                    <a16:creationId xmlns:a16="http://schemas.microsoft.com/office/drawing/2014/main" id="{E8DC3A87-1258-4895-9D06-68B260173331}"/>
                  </a:ext>
                </a:extLst>
              </p:cNvPr>
              <p:cNvSpPr>
                <a:spLocks noRot="1" noChangeAspect="1" noMove="1" noResize="1" noEditPoints="1" noAdjustHandles="1" noChangeArrowheads="1" noChangeShapeType="1" noTextEdit="1"/>
              </p:cNvSpPr>
              <p:nvPr/>
            </p:nvSpPr>
            <p:spPr>
              <a:xfrm>
                <a:off x="3938833" y="3136612"/>
                <a:ext cx="711477" cy="584775"/>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801CB67-5B62-402F-953F-09EDD1BE9376}"/>
                  </a:ext>
                </a:extLst>
              </p:cNvPr>
              <p:cNvSpPr/>
              <p:nvPr/>
            </p:nvSpPr>
            <p:spPr>
              <a:xfrm>
                <a:off x="5000626" y="3136612"/>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𝟒</m:t>
                          </m:r>
                        </m:sub>
                      </m:sSub>
                    </m:oMath>
                  </m:oMathPara>
                </a14:m>
                <a:endParaRPr lang="zh-CN" altLang="en-US" sz="3200" dirty="0"/>
              </a:p>
            </p:txBody>
          </p:sp>
        </mc:Choice>
        <mc:Fallback xmlns="">
          <p:sp>
            <p:nvSpPr>
              <p:cNvPr id="8" name="矩形 7">
                <a:extLst>
                  <a:ext uri="{FF2B5EF4-FFF2-40B4-BE49-F238E27FC236}">
                    <a16:creationId xmlns:a16="http://schemas.microsoft.com/office/drawing/2014/main" id="{9801CB67-5B62-402F-953F-09EDD1BE9376}"/>
                  </a:ext>
                </a:extLst>
              </p:cNvPr>
              <p:cNvSpPr>
                <a:spLocks noRot="1" noChangeAspect="1" noMove="1" noResize="1" noEditPoints="1" noAdjustHandles="1" noChangeArrowheads="1" noChangeShapeType="1" noTextEdit="1"/>
              </p:cNvSpPr>
              <p:nvPr/>
            </p:nvSpPr>
            <p:spPr>
              <a:xfrm>
                <a:off x="5000626" y="3136612"/>
                <a:ext cx="711477" cy="584775"/>
              </a:xfrm>
              <a:prstGeom prst="rect">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9E0EB626-3284-44FA-862C-4BAE4E541235}"/>
                  </a:ext>
                </a:extLst>
              </p:cNvPr>
              <p:cNvSpPr/>
              <p:nvPr/>
            </p:nvSpPr>
            <p:spPr>
              <a:xfrm>
                <a:off x="6280579" y="3136612"/>
                <a:ext cx="7114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b="1" i="1" smtClean="0">
                              <a:latin typeface="Cambria Math" panose="02040503050406030204" pitchFamily="18" charset="0"/>
                            </a:rPr>
                          </m:ctrlPr>
                        </m:sSubPr>
                        <m:e>
                          <m:r>
                            <a:rPr lang="en-US" altLang="zh-CN" sz="3200" b="1" i="1">
                              <a:latin typeface="Cambria Math" panose="02040503050406030204" pitchFamily="18" charset="0"/>
                            </a:rPr>
                            <m:t>𝒙</m:t>
                          </m:r>
                        </m:e>
                        <m:sub>
                          <m:r>
                            <a:rPr lang="en-US" altLang="zh-CN" sz="3200" b="1" i="1" smtClean="0">
                              <a:latin typeface="Cambria Math" panose="02040503050406030204" pitchFamily="18" charset="0"/>
                            </a:rPr>
                            <m:t>𝟓</m:t>
                          </m:r>
                        </m:sub>
                      </m:sSub>
                    </m:oMath>
                  </m:oMathPara>
                </a14:m>
                <a:endParaRPr lang="zh-CN" altLang="en-US" sz="3200" dirty="0"/>
              </a:p>
            </p:txBody>
          </p:sp>
        </mc:Choice>
        <mc:Fallback xmlns="">
          <p:sp>
            <p:nvSpPr>
              <p:cNvPr id="9" name="矩形 8">
                <a:extLst>
                  <a:ext uri="{FF2B5EF4-FFF2-40B4-BE49-F238E27FC236}">
                    <a16:creationId xmlns:a16="http://schemas.microsoft.com/office/drawing/2014/main" id="{9E0EB626-3284-44FA-862C-4BAE4E541235}"/>
                  </a:ext>
                </a:extLst>
              </p:cNvPr>
              <p:cNvSpPr>
                <a:spLocks noRot="1" noChangeAspect="1" noMove="1" noResize="1" noEditPoints="1" noAdjustHandles="1" noChangeArrowheads="1" noChangeShapeType="1" noTextEdit="1"/>
              </p:cNvSpPr>
              <p:nvPr/>
            </p:nvSpPr>
            <p:spPr>
              <a:xfrm>
                <a:off x="6280579" y="3136612"/>
                <a:ext cx="711477" cy="584775"/>
              </a:xfrm>
              <a:prstGeom prst="rect">
                <a:avLst/>
              </a:prstGeom>
              <a:blipFill>
                <a:blip r:embed="rId3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3575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CF2CA81-09FA-498A-B64A-9A2C25A04F18}"/>
              </a:ext>
            </a:extLst>
          </p:cNvPr>
          <p:cNvSpPr>
            <a:spLocks noGrp="1" noChangeArrowheads="1"/>
          </p:cNvSpPr>
          <p:nvPr>
            <p:ph type="ctrTitle"/>
          </p:nvPr>
        </p:nvSpPr>
        <p:spPr/>
        <p:txBody>
          <a:bodyPr/>
          <a:lstStyle/>
          <a:p>
            <a:pPr eaLnBrk="1" hangingPunct="1"/>
            <a:r>
              <a:rPr lang="zh-CN" altLang="en-US"/>
              <a:t>第 </a:t>
            </a:r>
            <a:r>
              <a:rPr lang="en-US" altLang="zh-CN"/>
              <a:t>3 </a:t>
            </a:r>
            <a:r>
              <a:rPr lang="zh-CN" altLang="en-US"/>
              <a:t>节</a:t>
            </a:r>
          </a:p>
        </p:txBody>
      </p:sp>
      <p:sp>
        <p:nvSpPr>
          <p:cNvPr id="29699" name="Rectangle 3">
            <a:extLst>
              <a:ext uri="{FF2B5EF4-FFF2-40B4-BE49-F238E27FC236}">
                <a16:creationId xmlns:a16="http://schemas.microsoft.com/office/drawing/2014/main" id="{A556DF44-51DE-4638-A36C-D397C39EF8F0}"/>
              </a:ext>
            </a:extLst>
          </p:cNvPr>
          <p:cNvSpPr>
            <a:spLocks noGrp="1" noChangeArrowheads="1"/>
          </p:cNvSpPr>
          <p:nvPr>
            <p:ph type="subTitle" idx="1"/>
          </p:nvPr>
        </p:nvSpPr>
        <p:spPr/>
        <p:txBody>
          <a:bodyPr/>
          <a:lstStyle/>
          <a:p>
            <a:pPr eaLnBrk="1" hangingPunct="1"/>
            <a:r>
              <a:rPr lang="zh-CN" altLang="en-US"/>
              <a:t>对偶问题的提出</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E92C3F-1683-497F-9305-D03AEF0B7C9B}"/>
              </a:ext>
            </a:extLst>
          </p:cNvPr>
          <p:cNvSpPr>
            <a:spLocks noGrp="1"/>
          </p:cNvSpPr>
          <p:nvPr>
            <p:ph type="title"/>
          </p:nvPr>
        </p:nvSpPr>
        <p:spPr/>
        <p:txBody>
          <a:bodyPr/>
          <a:lstStyle/>
          <a:p>
            <a:r>
              <a:rPr lang="zh-CN" altLang="en-US" dirty="0"/>
              <a:t>对偶理论（拉格朗日对偶问题）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933E1D0-A81C-49E6-A321-05AF54154E6E}"/>
                  </a:ext>
                </a:extLst>
              </p:cNvPr>
              <p:cNvSpPr>
                <a:spLocks noGrp="1"/>
              </p:cNvSpPr>
              <p:nvPr>
                <p:ph idx="1"/>
              </p:nvPr>
            </p:nvSpPr>
            <p:spPr>
              <a:xfrm>
                <a:off x="457200" y="1295400"/>
                <a:ext cx="8229600" cy="5105400"/>
              </a:xfrm>
            </p:spPr>
            <p:txBody>
              <a:bodyPr/>
              <a:lstStyle/>
              <a:p>
                <a:r>
                  <a:rPr lang="zh-CN" altLang="en-US" dirty="0"/>
                  <a:t>非线性优化的例子</a:t>
                </a:r>
                <a:endParaRPr lang="en-US" altLang="zh-CN" dirty="0"/>
              </a:p>
              <a:p>
                <a14:m>
                  <m:oMath xmlns:m="http://schemas.openxmlformats.org/officeDocument/2006/math">
                    <m:r>
                      <a:rPr lang="en-US" altLang="zh-CN" b="1" i="1" smtClean="0">
                        <a:latin typeface="Cambria Math" panose="02040503050406030204" pitchFamily="18" charset="0"/>
                      </a:rPr>
                      <m:t>𝒎𝒊𝒏</m:t>
                    </m:r>
                    <m:r>
                      <a:rPr lang="en-US" altLang="zh-CN" b="1" i="1" smtClean="0">
                        <a:latin typeface="Cambria Math" panose="02040503050406030204" pitchFamily="18" charset="0"/>
                      </a:rPr>
                      <m:t> </m:t>
                    </m:r>
                    <m:r>
                      <a:rPr lang="en-US" altLang="zh-CN" b="1" i="1" smtClean="0">
                        <a:latin typeface="Cambria Math" panose="02040503050406030204" pitchFamily="18" charset="0"/>
                      </a:rPr>
                      <m:t>𝒛</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𝒙</m:t>
                        </m:r>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𝒚</m:t>
                        </m:r>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 </m:t>
                    </m:r>
                    <m:r>
                      <a:rPr lang="en-US" altLang="zh-CN" b="1" i="1" smtClean="0">
                        <a:latin typeface="Cambria Math" panose="02040503050406030204" pitchFamily="18" charset="0"/>
                      </a:rPr>
                      <m:t>𝒔</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 </m:t>
                    </m:r>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r>
                      <a:rPr lang="en-US" altLang="zh-CN" b="1" i="1" smtClean="0">
                        <a:latin typeface="Cambria Math" panose="02040503050406030204" pitchFamily="18" charset="0"/>
                      </a:rPr>
                      <m:t>≥</m:t>
                    </m:r>
                    <m:r>
                      <a:rPr lang="en-US" altLang="zh-CN" b="1" i="1" smtClean="0">
                        <a:latin typeface="Cambria Math" panose="02040503050406030204" pitchFamily="18" charset="0"/>
                      </a:rPr>
                      <m:t>𝟎</m:t>
                    </m:r>
                  </m:oMath>
                </a14:m>
                <a:endParaRPr lang="en-US" altLang="zh-CN" dirty="0"/>
              </a:p>
              <a:p>
                <a:r>
                  <a:rPr lang="zh-CN" altLang="en-US" dirty="0"/>
                  <a:t>拉格朗日乘子法求解：</a:t>
                </a:r>
                <a:endParaRPr lang="en-US" altLang="zh-CN" dirty="0"/>
              </a:p>
              <a:p>
                <a14:m>
                  <m:oMath xmlns:m="http://schemas.openxmlformats.org/officeDocument/2006/math">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𝒛</m:t>
                        </m:r>
                      </m:e>
                      <m:sup>
                        <m:r>
                          <a:rPr lang="en-US" altLang="zh-CN" b="1" i="1" smtClean="0">
                            <a:latin typeface="Cambria Math" panose="02040503050406030204" pitchFamily="18" charset="0"/>
                          </a:rPr>
                          <m:t>′</m:t>
                        </m:r>
                      </m:sup>
                    </m:sSup>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𝒙</m:t>
                        </m:r>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𝒚</m:t>
                        </m:r>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m:t>
                    </m:r>
                    <m:r>
                      <a:rPr lang="en-US" altLang="zh-CN" b="1" i="1" smtClean="0">
                        <a:latin typeface="Cambria Math" panose="02040503050406030204" pitchFamily="18" charset="0"/>
                      </a:rPr>
                      <m:t>𝒑</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e>
                    </m:d>
                  </m:oMath>
                </a14:m>
                <a:endParaRPr lang="en-US" altLang="zh-CN" b="1" i="1" dirty="0">
                  <a:latin typeface="Cambria Math" panose="02040503050406030204" pitchFamily="18" charset="0"/>
                </a:endParaRPr>
              </a:p>
              <a:p>
                <a14:m>
                  <m:oMath xmlns:m="http://schemas.openxmlformats.org/officeDocument/2006/math">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m:t>
                        </m:r>
                        <m:r>
                          <a:rPr lang="en-US" altLang="zh-CN" b="1" i="1" smtClean="0">
                            <a:latin typeface="Cambria Math" panose="02040503050406030204" pitchFamily="18" charset="0"/>
                          </a:rPr>
                          <m:t>𝒛</m:t>
                        </m:r>
                        <m:r>
                          <a:rPr lang="en-US" altLang="zh-CN" b="1" i="1" smtClean="0">
                            <a:latin typeface="Cambria Math" panose="02040503050406030204" pitchFamily="18" charset="0"/>
                          </a:rPr>
                          <m:t>′</m:t>
                        </m:r>
                      </m:num>
                      <m:den>
                        <m:r>
                          <a:rPr lang="en-US" altLang="zh-CN" b="1" i="1" smtClean="0">
                            <a:latin typeface="Cambria Math" panose="02040503050406030204" pitchFamily="18" charset="0"/>
                          </a:rPr>
                          <m:t>𝝏</m:t>
                        </m:r>
                        <m:r>
                          <a:rPr lang="en-US" altLang="zh-CN" b="1" i="1" smtClean="0">
                            <a:latin typeface="Cambria Math" panose="02040503050406030204" pitchFamily="18" charset="0"/>
                          </a:rPr>
                          <m:t>𝒙</m:t>
                        </m:r>
                      </m:den>
                    </m:f>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𝒛</m:t>
                        </m:r>
                        <m:r>
                          <a:rPr lang="en-US" altLang="zh-CN" i="1">
                            <a:latin typeface="Cambria Math" panose="02040503050406030204" pitchFamily="18" charset="0"/>
                          </a:rPr>
                          <m:t>′</m:t>
                        </m:r>
                      </m:num>
                      <m:den>
                        <m:r>
                          <a:rPr lang="en-US" altLang="zh-CN" i="1">
                            <a:latin typeface="Cambria Math" panose="02040503050406030204" pitchFamily="18" charset="0"/>
                          </a:rPr>
                          <m:t>𝝏</m:t>
                        </m:r>
                        <m:r>
                          <a:rPr lang="en-US" altLang="zh-CN" b="1" i="1" smtClean="0">
                            <a:latin typeface="Cambria Math" panose="02040503050406030204" pitchFamily="18" charset="0"/>
                          </a:rPr>
                          <m:t>𝒚</m:t>
                        </m:r>
                      </m:den>
                    </m:f>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b="1"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𝒛</m:t>
                        </m:r>
                        <m:r>
                          <a:rPr lang="en-US" altLang="zh-CN" i="1">
                            <a:latin typeface="Cambria Math" panose="02040503050406030204" pitchFamily="18" charset="0"/>
                          </a:rPr>
                          <m:t>′</m:t>
                        </m:r>
                      </m:num>
                      <m:den>
                        <m:r>
                          <a:rPr lang="en-US" altLang="zh-CN" i="1">
                            <a:latin typeface="Cambria Math" panose="02040503050406030204" pitchFamily="18" charset="0"/>
                          </a:rPr>
                          <m:t>𝝏</m:t>
                        </m:r>
                        <m:r>
                          <a:rPr lang="en-US" altLang="zh-CN" b="1" i="1" smtClean="0">
                            <a:latin typeface="Cambria Math" panose="02040503050406030204" pitchFamily="18" charset="0"/>
                          </a:rPr>
                          <m:t>𝒑</m:t>
                        </m:r>
                      </m:den>
                    </m:f>
                    <m:r>
                      <a:rPr lang="en-US" altLang="zh-CN" i="1">
                        <a:latin typeface="Cambria Math" panose="02040503050406030204" pitchFamily="18" charset="0"/>
                      </a:rPr>
                      <m:t>=</m:t>
                    </m:r>
                    <m:r>
                      <a:rPr lang="en-US" altLang="zh-CN" i="1">
                        <a:latin typeface="Cambria Math" panose="02040503050406030204" pitchFamily="18" charset="0"/>
                      </a:rPr>
                      <m:t>𝟎</m:t>
                    </m:r>
                    <m:r>
                      <a:rPr lang="en-US" altLang="zh-CN" b="1" i="1" smtClean="0">
                        <a:latin typeface="Cambria Math" panose="02040503050406030204" pitchFamily="18" charset="0"/>
                      </a:rPr>
                      <m:t>⇒</m:t>
                    </m:r>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den>
                    </m:f>
                    <m:r>
                      <a:rPr lang="en-US" altLang="zh-CN" b="1" i="1" smtClean="0">
                        <a:latin typeface="Cambria Math" panose="02040503050406030204" pitchFamily="18" charset="0"/>
                      </a:rPr>
                      <m:t>,</m:t>
                    </m:r>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oMath>
                </a14:m>
                <a:endParaRPr lang="en-US" altLang="zh-CN" dirty="0"/>
              </a:p>
              <a:p>
                <a:r>
                  <a:rPr lang="zh-CN" altLang="en-US" dirty="0"/>
                  <a:t>从另一个角度理解：</a:t>
                </a:r>
                <a:endParaRPr lang="en-US" altLang="zh-CN" dirty="0"/>
              </a:p>
              <a:p>
                <a:r>
                  <a:rPr lang="zh-CN" altLang="en-US" dirty="0"/>
                  <a:t>当</a:t>
                </a:r>
                <a14:m>
                  <m:oMath xmlns:m="http://schemas.openxmlformats.org/officeDocument/2006/math">
                    <m:r>
                      <a:rPr lang="en-US" altLang="zh-CN" i="1">
                        <a:latin typeface="Cambria Math" panose="02040503050406030204" pitchFamily="18" charset="0"/>
                      </a:rPr>
                      <m:t>𝒑</m:t>
                    </m:r>
                    <m:r>
                      <a:rPr lang="en-US" altLang="zh-CN" i="1">
                        <a:latin typeface="Cambria Math" panose="02040503050406030204" pitchFamily="18" charset="0"/>
                      </a:rPr>
                      <m:t>=</m:t>
                    </m:r>
                    <m:r>
                      <a:rPr lang="en-US" altLang="zh-CN" i="1">
                        <a:latin typeface="Cambria Math" panose="02040503050406030204" pitchFamily="18" charset="0"/>
                      </a:rPr>
                      <m:t>𝟏</m:t>
                    </m:r>
                  </m:oMath>
                </a14:m>
                <a:r>
                  <a:rPr lang="zh-CN" altLang="en-US" dirty="0"/>
                  <a:t>时，</a:t>
                </a:r>
                <a:r>
                  <a:rPr lang="en-US" altLang="zh-CN" dirty="0"/>
                  <a:t> min</a:t>
                </a:r>
                <a14:m>
                  <m:oMath xmlns:m="http://schemas.openxmlformats.org/officeDocument/2006/math">
                    <m:r>
                      <a:rPr lang="en-US" altLang="zh-CN" b="1" i="0" smtClean="0">
                        <a:latin typeface="Cambria Math" panose="02040503050406030204" pitchFamily="18" charset="0"/>
                      </a:rPr>
                      <m:t> </m:t>
                    </m:r>
                    <m:sSup>
                      <m:sSupPr>
                        <m:ctrlPr>
                          <a:rPr lang="en-US" altLang="zh-CN" i="1">
                            <a:latin typeface="Cambria Math" panose="02040503050406030204" pitchFamily="18" charset="0"/>
                          </a:rPr>
                        </m:ctrlPr>
                      </m:sSupPr>
                      <m:e>
                        <m:r>
                          <a:rPr lang="en-US" altLang="zh-CN" i="1">
                            <a:latin typeface="Cambria Math" panose="02040503050406030204" pitchFamily="18" charset="0"/>
                          </a:rPr>
                          <m:t>𝒛</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𝒙</m:t>
                        </m:r>
                      </m:e>
                      <m:sup>
                        <m:r>
                          <a:rPr lang="en-US" altLang="zh-CN" i="1">
                            <a:latin typeface="Cambria Math" panose="02040503050406030204" pitchFamily="18" charset="0"/>
                          </a:rPr>
                          <m:t>𝟐</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𝒚</m:t>
                        </m:r>
                      </m:e>
                      <m:sup>
                        <m:r>
                          <a:rPr lang="en-US" altLang="zh-CN" i="1">
                            <a:latin typeface="Cambria Math" panose="02040503050406030204" pitchFamily="18" charset="0"/>
                          </a:rPr>
                          <m:t>𝟐</m:t>
                        </m:r>
                      </m:sup>
                    </m:sSup>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𝟏</m:t>
                        </m:r>
                        <m:r>
                          <a:rPr lang="en-US" altLang="zh-CN" i="1">
                            <a:latin typeface="Cambria Math" panose="02040503050406030204" pitchFamily="18" charset="0"/>
                          </a:rPr>
                          <m:t>−</m:t>
                        </m:r>
                        <m:r>
                          <a:rPr lang="en-US" altLang="zh-CN" i="1">
                            <a:latin typeface="Cambria Math" panose="02040503050406030204" pitchFamily="18" charset="0"/>
                          </a:rPr>
                          <m:t>𝒙</m:t>
                        </m:r>
                        <m:r>
                          <a:rPr lang="en-US" altLang="zh-CN" i="1">
                            <a:latin typeface="Cambria Math" panose="02040503050406030204" pitchFamily="18" charset="0"/>
                          </a:rPr>
                          <m:t>−</m:t>
                        </m:r>
                        <m:r>
                          <a:rPr lang="en-US" altLang="zh-CN" i="1">
                            <a:latin typeface="Cambria Math" panose="02040503050406030204" pitchFamily="18" charset="0"/>
                          </a:rPr>
                          <m:t>𝒚</m:t>
                        </m:r>
                      </m:e>
                    </m:d>
                    <m:r>
                      <a:rPr lang="zh-CN" altLang="en-US" i="1" smtClean="0">
                        <a:latin typeface="Cambria Math" panose="02040503050406030204" pitchFamily="18" charset="0"/>
                      </a:rPr>
                      <m:t>与</m:t>
                    </m:r>
                  </m:oMath>
                </a14:m>
                <a:r>
                  <a:rPr lang="zh-CN" altLang="en-US" dirty="0"/>
                  <a:t>原带约束优化问题有相同的解</a:t>
                </a:r>
                <a:endParaRPr lang="en-US" altLang="zh-CN" dirty="0"/>
              </a:p>
              <a:p>
                <a:r>
                  <a:rPr lang="zh-CN" altLang="en-US" dirty="0"/>
                  <a:t>启发：我们可以选择合适的</a:t>
                </a:r>
                <a14:m>
                  <m:oMath xmlns:m="http://schemas.openxmlformats.org/officeDocument/2006/math">
                    <m:r>
                      <a:rPr lang="en-US" altLang="zh-CN" i="1">
                        <a:latin typeface="Cambria Math" panose="02040503050406030204" pitchFamily="18" charset="0"/>
                      </a:rPr>
                      <m:t>𝒑</m:t>
                    </m:r>
                  </m:oMath>
                </a14:m>
                <a:r>
                  <a:rPr lang="zh-CN" altLang="en-US" dirty="0"/>
                  <a:t>值，摆脱约束条件</a:t>
                </a:r>
              </a:p>
            </p:txBody>
          </p:sp>
        </mc:Choice>
        <mc:Fallback xmlns="">
          <p:sp>
            <p:nvSpPr>
              <p:cNvPr id="3" name="内容占位符 2">
                <a:extLst>
                  <a:ext uri="{FF2B5EF4-FFF2-40B4-BE49-F238E27FC236}">
                    <a16:creationId xmlns:a16="http://schemas.microsoft.com/office/drawing/2014/main" id="{3933E1D0-A81C-49E6-A321-05AF54154E6E}"/>
                  </a:ext>
                </a:extLst>
              </p:cNvPr>
              <p:cNvSpPr>
                <a:spLocks noGrp="1" noRot="1" noChangeAspect="1" noMove="1" noResize="1" noEditPoints="1" noAdjustHandles="1" noChangeArrowheads="1" noChangeShapeType="1" noTextEdit="1"/>
              </p:cNvSpPr>
              <p:nvPr>
                <p:ph idx="1"/>
              </p:nvPr>
            </p:nvSpPr>
            <p:spPr>
              <a:xfrm>
                <a:off x="457200" y="1295400"/>
                <a:ext cx="8229600" cy="5105400"/>
              </a:xfrm>
              <a:blipFill>
                <a:blip r:embed="rId2"/>
                <a:stretch>
                  <a:fillRect l="-444" t="-1673" r="-4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49486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7A3C0D-4551-4BCB-A26A-B8CD90154B01}"/>
              </a:ext>
            </a:extLst>
          </p:cNvPr>
          <p:cNvSpPr>
            <a:spLocks noGrp="1"/>
          </p:cNvSpPr>
          <p:nvPr>
            <p:ph type="title"/>
          </p:nvPr>
        </p:nvSpPr>
        <p:spPr/>
        <p:txBody>
          <a:bodyPr/>
          <a:lstStyle/>
          <a:p>
            <a:r>
              <a:rPr lang="zh-CN" altLang="en-US" dirty="0"/>
              <a:t>线性规划问题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81F01ED-C44D-4032-98D5-98616AEABF13}"/>
                  </a:ext>
                </a:extLst>
              </p:cNvPr>
              <p:cNvSpPr>
                <a:spLocks noGrp="1"/>
              </p:cNvSpPr>
              <p:nvPr>
                <p:ph idx="1"/>
              </p:nvPr>
            </p:nvSpPr>
            <p:spPr>
              <a:xfrm>
                <a:off x="457200" y="914400"/>
                <a:ext cx="8229600" cy="5334000"/>
              </a:xfrm>
            </p:spPr>
            <p:txBody>
              <a:bodyPr/>
              <a:lstStyle/>
              <a:p>
                <a:r>
                  <a:rPr lang="zh-CN" altLang="en-US" sz="2400" dirty="0"/>
                  <a:t>考虑一个最小化问题</a:t>
                </a:r>
                <a:endParaRPr lang="en-US" altLang="zh-CN" sz="2400" dirty="0"/>
              </a:p>
              <a:p>
                <a:pPr lvl="1"/>
                <a14:m>
                  <m:oMath xmlns:m="http://schemas.openxmlformats.org/officeDocument/2006/math">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min</m:t>
                        </m:r>
                      </m:fName>
                      <m:e>
                        <m:r>
                          <a:rPr lang="en-US" altLang="zh-CN" sz="2000" b="0" i="1" smtClean="0">
                            <a:latin typeface="Cambria Math" panose="02040503050406030204" pitchFamily="18" charset="0"/>
                          </a:rPr>
                          <m:t>𝑧</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𝑐</m:t>
                                </m:r>
                              </m:e>
                            </m:acc>
                          </m:e>
                          <m:sup>
                            <m:r>
                              <a:rPr lang="en-US" altLang="zh-CN" sz="2000" b="0" i="1" smtClean="0">
                                <a:latin typeface="Cambria Math" panose="02040503050406030204" pitchFamily="18" charset="0"/>
                              </a:rPr>
                              <m:t>𝑇</m:t>
                            </m:r>
                          </m:sup>
                        </m:sSup>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𝑥</m:t>
                            </m:r>
                          </m:e>
                        </m:acc>
                      </m:e>
                    </m:func>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𝑡</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𝐴</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𝑥</m:t>
                        </m:r>
                      </m:e>
                    </m:acc>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𝑏</m:t>
                        </m:r>
                      </m:e>
                    </m:acc>
                    <m:r>
                      <a:rPr lang="en-US" altLang="zh-CN" sz="2000" b="0" i="1" dirty="0" smtClean="0">
                        <a:latin typeface="Cambria Math" panose="02040503050406030204" pitchFamily="18" charset="0"/>
                      </a:rPr>
                      <m:t>,</m:t>
                    </m:r>
                    <m:acc>
                      <m:accPr>
                        <m:chr m:val="⃗"/>
                        <m:ctrlPr>
                          <a:rPr lang="en-US" altLang="zh-CN" sz="2000" b="0" i="1" dirty="0" smtClean="0">
                            <a:latin typeface="Cambria Math" panose="02040503050406030204" pitchFamily="18" charset="0"/>
                          </a:rPr>
                        </m:ctrlPr>
                      </m:accPr>
                      <m:e>
                        <m:r>
                          <a:rPr lang="en-US" altLang="zh-CN" sz="2000" b="0" i="1" dirty="0" smtClean="0">
                            <a:latin typeface="Cambria Math" panose="02040503050406030204" pitchFamily="18" charset="0"/>
                          </a:rPr>
                          <m:t>𝑥</m:t>
                        </m:r>
                      </m:e>
                    </m:acc>
                    <m:r>
                      <a:rPr lang="en-US" altLang="zh-CN" sz="2000" b="0" i="1" dirty="0" smtClean="0">
                        <a:latin typeface="Cambria Math" panose="02040503050406030204" pitchFamily="18" charset="0"/>
                      </a:rPr>
                      <m:t>≥0</m:t>
                    </m:r>
                  </m:oMath>
                </a14:m>
                <a:endParaRPr lang="en-US" altLang="zh-CN" sz="2000" dirty="0"/>
              </a:p>
              <a:p>
                <a:pPr lvl="1"/>
                <a:r>
                  <a:rPr lang="zh-CN" altLang="en-US" sz="2000" dirty="0"/>
                  <a:t>仿照之前的思路，加入变量</a:t>
                </a:r>
                <a14:m>
                  <m:oMath xmlns:m="http://schemas.openxmlformats.org/officeDocument/2006/math">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𝑝</m:t>
                        </m:r>
                      </m:e>
                    </m:acc>
                  </m:oMath>
                </a14:m>
                <a:endParaRPr lang="en-US" altLang="zh-CN" sz="2000" dirty="0"/>
              </a:p>
              <a:p>
                <a:pPr lvl="1"/>
                <a14:m>
                  <m:oMath xmlns:m="http://schemas.openxmlformats.org/officeDocument/2006/math">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min</m:t>
                        </m:r>
                      </m:fName>
                      <m:e>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𝑧</m:t>
                            </m:r>
                          </m:e>
                          <m:sup>
                            <m:r>
                              <a:rPr lang="en-US" altLang="zh-CN" sz="2000" b="0" i="1" smtClean="0">
                                <a:latin typeface="Cambria Math" panose="02040503050406030204" pitchFamily="18" charset="0"/>
                              </a:rPr>
                              <m:t>′</m:t>
                            </m:r>
                          </m:sup>
                        </m:sSup>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b="0" i="1" smtClean="0">
                            <a:latin typeface="Cambria Math" panose="02040503050406030204" pitchFamily="18" charset="0"/>
                          </a:rPr>
                          <m:t>+</m:t>
                        </m:r>
                        <m:sSup>
                          <m:sSupPr>
                            <m:ctrlPr>
                              <a:rPr lang="en-US" altLang="zh-CN" sz="2000" b="0" i="1" dirty="0" smtClean="0">
                                <a:latin typeface="Cambria Math" panose="02040503050406030204" pitchFamily="18" charset="0"/>
                              </a:rPr>
                            </m:ctrlPr>
                          </m:s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𝑝</m:t>
                                </m:r>
                              </m:e>
                            </m:acc>
                          </m:e>
                          <m:sup>
                            <m:r>
                              <a:rPr lang="en-US" altLang="zh-CN" sz="2000" b="0" i="1" dirty="0" smtClean="0">
                                <a:latin typeface="Cambria Math" panose="02040503050406030204" pitchFamily="18" charset="0"/>
                              </a:rPr>
                              <m:t>𝑇</m:t>
                            </m:r>
                          </m:sup>
                        </m:sSup>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𝑏</m:t>
                            </m:r>
                          </m:e>
                        </m:acc>
                        <m:r>
                          <a:rPr lang="en-US" altLang="zh-CN" sz="2000" i="1">
                            <a:latin typeface="Cambria Math" panose="02040503050406030204" pitchFamily="18" charset="0"/>
                          </a:rPr>
                          <m:t>−</m:t>
                        </m:r>
                        <m:r>
                          <a:rPr lang="en-US" altLang="zh-CN" sz="2000" i="1">
                            <a:latin typeface="Cambria Math" panose="02040503050406030204" pitchFamily="18" charset="0"/>
                          </a:rPr>
                          <m:t>𝐴</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b="0" i="1" smtClean="0">
                            <a:latin typeface="Cambria Math" panose="02040503050406030204" pitchFamily="18" charset="0"/>
                          </a:rPr>
                          <m:t>)</m:t>
                        </m:r>
                      </m:e>
                    </m:func>
                  </m:oMath>
                </a14:m>
                <a:endParaRPr lang="en-US" altLang="zh-CN" sz="2000" dirty="0"/>
              </a:p>
              <a:p>
                <a:pPr lvl="1"/>
                <a:r>
                  <a:rPr lang="zh-CN" altLang="en-US" sz="2000" dirty="0"/>
                  <a:t>对于一个给定的</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oMath>
                </a14:m>
                <a:r>
                  <a:rPr lang="zh-CN" altLang="en-US" sz="2000" dirty="0"/>
                  <a:t>，</a:t>
                </a:r>
                <a:r>
                  <a:rPr lang="en-US" altLang="zh-CN" sz="2000" dirty="0"/>
                  <a:t> </a:t>
                </a:r>
                <a14:m>
                  <m:oMath xmlns:m="http://schemas.openxmlformats.org/officeDocument/2006/math">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𝑧</m:t>
                        </m:r>
                      </m:e>
                      <m:sup>
                        <m:r>
                          <a:rPr lang="en-US" altLang="zh-CN" sz="2000" i="1">
                            <a:latin typeface="Cambria Math" panose="02040503050406030204" pitchFamily="18" charset="0"/>
                          </a:rPr>
                          <m:t>′</m:t>
                        </m:r>
                      </m:sup>
                    </m:sSup>
                  </m:oMath>
                </a14:m>
                <a:r>
                  <a:rPr lang="zh-CN" altLang="en-US" sz="2000" dirty="0"/>
                  <a:t>存在一个最小值</a:t>
                </a:r>
                <a:endParaRPr lang="en-US" altLang="zh-CN" sz="2000" dirty="0"/>
              </a:p>
              <a:p>
                <a:pPr lvl="1"/>
                <a:r>
                  <a:rPr lang="zh-CN" altLang="en-US" sz="2000" dirty="0"/>
                  <a:t>这个最小值就是</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oMath>
                </a14:m>
                <a:r>
                  <a:rPr lang="zh-CN" altLang="en-US" sz="2000" dirty="0"/>
                  <a:t>的函数，记为</a:t>
                </a:r>
                <a14:m>
                  <m:oMath xmlns:m="http://schemas.openxmlformats.org/officeDocument/2006/math">
                    <m:r>
                      <a:rPr lang="en-US" altLang="zh-CN" sz="2000" b="0" i="1" smtClean="0">
                        <a:latin typeface="Cambria Math" panose="02040503050406030204" pitchFamily="18" charset="0"/>
                      </a:rPr>
                      <m:t>𝑔</m:t>
                    </m:r>
                    <m:d>
                      <m:dPr>
                        <m:ctrlPr>
                          <a:rPr lang="en-US" altLang="zh-CN" sz="2000" b="0" i="1" smtClean="0">
                            <a:latin typeface="Cambria Math" panose="02040503050406030204" pitchFamily="18" charset="0"/>
                          </a:rPr>
                        </m:ctrlPr>
                      </m:d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𝑝</m:t>
                            </m:r>
                          </m:e>
                        </m:acc>
                      </m:e>
                    </m:d>
                    <m:r>
                      <a:rPr lang="en-US" altLang="zh-CN" sz="2000" b="0" i="1" smtClean="0">
                        <a:latin typeface="Cambria Math" panose="02040503050406030204" pitchFamily="18" charset="0"/>
                      </a:rPr>
                      <m:t>=</m:t>
                    </m:r>
                    <m:func>
                      <m:funcPr>
                        <m:ctrlPr>
                          <a:rPr lang="en-US" altLang="zh-CN" sz="2000" b="0" i="1" smtClean="0">
                            <a:latin typeface="Cambria Math" panose="02040503050406030204" pitchFamily="18" charset="0"/>
                          </a:rPr>
                        </m:ctrlPr>
                      </m:funcPr>
                      <m:fName>
                        <m:limLow>
                          <m:limLowPr>
                            <m:ctrlPr>
                              <a:rPr lang="en-US" altLang="zh-CN" sz="2000" b="0" i="1" smtClean="0">
                                <a:latin typeface="Cambria Math" panose="02040503050406030204" pitchFamily="18" charset="0"/>
                              </a:rPr>
                            </m:ctrlPr>
                          </m:limLowPr>
                          <m:e>
                            <m:r>
                              <m:rPr>
                                <m:sty m:val="p"/>
                              </m:rPr>
                              <a:rPr lang="en-US" altLang="zh-CN" sz="2000" b="0" i="0" smtClean="0">
                                <a:latin typeface="Cambria Math" panose="02040503050406030204" pitchFamily="18" charset="0"/>
                              </a:rPr>
                              <m:t>min</m:t>
                            </m:r>
                          </m:e>
                          <m:lim>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𝑥</m:t>
                                </m:r>
                              </m:e>
                            </m:acc>
                          </m:lim>
                        </m:limLow>
                      </m:fName>
                      <m:e>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i="1">
                            <a:latin typeface="Cambria Math" panose="02040503050406030204" pitchFamily="18" charset="0"/>
                          </a:rPr>
                          <m:t>+</m:t>
                        </m:r>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𝑏</m:t>
                            </m:r>
                          </m:e>
                        </m:acc>
                        <m:r>
                          <a:rPr lang="en-US" altLang="zh-CN" sz="2000" i="1">
                            <a:latin typeface="Cambria Math" panose="02040503050406030204" pitchFamily="18" charset="0"/>
                          </a:rPr>
                          <m:t>−</m:t>
                        </m:r>
                        <m:r>
                          <a:rPr lang="en-US" altLang="zh-CN" sz="2000" i="1">
                            <a:latin typeface="Cambria Math" panose="02040503050406030204" pitchFamily="18" charset="0"/>
                          </a:rPr>
                          <m:t>𝐴</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i="1">
                            <a:latin typeface="Cambria Math" panose="02040503050406030204" pitchFamily="18" charset="0"/>
                          </a:rPr>
                          <m:t>)</m:t>
                        </m:r>
                      </m:e>
                    </m:func>
                  </m:oMath>
                </a14:m>
                <a:endParaRPr lang="en-US" altLang="zh-CN" sz="2000" dirty="0"/>
              </a:p>
              <a:p>
                <a:pPr lvl="1"/>
                <a:r>
                  <a:rPr lang="zh-CN" altLang="en-US" sz="2000" dirty="0"/>
                  <a:t>思考</a:t>
                </a:r>
                <a14:m>
                  <m:oMath xmlns:m="http://schemas.openxmlformats.org/officeDocument/2006/math">
                    <m:r>
                      <a:rPr lang="en-US" altLang="zh-CN" sz="2000" i="1">
                        <a:latin typeface="Cambria Math" panose="02040503050406030204" pitchFamily="18" charset="0"/>
                      </a:rPr>
                      <m:t>𝑔</m:t>
                    </m:r>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r>
                      <a:rPr lang="en-US" altLang="zh-CN" sz="2000" i="1">
                        <a:latin typeface="Cambria Math" panose="02040503050406030204" pitchFamily="18" charset="0"/>
                      </a:rPr>
                      <m:t>)</m:t>
                    </m:r>
                  </m:oMath>
                </a14:m>
                <a:r>
                  <a:rPr lang="zh-CN" altLang="en-US" sz="2000" dirty="0"/>
                  <a:t>与原问题最优解</a:t>
                </a:r>
                <a14:m>
                  <m:oMath xmlns:m="http://schemas.openxmlformats.org/officeDocument/2006/math">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𝑧</m:t>
                        </m:r>
                      </m:e>
                      <m:sup>
                        <m:r>
                          <a:rPr lang="en-US" altLang="zh-CN" sz="2000" b="0" i="1" smtClean="0">
                            <a:latin typeface="Cambria Math" panose="02040503050406030204" pitchFamily="18" charset="0"/>
                          </a:rPr>
                          <m:t>∗</m:t>
                        </m:r>
                      </m:sup>
                    </m:sSup>
                  </m:oMath>
                </a14:m>
                <a:r>
                  <a:rPr lang="zh-CN" altLang="en-US" sz="2000" dirty="0"/>
                  <a:t>之间的关系是？</a:t>
                </a:r>
                <a:endParaRPr lang="en-US" altLang="zh-CN" sz="2000" dirty="0"/>
              </a:p>
              <a:p>
                <a:r>
                  <a:rPr lang="zh-CN" altLang="en-US" sz="2400" dirty="0"/>
                  <a:t>首先证明</a:t>
                </a:r>
                <a14:m>
                  <m:oMath xmlns:m="http://schemas.openxmlformats.org/officeDocument/2006/math">
                    <m:r>
                      <a:rPr lang="en-US" altLang="zh-CN" sz="2400" i="1">
                        <a:latin typeface="Cambria Math" panose="02040503050406030204" pitchFamily="18" charset="0"/>
                      </a:rPr>
                      <m:t>𝑔</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d>
                    <m:r>
                      <a:rPr lang="en-US" altLang="zh-CN" sz="2400" b="1" i="1" smtClean="0">
                        <a:latin typeface="Cambria Math" panose="02040503050406030204" pitchFamily="18" charset="0"/>
                      </a:rPr>
                      <m:t>≤</m:t>
                    </m:r>
                    <m:sSup>
                      <m:sSupPr>
                        <m:ctrlPr>
                          <a:rPr lang="en-US" altLang="zh-CN" sz="2400" b="0" i="1">
                            <a:latin typeface="Cambria Math" panose="02040503050406030204" pitchFamily="18" charset="0"/>
                          </a:rPr>
                        </m:ctrlPr>
                      </m:sSupPr>
                      <m:e>
                        <m:r>
                          <a:rPr lang="en-US" altLang="zh-CN" sz="2400" b="0" i="1">
                            <a:latin typeface="Cambria Math" panose="02040503050406030204" pitchFamily="18" charset="0"/>
                          </a:rPr>
                          <m:t>𝑧</m:t>
                        </m:r>
                      </m:e>
                      <m:sup>
                        <m:r>
                          <a:rPr lang="en-US" altLang="zh-CN" sz="2400" b="0" i="1">
                            <a:latin typeface="Cambria Math" panose="02040503050406030204" pitchFamily="18" charset="0"/>
                          </a:rPr>
                          <m:t>∗</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𝑐</m:t>
                            </m:r>
                          </m:e>
                        </m:acc>
                      </m:e>
                      <m:sup>
                        <m:r>
                          <a:rPr lang="en-US" altLang="zh-CN" sz="2400" b="0" i="1" smtClean="0">
                            <a:latin typeface="Cambria Math" panose="02040503050406030204" pitchFamily="18" charset="0"/>
                          </a:rPr>
                          <m:t>𝑇</m:t>
                        </m:r>
                      </m:sup>
                    </m:sSup>
                    <m:sSup>
                      <m:sSupPr>
                        <m:ctrlPr>
                          <a:rPr lang="en-US" altLang="zh-CN" sz="2400" b="0" i="1" smtClean="0">
                            <a:latin typeface="Cambria Math" panose="02040503050406030204" pitchFamily="18" charset="0"/>
                          </a:rPr>
                        </m:ctrlPr>
                      </m:sSupPr>
                      <m:e>
                        <m:acc>
                          <m:accPr>
                            <m:chr m:val="⃗"/>
                            <m:ctrlPr>
                              <a:rPr lang="en-US" altLang="zh-CN" sz="2400" b="0" i="1" smtClean="0">
                                <a:latin typeface="Cambria Math" panose="02040503050406030204" pitchFamily="18" charset="0"/>
                              </a:rPr>
                            </m:ctrlPr>
                          </m:accPr>
                          <m:e>
                            <m:r>
                              <m:rPr>
                                <m:sty m:val="p"/>
                              </m:rPr>
                              <a:rPr lang="en-US" altLang="zh-CN" sz="2400" b="0" i="1" smtClean="0">
                                <a:latin typeface="Cambria Math" panose="02040503050406030204" pitchFamily="18" charset="0"/>
                              </a:rPr>
                              <m:t>x</m:t>
                            </m:r>
                          </m:e>
                        </m:acc>
                      </m:e>
                      <m:sup>
                        <m:r>
                          <a:rPr lang="en-US" altLang="zh-CN" sz="2400" b="0" i="1" smtClean="0">
                            <a:latin typeface="Cambria Math" panose="02040503050406030204" pitchFamily="18" charset="0"/>
                          </a:rPr>
                          <m:t>∗</m:t>
                        </m:r>
                      </m:sup>
                    </m:sSup>
                  </m:oMath>
                </a14:m>
                <a:endParaRPr lang="en-US" altLang="zh-CN" sz="2400" dirty="0"/>
              </a:p>
              <a:p>
                <a:pPr lvl="1"/>
                <a:r>
                  <a:rPr lang="zh-CN" altLang="en-US" sz="2000" dirty="0"/>
                  <a:t>对于任意给定</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oMath>
                </a14:m>
                <a:r>
                  <a:rPr lang="zh-CN" altLang="en-US" sz="2000" dirty="0"/>
                  <a:t>，有</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r>
                      <a:rPr lang="en-US" altLang="zh-CN" sz="2000" b="0" i="1" smtClean="0">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i="1">
                        <a:latin typeface="Cambria Math" panose="02040503050406030204" pitchFamily="18" charset="0"/>
                      </a:rPr>
                      <m:t>+</m:t>
                    </m:r>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d>
                      <m:dPr>
                        <m:ctrlPr>
                          <a:rPr lang="en-US" altLang="zh-CN" sz="2000" i="1" dirty="0">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𝑏</m:t>
                            </m:r>
                          </m:e>
                        </m:acc>
                        <m:r>
                          <a:rPr lang="en-US" altLang="zh-CN" sz="2000" i="1">
                            <a:latin typeface="Cambria Math" panose="02040503050406030204" pitchFamily="18" charset="0"/>
                          </a:rPr>
                          <m:t>−</m:t>
                        </m:r>
                        <m:r>
                          <a:rPr lang="en-US" altLang="zh-CN" sz="2000" i="1">
                            <a:latin typeface="Cambria Math" panose="02040503050406030204" pitchFamily="18" charset="0"/>
                          </a:rPr>
                          <m:t>𝐴</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e>
                    </m:d>
                    <m:r>
                      <a:rPr lang="en-US" altLang="zh-CN" sz="2000" b="0" i="1" smtClean="0">
                        <a:latin typeface="Cambria Math" panose="02040503050406030204" pitchFamily="18" charset="0"/>
                      </a:rPr>
                      <m:t>  ∀</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𝑥</m:t>
                        </m:r>
                      </m:e>
                    </m:acc>
                  </m:oMath>
                </a14:m>
                <a:endParaRPr lang="en-US" altLang="zh-CN" sz="2000" dirty="0"/>
              </a:p>
              <a:p>
                <a:pPr lvl="1"/>
                <a:r>
                  <a:rPr lang="zh-CN" altLang="en-US" sz="2000" dirty="0"/>
                  <a:t>所以对于任意给定</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oMath>
                </a14:m>
                <a:r>
                  <a:rPr lang="zh-CN" altLang="en-US" sz="2000" dirty="0"/>
                  <a:t>，有</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sSup>
                      <m:sSupPr>
                        <m:ctrlPr>
                          <a:rPr lang="en-US" altLang="zh-CN" sz="2000" b="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e>
                      <m:sup>
                        <m:r>
                          <a:rPr lang="en-US" altLang="zh-CN" sz="2000" b="0" i="1" smtClean="0">
                            <a:latin typeface="Cambria Math" panose="02040503050406030204" pitchFamily="18" charset="0"/>
                          </a:rPr>
                          <m:t>∗</m:t>
                        </m:r>
                      </m:sup>
                    </m:sSup>
                    <m:r>
                      <a:rPr lang="en-US" altLang="zh-CN" sz="2000" i="1">
                        <a:latin typeface="Cambria Math" panose="02040503050406030204" pitchFamily="18" charset="0"/>
                      </a:rPr>
                      <m:t>+</m:t>
                    </m:r>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d>
                      <m:dPr>
                        <m:ctrlPr>
                          <a:rPr lang="en-US" altLang="zh-CN" sz="2000" i="1" dirty="0">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𝑏</m:t>
                            </m:r>
                          </m:e>
                        </m:acc>
                        <m:r>
                          <a:rPr lang="en-US" altLang="zh-CN" sz="2000" i="1">
                            <a:latin typeface="Cambria Math" panose="02040503050406030204" pitchFamily="18" charset="0"/>
                          </a:rPr>
                          <m:t>−</m:t>
                        </m:r>
                        <m:r>
                          <a:rPr lang="en-US" altLang="zh-CN" sz="2000" i="1">
                            <a:latin typeface="Cambria Math" panose="02040503050406030204" pitchFamily="18" charset="0"/>
                          </a:rPr>
                          <m:t>𝐴</m:t>
                        </m:r>
                        <m:sSup>
                          <m:sSupPr>
                            <m:ctrlPr>
                              <a:rPr lang="en-US" altLang="zh-CN" sz="2000" b="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e>
                          <m:sup>
                            <m:r>
                              <a:rPr lang="en-US" altLang="zh-CN" sz="2000" b="0" i="1" smtClean="0">
                                <a:latin typeface="Cambria Math" panose="02040503050406030204" pitchFamily="18" charset="0"/>
                              </a:rPr>
                              <m:t>∗</m:t>
                            </m:r>
                          </m:sup>
                        </m:sSup>
                      </m:e>
                    </m:d>
                  </m:oMath>
                </a14:m>
                <a:endParaRPr lang="en-US" altLang="zh-CN" sz="2000" dirty="0"/>
              </a:p>
              <a:p>
                <a:pPr lvl="1"/>
                <a:r>
                  <a:rPr lang="zh-CN" altLang="en-US" sz="2000" dirty="0"/>
                  <a:t>同时由于</a:t>
                </a:r>
                <a14:m>
                  <m:oMath xmlns:m="http://schemas.openxmlformats.org/officeDocument/2006/math">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e>
                      <m:sup>
                        <m:r>
                          <a:rPr lang="en-US" altLang="zh-CN" sz="2000" i="1">
                            <a:latin typeface="Cambria Math" panose="02040503050406030204" pitchFamily="18" charset="0"/>
                          </a:rPr>
                          <m:t>∗</m:t>
                        </m:r>
                      </m:sup>
                    </m:sSup>
                  </m:oMath>
                </a14:m>
                <a:r>
                  <a:rPr lang="zh-CN" altLang="en-US" sz="2000" dirty="0"/>
                  <a:t>为原含约束问题的最优解，因此</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𝑏</m:t>
                        </m:r>
                      </m:e>
                    </m:acc>
                    <m:r>
                      <a:rPr lang="en-US" altLang="zh-CN" sz="2000" i="1">
                        <a:latin typeface="Cambria Math" panose="02040503050406030204" pitchFamily="18" charset="0"/>
                      </a:rPr>
                      <m:t>−</m:t>
                    </m:r>
                    <m:r>
                      <a:rPr lang="en-US" altLang="zh-CN" sz="2000" i="1">
                        <a:latin typeface="Cambria Math" panose="02040503050406030204" pitchFamily="18" charset="0"/>
                      </a:rPr>
                      <m:t>𝐴</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e>
                      <m:sup>
                        <m:r>
                          <a:rPr lang="en-US" altLang="zh-CN" sz="2000" i="1">
                            <a:latin typeface="Cambria Math" panose="02040503050406030204" pitchFamily="18" charset="0"/>
                          </a:rPr>
                          <m:t>∗</m:t>
                        </m:r>
                      </m:sup>
                    </m:sSup>
                    <m:r>
                      <a:rPr lang="en-US" altLang="zh-CN" sz="2000" b="0" i="0" smtClean="0">
                        <a:latin typeface="Cambria Math" panose="02040503050406030204" pitchFamily="18" charset="0"/>
                      </a:rPr>
                      <m:t>=0</m:t>
                    </m:r>
                  </m:oMath>
                </a14:m>
                <a:endParaRPr lang="en-US" altLang="zh-CN" sz="2000" dirty="0"/>
              </a:p>
              <a:p>
                <a:pPr lvl="1"/>
                <a:r>
                  <a:rPr lang="zh-CN" altLang="en-US" sz="2000" dirty="0"/>
                  <a:t>所以对于任意给定</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oMath>
                </a14:m>
                <a:r>
                  <a:rPr lang="zh-CN" altLang="en-US" sz="2000" dirty="0"/>
                  <a:t>，有</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𝑥</m:t>
                            </m:r>
                          </m:e>
                        </m:acc>
                      </m:e>
                      <m:sup>
                        <m:r>
                          <a:rPr lang="en-US" altLang="zh-CN" sz="2000" i="1">
                            <a:latin typeface="Cambria Math" panose="02040503050406030204" pitchFamily="18" charset="0"/>
                          </a:rPr>
                          <m:t>∗</m:t>
                        </m:r>
                      </m:sup>
                    </m:sSup>
                  </m:oMath>
                </a14:m>
                <a:r>
                  <a:rPr lang="zh-CN" altLang="en-US" sz="2000" dirty="0"/>
                  <a:t>：</a:t>
                </a:r>
                <a:r>
                  <a:rPr lang="en-US" altLang="zh-CN" sz="2000" dirty="0"/>
                  <a:t> </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r>
                      <a:rPr lang="zh-CN" altLang="en-US" sz="2000" i="1">
                        <a:latin typeface="Cambria Math" panose="02040503050406030204" pitchFamily="18" charset="0"/>
                      </a:rPr>
                      <m:t>存在</m:t>
                    </m:r>
                  </m:oMath>
                </a14:m>
                <a:r>
                  <a:rPr lang="zh-CN" altLang="en-US" sz="2000" dirty="0"/>
                  <a:t>上界</a:t>
                </a:r>
              </a:p>
            </p:txBody>
          </p:sp>
        </mc:Choice>
        <mc:Fallback xmlns="">
          <p:sp>
            <p:nvSpPr>
              <p:cNvPr id="3" name="内容占位符 2">
                <a:extLst>
                  <a:ext uri="{FF2B5EF4-FFF2-40B4-BE49-F238E27FC236}">
                    <a16:creationId xmlns:a16="http://schemas.microsoft.com/office/drawing/2014/main" id="{581F01ED-C44D-4032-98D5-98616AEABF13}"/>
                  </a:ext>
                </a:extLst>
              </p:cNvPr>
              <p:cNvSpPr>
                <a:spLocks noGrp="1" noRot="1" noChangeAspect="1" noMove="1" noResize="1" noEditPoints="1" noAdjustHandles="1" noChangeArrowheads="1" noChangeShapeType="1" noTextEdit="1"/>
              </p:cNvSpPr>
              <p:nvPr>
                <p:ph idx="1"/>
              </p:nvPr>
            </p:nvSpPr>
            <p:spPr>
              <a:xfrm>
                <a:off x="457200" y="914400"/>
                <a:ext cx="8229600" cy="5334000"/>
              </a:xfrm>
              <a:blipFill>
                <a:blip r:embed="rId2"/>
                <a:stretch>
                  <a:fillRect l="-296" t="-1257" b="-5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66157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B3A31620-6CDE-4B2D-9925-6FDADBF65EE6}"/>
                  </a:ext>
                </a:extLst>
              </p:cNvPr>
              <p:cNvSpPr>
                <a:spLocks noGrp="1"/>
              </p:cNvSpPr>
              <p:nvPr>
                <p:ph type="title"/>
              </p:nvPr>
            </p:nvSpPr>
            <p:spPr/>
            <p:txBody>
              <a:bodyPr/>
              <a:lstStyle/>
              <a:p>
                <a:r>
                  <a:rPr lang="zh-CN" altLang="en-US" dirty="0"/>
                  <a:t>进一步分析</a:t>
                </a:r>
                <a14:m>
                  <m:oMath xmlns:m="http://schemas.openxmlformats.org/officeDocument/2006/math">
                    <m:r>
                      <a:rPr lang="en-US" altLang="zh-CN" sz="4400" i="1">
                        <a:latin typeface="Cambria Math" panose="02040503050406030204" pitchFamily="18" charset="0"/>
                      </a:rPr>
                      <m:t>𝑔</m:t>
                    </m:r>
                    <m:d>
                      <m:dPr>
                        <m:ctrlPr>
                          <a:rPr lang="en-US" altLang="zh-CN" sz="4400" i="1">
                            <a:latin typeface="Cambria Math" panose="02040503050406030204" pitchFamily="18" charset="0"/>
                          </a:rPr>
                        </m:ctrlPr>
                      </m:dPr>
                      <m:e>
                        <m:acc>
                          <m:accPr>
                            <m:chr m:val="⃗"/>
                            <m:ctrlPr>
                              <a:rPr lang="en-US" altLang="zh-CN" sz="4400" i="1">
                                <a:latin typeface="Cambria Math" panose="02040503050406030204" pitchFamily="18" charset="0"/>
                              </a:rPr>
                            </m:ctrlPr>
                          </m:accPr>
                          <m:e>
                            <m:r>
                              <a:rPr lang="en-US" altLang="zh-CN" sz="4400" i="1">
                                <a:latin typeface="Cambria Math" panose="02040503050406030204" pitchFamily="18" charset="0"/>
                              </a:rPr>
                              <m:t>𝑝</m:t>
                            </m:r>
                          </m:e>
                        </m:acc>
                      </m:e>
                    </m:d>
                  </m:oMath>
                </a14:m>
                <a:endParaRPr lang="zh-CN" altLang="en-US" dirty="0"/>
              </a:p>
            </p:txBody>
          </p:sp>
        </mc:Choice>
        <mc:Fallback xmlns="">
          <p:sp>
            <p:nvSpPr>
              <p:cNvPr id="2" name="标题 1">
                <a:extLst>
                  <a:ext uri="{FF2B5EF4-FFF2-40B4-BE49-F238E27FC236}">
                    <a16:creationId xmlns:a16="http://schemas.microsoft.com/office/drawing/2014/main" id="{B3A31620-6CDE-4B2D-9925-6FDADBF65EE6}"/>
                  </a:ext>
                </a:extLst>
              </p:cNvPr>
              <p:cNvSpPr>
                <a:spLocks noGrp="1" noRot="1" noChangeAspect="1" noMove="1" noResize="1" noEditPoints="1" noAdjustHandles="1" noChangeArrowheads="1" noChangeShapeType="1" noTextEdit="1"/>
              </p:cNvSpPr>
              <p:nvPr>
                <p:ph type="title"/>
              </p:nvPr>
            </p:nvSpPr>
            <p:spPr>
              <a:blipFill>
                <a:blip r:embed="rId2"/>
                <a:stretch>
                  <a:fillRect l="-2815" t="-139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CE6D84-FCCA-4D46-BBFB-D37294E5871F}"/>
                  </a:ext>
                </a:extLst>
              </p:cNvPr>
              <p:cNvSpPr>
                <a:spLocks noGrp="1"/>
              </p:cNvSpPr>
              <p:nvPr>
                <p:ph idx="1"/>
              </p:nvPr>
            </p:nvSpPr>
            <p:spPr>
              <a:xfrm>
                <a:off x="381000" y="1295400"/>
                <a:ext cx="8382000" cy="5181600"/>
              </a:xfrm>
            </p:spPr>
            <p:txBody>
              <a:bodyPr/>
              <a:lstStyle/>
              <a:p>
                <a14:m>
                  <m:oMath xmlns:m="http://schemas.openxmlformats.org/officeDocument/2006/math">
                    <m:r>
                      <a:rPr lang="en-US" altLang="zh-CN" i="1" smtClean="0">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r>
                      <a:rPr lang="zh-CN" altLang="en-US" i="1">
                        <a:latin typeface="Cambria Math" panose="02040503050406030204" pitchFamily="18" charset="0"/>
                      </a:rPr>
                      <m:t>存在</m:t>
                    </m:r>
                  </m:oMath>
                </a14:m>
                <a:r>
                  <a:rPr lang="zh-CN" altLang="en-US" dirty="0"/>
                  <a:t>上界，考虑</a:t>
                </a:r>
                <a14:m>
                  <m:oMath xmlns:m="http://schemas.openxmlformats.org/officeDocument/2006/math">
                    <m:r>
                      <a:rPr lang="en-US" altLang="zh-CN" b="1" i="1" smtClean="0">
                        <a:latin typeface="Cambria Math" panose="02040503050406030204" pitchFamily="18" charset="0"/>
                      </a:rPr>
                      <m:t>𝒎𝒂</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acc>
                          <m:accPr>
                            <m:chr m:val="⃗"/>
                            <m:ctrlPr>
                              <a:rPr lang="en-US" altLang="zh-CN" b="1" i="1" smtClean="0">
                                <a:latin typeface="Cambria Math" panose="02040503050406030204" pitchFamily="18" charset="0"/>
                              </a:rPr>
                            </m:ctrlPr>
                          </m:accPr>
                          <m:e>
                            <m:r>
                              <a:rPr lang="en-US" altLang="zh-CN" b="1" i="1" smtClean="0">
                                <a:latin typeface="Cambria Math" panose="02040503050406030204" pitchFamily="18" charset="0"/>
                              </a:rPr>
                              <m:t>𝒑</m:t>
                            </m:r>
                          </m:e>
                        </m:acc>
                      </m:sub>
                    </m:sSub>
                    <m:r>
                      <a:rPr lang="en-US" altLang="zh-CN" b="1" i="1" smtClean="0">
                        <a:latin typeface="Cambria Math" panose="02040503050406030204" pitchFamily="18" charset="0"/>
                      </a:rPr>
                      <m:t> </m:t>
                    </m:r>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r>
                      <a:rPr lang="zh-CN" altLang="en-US" i="1">
                        <a:latin typeface="Cambria Math" panose="02040503050406030204" pitchFamily="18" charset="0"/>
                      </a:rPr>
                      <m:t>问题</m:t>
                    </m:r>
                  </m:oMath>
                </a14:m>
                <a:endParaRPr lang="en-US" altLang="zh-CN" dirty="0"/>
              </a:p>
              <a:p>
                <a:pPr lvl="1"/>
                <a14:m>
                  <m:oMath xmlns:m="http://schemas.openxmlformats.org/officeDocument/2006/math">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min</m:t>
                            </m:r>
                          </m:e>
                          <m:lim>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lim>
                        </m:limLow>
                      </m:fName>
                      <m:e>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p>
                            <m:r>
                              <a:rPr lang="en-US" altLang="zh-CN" i="1">
                                <a:latin typeface="Cambria Math" panose="02040503050406030204" pitchFamily="18" charset="0"/>
                              </a:rPr>
                              <m:t>𝑇</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r>
                          <a:rPr lang="en-US" altLang="zh-CN" i="1">
                            <a:latin typeface="Cambria Math" panose="02040503050406030204" pitchFamily="18" charset="0"/>
                          </a:rPr>
                          <m:t>+</m:t>
                        </m:r>
                        <m:sSup>
                          <m:sSupPr>
                            <m:ctrlPr>
                              <a:rPr lang="en-US" altLang="zh-CN" i="1" dirty="0">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dirty="0">
                                <a:latin typeface="Cambria Math" panose="02040503050406030204" pitchFamily="18" charset="0"/>
                              </a:rPr>
                              <m:t>𝑇</m:t>
                            </m:r>
                          </m:sup>
                        </m:sSup>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r>
                          <a:rPr lang="en-US" altLang="zh-CN" i="1">
                            <a:latin typeface="Cambria Math" panose="02040503050406030204" pitchFamily="18" charset="0"/>
                          </a:rPr>
                          <m:t>−</m:t>
                        </m:r>
                        <m:r>
                          <a:rPr lang="en-US" altLang="zh-CN" i="1">
                            <a:latin typeface="Cambria Math" panose="02040503050406030204" pitchFamily="18" charset="0"/>
                          </a:rPr>
                          <m:t>𝐴</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r>
                          <a:rPr lang="en-US" altLang="zh-CN" i="1">
                            <a:latin typeface="Cambria Math" panose="02040503050406030204" pitchFamily="18" charset="0"/>
                          </a:rPr>
                          <m:t>)</m:t>
                        </m:r>
                      </m:e>
                    </m:func>
                    <m:r>
                      <a:rPr lang="en-US" altLang="zh-CN" b="0" i="1" smtClean="0">
                        <a:latin typeface="Cambria Math" panose="02040503050406030204" pitchFamily="18" charset="0"/>
                      </a:rPr>
                      <m:t>= </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min</m:t>
                            </m:r>
                          </m:e>
                          <m:lim>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lim>
                        </m:limLow>
                      </m:fName>
                      <m:e>
                        <m:d>
                          <m:dPr>
                            <m:ctrlPr>
                              <a:rPr lang="en-US" altLang="zh-CN" b="0" i="1" smtClean="0">
                                <a:latin typeface="Cambria Math" panose="02040503050406030204" pitchFamily="18" charset="0"/>
                              </a:rPr>
                            </m:ctrlPr>
                          </m:dPr>
                          <m:e>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a:latin typeface="Cambria Math" panose="02040503050406030204" pitchFamily="18" charset="0"/>
                                  </a:rPr>
                                  <m:t>𝑇</m:t>
                                </m:r>
                              </m:sup>
                            </m:sSup>
                            <m:r>
                              <a:rPr lang="en-US" altLang="zh-CN" i="1">
                                <a:latin typeface="Cambria Math" panose="02040503050406030204" pitchFamily="18" charset="0"/>
                              </a:rPr>
                              <m:t>𝐴</m:t>
                            </m:r>
                          </m:e>
                        </m:d>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r>
                          <a:rPr lang="en-US" altLang="zh-CN" i="1">
                            <a:latin typeface="Cambria Math" panose="02040503050406030204" pitchFamily="18" charset="0"/>
                          </a:rPr>
                          <m:t>+</m:t>
                        </m:r>
                        <m:sSup>
                          <m:sSupPr>
                            <m:ctrlPr>
                              <a:rPr lang="en-US" altLang="zh-CN" i="1" dirty="0">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dirty="0">
                                <a:latin typeface="Cambria Math" panose="02040503050406030204" pitchFamily="18" charset="0"/>
                              </a:rPr>
                              <m:t>𝑇</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e>
                    </m:func>
                  </m:oMath>
                </a14:m>
                <a:endParaRPr lang="en-US" altLang="zh-CN" dirty="0"/>
              </a:p>
              <a:p>
                <a:pPr lvl="1"/>
                <a:r>
                  <a:rPr lang="zh-CN" altLang="en-US" dirty="0">
                    <a:highlight>
                      <a:srgbClr val="FFFF00"/>
                    </a:highlight>
                  </a:rPr>
                  <a:t>注意</a:t>
                </a:r>
                <a14:m>
                  <m:oMath xmlns:m="http://schemas.openxmlformats.org/officeDocument/2006/math">
                    <m:acc>
                      <m:accPr>
                        <m:chr m:val="⃗"/>
                        <m:ctrlPr>
                          <a:rPr lang="en-US" altLang="zh-CN" i="1" dirty="0">
                            <a:highlight>
                              <a:srgbClr val="FFFF00"/>
                            </a:highlight>
                            <a:latin typeface="Cambria Math" panose="02040503050406030204" pitchFamily="18" charset="0"/>
                          </a:rPr>
                        </m:ctrlPr>
                      </m:accPr>
                      <m:e>
                        <m:r>
                          <a:rPr lang="en-US" altLang="zh-CN" i="1" dirty="0">
                            <a:highlight>
                              <a:srgbClr val="FFFF00"/>
                            </a:highlight>
                            <a:latin typeface="Cambria Math" panose="02040503050406030204" pitchFamily="18" charset="0"/>
                          </a:rPr>
                          <m:t>𝑥</m:t>
                        </m:r>
                      </m:e>
                    </m:acc>
                    <m:r>
                      <a:rPr lang="en-US" altLang="zh-CN" i="1" dirty="0">
                        <a:highlight>
                          <a:srgbClr val="FFFF00"/>
                        </a:highlight>
                        <a:latin typeface="Cambria Math" panose="02040503050406030204" pitchFamily="18" charset="0"/>
                      </a:rPr>
                      <m:t>≥0</m:t>
                    </m:r>
                  </m:oMath>
                </a14:m>
                <a:endParaRPr lang="en-US" altLang="zh-CN" dirty="0">
                  <a:highlight>
                    <a:srgbClr val="FFFF00"/>
                  </a:highlight>
                </a:endParaRPr>
              </a:p>
              <a:p>
                <a:pPr lvl="1"/>
                <a:r>
                  <a:rPr lang="zh-CN" altLang="en-US" dirty="0"/>
                  <a:t>若</a:t>
                </a:r>
                <a14:m>
                  <m:oMath xmlns:m="http://schemas.openxmlformats.org/officeDocument/2006/math">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a:latin typeface="Cambria Math" panose="02040503050406030204" pitchFamily="18" charset="0"/>
                              </a:rPr>
                              <m:t>𝑇</m:t>
                            </m:r>
                          </m:sup>
                        </m:sSup>
                        <m:r>
                          <a:rPr lang="en-US" altLang="zh-CN" i="1">
                            <a:latin typeface="Cambria Math" panose="02040503050406030204" pitchFamily="18" charset="0"/>
                          </a:rPr>
                          <m:t>𝐴</m:t>
                        </m:r>
                      </m:e>
                    </m:d>
                  </m:oMath>
                </a14:m>
                <a:r>
                  <a:rPr lang="zh-CN" altLang="en-US" dirty="0"/>
                  <a:t>中存在小于零的元素，只要让</a:t>
                </a:r>
                <a14:m>
                  <m:oMath xmlns:m="http://schemas.openxmlformats.org/officeDocument/2006/math">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𝑥</m:t>
                        </m:r>
                      </m:e>
                    </m:acc>
                    <m:r>
                      <a:rPr lang="en-US" altLang="zh-CN" i="1" dirty="0">
                        <a:latin typeface="Cambria Math" panose="02040503050406030204" pitchFamily="18" charset="0"/>
                      </a:rPr>
                      <m:t> </m:t>
                    </m:r>
                    <m:r>
                      <a:rPr lang="zh-CN" altLang="en-US" i="1" dirty="0">
                        <a:latin typeface="Cambria Math" panose="02040503050406030204" pitchFamily="18" charset="0"/>
                      </a:rPr>
                      <m:t>相应</m:t>
                    </m:r>
                  </m:oMath>
                </a14:m>
                <a:r>
                  <a:rPr lang="zh-CN" altLang="en-US" dirty="0"/>
                  <a:t>的元素取正无穷大，别的元素取</a:t>
                </a:r>
                <a:r>
                  <a:rPr lang="en-US" altLang="zh-CN" dirty="0"/>
                  <a:t>0</a:t>
                </a:r>
                <a:r>
                  <a:rPr lang="zh-CN" altLang="en-US" dirty="0"/>
                  <a:t>，那么</a:t>
                </a:r>
                <a14:m>
                  <m:oMath xmlns:m="http://schemas.openxmlformats.org/officeDocument/2006/math">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oMath>
                </a14:m>
                <a:r>
                  <a:rPr lang="zh-CN" altLang="en-US" dirty="0"/>
                  <a:t>可取负无穷大</a:t>
                </a:r>
                <a:endParaRPr lang="en-US" altLang="zh-CN" dirty="0"/>
              </a:p>
              <a:p>
                <a:pPr lvl="1"/>
                <a:r>
                  <a:rPr lang="zh-CN" altLang="en-US" dirty="0"/>
                  <a:t>若</a:t>
                </a:r>
                <a14:m>
                  <m:oMath xmlns:m="http://schemas.openxmlformats.org/officeDocument/2006/math">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a:latin typeface="Cambria Math" panose="02040503050406030204" pitchFamily="18" charset="0"/>
                              </a:rPr>
                              <m:t>𝑇</m:t>
                            </m:r>
                          </m:sup>
                        </m:sSup>
                        <m:r>
                          <a:rPr lang="en-US" altLang="zh-CN" i="1">
                            <a:latin typeface="Cambria Math" panose="02040503050406030204" pitchFamily="18" charset="0"/>
                          </a:rPr>
                          <m:t>𝐴</m:t>
                        </m:r>
                      </m:e>
                    </m:d>
                  </m:oMath>
                </a14:m>
                <a:r>
                  <a:rPr lang="zh-CN" altLang="en-US" dirty="0"/>
                  <a:t>中元素全部大于等于</a:t>
                </a:r>
                <a:r>
                  <a:rPr lang="en-US" altLang="zh-CN" dirty="0"/>
                  <a:t>0</a:t>
                </a:r>
                <a:r>
                  <a:rPr lang="zh-CN" altLang="en-US" dirty="0"/>
                  <a:t>，</a:t>
                </a:r>
                <a:r>
                  <a:rPr lang="en-US" altLang="zh-CN" dirty="0"/>
                  <a:t> </a:t>
                </a:r>
                <a14:m>
                  <m:oMath xmlns:m="http://schemas.openxmlformats.org/officeDocument/2006/math">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oMath>
                </a14:m>
                <a:r>
                  <a:rPr lang="zh-CN" altLang="en-US" dirty="0"/>
                  <a:t>的值就是</a:t>
                </a:r>
                <a14:m>
                  <m:oMath xmlns:m="http://schemas.openxmlformats.org/officeDocument/2006/math">
                    <m:sSup>
                      <m:sSupPr>
                        <m:ctrlPr>
                          <a:rPr lang="en-US" altLang="zh-CN" i="1" dirty="0">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dirty="0">
                            <a:latin typeface="Cambria Math" panose="02040503050406030204" pitchFamily="18" charset="0"/>
                          </a:rPr>
                          <m:t>𝑇</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oMath>
                </a14:m>
                <a:r>
                  <a:rPr lang="zh-CN" altLang="en-US" dirty="0"/>
                  <a:t>，此时</a:t>
                </a:r>
                <a14:m>
                  <m:oMath xmlns:m="http://schemas.openxmlformats.org/officeDocument/2006/math">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𝑥</m:t>
                        </m:r>
                      </m:e>
                    </m:acc>
                    <m:r>
                      <a:rPr lang="en-US" altLang="zh-CN" i="1" dirty="0">
                        <a:latin typeface="Cambria Math" panose="02040503050406030204" pitchFamily="18" charset="0"/>
                      </a:rPr>
                      <m:t> </m:t>
                    </m:r>
                  </m:oMath>
                </a14:m>
                <a:r>
                  <a:rPr lang="zh-CN" altLang="en-US" dirty="0"/>
                  <a:t>为零向量</a:t>
                </a:r>
                <a:endParaRPr lang="en-US" altLang="zh-CN" dirty="0"/>
              </a:p>
              <a:p>
                <a:pPr lvl="1"/>
                <a:r>
                  <a:rPr lang="zh-CN" altLang="en-US" dirty="0"/>
                  <a:t>因此</a:t>
                </a:r>
                <a14:m>
                  <m:oMath xmlns:m="http://schemas.openxmlformats.org/officeDocument/2006/math">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    </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a:latin typeface="Cambria Math" panose="02040503050406030204" pitchFamily="18" charset="0"/>
                                        </a:rPr>
                                        <m:t>𝑇</m:t>
                                      </m:r>
                                    </m:sup>
                                  </m:sSup>
                                  <m:r>
                                    <a:rPr lang="en-US" altLang="zh-CN" i="1">
                                      <a:latin typeface="Cambria Math" panose="02040503050406030204" pitchFamily="18" charset="0"/>
                                    </a:rPr>
                                    <m:t>𝐴</m:t>
                                  </m:r>
                                </m:e>
                              </m:d>
                              <m:r>
                                <m:rPr>
                                  <m:nor/>
                                </m:rPr>
                                <a:rPr lang="zh-CN" altLang="en-US" dirty="0"/>
                                <m:t>中存在小于零的元素</m:t>
                              </m:r>
                            </m:e>
                          </m:mr>
                          <m:mr>
                            <m:e>
                              <m:sSup>
                                <m:sSupPr>
                                  <m:ctrlPr>
                                    <a:rPr lang="en-US" altLang="zh-CN" i="1" dirty="0">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dirty="0">
                                      <a:latin typeface="Cambria Math" panose="02040503050406030204" pitchFamily="18" charset="0"/>
                                    </a:rPr>
                                    <m:t>𝑇</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r>
                                <a:rPr lang="en-US" altLang="zh-CN" b="0" i="1" smtClean="0">
                                  <a:latin typeface="Cambria Math" panose="02040503050406030204" pitchFamily="18" charset="0"/>
                                </a:rPr>
                                <m:t>,    </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a:latin typeface="Cambria Math" panose="02040503050406030204" pitchFamily="18" charset="0"/>
                                        </a:rPr>
                                        <m:t>𝑇</m:t>
                                      </m:r>
                                    </m:sup>
                                  </m:sSup>
                                  <m:r>
                                    <a:rPr lang="en-US" altLang="zh-CN" i="1">
                                      <a:latin typeface="Cambria Math" panose="02040503050406030204" pitchFamily="18" charset="0"/>
                                    </a:rPr>
                                    <m:t>𝐴</m:t>
                                  </m:r>
                                </m:e>
                              </m:d>
                              <m:r>
                                <m:rPr>
                                  <m:nor/>
                                </m:rPr>
                                <a:rPr lang="zh-CN" altLang="en-US" dirty="0"/>
                                <m:t>中元素全部大于等于</m:t>
                              </m:r>
                              <m:r>
                                <m:rPr>
                                  <m:nor/>
                                </m:rPr>
                                <a:rPr lang="en-US" altLang="zh-CN" dirty="0"/>
                                <m:t>0</m:t>
                              </m:r>
                            </m:e>
                          </m:mr>
                        </m:m>
                      </m:e>
                    </m:d>
                  </m:oMath>
                </a14:m>
                <a:endParaRPr lang="en-US" altLang="zh-CN" dirty="0"/>
              </a:p>
              <a:p>
                <a:pPr lvl="1"/>
                <a14:m>
                  <m:oMath xmlns:m="http://schemas.openxmlformats.org/officeDocument/2006/math">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oMath>
                </a14:m>
                <a:r>
                  <a:rPr lang="zh-CN" altLang="en-US" dirty="0"/>
                  <a:t>有明确取值要求</a:t>
                </a:r>
                <a14:m>
                  <m:oMath xmlns:m="http://schemas.openxmlformats.org/officeDocument/2006/math">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p>
                        <m:r>
                          <a:rPr lang="en-US" altLang="zh-CN" i="1">
                            <a:latin typeface="Cambria Math" panose="02040503050406030204" pitchFamily="18" charset="0"/>
                          </a:rPr>
                          <m:t>𝑇</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a:latin typeface="Cambria Math" panose="02040503050406030204" pitchFamily="18" charset="0"/>
                          </a:rPr>
                          <m:t>𝑇</m:t>
                        </m:r>
                      </m:sup>
                    </m:sSup>
                    <m:r>
                      <a:rPr lang="en-US" altLang="zh-CN" i="1">
                        <a:latin typeface="Cambria Math" panose="02040503050406030204" pitchFamily="18" charset="0"/>
                      </a:rPr>
                      <m:t>𝐴</m:t>
                    </m:r>
                    <m:r>
                      <a:rPr lang="en-US" altLang="zh-CN" b="0" i="1" smtClean="0">
                        <a:latin typeface="Cambria Math" panose="02040503050406030204" pitchFamily="18" charset="0"/>
                      </a:rPr>
                      <m:t>≥0⇒</m:t>
                    </m:r>
                    <m:sSup>
                      <m:sSupPr>
                        <m:ctrlPr>
                          <a:rPr lang="en-US" altLang="zh-CN" b="0" i="1" smtClean="0">
                            <a:latin typeface="Cambria Math" panose="02040503050406030204" pitchFamily="18" charset="0"/>
                          </a:rPr>
                        </m:ctrlPr>
                      </m:sSupPr>
                      <m:e>
                        <m:r>
                          <a:rPr lang="en-US" altLang="zh-CN" i="1">
                            <a:latin typeface="Cambria Math" panose="02040503050406030204" pitchFamily="18" charset="0"/>
                          </a:rPr>
                          <m:t>𝐴</m:t>
                        </m:r>
                      </m:e>
                      <m:sup>
                        <m:r>
                          <m:rPr>
                            <m:sty m:val="p"/>
                          </m:rPr>
                          <a:rPr lang="en-US" altLang="zh-CN" b="0" i="0" smtClean="0">
                            <a:latin typeface="Cambria Math" panose="02040503050406030204" pitchFamily="18" charset="0"/>
                          </a:rPr>
                          <m:t>T</m:t>
                        </m:r>
                      </m:sup>
                    </m:sSup>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𝑝</m:t>
                        </m:r>
                      </m:e>
                    </m:acc>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𝑐</m:t>
                        </m:r>
                      </m:e>
                    </m:acc>
                  </m:oMath>
                </a14:m>
                <a:endParaRPr lang="en-US" altLang="zh-CN" dirty="0"/>
              </a:p>
            </p:txBody>
          </p:sp>
        </mc:Choice>
        <mc:Fallback xmlns="">
          <p:sp>
            <p:nvSpPr>
              <p:cNvPr id="3" name="内容占位符 2">
                <a:extLst>
                  <a:ext uri="{FF2B5EF4-FFF2-40B4-BE49-F238E27FC236}">
                    <a16:creationId xmlns:a16="http://schemas.microsoft.com/office/drawing/2014/main" id="{E6CE6D84-FCCA-4D46-BBFB-D37294E5871F}"/>
                  </a:ext>
                </a:extLst>
              </p:cNvPr>
              <p:cNvSpPr>
                <a:spLocks noGrp="1" noRot="1" noChangeAspect="1" noMove="1" noResize="1" noEditPoints="1" noAdjustHandles="1" noChangeArrowheads="1" noChangeShapeType="1" noTextEdit="1"/>
              </p:cNvSpPr>
              <p:nvPr>
                <p:ph idx="1"/>
              </p:nvPr>
            </p:nvSpPr>
            <p:spPr>
              <a:xfrm>
                <a:off x="381000" y="1295400"/>
                <a:ext cx="8382000" cy="5181600"/>
              </a:xfrm>
              <a:blipFill>
                <a:blip r:embed="rId3"/>
                <a:stretch>
                  <a:fillRect t="-1647" r="-5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2204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EEFCA-5C7C-4D9B-8C6B-641BEFC8A200}"/>
              </a:ext>
            </a:extLst>
          </p:cNvPr>
          <p:cNvSpPr>
            <a:spLocks noGrp="1"/>
          </p:cNvSpPr>
          <p:nvPr>
            <p:ph type="title"/>
          </p:nvPr>
        </p:nvSpPr>
        <p:spPr/>
        <p:txBody>
          <a:bodyPr/>
          <a:lstStyle/>
          <a:p>
            <a:r>
              <a:rPr lang="zh-CN" altLang="en-US" dirty="0"/>
              <a:t>对偶问题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5967605-DB2C-4163-889A-4A60DBC351BF}"/>
                  </a:ext>
                </a:extLst>
              </p:cNvPr>
              <p:cNvSpPr>
                <a:spLocks noGrp="1"/>
              </p:cNvSpPr>
              <p:nvPr>
                <p:ph idx="1"/>
              </p:nvPr>
            </p:nvSpPr>
            <p:spPr/>
            <p:txBody>
              <a:bodyPr/>
              <a:lstStyle/>
              <a:p>
                <a14:m>
                  <m:oMath xmlns:m="http://schemas.openxmlformats.org/officeDocument/2006/math">
                    <m:func>
                      <m:funcPr>
                        <m:ctrlPr>
                          <a:rPr lang="en-US" altLang="zh-CN" b="0" i="1" smtClean="0">
                            <a:latin typeface="Cambria Math" panose="02040503050406030204" pitchFamily="18" charset="0"/>
                          </a:rPr>
                        </m:ctrlPr>
                      </m:funcPr>
                      <m:fName>
                        <m:r>
                          <m:rPr>
                            <m:sty m:val="p"/>
                          </m:rPr>
                          <a:rPr lang="en-US" altLang="zh-CN" b="0">
                            <a:latin typeface="Cambria Math" panose="02040503050406030204" pitchFamily="18" charset="0"/>
                          </a:rPr>
                          <m:t>min</m:t>
                        </m:r>
                      </m:fName>
                      <m:e>
                        <m:r>
                          <a:rPr lang="en-US" altLang="zh-CN" b="0" i="1">
                            <a:latin typeface="Cambria Math" panose="02040503050406030204" pitchFamily="18" charset="0"/>
                          </a:rPr>
                          <m:t>𝑧</m:t>
                        </m:r>
                        <m:r>
                          <a:rPr lang="en-US" altLang="zh-CN" b="0" i="1">
                            <a:latin typeface="Cambria Math" panose="02040503050406030204" pitchFamily="18" charset="0"/>
                          </a:rPr>
                          <m:t>=</m:t>
                        </m:r>
                        <m:sSup>
                          <m:sSupPr>
                            <m:ctrlPr>
                              <a:rPr lang="en-US" altLang="zh-CN" b="0" i="1">
                                <a:latin typeface="Cambria Math" panose="02040503050406030204" pitchFamily="18" charset="0"/>
                              </a:rPr>
                            </m:ctrlPr>
                          </m:sSupPr>
                          <m:e>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𝑐</m:t>
                                </m:r>
                              </m:e>
                            </m:acc>
                          </m:e>
                          <m:sup>
                            <m:r>
                              <a:rPr lang="en-US" altLang="zh-CN" b="0" i="1">
                                <a:latin typeface="Cambria Math" panose="02040503050406030204" pitchFamily="18" charset="0"/>
                              </a:rPr>
                              <m:t>𝑇</m:t>
                            </m:r>
                          </m:sup>
                        </m:sSup>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𝑥</m:t>
                            </m:r>
                          </m:e>
                        </m:acc>
                      </m:e>
                    </m:func>
                    <m:r>
                      <a:rPr lang="en-US" altLang="zh-CN" b="0" i="1">
                        <a:latin typeface="Cambria Math" panose="02040503050406030204" pitchFamily="18" charset="0"/>
                      </a:rPr>
                      <m:t>, </m:t>
                    </m:r>
                    <m:r>
                      <a:rPr lang="en-US" altLang="zh-CN" b="0" i="1">
                        <a:latin typeface="Cambria Math" panose="02040503050406030204" pitchFamily="18" charset="0"/>
                      </a:rPr>
                      <m:t>𝑠</m:t>
                    </m:r>
                    <m:r>
                      <a:rPr lang="en-US" altLang="zh-CN" b="0" i="1">
                        <a:latin typeface="Cambria Math" panose="02040503050406030204" pitchFamily="18" charset="0"/>
                      </a:rPr>
                      <m:t>.</m:t>
                    </m:r>
                    <m:r>
                      <a:rPr lang="en-US" altLang="zh-CN" b="0" i="1">
                        <a:latin typeface="Cambria Math" panose="02040503050406030204" pitchFamily="18" charset="0"/>
                      </a:rPr>
                      <m:t>𝑡</m:t>
                    </m:r>
                    <m:r>
                      <a:rPr lang="en-US" altLang="zh-CN" b="0" i="1">
                        <a:latin typeface="Cambria Math" panose="02040503050406030204" pitchFamily="18" charset="0"/>
                      </a:rPr>
                      <m:t>. </m:t>
                    </m:r>
                    <m:r>
                      <a:rPr lang="en-US" altLang="zh-CN" b="0" i="1">
                        <a:latin typeface="Cambria Math" panose="02040503050406030204" pitchFamily="18" charset="0"/>
                      </a:rPr>
                      <m:t>𝐴</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𝑥</m:t>
                        </m:r>
                      </m:e>
                    </m:acc>
                    <m:r>
                      <a:rPr lang="en-US" altLang="zh-CN" b="0" i="1">
                        <a:latin typeface="Cambria Math" panose="02040503050406030204" pitchFamily="18" charset="0"/>
                      </a:rPr>
                      <m:t>=</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𝑏</m:t>
                        </m:r>
                      </m:e>
                    </m:acc>
                    <m:r>
                      <a:rPr lang="en-US" altLang="zh-CN" b="0" i="1" dirty="0">
                        <a:latin typeface="Cambria Math" panose="02040503050406030204" pitchFamily="18" charset="0"/>
                      </a:rPr>
                      <m:t>,</m:t>
                    </m:r>
                    <m:acc>
                      <m:accPr>
                        <m:chr m:val="⃗"/>
                        <m:ctrlPr>
                          <a:rPr lang="en-US" altLang="zh-CN" b="0" i="1" dirty="0">
                            <a:latin typeface="Cambria Math" panose="02040503050406030204" pitchFamily="18" charset="0"/>
                          </a:rPr>
                        </m:ctrlPr>
                      </m:accPr>
                      <m:e>
                        <m:r>
                          <a:rPr lang="en-US" altLang="zh-CN" b="0" i="1" dirty="0">
                            <a:latin typeface="Cambria Math" panose="02040503050406030204" pitchFamily="18" charset="0"/>
                          </a:rPr>
                          <m:t>𝑥</m:t>
                        </m:r>
                      </m:e>
                    </m:acc>
                    <m:r>
                      <a:rPr lang="en-US" altLang="zh-CN" b="0" i="1" dirty="0">
                        <a:latin typeface="Cambria Math" panose="02040503050406030204" pitchFamily="18" charset="0"/>
                      </a:rPr>
                      <m:t>≥0</m:t>
                    </m:r>
                  </m:oMath>
                </a14:m>
                <a:endParaRPr lang="en-US" altLang="zh-CN" dirty="0"/>
              </a:p>
              <a:p>
                <a:r>
                  <a:rPr lang="zh-CN" altLang="en-US" dirty="0"/>
                  <a:t>对偶问题：</a:t>
                </a:r>
                <a:endParaRPr lang="en-US" altLang="zh-CN" dirty="0"/>
              </a:p>
              <a:p>
                <a14:m>
                  <m:oMath xmlns:m="http://schemas.openxmlformats.org/officeDocument/2006/math">
                    <m:r>
                      <a:rPr lang="en-US" altLang="zh-CN" i="1">
                        <a:latin typeface="Cambria Math" panose="02040503050406030204" pitchFamily="18" charset="0"/>
                      </a:rPr>
                      <m:t>𝒎𝒂</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𝒑</m:t>
                            </m:r>
                          </m:e>
                        </m:acc>
                      </m:sub>
                    </m:sSub>
                    <m:r>
                      <a:rPr lang="en-US" altLang="zh-CN" i="1">
                        <a:latin typeface="Cambria Math" panose="02040503050406030204" pitchFamily="18" charset="0"/>
                      </a:rPr>
                      <m:t> </m:t>
                    </m:r>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r>
                      <a:rPr lang="en-US" altLang="zh-CN" b="1" i="1" smtClean="0">
                        <a:latin typeface="Cambria Math" panose="02040503050406030204" pitchFamily="18" charset="0"/>
                      </a:rPr>
                      <m:t>=</m:t>
                    </m:r>
                  </m:oMath>
                </a14:m>
                <a:r>
                  <a:rPr lang="en-US" altLang="zh-CN" dirty="0"/>
                  <a:t> </a:t>
                </a:r>
                <a14:m>
                  <m:oMath xmlns:m="http://schemas.openxmlformats.org/officeDocument/2006/math">
                    <m:sSup>
                      <m:sSupPr>
                        <m:ctrlPr>
                          <a:rPr lang="en-US" altLang="zh-CN" i="1" dirty="0">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dirty="0">
                            <a:latin typeface="Cambria Math" panose="02040503050406030204" pitchFamily="18" charset="0"/>
                          </a:rPr>
                          <m:t>𝑇</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oMath>
                </a14:m>
                <a:r>
                  <a:rPr lang="zh-CN" altLang="en-US" dirty="0"/>
                  <a:t>，</a:t>
                </a:r>
                <a:r>
                  <a:rPr lang="en-US" altLang="zh-CN" b="0" dirty="0"/>
                  <a:t> </a:t>
                </a:r>
                <a14:m>
                  <m:oMath xmlns:m="http://schemas.openxmlformats.org/officeDocument/2006/math">
                    <m:sSup>
                      <m:sSupPr>
                        <m:ctrlPr>
                          <a:rPr lang="en-US" altLang="zh-CN" b="0" i="1">
                            <a:latin typeface="Cambria Math" panose="02040503050406030204" pitchFamily="18" charset="0"/>
                          </a:rPr>
                        </m:ctrlPr>
                      </m:sSupPr>
                      <m:e>
                        <m:r>
                          <a:rPr lang="en-US" altLang="zh-CN" i="1">
                            <a:latin typeface="Cambria Math" panose="02040503050406030204" pitchFamily="18" charset="0"/>
                          </a:rPr>
                          <m:t>𝐴</m:t>
                        </m:r>
                      </m:e>
                      <m:sup>
                        <m:r>
                          <m:rPr>
                            <m:sty m:val="p"/>
                          </m:rPr>
                          <a:rPr lang="en-US" altLang="zh-CN" b="0">
                            <a:latin typeface="Cambria Math" panose="02040503050406030204" pitchFamily="18" charset="0"/>
                          </a:rPr>
                          <m:t>T</m:t>
                        </m:r>
                      </m:sup>
                    </m:sSup>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𝑝</m:t>
                        </m:r>
                      </m:e>
                    </m:acc>
                    <m:r>
                      <a:rPr lang="en-US" altLang="zh-CN" b="0" i="1">
                        <a:latin typeface="Cambria Math" panose="02040503050406030204" pitchFamily="18" charset="0"/>
                      </a:rPr>
                      <m:t>≤</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𝑐</m:t>
                        </m:r>
                      </m:e>
                    </m:acc>
                    <m:r>
                      <a:rPr lang="zh-CN" altLang="en-US"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𝑝</m:t>
                        </m:r>
                      </m:e>
                    </m:acc>
                  </m:oMath>
                </a14:m>
                <a:r>
                  <a:rPr lang="zh-CN" altLang="en-US" dirty="0"/>
                  <a:t>无约束 </a:t>
                </a:r>
              </a:p>
            </p:txBody>
          </p:sp>
        </mc:Choice>
        <mc:Fallback xmlns="">
          <p:sp>
            <p:nvSpPr>
              <p:cNvPr id="3" name="内容占位符 2">
                <a:extLst>
                  <a:ext uri="{FF2B5EF4-FFF2-40B4-BE49-F238E27FC236}">
                    <a16:creationId xmlns:a16="http://schemas.microsoft.com/office/drawing/2014/main" id="{45967605-DB2C-4163-889A-4A60DBC351BF}"/>
                  </a:ext>
                </a:extLst>
              </p:cNvPr>
              <p:cNvSpPr>
                <a:spLocks noGrp="1" noRot="1" noChangeAspect="1" noMove="1" noResize="1" noEditPoints="1" noAdjustHandles="1" noChangeArrowheads="1" noChangeShapeType="1" noTextEdit="1"/>
              </p:cNvSpPr>
              <p:nvPr>
                <p:ph idx="1"/>
              </p:nvPr>
            </p:nvSpPr>
            <p:spPr>
              <a:blipFill>
                <a:blip r:embed="rId2"/>
                <a:stretch>
                  <a:fillRect l="-444"/>
                </a:stretch>
              </a:blipFill>
            </p:spPr>
            <p:txBody>
              <a:bodyPr/>
              <a:lstStyle/>
              <a:p>
                <a:r>
                  <a:rPr lang="zh-CN" altLang="en-US">
                    <a:noFill/>
                  </a:rPr>
                  <a:t> </a:t>
                </a:r>
              </a:p>
            </p:txBody>
          </p:sp>
        </mc:Fallback>
      </mc:AlternateContent>
      <p:sp>
        <p:nvSpPr>
          <p:cNvPr id="6" name="箭头: 右 5">
            <a:extLst>
              <a:ext uri="{FF2B5EF4-FFF2-40B4-BE49-F238E27FC236}">
                <a16:creationId xmlns:a16="http://schemas.microsoft.com/office/drawing/2014/main" id="{48D7CA5E-21C5-4246-8852-30BFB0B11056}"/>
              </a:ext>
            </a:extLst>
          </p:cNvPr>
          <p:cNvSpPr/>
          <p:nvPr/>
        </p:nvSpPr>
        <p:spPr>
          <a:xfrm rot="5921247">
            <a:off x="4790888" y="2356891"/>
            <a:ext cx="64809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82522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70C032-A536-470A-A56E-6483B4984A94}"/>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C8E8449C-CD10-44E1-A5F6-6C1E44A06386}"/>
              </a:ext>
            </a:extLst>
          </p:cNvPr>
          <p:cNvSpPr>
            <a:spLocks noGrp="1"/>
          </p:cNvSpPr>
          <p:nvPr>
            <p:ph idx="1"/>
          </p:nvPr>
        </p:nvSpPr>
        <p:spPr/>
        <p:txBody>
          <a:bodyPr/>
          <a:lstStyle/>
          <a:p>
            <a:r>
              <a:rPr lang="zh-CN" altLang="en-US" dirty="0"/>
              <a:t>找出下述问题的对偶问题</a:t>
            </a:r>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41A34F37-9F7B-4949-8FA5-C675175D46DB}"/>
                  </a:ext>
                </a:extLst>
              </p:cNvPr>
              <p:cNvSpPr txBox="1">
                <a:spLocks/>
              </p:cNvSpPr>
              <p:nvPr/>
            </p:nvSpPr>
            <p:spPr bwMode="auto">
              <a:xfrm>
                <a:off x="990600" y="2057400"/>
                <a:ext cx="4572000" cy="225684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m:rPr>
                            <m:sty m:val="p"/>
                          </m:rPr>
                          <a:rPr lang="en-US" altLang="zh-CN" b="0" i="1" kern="0">
                            <a:latin typeface="Cambria Math" panose="02040503050406030204" pitchFamily="18" charset="0"/>
                          </a:rPr>
                          <m:t>min</m:t>
                        </m:r>
                      </m:fName>
                      <m:e>
                        <m:r>
                          <a:rPr lang="en-US" altLang="zh-CN" b="0" i="1" kern="0" smtClean="0">
                            <a:latin typeface="Cambria Math" panose="02040503050406030204" pitchFamily="18" charset="0"/>
                          </a:rPr>
                          <m:t>𝑧</m:t>
                        </m:r>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2</m:t>
                                  </m:r>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1</m:t>
                                  </m:r>
                                </m:sub>
                              </m:sSub>
                              <m:r>
                                <m:rPr>
                                  <m:brk m:alnAt="7"/>
                                </m:rP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3</m:t>
                                  </m:r>
                                </m:sub>
                              </m:sSub>
                              <m:r>
                                <a:rPr lang="en-US" altLang="zh-CN" b="0" i="1" kern="0" smtClean="0">
                                  <a:latin typeface="Cambria Math" panose="02040503050406030204" pitchFamily="18" charset="0"/>
                                </a:rPr>
                                <m:t>=12</m:t>
                              </m:r>
                            </m:e>
                          </m:mr>
                          <m:mr>
                            <m:e>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1</m:t>
                                  </m:r>
                                </m:sub>
                              </m:sSub>
                              <m:r>
                                <m:rPr>
                                  <m:brk m:alnAt="7"/>
                                </m:rPr>
                                <a:rPr lang="en-US" altLang="zh-CN" i="1" kern="0">
                                  <a:latin typeface="Cambria Math" panose="02040503050406030204" pitchFamily="18" charset="0"/>
                                </a:rPr>
                                <m:t>+</m:t>
                              </m:r>
                              <m:r>
                                <a:rPr lang="en-US" altLang="zh-CN" i="1" kern="0">
                                  <a:latin typeface="Cambria Math" panose="02040503050406030204" pitchFamily="18" charset="0"/>
                                </a:rPr>
                                <m:t>2</m:t>
                              </m:r>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2</m:t>
                                  </m:r>
                                </m:sub>
                              </m:sSub>
                              <m:r>
                                <a:rPr lang="en-US" altLang="zh-CN" b="1"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4</m:t>
                                  </m:r>
                                </m:sub>
                              </m:sSub>
                              <m:r>
                                <a:rPr lang="en-US" altLang="zh-CN" b="1" i="1" kern="0" smtClean="0">
                                  <a:latin typeface="Cambria Math" panose="02040503050406030204" pitchFamily="18" charset="0"/>
                                </a:rPr>
                                <m:t>=</m:t>
                              </m:r>
                              <m:r>
                                <a:rPr lang="en-US" altLang="zh-CN" b="0" i="1" kern="0" smtClean="0">
                                  <a:latin typeface="Cambria Math" panose="02040503050406030204" pitchFamily="18" charset="0"/>
                                </a:rPr>
                                <m:t>9</m:t>
                              </m:r>
                            </m:e>
                          </m:m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3</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4</m:t>
                                  </m:r>
                                </m:sub>
                              </m:sSub>
                              <m:r>
                                <a:rPr lang="en-US" altLang="zh-CN" b="0" i="1" kern="0" smtClean="0">
                                  <a:latin typeface="Cambria Math" panose="02040503050406030204" pitchFamily="18" charset="0"/>
                                </a:rPr>
                                <m:t>≥0</m:t>
                              </m:r>
                            </m:e>
                          </m:mr>
                        </m:m>
                      </m:e>
                    </m:d>
                  </m:oMath>
                </a14:m>
                <a:endParaRPr lang="zh-CN" altLang="en-US" kern="0" dirty="0"/>
              </a:p>
            </p:txBody>
          </p:sp>
        </mc:Choice>
        <mc:Fallback xmlns="">
          <p:sp>
            <p:nvSpPr>
              <p:cNvPr id="4" name="内容占位符 2">
                <a:extLst>
                  <a:ext uri="{FF2B5EF4-FFF2-40B4-BE49-F238E27FC236}">
                    <a16:creationId xmlns:a16="http://schemas.microsoft.com/office/drawing/2014/main" id="{41A34F37-9F7B-4949-8FA5-C675175D46DB}"/>
                  </a:ext>
                </a:extLst>
              </p:cNvPr>
              <p:cNvSpPr txBox="1">
                <a:spLocks noRot="1" noChangeAspect="1" noMove="1" noResize="1" noEditPoints="1" noAdjustHandles="1" noChangeArrowheads="1" noChangeShapeType="1" noTextEdit="1"/>
              </p:cNvSpPr>
              <p:nvPr/>
            </p:nvSpPr>
            <p:spPr bwMode="auto">
              <a:xfrm>
                <a:off x="990600" y="2057400"/>
                <a:ext cx="4572000" cy="2256848"/>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6AEC7913-A9E0-4B45-A7DA-07C025795F95}"/>
                  </a:ext>
                </a:extLst>
              </p:cNvPr>
              <p:cNvSpPr txBox="1">
                <a:spLocks/>
              </p:cNvSpPr>
              <p:nvPr/>
            </p:nvSpPr>
            <p:spPr bwMode="auto">
              <a:xfrm>
                <a:off x="914400" y="4313385"/>
                <a:ext cx="6970986" cy="1765355"/>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m:rPr>
                            <m:sty m:val="p"/>
                          </m:rPr>
                          <a:rPr lang="en-US" altLang="zh-CN" b="0" kern="0">
                            <a:latin typeface="Cambria Math" panose="02040503050406030204" pitchFamily="18" charset="0"/>
                          </a:rPr>
                          <m:t>min</m:t>
                        </m:r>
                      </m:fName>
                      <m:e>
                        <m:r>
                          <a:rPr lang="en-US" altLang="zh-CN" b="0" i="1" kern="0">
                            <a:latin typeface="Cambria Math" panose="02040503050406030204" pitchFamily="18" charset="0"/>
                          </a:rPr>
                          <m:t>𝑧</m:t>
                        </m:r>
                        <m:r>
                          <a:rPr lang="en-US" altLang="zh-CN" b="0" i="1" kern="0">
                            <a:latin typeface="Cambria Math" panose="02040503050406030204" pitchFamily="18" charset="0"/>
                          </a:rPr>
                          <m:t>=</m:t>
                        </m:r>
                        <m:sSup>
                          <m:sSupPr>
                            <m:ctrlPr>
                              <a:rPr lang="en-US" altLang="zh-CN" b="0" i="1" kern="0">
                                <a:latin typeface="Cambria Math" panose="02040503050406030204" pitchFamily="18" charset="0"/>
                              </a:rPr>
                            </m:ctrlPr>
                          </m:sSupPr>
                          <m:e>
                            <m:acc>
                              <m:accPr>
                                <m:chr m:val="⃗"/>
                                <m:ctrlPr>
                                  <a:rPr lang="en-US" altLang="zh-CN" b="0" i="1" kern="0">
                                    <a:latin typeface="Cambria Math" panose="02040503050406030204" pitchFamily="18" charset="0"/>
                                  </a:rPr>
                                </m:ctrlPr>
                              </m:accPr>
                              <m:e>
                                <m:r>
                                  <a:rPr lang="en-US" altLang="zh-CN" b="0" i="1" kern="0">
                                    <a:latin typeface="Cambria Math" panose="02040503050406030204" pitchFamily="18" charset="0"/>
                                  </a:rPr>
                                  <m:t>𝑐</m:t>
                                </m:r>
                              </m:e>
                            </m:acc>
                          </m:e>
                          <m:sup>
                            <m:r>
                              <a:rPr lang="en-US" altLang="zh-CN" b="0" i="1" kern="0">
                                <a:latin typeface="Cambria Math" panose="02040503050406030204" pitchFamily="18" charset="0"/>
                              </a:rPr>
                              <m:t>𝑇</m:t>
                            </m:r>
                          </m:sup>
                        </m:sSup>
                        <m:acc>
                          <m:accPr>
                            <m:chr m:val="⃗"/>
                            <m:ctrlPr>
                              <a:rPr lang="en-US" altLang="zh-CN" b="0" i="1" kern="0">
                                <a:latin typeface="Cambria Math" panose="02040503050406030204" pitchFamily="18" charset="0"/>
                              </a:rPr>
                            </m:ctrlPr>
                          </m:accPr>
                          <m:e>
                            <m:r>
                              <a:rPr lang="en-US" altLang="zh-CN" b="0" i="1" kern="0">
                                <a:latin typeface="Cambria Math" panose="02040503050406030204" pitchFamily="18" charset="0"/>
                              </a:rPr>
                              <m:t>𝑥</m:t>
                            </m:r>
                          </m:e>
                        </m:acc>
                      </m:e>
                    </m:func>
                    <m:r>
                      <a:rPr lang="en-US" altLang="zh-CN" b="0" i="1" kern="0">
                        <a:latin typeface="Cambria Math" panose="02040503050406030204" pitchFamily="18" charset="0"/>
                      </a:rPr>
                      <m:t>, </m:t>
                    </m:r>
                    <m:r>
                      <a:rPr lang="en-US" altLang="zh-CN" b="0" i="1" kern="0">
                        <a:latin typeface="Cambria Math" panose="02040503050406030204" pitchFamily="18" charset="0"/>
                      </a:rPr>
                      <m:t>𝑠</m:t>
                    </m:r>
                    <m:r>
                      <a:rPr lang="en-US" altLang="zh-CN" b="0" i="1" kern="0">
                        <a:latin typeface="Cambria Math" panose="02040503050406030204" pitchFamily="18" charset="0"/>
                      </a:rPr>
                      <m:t>.</m:t>
                    </m:r>
                    <m:r>
                      <a:rPr lang="en-US" altLang="zh-CN" b="0" i="1" kern="0">
                        <a:latin typeface="Cambria Math" panose="02040503050406030204" pitchFamily="18" charset="0"/>
                      </a:rPr>
                      <m:t>𝑡</m:t>
                    </m:r>
                    <m:r>
                      <a:rPr lang="en-US" altLang="zh-CN" b="0" i="1" kern="0">
                        <a:latin typeface="Cambria Math" panose="02040503050406030204" pitchFamily="18" charset="0"/>
                      </a:rPr>
                      <m:t>. </m:t>
                    </m:r>
                    <m:r>
                      <a:rPr lang="en-US" altLang="zh-CN" b="0" i="1" kern="0">
                        <a:latin typeface="Cambria Math" panose="02040503050406030204" pitchFamily="18" charset="0"/>
                      </a:rPr>
                      <m:t>𝐴</m:t>
                    </m:r>
                    <m:acc>
                      <m:accPr>
                        <m:chr m:val="⃗"/>
                        <m:ctrlPr>
                          <a:rPr lang="en-US" altLang="zh-CN" b="0" i="1" kern="0">
                            <a:latin typeface="Cambria Math" panose="02040503050406030204" pitchFamily="18" charset="0"/>
                          </a:rPr>
                        </m:ctrlPr>
                      </m:accPr>
                      <m:e>
                        <m:r>
                          <a:rPr lang="en-US" altLang="zh-CN" b="0" i="1" kern="0">
                            <a:latin typeface="Cambria Math" panose="02040503050406030204" pitchFamily="18" charset="0"/>
                          </a:rPr>
                          <m:t>𝑥</m:t>
                        </m:r>
                      </m:e>
                    </m:acc>
                    <m:r>
                      <a:rPr lang="en-US" altLang="zh-CN" b="0" i="1" kern="0">
                        <a:latin typeface="Cambria Math" panose="02040503050406030204" pitchFamily="18" charset="0"/>
                      </a:rPr>
                      <m:t>=</m:t>
                    </m:r>
                    <m:acc>
                      <m:accPr>
                        <m:chr m:val="⃗"/>
                        <m:ctrlPr>
                          <a:rPr lang="en-US" altLang="zh-CN" b="0" i="1" kern="0">
                            <a:latin typeface="Cambria Math" panose="02040503050406030204" pitchFamily="18" charset="0"/>
                          </a:rPr>
                        </m:ctrlPr>
                      </m:accPr>
                      <m:e>
                        <m:r>
                          <a:rPr lang="en-US" altLang="zh-CN" b="0" i="1" kern="0">
                            <a:latin typeface="Cambria Math" panose="02040503050406030204" pitchFamily="18" charset="0"/>
                          </a:rPr>
                          <m:t>𝑏</m:t>
                        </m:r>
                      </m:e>
                    </m:acc>
                    <m:r>
                      <a:rPr lang="en-US" altLang="zh-CN" b="0" i="1" kern="0" dirty="0">
                        <a:latin typeface="Cambria Math" panose="02040503050406030204" pitchFamily="18" charset="0"/>
                      </a:rPr>
                      <m:t>,</m:t>
                    </m:r>
                    <m:acc>
                      <m:accPr>
                        <m:chr m:val="⃗"/>
                        <m:ctrlPr>
                          <a:rPr lang="en-US" altLang="zh-CN" b="0" i="1" kern="0" dirty="0">
                            <a:latin typeface="Cambria Math" panose="02040503050406030204" pitchFamily="18" charset="0"/>
                          </a:rPr>
                        </m:ctrlPr>
                      </m:accPr>
                      <m:e>
                        <m:r>
                          <a:rPr lang="en-US" altLang="zh-CN" b="0" i="1" kern="0" dirty="0">
                            <a:latin typeface="Cambria Math" panose="02040503050406030204" pitchFamily="18" charset="0"/>
                          </a:rPr>
                          <m:t>𝑥</m:t>
                        </m:r>
                      </m:e>
                    </m:acc>
                    <m:r>
                      <a:rPr lang="en-US" altLang="zh-CN" b="0" i="1" kern="0" dirty="0">
                        <a:latin typeface="Cambria Math" panose="02040503050406030204" pitchFamily="18" charset="0"/>
                      </a:rPr>
                      <m:t>≥0</m:t>
                    </m:r>
                  </m:oMath>
                </a14:m>
                <a:endParaRPr lang="en-US" altLang="zh-CN" kern="0" dirty="0"/>
              </a:p>
              <a:p>
                <a:r>
                  <a:rPr lang="zh-CN" altLang="en-US" kern="0" dirty="0"/>
                  <a:t>对偶问题：</a:t>
                </a:r>
                <a:endParaRPr lang="en-US" altLang="zh-CN" kern="0" dirty="0"/>
              </a:p>
              <a:p>
                <a14:m>
                  <m:oMath xmlns:m="http://schemas.openxmlformats.org/officeDocument/2006/math">
                    <m:r>
                      <a:rPr lang="en-US" altLang="zh-CN" i="1" kern="0">
                        <a:latin typeface="Cambria Math" panose="02040503050406030204" pitchFamily="18" charset="0"/>
                      </a:rPr>
                      <m:t>𝒎𝒂</m:t>
                    </m:r>
                    <m:sSub>
                      <m:sSubPr>
                        <m:ctrlPr>
                          <a:rPr lang="en-US" altLang="zh-CN" i="1" kern="0">
                            <a:latin typeface="Cambria Math" panose="02040503050406030204" pitchFamily="18" charset="0"/>
                          </a:rPr>
                        </m:ctrlPr>
                      </m:sSubPr>
                      <m:e>
                        <m:r>
                          <a:rPr lang="en-US" altLang="zh-CN" i="1" kern="0">
                            <a:latin typeface="Cambria Math" panose="02040503050406030204" pitchFamily="18" charset="0"/>
                          </a:rPr>
                          <m:t>𝒙</m:t>
                        </m:r>
                      </m:e>
                      <m:sub>
                        <m:acc>
                          <m:accPr>
                            <m:chr m:val="⃗"/>
                            <m:ctrlPr>
                              <a:rPr lang="en-US" altLang="zh-CN" i="1" kern="0">
                                <a:latin typeface="Cambria Math" panose="02040503050406030204" pitchFamily="18" charset="0"/>
                              </a:rPr>
                            </m:ctrlPr>
                          </m:accPr>
                          <m:e>
                            <m:r>
                              <a:rPr lang="en-US" altLang="zh-CN" i="1" kern="0">
                                <a:latin typeface="Cambria Math" panose="02040503050406030204" pitchFamily="18" charset="0"/>
                              </a:rPr>
                              <m:t>𝒑</m:t>
                            </m:r>
                          </m:e>
                        </m:acc>
                      </m:sub>
                    </m:sSub>
                    <m:r>
                      <a:rPr lang="en-US" altLang="zh-CN" i="1" kern="0">
                        <a:latin typeface="Cambria Math" panose="02040503050406030204" pitchFamily="18" charset="0"/>
                      </a:rPr>
                      <m:t> </m:t>
                    </m:r>
                    <m:r>
                      <a:rPr lang="en-US" altLang="zh-CN" i="1" kern="0">
                        <a:latin typeface="Cambria Math" panose="02040503050406030204" pitchFamily="18" charset="0"/>
                      </a:rPr>
                      <m:t>𝑔</m:t>
                    </m:r>
                    <m:d>
                      <m:dPr>
                        <m:ctrlPr>
                          <a:rPr lang="en-US" altLang="zh-CN" i="1" kern="0">
                            <a:latin typeface="Cambria Math" panose="02040503050406030204" pitchFamily="18" charset="0"/>
                          </a:rPr>
                        </m:ctrlPr>
                      </m:dPr>
                      <m:e>
                        <m:acc>
                          <m:accPr>
                            <m:chr m:val="⃗"/>
                            <m:ctrlPr>
                              <a:rPr lang="en-US" altLang="zh-CN" i="1" kern="0">
                                <a:latin typeface="Cambria Math" panose="02040503050406030204" pitchFamily="18" charset="0"/>
                              </a:rPr>
                            </m:ctrlPr>
                          </m:accPr>
                          <m:e>
                            <m:r>
                              <a:rPr lang="en-US" altLang="zh-CN" i="1" kern="0">
                                <a:latin typeface="Cambria Math" panose="02040503050406030204" pitchFamily="18" charset="0"/>
                              </a:rPr>
                              <m:t>𝑝</m:t>
                            </m:r>
                          </m:e>
                        </m:acc>
                      </m:e>
                    </m:d>
                    <m:r>
                      <a:rPr lang="en-US" altLang="zh-CN" i="1" kern="0" smtClean="0">
                        <a:latin typeface="Cambria Math" panose="02040503050406030204" pitchFamily="18" charset="0"/>
                      </a:rPr>
                      <m:t>=</m:t>
                    </m:r>
                  </m:oMath>
                </a14:m>
                <a:r>
                  <a:rPr lang="en-US" altLang="zh-CN" kern="0" dirty="0"/>
                  <a:t> </a:t>
                </a:r>
                <a14:m>
                  <m:oMath xmlns:m="http://schemas.openxmlformats.org/officeDocument/2006/math">
                    <m:sSup>
                      <m:sSupPr>
                        <m:ctrlPr>
                          <a:rPr lang="en-US" altLang="zh-CN" i="1" kern="0" dirty="0">
                            <a:latin typeface="Cambria Math" panose="02040503050406030204" pitchFamily="18" charset="0"/>
                          </a:rPr>
                        </m:ctrlPr>
                      </m:sSupPr>
                      <m:e>
                        <m:acc>
                          <m:accPr>
                            <m:chr m:val="⃗"/>
                            <m:ctrlPr>
                              <a:rPr lang="en-US" altLang="zh-CN" i="1" kern="0">
                                <a:latin typeface="Cambria Math" panose="02040503050406030204" pitchFamily="18" charset="0"/>
                              </a:rPr>
                            </m:ctrlPr>
                          </m:accPr>
                          <m:e>
                            <m:r>
                              <a:rPr lang="en-US" altLang="zh-CN" i="1" kern="0">
                                <a:latin typeface="Cambria Math" panose="02040503050406030204" pitchFamily="18" charset="0"/>
                              </a:rPr>
                              <m:t>𝑝</m:t>
                            </m:r>
                          </m:e>
                        </m:acc>
                      </m:e>
                      <m:sup>
                        <m:r>
                          <a:rPr lang="en-US" altLang="zh-CN" i="1" kern="0" dirty="0">
                            <a:latin typeface="Cambria Math" panose="02040503050406030204" pitchFamily="18" charset="0"/>
                          </a:rPr>
                          <m:t>𝑇</m:t>
                        </m:r>
                      </m:sup>
                    </m:sSup>
                    <m:acc>
                      <m:accPr>
                        <m:chr m:val="⃗"/>
                        <m:ctrlPr>
                          <a:rPr lang="en-US" altLang="zh-CN" i="1" kern="0">
                            <a:latin typeface="Cambria Math" panose="02040503050406030204" pitchFamily="18" charset="0"/>
                          </a:rPr>
                        </m:ctrlPr>
                      </m:accPr>
                      <m:e>
                        <m:r>
                          <a:rPr lang="en-US" altLang="zh-CN" i="1" kern="0">
                            <a:latin typeface="Cambria Math" panose="02040503050406030204" pitchFamily="18" charset="0"/>
                          </a:rPr>
                          <m:t>𝑏</m:t>
                        </m:r>
                      </m:e>
                    </m:acc>
                  </m:oMath>
                </a14:m>
                <a:r>
                  <a:rPr lang="zh-CN" altLang="en-US" kern="0" dirty="0"/>
                  <a:t>，</a:t>
                </a:r>
                <a:r>
                  <a:rPr lang="en-US" altLang="zh-CN" b="0" kern="0" dirty="0"/>
                  <a:t> </a:t>
                </a:r>
                <a14:m>
                  <m:oMath xmlns:m="http://schemas.openxmlformats.org/officeDocument/2006/math">
                    <m:sSup>
                      <m:sSupPr>
                        <m:ctrlPr>
                          <a:rPr lang="en-US" altLang="zh-CN" b="0" i="1" kern="0">
                            <a:latin typeface="Cambria Math" panose="02040503050406030204" pitchFamily="18" charset="0"/>
                          </a:rPr>
                        </m:ctrlPr>
                      </m:sSupPr>
                      <m:e>
                        <m:r>
                          <a:rPr lang="en-US" altLang="zh-CN" i="1" kern="0">
                            <a:latin typeface="Cambria Math" panose="02040503050406030204" pitchFamily="18" charset="0"/>
                          </a:rPr>
                          <m:t>𝐴</m:t>
                        </m:r>
                      </m:e>
                      <m:sup>
                        <m:r>
                          <m:rPr>
                            <m:sty m:val="p"/>
                          </m:rPr>
                          <a:rPr lang="en-US" altLang="zh-CN" b="0" kern="0">
                            <a:latin typeface="Cambria Math" panose="02040503050406030204" pitchFamily="18" charset="0"/>
                          </a:rPr>
                          <m:t>T</m:t>
                        </m:r>
                      </m:sup>
                    </m:sSup>
                    <m:acc>
                      <m:accPr>
                        <m:chr m:val="⃗"/>
                        <m:ctrlPr>
                          <a:rPr lang="en-US" altLang="zh-CN" b="0" i="1" kern="0">
                            <a:latin typeface="Cambria Math" panose="02040503050406030204" pitchFamily="18" charset="0"/>
                          </a:rPr>
                        </m:ctrlPr>
                      </m:accPr>
                      <m:e>
                        <m:r>
                          <a:rPr lang="en-US" altLang="zh-CN" b="0" i="1" kern="0">
                            <a:latin typeface="Cambria Math" panose="02040503050406030204" pitchFamily="18" charset="0"/>
                          </a:rPr>
                          <m:t>𝑝</m:t>
                        </m:r>
                      </m:e>
                    </m:acc>
                    <m:r>
                      <a:rPr lang="en-US" altLang="zh-CN" b="0" i="1" kern="0">
                        <a:latin typeface="Cambria Math" panose="02040503050406030204" pitchFamily="18" charset="0"/>
                      </a:rPr>
                      <m:t>≤</m:t>
                    </m:r>
                    <m:acc>
                      <m:accPr>
                        <m:chr m:val="⃗"/>
                        <m:ctrlPr>
                          <a:rPr lang="en-US" altLang="zh-CN" b="0" i="1" kern="0">
                            <a:latin typeface="Cambria Math" panose="02040503050406030204" pitchFamily="18" charset="0"/>
                          </a:rPr>
                        </m:ctrlPr>
                      </m:accPr>
                      <m:e>
                        <m:r>
                          <a:rPr lang="en-US" altLang="zh-CN" b="0" i="1" kern="0">
                            <a:latin typeface="Cambria Math" panose="02040503050406030204" pitchFamily="18" charset="0"/>
                          </a:rPr>
                          <m:t>𝑐</m:t>
                        </m:r>
                      </m:e>
                    </m:acc>
                    <m:r>
                      <a:rPr lang="zh-CN" altLang="en-US" b="0" i="1" kern="0" smtClean="0">
                        <a:latin typeface="Cambria Math" panose="02040503050406030204" pitchFamily="18" charset="0"/>
                      </a:rPr>
                      <m:t>，</m:t>
                    </m:r>
                    <m:acc>
                      <m:accPr>
                        <m:chr m:val="⃗"/>
                        <m:ctrlPr>
                          <a:rPr lang="en-US" altLang="zh-CN" b="0" i="1" kern="0" smtClean="0">
                            <a:latin typeface="Cambria Math" panose="02040503050406030204" pitchFamily="18" charset="0"/>
                          </a:rPr>
                        </m:ctrlPr>
                      </m:accPr>
                      <m:e>
                        <m:r>
                          <a:rPr lang="en-US" altLang="zh-CN" b="0" i="1" kern="0" smtClean="0">
                            <a:latin typeface="Cambria Math" panose="02040503050406030204" pitchFamily="18" charset="0"/>
                          </a:rPr>
                          <m:t>𝑝</m:t>
                        </m:r>
                      </m:e>
                    </m:acc>
                  </m:oMath>
                </a14:m>
                <a:r>
                  <a:rPr lang="zh-CN" altLang="en-US" kern="0" dirty="0"/>
                  <a:t>无约束 </a:t>
                </a:r>
              </a:p>
            </p:txBody>
          </p:sp>
        </mc:Choice>
        <mc:Fallback xmlns="">
          <p:sp>
            <p:nvSpPr>
              <p:cNvPr id="5" name="内容占位符 2">
                <a:extLst>
                  <a:ext uri="{FF2B5EF4-FFF2-40B4-BE49-F238E27FC236}">
                    <a16:creationId xmlns:a16="http://schemas.microsoft.com/office/drawing/2014/main" id="{6AEC7913-A9E0-4B45-A7DA-07C025795F95}"/>
                  </a:ext>
                </a:extLst>
              </p:cNvPr>
              <p:cNvSpPr txBox="1">
                <a:spLocks noRot="1" noChangeAspect="1" noMove="1" noResize="1" noEditPoints="1" noAdjustHandles="1" noChangeArrowheads="1" noChangeShapeType="1" noTextEdit="1"/>
              </p:cNvSpPr>
              <p:nvPr/>
            </p:nvSpPr>
            <p:spPr bwMode="auto">
              <a:xfrm>
                <a:off x="914400" y="4313385"/>
                <a:ext cx="6970986" cy="1765355"/>
              </a:xfrm>
              <a:prstGeom prst="rect">
                <a:avLst/>
              </a:prstGeom>
              <a:blipFill>
                <a:blip r:embed="rId3"/>
                <a:stretch>
                  <a:fillRect l="-436" b="-1375"/>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Tree>
    <p:extLst>
      <p:ext uri="{BB962C8B-B14F-4D97-AF65-F5344CB8AC3E}">
        <p14:creationId xmlns:p14="http://schemas.microsoft.com/office/powerpoint/2010/main" val="495792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C7034C-9011-400A-BEC6-65C9AA66E8DE}"/>
              </a:ext>
            </a:extLst>
          </p:cNvPr>
          <p:cNvSpPr>
            <a:spLocks noGrp="1"/>
          </p:cNvSpPr>
          <p:nvPr>
            <p:ph type="title"/>
          </p:nvPr>
        </p:nvSpPr>
        <p:spPr/>
        <p:txBody>
          <a:bodyPr/>
          <a:lstStyle/>
          <a:p>
            <a:r>
              <a:rPr lang="zh-CN" altLang="en-US" dirty="0"/>
              <a:t>含有不等式的情形</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572C84E-8741-4420-8740-1B12226C8937}"/>
                  </a:ext>
                </a:extLst>
              </p:cNvPr>
              <p:cNvSpPr>
                <a:spLocks noGrp="1"/>
              </p:cNvSpPr>
              <p:nvPr>
                <p:ph idx="1"/>
              </p:nvPr>
            </p:nvSpPr>
            <p:spPr>
              <a:xfrm>
                <a:off x="457200" y="1066800"/>
                <a:ext cx="8229600" cy="5513387"/>
              </a:xfrm>
            </p:spPr>
            <p:txBody>
              <a:bodyPr/>
              <a:lstStyle/>
              <a:p>
                <a14:m>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a:latin typeface="Cambria Math" panose="02040503050406030204" pitchFamily="18" charset="0"/>
                          </a:rPr>
                          <m:t>min</m:t>
                        </m:r>
                      </m:fName>
                      <m:e>
                        <m:r>
                          <a:rPr lang="en-US" altLang="zh-CN" sz="2400" b="0" i="1">
                            <a:latin typeface="Cambria Math" panose="02040503050406030204" pitchFamily="18" charset="0"/>
                          </a:rPr>
                          <m:t>𝑧</m:t>
                        </m:r>
                        <m:r>
                          <a:rPr lang="en-US" altLang="zh-CN" sz="2400" b="0" i="1">
                            <a:latin typeface="Cambria Math" panose="02040503050406030204" pitchFamily="18" charset="0"/>
                          </a:rPr>
                          <m:t>=</m:t>
                        </m:r>
                        <m:sSup>
                          <m:sSupPr>
                            <m:ctrlPr>
                              <a:rPr lang="en-US" altLang="zh-CN" sz="2400" b="0" i="1">
                                <a:latin typeface="Cambria Math" panose="02040503050406030204" pitchFamily="18" charset="0"/>
                              </a:rPr>
                            </m:ctrlPr>
                          </m:sSupPr>
                          <m:e>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𝑐</m:t>
                                </m:r>
                              </m:e>
                            </m:acc>
                          </m:e>
                          <m:sup>
                            <m:r>
                              <a:rPr lang="en-US" altLang="zh-CN" sz="2400" b="0" i="1">
                                <a:latin typeface="Cambria Math" panose="02040503050406030204" pitchFamily="18" charset="0"/>
                              </a:rPr>
                              <m:t>𝑇</m:t>
                            </m:r>
                          </m:sup>
                        </m:sSup>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𝑥</m:t>
                            </m:r>
                          </m:e>
                        </m:acc>
                      </m:e>
                    </m:func>
                    <m:r>
                      <a:rPr lang="en-US" altLang="zh-CN" sz="2400" b="0" i="1">
                        <a:latin typeface="Cambria Math" panose="02040503050406030204" pitchFamily="18" charset="0"/>
                      </a:rPr>
                      <m:t>, </m:t>
                    </m:r>
                    <m:r>
                      <a:rPr lang="en-US" altLang="zh-CN" sz="2400" b="0" i="1">
                        <a:latin typeface="Cambria Math" panose="02040503050406030204" pitchFamily="18" charset="0"/>
                      </a:rPr>
                      <m:t>𝑠</m:t>
                    </m:r>
                    <m:r>
                      <a:rPr lang="en-US" altLang="zh-CN" sz="2400" b="0" i="1">
                        <a:latin typeface="Cambria Math" panose="02040503050406030204" pitchFamily="18" charset="0"/>
                      </a:rPr>
                      <m:t>.</m:t>
                    </m:r>
                    <m:r>
                      <a:rPr lang="en-US" altLang="zh-CN" sz="2400" b="0" i="1">
                        <a:latin typeface="Cambria Math" panose="02040503050406030204" pitchFamily="18" charset="0"/>
                      </a:rPr>
                      <m:t>𝑡</m:t>
                    </m:r>
                    <m:r>
                      <a:rPr lang="en-US" altLang="zh-CN" sz="2400" b="0" i="1">
                        <a:latin typeface="Cambria Math" panose="02040503050406030204" pitchFamily="18" charset="0"/>
                      </a:rPr>
                      <m:t>. </m:t>
                    </m:r>
                    <m:r>
                      <a:rPr lang="en-US" altLang="zh-CN" sz="2400" b="0" i="1">
                        <a:latin typeface="Cambria Math" panose="02040503050406030204" pitchFamily="18" charset="0"/>
                      </a:rPr>
                      <m:t>𝐴</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𝑥</m:t>
                        </m:r>
                      </m:e>
                    </m:acc>
                    <m:r>
                      <a:rPr lang="en-US" altLang="zh-CN" sz="2400" b="0" i="1" smtClean="0">
                        <a:latin typeface="Cambria Math" panose="02040503050406030204" pitchFamily="18" charset="0"/>
                      </a:rPr>
                      <m:t>≥</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𝑏</m:t>
                        </m:r>
                      </m:e>
                    </m:acc>
                    <m:r>
                      <a:rPr lang="en-US" altLang="zh-CN" sz="2400" b="0" i="1" dirty="0">
                        <a:latin typeface="Cambria Math" panose="02040503050406030204" pitchFamily="18" charset="0"/>
                      </a:rPr>
                      <m:t>,</m:t>
                    </m:r>
                    <m:acc>
                      <m:accPr>
                        <m:chr m:val="⃗"/>
                        <m:ctrlPr>
                          <a:rPr lang="en-US" altLang="zh-CN" sz="2400" b="0" i="1" dirty="0">
                            <a:latin typeface="Cambria Math" panose="02040503050406030204" pitchFamily="18" charset="0"/>
                          </a:rPr>
                        </m:ctrlPr>
                      </m:accPr>
                      <m:e>
                        <m:r>
                          <a:rPr lang="en-US" altLang="zh-CN" sz="2400" b="0" i="1" dirty="0">
                            <a:latin typeface="Cambria Math" panose="02040503050406030204" pitchFamily="18" charset="0"/>
                          </a:rPr>
                          <m:t>𝑥</m:t>
                        </m:r>
                      </m:e>
                    </m:acc>
                    <m:r>
                      <a:rPr lang="en-US" altLang="zh-CN" sz="2400" b="0" i="1" dirty="0">
                        <a:latin typeface="Cambria Math" panose="02040503050406030204" pitchFamily="18" charset="0"/>
                      </a:rPr>
                      <m:t>≥0</m:t>
                    </m:r>
                  </m:oMath>
                </a14:m>
                <a:endParaRPr lang="en-US" altLang="zh-CN" sz="2400" dirty="0"/>
              </a:p>
              <a:p>
                <a14:m>
                  <m:oMath xmlns:m="http://schemas.openxmlformats.org/officeDocument/2006/math">
                    <m:func>
                      <m:funcPr>
                        <m:ctrlPr>
                          <a:rPr lang="en-US" altLang="zh-CN" sz="2400" b="0" i="1">
                            <a:latin typeface="Cambria Math" panose="02040503050406030204" pitchFamily="18" charset="0"/>
                          </a:rPr>
                        </m:ctrlPr>
                      </m:funcPr>
                      <m:fName>
                        <m:r>
                          <m:rPr>
                            <m:sty m:val="p"/>
                          </m:rPr>
                          <a:rPr lang="en-US" altLang="zh-CN" sz="2400" b="0">
                            <a:latin typeface="Cambria Math" panose="02040503050406030204" pitchFamily="18" charset="0"/>
                          </a:rPr>
                          <m:t>min</m:t>
                        </m:r>
                      </m:fName>
                      <m:e>
                        <m:r>
                          <a:rPr lang="en-US" altLang="zh-CN" sz="2400" b="0" i="1">
                            <a:latin typeface="Cambria Math" panose="02040503050406030204" pitchFamily="18" charset="0"/>
                          </a:rPr>
                          <m:t>𝑧</m:t>
                        </m:r>
                        <m:r>
                          <a:rPr lang="en-US" altLang="zh-CN" sz="2400" b="0" i="1">
                            <a:latin typeface="Cambria Math" panose="02040503050406030204" pitchFamily="18" charset="0"/>
                          </a:rPr>
                          <m:t>=</m:t>
                        </m:r>
                        <m:sSup>
                          <m:sSupPr>
                            <m:ctrlPr>
                              <a:rPr lang="en-US" altLang="zh-CN" sz="2400" b="0" i="1">
                                <a:latin typeface="Cambria Math" panose="02040503050406030204" pitchFamily="18" charset="0"/>
                              </a:rPr>
                            </m:ctrlPr>
                          </m:sSupPr>
                          <m:e>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𝑐</m:t>
                                </m:r>
                              </m:e>
                            </m:acc>
                          </m:e>
                          <m:sup>
                            <m:r>
                              <a:rPr lang="en-US" altLang="zh-CN" sz="2400" b="0" i="1">
                                <a:latin typeface="Cambria Math" panose="02040503050406030204" pitchFamily="18" charset="0"/>
                              </a:rPr>
                              <m:t>𝑇</m:t>
                            </m:r>
                          </m:sup>
                        </m:sSup>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𝑥</m:t>
                            </m:r>
                          </m:e>
                        </m:acc>
                      </m:e>
                    </m:func>
                    <m:r>
                      <a:rPr lang="en-US" altLang="zh-CN" sz="2400" b="0" i="1">
                        <a:latin typeface="Cambria Math" panose="02040503050406030204" pitchFamily="18" charset="0"/>
                      </a:rPr>
                      <m:t>, </m:t>
                    </m:r>
                    <m:r>
                      <a:rPr lang="en-US" altLang="zh-CN" sz="2400" b="0" i="1">
                        <a:latin typeface="Cambria Math" panose="02040503050406030204" pitchFamily="18" charset="0"/>
                      </a:rPr>
                      <m:t>𝑠</m:t>
                    </m:r>
                    <m:r>
                      <a:rPr lang="en-US" altLang="zh-CN" sz="2400" b="0" i="1">
                        <a:latin typeface="Cambria Math" panose="02040503050406030204" pitchFamily="18" charset="0"/>
                      </a:rPr>
                      <m:t>.</m:t>
                    </m:r>
                    <m:r>
                      <a:rPr lang="en-US" altLang="zh-CN" sz="2400" b="0" i="1">
                        <a:latin typeface="Cambria Math" panose="02040503050406030204" pitchFamily="18" charset="0"/>
                      </a:rPr>
                      <m:t>𝑡</m:t>
                    </m:r>
                    <m:r>
                      <a:rPr lang="en-US" altLang="zh-CN" sz="2400" b="0" i="1">
                        <a:latin typeface="Cambria Math" panose="02040503050406030204" pitchFamily="18" charset="0"/>
                      </a:rPr>
                      <m:t>. </m:t>
                    </m:r>
                    <m:r>
                      <a:rPr lang="en-US" altLang="zh-CN" sz="2400" b="0" i="1">
                        <a:latin typeface="Cambria Math" panose="02040503050406030204" pitchFamily="18" charset="0"/>
                      </a:rPr>
                      <m:t>𝐴</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𝑥</m:t>
                        </m:r>
                      </m:e>
                    </m:acc>
                    <m:r>
                      <a:rPr lang="en-US" altLang="zh-CN" sz="2400" b="0" i="1" smtClean="0">
                        <a:latin typeface="Cambria Math" panose="02040503050406030204" pitchFamily="18" charset="0"/>
                      </a:rPr>
                      <m:t>−</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𝑠</m:t>
                        </m:r>
                      </m:e>
                    </m:acc>
                    <m:r>
                      <a:rPr lang="en-US" altLang="zh-CN" sz="2400" b="0" i="1" smtClean="0">
                        <a:latin typeface="Cambria Math" panose="02040503050406030204" pitchFamily="18" charset="0"/>
                      </a:rPr>
                      <m:t>=</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𝑏</m:t>
                        </m:r>
                      </m:e>
                    </m:acc>
                    <m:r>
                      <a:rPr lang="en-US" altLang="zh-CN" sz="2400" b="0" i="1" dirty="0">
                        <a:latin typeface="Cambria Math" panose="02040503050406030204" pitchFamily="18" charset="0"/>
                      </a:rPr>
                      <m:t>,</m:t>
                    </m:r>
                    <m:acc>
                      <m:accPr>
                        <m:chr m:val="⃗"/>
                        <m:ctrlPr>
                          <a:rPr lang="en-US" altLang="zh-CN" sz="2400" b="0" i="1" dirty="0">
                            <a:latin typeface="Cambria Math" panose="02040503050406030204" pitchFamily="18" charset="0"/>
                          </a:rPr>
                        </m:ctrlPr>
                      </m:accPr>
                      <m:e>
                        <m:r>
                          <a:rPr lang="en-US" altLang="zh-CN" sz="2400" b="0" i="1" dirty="0">
                            <a:latin typeface="Cambria Math" panose="02040503050406030204" pitchFamily="18" charset="0"/>
                          </a:rPr>
                          <m:t>𝑥</m:t>
                        </m:r>
                      </m:e>
                    </m:acc>
                    <m:r>
                      <a:rPr lang="en-US" altLang="zh-CN" sz="2400" b="0" i="1" dirty="0" smtClean="0">
                        <a:latin typeface="Cambria Math" panose="02040503050406030204" pitchFamily="18" charset="0"/>
                      </a:rPr>
                      <m:t>,</m:t>
                    </m:r>
                    <m:acc>
                      <m:accPr>
                        <m:chr m:val="⃗"/>
                        <m:ctrlPr>
                          <a:rPr lang="en-US" altLang="zh-CN" sz="2400" b="0" i="1" dirty="0" smtClean="0">
                            <a:latin typeface="Cambria Math" panose="02040503050406030204" pitchFamily="18" charset="0"/>
                          </a:rPr>
                        </m:ctrlPr>
                      </m:accPr>
                      <m:e>
                        <m:r>
                          <a:rPr lang="en-US" altLang="zh-CN" sz="2400" b="0" i="1" dirty="0" smtClean="0">
                            <a:latin typeface="Cambria Math" panose="02040503050406030204" pitchFamily="18" charset="0"/>
                          </a:rPr>
                          <m:t>𝑠</m:t>
                        </m:r>
                      </m:e>
                    </m:acc>
                    <m:r>
                      <a:rPr lang="en-US" altLang="zh-CN" sz="2400" b="0" i="1" dirty="0">
                        <a:latin typeface="Cambria Math" panose="02040503050406030204" pitchFamily="18" charset="0"/>
                      </a:rPr>
                      <m:t>≥0</m:t>
                    </m:r>
                  </m:oMath>
                </a14:m>
                <a:endParaRPr lang="en-US" altLang="zh-CN" sz="2400" dirty="0"/>
              </a:p>
              <a:p>
                <a14:m>
                  <m:oMath xmlns:m="http://schemas.openxmlformats.org/officeDocument/2006/math">
                    <m:r>
                      <a:rPr lang="en-US" altLang="zh-CN" sz="2400" i="1">
                        <a:latin typeface="Cambria Math" panose="02040503050406030204" pitchFamily="18" charset="0"/>
                      </a:rPr>
                      <m:t>𝑔</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d>
                    <m:r>
                      <a:rPr lang="en-US" altLang="zh-CN" sz="2400" i="1">
                        <a:latin typeface="Cambria Math" panose="02040503050406030204" pitchFamily="18" charset="0"/>
                      </a:rPr>
                      <m:t>=</m:t>
                    </m:r>
                    <m:func>
                      <m:funcPr>
                        <m:ctrlPr>
                          <a:rPr lang="en-US" altLang="zh-CN" sz="2400" i="1">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a:latin typeface="Cambria Math" panose="02040503050406030204" pitchFamily="18" charset="0"/>
                              </a:rPr>
                              <m:t>min</m:t>
                            </m:r>
                          </m:e>
                          <m:lim>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b="1" i="1" smtClean="0">
                                <a:latin typeface="Cambria Math" panose="02040503050406030204" pitchFamily="18" charset="0"/>
                              </a:rPr>
                              <m:t>,</m:t>
                            </m:r>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𝒔</m:t>
                                </m:r>
                              </m:e>
                            </m:acc>
                          </m:lim>
                        </m:limLow>
                      </m:fName>
                      <m:e>
                        <m:sSup>
                          <m:sSupPr>
                            <m:ctrlPr>
                              <a:rPr lang="en-US" altLang="zh-CN" sz="2400" i="1">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𝑐</m:t>
                                </m:r>
                              </m:e>
                            </m:acc>
                          </m:e>
                          <m:sup>
                            <m:r>
                              <a:rPr lang="en-US" altLang="zh-CN" sz="2400" i="1">
                                <a:latin typeface="Cambria Math" panose="02040503050406030204" pitchFamily="18" charset="0"/>
                              </a:rPr>
                              <m:t>𝑇</m:t>
                            </m:r>
                          </m:sup>
                        </m:sSup>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i="1">
                            <a:latin typeface="Cambria Math" panose="02040503050406030204" pitchFamily="18" charset="0"/>
                          </a:rPr>
                          <m:t>+</m:t>
                        </m:r>
                        <m:sSup>
                          <m:sSupPr>
                            <m:ctrlPr>
                              <a:rPr lang="en-US" altLang="zh-CN" sz="2400" i="1" dirty="0">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p>
                            <m:r>
                              <a:rPr lang="en-US" altLang="zh-CN" sz="2400" i="1" dirty="0">
                                <a:latin typeface="Cambria Math" panose="02040503050406030204" pitchFamily="18" charset="0"/>
                              </a:rPr>
                              <m:t>𝑇</m:t>
                            </m:r>
                          </m:sup>
                        </m:sSup>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𝑏</m:t>
                            </m:r>
                          </m:e>
                        </m:acc>
                        <m:r>
                          <a:rPr lang="en-US" altLang="zh-CN" sz="2400" b="1" i="1" smtClean="0">
                            <a:latin typeface="Cambria Math" panose="02040503050406030204" pitchFamily="18" charset="0"/>
                          </a:rPr>
                          <m:t>+</m:t>
                        </m:r>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𝒔</m:t>
                            </m:r>
                          </m:e>
                        </m:acc>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i="1">
                            <a:latin typeface="Cambria Math" panose="02040503050406030204" pitchFamily="18" charset="0"/>
                          </a:rPr>
                          <m:t>)</m:t>
                        </m:r>
                      </m:e>
                    </m:func>
                  </m:oMath>
                </a14:m>
                <a:endParaRPr lang="en-US" altLang="zh-CN" sz="2400" dirty="0"/>
              </a:p>
              <a:p>
                <a14:m>
                  <m:oMath xmlns:m="http://schemas.openxmlformats.org/officeDocument/2006/math">
                    <m:r>
                      <a:rPr lang="en-US" altLang="zh-CN" sz="2400" b="1" i="1" smtClean="0">
                        <a:latin typeface="Cambria Math" panose="02040503050406030204" pitchFamily="18" charset="0"/>
                      </a:rPr>
                      <m:t>=</m:t>
                    </m:r>
                  </m:oMath>
                </a14:m>
                <a:r>
                  <a:rPr lang="en-US" altLang="zh-CN" sz="2400" dirty="0"/>
                  <a:t> </a:t>
                </a:r>
                <a14:m>
                  <m:oMath xmlns:m="http://schemas.openxmlformats.org/officeDocument/2006/math">
                    <m:func>
                      <m:funcPr>
                        <m:ctrlPr>
                          <a:rPr lang="en-US" altLang="zh-CN" sz="2400" i="1">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a:latin typeface="Cambria Math" panose="02040503050406030204" pitchFamily="18" charset="0"/>
                              </a:rPr>
                              <m:t>min</m:t>
                            </m:r>
                          </m:e>
                          <m:lim>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lim>
                        </m:limLow>
                      </m:fName>
                      <m:e>
                        <m:d>
                          <m:dPr>
                            <m:ctrlPr>
                              <a:rPr lang="en-US" altLang="zh-CN" sz="2400" b="0" i="1">
                                <a:latin typeface="Cambria Math" panose="02040503050406030204" pitchFamily="18" charset="0"/>
                              </a:rPr>
                            </m:ctrlPr>
                          </m:dPr>
                          <m:e>
                            <m:sSup>
                              <m:sSupPr>
                                <m:ctrlPr>
                                  <a:rPr lang="en-US" altLang="zh-CN" sz="2400" i="1">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𝑐</m:t>
                                    </m:r>
                                  </m:e>
                                </m:acc>
                              </m:e>
                              <m:sup>
                                <m:r>
                                  <a:rPr lang="en-US" altLang="zh-CN" sz="2400" i="1">
                                    <a:latin typeface="Cambria Math" panose="02040503050406030204" pitchFamily="18" charset="0"/>
                                  </a:rPr>
                                  <m:t>𝑇</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𝐴</m:t>
                            </m:r>
                          </m:e>
                        </m:d>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i="1">
                            <a:latin typeface="Cambria Math" panose="02040503050406030204" pitchFamily="18" charset="0"/>
                          </a:rPr>
                          <m:t>+</m:t>
                        </m:r>
                        <m:sSup>
                          <m:sSupPr>
                            <m:ctrlPr>
                              <a:rPr lang="en-US" altLang="zh-CN" sz="2400" i="1" dirty="0">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p>
                            <m:r>
                              <a:rPr lang="en-US" altLang="zh-CN" sz="2400" i="1" dirty="0">
                                <a:latin typeface="Cambria Math" panose="02040503050406030204" pitchFamily="18" charset="0"/>
                              </a:rPr>
                              <m:t>𝑇</m:t>
                            </m:r>
                          </m:sup>
                        </m:sSup>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𝑏</m:t>
                            </m:r>
                          </m:e>
                        </m:acc>
                      </m:e>
                    </m:func>
                    <m:r>
                      <a:rPr lang="en-US" altLang="zh-CN" sz="2400" b="1" i="1" smtClean="0">
                        <a:latin typeface="Cambria Math" panose="02040503050406030204" pitchFamily="18" charset="0"/>
                      </a:rPr>
                      <m:t>+</m:t>
                    </m:r>
                    <m:sSup>
                      <m:sSupPr>
                        <m:ctrlPr>
                          <a:rPr lang="en-US" altLang="zh-CN" sz="2400" i="1" dirty="0">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p>
                        <m:r>
                          <a:rPr lang="en-US" altLang="zh-CN" sz="2400" i="1" dirty="0">
                            <a:latin typeface="Cambria Math" panose="02040503050406030204" pitchFamily="18" charset="0"/>
                          </a:rPr>
                          <m:t>𝑇</m:t>
                        </m:r>
                      </m:sup>
                    </m:sSup>
                  </m:oMath>
                </a14:m>
                <a:r>
                  <a:rPr lang="en-US" altLang="zh-CN" sz="2400" dirty="0"/>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𝒔</m:t>
                        </m:r>
                      </m:e>
                    </m:acc>
                  </m:oMath>
                </a14:m>
                <a:endParaRPr lang="en-US" altLang="zh-CN" sz="2400" dirty="0"/>
              </a:p>
              <a:p>
                <a:pPr lvl="1"/>
                <a:r>
                  <a:rPr lang="zh-CN" altLang="en-US" sz="2000" dirty="0"/>
                  <a:t>若</a:t>
                </a:r>
                <a14:m>
                  <m:oMath xmlns:m="http://schemas.openxmlformats.org/officeDocument/2006/math">
                    <m:d>
                      <m:dPr>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a:latin typeface="Cambria Math" panose="02040503050406030204" pitchFamily="18" charset="0"/>
                              </a:rPr>
                              <m:t>𝑇</m:t>
                            </m:r>
                          </m:sup>
                        </m:sSup>
                        <m:r>
                          <a:rPr lang="en-US" altLang="zh-CN" sz="2000" i="1">
                            <a:latin typeface="Cambria Math" panose="02040503050406030204" pitchFamily="18" charset="0"/>
                          </a:rPr>
                          <m:t>𝐴</m:t>
                        </m:r>
                      </m:e>
                    </m:d>
                  </m:oMath>
                </a14:m>
                <a:r>
                  <a:rPr lang="zh-CN" altLang="en-US" sz="2000" dirty="0"/>
                  <a:t>中存在小于零的元素，只要让</a:t>
                </a:r>
                <a14:m>
                  <m:oMath xmlns:m="http://schemas.openxmlformats.org/officeDocument/2006/math">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𝑥</m:t>
                        </m:r>
                      </m:e>
                    </m:acc>
                    <m:r>
                      <a:rPr lang="en-US" altLang="zh-CN" sz="2000" i="1" dirty="0">
                        <a:latin typeface="Cambria Math" panose="02040503050406030204" pitchFamily="18" charset="0"/>
                      </a:rPr>
                      <m:t> </m:t>
                    </m:r>
                    <m:r>
                      <a:rPr lang="zh-CN" altLang="en-US" sz="2000" i="1" dirty="0">
                        <a:latin typeface="Cambria Math" panose="02040503050406030204" pitchFamily="18" charset="0"/>
                      </a:rPr>
                      <m:t>相应</m:t>
                    </m:r>
                  </m:oMath>
                </a14:m>
                <a:r>
                  <a:rPr lang="zh-CN" altLang="en-US" sz="2000" dirty="0"/>
                  <a:t>的元素取正无穷大，别的元素取</a:t>
                </a:r>
                <a:r>
                  <a:rPr lang="en-US" altLang="zh-CN" sz="2000" dirty="0"/>
                  <a:t>0</a:t>
                </a:r>
                <a:r>
                  <a:rPr lang="zh-CN" altLang="en-US" sz="2000" dirty="0"/>
                  <a:t>，那么</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oMath>
                </a14:m>
                <a:r>
                  <a:rPr lang="zh-CN" altLang="en-US" sz="2000" dirty="0"/>
                  <a:t>可取负无穷大</a:t>
                </a:r>
                <a:endParaRPr lang="en-US" altLang="zh-CN" sz="2000" dirty="0"/>
              </a:p>
              <a:p>
                <a:pPr lvl="1"/>
                <a:r>
                  <a:rPr lang="zh-CN" altLang="en-US" sz="2000" dirty="0"/>
                  <a:t>若</a:t>
                </a:r>
                <a14:m>
                  <m:oMath xmlns:m="http://schemas.openxmlformats.org/officeDocument/2006/math">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oMath>
                </a14:m>
                <a:r>
                  <a:rPr lang="zh-CN" altLang="en-US" sz="2000" dirty="0"/>
                  <a:t>中存在小于零的元素，只要让</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𝒔</m:t>
                        </m:r>
                      </m:e>
                    </m:acc>
                    <m:r>
                      <a:rPr lang="zh-CN" altLang="en-US" sz="2000" i="1" dirty="0">
                        <a:latin typeface="Cambria Math" panose="02040503050406030204" pitchFamily="18" charset="0"/>
                      </a:rPr>
                      <m:t>相应</m:t>
                    </m:r>
                  </m:oMath>
                </a14:m>
                <a:r>
                  <a:rPr lang="zh-CN" altLang="en-US" sz="2000" dirty="0"/>
                  <a:t>的元素取正无穷大，别的元素取</a:t>
                </a:r>
                <a:r>
                  <a:rPr lang="en-US" altLang="zh-CN" sz="2000" dirty="0"/>
                  <a:t>0</a:t>
                </a:r>
                <a:r>
                  <a:rPr lang="zh-CN" altLang="en-US" sz="2000" dirty="0"/>
                  <a:t>，那么</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oMath>
                </a14:m>
                <a:r>
                  <a:rPr lang="zh-CN" altLang="en-US" sz="2000" dirty="0"/>
                  <a:t>可取负无穷大</a:t>
                </a:r>
                <a:endParaRPr lang="en-US" altLang="zh-CN" sz="2000" dirty="0"/>
              </a:p>
              <a:p>
                <a:pPr lvl="1"/>
                <a:r>
                  <a:rPr lang="zh-CN" altLang="en-US" sz="2000" dirty="0"/>
                  <a:t>若</a:t>
                </a:r>
                <a14:m>
                  <m:oMath xmlns:m="http://schemas.openxmlformats.org/officeDocument/2006/math">
                    <m:d>
                      <m:dPr>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a:latin typeface="Cambria Math" panose="02040503050406030204" pitchFamily="18" charset="0"/>
                              </a:rPr>
                              <m:t>𝑇</m:t>
                            </m:r>
                          </m:sup>
                        </m:sSup>
                        <m:r>
                          <a:rPr lang="en-US" altLang="zh-CN" sz="2000" i="1">
                            <a:latin typeface="Cambria Math" panose="02040503050406030204" pitchFamily="18" charset="0"/>
                          </a:rPr>
                          <m:t>𝐴</m:t>
                        </m:r>
                      </m:e>
                    </m:d>
                    <m:r>
                      <a:rPr lang="zh-CN" altLang="en-US" sz="2000" i="1">
                        <a:latin typeface="Cambria Math" panose="02040503050406030204" pitchFamily="18" charset="0"/>
                      </a:rPr>
                      <m:t>及</m:t>
                    </m:r>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oMath>
                </a14:m>
                <a:r>
                  <a:rPr lang="zh-CN" altLang="en-US" sz="2000" dirty="0"/>
                  <a:t>中元素全部大于等于</a:t>
                </a:r>
                <a:r>
                  <a:rPr lang="en-US" altLang="zh-CN" sz="2000" dirty="0"/>
                  <a:t>0</a:t>
                </a:r>
                <a:r>
                  <a:rPr lang="zh-CN" altLang="en-US" sz="2000" dirty="0"/>
                  <a:t>，</a:t>
                </a:r>
                <a:r>
                  <a:rPr lang="en-US" altLang="zh-CN" sz="2000" dirty="0"/>
                  <a:t> </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oMath>
                </a14:m>
                <a:r>
                  <a:rPr lang="zh-CN" altLang="en-US" sz="2000" dirty="0"/>
                  <a:t>的值就是</a:t>
                </a:r>
                <a14:m>
                  <m:oMath xmlns:m="http://schemas.openxmlformats.org/officeDocument/2006/math">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𝑏</m:t>
                        </m:r>
                      </m:e>
                    </m:acc>
                  </m:oMath>
                </a14:m>
                <a:r>
                  <a:rPr lang="zh-CN" altLang="en-US" sz="2000" dirty="0"/>
                  <a:t>，此时</a:t>
                </a:r>
                <a14:m>
                  <m:oMath xmlns:m="http://schemas.openxmlformats.org/officeDocument/2006/math">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𝑥</m:t>
                        </m:r>
                      </m:e>
                    </m:acc>
                    <m:r>
                      <a:rPr lang="en-US" altLang="zh-CN" sz="2000" i="1" dirty="0">
                        <a:latin typeface="Cambria Math" panose="02040503050406030204" pitchFamily="18" charset="0"/>
                      </a:rPr>
                      <m:t> </m:t>
                    </m:r>
                  </m:oMath>
                </a14:m>
                <a:r>
                  <a:rPr lang="zh-CN" altLang="en-US" sz="2000" dirty="0"/>
                  <a:t>、</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𝒔</m:t>
                        </m:r>
                      </m:e>
                    </m:acc>
                  </m:oMath>
                </a14:m>
                <a:r>
                  <a:rPr lang="zh-CN" altLang="en-US" sz="2000" dirty="0"/>
                  <a:t>为零向量</a:t>
                </a:r>
                <a:endParaRPr lang="en-US" altLang="zh-CN" sz="2000" dirty="0"/>
              </a:p>
              <a:p>
                <a14:m>
                  <m:oMath xmlns:m="http://schemas.openxmlformats.org/officeDocument/2006/math">
                    <m:r>
                      <a:rPr lang="en-US" altLang="zh-CN" sz="2400" i="1">
                        <a:latin typeface="Cambria Math" panose="02040503050406030204" pitchFamily="18" charset="0"/>
                      </a:rPr>
                      <m:t>𝑔</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d>
                  </m:oMath>
                </a14:m>
                <a:r>
                  <a:rPr lang="zh-CN" altLang="en-US" sz="2400" dirty="0"/>
                  <a:t>有明确取值 要求</a:t>
                </a:r>
                <a14:m>
                  <m:oMath xmlns:m="http://schemas.openxmlformats.org/officeDocument/2006/math">
                    <m:sSup>
                      <m:sSupPr>
                        <m:ctrlPr>
                          <a:rPr lang="en-US" altLang="zh-CN" sz="2400" b="0" i="1">
                            <a:latin typeface="Cambria Math" panose="02040503050406030204" pitchFamily="18" charset="0"/>
                          </a:rPr>
                        </m:ctrlPr>
                      </m:sSupPr>
                      <m:e>
                        <m:r>
                          <a:rPr lang="en-US" altLang="zh-CN" sz="2400" i="1">
                            <a:latin typeface="Cambria Math" panose="02040503050406030204" pitchFamily="18" charset="0"/>
                          </a:rPr>
                          <m:t>𝐴</m:t>
                        </m:r>
                      </m:e>
                      <m:sup>
                        <m:r>
                          <m:rPr>
                            <m:sty m:val="p"/>
                          </m:rPr>
                          <a:rPr lang="en-US" altLang="zh-CN" sz="2400" b="0">
                            <a:latin typeface="Cambria Math" panose="02040503050406030204" pitchFamily="18" charset="0"/>
                          </a:rPr>
                          <m:t>T</m:t>
                        </m:r>
                      </m:sup>
                    </m:sSup>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𝑝</m:t>
                        </m:r>
                      </m:e>
                    </m:acc>
                    <m:r>
                      <a:rPr lang="en-US" altLang="zh-CN" sz="2400" b="0" i="1">
                        <a:latin typeface="Cambria Math" panose="02040503050406030204" pitchFamily="18" charset="0"/>
                      </a:rPr>
                      <m:t>≤</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𝑐</m:t>
                        </m:r>
                      </m:e>
                    </m:acc>
                  </m:oMath>
                </a14:m>
                <a:r>
                  <a:rPr lang="en-US" altLang="zh-CN" sz="2400" dirty="0"/>
                  <a:t> </a:t>
                </a:r>
                <a:r>
                  <a:rPr lang="zh-CN" altLang="en-US" sz="2400" dirty="0"/>
                  <a:t>且 </a:t>
                </a:r>
                <a14:m>
                  <m:oMath xmlns:m="http://schemas.openxmlformats.org/officeDocument/2006/math">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𝒑</m:t>
                        </m:r>
                      </m:e>
                    </m:acc>
                    <m:r>
                      <a:rPr lang="en-US" altLang="zh-CN" sz="2400" b="0" i="1" smtClean="0">
                        <a:latin typeface="Cambria Math" panose="02040503050406030204" pitchFamily="18" charset="0"/>
                      </a:rPr>
                      <m:t>≥0</m:t>
                    </m:r>
                  </m:oMath>
                </a14:m>
                <a:endParaRPr lang="en-US" altLang="zh-CN" sz="2400" dirty="0"/>
              </a:p>
              <a:p>
                <a:endParaRPr lang="zh-CN" altLang="en-US" sz="2400" dirty="0"/>
              </a:p>
            </p:txBody>
          </p:sp>
        </mc:Choice>
        <mc:Fallback xmlns="">
          <p:sp>
            <p:nvSpPr>
              <p:cNvPr id="3" name="内容占位符 2">
                <a:extLst>
                  <a:ext uri="{FF2B5EF4-FFF2-40B4-BE49-F238E27FC236}">
                    <a16:creationId xmlns:a16="http://schemas.microsoft.com/office/drawing/2014/main" id="{7572C84E-8741-4420-8740-1B12226C8937}"/>
                  </a:ext>
                </a:extLst>
              </p:cNvPr>
              <p:cNvSpPr>
                <a:spLocks noGrp="1" noRot="1" noChangeAspect="1" noMove="1" noResize="1" noEditPoints="1" noAdjustHandles="1" noChangeArrowheads="1" noChangeShapeType="1" noTextEdit="1"/>
              </p:cNvSpPr>
              <p:nvPr>
                <p:ph idx="1"/>
              </p:nvPr>
            </p:nvSpPr>
            <p:spPr>
              <a:xfrm>
                <a:off x="457200" y="1066800"/>
                <a:ext cx="8229600" cy="5513387"/>
              </a:xfrm>
              <a:blipFill>
                <a:blip r:embed="rId2"/>
                <a:stretch>
                  <a:fillRect l="-2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5958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EEFCA-5C7C-4D9B-8C6B-641BEFC8A200}"/>
              </a:ext>
            </a:extLst>
          </p:cNvPr>
          <p:cNvSpPr>
            <a:spLocks noGrp="1"/>
          </p:cNvSpPr>
          <p:nvPr>
            <p:ph type="title"/>
          </p:nvPr>
        </p:nvSpPr>
        <p:spPr/>
        <p:txBody>
          <a:bodyPr/>
          <a:lstStyle/>
          <a:p>
            <a:r>
              <a:rPr lang="zh-CN" altLang="en-US" dirty="0"/>
              <a:t>对偶问题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5967605-DB2C-4163-889A-4A60DBC351BF}"/>
                  </a:ext>
                </a:extLst>
              </p:cNvPr>
              <p:cNvSpPr>
                <a:spLocks noGrp="1"/>
              </p:cNvSpPr>
              <p:nvPr>
                <p:ph idx="1"/>
              </p:nvPr>
            </p:nvSpPr>
            <p:spPr/>
            <p:txBody>
              <a:bodyPr/>
              <a:lstStyle/>
              <a:p>
                <a14:m>
                  <m:oMath xmlns:m="http://schemas.openxmlformats.org/officeDocument/2006/math">
                    <m:func>
                      <m:funcPr>
                        <m:ctrlPr>
                          <a:rPr lang="en-US" altLang="zh-CN" b="0" i="1">
                            <a:latin typeface="Cambria Math" panose="02040503050406030204" pitchFamily="18" charset="0"/>
                          </a:rPr>
                        </m:ctrlPr>
                      </m:funcPr>
                      <m:fName>
                        <m:r>
                          <m:rPr>
                            <m:sty m:val="p"/>
                          </m:rPr>
                          <a:rPr lang="en-US" altLang="zh-CN" b="0">
                            <a:latin typeface="Cambria Math" panose="02040503050406030204" pitchFamily="18" charset="0"/>
                          </a:rPr>
                          <m:t>min</m:t>
                        </m:r>
                      </m:fName>
                      <m:e>
                        <m:r>
                          <a:rPr lang="en-US" altLang="zh-CN" b="0" i="1">
                            <a:latin typeface="Cambria Math" panose="02040503050406030204" pitchFamily="18" charset="0"/>
                          </a:rPr>
                          <m:t>𝑧</m:t>
                        </m:r>
                        <m:r>
                          <a:rPr lang="en-US" altLang="zh-CN" b="0" i="1">
                            <a:latin typeface="Cambria Math" panose="02040503050406030204" pitchFamily="18" charset="0"/>
                          </a:rPr>
                          <m:t>=</m:t>
                        </m:r>
                        <m:sSup>
                          <m:sSupPr>
                            <m:ctrlPr>
                              <a:rPr lang="en-US" altLang="zh-CN" b="0" i="1">
                                <a:latin typeface="Cambria Math" panose="02040503050406030204" pitchFamily="18" charset="0"/>
                              </a:rPr>
                            </m:ctrlPr>
                          </m:sSupPr>
                          <m:e>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𝑐</m:t>
                                </m:r>
                              </m:e>
                            </m:acc>
                          </m:e>
                          <m:sup>
                            <m:r>
                              <a:rPr lang="en-US" altLang="zh-CN" b="0" i="1">
                                <a:latin typeface="Cambria Math" panose="02040503050406030204" pitchFamily="18" charset="0"/>
                              </a:rPr>
                              <m:t>𝑇</m:t>
                            </m:r>
                          </m:sup>
                        </m:sSup>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𝑥</m:t>
                            </m:r>
                          </m:e>
                        </m:acc>
                      </m:e>
                    </m:func>
                    <m:r>
                      <a:rPr lang="en-US" altLang="zh-CN" b="0" i="1">
                        <a:latin typeface="Cambria Math" panose="02040503050406030204" pitchFamily="18" charset="0"/>
                      </a:rPr>
                      <m:t>, </m:t>
                    </m:r>
                    <m:r>
                      <a:rPr lang="en-US" altLang="zh-CN" b="0" i="1">
                        <a:latin typeface="Cambria Math" panose="02040503050406030204" pitchFamily="18" charset="0"/>
                      </a:rPr>
                      <m:t>𝑠</m:t>
                    </m:r>
                    <m:r>
                      <a:rPr lang="en-US" altLang="zh-CN" b="0" i="1">
                        <a:latin typeface="Cambria Math" panose="02040503050406030204" pitchFamily="18" charset="0"/>
                      </a:rPr>
                      <m:t>.</m:t>
                    </m:r>
                    <m:r>
                      <a:rPr lang="en-US" altLang="zh-CN" b="0" i="1">
                        <a:latin typeface="Cambria Math" panose="02040503050406030204" pitchFamily="18" charset="0"/>
                      </a:rPr>
                      <m:t>𝑡</m:t>
                    </m:r>
                    <m:r>
                      <a:rPr lang="en-US" altLang="zh-CN" b="0" i="1">
                        <a:latin typeface="Cambria Math" panose="02040503050406030204" pitchFamily="18" charset="0"/>
                      </a:rPr>
                      <m:t>. </m:t>
                    </m:r>
                    <m:r>
                      <a:rPr lang="en-US" altLang="zh-CN" b="0" i="1">
                        <a:latin typeface="Cambria Math" panose="02040503050406030204" pitchFamily="18" charset="0"/>
                      </a:rPr>
                      <m:t>𝐴</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𝑥</m:t>
                        </m:r>
                      </m:e>
                    </m:acc>
                    <m:r>
                      <a:rPr lang="en-US" altLang="zh-CN" b="0" i="1">
                        <a:latin typeface="Cambria Math" panose="02040503050406030204" pitchFamily="18" charset="0"/>
                      </a:rPr>
                      <m:t>≥</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𝑏</m:t>
                        </m:r>
                      </m:e>
                    </m:acc>
                    <m:r>
                      <a:rPr lang="en-US" altLang="zh-CN" b="0" i="1" dirty="0">
                        <a:latin typeface="Cambria Math" panose="02040503050406030204" pitchFamily="18" charset="0"/>
                      </a:rPr>
                      <m:t>,</m:t>
                    </m:r>
                    <m:acc>
                      <m:accPr>
                        <m:chr m:val="⃗"/>
                        <m:ctrlPr>
                          <a:rPr lang="en-US" altLang="zh-CN" b="0" i="1" dirty="0">
                            <a:latin typeface="Cambria Math" panose="02040503050406030204" pitchFamily="18" charset="0"/>
                          </a:rPr>
                        </m:ctrlPr>
                      </m:accPr>
                      <m:e>
                        <m:r>
                          <a:rPr lang="en-US" altLang="zh-CN" b="0" i="1" dirty="0">
                            <a:latin typeface="Cambria Math" panose="02040503050406030204" pitchFamily="18" charset="0"/>
                          </a:rPr>
                          <m:t>𝑥</m:t>
                        </m:r>
                      </m:e>
                    </m:acc>
                    <m:r>
                      <a:rPr lang="en-US" altLang="zh-CN" b="0" i="1" dirty="0">
                        <a:latin typeface="Cambria Math" panose="02040503050406030204" pitchFamily="18" charset="0"/>
                      </a:rPr>
                      <m:t>≥0</m:t>
                    </m:r>
                  </m:oMath>
                </a14:m>
                <a:endParaRPr lang="en-US" altLang="zh-CN" dirty="0"/>
              </a:p>
              <a:p>
                <a:r>
                  <a:rPr lang="zh-CN" altLang="en-US" dirty="0"/>
                  <a:t>对偶问题：</a:t>
                </a:r>
                <a:endParaRPr lang="en-US" altLang="zh-CN" dirty="0"/>
              </a:p>
              <a:p>
                <a14:m>
                  <m:oMath xmlns:m="http://schemas.openxmlformats.org/officeDocument/2006/math">
                    <m:r>
                      <a:rPr lang="en-US" altLang="zh-CN" i="1">
                        <a:latin typeface="Cambria Math" panose="02040503050406030204" pitchFamily="18" charset="0"/>
                      </a:rPr>
                      <m:t>𝒎𝒂</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𝒑</m:t>
                            </m:r>
                          </m:e>
                        </m:acc>
                      </m:sub>
                    </m:sSub>
                    <m:r>
                      <a:rPr lang="en-US" altLang="zh-CN" i="1">
                        <a:latin typeface="Cambria Math" panose="02040503050406030204" pitchFamily="18" charset="0"/>
                      </a:rPr>
                      <m:t> </m:t>
                    </m:r>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r>
                      <a:rPr lang="en-US" altLang="zh-CN" b="1" i="1" smtClean="0">
                        <a:latin typeface="Cambria Math" panose="02040503050406030204" pitchFamily="18" charset="0"/>
                      </a:rPr>
                      <m:t>=</m:t>
                    </m:r>
                  </m:oMath>
                </a14:m>
                <a:r>
                  <a:rPr lang="en-US" altLang="zh-CN" dirty="0"/>
                  <a:t> </a:t>
                </a:r>
                <a14:m>
                  <m:oMath xmlns:m="http://schemas.openxmlformats.org/officeDocument/2006/math">
                    <m:sSup>
                      <m:sSupPr>
                        <m:ctrlPr>
                          <a:rPr lang="en-US" altLang="zh-CN" i="1" dirty="0">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dirty="0">
                            <a:latin typeface="Cambria Math" panose="02040503050406030204" pitchFamily="18" charset="0"/>
                          </a:rPr>
                          <m:t>𝑇</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oMath>
                </a14:m>
                <a:r>
                  <a:rPr lang="zh-CN" altLang="en-US" dirty="0"/>
                  <a:t>，</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𝒑</m:t>
                        </m:r>
                      </m:e>
                    </m:acc>
                    <m:r>
                      <a:rPr lang="en-US" altLang="zh-CN" b="0" i="1">
                        <a:latin typeface="Cambria Math" panose="02040503050406030204" pitchFamily="18" charset="0"/>
                      </a:rPr>
                      <m:t>≥0</m:t>
                    </m:r>
                    <m:r>
                      <a:rPr lang="zh-CN" altLang="en-US" b="0" i="1">
                        <a:latin typeface="Cambria Math" panose="02040503050406030204" pitchFamily="18" charset="0"/>
                      </a:rPr>
                      <m:t>，</m:t>
                    </m:r>
                  </m:oMath>
                </a14:m>
                <a:r>
                  <a:rPr lang="en-US" altLang="zh-CN" b="0" dirty="0"/>
                  <a:t> </a:t>
                </a:r>
                <a14:m>
                  <m:oMath xmlns:m="http://schemas.openxmlformats.org/officeDocument/2006/math">
                    <m:sSup>
                      <m:sSupPr>
                        <m:ctrlPr>
                          <a:rPr lang="en-US" altLang="zh-CN" b="0" i="1">
                            <a:latin typeface="Cambria Math" panose="02040503050406030204" pitchFamily="18" charset="0"/>
                          </a:rPr>
                        </m:ctrlPr>
                      </m:sSupPr>
                      <m:e>
                        <m:r>
                          <a:rPr lang="en-US" altLang="zh-CN" i="1">
                            <a:latin typeface="Cambria Math" panose="02040503050406030204" pitchFamily="18" charset="0"/>
                          </a:rPr>
                          <m:t>𝐴</m:t>
                        </m:r>
                      </m:e>
                      <m:sup>
                        <m:r>
                          <m:rPr>
                            <m:sty m:val="p"/>
                          </m:rPr>
                          <a:rPr lang="en-US" altLang="zh-CN" b="0">
                            <a:latin typeface="Cambria Math" panose="02040503050406030204" pitchFamily="18" charset="0"/>
                          </a:rPr>
                          <m:t>T</m:t>
                        </m:r>
                      </m:sup>
                    </m:sSup>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𝑝</m:t>
                        </m:r>
                      </m:e>
                    </m:acc>
                    <m:r>
                      <a:rPr lang="en-US" altLang="zh-CN" b="0" i="1">
                        <a:latin typeface="Cambria Math" panose="02040503050406030204" pitchFamily="18" charset="0"/>
                      </a:rPr>
                      <m:t>≤</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𝑐</m:t>
                        </m:r>
                      </m:e>
                    </m:acc>
                  </m:oMath>
                </a14:m>
                <a:endParaRPr lang="zh-CN" altLang="en-US" dirty="0"/>
              </a:p>
            </p:txBody>
          </p:sp>
        </mc:Choice>
        <mc:Fallback xmlns="">
          <p:sp>
            <p:nvSpPr>
              <p:cNvPr id="3" name="内容占位符 2">
                <a:extLst>
                  <a:ext uri="{FF2B5EF4-FFF2-40B4-BE49-F238E27FC236}">
                    <a16:creationId xmlns:a16="http://schemas.microsoft.com/office/drawing/2014/main" id="{45967605-DB2C-4163-889A-4A60DBC351BF}"/>
                  </a:ext>
                </a:extLst>
              </p:cNvPr>
              <p:cNvSpPr>
                <a:spLocks noGrp="1" noRot="1" noChangeAspect="1" noMove="1" noResize="1" noEditPoints="1" noAdjustHandles="1" noChangeArrowheads="1" noChangeShapeType="1" noTextEdit="1"/>
              </p:cNvSpPr>
              <p:nvPr>
                <p:ph idx="1"/>
              </p:nvPr>
            </p:nvSpPr>
            <p:spPr>
              <a:blipFill>
                <a:blip r:embed="rId2"/>
                <a:stretch>
                  <a:fillRect l="-444"/>
                </a:stretch>
              </a:blipFill>
            </p:spPr>
            <p:txBody>
              <a:bodyPr/>
              <a:lstStyle/>
              <a:p>
                <a:r>
                  <a:rPr lang="zh-CN" altLang="en-US">
                    <a:noFill/>
                  </a:rPr>
                  <a:t> </a:t>
                </a:r>
              </a:p>
            </p:txBody>
          </p:sp>
        </mc:Fallback>
      </mc:AlternateContent>
      <p:sp>
        <p:nvSpPr>
          <p:cNvPr id="5" name="箭头: 右 4">
            <a:extLst>
              <a:ext uri="{FF2B5EF4-FFF2-40B4-BE49-F238E27FC236}">
                <a16:creationId xmlns:a16="http://schemas.microsoft.com/office/drawing/2014/main" id="{8EE98DEB-5581-4091-B361-2D49DC626F9F}"/>
              </a:ext>
            </a:extLst>
          </p:cNvPr>
          <p:cNvSpPr/>
          <p:nvPr/>
        </p:nvSpPr>
        <p:spPr>
          <a:xfrm rot="5400000">
            <a:off x="3905760" y="2342640"/>
            <a:ext cx="646679"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5">
            <a:extLst>
              <a:ext uri="{FF2B5EF4-FFF2-40B4-BE49-F238E27FC236}">
                <a16:creationId xmlns:a16="http://schemas.microsoft.com/office/drawing/2014/main" id="{077D62B1-FA84-4819-A09B-B13A87FB9C6D}"/>
              </a:ext>
            </a:extLst>
          </p:cNvPr>
          <p:cNvSpPr/>
          <p:nvPr/>
        </p:nvSpPr>
        <p:spPr>
          <a:xfrm rot="2315717">
            <a:off x="5225667" y="2342641"/>
            <a:ext cx="947085"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64133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966A94-25BA-4CC8-A857-7DD49EFD582E}"/>
              </a:ext>
            </a:extLst>
          </p:cNvPr>
          <p:cNvSpPr>
            <a:spLocks noGrp="1"/>
          </p:cNvSpPr>
          <p:nvPr>
            <p:ph type="title"/>
          </p:nvPr>
        </p:nvSpPr>
        <p:spPr/>
        <p:txBody>
          <a:bodyPr/>
          <a:lstStyle/>
          <a:p>
            <a:endParaRPr lang="zh-CN" altLang="en-US"/>
          </a:p>
        </p:txBody>
      </p:sp>
      <p:sp>
        <p:nvSpPr>
          <p:cNvPr id="6" name="内容占位符 2">
            <a:extLst>
              <a:ext uri="{FF2B5EF4-FFF2-40B4-BE49-F238E27FC236}">
                <a16:creationId xmlns:a16="http://schemas.microsoft.com/office/drawing/2014/main" id="{7E833D4D-2302-43D0-BF89-D28C768ABDE3}"/>
              </a:ext>
            </a:extLst>
          </p:cNvPr>
          <p:cNvSpPr>
            <a:spLocks noGrp="1"/>
          </p:cNvSpPr>
          <p:nvPr>
            <p:ph idx="1"/>
          </p:nvPr>
        </p:nvSpPr>
        <p:spPr>
          <a:xfrm>
            <a:off x="457200" y="1600200"/>
            <a:ext cx="8229600" cy="4530725"/>
          </a:xfrm>
        </p:spPr>
        <p:txBody>
          <a:bodyPr/>
          <a:lstStyle/>
          <a:p>
            <a:r>
              <a:rPr lang="zh-CN" altLang="en-US" dirty="0"/>
              <a:t>找出下述问题的对偶问题</a:t>
            </a:r>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3D24D9CC-942E-4C69-A768-706DC8C52930}"/>
                  </a:ext>
                </a:extLst>
              </p:cNvPr>
              <p:cNvSpPr txBox="1">
                <a:spLocks/>
              </p:cNvSpPr>
              <p:nvPr/>
            </p:nvSpPr>
            <p:spPr bwMode="auto">
              <a:xfrm>
                <a:off x="914400" y="4313385"/>
                <a:ext cx="6970986" cy="1765355"/>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a:latin typeface="Cambria Math" panose="02040503050406030204" pitchFamily="18" charset="0"/>
                          </a:rPr>
                        </m:ctrlPr>
                      </m:funcPr>
                      <m:fName>
                        <m:r>
                          <m:rPr>
                            <m:sty m:val="p"/>
                          </m:rPr>
                          <a:rPr lang="en-US" altLang="zh-CN" b="0">
                            <a:latin typeface="Cambria Math" panose="02040503050406030204" pitchFamily="18" charset="0"/>
                          </a:rPr>
                          <m:t>min</m:t>
                        </m:r>
                      </m:fName>
                      <m:e>
                        <m:r>
                          <a:rPr lang="en-US" altLang="zh-CN" b="0" i="1">
                            <a:latin typeface="Cambria Math" panose="02040503050406030204" pitchFamily="18" charset="0"/>
                          </a:rPr>
                          <m:t>𝑧</m:t>
                        </m:r>
                        <m:r>
                          <a:rPr lang="en-US" altLang="zh-CN" b="0" i="1">
                            <a:latin typeface="Cambria Math" panose="02040503050406030204" pitchFamily="18" charset="0"/>
                          </a:rPr>
                          <m:t>=</m:t>
                        </m:r>
                        <m:sSup>
                          <m:sSupPr>
                            <m:ctrlPr>
                              <a:rPr lang="en-US" altLang="zh-CN" b="0" i="1">
                                <a:latin typeface="Cambria Math" panose="02040503050406030204" pitchFamily="18" charset="0"/>
                              </a:rPr>
                            </m:ctrlPr>
                          </m:sSupPr>
                          <m:e>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𝑐</m:t>
                                </m:r>
                              </m:e>
                            </m:acc>
                          </m:e>
                          <m:sup>
                            <m:r>
                              <a:rPr lang="en-US" altLang="zh-CN" b="0" i="1">
                                <a:latin typeface="Cambria Math" panose="02040503050406030204" pitchFamily="18" charset="0"/>
                              </a:rPr>
                              <m:t>𝑇</m:t>
                            </m:r>
                          </m:sup>
                        </m:sSup>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𝑥</m:t>
                            </m:r>
                          </m:e>
                        </m:acc>
                      </m:e>
                    </m:func>
                    <m:r>
                      <a:rPr lang="en-US" altLang="zh-CN" b="0" i="1">
                        <a:latin typeface="Cambria Math" panose="02040503050406030204" pitchFamily="18" charset="0"/>
                      </a:rPr>
                      <m:t>, </m:t>
                    </m:r>
                    <m:r>
                      <a:rPr lang="en-US" altLang="zh-CN" b="0" i="1">
                        <a:latin typeface="Cambria Math" panose="02040503050406030204" pitchFamily="18" charset="0"/>
                      </a:rPr>
                      <m:t>𝑠</m:t>
                    </m:r>
                    <m:r>
                      <a:rPr lang="en-US" altLang="zh-CN" b="0" i="1">
                        <a:latin typeface="Cambria Math" panose="02040503050406030204" pitchFamily="18" charset="0"/>
                      </a:rPr>
                      <m:t>.</m:t>
                    </m:r>
                    <m:r>
                      <a:rPr lang="en-US" altLang="zh-CN" b="0" i="1">
                        <a:latin typeface="Cambria Math" panose="02040503050406030204" pitchFamily="18" charset="0"/>
                      </a:rPr>
                      <m:t>𝑡</m:t>
                    </m:r>
                    <m:r>
                      <a:rPr lang="en-US" altLang="zh-CN" b="0" i="1">
                        <a:latin typeface="Cambria Math" panose="02040503050406030204" pitchFamily="18" charset="0"/>
                      </a:rPr>
                      <m:t>. </m:t>
                    </m:r>
                    <m:r>
                      <a:rPr lang="en-US" altLang="zh-CN" b="0" i="1">
                        <a:latin typeface="Cambria Math" panose="02040503050406030204" pitchFamily="18" charset="0"/>
                      </a:rPr>
                      <m:t>𝐴</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𝑥</m:t>
                        </m:r>
                      </m:e>
                    </m:acc>
                    <m:r>
                      <a:rPr lang="en-US" altLang="zh-CN" b="0" i="1">
                        <a:latin typeface="Cambria Math" panose="02040503050406030204" pitchFamily="18" charset="0"/>
                      </a:rPr>
                      <m:t>≥</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𝑏</m:t>
                        </m:r>
                      </m:e>
                    </m:acc>
                    <m:r>
                      <a:rPr lang="en-US" altLang="zh-CN" b="0" i="1" dirty="0">
                        <a:latin typeface="Cambria Math" panose="02040503050406030204" pitchFamily="18" charset="0"/>
                      </a:rPr>
                      <m:t>,</m:t>
                    </m:r>
                    <m:acc>
                      <m:accPr>
                        <m:chr m:val="⃗"/>
                        <m:ctrlPr>
                          <a:rPr lang="en-US" altLang="zh-CN" b="0" i="1" dirty="0">
                            <a:latin typeface="Cambria Math" panose="02040503050406030204" pitchFamily="18" charset="0"/>
                          </a:rPr>
                        </m:ctrlPr>
                      </m:accPr>
                      <m:e>
                        <m:r>
                          <a:rPr lang="en-US" altLang="zh-CN" b="0" i="1" dirty="0">
                            <a:latin typeface="Cambria Math" panose="02040503050406030204" pitchFamily="18" charset="0"/>
                          </a:rPr>
                          <m:t>𝑥</m:t>
                        </m:r>
                      </m:e>
                    </m:acc>
                    <m:r>
                      <a:rPr lang="en-US" altLang="zh-CN" b="0" i="1" dirty="0">
                        <a:latin typeface="Cambria Math" panose="02040503050406030204" pitchFamily="18" charset="0"/>
                      </a:rPr>
                      <m:t>≥0</m:t>
                    </m:r>
                  </m:oMath>
                </a14:m>
                <a:endParaRPr lang="en-US" altLang="zh-CN" dirty="0"/>
              </a:p>
              <a:p>
                <a:r>
                  <a:rPr lang="zh-CN" altLang="en-US" dirty="0"/>
                  <a:t>对偶问题：</a:t>
                </a:r>
                <a:endParaRPr lang="en-US" altLang="zh-CN" dirty="0"/>
              </a:p>
              <a:p>
                <a14:m>
                  <m:oMath xmlns:m="http://schemas.openxmlformats.org/officeDocument/2006/math">
                    <m:r>
                      <a:rPr lang="en-US" altLang="zh-CN" i="1">
                        <a:latin typeface="Cambria Math" panose="02040503050406030204" pitchFamily="18" charset="0"/>
                      </a:rPr>
                      <m:t>𝒎𝒂</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𝒑</m:t>
                            </m:r>
                          </m:e>
                        </m:acc>
                      </m:sub>
                    </m:sSub>
                    <m:r>
                      <a:rPr lang="en-US" altLang="zh-CN" i="1">
                        <a:latin typeface="Cambria Math" panose="02040503050406030204" pitchFamily="18" charset="0"/>
                      </a:rPr>
                      <m:t> </m:t>
                    </m:r>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r>
                      <a:rPr lang="en-US" altLang="zh-CN" i="1">
                        <a:latin typeface="Cambria Math" panose="02040503050406030204" pitchFamily="18" charset="0"/>
                      </a:rPr>
                      <m:t>=</m:t>
                    </m:r>
                  </m:oMath>
                </a14:m>
                <a:r>
                  <a:rPr lang="en-US" altLang="zh-CN" dirty="0"/>
                  <a:t> </a:t>
                </a:r>
                <a14:m>
                  <m:oMath xmlns:m="http://schemas.openxmlformats.org/officeDocument/2006/math">
                    <m:sSup>
                      <m:sSupPr>
                        <m:ctrlPr>
                          <a:rPr lang="en-US" altLang="zh-CN" i="1" dirty="0">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dirty="0">
                            <a:latin typeface="Cambria Math" panose="02040503050406030204" pitchFamily="18" charset="0"/>
                          </a:rPr>
                          <m:t>𝑇</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oMath>
                </a14:m>
                <a:r>
                  <a:rPr lang="zh-CN" altLang="en-US" dirty="0"/>
                  <a:t>，</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𝒑</m:t>
                        </m:r>
                      </m:e>
                    </m:acc>
                    <m:r>
                      <a:rPr lang="en-US" altLang="zh-CN" b="0" i="1">
                        <a:latin typeface="Cambria Math" panose="02040503050406030204" pitchFamily="18" charset="0"/>
                      </a:rPr>
                      <m:t>≥0</m:t>
                    </m:r>
                    <m:r>
                      <a:rPr lang="zh-CN" altLang="en-US" b="0" i="1">
                        <a:latin typeface="Cambria Math" panose="02040503050406030204" pitchFamily="18" charset="0"/>
                      </a:rPr>
                      <m:t>，</m:t>
                    </m:r>
                  </m:oMath>
                </a14:m>
                <a:r>
                  <a:rPr lang="en-US" altLang="zh-CN" b="0" dirty="0"/>
                  <a:t> </a:t>
                </a:r>
                <a14:m>
                  <m:oMath xmlns:m="http://schemas.openxmlformats.org/officeDocument/2006/math">
                    <m:sSup>
                      <m:sSupPr>
                        <m:ctrlPr>
                          <a:rPr lang="en-US" altLang="zh-CN" b="0" i="1">
                            <a:latin typeface="Cambria Math" panose="02040503050406030204" pitchFamily="18" charset="0"/>
                          </a:rPr>
                        </m:ctrlPr>
                      </m:sSupPr>
                      <m:e>
                        <m:r>
                          <a:rPr lang="en-US" altLang="zh-CN" i="1">
                            <a:latin typeface="Cambria Math" panose="02040503050406030204" pitchFamily="18" charset="0"/>
                          </a:rPr>
                          <m:t>𝐴</m:t>
                        </m:r>
                      </m:e>
                      <m:sup>
                        <m:r>
                          <m:rPr>
                            <m:sty m:val="p"/>
                          </m:rPr>
                          <a:rPr lang="en-US" altLang="zh-CN" b="0">
                            <a:latin typeface="Cambria Math" panose="02040503050406030204" pitchFamily="18" charset="0"/>
                          </a:rPr>
                          <m:t>T</m:t>
                        </m:r>
                      </m:sup>
                    </m:sSup>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𝑝</m:t>
                        </m:r>
                      </m:e>
                    </m:acc>
                    <m:r>
                      <a:rPr lang="en-US" altLang="zh-CN" b="0" i="1">
                        <a:latin typeface="Cambria Math" panose="02040503050406030204" pitchFamily="18" charset="0"/>
                      </a:rPr>
                      <m:t>≤</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𝑐</m:t>
                        </m:r>
                      </m:e>
                    </m:acc>
                  </m:oMath>
                </a14:m>
                <a:endParaRPr lang="zh-CN" altLang="en-US" dirty="0"/>
              </a:p>
            </p:txBody>
          </p:sp>
        </mc:Choice>
        <mc:Fallback xmlns="">
          <p:sp>
            <p:nvSpPr>
              <p:cNvPr id="7" name="内容占位符 2">
                <a:extLst>
                  <a:ext uri="{FF2B5EF4-FFF2-40B4-BE49-F238E27FC236}">
                    <a16:creationId xmlns:a16="http://schemas.microsoft.com/office/drawing/2014/main" id="{3D24D9CC-942E-4C69-A768-706DC8C52930}"/>
                  </a:ext>
                </a:extLst>
              </p:cNvPr>
              <p:cNvSpPr txBox="1">
                <a:spLocks noRot="1" noChangeAspect="1" noMove="1" noResize="1" noEditPoints="1" noAdjustHandles="1" noChangeArrowheads="1" noChangeShapeType="1" noTextEdit="1"/>
              </p:cNvSpPr>
              <p:nvPr/>
            </p:nvSpPr>
            <p:spPr bwMode="auto">
              <a:xfrm>
                <a:off x="914400" y="4313385"/>
                <a:ext cx="6970986" cy="1765355"/>
              </a:xfrm>
              <a:prstGeom prst="rect">
                <a:avLst/>
              </a:prstGeom>
              <a:blipFill>
                <a:blip r:embed="rId2"/>
                <a:stretch>
                  <a:fillRect l="-436" b="-1375"/>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5259D72D-FFA1-4A9E-A68A-6F3ACEE02D6E}"/>
                  </a:ext>
                </a:extLst>
              </p:cNvPr>
              <p:cNvSpPr txBox="1">
                <a:spLocks/>
              </p:cNvSpPr>
              <p:nvPr/>
            </p:nvSpPr>
            <p:spPr bwMode="auto">
              <a:xfrm>
                <a:off x="990600" y="2057400"/>
                <a:ext cx="4572000" cy="225684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m:rPr>
                            <m:sty m:val="p"/>
                          </m:rPr>
                          <a:rPr lang="en-US" altLang="zh-CN" b="0" i="1" kern="0">
                            <a:latin typeface="Cambria Math" panose="02040503050406030204" pitchFamily="18" charset="0"/>
                          </a:rPr>
                          <m:t>min</m:t>
                        </m:r>
                      </m:fName>
                      <m:e>
                        <m:r>
                          <a:rPr lang="en-US" altLang="zh-CN" b="0" i="1" kern="0" smtClean="0">
                            <a:latin typeface="Cambria Math" panose="02040503050406030204" pitchFamily="18" charset="0"/>
                          </a:rPr>
                          <m:t>𝑧</m:t>
                        </m:r>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2</m:t>
                                  </m:r>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1</m:t>
                                  </m:r>
                                </m:sub>
                              </m:sSub>
                              <m:r>
                                <m:rPr>
                                  <m:brk m:alnAt="7"/>
                                </m:rP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≥12</m:t>
                              </m:r>
                            </m:e>
                          </m:mr>
                          <m:mr>
                            <m:e>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1</m:t>
                                  </m:r>
                                </m:sub>
                              </m:sSub>
                              <m:r>
                                <m:rPr>
                                  <m:brk m:alnAt="7"/>
                                </m:rPr>
                                <a:rPr lang="en-US" altLang="zh-CN" i="1" kern="0">
                                  <a:latin typeface="Cambria Math" panose="02040503050406030204" pitchFamily="18" charset="0"/>
                                </a:rPr>
                                <m:t>+</m:t>
                              </m:r>
                              <m:r>
                                <a:rPr lang="en-US" altLang="zh-CN" i="1" kern="0">
                                  <a:latin typeface="Cambria Math" panose="02040503050406030204" pitchFamily="18" charset="0"/>
                                </a:rPr>
                                <m:t>2</m:t>
                              </m:r>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2</m:t>
                                  </m:r>
                                </m:sub>
                              </m:sSub>
                              <m:r>
                                <a:rPr lang="en-US" altLang="zh-CN" b="1" i="1" kern="0" smtClean="0">
                                  <a:latin typeface="Cambria Math" panose="02040503050406030204" pitchFamily="18" charset="0"/>
                                </a:rPr>
                                <m:t>≥</m:t>
                              </m:r>
                              <m:r>
                                <a:rPr lang="en-US" altLang="zh-CN" b="0" i="1" kern="0" smtClean="0">
                                  <a:latin typeface="Cambria Math" panose="02040503050406030204" pitchFamily="18" charset="0"/>
                                </a:rPr>
                                <m:t>9</m:t>
                              </m:r>
                            </m:e>
                          </m:m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 ≥0</m:t>
                              </m:r>
                            </m:e>
                          </m:mr>
                        </m:m>
                      </m:e>
                    </m:d>
                  </m:oMath>
                </a14:m>
                <a:endParaRPr lang="zh-CN" altLang="en-US" kern="0" dirty="0"/>
              </a:p>
            </p:txBody>
          </p:sp>
        </mc:Choice>
        <mc:Fallback xmlns="">
          <p:sp>
            <p:nvSpPr>
              <p:cNvPr id="8" name="内容占位符 2">
                <a:extLst>
                  <a:ext uri="{FF2B5EF4-FFF2-40B4-BE49-F238E27FC236}">
                    <a16:creationId xmlns:a16="http://schemas.microsoft.com/office/drawing/2014/main" id="{5259D72D-FFA1-4A9E-A68A-6F3ACEE02D6E}"/>
                  </a:ext>
                </a:extLst>
              </p:cNvPr>
              <p:cNvSpPr txBox="1">
                <a:spLocks noRot="1" noChangeAspect="1" noMove="1" noResize="1" noEditPoints="1" noAdjustHandles="1" noChangeArrowheads="1" noChangeShapeType="1" noTextEdit="1"/>
              </p:cNvSpPr>
              <p:nvPr/>
            </p:nvSpPr>
            <p:spPr bwMode="auto">
              <a:xfrm>
                <a:off x="990600" y="2057400"/>
                <a:ext cx="4572000" cy="2256848"/>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871575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BFE25-7C90-4A02-9350-266A52E9AC5E}"/>
              </a:ext>
            </a:extLst>
          </p:cNvPr>
          <p:cNvSpPr>
            <a:spLocks noGrp="1"/>
          </p:cNvSpPr>
          <p:nvPr>
            <p:ph type="title"/>
          </p:nvPr>
        </p:nvSpPr>
        <p:spPr/>
        <p:txBody>
          <a:bodyPr/>
          <a:lstStyle/>
          <a:p>
            <a:r>
              <a:rPr lang="zh-CN" altLang="en-US" dirty="0"/>
              <a:t>习题</a:t>
            </a:r>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10CAC969-E423-4DD3-9AFA-ADA80CF92932}"/>
                  </a:ext>
                </a:extLst>
              </p:cNvPr>
              <p:cNvSpPr>
                <a:spLocks noGrp="1"/>
              </p:cNvSpPr>
              <p:nvPr>
                <p:ph idx="1"/>
              </p:nvPr>
            </p:nvSpPr>
            <p:spPr>
              <a:xfrm>
                <a:off x="457200" y="990600"/>
                <a:ext cx="8229600" cy="5105400"/>
              </a:xfrm>
            </p:spPr>
            <p:txBody>
              <a:bodyPr/>
              <a:lstStyle/>
              <a:p>
                <a:r>
                  <a:rPr lang="zh-CN" altLang="en-US" sz="2400" b="0" dirty="0">
                    <a:latin typeface="Cambria Math" panose="02040503050406030204" pitchFamily="18" charset="0"/>
                  </a:rPr>
                  <a:t>找出</a:t>
                </a:r>
                <a:r>
                  <a:rPr lang="en-US" altLang="zh-CN" sz="2400" b="0" dirty="0">
                    <a:latin typeface="Cambria Math" panose="02040503050406030204" pitchFamily="18" charset="0"/>
                  </a:rPr>
                  <a:t>【</a:t>
                </a:r>
                <a14:m>
                  <m:oMath xmlns:m="http://schemas.openxmlformats.org/officeDocument/2006/math">
                    <m:func>
                      <m:funcPr>
                        <m:ctrlPr>
                          <a:rPr lang="en-US" altLang="zh-CN" sz="2400" b="0" i="1">
                            <a:latin typeface="Cambria Math" panose="02040503050406030204" pitchFamily="18" charset="0"/>
                          </a:rPr>
                        </m:ctrlPr>
                      </m:funcPr>
                      <m:fName>
                        <m:r>
                          <m:rPr>
                            <m:sty m:val="p"/>
                          </m:rPr>
                          <a:rPr lang="en-US" altLang="zh-CN" sz="2400" b="0">
                            <a:latin typeface="Cambria Math" panose="02040503050406030204" pitchFamily="18" charset="0"/>
                          </a:rPr>
                          <m:t>min</m:t>
                        </m:r>
                      </m:fName>
                      <m:e>
                        <m:r>
                          <a:rPr lang="en-US" altLang="zh-CN" sz="2400" b="0" i="1">
                            <a:latin typeface="Cambria Math" panose="02040503050406030204" pitchFamily="18" charset="0"/>
                          </a:rPr>
                          <m:t>𝑧</m:t>
                        </m:r>
                        <m:r>
                          <a:rPr lang="en-US" altLang="zh-CN" sz="2400" b="0" i="1">
                            <a:latin typeface="Cambria Math" panose="02040503050406030204" pitchFamily="18" charset="0"/>
                          </a:rPr>
                          <m:t>=</m:t>
                        </m:r>
                        <m:sSup>
                          <m:sSupPr>
                            <m:ctrlPr>
                              <a:rPr lang="en-US" altLang="zh-CN" sz="2400" b="0" i="1">
                                <a:latin typeface="Cambria Math" panose="02040503050406030204" pitchFamily="18" charset="0"/>
                              </a:rPr>
                            </m:ctrlPr>
                          </m:sSupPr>
                          <m:e>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𝑐</m:t>
                                </m:r>
                              </m:e>
                            </m:acc>
                          </m:e>
                          <m:sup>
                            <m:r>
                              <a:rPr lang="en-US" altLang="zh-CN" sz="2400" b="0" i="1">
                                <a:latin typeface="Cambria Math" panose="02040503050406030204" pitchFamily="18" charset="0"/>
                              </a:rPr>
                              <m:t>𝑇</m:t>
                            </m:r>
                          </m:sup>
                        </m:sSup>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𝑥</m:t>
                            </m:r>
                          </m:e>
                        </m:acc>
                      </m:e>
                    </m:func>
                    <m:r>
                      <a:rPr lang="en-US" altLang="zh-CN" sz="2400" b="0" i="1">
                        <a:latin typeface="Cambria Math" panose="02040503050406030204" pitchFamily="18" charset="0"/>
                      </a:rPr>
                      <m:t>, </m:t>
                    </m:r>
                    <m:r>
                      <a:rPr lang="en-US" altLang="zh-CN" sz="2400" b="0" i="1">
                        <a:latin typeface="Cambria Math" panose="02040503050406030204" pitchFamily="18" charset="0"/>
                      </a:rPr>
                      <m:t>𝑠</m:t>
                    </m:r>
                    <m:r>
                      <a:rPr lang="en-US" altLang="zh-CN" sz="2400" b="0" i="1">
                        <a:latin typeface="Cambria Math" panose="02040503050406030204" pitchFamily="18" charset="0"/>
                      </a:rPr>
                      <m:t>.</m:t>
                    </m:r>
                    <m:r>
                      <a:rPr lang="en-US" altLang="zh-CN" sz="2400" b="0" i="1">
                        <a:latin typeface="Cambria Math" panose="02040503050406030204" pitchFamily="18" charset="0"/>
                      </a:rPr>
                      <m:t>𝑡</m:t>
                    </m:r>
                    <m:r>
                      <a:rPr lang="en-US" altLang="zh-CN" sz="2400" b="0" i="1">
                        <a:latin typeface="Cambria Math" panose="02040503050406030204" pitchFamily="18" charset="0"/>
                      </a:rPr>
                      <m:t>. </m:t>
                    </m:r>
                    <m:r>
                      <a:rPr lang="en-US" altLang="zh-CN" sz="2400" b="0" i="1">
                        <a:latin typeface="Cambria Math" panose="02040503050406030204" pitchFamily="18" charset="0"/>
                      </a:rPr>
                      <m:t>𝐴</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𝑥</m:t>
                        </m:r>
                      </m:e>
                    </m:acc>
                    <m:r>
                      <a:rPr lang="en-US" altLang="zh-CN" sz="2400" b="0" i="1" smtClean="0">
                        <a:latin typeface="Cambria Math" panose="02040503050406030204" pitchFamily="18" charset="0"/>
                      </a:rPr>
                      <m:t>≥</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𝑏</m:t>
                        </m:r>
                      </m:e>
                    </m:acc>
                    <m:r>
                      <a:rPr lang="en-US" altLang="zh-CN" sz="2400" b="0" i="1" dirty="0">
                        <a:latin typeface="Cambria Math" panose="02040503050406030204" pitchFamily="18" charset="0"/>
                      </a:rPr>
                      <m:t>,</m:t>
                    </m:r>
                    <m:acc>
                      <m:accPr>
                        <m:chr m:val="⃗"/>
                        <m:ctrlPr>
                          <a:rPr lang="en-US" altLang="zh-CN" sz="2400" b="0" i="1" dirty="0">
                            <a:latin typeface="Cambria Math" panose="02040503050406030204" pitchFamily="18" charset="0"/>
                          </a:rPr>
                        </m:ctrlPr>
                      </m:accPr>
                      <m:e>
                        <m:r>
                          <a:rPr lang="en-US" altLang="zh-CN" sz="2400" b="0" i="1" dirty="0">
                            <a:latin typeface="Cambria Math" panose="02040503050406030204" pitchFamily="18" charset="0"/>
                          </a:rPr>
                          <m:t>𝑥</m:t>
                        </m:r>
                      </m:e>
                    </m:acc>
                    <m:r>
                      <a:rPr lang="zh-CN" altLang="en-US" sz="2400" b="0" i="1" dirty="0">
                        <a:latin typeface="Cambria Math" panose="02040503050406030204" pitchFamily="18" charset="0"/>
                      </a:rPr>
                      <m:t>无约束</m:t>
                    </m:r>
                  </m:oMath>
                </a14:m>
                <a:r>
                  <a:rPr lang="en-US" altLang="zh-CN" sz="2400" b="0" dirty="0">
                    <a:latin typeface="Cambria Math" panose="02040503050406030204" pitchFamily="18" charset="0"/>
                  </a:rPr>
                  <a:t>】</a:t>
                </a:r>
                <a:r>
                  <a:rPr lang="zh-CN" altLang="en-US" sz="2400" b="0" dirty="0">
                    <a:latin typeface="Cambria Math" panose="02040503050406030204" pitchFamily="18" charset="0"/>
                  </a:rPr>
                  <a:t> 的对偶问题</a:t>
                </a:r>
                <a:endParaRPr lang="en-US" altLang="zh-CN" sz="2400" b="0" dirty="0">
                  <a:latin typeface="Cambria Math" panose="02040503050406030204" pitchFamily="18" charset="0"/>
                </a:endParaRPr>
              </a:p>
              <a:p>
                <a14:m>
                  <m:oMath xmlns:m="http://schemas.openxmlformats.org/officeDocument/2006/math">
                    <m:func>
                      <m:funcPr>
                        <m:ctrlPr>
                          <a:rPr lang="en-US" altLang="zh-CN" sz="2400" b="0" i="1">
                            <a:latin typeface="Cambria Math" panose="02040503050406030204" pitchFamily="18" charset="0"/>
                          </a:rPr>
                        </m:ctrlPr>
                      </m:funcPr>
                      <m:fName>
                        <m:r>
                          <m:rPr>
                            <m:sty m:val="p"/>
                          </m:rPr>
                          <a:rPr lang="en-US" altLang="zh-CN" sz="2400" b="0">
                            <a:latin typeface="Cambria Math" panose="02040503050406030204" pitchFamily="18" charset="0"/>
                          </a:rPr>
                          <m:t>min</m:t>
                        </m:r>
                      </m:fName>
                      <m:e>
                        <m:r>
                          <a:rPr lang="en-US" altLang="zh-CN" sz="2400" b="0" i="1">
                            <a:latin typeface="Cambria Math" panose="02040503050406030204" pitchFamily="18" charset="0"/>
                          </a:rPr>
                          <m:t>𝑧</m:t>
                        </m:r>
                        <m:r>
                          <a:rPr lang="en-US" altLang="zh-CN" sz="2400" b="0" i="1">
                            <a:latin typeface="Cambria Math" panose="02040503050406030204" pitchFamily="18" charset="0"/>
                          </a:rPr>
                          <m:t>=</m:t>
                        </m:r>
                        <m:sSup>
                          <m:sSupPr>
                            <m:ctrlPr>
                              <a:rPr lang="en-US" altLang="zh-CN" sz="2400" b="0" i="1">
                                <a:latin typeface="Cambria Math" panose="02040503050406030204" pitchFamily="18" charset="0"/>
                              </a:rPr>
                            </m:ctrlPr>
                          </m:sSupPr>
                          <m:e>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𝑐</m:t>
                                </m:r>
                              </m:e>
                            </m:acc>
                          </m:e>
                          <m:sup>
                            <m:r>
                              <a:rPr lang="en-US" altLang="zh-CN" sz="2400" b="0" i="1">
                                <a:latin typeface="Cambria Math" panose="02040503050406030204" pitchFamily="18" charset="0"/>
                              </a:rPr>
                              <m:t>𝑇</m:t>
                            </m:r>
                          </m:sup>
                        </m:sSup>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𝑥</m:t>
                            </m:r>
                          </m:e>
                        </m:acc>
                      </m:e>
                    </m:func>
                    <m:r>
                      <a:rPr lang="en-US" altLang="zh-CN" sz="2400" b="0" i="1">
                        <a:latin typeface="Cambria Math" panose="02040503050406030204" pitchFamily="18" charset="0"/>
                      </a:rPr>
                      <m:t>, </m:t>
                    </m:r>
                    <m:r>
                      <a:rPr lang="en-US" altLang="zh-CN" sz="2400" b="0" i="1">
                        <a:latin typeface="Cambria Math" panose="02040503050406030204" pitchFamily="18" charset="0"/>
                      </a:rPr>
                      <m:t>𝑠</m:t>
                    </m:r>
                    <m:r>
                      <a:rPr lang="en-US" altLang="zh-CN" sz="2400" b="0" i="1">
                        <a:latin typeface="Cambria Math" panose="02040503050406030204" pitchFamily="18" charset="0"/>
                      </a:rPr>
                      <m:t>.</m:t>
                    </m:r>
                    <m:r>
                      <a:rPr lang="en-US" altLang="zh-CN" sz="2400" b="0" i="1">
                        <a:latin typeface="Cambria Math" panose="02040503050406030204" pitchFamily="18" charset="0"/>
                      </a:rPr>
                      <m:t>𝑡</m:t>
                    </m:r>
                    <m:r>
                      <a:rPr lang="en-US" altLang="zh-CN" sz="2400" b="0" i="1">
                        <a:latin typeface="Cambria Math" panose="02040503050406030204" pitchFamily="18" charset="0"/>
                      </a:rPr>
                      <m:t>. </m:t>
                    </m:r>
                    <m:r>
                      <a:rPr lang="en-US" altLang="zh-CN" sz="2400" b="0" i="1">
                        <a:latin typeface="Cambria Math" panose="02040503050406030204" pitchFamily="18" charset="0"/>
                      </a:rPr>
                      <m:t>𝐴</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𝑥</m:t>
                        </m:r>
                      </m:e>
                    </m:acc>
                    <m:r>
                      <a:rPr lang="en-US" altLang="zh-CN" sz="2400" b="0" i="1" smtClean="0">
                        <a:latin typeface="Cambria Math" panose="02040503050406030204" pitchFamily="18" charset="0"/>
                      </a:rPr>
                      <m:t>−</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𝑠</m:t>
                        </m:r>
                      </m:e>
                    </m:acc>
                    <m:r>
                      <a:rPr lang="en-US" altLang="zh-CN" sz="2400" b="0" i="1" smtClean="0">
                        <a:latin typeface="Cambria Math" panose="02040503050406030204" pitchFamily="18" charset="0"/>
                      </a:rPr>
                      <m:t>=</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𝑏</m:t>
                        </m:r>
                      </m:e>
                    </m:acc>
                    <m:r>
                      <a:rPr lang="en-US" altLang="zh-CN" sz="2400" b="0" i="1" dirty="0">
                        <a:latin typeface="Cambria Math" panose="02040503050406030204" pitchFamily="18" charset="0"/>
                      </a:rPr>
                      <m:t>,</m:t>
                    </m:r>
                    <m:r>
                      <a:rPr lang="en-US" altLang="zh-CN" sz="2400" b="0" i="1" dirty="0" smtClean="0">
                        <a:latin typeface="Cambria Math" panose="02040503050406030204" pitchFamily="18" charset="0"/>
                      </a:rPr>
                      <m:t> </m:t>
                    </m:r>
                    <m:acc>
                      <m:accPr>
                        <m:chr m:val="⃗"/>
                        <m:ctrlPr>
                          <a:rPr lang="en-US" altLang="zh-CN" sz="2400" b="0" i="1" dirty="0" smtClean="0">
                            <a:latin typeface="Cambria Math" panose="02040503050406030204" pitchFamily="18" charset="0"/>
                          </a:rPr>
                        </m:ctrlPr>
                      </m:accPr>
                      <m:e>
                        <m:r>
                          <a:rPr lang="en-US" altLang="zh-CN" sz="2400" b="0" i="1" dirty="0" smtClean="0">
                            <a:latin typeface="Cambria Math" panose="02040503050406030204" pitchFamily="18" charset="0"/>
                          </a:rPr>
                          <m:t>𝑠</m:t>
                        </m:r>
                      </m:e>
                    </m:acc>
                    <m:r>
                      <a:rPr lang="en-US" altLang="zh-CN" sz="2400" b="0" i="1" dirty="0">
                        <a:latin typeface="Cambria Math" panose="02040503050406030204" pitchFamily="18" charset="0"/>
                      </a:rPr>
                      <m:t>≥0</m:t>
                    </m:r>
                  </m:oMath>
                </a14:m>
                <a:endParaRPr lang="en-US" altLang="zh-CN" sz="2400" dirty="0"/>
              </a:p>
              <a:p>
                <a14:m>
                  <m:oMath xmlns:m="http://schemas.openxmlformats.org/officeDocument/2006/math">
                    <m:r>
                      <a:rPr lang="en-US" altLang="zh-CN" sz="2400" i="1">
                        <a:latin typeface="Cambria Math" panose="02040503050406030204" pitchFamily="18" charset="0"/>
                      </a:rPr>
                      <m:t>𝑔</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d>
                    <m:r>
                      <a:rPr lang="en-US" altLang="zh-CN" sz="2400" i="1">
                        <a:latin typeface="Cambria Math" panose="02040503050406030204" pitchFamily="18" charset="0"/>
                      </a:rPr>
                      <m:t>=</m:t>
                    </m:r>
                    <m:func>
                      <m:funcPr>
                        <m:ctrlPr>
                          <a:rPr lang="en-US" altLang="zh-CN" sz="2400" i="1">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a:latin typeface="Cambria Math" panose="02040503050406030204" pitchFamily="18" charset="0"/>
                              </a:rPr>
                              <m:t>min</m:t>
                            </m:r>
                          </m:e>
                          <m:lim>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b="1" i="1" smtClean="0">
                                <a:latin typeface="Cambria Math" panose="02040503050406030204" pitchFamily="18" charset="0"/>
                              </a:rPr>
                              <m:t>,</m:t>
                            </m:r>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𝒔</m:t>
                                </m:r>
                              </m:e>
                            </m:acc>
                          </m:lim>
                        </m:limLow>
                      </m:fName>
                      <m:e>
                        <m:sSup>
                          <m:sSupPr>
                            <m:ctrlPr>
                              <a:rPr lang="en-US" altLang="zh-CN" sz="2400" i="1">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𝑐</m:t>
                                </m:r>
                              </m:e>
                            </m:acc>
                          </m:e>
                          <m:sup>
                            <m:r>
                              <a:rPr lang="en-US" altLang="zh-CN" sz="2400" i="1">
                                <a:latin typeface="Cambria Math" panose="02040503050406030204" pitchFamily="18" charset="0"/>
                              </a:rPr>
                              <m:t>𝑇</m:t>
                            </m:r>
                          </m:sup>
                        </m:sSup>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i="1">
                            <a:latin typeface="Cambria Math" panose="02040503050406030204" pitchFamily="18" charset="0"/>
                          </a:rPr>
                          <m:t>+</m:t>
                        </m:r>
                        <m:sSup>
                          <m:sSupPr>
                            <m:ctrlPr>
                              <a:rPr lang="en-US" altLang="zh-CN" sz="2400" i="1" dirty="0">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p>
                            <m:r>
                              <a:rPr lang="en-US" altLang="zh-CN" sz="2400" i="1" dirty="0">
                                <a:latin typeface="Cambria Math" panose="02040503050406030204" pitchFamily="18" charset="0"/>
                              </a:rPr>
                              <m:t>𝑇</m:t>
                            </m:r>
                          </m:sup>
                        </m:sSup>
                        <m:r>
                          <a:rPr lang="en-US" altLang="zh-CN" sz="2400" i="1">
                            <a:latin typeface="Cambria Math" panose="02040503050406030204" pitchFamily="18" charset="0"/>
                          </a:rPr>
                          <m:t>(</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𝑏</m:t>
                            </m:r>
                          </m:e>
                        </m:acc>
                        <m:r>
                          <a:rPr lang="en-US" altLang="zh-CN" sz="2400" b="1" i="1" smtClean="0">
                            <a:latin typeface="Cambria Math" panose="02040503050406030204" pitchFamily="18" charset="0"/>
                          </a:rPr>
                          <m:t>+</m:t>
                        </m:r>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𝒔</m:t>
                            </m:r>
                          </m:e>
                        </m:acc>
                        <m:r>
                          <a:rPr lang="en-US" altLang="zh-CN" sz="2400" i="1">
                            <a:latin typeface="Cambria Math" panose="02040503050406030204" pitchFamily="18" charset="0"/>
                          </a:rPr>
                          <m:t>−</m:t>
                        </m:r>
                        <m:r>
                          <a:rPr lang="en-US" altLang="zh-CN" sz="2400" i="1">
                            <a:latin typeface="Cambria Math" panose="02040503050406030204" pitchFamily="18" charset="0"/>
                          </a:rPr>
                          <m:t>𝐴</m:t>
                        </m:r>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i="1">
                            <a:latin typeface="Cambria Math" panose="02040503050406030204" pitchFamily="18" charset="0"/>
                          </a:rPr>
                          <m:t>)</m:t>
                        </m:r>
                      </m:e>
                    </m:func>
                  </m:oMath>
                </a14:m>
                <a:endParaRPr lang="en-US" altLang="zh-CN" sz="2400" dirty="0"/>
              </a:p>
              <a:p>
                <a14:m>
                  <m:oMath xmlns:m="http://schemas.openxmlformats.org/officeDocument/2006/math">
                    <m:r>
                      <a:rPr lang="en-US" altLang="zh-CN" sz="2400" b="1" i="1" smtClean="0">
                        <a:latin typeface="Cambria Math" panose="02040503050406030204" pitchFamily="18" charset="0"/>
                      </a:rPr>
                      <m:t>=</m:t>
                    </m:r>
                  </m:oMath>
                </a14:m>
                <a:r>
                  <a:rPr lang="en-US" altLang="zh-CN" sz="2400" dirty="0"/>
                  <a:t> </a:t>
                </a:r>
                <a14:m>
                  <m:oMath xmlns:m="http://schemas.openxmlformats.org/officeDocument/2006/math">
                    <m:func>
                      <m:funcPr>
                        <m:ctrlPr>
                          <a:rPr lang="en-US" altLang="zh-CN" sz="2400" i="1">
                            <a:latin typeface="Cambria Math" panose="02040503050406030204" pitchFamily="18" charset="0"/>
                          </a:rPr>
                        </m:ctrlPr>
                      </m:funcPr>
                      <m:fName>
                        <m:limLow>
                          <m:limLowPr>
                            <m:ctrlPr>
                              <a:rPr lang="en-US" altLang="zh-CN" sz="2400" i="1">
                                <a:latin typeface="Cambria Math" panose="02040503050406030204" pitchFamily="18" charset="0"/>
                              </a:rPr>
                            </m:ctrlPr>
                          </m:limLowPr>
                          <m:e>
                            <m:r>
                              <m:rPr>
                                <m:sty m:val="p"/>
                              </m:rPr>
                              <a:rPr lang="en-US" altLang="zh-CN" sz="2400">
                                <a:latin typeface="Cambria Math" panose="02040503050406030204" pitchFamily="18" charset="0"/>
                              </a:rPr>
                              <m:t>min</m:t>
                            </m:r>
                          </m:e>
                          <m:lim>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lim>
                        </m:limLow>
                      </m:fName>
                      <m:e>
                        <m:d>
                          <m:dPr>
                            <m:ctrlPr>
                              <a:rPr lang="en-US" altLang="zh-CN" sz="2400" b="0" i="1">
                                <a:latin typeface="Cambria Math" panose="02040503050406030204" pitchFamily="18" charset="0"/>
                              </a:rPr>
                            </m:ctrlPr>
                          </m:dPr>
                          <m:e>
                            <m:sSup>
                              <m:sSupPr>
                                <m:ctrlPr>
                                  <a:rPr lang="en-US" altLang="zh-CN" sz="2400" i="1">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𝑐</m:t>
                                    </m:r>
                                  </m:e>
                                </m:acc>
                              </m:e>
                              <m:sup>
                                <m:r>
                                  <a:rPr lang="en-US" altLang="zh-CN" sz="2400" i="1">
                                    <a:latin typeface="Cambria Math" panose="02040503050406030204" pitchFamily="18" charset="0"/>
                                  </a:rPr>
                                  <m:t>𝑇</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𝐴</m:t>
                            </m:r>
                          </m:e>
                        </m:d>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𝑥</m:t>
                            </m:r>
                          </m:e>
                        </m:acc>
                        <m:r>
                          <a:rPr lang="en-US" altLang="zh-CN" sz="2400" i="1">
                            <a:latin typeface="Cambria Math" panose="02040503050406030204" pitchFamily="18" charset="0"/>
                          </a:rPr>
                          <m:t>+</m:t>
                        </m:r>
                        <m:sSup>
                          <m:sSupPr>
                            <m:ctrlPr>
                              <a:rPr lang="en-US" altLang="zh-CN" sz="2400" i="1" dirty="0">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p>
                            <m:r>
                              <a:rPr lang="en-US" altLang="zh-CN" sz="2400" i="1" dirty="0">
                                <a:latin typeface="Cambria Math" panose="02040503050406030204" pitchFamily="18" charset="0"/>
                              </a:rPr>
                              <m:t>𝑇</m:t>
                            </m:r>
                          </m:sup>
                        </m:sSup>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𝑏</m:t>
                            </m:r>
                          </m:e>
                        </m:acc>
                      </m:e>
                    </m:func>
                    <m:r>
                      <a:rPr lang="en-US" altLang="zh-CN" sz="2400" b="1" i="1" smtClean="0">
                        <a:latin typeface="Cambria Math" panose="02040503050406030204" pitchFamily="18" charset="0"/>
                      </a:rPr>
                      <m:t>+</m:t>
                    </m:r>
                    <m:sSup>
                      <m:sSupPr>
                        <m:ctrlPr>
                          <a:rPr lang="en-US" altLang="zh-CN" sz="2400" i="1" dirty="0">
                            <a:latin typeface="Cambria Math" panose="02040503050406030204" pitchFamily="18" charset="0"/>
                          </a:rPr>
                        </m:ctrlPr>
                      </m:sSup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sup>
                        <m:r>
                          <a:rPr lang="en-US" altLang="zh-CN" sz="2400" i="1" dirty="0">
                            <a:latin typeface="Cambria Math" panose="02040503050406030204" pitchFamily="18" charset="0"/>
                          </a:rPr>
                          <m:t>𝑇</m:t>
                        </m:r>
                      </m:sup>
                    </m:sSup>
                  </m:oMath>
                </a14:m>
                <a:r>
                  <a:rPr lang="en-US" altLang="zh-CN" sz="2400" dirty="0"/>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𝒔</m:t>
                        </m:r>
                      </m:e>
                    </m:acc>
                  </m:oMath>
                </a14:m>
                <a:endParaRPr lang="en-US" altLang="zh-CN" sz="2400" dirty="0"/>
              </a:p>
              <a:p>
                <a:pPr lvl="1"/>
                <a:r>
                  <a:rPr lang="zh-CN" altLang="en-US" sz="2000" dirty="0"/>
                  <a:t>若</a:t>
                </a:r>
                <a14:m>
                  <m:oMath xmlns:m="http://schemas.openxmlformats.org/officeDocument/2006/math">
                    <m:d>
                      <m:dPr>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a:latin typeface="Cambria Math" panose="02040503050406030204" pitchFamily="18" charset="0"/>
                              </a:rPr>
                              <m:t>𝑇</m:t>
                            </m:r>
                          </m:sup>
                        </m:sSup>
                        <m:r>
                          <a:rPr lang="en-US" altLang="zh-CN" sz="2000" i="1">
                            <a:latin typeface="Cambria Math" panose="02040503050406030204" pitchFamily="18" charset="0"/>
                          </a:rPr>
                          <m:t>𝐴</m:t>
                        </m:r>
                      </m:e>
                    </m:d>
                  </m:oMath>
                </a14:m>
                <a:r>
                  <a:rPr lang="zh-CN" altLang="en-US" sz="2000" dirty="0"/>
                  <a:t>中存在</a:t>
                </a:r>
                <a:r>
                  <a:rPr lang="zh-CN" altLang="en-US" sz="2000" dirty="0">
                    <a:highlight>
                      <a:srgbClr val="FFFF00"/>
                    </a:highlight>
                  </a:rPr>
                  <a:t>不等于</a:t>
                </a:r>
                <a:r>
                  <a:rPr lang="zh-CN" altLang="en-US" sz="2000" dirty="0"/>
                  <a:t>零的元素，只要让</a:t>
                </a:r>
                <a14:m>
                  <m:oMath xmlns:m="http://schemas.openxmlformats.org/officeDocument/2006/math">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𝑥</m:t>
                        </m:r>
                      </m:e>
                    </m:acc>
                    <m:r>
                      <a:rPr lang="en-US" altLang="zh-CN" sz="2000" i="1" dirty="0">
                        <a:latin typeface="Cambria Math" panose="02040503050406030204" pitchFamily="18" charset="0"/>
                      </a:rPr>
                      <m:t> </m:t>
                    </m:r>
                    <m:r>
                      <a:rPr lang="zh-CN" altLang="en-US" sz="2000" i="1" dirty="0">
                        <a:latin typeface="Cambria Math" panose="02040503050406030204" pitchFamily="18" charset="0"/>
                      </a:rPr>
                      <m:t>相应</m:t>
                    </m:r>
                  </m:oMath>
                </a14:m>
                <a:r>
                  <a:rPr lang="zh-CN" altLang="en-US" sz="2000" dirty="0"/>
                  <a:t>的元素取正无穷大或负无穷大，别的元素取</a:t>
                </a:r>
                <a:r>
                  <a:rPr lang="en-US" altLang="zh-CN" sz="2000" dirty="0"/>
                  <a:t>0</a:t>
                </a:r>
                <a:r>
                  <a:rPr lang="zh-CN" altLang="en-US" sz="2000" dirty="0"/>
                  <a:t>，那么</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oMath>
                </a14:m>
                <a:r>
                  <a:rPr lang="zh-CN" altLang="en-US" sz="2000" dirty="0"/>
                  <a:t>可取负无穷大</a:t>
                </a:r>
                <a:endParaRPr lang="en-US" altLang="zh-CN" sz="2000" dirty="0"/>
              </a:p>
              <a:p>
                <a:pPr lvl="1"/>
                <a:r>
                  <a:rPr lang="zh-CN" altLang="en-US" sz="2000" dirty="0"/>
                  <a:t>若</a:t>
                </a:r>
                <a14:m>
                  <m:oMath xmlns:m="http://schemas.openxmlformats.org/officeDocument/2006/math">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oMath>
                </a14:m>
                <a:r>
                  <a:rPr lang="zh-CN" altLang="en-US" sz="2000" dirty="0"/>
                  <a:t>中存在小于零的元素，只要让</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𝒔</m:t>
                        </m:r>
                      </m:e>
                    </m:acc>
                    <m:r>
                      <a:rPr lang="zh-CN" altLang="en-US" sz="2000" i="1" dirty="0">
                        <a:latin typeface="Cambria Math" panose="02040503050406030204" pitchFamily="18" charset="0"/>
                      </a:rPr>
                      <m:t>相应</m:t>
                    </m:r>
                  </m:oMath>
                </a14:m>
                <a:r>
                  <a:rPr lang="zh-CN" altLang="en-US" sz="2000" dirty="0"/>
                  <a:t>的元素取正无穷大，别的元素取</a:t>
                </a:r>
                <a:r>
                  <a:rPr lang="en-US" altLang="zh-CN" sz="2000" dirty="0"/>
                  <a:t>0</a:t>
                </a:r>
                <a:r>
                  <a:rPr lang="zh-CN" altLang="en-US" sz="2000" dirty="0"/>
                  <a:t>，那么</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oMath>
                </a14:m>
                <a:r>
                  <a:rPr lang="zh-CN" altLang="en-US" sz="2000" dirty="0"/>
                  <a:t>可取负无穷大</a:t>
                </a:r>
                <a:endParaRPr lang="en-US" altLang="zh-CN" sz="2000" dirty="0"/>
              </a:p>
              <a:p>
                <a:pPr lvl="1"/>
                <a:r>
                  <a:rPr lang="zh-CN" altLang="en-US" sz="2000" dirty="0"/>
                  <a:t>若</a:t>
                </a:r>
                <a14:m>
                  <m:oMath xmlns:m="http://schemas.openxmlformats.org/officeDocument/2006/math">
                    <m:d>
                      <m:dPr>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𝑐</m:t>
                                </m:r>
                              </m:e>
                            </m:acc>
                          </m:e>
                          <m:sup>
                            <m:r>
                              <a:rPr lang="en-US" altLang="zh-CN" sz="2000" i="1">
                                <a:latin typeface="Cambria Math" panose="02040503050406030204" pitchFamily="18" charset="0"/>
                              </a:rPr>
                              <m:t>𝑇</m:t>
                            </m:r>
                          </m:sup>
                        </m:sSup>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a:latin typeface="Cambria Math" panose="02040503050406030204" pitchFamily="18" charset="0"/>
                              </a:rPr>
                              <m:t>𝑇</m:t>
                            </m:r>
                          </m:sup>
                        </m:sSup>
                        <m:r>
                          <a:rPr lang="en-US" altLang="zh-CN" sz="2000" i="1">
                            <a:latin typeface="Cambria Math" panose="02040503050406030204" pitchFamily="18" charset="0"/>
                          </a:rPr>
                          <m:t>𝐴</m:t>
                        </m:r>
                      </m:e>
                    </m:d>
                    <m:r>
                      <a:rPr lang="zh-CN" altLang="en-US" sz="2000" i="1">
                        <a:latin typeface="Cambria Math" panose="02040503050406030204" pitchFamily="18" charset="0"/>
                      </a:rPr>
                      <m:t>全部等于</m:t>
                    </m:r>
                    <m:r>
                      <a:rPr lang="en-US" altLang="zh-CN" sz="2000" b="0" i="1" smtClean="0">
                        <a:latin typeface="Cambria Math" panose="02040503050406030204" pitchFamily="18" charset="0"/>
                      </a:rPr>
                      <m:t>0</m:t>
                    </m:r>
                    <m:r>
                      <a:rPr lang="zh-CN" altLang="en-US" sz="2000" i="1">
                        <a:latin typeface="Cambria Math" panose="02040503050406030204" pitchFamily="18" charset="0"/>
                      </a:rPr>
                      <m:t>，及</m:t>
                    </m:r>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oMath>
                </a14:m>
                <a:r>
                  <a:rPr lang="zh-CN" altLang="en-US" sz="2000" dirty="0"/>
                  <a:t>中元素全部大于等于</a:t>
                </a:r>
                <a:r>
                  <a:rPr lang="en-US" altLang="zh-CN" sz="2000" dirty="0"/>
                  <a:t>0</a:t>
                </a:r>
                <a:r>
                  <a:rPr lang="zh-CN" altLang="en-US" sz="2000" dirty="0"/>
                  <a:t>，</a:t>
                </a:r>
                <a:r>
                  <a:rPr lang="en-US" altLang="zh-CN" sz="2000" dirty="0"/>
                  <a:t> </a:t>
                </a:r>
                <a14:m>
                  <m:oMath xmlns:m="http://schemas.openxmlformats.org/officeDocument/2006/math">
                    <m:r>
                      <a:rPr lang="en-US" altLang="zh-CN" sz="2000" i="1">
                        <a:latin typeface="Cambria Math" panose="02040503050406030204" pitchFamily="18" charset="0"/>
                      </a:rPr>
                      <m:t>𝑔</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d>
                  </m:oMath>
                </a14:m>
                <a:r>
                  <a:rPr lang="zh-CN" altLang="en-US" sz="2000" dirty="0"/>
                  <a:t>的值就是</a:t>
                </a:r>
                <a14:m>
                  <m:oMath xmlns:m="http://schemas.openxmlformats.org/officeDocument/2006/math">
                    <m:sSup>
                      <m:sSupPr>
                        <m:ctrlPr>
                          <a:rPr lang="en-US" altLang="zh-CN" sz="2000" i="1" dirty="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𝑝</m:t>
                            </m:r>
                          </m:e>
                        </m:acc>
                      </m:e>
                      <m:sup>
                        <m:r>
                          <a:rPr lang="en-US" altLang="zh-CN" sz="2000" i="1" dirty="0">
                            <a:latin typeface="Cambria Math" panose="02040503050406030204" pitchFamily="18" charset="0"/>
                          </a:rPr>
                          <m:t>𝑇</m:t>
                        </m:r>
                      </m:sup>
                    </m:sSup>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𝑏</m:t>
                        </m:r>
                      </m:e>
                    </m:acc>
                  </m:oMath>
                </a14:m>
                <a:r>
                  <a:rPr lang="zh-CN" altLang="en-US" sz="2000" dirty="0"/>
                  <a:t>，此时</a:t>
                </a:r>
                <a14:m>
                  <m:oMath xmlns:m="http://schemas.openxmlformats.org/officeDocument/2006/math">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𝑥</m:t>
                        </m:r>
                      </m:e>
                    </m:acc>
                    <m:r>
                      <a:rPr lang="en-US" altLang="zh-CN" sz="2000" i="1" dirty="0">
                        <a:latin typeface="Cambria Math" panose="02040503050406030204" pitchFamily="18" charset="0"/>
                      </a:rPr>
                      <m:t> </m:t>
                    </m:r>
                  </m:oMath>
                </a14:m>
                <a:r>
                  <a:rPr lang="zh-CN" altLang="en-US" sz="2000" dirty="0"/>
                  <a:t>、</a:t>
                </a:r>
                <a14:m>
                  <m:oMath xmlns:m="http://schemas.openxmlformats.org/officeDocument/2006/math">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𝒔</m:t>
                        </m:r>
                      </m:e>
                    </m:acc>
                  </m:oMath>
                </a14:m>
                <a:r>
                  <a:rPr lang="zh-CN" altLang="en-US" sz="2000" dirty="0"/>
                  <a:t>为零向量</a:t>
                </a:r>
                <a:endParaRPr lang="en-US" altLang="zh-CN" sz="2000" dirty="0"/>
              </a:p>
              <a:p>
                <a14:m>
                  <m:oMath xmlns:m="http://schemas.openxmlformats.org/officeDocument/2006/math">
                    <m:r>
                      <a:rPr lang="en-US" altLang="zh-CN" sz="2400" i="1">
                        <a:latin typeface="Cambria Math" panose="02040503050406030204" pitchFamily="18" charset="0"/>
                      </a:rPr>
                      <m:t>𝑔</m:t>
                    </m:r>
                    <m:d>
                      <m:dPr>
                        <m:ctrlPr>
                          <a:rPr lang="en-US" altLang="zh-CN" sz="2400" i="1">
                            <a:latin typeface="Cambria Math" panose="02040503050406030204" pitchFamily="18" charset="0"/>
                          </a:rPr>
                        </m:ctrlPr>
                      </m:d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𝑝</m:t>
                            </m:r>
                          </m:e>
                        </m:acc>
                      </m:e>
                    </m:d>
                  </m:oMath>
                </a14:m>
                <a:r>
                  <a:rPr lang="zh-CN" altLang="en-US" sz="2400" dirty="0"/>
                  <a:t>有明确取值 要求</a:t>
                </a:r>
                <a14:m>
                  <m:oMath xmlns:m="http://schemas.openxmlformats.org/officeDocument/2006/math">
                    <m:sSup>
                      <m:sSupPr>
                        <m:ctrlPr>
                          <a:rPr lang="en-US" altLang="zh-CN" sz="2400" b="0" i="1">
                            <a:latin typeface="Cambria Math" panose="02040503050406030204" pitchFamily="18" charset="0"/>
                          </a:rPr>
                        </m:ctrlPr>
                      </m:sSupPr>
                      <m:e>
                        <m:r>
                          <a:rPr lang="en-US" altLang="zh-CN" sz="2400" i="1">
                            <a:latin typeface="Cambria Math" panose="02040503050406030204" pitchFamily="18" charset="0"/>
                          </a:rPr>
                          <m:t>𝐴</m:t>
                        </m:r>
                      </m:e>
                      <m:sup>
                        <m:r>
                          <m:rPr>
                            <m:sty m:val="p"/>
                          </m:rPr>
                          <a:rPr lang="en-US" altLang="zh-CN" sz="2400" b="0">
                            <a:latin typeface="Cambria Math" panose="02040503050406030204" pitchFamily="18" charset="0"/>
                          </a:rPr>
                          <m:t>T</m:t>
                        </m:r>
                      </m:sup>
                    </m:sSup>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𝑝</m:t>
                        </m:r>
                      </m:e>
                    </m:acc>
                    <m:r>
                      <a:rPr lang="en-US" altLang="zh-CN" sz="2400" b="0" i="1" smtClean="0">
                        <a:latin typeface="Cambria Math" panose="02040503050406030204" pitchFamily="18" charset="0"/>
                      </a:rPr>
                      <m:t>=</m:t>
                    </m:r>
                    <m:acc>
                      <m:accPr>
                        <m:chr m:val="⃗"/>
                        <m:ctrlPr>
                          <a:rPr lang="en-US" altLang="zh-CN" sz="2400" b="0" i="1">
                            <a:latin typeface="Cambria Math" panose="02040503050406030204" pitchFamily="18" charset="0"/>
                          </a:rPr>
                        </m:ctrlPr>
                      </m:accPr>
                      <m:e>
                        <m:r>
                          <a:rPr lang="en-US" altLang="zh-CN" sz="2400" b="0" i="1">
                            <a:latin typeface="Cambria Math" panose="02040503050406030204" pitchFamily="18" charset="0"/>
                          </a:rPr>
                          <m:t>𝑐</m:t>
                        </m:r>
                      </m:e>
                    </m:acc>
                  </m:oMath>
                </a14:m>
                <a:r>
                  <a:rPr lang="en-US" altLang="zh-CN" sz="2400" dirty="0"/>
                  <a:t> </a:t>
                </a:r>
                <a:r>
                  <a:rPr lang="zh-CN" altLang="en-US" sz="2400" dirty="0"/>
                  <a:t>且 </a:t>
                </a:r>
                <a14:m>
                  <m:oMath xmlns:m="http://schemas.openxmlformats.org/officeDocument/2006/math">
                    <m:acc>
                      <m:accPr>
                        <m:chr m:val="⃗"/>
                        <m:ctrlPr>
                          <a:rPr lang="en-US" altLang="zh-CN" sz="2400" b="1" i="1" smtClean="0">
                            <a:latin typeface="Cambria Math" panose="02040503050406030204" pitchFamily="18" charset="0"/>
                          </a:rPr>
                        </m:ctrlPr>
                      </m:accPr>
                      <m:e>
                        <m:r>
                          <a:rPr lang="en-US" altLang="zh-CN" sz="2400" b="1" i="1" smtClean="0">
                            <a:latin typeface="Cambria Math" panose="02040503050406030204" pitchFamily="18" charset="0"/>
                          </a:rPr>
                          <m:t>𝒑</m:t>
                        </m:r>
                      </m:e>
                    </m:acc>
                    <m:r>
                      <a:rPr lang="en-US" altLang="zh-CN" sz="2400" b="0" i="1" smtClean="0">
                        <a:latin typeface="Cambria Math" panose="02040503050406030204" pitchFamily="18" charset="0"/>
                      </a:rPr>
                      <m:t>≥0</m:t>
                    </m:r>
                  </m:oMath>
                </a14:m>
                <a:endParaRPr lang="en-US" altLang="zh-CN" sz="2400" dirty="0"/>
              </a:p>
              <a:p>
                <a:endParaRPr lang="zh-CN" altLang="en-US" sz="2400" dirty="0"/>
              </a:p>
            </p:txBody>
          </p:sp>
        </mc:Choice>
        <mc:Fallback xmlns="">
          <p:sp>
            <p:nvSpPr>
              <p:cNvPr id="4" name="内容占位符 2">
                <a:extLst>
                  <a:ext uri="{FF2B5EF4-FFF2-40B4-BE49-F238E27FC236}">
                    <a16:creationId xmlns:a16="http://schemas.microsoft.com/office/drawing/2014/main" id="{10CAC969-E423-4DD3-9AFA-ADA80CF92932}"/>
                  </a:ext>
                </a:extLst>
              </p:cNvPr>
              <p:cNvSpPr>
                <a:spLocks noGrp="1" noRot="1" noChangeAspect="1" noMove="1" noResize="1" noEditPoints="1" noAdjustHandles="1" noChangeArrowheads="1" noChangeShapeType="1" noTextEdit="1"/>
              </p:cNvSpPr>
              <p:nvPr>
                <p:ph idx="1"/>
              </p:nvPr>
            </p:nvSpPr>
            <p:spPr>
              <a:xfrm>
                <a:off x="457200" y="990600"/>
                <a:ext cx="8229600" cy="5105400"/>
              </a:xfrm>
              <a:blipFill>
                <a:blip r:embed="rId2"/>
                <a:stretch>
                  <a:fillRect l="-296" t="-2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6889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EEFCA-5C7C-4D9B-8C6B-641BEFC8A200}"/>
              </a:ext>
            </a:extLst>
          </p:cNvPr>
          <p:cNvSpPr>
            <a:spLocks noGrp="1"/>
          </p:cNvSpPr>
          <p:nvPr>
            <p:ph type="title"/>
          </p:nvPr>
        </p:nvSpPr>
        <p:spPr/>
        <p:txBody>
          <a:bodyPr/>
          <a:lstStyle/>
          <a:p>
            <a:r>
              <a:rPr lang="zh-CN" altLang="en-US" dirty="0"/>
              <a:t>对偶问题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5967605-DB2C-4163-889A-4A60DBC351BF}"/>
                  </a:ext>
                </a:extLst>
              </p:cNvPr>
              <p:cNvSpPr>
                <a:spLocks noGrp="1"/>
              </p:cNvSpPr>
              <p:nvPr>
                <p:ph idx="1"/>
              </p:nvPr>
            </p:nvSpPr>
            <p:spPr/>
            <p:txBody>
              <a:bodyPr/>
              <a:lstStyle/>
              <a:p>
                <a14:m>
                  <m:oMath xmlns:m="http://schemas.openxmlformats.org/officeDocument/2006/math">
                    <m:func>
                      <m:funcPr>
                        <m:ctrlPr>
                          <a:rPr lang="en-US" altLang="zh-CN" b="0" i="1" smtClean="0">
                            <a:latin typeface="Cambria Math" panose="02040503050406030204" pitchFamily="18" charset="0"/>
                          </a:rPr>
                        </m:ctrlPr>
                      </m:funcPr>
                      <m:fName>
                        <m:r>
                          <m:rPr>
                            <m:sty m:val="p"/>
                          </m:rPr>
                          <a:rPr lang="en-US" altLang="zh-CN" b="0">
                            <a:latin typeface="Cambria Math" panose="02040503050406030204" pitchFamily="18" charset="0"/>
                          </a:rPr>
                          <m:t>min</m:t>
                        </m:r>
                      </m:fName>
                      <m:e>
                        <m:r>
                          <a:rPr lang="en-US" altLang="zh-CN" b="0" i="1">
                            <a:latin typeface="Cambria Math" panose="02040503050406030204" pitchFamily="18" charset="0"/>
                          </a:rPr>
                          <m:t>𝑧</m:t>
                        </m:r>
                        <m:r>
                          <a:rPr lang="en-US" altLang="zh-CN" b="0" i="1">
                            <a:latin typeface="Cambria Math" panose="02040503050406030204" pitchFamily="18" charset="0"/>
                          </a:rPr>
                          <m:t>=</m:t>
                        </m:r>
                        <m:sSup>
                          <m:sSupPr>
                            <m:ctrlPr>
                              <a:rPr lang="en-US" altLang="zh-CN" b="0" i="1">
                                <a:latin typeface="Cambria Math" panose="02040503050406030204" pitchFamily="18" charset="0"/>
                              </a:rPr>
                            </m:ctrlPr>
                          </m:sSupPr>
                          <m:e>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𝑐</m:t>
                                </m:r>
                              </m:e>
                            </m:acc>
                          </m:e>
                          <m:sup>
                            <m:r>
                              <a:rPr lang="en-US" altLang="zh-CN" b="0" i="1">
                                <a:latin typeface="Cambria Math" panose="02040503050406030204" pitchFamily="18" charset="0"/>
                              </a:rPr>
                              <m:t>𝑇</m:t>
                            </m:r>
                          </m:sup>
                        </m:sSup>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𝑥</m:t>
                            </m:r>
                          </m:e>
                        </m:acc>
                      </m:e>
                    </m:func>
                    <m:r>
                      <a:rPr lang="en-US" altLang="zh-CN" b="0" i="1">
                        <a:latin typeface="Cambria Math" panose="02040503050406030204" pitchFamily="18" charset="0"/>
                      </a:rPr>
                      <m:t>, </m:t>
                    </m:r>
                    <m:r>
                      <a:rPr lang="en-US" altLang="zh-CN" b="0" i="1">
                        <a:latin typeface="Cambria Math" panose="02040503050406030204" pitchFamily="18" charset="0"/>
                      </a:rPr>
                      <m:t>𝑠</m:t>
                    </m:r>
                    <m:r>
                      <a:rPr lang="en-US" altLang="zh-CN" b="0" i="1">
                        <a:latin typeface="Cambria Math" panose="02040503050406030204" pitchFamily="18" charset="0"/>
                      </a:rPr>
                      <m:t>.</m:t>
                    </m:r>
                    <m:r>
                      <a:rPr lang="en-US" altLang="zh-CN" b="0" i="1">
                        <a:latin typeface="Cambria Math" panose="02040503050406030204" pitchFamily="18" charset="0"/>
                      </a:rPr>
                      <m:t>𝑡</m:t>
                    </m:r>
                    <m:r>
                      <a:rPr lang="en-US" altLang="zh-CN" b="0" i="1">
                        <a:latin typeface="Cambria Math" panose="02040503050406030204" pitchFamily="18" charset="0"/>
                      </a:rPr>
                      <m:t>. </m:t>
                    </m:r>
                    <m:r>
                      <a:rPr lang="en-US" altLang="zh-CN" b="0" i="1">
                        <a:latin typeface="Cambria Math" panose="02040503050406030204" pitchFamily="18" charset="0"/>
                      </a:rPr>
                      <m:t>𝐴</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𝑥</m:t>
                        </m:r>
                      </m:e>
                    </m:acc>
                    <m:r>
                      <a:rPr lang="en-US" altLang="zh-CN" b="0" i="1">
                        <a:latin typeface="Cambria Math" panose="02040503050406030204" pitchFamily="18" charset="0"/>
                      </a:rPr>
                      <m:t>≥</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𝑏</m:t>
                        </m:r>
                      </m:e>
                    </m:acc>
                    <m:r>
                      <a:rPr lang="en-US" altLang="zh-CN" b="0" i="1" dirty="0">
                        <a:latin typeface="Cambria Math" panose="02040503050406030204" pitchFamily="18" charset="0"/>
                      </a:rPr>
                      <m:t>,</m:t>
                    </m:r>
                    <m:acc>
                      <m:accPr>
                        <m:chr m:val="⃗"/>
                        <m:ctrlPr>
                          <a:rPr lang="en-US" altLang="zh-CN" b="0" i="1" dirty="0">
                            <a:latin typeface="Cambria Math" panose="02040503050406030204" pitchFamily="18" charset="0"/>
                          </a:rPr>
                        </m:ctrlPr>
                      </m:accPr>
                      <m:e>
                        <m:r>
                          <a:rPr lang="en-US" altLang="zh-CN" b="0" i="1" dirty="0">
                            <a:latin typeface="Cambria Math" panose="02040503050406030204" pitchFamily="18" charset="0"/>
                          </a:rPr>
                          <m:t>𝑥</m:t>
                        </m:r>
                      </m:e>
                    </m:acc>
                    <m:r>
                      <a:rPr lang="zh-CN" altLang="en-US" b="0" i="1" dirty="0">
                        <a:latin typeface="Cambria Math" panose="02040503050406030204" pitchFamily="18" charset="0"/>
                      </a:rPr>
                      <m:t>无</m:t>
                    </m:r>
                  </m:oMath>
                </a14:m>
                <a:r>
                  <a:rPr lang="zh-CN" altLang="en-US" dirty="0"/>
                  <a:t>约束</a:t>
                </a:r>
                <a:endParaRPr lang="en-US" altLang="zh-CN" dirty="0"/>
              </a:p>
              <a:p>
                <a:r>
                  <a:rPr lang="zh-CN" altLang="en-US" dirty="0"/>
                  <a:t>对偶问题：</a:t>
                </a:r>
                <a:endParaRPr lang="en-US" altLang="zh-CN" dirty="0"/>
              </a:p>
              <a:p>
                <a14:m>
                  <m:oMath xmlns:m="http://schemas.openxmlformats.org/officeDocument/2006/math">
                    <m:r>
                      <a:rPr lang="en-US" altLang="zh-CN" i="1">
                        <a:latin typeface="Cambria Math" panose="02040503050406030204" pitchFamily="18" charset="0"/>
                      </a:rPr>
                      <m:t>𝒎𝒂</m:t>
                    </m:r>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𝒑</m:t>
                            </m:r>
                          </m:e>
                        </m:acc>
                      </m:sub>
                    </m:sSub>
                    <m:r>
                      <a:rPr lang="en-US" altLang="zh-CN" i="1">
                        <a:latin typeface="Cambria Math" panose="02040503050406030204" pitchFamily="18" charset="0"/>
                      </a:rPr>
                      <m:t> </m:t>
                    </m:r>
                    <m:r>
                      <a:rPr lang="en-US" altLang="zh-CN" i="1">
                        <a:latin typeface="Cambria Math" panose="02040503050406030204" pitchFamily="18" charset="0"/>
                      </a:rPr>
                      <m:t>𝑔</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d>
                    <m:r>
                      <a:rPr lang="en-US" altLang="zh-CN" b="1" i="1" smtClean="0">
                        <a:latin typeface="Cambria Math" panose="02040503050406030204" pitchFamily="18" charset="0"/>
                      </a:rPr>
                      <m:t>=</m:t>
                    </m:r>
                  </m:oMath>
                </a14:m>
                <a:r>
                  <a:rPr lang="en-US" altLang="zh-CN" dirty="0"/>
                  <a:t> </a:t>
                </a:r>
                <a14:m>
                  <m:oMath xmlns:m="http://schemas.openxmlformats.org/officeDocument/2006/math">
                    <m:sSup>
                      <m:sSupPr>
                        <m:ctrlPr>
                          <a:rPr lang="en-US" altLang="zh-CN" i="1" dirty="0">
                            <a:latin typeface="Cambria Math" panose="02040503050406030204" pitchFamily="18" charset="0"/>
                          </a:rPr>
                        </m:ctrlPr>
                      </m:s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p>
                        <m:r>
                          <a:rPr lang="en-US" altLang="zh-CN" i="1" dirty="0">
                            <a:latin typeface="Cambria Math" panose="02040503050406030204" pitchFamily="18" charset="0"/>
                          </a:rPr>
                          <m:t>𝑇</m:t>
                        </m:r>
                      </m:sup>
                    </m:sSup>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𝑏</m:t>
                        </m:r>
                      </m:e>
                    </m:acc>
                  </m:oMath>
                </a14:m>
                <a:r>
                  <a:rPr lang="zh-CN" altLang="en-US" dirty="0"/>
                  <a:t>，</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𝒑</m:t>
                        </m:r>
                      </m:e>
                    </m:acc>
                    <m:r>
                      <a:rPr lang="en-US" altLang="zh-CN" b="0" i="1">
                        <a:latin typeface="Cambria Math" panose="02040503050406030204" pitchFamily="18" charset="0"/>
                      </a:rPr>
                      <m:t>≥0</m:t>
                    </m:r>
                    <m:r>
                      <a:rPr lang="zh-CN" altLang="en-US" b="0" i="1">
                        <a:latin typeface="Cambria Math" panose="02040503050406030204" pitchFamily="18" charset="0"/>
                      </a:rPr>
                      <m:t>，</m:t>
                    </m:r>
                  </m:oMath>
                </a14:m>
                <a:r>
                  <a:rPr lang="en-US" altLang="zh-CN" b="0" dirty="0"/>
                  <a:t> </a:t>
                </a:r>
                <a14:m>
                  <m:oMath xmlns:m="http://schemas.openxmlformats.org/officeDocument/2006/math">
                    <m:sSup>
                      <m:sSupPr>
                        <m:ctrlPr>
                          <a:rPr lang="en-US" altLang="zh-CN" b="0" i="1">
                            <a:latin typeface="Cambria Math" panose="02040503050406030204" pitchFamily="18" charset="0"/>
                          </a:rPr>
                        </m:ctrlPr>
                      </m:sSupPr>
                      <m:e>
                        <m:r>
                          <a:rPr lang="en-US" altLang="zh-CN" i="1">
                            <a:latin typeface="Cambria Math" panose="02040503050406030204" pitchFamily="18" charset="0"/>
                          </a:rPr>
                          <m:t>𝐴</m:t>
                        </m:r>
                      </m:e>
                      <m:sup>
                        <m:r>
                          <m:rPr>
                            <m:sty m:val="p"/>
                          </m:rPr>
                          <a:rPr lang="en-US" altLang="zh-CN" b="0">
                            <a:latin typeface="Cambria Math" panose="02040503050406030204" pitchFamily="18" charset="0"/>
                          </a:rPr>
                          <m:t>T</m:t>
                        </m:r>
                      </m:sup>
                    </m:sSup>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𝑝</m:t>
                        </m:r>
                      </m:e>
                    </m:acc>
                    <m:r>
                      <a:rPr lang="en-US" altLang="zh-CN" b="0" i="1" smtClean="0">
                        <a:latin typeface="Cambria Math" panose="02040503050406030204" pitchFamily="18" charset="0"/>
                      </a:rPr>
                      <m:t>=</m:t>
                    </m:r>
                    <m:acc>
                      <m:accPr>
                        <m:chr m:val="⃗"/>
                        <m:ctrlPr>
                          <a:rPr lang="en-US" altLang="zh-CN" b="0" i="1">
                            <a:latin typeface="Cambria Math" panose="02040503050406030204" pitchFamily="18" charset="0"/>
                          </a:rPr>
                        </m:ctrlPr>
                      </m:accPr>
                      <m:e>
                        <m:r>
                          <a:rPr lang="en-US" altLang="zh-CN" b="0" i="1">
                            <a:latin typeface="Cambria Math" panose="02040503050406030204" pitchFamily="18" charset="0"/>
                          </a:rPr>
                          <m:t>𝑐</m:t>
                        </m:r>
                      </m:e>
                    </m:acc>
                  </m:oMath>
                </a14:m>
                <a:endParaRPr lang="zh-CN" altLang="en-US" dirty="0"/>
              </a:p>
            </p:txBody>
          </p:sp>
        </mc:Choice>
        <mc:Fallback xmlns="">
          <p:sp>
            <p:nvSpPr>
              <p:cNvPr id="3" name="内容占位符 2">
                <a:extLst>
                  <a:ext uri="{FF2B5EF4-FFF2-40B4-BE49-F238E27FC236}">
                    <a16:creationId xmlns:a16="http://schemas.microsoft.com/office/drawing/2014/main" id="{45967605-DB2C-4163-889A-4A60DBC351BF}"/>
                  </a:ext>
                </a:extLst>
              </p:cNvPr>
              <p:cNvSpPr>
                <a:spLocks noGrp="1" noRot="1" noChangeAspect="1" noMove="1" noResize="1" noEditPoints="1" noAdjustHandles="1" noChangeArrowheads="1" noChangeShapeType="1" noTextEdit="1"/>
              </p:cNvSpPr>
              <p:nvPr>
                <p:ph idx="1"/>
              </p:nvPr>
            </p:nvSpPr>
            <p:spPr>
              <a:blipFill>
                <a:blip r:embed="rId2"/>
                <a:stretch>
                  <a:fillRect l="-444" t="-538"/>
                </a:stretch>
              </a:blipFill>
            </p:spPr>
            <p:txBody>
              <a:bodyPr/>
              <a:lstStyle/>
              <a:p>
                <a:r>
                  <a:rPr lang="zh-CN" altLang="en-US">
                    <a:noFill/>
                  </a:rPr>
                  <a:t> </a:t>
                </a:r>
              </a:p>
            </p:txBody>
          </p:sp>
        </mc:Fallback>
      </mc:AlternateContent>
      <p:sp>
        <p:nvSpPr>
          <p:cNvPr id="5" name="箭头: 右 4">
            <a:extLst>
              <a:ext uri="{FF2B5EF4-FFF2-40B4-BE49-F238E27FC236}">
                <a16:creationId xmlns:a16="http://schemas.microsoft.com/office/drawing/2014/main" id="{8EE98DEB-5581-4091-B361-2D49DC626F9F}"/>
              </a:ext>
            </a:extLst>
          </p:cNvPr>
          <p:cNvSpPr/>
          <p:nvPr/>
        </p:nvSpPr>
        <p:spPr>
          <a:xfrm rot="5400000">
            <a:off x="3905760" y="2342640"/>
            <a:ext cx="646679"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5">
            <a:extLst>
              <a:ext uri="{FF2B5EF4-FFF2-40B4-BE49-F238E27FC236}">
                <a16:creationId xmlns:a16="http://schemas.microsoft.com/office/drawing/2014/main" id="{077D62B1-FA84-4819-A09B-B13A87FB9C6D}"/>
              </a:ext>
            </a:extLst>
          </p:cNvPr>
          <p:cNvSpPr/>
          <p:nvPr/>
        </p:nvSpPr>
        <p:spPr>
          <a:xfrm rot="2315717">
            <a:off x="5225667" y="2342641"/>
            <a:ext cx="947085"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36893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0C4AF671-1222-4BF5-B529-11E8B5CA5D8B}"/>
              </a:ext>
            </a:extLst>
          </p:cNvPr>
          <p:cNvSpPr>
            <a:spLocks noGrp="1" noChangeArrowheads="1"/>
          </p:cNvSpPr>
          <p:nvPr>
            <p:ph type="body" idx="1"/>
          </p:nvPr>
        </p:nvSpPr>
        <p:spPr/>
        <p:txBody>
          <a:bodyPr/>
          <a:lstStyle/>
          <a:p>
            <a:pPr eaLnBrk="1" hangingPunct="1"/>
            <a:endParaRPr kumimoji="1" lang="en-US" altLang="zh-CN"/>
          </a:p>
          <a:p>
            <a:pPr eaLnBrk="1" hangingPunct="1">
              <a:lnSpc>
                <a:spcPct val="200000"/>
              </a:lnSpc>
              <a:buClr>
                <a:srgbClr val="FF3300"/>
              </a:buClr>
              <a:buFont typeface="Wingdings" panose="05000000000000000000" pitchFamily="2" charset="2"/>
              <a:buChar char="u"/>
            </a:pPr>
            <a:r>
              <a:rPr kumimoji="1" lang="zh-CN" altLang="en-US"/>
              <a:t>每一个线性规划问题都存在一个相对应的对偶问题。在求出一个问题的解时，也同时给出了另一个问题的解。</a:t>
            </a:r>
          </a:p>
        </p:txBody>
      </p:sp>
      <p:sp>
        <p:nvSpPr>
          <p:cNvPr id="30723" name="Rectangle 3">
            <a:extLst>
              <a:ext uri="{FF2B5EF4-FFF2-40B4-BE49-F238E27FC236}">
                <a16:creationId xmlns:a16="http://schemas.microsoft.com/office/drawing/2014/main" id="{CD206197-FBA5-4DF6-A3D8-45CFD42B23C7}"/>
              </a:ext>
            </a:extLst>
          </p:cNvPr>
          <p:cNvSpPr>
            <a:spLocks noGrp="1" noChangeArrowheads="1"/>
          </p:cNvSpPr>
          <p:nvPr>
            <p:ph type="title"/>
          </p:nvPr>
        </p:nvSpPr>
        <p:spPr/>
        <p:txBody>
          <a:bodyPr/>
          <a:lstStyle/>
          <a:p>
            <a:pPr eaLnBrk="1" hangingPunct="1"/>
            <a:r>
              <a:rPr lang="zh-CN" altLang="en-US"/>
              <a:t>对偶问题</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3C3D4E7-7975-4D30-BAE2-67387A23FDDC}"/>
              </a:ext>
            </a:extLst>
          </p:cNvPr>
          <p:cNvSpPr>
            <a:spLocks noGrp="1" noChangeArrowheads="1"/>
          </p:cNvSpPr>
          <p:nvPr>
            <p:ph type="title"/>
          </p:nvPr>
        </p:nvSpPr>
        <p:spPr/>
        <p:txBody>
          <a:bodyPr/>
          <a:lstStyle/>
          <a:p>
            <a:pPr eaLnBrk="1" hangingPunct="1"/>
            <a:r>
              <a:rPr lang="zh-CN" altLang="en-US"/>
              <a:t>例子</a:t>
            </a:r>
          </a:p>
        </p:txBody>
      </p:sp>
      <p:sp>
        <p:nvSpPr>
          <p:cNvPr id="106499" name="Rectangle 3">
            <a:extLst>
              <a:ext uri="{FF2B5EF4-FFF2-40B4-BE49-F238E27FC236}">
                <a16:creationId xmlns:a16="http://schemas.microsoft.com/office/drawing/2014/main" id="{B72464C3-D187-40BA-AE13-C21132EDF0D8}"/>
              </a:ext>
            </a:extLst>
          </p:cNvPr>
          <p:cNvSpPr>
            <a:spLocks noGrp="1" noChangeArrowheads="1"/>
          </p:cNvSpPr>
          <p:nvPr>
            <p:ph type="body" sz="half" idx="1"/>
          </p:nvPr>
        </p:nvSpPr>
        <p:spPr>
          <a:xfrm>
            <a:off x="228600" y="1295400"/>
            <a:ext cx="4343400" cy="5257800"/>
          </a:xfrm>
          <a:noFill/>
        </p:spPr>
        <p:txBody>
          <a:bodyPr/>
          <a:lstStyle/>
          <a:p>
            <a:pPr marL="0" indent="0" eaLnBrk="1" hangingPunct="1">
              <a:lnSpc>
                <a:spcPct val="90000"/>
              </a:lnSpc>
              <a:buFont typeface="Wingdings" panose="05000000000000000000" pitchFamily="2" charset="2"/>
              <a:buNone/>
            </a:pPr>
            <a:r>
              <a:rPr lang="zh-CN" altLang="en-US" sz="2000" dirty="0"/>
              <a:t>某工厂安排生产 </a:t>
            </a:r>
            <a:r>
              <a:rPr lang="en-US" altLang="zh-CN" sz="2000" dirty="0">
                <a:latin typeface="Times New Roman" panose="02020603050405020304" pitchFamily="18" charset="0"/>
              </a:rPr>
              <a:t>I</a:t>
            </a:r>
            <a:r>
              <a:rPr lang="zh-CN" altLang="en-US" sz="2000" dirty="0"/>
              <a:t>，</a:t>
            </a:r>
            <a:r>
              <a:rPr lang="en-US" altLang="zh-CN" sz="2000" dirty="0">
                <a:latin typeface="Times New Roman" panose="02020603050405020304" pitchFamily="18" charset="0"/>
              </a:rPr>
              <a:t>II</a:t>
            </a:r>
            <a:r>
              <a:rPr lang="zh-CN" altLang="en-US" sz="2000" dirty="0">
                <a:latin typeface="Times New Roman" panose="02020603050405020304" pitchFamily="18" charset="0"/>
              </a:rPr>
              <a:t>两种产品，</a:t>
            </a:r>
            <a:r>
              <a:rPr lang="zh-CN" altLang="en-US" sz="2000" dirty="0"/>
              <a:t>已知生产单位产品所需的设备台时及</a:t>
            </a:r>
            <a:r>
              <a:rPr lang="en-US" altLang="zh-CN" sz="2000" dirty="0"/>
              <a:t>A</a:t>
            </a:r>
            <a:r>
              <a:rPr lang="zh-CN" altLang="en-US" sz="2000" dirty="0"/>
              <a:t>、</a:t>
            </a:r>
            <a:r>
              <a:rPr lang="en-US" altLang="zh-CN" sz="2000" dirty="0"/>
              <a:t>B</a:t>
            </a:r>
            <a:r>
              <a:rPr lang="zh-CN" altLang="en-US" sz="2000" dirty="0"/>
              <a:t>两种原材料的消耗以及资源的限制，如下表：</a:t>
            </a:r>
          </a:p>
          <a:p>
            <a:pPr marL="0" indent="0" eaLnBrk="1" hangingPunct="1">
              <a:lnSpc>
                <a:spcPct val="90000"/>
              </a:lnSpc>
              <a:buFont typeface="Wingdings" panose="05000000000000000000" pitchFamily="2" charset="2"/>
              <a:buNone/>
            </a:pPr>
            <a:endParaRPr lang="zh-CN" altLang="en-US" sz="2000" dirty="0"/>
          </a:p>
          <a:p>
            <a:pPr marL="0" indent="0" eaLnBrk="1" hangingPunct="1">
              <a:lnSpc>
                <a:spcPct val="90000"/>
              </a:lnSpc>
              <a:buFont typeface="Wingdings" panose="05000000000000000000" pitchFamily="2" charset="2"/>
              <a:buNone/>
            </a:pPr>
            <a:endParaRPr lang="zh-CN" altLang="en-US" sz="2000" dirty="0"/>
          </a:p>
          <a:p>
            <a:pPr marL="0" indent="0" eaLnBrk="1" hangingPunct="1">
              <a:lnSpc>
                <a:spcPct val="90000"/>
              </a:lnSpc>
              <a:buFont typeface="Wingdings" panose="05000000000000000000" pitchFamily="2" charset="2"/>
              <a:buNone/>
            </a:pPr>
            <a:endParaRPr lang="zh-CN" altLang="en-US" sz="2000" dirty="0"/>
          </a:p>
          <a:p>
            <a:pPr marL="0" indent="0" eaLnBrk="1" hangingPunct="1">
              <a:lnSpc>
                <a:spcPct val="90000"/>
              </a:lnSpc>
            </a:pPr>
            <a:endParaRPr lang="zh-CN" altLang="en-US" sz="2000" dirty="0"/>
          </a:p>
          <a:p>
            <a:pPr marL="0" indent="0" eaLnBrk="1" hangingPunct="1">
              <a:lnSpc>
                <a:spcPct val="90000"/>
              </a:lnSpc>
              <a:buFont typeface="Wingdings" panose="05000000000000000000" pitchFamily="2" charset="2"/>
              <a:buNone/>
            </a:pPr>
            <a:r>
              <a:rPr lang="zh-CN" altLang="en-US" sz="2000" dirty="0"/>
              <a:t>    </a:t>
            </a:r>
          </a:p>
          <a:p>
            <a:pPr marL="0" indent="0" eaLnBrk="1" hangingPunct="1">
              <a:lnSpc>
                <a:spcPct val="90000"/>
              </a:lnSpc>
              <a:buFont typeface="Wingdings" panose="05000000000000000000" pitchFamily="2" charset="2"/>
              <a:buNone/>
            </a:pPr>
            <a:r>
              <a:rPr lang="zh-CN" altLang="en-US" sz="2000" dirty="0"/>
              <a:t>问该如何安排生产，使该工厂获利最多？</a:t>
            </a:r>
          </a:p>
          <a:p>
            <a:pPr marL="0" indent="0" eaLnBrk="1" hangingPunct="1">
              <a:lnSpc>
                <a:spcPct val="90000"/>
              </a:lnSpc>
              <a:buFont typeface="Wingdings" panose="05000000000000000000" pitchFamily="2" charset="2"/>
              <a:buNone/>
            </a:pPr>
            <a:r>
              <a:rPr lang="zh-CN" altLang="en-US" sz="1800" dirty="0"/>
              <a:t>             </a:t>
            </a:r>
            <a:r>
              <a:rPr lang="en-US" altLang="zh-CN" sz="1800" dirty="0">
                <a:latin typeface="Times New Roman" panose="02020603050405020304" pitchFamily="18" charset="0"/>
              </a:rPr>
              <a:t>Max    z = 2x</a:t>
            </a:r>
            <a:r>
              <a:rPr lang="en-US" altLang="zh-CN" sz="1800" baseline="-25000" dirty="0">
                <a:latin typeface="Times New Roman" panose="02020603050405020304" pitchFamily="18" charset="0"/>
              </a:rPr>
              <a:t>1 </a:t>
            </a:r>
            <a:r>
              <a:rPr lang="en-US" altLang="zh-CN" sz="1800" dirty="0">
                <a:latin typeface="Times New Roman" panose="02020603050405020304" pitchFamily="18" charset="0"/>
              </a:rPr>
              <a:t>+3x</a:t>
            </a:r>
            <a:r>
              <a:rPr lang="en-US" altLang="zh-CN" sz="1800" baseline="-25000" dirty="0">
                <a:latin typeface="Times New Roman" panose="02020603050405020304" pitchFamily="18" charset="0"/>
              </a:rPr>
              <a:t>2</a:t>
            </a:r>
          </a:p>
          <a:p>
            <a:pPr marL="0" indent="0" eaLnBrk="1" hangingPunct="1">
              <a:lnSpc>
                <a:spcPct val="90000"/>
              </a:lnSpc>
              <a:buFont typeface="Wingdings" panose="05000000000000000000" pitchFamily="2" charset="2"/>
              <a:buNone/>
            </a:pPr>
            <a:r>
              <a:rPr lang="en-US" altLang="zh-CN" sz="1800" dirty="0">
                <a:latin typeface="Times New Roman" panose="02020603050405020304" pitchFamily="18" charset="0"/>
              </a:rPr>
              <a:t>              </a:t>
            </a:r>
            <a:r>
              <a:rPr lang="en-US" altLang="zh-CN" sz="1800" dirty="0" err="1">
                <a:latin typeface="Times New Roman" panose="02020603050405020304" pitchFamily="18" charset="0"/>
              </a:rPr>
              <a:t>s.t.</a:t>
            </a:r>
            <a:r>
              <a:rPr lang="en-US" altLang="zh-CN" sz="1800" dirty="0">
                <a:latin typeface="Times New Roman" panose="02020603050405020304" pitchFamily="18" charset="0"/>
              </a:rPr>
              <a:t>       x</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+2x</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≤8 </a:t>
            </a:r>
          </a:p>
          <a:p>
            <a:pPr marL="0" indent="0" eaLnBrk="1" hangingPunct="1">
              <a:lnSpc>
                <a:spcPct val="90000"/>
              </a:lnSpc>
              <a:buFont typeface="Wingdings" panose="05000000000000000000" pitchFamily="2" charset="2"/>
              <a:buNone/>
            </a:pPr>
            <a:r>
              <a:rPr lang="en-US" altLang="zh-CN" sz="1800" dirty="0">
                <a:latin typeface="Times New Roman" panose="02020603050405020304" pitchFamily="18" charset="0"/>
              </a:rPr>
              <a:t>                        4x</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       ≤16</a:t>
            </a:r>
          </a:p>
          <a:p>
            <a:pPr marL="0" indent="0" eaLnBrk="1" hangingPunct="1">
              <a:lnSpc>
                <a:spcPct val="90000"/>
              </a:lnSpc>
              <a:buFont typeface="Wingdings" panose="05000000000000000000" pitchFamily="2" charset="2"/>
              <a:buNone/>
            </a:pPr>
            <a:r>
              <a:rPr lang="en-US" altLang="zh-CN" sz="1800" dirty="0">
                <a:latin typeface="Times New Roman" panose="02020603050405020304" pitchFamily="18" charset="0"/>
              </a:rPr>
              <a:t>                              4x</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 ≤12</a:t>
            </a:r>
          </a:p>
          <a:p>
            <a:pPr marL="0" indent="0" eaLnBrk="1" hangingPunct="1">
              <a:lnSpc>
                <a:spcPct val="90000"/>
              </a:lnSpc>
              <a:buFont typeface="Wingdings" panose="05000000000000000000" pitchFamily="2" charset="2"/>
              <a:buNone/>
            </a:pPr>
            <a:r>
              <a:rPr lang="en-US" altLang="zh-CN" sz="1800" dirty="0">
                <a:latin typeface="Times New Roman" panose="02020603050405020304" pitchFamily="18" charset="0"/>
              </a:rPr>
              <a:t>                         x</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 x</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   ≥0</a:t>
            </a:r>
          </a:p>
        </p:txBody>
      </p:sp>
      <p:graphicFrame>
        <p:nvGraphicFramePr>
          <p:cNvPr id="106546" name="Group 50">
            <a:extLst>
              <a:ext uri="{FF2B5EF4-FFF2-40B4-BE49-F238E27FC236}">
                <a16:creationId xmlns:a16="http://schemas.microsoft.com/office/drawing/2014/main" id="{5815550B-CCC1-41A4-9BC5-54DEE3B3FE72}"/>
              </a:ext>
            </a:extLst>
          </p:cNvPr>
          <p:cNvGraphicFramePr>
            <a:graphicFrameLocks noGrp="1"/>
          </p:cNvGraphicFramePr>
          <p:nvPr>
            <p:ph idx="4294967295"/>
          </p:nvPr>
        </p:nvGraphicFramePr>
        <p:xfrm>
          <a:off x="457200" y="2514600"/>
          <a:ext cx="3581400" cy="1524000"/>
        </p:xfrm>
        <a:graphic>
          <a:graphicData uri="http://schemas.openxmlformats.org/drawingml/2006/table">
            <a:tbl>
              <a:tblPr/>
              <a:tblGrid>
                <a:gridCol w="1371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II</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资源限制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设备</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台时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 kg</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180975">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利润（元</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4"/>
                  </a:ext>
                </a:extLst>
              </a:tr>
            </a:tbl>
          </a:graphicData>
        </a:graphic>
      </p:graphicFrame>
      <p:sp>
        <p:nvSpPr>
          <p:cNvPr id="106533" name="Text Box 37">
            <a:extLst>
              <a:ext uri="{FF2B5EF4-FFF2-40B4-BE49-F238E27FC236}">
                <a16:creationId xmlns:a16="http://schemas.microsoft.com/office/drawing/2014/main" id="{6E54233D-DF51-47C0-B6EF-7AF212CC79E9}"/>
              </a:ext>
            </a:extLst>
          </p:cNvPr>
          <p:cNvSpPr txBox="1">
            <a:spLocks noChangeArrowheads="1"/>
          </p:cNvSpPr>
          <p:nvPr/>
        </p:nvSpPr>
        <p:spPr bwMode="auto">
          <a:xfrm>
            <a:off x="5334000" y="4964376"/>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err="1">
                <a:latin typeface="Times New Roman" panose="02020603050405020304" pitchFamily="18" charset="0"/>
              </a:rPr>
              <a:t>s.t.</a:t>
            </a:r>
            <a:r>
              <a:rPr lang="en-US" altLang="zh-CN" b="1" dirty="0">
                <a:latin typeface="Times New Roman" panose="02020603050405020304" pitchFamily="18" charset="0"/>
              </a:rPr>
              <a:t>    y</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+4y</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≥2</a:t>
            </a:r>
          </a:p>
        </p:txBody>
      </p:sp>
      <p:sp>
        <p:nvSpPr>
          <p:cNvPr id="106534" name="Text Box 38">
            <a:extLst>
              <a:ext uri="{FF2B5EF4-FFF2-40B4-BE49-F238E27FC236}">
                <a16:creationId xmlns:a16="http://schemas.microsoft.com/office/drawing/2014/main" id="{2C4B45C8-83BB-4F42-A69B-276D5F0A87A2}"/>
              </a:ext>
            </a:extLst>
          </p:cNvPr>
          <p:cNvSpPr txBox="1">
            <a:spLocks noChangeArrowheads="1"/>
          </p:cNvSpPr>
          <p:nvPr/>
        </p:nvSpPr>
        <p:spPr bwMode="auto">
          <a:xfrm>
            <a:off x="5715000" y="5345376"/>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2y</a:t>
            </a:r>
            <a:r>
              <a:rPr lang="en-US" altLang="zh-CN" b="1" baseline="-25000">
                <a:latin typeface="Times New Roman" panose="02020603050405020304" pitchFamily="18" charset="0"/>
              </a:rPr>
              <a:t>1         </a:t>
            </a:r>
            <a:r>
              <a:rPr lang="en-US" altLang="zh-CN" b="1">
                <a:latin typeface="Times New Roman" panose="02020603050405020304" pitchFamily="18" charset="0"/>
              </a:rPr>
              <a:t>+4y</a:t>
            </a:r>
            <a:r>
              <a:rPr lang="en-US" altLang="zh-CN" b="1" baseline="-25000">
                <a:latin typeface="Times New Roman" panose="02020603050405020304" pitchFamily="18" charset="0"/>
              </a:rPr>
              <a:t>3</a:t>
            </a:r>
            <a:r>
              <a:rPr lang="en-US" altLang="zh-CN" b="1">
                <a:latin typeface="Times New Roman" panose="02020603050405020304" pitchFamily="18" charset="0"/>
              </a:rPr>
              <a:t> ≥3</a:t>
            </a:r>
          </a:p>
        </p:txBody>
      </p:sp>
      <p:sp>
        <p:nvSpPr>
          <p:cNvPr id="106535" name="Text Box 39">
            <a:extLst>
              <a:ext uri="{FF2B5EF4-FFF2-40B4-BE49-F238E27FC236}">
                <a16:creationId xmlns:a16="http://schemas.microsoft.com/office/drawing/2014/main" id="{9FEDD6C0-CCA2-494C-9C47-106640BEC2C6}"/>
              </a:ext>
            </a:extLst>
          </p:cNvPr>
          <p:cNvSpPr txBox="1">
            <a:spLocks noChangeArrowheads="1"/>
          </p:cNvSpPr>
          <p:nvPr/>
        </p:nvSpPr>
        <p:spPr bwMode="auto">
          <a:xfrm>
            <a:off x="6019800" y="5740664"/>
            <a:ext cx="2209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y</a:t>
            </a:r>
            <a:r>
              <a:rPr lang="en-US" altLang="zh-CN" b="1" baseline="-25000">
                <a:latin typeface="Times New Roman" panose="02020603050405020304" pitchFamily="18" charset="0"/>
              </a:rPr>
              <a:t>1</a:t>
            </a:r>
            <a:r>
              <a:rPr lang="en-US" altLang="zh-CN" b="1">
                <a:latin typeface="Times New Roman" panose="02020603050405020304" pitchFamily="18" charset="0"/>
              </a:rPr>
              <a:t>, y</a:t>
            </a:r>
            <a:r>
              <a:rPr lang="en-US" altLang="zh-CN" b="1" baseline="-25000">
                <a:latin typeface="Times New Roman" panose="02020603050405020304" pitchFamily="18" charset="0"/>
                <a:cs typeface="Times New Roman" panose="02020603050405020304" pitchFamily="18" charset="0"/>
              </a:rPr>
              <a:t>2</a:t>
            </a:r>
            <a:r>
              <a:rPr lang="en-US" altLang="zh-CN" b="1">
                <a:latin typeface="Times New Roman" panose="02020603050405020304" pitchFamily="18" charset="0"/>
              </a:rPr>
              <a:t>, y</a:t>
            </a:r>
            <a:r>
              <a:rPr lang="en-US" altLang="zh-CN" b="1" baseline="-25000">
                <a:latin typeface="Times New Roman" panose="02020603050405020304" pitchFamily="18" charset="0"/>
              </a:rPr>
              <a:t>3</a:t>
            </a:r>
            <a:r>
              <a:rPr lang="en-US" altLang="zh-CN" b="1">
                <a:latin typeface="Times New Roman" panose="02020603050405020304" pitchFamily="18" charset="0"/>
              </a:rPr>
              <a:t> ≥0          </a:t>
            </a:r>
          </a:p>
        </p:txBody>
      </p:sp>
      <p:sp>
        <p:nvSpPr>
          <p:cNvPr id="106536" name="Text Box 40">
            <a:extLst>
              <a:ext uri="{FF2B5EF4-FFF2-40B4-BE49-F238E27FC236}">
                <a16:creationId xmlns:a16="http://schemas.microsoft.com/office/drawing/2014/main" id="{65116033-BF15-4CF7-88F7-75B1320364BA}"/>
              </a:ext>
            </a:extLst>
          </p:cNvPr>
          <p:cNvSpPr txBox="1">
            <a:spLocks noChangeArrowheads="1"/>
          </p:cNvSpPr>
          <p:nvPr/>
        </p:nvSpPr>
        <p:spPr bwMode="auto">
          <a:xfrm>
            <a:off x="5226050" y="4542101"/>
            <a:ext cx="297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latin typeface="Times New Roman" panose="02020603050405020304" pitchFamily="18" charset="0"/>
                <a:cs typeface="Times New Roman" panose="02020603050405020304" pitchFamily="18" charset="0"/>
              </a:rPr>
              <a:t>Min </a:t>
            </a:r>
            <a:r>
              <a:rPr lang="el-GR" altLang="zh-CN" b="1" dirty="0">
                <a:latin typeface="Times New Roman" panose="02020603050405020304" pitchFamily="18" charset="0"/>
                <a:cs typeface="Times New Roman" panose="02020603050405020304" pitchFamily="18" charset="0"/>
              </a:rPr>
              <a:t>ω</a:t>
            </a:r>
            <a:r>
              <a:rPr lang="en-US" altLang="zh-CN" b="1" dirty="0">
                <a:latin typeface="Times New Roman" panose="02020603050405020304" pitchFamily="18" charset="0"/>
              </a:rPr>
              <a:t>= 8 y</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+16y</a:t>
            </a:r>
            <a:r>
              <a:rPr lang="en-US" altLang="zh-CN" b="1" baseline="-25000" dirty="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rPr>
              <a:t> +12y</a:t>
            </a:r>
            <a:r>
              <a:rPr lang="en-US" altLang="zh-CN" b="1" baseline="-25000" dirty="0">
                <a:latin typeface="Times New Roman" panose="02020603050405020304" pitchFamily="18" charset="0"/>
              </a:rPr>
              <a:t>3</a:t>
            </a:r>
            <a:endParaRPr lang="en-US" altLang="zh-CN" b="1" dirty="0">
              <a:latin typeface="Times New Roman" panose="02020603050405020304" pitchFamily="18" charset="0"/>
            </a:endParaRPr>
          </a:p>
        </p:txBody>
      </p:sp>
      <p:grpSp>
        <p:nvGrpSpPr>
          <p:cNvPr id="2" name="Group 51">
            <a:extLst>
              <a:ext uri="{FF2B5EF4-FFF2-40B4-BE49-F238E27FC236}">
                <a16:creationId xmlns:a16="http://schemas.microsoft.com/office/drawing/2014/main" id="{0F674226-59E0-4BB3-A28B-81B5FB063C88}"/>
              </a:ext>
            </a:extLst>
          </p:cNvPr>
          <p:cNvGrpSpPr>
            <a:grpSpLocks/>
          </p:cNvGrpSpPr>
          <p:nvPr/>
        </p:nvGrpSpPr>
        <p:grpSpPr bwMode="auto">
          <a:xfrm>
            <a:off x="3200400" y="4876800"/>
            <a:ext cx="1600200" cy="641350"/>
            <a:chOff x="2016" y="3072"/>
            <a:chExt cx="1008" cy="404"/>
          </a:xfrm>
        </p:grpSpPr>
        <p:sp>
          <p:nvSpPr>
            <p:cNvPr id="31791" name="AutoShape 42">
              <a:extLst>
                <a:ext uri="{FF2B5EF4-FFF2-40B4-BE49-F238E27FC236}">
                  <a16:creationId xmlns:a16="http://schemas.microsoft.com/office/drawing/2014/main" id="{B2CC4EDB-DA6F-4D14-B339-2C9F22E4F961}"/>
                </a:ext>
              </a:extLst>
            </p:cNvPr>
            <p:cNvSpPr>
              <a:spLocks noChangeArrowheads="1"/>
            </p:cNvSpPr>
            <p:nvPr/>
          </p:nvSpPr>
          <p:spPr bwMode="auto">
            <a:xfrm>
              <a:off x="2016" y="3216"/>
              <a:ext cx="1008" cy="144"/>
            </a:xfrm>
            <a:prstGeom prst="leftRightArrow">
              <a:avLst>
                <a:gd name="adj1" fmla="val 50000"/>
                <a:gd name="adj2" fmla="val 14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92" name="Text Box 43">
              <a:extLst>
                <a:ext uri="{FF2B5EF4-FFF2-40B4-BE49-F238E27FC236}">
                  <a16:creationId xmlns:a16="http://schemas.microsoft.com/office/drawing/2014/main" id="{15833708-4D35-400A-AA7A-3FBEE67E3637}"/>
                </a:ext>
              </a:extLst>
            </p:cNvPr>
            <p:cNvSpPr txBox="1">
              <a:spLocks noChangeArrowheads="1"/>
            </p:cNvSpPr>
            <p:nvPr/>
          </p:nvSpPr>
          <p:spPr bwMode="auto">
            <a:xfrm>
              <a:off x="2352" y="3072"/>
              <a:ext cx="52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对偶问题</a:t>
              </a:r>
            </a:p>
          </p:txBody>
        </p:sp>
      </p:grpSp>
      <p:grpSp>
        <p:nvGrpSpPr>
          <p:cNvPr id="3" name="组合 2">
            <a:extLst>
              <a:ext uri="{FF2B5EF4-FFF2-40B4-BE49-F238E27FC236}">
                <a16:creationId xmlns:a16="http://schemas.microsoft.com/office/drawing/2014/main" id="{0E0B74CB-4FCB-4ED8-8070-DB05C6A3ED67}"/>
              </a:ext>
            </a:extLst>
          </p:cNvPr>
          <p:cNvGrpSpPr>
            <a:grpSpLocks/>
          </p:cNvGrpSpPr>
          <p:nvPr/>
        </p:nvGrpSpPr>
        <p:grpSpPr bwMode="auto">
          <a:xfrm>
            <a:off x="4724400" y="838200"/>
            <a:ext cx="4114800" cy="2826013"/>
            <a:chOff x="4724400" y="838200"/>
            <a:chExt cx="4114800" cy="2826637"/>
          </a:xfrm>
        </p:grpSpPr>
        <p:sp>
          <p:nvSpPr>
            <p:cNvPr id="31789" name="Text Box 36">
              <a:extLst>
                <a:ext uri="{FF2B5EF4-FFF2-40B4-BE49-F238E27FC236}">
                  <a16:creationId xmlns:a16="http://schemas.microsoft.com/office/drawing/2014/main" id="{76DAF93F-B32F-4558-A218-7ECCD1517AE7}"/>
                </a:ext>
              </a:extLst>
            </p:cNvPr>
            <p:cNvSpPr txBox="1">
              <a:spLocks noChangeArrowheads="1"/>
            </p:cNvSpPr>
            <p:nvPr/>
          </p:nvSpPr>
          <p:spPr bwMode="auto">
            <a:xfrm>
              <a:off x="4724400" y="1263650"/>
              <a:ext cx="4114800" cy="240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dirty="0"/>
                <a:t>(1)</a:t>
              </a:r>
              <a:r>
                <a:rPr lang="zh-CN" altLang="en-US" sz="2000" b="1" dirty="0"/>
                <a:t>如有公司来收购工厂，工厂不生成产品，而是把设备工时和原料卖了。代价显然不应低于生产获利，工厂才愿意放弃生产。</a:t>
              </a:r>
              <a:r>
                <a:rPr lang="en-US" altLang="zh-CN" sz="2000" b="1" dirty="0">
                  <a:solidFill>
                    <a:srgbClr val="FF0000"/>
                  </a:solidFill>
                </a:rPr>
                <a:t>(</a:t>
              </a:r>
              <a:r>
                <a:rPr lang="zh-CN" altLang="en-US" sz="2000" b="1" dirty="0">
                  <a:solidFill>
                    <a:srgbClr val="FF0000"/>
                  </a:solidFill>
                </a:rPr>
                <a:t>不吃亏原则</a:t>
              </a:r>
              <a:r>
                <a:rPr lang="en-US" altLang="zh-CN" sz="2000" b="1" dirty="0">
                  <a:solidFill>
                    <a:srgbClr val="FF0000"/>
                  </a:solidFill>
                </a:rPr>
                <a:t>:</a:t>
              </a:r>
              <a:r>
                <a:rPr lang="zh-CN" altLang="en-US" sz="2000" b="1" dirty="0">
                  <a:solidFill>
                    <a:srgbClr val="FF0000"/>
                  </a:solidFill>
                </a:rPr>
                <a:t>构成新的不等式约束条件</a:t>
              </a:r>
              <a:r>
                <a:rPr lang="en-US" altLang="zh-CN" sz="2000" b="1" dirty="0">
                  <a:solidFill>
                    <a:srgbClr val="FF0000"/>
                  </a:solidFill>
                </a:rPr>
                <a:t>)</a:t>
              </a:r>
            </a:p>
            <a:p>
              <a:pPr eaLnBrk="1" hangingPunct="1">
                <a:spcBef>
                  <a:spcPct val="50000"/>
                </a:spcBef>
              </a:pPr>
              <a:r>
                <a:rPr lang="zh-CN" altLang="en-US" sz="2000" b="1" dirty="0"/>
                <a:t>设</a:t>
              </a: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1</a:t>
              </a:r>
              <a:r>
                <a:rPr lang="en-US" altLang="zh-CN" sz="2000" b="1" dirty="0">
                  <a:latin typeface="Times New Roman" panose="02020603050405020304" pitchFamily="18" charset="0"/>
                </a:rPr>
                <a:t>, y</a:t>
              </a:r>
              <a:r>
                <a:rPr lang="en-US" altLang="zh-CN" sz="2000" b="1" baseline="-25000" dirty="0">
                  <a:latin typeface="Times New Roman" panose="02020603050405020304" pitchFamily="18" charset="0"/>
                </a:rPr>
                <a:t>2</a:t>
              </a:r>
              <a:r>
                <a:rPr lang="en-US" altLang="zh-CN" sz="2000" b="1" dirty="0">
                  <a:latin typeface="Times New Roman" panose="02020603050405020304" pitchFamily="18" charset="0"/>
                </a:rPr>
                <a:t>, y</a:t>
              </a:r>
              <a:r>
                <a:rPr lang="en-US" altLang="zh-CN" sz="2000" b="1" baseline="-25000" dirty="0">
                  <a:latin typeface="Times New Roman" panose="02020603050405020304" pitchFamily="18" charset="0"/>
                </a:rPr>
                <a:t>3</a:t>
              </a:r>
              <a:r>
                <a:rPr lang="zh-CN" altLang="en-US" sz="2000" b="1" dirty="0">
                  <a:latin typeface="Times New Roman" panose="02020603050405020304" pitchFamily="18" charset="0"/>
                </a:rPr>
                <a:t>为出售单位设备台时的价格和原料</a:t>
              </a:r>
              <a:r>
                <a:rPr lang="en-US" altLang="zh-CN" sz="2000" b="1" dirty="0">
                  <a:latin typeface="Times New Roman" panose="02020603050405020304" pitchFamily="18" charset="0"/>
                </a:rPr>
                <a:t>A, B</a:t>
              </a:r>
              <a:r>
                <a:rPr lang="zh-CN" altLang="en-US" sz="2000" b="1" dirty="0"/>
                <a:t>的价格。</a:t>
              </a:r>
              <a:endParaRPr lang="en-US" altLang="zh-CN" dirty="0"/>
            </a:p>
          </p:txBody>
        </p:sp>
        <p:sp>
          <p:nvSpPr>
            <p:cNvPr id="31790" name="矩形 14">
              <a:extLst>
                <a:ext uri="{FF2B5EF4-FFF2-40B4-BE49-F238E27FC236}">
                  <a16:creationId xmlns:a16="http://schemas.microsoft.com/office/drawing/2014/main" id="{1695E784-8759-4DFE-82A4-C0EF9BF5A872}"/>
                </a:ext>
              </a:extLst>
            </p:cNvPr>
            <p:cNvSpPr>
              <a:spLocks noChangeArrowheads="1"/>
            </p:cNvSpPr>
            <p:nvPr/>
          </p:nvSpPr>
          <p:spPr bwMode="auto">
            <a:xfrm>
              <a:off x="4876800" y="838200"/>
              <a:ext cx="28953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换个角度考虑</a:t>
              </a:r>
              <a:r>
                <a:rPr lang="en-US" altLang="zh-CN" b="1">
                  <a:solidFill>
                    <a:srgbClr val="FF0000"/>
                  </a:solidFill>
                </a:rPr>
                <a:t>(</a:t>
              </a:r>
              <a:r>
                <a:rPr lang="zh-CN" altLang="en-US" b="1">
                  <a:solidFill>
                    <a:srgbClr val="FF0000"/>
                  </a:solidFill>
                </a:rPr>
                <a:t>公司收购</a:t>
              </a:r>
              <a:r>
                <a:rPr lang="en-US" altLang="zh-CN" b="1">
                  <a:solidFill>
                    <a:srgbClr val="FF0000"/>
                  </a:solidFill>
                </a:rPr>
                <a:t>)</a:t>
              </a:r>
              <a:r>
                <a:rPr lang="zh-CN" altLang="en-US" b="1">
                  <a:solidFill>
                    <a:srgbClr val="FF0000"/>
                  </a:solidFill>
                </a:rPr>
                <a:t>：</a:t>
              </a:r>
              <a:endParaRPr lang="zh-CN" altLang="en-US">
                <a:solidFill>
                  <a:srgbClr val="FF0000"/>
                </a:solidFill>
              </a:endParaRPr>
            </a:p>
          </p:txBody>
        </p:sp>
      </p:grpSp>
      <p:sp>
        <p:nvSpPr>
          <p:cNvPr id="31786" name="矩形 14">
            <a:extLst>
              <a:ext uri="{FF2B5EF4-FFF2-40B4-BE49-F238E27FC236}">
                <a16:creationId xmlns:a16="http://schemas.microsoft.com/office/drawing/2014/main" id="{FB96F750-840F-44A0-A022-72820F5A527B}"/>
              </a:ext>
            </a:extLst>
          </p:cNvPr>
          <p:cNvSpPr>
            <a:spLocks noChangeArrowheads="1"/>
          </p:cNvSpPr>
          <p:nvPr/>
        </p:nvSpPr>
        <p:spPr bwMode="auto">
          <a:xfrm>
            <a:off x="1600200" y="685800"/>
            <a:ext cx="3124200" cy="5238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1400">
                <a:solidFill>
                  <a:srgbClr val="FF00FF"/>
                </a:solidFill>
              </a:rPr>
              <a:t>台时：一台设备在一天中运转的时间。</a:t>
            </a:r>
            <a:endParaRPr lang="en-US" altLang="zh-CN" sz="1400">
              <a:solidFill>
                <a:srgbClr val="FF00FF"/>
              </a:solidFill>
            </a:endParaRPr>
          </a:p>
          <a:p>
            <a:pPr eaLnBrk="1" hangingPunct="1"/>
            <a:r>
              <a:rPr lang="zh-CN" altLang="zh-CN" sz="1400">
                <a:solidFill>
                  <a:srgbClr val="FF00FF"/>
                </a:solidFill>
              </a:rPr>
              <a:t>台产：一台设备在一天中的产量。</a:t>
            </a:r>
            <a:endParaRPr lang="zh-CN" altLang="en-US" sz="1400">
              <a:solidFill>
                <a:srgbClr val="FF00FF"/>
              </a:solidFill>
            </a:endParaRPr>
          </a:p>
        </p:txBody>
      </p:sp>
      <p:sp>
        <p:nvSpPr>
          <p:cNvPr id="17" name="矩形 16">
            <a:extLst>
              <a:ext uri="{FF2B5EF4-FFF2-40B4-BE49-F238E27FC236}">
                <a16:creationId xmlns:a16="http://schemas.microsoft.com/office/drawing/2014/main" id="{139AD3F3-3000-4150-A141-734B787E5EA3}"/>
              </a:ext>
            </a:extLst>
          </p:cNvPr>
          <p:cNvSpPr>
            <a:spLocks noChangeArrowheads="1"/>
          </p:cNvSpPr>
          <p:nvPr/>
        </p:nvSpPr>
        <p:spPr bwMode="auto">
          <a:xfrm>
            <a:off x="7315200" y="4853251"/>
            <a:ext cx="173196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dirty="0">
                <a:solidFill>
                  <a:srgbClr val="FF00FF"/>
                </a:solidFill>
              </a:rPr>
              <a:t>也可以从在保证一定利润情况下</a:t>
            </a:r>
            <a:endParaRPr lang="en-US" altLang="zh-CN" sz="1600" dirty="0">
              <a:solidFill>
                <a:srgbClr val="FF00FF"/>
              </a:solidFill>
            </a:endParaRPr>
          </a:p>
          <a:p>
            <a:pPr eaLnBrk="1" hangingPunct="1">
              <a:spcBef>
                <a:spcPct val="0"/>
              </a:spcBef>
              <a:buClrTx/>
              <a:buSzTx/>
              <a:buFontTx/>
              <a:buNone/>
            </a:pPr>
            <a:r>
              <a:rPr lang="zh-CN" altLang="en-US" sz="1600" dirty="0">
                <a:solidFill>
                  <a:srgbClr val="FF00FF"/>
                </a:solidFill>
              </a:rPr>
              <a:t>使用最少的资源的角度来考虑</a:t>
            </a:r>
            <a:r>
              <a:rPr lang="zh-CN" altLang="en-US" sz="1600" dirty="0">
                <a:solidFill>
                  <a:srgbClr val="FF0000"/>
                </a:solidFill>
              </a:rPr>
              <a:t>！</a:t>
            </a:r>
            <a:endParaRPr lang="zh-CN" altLang="en-US" sz="1600" b="0" dirty="0">
              <a:solidFill>
                <a:srgbClr val="FF0000"/>
              </a:solidFill>
            </a:endParaRPr>
          </a:p>
        </p:txBody>
      </p:sp>
      <p:sp>
        <p:nvSpPr>
          <p:cNvPr id="4" name="矩形 3">
            <a:extLst>
              <a:ext uri="{FF2B5EF4-FFF2-40B4-BE49-F238E27FC236}">
                <a16:creationId xmlns:a16="http://schemas.microsoft.com/office/drawing/2014/main" id="{77E48DA1-3017-4557-84E8-C4C1F58367F2}"/>
              </a:ext>
            </a:extLst>
          </p:cNvPr>
          <p:cNvSpPr>
            <a:spLocks noChangeArrowheads="1"/>
          </p:cNvSpPr>
          <p:nvPr/>
        </p:nvSpPr>
        <p:spPr bwMode="auto">
          <a:xfrm>
            <a:off x="4468813" y="3618176"/>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t>(2)</a:t>
            </a:r>
            <a:r>
              <a:rPr lang="zh-CN" altLang="en-US" b="1" dirty="0"/>
              <a:t>该公司在工厂愿意被收购的前提下，显然希望收购总价尽可能小。</a:t>
            </a:r>
            <a:r>
              <a:rPr lang="en-US" altLang="zh-CN" b="1" dirty="0">
                <a:solidFill>
                  <a:srgbClr val="FF0000"/>
                </a:solidFill>
              </a:rPr>
              <a:t>(</a:t>
            </a:r>
            <a:r>
              <a:rPr lang="zh-CN" altLang="en-US" b="1" dirty="0">
                <a:solidFill>
                  <a:srgbClr val="FF0000"/>
                </a:solidFill>
              </a:rPr>
              <a:t>竞争性原则</a:t>
            </a:r>
            <a:r>
              <a:rPr lang="en-US" altLang="zh-CN" b="1" dirty="0">
                <a:solidFill>
                  <a:srgbClr val="FF0000"/>
                </a:solidFill>
              </a:rPr>
              <a:t>:</a:t>
            </a:r>
            <a:r>
              <a:rPr lang="zh-CN" altLang="en-US" b="1" dirty="0">
                <a:solidFill>
                  <a:srgbClr val="FF0000"/>
                </a:solidFill>
              </a:rPr>
              <a:t>构成新的目标函数</a:t>
            </a:r>
            <a:r>
              <a:rPr lang="en-US" altLang="zh-CN" b="1" dirty="0">
                <a:solidFill>
                  <a:srgbClr val="FF0000"/>
                </a:solidFill>
              </a:rPr>
              <a:t>)</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499">
                                            <p:txEl>
                                              <p:pRg st="6" end="6"/>
                                            </p:txEl>
                                          </p:spTgt>
                                        </p:tgtEl>
                                        <p:attrNameLst>
                                          <p:attrName>style.visibility</p:attrName>
                                        </p:attrNameLst>
                                      </p:cBhvr>
                                      <p:to>
                                        <p:strVal val="visible"/>
                                      </p:to>
                                    </p:set>
                                    <p:animEffect transition="in" filter="blinds(horizontal)">
                                      <p:cBhvr>
                                        <p:cTn id="7" dur="500"/>
                                        <p:tgtEl>
                                          <p:spTgt spid="106499">
                                            <p:txEl>
                                              <p:pRg st="6" end="6"/>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6499">
                                            <p:txEl>
                                              <p:pRg st="7" end="7"/>
                                            </p:txEl>
                                          </p:spTgt>
                                        </p:tgtEl>
                                        <p:attrNameLst>
                                          <p:attrName>style.visibility</p:attrName>
                                        </p:attrNameLst>
                                      </p:cBhvr>
                                      <p:to>
                                        <p:strVal val="visible"/>
                                      </p:to>
                                    </p:set>
                                    <p:animEffect transition="in" filter="blinds(horizontal)">
                                      <p:cBhvr>
                                        <p:cTn id="12" dur="500"/>
                                        <p:tgtEl>
                                          <p:spTgt spid="106499">
                                            <p:txEl>
                                              <p:pRg st="7" end="7"/>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06499">
                                            <p:txEl>
                                              <p:pRg st="8" end="8"/>
                                            </p:txEl>
                                          </p:spTgt>
                                        </p:tgtEl>
                                        <p:attrNameLst>
                                          <p:attrName>style.visibility</p:attrName>
                                        </p:attrNameLst>
                                      </p:cBhvr>
                                      <p:to>
                                        <p:strVal val="visible"/>
                                      </p:to>
                                    </p:set>
                                    <p:animEffect transition="in" filter="blinds(horizontal)">
                                      <p:cBhvr>
                                        <p:cTn id="15" dur="500"/>
                                        <p:tgtEl>
                                          <p:spTgt spid="106499">
                                            <p:txEl>
                                              <p:pRg st="8" end="8"/>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6499">
                                            <p:txEl>
                                              <p:pRg st="9" end="9"/>
                                            </p:txEl>
                                          </p:spTgt>
                                        </p:tgtEl>
                                        <p:attrNameLst>
                                          <p:attrName>style.visibility</p:attrName>
                                        </p:attrNameLst>
                                      </p:cBhvr>
                                      <p:to>
                                        <p:strVal val="visible"/>
                                      </p:to>
                                    </p:set>
                                    <p:animEffect transition="in" filter="blinds(horizontal)">
                                      <p:cBhvr>
                                        <p:cTn id="18" dur="500"/>
                                        <p:tgtEl>
                                          <p:spTgt spid="106499">
                                            <p:txEl>
                                              <p:pRg st="9" end="9"/>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6499">
                                            <p:txEl>
                                              <p:pRg st="10" end="10"/>
                                            </p:txEl>
                                          </p:spTgt>
                                        </p:tgtEl>
                                        <p:attrNameLst>
                                          <p:attrName>style.visibility</p:attrName>
                                        </p:attrNameLst>
                                      </p:cBhvr>
                                      <p:to>
                                        <p:strVal val="visible"/>
                                      </p:to>
                                    </p:set>
                                    <p:animEffect transition="in" filter="blinds(horizontal)">
                                      <p:cBhvr>
                                        <p:cTn id="21" dur="500"/>
                                        <p:tgtEl>
                                          <p:spTgt spid="106499">
                                            <p:txEl>
                                              <p:pRg st="10" end="10"/>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6499">
                                            <p:txEl>
                                              <p:pRg st="11" end="11"/>
                                            </p:txEl>
                                          </p:spTgt>
                                        </p:tgtEl>
                                        <p:attrNameLst>
                                          <p:attrName>style.visibility</p:attrName>
                                        </p:attrNameLst>
                                      </p:cBhvr>
                                      <p:to>
                                        <p:strVal val="visible"/>
                                      </p:to>
                                    </p:set>
                                    <p:animEffect transition="in" filter="blinds(horizontal)">
                                      <p:cBhvr>
                                        <p:cTn id="24" dur="500"/>
                                        <p:tgtEl>
                                          <p:spTgt spid="106499">
                                            <p:txEl>
                                              <p:pRg st="11" end="1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4" presetClass="entr" presetSubtype="1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randombar(horizontal)">
                                      <p:cBhvr>
                                        <p:cTn id="29" dur="500"/>
                                        <p:tgtEl>
                                          <p:spTgt spid="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6533"/>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06534"/>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6535"/>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0653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P spid="106533" grpId="0"/>
      <p:bldP spid="106534" grpId="0"/>
      <p:bldP spid="106535" grpId="0"/>
      <p:bldP spid="106536" grpId="0"/>
      <p:bldP spid="17"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descr="Large confetti">
            <a:extLst>
              <a:ext uri="{FF2B5EF4-FFF2-40B4-BE49-F238E27FC236}">
                <a16:creationId xmlns:a16="http://schemas.microsoft.com/office/drawing/2014/main" id="{0ED0EB07-8F5A-4AAC-A7D6-236E0B57EF45}"/>
              </a:ext>
            </a:extLst>
          </p:cNvPr>
          <p:cNvSpPr>
            <a:spLocks noGrp="1" noChangeArrowheads="1"/>
          </p:cNvSpPr>
          <p:nvPr>
            <p:ph type="title"/>
          </p:nvPr>
        </p:nvSpPr>
        <p:spPr/>
        <p:txBody>
          <a:bodyPr/>
          <a:lstStyle/>
          <a:p>
            <a:r>
              <a:rPr lang="zh-CN" altLang="en-US"/>
              <a:t>例子</a:t>
            </a:r>
          </a:p>
        </p:txBody>
      </p:sp>
      <p:sp>
        <p:nvSpPr>
          <p:cNvPr id="32771" name="Rectangle 3">
            <a:extLst>
              <a:ext uri="{FF2B5EF4-FFF2-40B4-BE49-F238E27FC236}">
                <a16:creationId xmlns:a16="http://schemas.microsoft.com/office/drawing/2014/main" id="{BBB25699-1628-444D-9FBF-7F96B4C76F64}"/>
              </a:ext>
            </a:extLst>
          </p:cNvPr>
          <p:cNvSpPr>
            <a:spLocks noGrp="1" noChangeArrowheads="1"/>
          </p:cNvSpPr>
          <p:nvPr>
            <p:ph type="body" idx="1"/>
          </p:nvPr>
        </p:nvSpPr>
        <p:spPr>
          <a:xfrm>
            <a:off x="179388" y="1052513"/>
            <a:ext cx="8281987" cy="1008062"/>
          </a:xfrm>
        </p:spPr>
        <p:txBody>
          <a:bodyPr/>
          <a:lstStyle/>
          <a:p>
            <a:r>
              <a:rPr lang="zh-CN" altLang="en-US"/>
              <a:t>把同种问题的两种提法所获得的数学模型用表来表示，将会发现一个有趣的现象。</a:t>
            </a:r>
          </a:p>
        </p:txBody>
      </p:sp>
      <p:sp>
        <p:nvSpPr>
          <p:cNvPr id="32772" name="Rectangle 5">
            <a:extLst>
              <a:ext uri="{FF2B5EF4-FFF2-40B4-BE49-F238E27FC236}">
                <a16:creationId xmlns:a16="http://schemas.microsoft.com/office/drawing/2014/main" id="{2BC03EF1-7556-4C4D-BFF0-87F3275F3CED}"/>
              </a:ext>
            </a:extLst>
          </p:cNvPr>
          <p:cNvSpPr>
            <a:spLocks noChangeArrowheads="1"/>
          </p:cNvSpPr>
          <p:nvPr/>
        </p:nvSpPr>
        <p:spPr bwMode="auto">
          <a:xfrm>
            <a:off x="2746375" y="2060575"/>
            <a:ext cx="297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000">
                <a:solidFill>
                  <a:srgbClr val="003300"/>
                </a:solidFill>
              </a:rPr>
              <a:t>原问题与对偶问题对比表</a:t>
            </a:r>
          </a:p>
        </p:txBody>
      </p:sp>
      <p:graphicFrame>
        <p:nvGraphicFramePr>
          <p:cNvPr id="134193" name="Group 49">
            <a:extLst>
              <a:ext uri="{FF2B5EF4-FFF2-40B4-BE49-F238E27FC236}">
                <a16:creationId xmlns:a16="http://schemas.microsoft.com/office/drawing/2014/main" id="{CA69D3A5-35F7-43C9-AFBC-758E493ED2D5}"/>
              </a:ext>
            </a:extLst>
          </p:cNvPr>
          <p:cNvGraphicFramePr>
            <a:graphicFrameLocks noGrp="1"/>
          </p:cNvGraphicFramePr>
          <p:nvPr/>
        </p:nvGraphicFramePr>
        <p:xfrm>
          <a:off x="1676400" y="2657475"/>
          <a:ext cx="5237163" cy="2298700"/>
        </p:xfrm>
        <a:graphic>
          <a:graphicData uri="http://schemas.openxmlformats.org/drawingml/2006/table">
            <a:tbl>
              <a:tblPr/>
              <a:tblGrid>
                <a:gridCol w="1223963">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96875">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endParaRPr kumimoji="1" lang="zh-CN"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x</a:t>
                      </a:r>
                      <a:r>
                        <a:rPr kumimoji="1" lang="en-US" altLang="zh-CN" sz="2000" b="1" i="0"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1</a:t>
                      </a:r>
                      <a:endParaRPr kumimoji="1" lang="zh-CN" altLang="en-US"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x</a:t>
                      </a:r>
                      <a:r>
                        <a:rPr kumimoji="1" lang="en-US" altLang="zh-CN" sz="2000" b="1" i="0"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2</a:t>
                      </a:r>
                      <a:endParaRPr kumimoji="1" lang="zh-CN" altLang="en-US"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b</a:t>
                      </a:r>
                      <a:endParaRPr kumimoji="1" lang="zh-CN"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y</a:t>
                      </a:r>
                      <a:r>
                        <a:rPr kumimoji="1" lang="en-US" altLang="zh-CN" sz="2000" b="1" i="0"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1</a:t>
                      </a:r>
                      <a:endParaRPr kumimoji="1" lang="zh-CN" altLang="en-US"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1</a:t>
                      </a: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2</a:t>
                      </a: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8</a:t>
                      </a:r>
                    </a:p>
                  </a:txBody>
                  <a:tcPr marT="45695" marB="456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y</a:t>
                      </a:r>
                      <a:r>
                        <a:rPr kumimoji="1" lang="en-US" altLang="zh-CN" sz="2000" b="1" i="0"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2</a:t>
                      </a:r>
                      <a:endParaRPr kumimoji="1" lang="zh-CN" altLang="en-US"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4</a:t>
                      </a: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16</a:t>
                      </a:r>
                    </a:p>
                  </a:txBody>
                  <a:tcPr marT="45695" marB="456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y</a:t>
                      </a:r>
                      <a:r>
                        <a:rPr kumimoji="1" lang="en-US" altLang="zh-CN" sz="2000" b="1" i="0"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3</a:t>
                      </a:r>
                      <a:endParaRPr kumimoji="1" lang="zh-CN" altLang="en-US"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4</a:t>
                      </a: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12</a:t>
                      </a:r>
                    </a:p>
                  </a:txBody>
                  <a:tcPr marT="45695" marB="456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11200">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c</a:t>
                      </a:r>
                      <a:endParaRPr kumimoji="1" lang="zh-CN"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2</a:t>
                      </a: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3</a:t>
                      </a:r>
                    </a:p>
                  </a:txBody>
                  <a:tcPr marT="45695" marB="456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华文细黑" panose="02010600040101010101" pitchFamily="2" charset="-122"/>
                          <a:ea typeface="华文细黑" panose="02010600040101010101" pitchFamily="2" charset="-122"/>
                        </a:rPr>
                        <a:t> </a:t>
                      </a: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 max </a:t>
                      </a:r>
                      <a:r>
                        <a:rPr kumimoji="1" lang="en-US" altLang="zh-CN" sz="20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z</a:t>
                      </a:r>
                    </a:p>
                    <a:p>
                      <a:pPr marL="0" marR="0" lvl="0" indent="0" algn="ctr" defTabSz="914400" rtl="0" eaLnBrk="1" fontAlgn="base" latinLnBrk="0" hangingPunct="1">
                        <a:lnSpc>
                          <a:spcPct val="100000"/>
                        </a:lnSpc>
                        <a:spcBef>
                          <a:spcPct val="0"/>
                        </a:spcBef>
                        <a:spcAft>
                          <a:spcPct val="0"/>
                        </a:spcAft>
                        <a:buClrTx/>
                        <a:buSzPct val="85000"/>
                        <a:buFontTx/>
                        <a:buNone/>
                        <a:tabLst/>
                      </a:pPr>
                      <a:r>
                        <a:rPr kumimoji="1" lang="en-US" altLang="zh-CN" sz="20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a:t>
                      </a: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 min</a:t>
                      </a:r>
                      <a:r>
                        <a:rPr kumimoji="1" lang="en-US" altLang="zh-CN" sz="2000" b="1" i="1" u="none" strike="noStrike" cap="none" normalizeH="0" baseline="0">
                          <a:ln>
                            <a:noFill/>
                          </a:ln>
                          <a:solidFill>
                            <a:schemeClr val="bg2"/>
                          </a:solidFill>
                          <a:effectLst/>
                          <a:latin typeface="宋体" panose="02010600030101010101" pitchFamily="2" charset="-122"/>
                          <a:ea typeface="华文细黑" panose="02010600040101010101" pitchFamily="2" charset="-122"/>
                        </a:rPr>
                        <a:t>ω</a:t>
                      </a:r>
                      <a:endPar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endParaRPr>
                    </a:p>
                  </a:txBody>
                  <a:tcPr marT="45695" marB="456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 name="组合 1">
            <a:extLst>
              <a:ext uri="{FF2B5EF4-FFF2-40B4-BE49-F238E27FC236}">
                <a16:creationId xmlns:a16="http://schemas.microsoft.com/office/drawing/2014/main" id="{6D4CDB42-D59E-4703-BB8D-DF4FF749F9DE}"/>
              </a:ext>
            </a:extLst>
          </p:cNvPr>
          <p:cNvGrpSpPr>
            <a:grpSpLocks/>
          </p:cNvGrpSpPr>
          <p:nvPr/>
        </p:nvGrpSpPr>
        <p:grpSpPr bwMode="auto">
          <a:xfrm>
            <a:off x="258763" y="1992313"/>
            <a:ext cx="5145087" cy="3746500"/>
            <a:chOff x="152400" y="2057400"/>
            <a:chExt cx="5145138" cy="3746476"/>
          </a:xfrm>
        </p:grpSpPr>
        <p:sp>
          <p:nvSpPr>
            <p:cNvPr id="32812" name="右箭头 22">
              <a:extLst>
                <a:ext uri="{FF2B5EF4-FFF2-40B4-BE49-F238E27FC236}">
                  <a16:creationId xmlns:a16="http://schemas.microsoft.com/office/drawing/2014/main" id="{B546985F-05A5-484A-80F2-FAFECB2EF450}"/>
                </a:ext>
              </a:extLst>
            </p:cNvPr>
            <p:cNvSpPr>
              <a:spLocks noChangeArrowheads="1"/>
            </p:cNvSpPr>
            <p:nvPr/>
          </p:nvSpPr>
          <p:spPr bwMode="auto">
            <a:xfrm>
              <a:off x="533400" y="2111375"/>
              <a:ext cx="1055688" cy="333375"/>
            </a:xfrm>
            <a:prstGeom prst="rightArrow">
              <a:avLst>
                <a:gd name="adj1" fmla="val 50000"/>
                <a:gd name="adj2" fmla="val 49934"/>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en-US" sz="1200">
                <a:solidFill>
                  <a:srgbClr val="FF0000"/>
                </a:solidFill>
                <a:latin typeface="Times New Roman" panose="02020603050405020304" pitchFamily="18" charset="0"/>
              </a:endParaRPr>
            </a:p>
          </p:txBody>
        </p:sp>
        <p:sp>
          <p:nvSpPr>
            <p:cNvPr id="32813" name="右箭头 22">
              <a:extLst>
                <a:ext uri="{FF2B5EF4-FFF2-40B4-BE49-F238E27FC236}">
                  <a16:creationId xmlns:a16="http://schemas.microsoft.com/office/drawing/2014/main" id="{1BFFB165-7F6F-49B8-8643-D7EA25CDE70D}"/>
                </a:ext>
              </a:extLst>
            </p:cNvPr>
            <p:cNvSpPr>
              <a:spLocks noChangeArrowheads="1"/>
            </p:cNvSpPr>
            <p:nvPr/>
          </p:nvSpPr>
          <p:spPr bwMode="auto">
            <a:xfrm rot="5400000">
              <a:off x="96044" y="2723356"/>
              <a:ext cx="1055688" cy="333375"/>
            </a:xfrm>
            <a:prstGeom prst="rightArrow">
              <a:avLst>
                <a:gd name="adj1" fmla="val 50000"/>
                <a:gd name="adj2" fmla="val 49934"/>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en-US" sz="1200">
                <a:solidFill>
                  <a:srgbClr val="FF0000"/>
                </a:solidFill>
                <a:latin typeface="Times New Roman" panose="02020603050405020304" pitchFamily="18" charset="0"/>
              </a:endParaRPr>
            </a:p>
          </p:txBody>
        </p:sp>
        <p:sp>
          <p:nvSpPr>
            <p:cNvPr id="32814" name="矩形 21">
              <a:extLst>
                <a:ext uri="{FF2B5EF4-FFF2-40B4-BE49-F238E27FC236}">
                  <a16:creationId xmlns:a16="http://schemas.microsoft.com/office/drawing/2014/main" id="{C59BCB76-6E5E-41E2-94CB-DB3BAD5ED1A2}"/>
                </a:ext>
              </a:extLst>
            </p:cNvPr>
            <p:cNvSpPr>
              <a:spLocks noChangeArrowheads="1"/>
            </p:cNvSpPr>
            <p:nvPr/>
          </p:nvSpPr>
          <p:spPr bwMode="auto">
            <a:xfrm>
              <a:off x="1676400" y="2057400"/>
              <a:ext cx="914400" cy="3698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FF"/>
                  </a:solidFill>
                  <a:latin typeface="Times New Roman" panose="02020603050405020304" pitchFamily="18" charset="0"/>
                  <a:cs typeface="Times New Roman" panose="02020603050405020304" pitchFamily="18" charset="0"/>
                </a:rPr>
                <a:t>原问题</a:t>
              </a:r>
              <a:endParaRPr lang="en-US" altLang="zh-CN">
                <a:solidFill>
                  <a:srgbClr val="FF00FF"/>
                </a:solidFill>
                <a:latin typeface="Times New Roman" panose="02020603050405020304" pitchFamily="18" charset="0"/>
                <a:cs typeface="Times New Roman" panose="02020603050405020304" pitchFamily="18" charset="0"/>
              </a:endParaRPr>
            </a:p>
          </p:txBody>
        </p:sp>
        <p:sp>
          <p:nvSpPr>
            <p:cNvPr id="32815" name="矩形 21">
              <a:extLst>
                <a:ext uri="{FF2B5EF4-FFF2-40B4-BE49-F238E27FC236}">
                  <a16:creationId xmlns:a16="http://schemas.microsoft.com/office/drawing/2014/main" id="{B037863D-4FFC-441E-ADE3-B2E157892777}"/>
                </a:ext>
              </a:extLst>
            </p:cNvPr>
            <p:cNvSpPr>
              <a:spLocks noChangeArrowheads="1"/>
            </p:cNvSpPr>
            <p:nvPr/>
          </p:nvSpPr>
          <p:spPr bwMode="auto">
            <a:xfrm>
              <a:off x="152400" y="3440113"/>
              <a:ext cx="1219200" cy="369887"/>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FF"/>
                  </a:solidFill>
                  <a:latin typeface="Times New Roman" panose="02020603050405020304" pitchFamily="18" charset="0"/>
                  <a:cs typeface="Times New Roman" panose="02020603050405020304" pitchFamily="18" charset="0"/>
                </a:rPr>
                <a:t>对偶问题</a:t>
              </a:r>
              <a:endParaRPr lang="en-US" altLang="zh-CN">
                <a:solidFill>
                  <a:srgbClr val="FF00FF"/>
                </a:solidFill>
                <a:latin typeface="Times New Roman" panose="02020603050405020304" pitchFamily="18" charset="0"/>
                <a:cs typeface="Times New Roman" panose="02020603050405020304" pitchFamily="18" charset="0"/>
              </a:endParaRPr>
            </a:p>
          </p:txBody>
        </p:sp>
        <p:sp>
          <p:nvSpPr>
            <p:cNvPr id="32816" name="矩形 21">
              <a:extLst>
                <a:ext uri="{FF2B5EF4-FFF2-40B4-BE49-F238E27FC236}">
                  <a16:creationId xmlns:a16="http://schemas.microsoft.com/office/drawing/2014/main" id="{848E8D1B-7BC0-4FF0-B4D8-FC68BF919C1A}"/>
                </a:ext>
              </a:extLst>
            </p:cNvPr>
            <p:cNvSpPr>
              <a:spLocks noChangeArrowheads="1"/>
            </p:cNvSpPr>
            <p:nvPr/>
          </p:nvSpPr>
          <p:spPr bwMode="auto">
            <a:xfrm>
              <a:off x="2865437" y="5157545"/>
              <a:ext cx="2432101" cy="646331"/>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FF00FF"/>
                  </a:solidFill>
                  <a:latin typeface="Times New Roman" panose="02020603050405020304" pitchFamily="18" charset="0"/>
                  <a:cs typeface="Times New Roman" panose="02020603050405020304" pitchFamily="18" charset="0"/>
                </a:rPr>
                <a:t>横向看就是原问题；纵向看就是对偶问题！</a:t>
              </a:r>
              <a:endParaRPr lang="en-US" altLang="zh-CN" b="1">
                <a:solidFill>
                  <a:srgbClr val="FF00FF"/>
                </a:solidFill>
                <a:latin typeface="Times New Roman" panose="02020603050405020304" pitchFamily="18" charset="0"/>
                <a:cs typeface="Times New Roman" panose="02020603050405020304" pitchFamily="18" charset="0"/>
              </a:endParaRPr>
            </a:p>
          </p:txBody>
        </p:sp>
      </p:grpSp>
      <p:sp>
        <p:nvSpPr>
          <p:cNvPr id="32806" name="矩形 2">
            <a:extLst>
              <a:ext uri="{FF2B5EF4-FFF2-40B4-BE49-F238E27FC236}">
                <a16:creationId xmlns:a16="http://schemas.microsoft.com/office/drawing/2014/main" id="{417B8065-01F6-43AD-987D-E3E78329C495}"/>
              </a:ext>
            </a:extLst>
          </p:cNvPr>
          <p:cNvSpPr>
            <a:spLocks noChangeArrowheads="1"/>
          </p:cNvSpPr>
          <p:nvPr/>
        </p:nvSpPr>
        <p:spPr bwMode="auto">
          <a:xfrm>
            <a:off x="6288088" y="1870075"/>
            <a:ext cx="2784475"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Wingdings" panose="05000000000000000000" pitchFamily="2" charset="2"/>
              <a:buNone/>
            </a:pPr>
            <a:r>
              <a:rPr lang="en-US" altLang="zh-CN">
                <a:latin typeface="Times New Roman" panose="02020603050405020304" pitchFamily="18" charset="0"/>
              </a:rPr>
              <a:t>Max    z = 2x</a:t>
            </a:r>
            <a:r>
              <a:rPr lang="en-US" altLang="zh-CN" baseline="-25000">
                <a:latin typeface="Times New Roman" panose="02020603050405020304" pitchFamily="18" charset="0"/>
              </a:rPr>
              <a:t>1 </a:t>
            </a:r>
            <a:r>
              <a:rPr lang="en-US" altLang="zh-CN">
                <a:latin typeface="Times New Roman" panose="02020603050405020304" pitchFamily="18" charset="0"/>
              </a:rPr>
              <a:t>+3x</a:t>
            </a:r>
            <a:r>
              <a:rPr lang="en-US" altLang="zh-CN" baseline="-25000">
                <a:latin typeface="Times New Roman" panose="02020603050405020304" pitchFamily="18" charset="0"/>
              </a:rPr>
              <a:t>2</a:t>
            </a:r>
          </a:p>
          <a:p>
            <a:pPr eaLnBrk="1" hangingPunct="1">
              <a:lnSpc>
                <a:spcPct val="90000"/>
              </a:lnSpc>
              <a:buFont typeface="Wingdings" panose="05000000000000000000" pitchFamily="2" charset="2"/>
              <a:buNone/>
            </a:pPr>
            <a:r>
              <a:rPr lang="en-US" altLang="zh-CN">
                <a:latin typeface="Times New Roman" panose="02020603050405020304" pitchFamily="18" charset="0"/>
              </a:rPr>
              <a:t>              s.t.       x</a:t>
            </a:r>
            <a:r>
              <a:rPr lang="en-US" altLang="zh-CN" baseline="-25000">
                <a:latin typeface="Times New Roman" panose="02020603050405020304" pitchFamily="18" charset="0"/>
              </a:rPr>
              <a:t>1</a:t>
            </a:r>
            <a:r>
              <a:rPr lang="en-US" altLang="zh-CN">
                <a:latin typeface="Times New Roman" panose="02020603050405020304" pitchFamily="18" charset="0"/>
              </a:rPr>
              <a:t>+2x</a:t>
            </a:r>
            <a:r>
              <a:rPr lang="en-US" altLang="zh-CN" baseline="-25000">
                <a:latin typeface="Times New Roman" panose="02020603050405020304" pitchFamily="18" charset="0"/>
              </a:rPr>
              <a:t>2</a:t>
            </a:r>
            <a:r>
              <a:rPr lang="en-US" altLang="zh-CN">
                <a:latin typeface="Times New Roman" panose="02020603050405020304" pitchFamily="18" charset="0"/>
              </a:rPr>
              <a:t>≤8 </a:t>
            </a:r>
          </a:p>
          <a:p>
            <a:pPr eaLnBrk="1" hangingPunct="1">
              <a:lnSpc>
                <a:spcPct val="90000"/>
              </a:lnSpc>
              <a:buFont typeface="Wingdings" panose="05000000000000000000" pitchFamily="2" charset="2"/>
              <a:buNone/>
            </a:pPr>
            <a:r>
              <a:rPr lang="en-US" altLang="zh-CN">
                <a:latin typeface="Times New Roman" panose="02020603050405020304" pitchFamily="18" charset="0"/>
              </a:rPr>
              <a:t>                        4x</a:t>
            </a:r>
            <a:r>
              <a:rPr lang="en-US" altLang="zh-CN" baseline="-25000">
                <a:latin typeface="Times New Roman" panose="02020603050405020304" pitchFamily="18" charset="0"/>
              </a:rPr>
              <a:t>1</a:t>
            </a:r>
            <a:r>
              <a:rPr lang="en-US" altLang="zh-CN">
                <a:latin typeface="Times New Roman" panose="02020603050405020304" pitchFamily="18" charset="0"/>
              </a:rPr>
              <a:t>       ≤16</a:t>
            </a:r>
          </a:p>
          <a:p>
            <a:pPr eaLnBrk="1" hangingPunct="1">
              <a:lnSpc>
                <a:spcPct val="90000"/>
              </a:lnSpc>
              <a:buFont typeface="Wingdings" panose="05000000000000000000" pitchFamily="2" charset="2"/>
              <a:buNone/>
            </a:pPr>
            <a:r>
              <a:rPr lang="en-US" altLang="zh-CN">
                <a:latin typeface="Times New Roman" panose="02020603050405020304" pitchFamily="18" charset="0"/>
              </a:rPr>
              <a:t>                              4x</a:t>
            </a:r>
            <a:r>
              <a:rPr lang="en-US" altLang="zh-CN" baseline="-25000">
                <a:latin typeface="Times New Roman" panose="02020603050405020304" pitchFamily="18" charset="0"/>
              </a:rPr>
              <a:t>2</a:t>
            </a:r>
            <a:r>
              <a:rPr lang="en-US" altLang="zh-CN">
                <a:latin typeface="Times New Roman" panose="02020603050405020304" pitchFamily="18" charset="0"/>
              </a:rPr>
              <a:t> ≤12</a:t>
            </a:r>
          </a:p>
          <a:p>
            <a:pPr eaLnBrk="1" hangingPunct="1">
              <a:lnSpc>
                <a:spcPct val="90000"/>
              </a:lnSpc>
              <a:buFont typeface="Wingdings" panose="05000000000000000000" pitchFamily="2" charset="2"/>
              <a:buNone/>
            </a:pPr>
            <a:r>
              <a:rPr lang="en-US" altLang="zh-CN">
                <a:latin typeface="Times New Roman" panose="02020603050405020304" pitchFamily="18" charset="0"/>
              </a:rPr>
              <a:t>                         x</a:t>
            </a:r>
            <a:r>
              <a:rPr lang="en-US" altLang="zh-CN" baseline="-25000">
                <a:latin typeface="Times New Roman" panose="02020603050405020304" pitchFamily="18" charset="0"/>
              </a:rPr>
              <a:t>1</a:t>
            </a:r>
            <a:r>
              <a:rPr lang="en-US" altLang="zh-CN">
                <a:latin typeface="Times New Roman" panose="02020603050405020304" pitchFamily="18" charset="0"/>
              </a:rPr>
              <a:t>, x</a:t>
            </a:r>
            <a:r>
              <a:rPr lang="en-US" altLang="zh-CN" baseline="-25000">
                <a:latin typeface="Times New Roman" panose="02020603050405020304" pitchFamily="18" charset="0"/>
              </a:rPr>
              <a:t>2</a:t>
            </a:r>
            <a:r>
              <a:rPr lang="en-US" altLang="zh-CN">
                <a:latin typeface="Times New Roman" panose="02020603050405020304" pitchFamily="18" charset="0"/>
              </a:rPr>
              <a:t>   ≥0</a:t>
            </a:r>
            <a:endParaRPr lang="zh-CN" altLang="en-US"/>
          </a:p>
        </p:txBody>
      </p:sp>
      <p:sp>
        <p:nvSpPr>
          <p:cNvPr id="32807" name="Text Box 37">
            <a:extLst>
              <a:ext uri="{FF2B5EF4-FFF2-40B4-BE49-F238E27FC236}">
                <a16:creationId xmlns:a16="http://schemas.microsoft.com/office/drawing/2014/main" id="{8F4AA892-2033-41F8-B163-E5945A0C18DF}"/>
              </a:ext>
            </a:extLst>
          </p:cNvPr>
          <p:cNvSpPr txBox="1">
            <a:spLocks noChangeArrowheads="1"/>
          </p:cNvSpPr>
          <p:nvPr/>
        </p:nvSpPr>
        <p:spPr bwMode="auto">
          <a:xfrm>
            <a:off x="6853238" y="5562600"/>
            <a:ext cx="22907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s.t.     y</a:t>
            </a:r>
            <a:r>
              <a:rPr lang="en-US" altLang="zh-CN" b="1" baseline="-25000">
                <a:latin typeface="Times New Roman" panose="02020603050405020304" pitchFamily="18" charset="0"/>
              </a:rPr>
              <a:t>1</a:t>
            </a:r>
            <a:r>
              <a:rPr lang="en-US" altLang="zh-CN" b="1">
                <a:latin typeface="Times New Roman" panose="02020603050405020304" pitchFamily="18" charset="0"/>
              </a:rPr>
              <a:t>+4y</a:t>
            </a:r>
            <a:r>
              <a:rPr lang="en-US" altLang="zh-CN" b="1" baseline="-25000">
                <a:latin typeface="Times New Roman" panose="02020603050405020304" pitchFamily="18" charset="0"/>
              </a:rPr>
              <a:t>2</a:t>
            </a:r>
            <a:r>
              <a:rPr lang="en-US" altLang="zh-CN" b="1">
                <a:latin typeface="Times New Roman" panose="02020603050405020304" pitchFamily="18" charset="0"/>
              </a:rPr>
              <a:t>       ≥2</a:t>
            </a:r>
          </a:p>
        </p:txBody>
      </p:sp>
      <p:sp>
        <p:nvSpPr>
          <p:cNvPr id="32808" name="Text Box 38">
            <a:extLst>
              <a:ext uri="{FF2B5EF4-FFF2-40B4-BE49-F238E27FC236}">
                <a16:creationId xmlns:a16="http://schemas.microsoft.com/office/drawing/2014/main" id="{B8882930-9234-4052-AC16-09558394EC2B}"/>
              </a:ext>
            </a:extLst>
          </p:cNvPr>
          <p:cNvSpPr txBox="1">
            <a:spLocks noChangeArrowheads="1"/>
          </p:cNvSpPr>
          <p:nvPr/>
        </p:nvSpPr>
        <p:spPr bwMode="auto">
          <a:xfrm>
            <a:off x="7315200" y="5943600"/>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2y</a:t>
            </a:r>
            <a:r>
              <a:rPr lang="en-US" altLang="zh-CN" b="1" baseline="-25000">
                <a:latin typeface="Times New Roman" panose="02020603050405020304" pitchFamily="18" charset="0"/>
              </a:rPr>
              <a:t>1         </a:t>
            </a:r>
            <a:r>
              <a:rPr lang="en-US" altLang="zh-CN" b="1">
                <a:latin typeface="Times New Roman" panose="02020603050405020304" pitchFamily="18" charset="0"/>
              </a:rPr>
              <a:t>+4y</a:t>
            </a:r>
            <a:r>
              <a:rPr lang="en-US" altLang="zh-CN" b="1" baseline="-25000">
                <a:latin typeface="Times New Roman" panose="02020603050405020304" pitchFamily="18" charset="0"/>
              </a:rPr>
              <a:t>3</a:t>
            </a:r>
            <a:r>
              <a:rPr lang="en-US" altLang="zh-CN" b="1">
                <a:latin typeface="Times New Roman" panose="02020603050405020304" pitchFamily="18" charset="0"/>
              </a:rPr>
              <a:t> ≥3</a:t>
            </a:r>
          </a:p>
        </p:txBody>
      </p:sp>
      <p:sp>
        <p:nvSpPr>
          <p:cNvPr id="32809" name="Text Box 39">
            <a:extLst>
              <a:ext uri="{FF2B5EF4-FFF2-40B4-BE49-F238E27FC236}">
                <a16:creationId xmlns:a16="http://schemas.microsoft.com/office/drawing/2014/main" id="{679DF2C1-5338-426D-BACB-3AB578100575}"/>
              </a:ext>
            </a:extLst>
          </p:cNvPr>
          <p:cNvSpPr txBox="1">
            <a:spLocks noChangeArrowheads="1"/>
          </p:cNvSpPr>
          <p:nvPr/>
        </p:nvSpPr>
        <p:spPr bwMode="auto">
          <a:xfrm>
            <a:off x="7620000" y="6338888"/>
            <a:ext cx="1371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y</a:t>
            </a:r>
            <a:r>
              <a:rPr lang="en-US" altLang="zh-CN" b="1" baseline="-25000">
                <a:latin typeface="Times New Roman" panose="02020603050405020304" pitchFamily="18" charset="0"/>
              </a:rPr>
              <a:t>1</a:t>
            </a:r>
            <a:r>
              <a:rPr lang="en-US" altLang="zh-CN" b="1">
                <a:latin typeface="Times New Roman" panose="02020603050405020304" pitchFamily="18" charset="0"/>
              </a:rPr>
              <a:t>, y</a:t>
            </a:r>
            <a:r>
              <a:rPr lang="en-US" altLang="zh-CN" b="1" baseline="-25000">
                <a:latin typeface="Times New Roman" panose="02020603050405020304" pitchFamily="18" charset="0"/>
                <a:cs typeface="Times New Roman" panose="02020603050405020304" pitchFamily="18" charset="0"/>
              </a:rPr>
              <a:t>2</a:t>
            </a:r>
            <a:r>
              <a:rPr lang="en-US" altLang="zh-CN" b="1">
                <a:latin typeface="Times New Roman" panose="02020603050405020304" pitchFamily="18" charset="0"/>
              </a:rPr>
              <a:t>, y</a:t>
            </a:r>
            <a:r>
              <a:rPr lang="en-US" altLang="zh-CN" b="1" baseline="-25000">
                <a:latin typeface="Times New Roman" panose="02020603050405020304" pitchFamily="18" charset="0"/>
              </a:rPr>
              <a:t>3</a:t>
            </a:r>
            <a:r>
              <a:rPr lang="en-US" altLang="zh-CN" b="1">
                <a:latin typeface="Times New Roman" panose="02020603050405020304" pitchFamily="18" charset="0"/>
              </a:rPr>
              <a:t> ≥0          </a:t>
            </a:r>
          </a:p>
        </p:txBody>
      </p:sp>
      <p:sp>
        <p:nvSpPr>
          <p:cNvPr id="32810" name="Text Box 40">
            <a:extLst>
              <a:ext uri="{FF2B5EF4-FFF2-40B4-BE49-F238E27FC236}">
                <a16:creationId xmlns:a16="http://schemas.microsoft.com/office/drawing/2014/main" id="{A2BA5791-83A7-4814-BD97-9271A1BC1843}"/>
              </a:ext>
            </a:extLst>
          </p:cNvPr>
          <p:cNvSpPr txBox="1">
            <a:spLocks noChangeArrowheads="1"/>
          </p:cNvSpPr>
          <p:nvPr/>
        </p:nvSpPr>
        <p:spPr bwMode="auto">
          <a:xfrm>
            <a:off x="7010400" y="5181600"/>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zh-CN" b="1">
                <a:latin typeface="Times New Roman" panose="02020603050405020304" pitchFamily="18" charset="0"/>
                <a:cs typeface="Times New Roman" panose="02020603050405020304" pitchFamily="18" charset="0"/>
              </a:rPr>
              <a:t>ω</a:t>
            </a:r>
            <a:r>
              <a:rPr lang="en-US" altLang="zh-CN" b="1">
                <a:latin typeface="Times New Roman" panose="02020603050405020304" pitchFamily="18" charset="0"/>
              </a:rPr>
              <a:t>= 8 y</a:t>
            </a:r>
            <a:r>
              <a:rPr lang="en-US" altLang="zh-CN" b="1" baseline="-25000">
                <a:latin typeface="Times New Roman" panose="02020603050405020304" pitchFamily="18" charset="0"/>
              </a:rPr>
              <a:t>1</a:t>
            </a:r>
            <a:r>
              <a:rPr lang="en-US" altLang="zh-CN" b="1">
                <a:latin typeface="Times New Roman" panose="02020603050405020304" pitchFamily="18" charset="0"/>
              </a:rPr>
              <a:t> +16y</a:t>
            </a:r>
            <a:r>
              <a:rPr lang="en-US" altLang="zh-CN" b="1" baseline="-25000">
                <a:latin typeface="Times New Roman" panose="02020603050405020304" pitchFamily="18" charset="0"/>
                <a:cs typeface="Times New Roman" panose="02020603050405020304" pitchFamily="18" charset="0"/>
              </a:rPr>
              <a:t>2</a:t>
            </a:r>
            <a:r>
              <a:rPr lang="en-US" altLang="zh-CN" b="1">
                <a:latin typeface="Times New Roman" panose="02020603050405020304" pitchFamily="18" charset="0"/>
              </a:rPr>
              <a:t> +12y</a:t>
            </a:r>
            <a:r>
              <a:rPr lang="en-US" altLang="zh-CN" b="1" baseline="-25000">
                <a:latin typeface="Times New Roman" panose="02020603050405020304" pitchFamily="18" charset="0"/>
              </a:rPr>
              <a:t>3</a:t>
            </a:r>
            <a:endParaRPr lang="en-US" altLang="zh-CN" b="1">
              <a:latin typeface="Times New Roman" panose="02020603050405020304" pitchFamily="18" charset="0"/>
            </a:endParaRPr>
          </a:p>
        </p:txBody>
      </p:sp>
      <p:sp>
        <p:nvSpPr>
          <p:cNvPr id="32811" name="Text Box 41">
            <a:extLst>
              <a:ext uri="{FF2B5EF4-FFF2-40B4-BE49-F238E27FC236}">
                <a16:creationId xmlns:a16="http://schemas.microsoft.com/office/drawing/2014/main" id="{9053AE1E-6038-4E6E-88F2-5BE6D06D7A81}"/>
              </a:ext>
            </a:extLst>
          </p:cNvPr>
          <p:cNvSpPr txBox="1">
            <a:spLocks noChangeArrowheads="1"/>
          </p:cNvSpPr>
          <p:nvPr/>
        </p:nvSpPr>
        <p:spPr bwMode="auto">
          <a:xfrm>
            <a:off x="6400800" y="51816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latin typeface="Times New Roman" panose="02020603050405020304" pitchFamily="18" charset="0"/>
              </a:rPr>
              <a:t>Min</a:t>
            </a:r>
            <a:r>
              <a:rPr lang="en-US" altLang="zh-CN">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a:extLst>
              <a:ext uri="{FF2B5EF4-FFF2-40B4-BE49-F238E27FC236}">
                <a16:creationId xmlns:a16="http://schemas.microsoft.com/office/drawing/2014/main" id="{05F59665-BAE4-496E-9D3E-4E61641FB4E8}"/>
              </a:ext>
            </a:extLst>
          </p:cNvPr>
          <p:cNvSpPr>
            <a:spLocks noGrp="1" noChangeArrowheads="1"/>
          </p:cNvSpPr>
          <p:nvPr>
            <p:ph type="ctrTitle"/>
          </p:nvPr>
        </p:nvSpPr>
        <p:spPr/>
        <p:txBody>
          <a:bodyPr/>
          <a:lstStyle/>
          <a:p>
            <a:pPr eaLnBrk="1" hangingPunct="1"/>
            <a:r>
              <a:rPr lang="zh-CN" altLang="en-US"/>
              <a:t>第 </a:t>
            </a:r>
            <a:r>
              <a:rPr lang="en-US" altLang="zh-CN"/>
              <a:t>4 </a:t>
            </a:r>
            <a:r>
              <a:rPr lang="zh-CN" altLang="en-US"/>
              <a:t>节</a:t>
            </a:r>
          </a:p>
        </p:txBody>
      </p:sp>
      <p:sp>
        <p:nvSpPr>
          <p:cNvPr id="34819" name="Rectangle 5">
            <a:extLst>
              <a:ext uri="{FF2B5EF4-FFF2-40B4-BE49-F238E27FC236}">
                <a16:creationId xmlns:a16="http://schemas.microsoft.com/office/drawing/2014/main" id="{5232F4CF-D0D9-40C8-9DF1-5CA00A48E529}"/>
              </a:ext>
            </a:extLst>
          </p:cNvPr>
          <p:cNvSpPr>
            <a:spLocks noGrp="1" noChangeArrowheads="1"/>
          </p:cNvSpPr>
          <p:nvPr>
            <p:ph type="subTitle" idx="1"/>
          </p:nvPr>
        </p:nvSpPr>
        <p:spPr/>
        <p:txBody>
          <a:bodyPr/>
          <a:lstStyle/>
          <a:p>
            <a:pPr eaLnBrk="1" hangingPunct="1"/>
            <a:r>
              <a:rPr lang="zh-CN" altLang="en-US"/>
              <a:t>线性规划的对偶理论</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496C6E3-7F8D-446D-A5E4-45BEA08BB4A5}"/>
              </a:ext>
            </a:extLst>
          </p:cNvPr>
          <p:cNvSpPr>
            <a:spLocks noGrp="1" noChangeArrowheads="1"/>
          </p:cNvSpPr>
          <p:nvPr>
            <p:ph type="title"/>
          </p:nvPr>
        </p:nvSpPr>
        <p:spPr>
          <a:xfrm>
            <a:off x="457200" y="277813"/>
            <a:ext cx="8229600" cy="788987"/>
          </a:xfrm>
        </p:spPr>
        <p:txBody>
          <a:bodyPr/>
          <a:lstStyle/>
          <a:p>
            <a:pPr eaLnBrk="1" hangingPunct="1"/>
            <a:r>
              <a:rPr lang="zh-CN" altLang="en-US"/>
              <a:t>原问题与对偶问题的表达形式</a:t>
            </a:r>
          </a:p>
        </p:txBody>
      </p:sp>
      <p:sp>
        <p:nvSpPr>
          <p:cNvPr id="35843" name="Rectangle 3">
            <a:extLst>
              <a:ext uri="{FF2B5EF4-FFF2-40B4-BE49-F238E27FC236}">
                <a16:creationId xmlns:a16="http://schemas.microsoft.com/office/drawing/2014/main" id="{C3BD2493-9B29-4CE1-BBDA-F7295AC70687}"/>
              </a:ext>
            </a:extLst>
          </p:cNvPr>
          <p:cNvSpPr>
            <a:spLocks noGrp="1" noChangeArrowheads="1"/>
          </p:cNvSpPr>
          <p:nvPr>
            <p:ph type="body" sz="half" idx="1"/>
          </p:nvPr>
        </p:nvSpPr>
        <p:spPr>
          <a:xfrm>
            <a:off x="533400" y="1479550"/>
            <a:ext cx="3733800" cy="1644650"/>
          </a:xfrm>
          <a:noFill/>
        </p:spPr>
        <p:txBody>
          <a:bodyPr/>
          <a:lstStyle/>
          <a:p>
            <a:pPr eaLnBrk="1" hangingPunct="1">
              <a:buFont typeface="Wingdings" panose="05000000000000000000" pitchFamily="2" charset="2"/>
              <a:buNone/>
            </a:pPr>
            <a:r>
              <a:rPr lang="zh-CN" altLang="en-US" sz="2400"/>
              <a:t>原问题：  </a:t>
            </a:r>
            <a:r>
              <a:rPr lang="en-US" altLang="zh-CN" sz="2400">
                <a:latin typeface="Times New Roman" panose="02020603050405020304" pitchFamily="18" charset="0"/>
              </a:rPr>
              <a:t>max   z= CX</a:t>
            </a:r>
          </a:p>
          <a:p>
            <a:pPr eaLnBrk="1" hangingPunct="1">
              <a:buFont typeface="Wingdings" panose="05000000000000000000" pitchFamily="2" charset="2"/>
              <a:buNone/>
            </a:pPr>
            <a:r>
              <a:rPr lang="en-US" altLang="zh-CN" sz="2400" b="0">
                <a:latin typeface="Times New Roman" panose="02020603050405020304" pitchFamily="18" charset="0"/>
              </a:rPr>
              <a:t>                            </a:t>
            </a:r>
            <a:r>
              <a:rPr lang="en-US" altLang="zh-CN" sz="2400">
                <a:latin typeface="Times New Roman" panose="02020603050405020304" pitchFamily="18" charset="0"/>
              </a:rPr>
              <a:t>AX</a:t>
            </a:r>
            <a:r>
              <a:rPr lang="en-US" altLang="zh-CN" sz="2400"/>
              <a:t>≤</a:t>
            </a:r>
            <a:r>
              <a:rPr lang="en-US" altLang="zh-CN" sz="2400">
                <a:latin typeface="Times New Roman" panose="02020603050405020304" pitchFamily="18" charset="0"/>
              </a:rPr>
              <a:t>b</a:t>
            </a:r>
          </a:p>
          <a:p>
            <a:pPr eaLnBrk="1" hangingPunct="1">
              <a:buFont typeface="Wingdings" panose="05000000000000000000" pitchFamily="2" charset="2"/>
              <a:buNone/>
            </a:pPr>
            <a:r>
              <a:rPr lang="en-US" altLang="zh-CN" sz="2400">
                <a:latin typeface="Times New Roman" panose="02020603050405020304" pitchFamily="18" charset="0"/>
              </a:rPr>
              <a:t>                               X</a:t>
            </a:r>
            <a:r>
              <a:rPr lang="en-US" altLang="zh-CN" sz="2400"/>
              <a:t>≥0</a:t>
            </a:r>
          </a:p>
        </p:txBody>
      </p:sp>
      <p:sp>
        <p:nvSpPr>
          <p:cNvPr id="35844" name="Rectangle 4">
            <a:extLst>
              <a:ext uri="{FF2B5EF4-FFF2-40B4-BE49-F238E27FC236}">
                <a16:creationId xmlns:a16="http://schemas.microsoft.com/office/drawing/2014/main" id="{2E76C299-5574-4BA6-97D9-1CCB04B5A4B6}"/>
              </a:ext>
            </a:extLst>
          </p:cNvPr>
          <p:cNvSpPr>
            <a:spLocks noChangeArrowheads="1"/>
          </p:cNvSpPr>
          <p:nvPr/>
        </p:nvSpPr>
        <p:spPr bwMode="auto">
          <a:xfrm>
            <a:off x="4572000" y="1524000"/>
            <a:ext cx="4267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400"/>
              <a:t>对偶问题：  </a:t>
            </a:r>
            <a:r>
              <a:rPr lang="en-US" altLang="zh-CN" sz="2400">
                <a:latin typeface="Times New Roman" panose="02020603050405020304" pitchFamily="18" charset="0"/>
              </a:rPr>
              <a:t>min   </a:t>
            </a:r>
            <a:r>
              <a:rPr lang="el-GR" altLang="zh-CN" sz="2400">
                <a:latin typeface="Times New Roman" panose="02020603050405020304" pitchFamily="18" charset="0"/>
                <a:cs typeface="Times New Roman" panose="02020603050405020304" pitchFamily="18" charset="0"/>
              </a:rPr>
              <a:t>ω</a:t>
            </a:r>
            <a:r>
              <a:rPr lang="en-US" altLang="zh-CN" sz="2400">
                <a:latin typeface="Times New Roman" panose="02020603050405020304" pitchFamily="18" charset="0"/>
              </a:rPr>
              <a:t>= Yb</a:t>
            </a:r>
            <a:endParaRPr lang="en-US" altLang="zh-CN" sz="2400" b="0">
              <a:latin typeface="Times New Roman" panose="02020603050405020304" pitchFamily="18" charset="0"/>
            </a:endParaRPr>
          </a:p>
          <a:p>
            <a:pPr eaLnBrk="1" hangingPunct="1">
              <a:buFont typeface="Wingdings" panose="05000000000000000000" pitchFamily="2" charset="2"/>
              <a:buNone/>
            </a:pPr>
            <a:r>
              <a:rPr lang="en-US" altLang="zh-CN" sz="2400" b="0">
                <a:latin typeface="Times New Roman" panose="02020603050405020304" pitchFamily="18" charset="0"/>
              </a:rPr>
              <a:t>                                </a:t>
            </a:r>
            <a:r>
              <a:rPr lang="en-US" altLang="zh-CN" sz="2400">
                <a:latin typeface="Times New Roman" panose="02020603050405020304" pitchFamily="18" charset="0"/>
              </a:rPr>
              <a:t>YA </a:t>
            </a:r>
            <a:r>
              <a:rPr lang="en-US" altLang="zh-CN" sz="2400"/>
              <a:t>≥ </a:t>
            </a:r>
            <a:r>
              <a:rPr lang="en-US" altLang="zh-CN" sz="2400">
                <a:latin typeface="Times New Roman" panose="02020603050405020304" pitchFamily="18" charset="0"/>
              </a:rPr>
              <a:t>C</a:t>
            </a:r>
          </a:p>
          <a:p>
            <a:pPr eaLnBrk="1" hangingPunct="1">
              <a:buFont typeface="Wingdings" panose="05000000000000000000" pitchFamily="2" charset="2"/>
              <a:buNone/>
            </a:pPr>
            <a:r>
              <a:rPr lang="en-US" altLang="zh-CN" sz="2400" b="0">
                <a:latin typeface="Times New Roman" panose="02020603050405020304" pitchFamily="18" charset="0"/>
              </a:rPr>
              <a:t>                                </a:t>
            </a:r>
            <a:r>
              <a:rPr lang="en-US" altLang="zh-CN" sz="2400">
                <a:latin typeface="Times New Roman" panose="02020603050405020304" pitchFamily="18" charset="0"/>
              </a:rPr>
              <a:t>Y</a:t>
            </a:r>
            <a:r>
              <a:rPr lang="en-US" altLang="zh-CN" sz="2400"/>
              <a:t>≥0</a:t>
            </a:r>
          </a:p>
        </p:txBody>
      </p:sp>
      <p:sp>
        <p:nvSpPr>
          <p:cNvPr id="35845" name="Text Box 5">
            <a:extLst>
              <a:ext uri="{FF2B5EF4-FFF2-40B4-BE49-F238E27FC236}">
                <a16:creationId xmlns:a16="http://schemas.microsoft.com/office/drawing/2014/main" id="{FCC73A07-B3DC-407C-B20D-2F5B46878067}"/>
              </a:ext>
            </a:extLst>
          </p:cNvPr>
          <p:cNvSpPr txBox="1">
            <a:spLocks noChangeArrowheads="1"/>
          </p:cNvSpPr>
          <p:nvPr/>
        </p:nvSpPr>
        <p:spPr bwMode="auto">
          <a:xfrm>
            <a:off x="1219200" y="3124200"/>
            <a:ext cx="44958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0"/>
              <a:t>上两式中，</a:t>
            </a:r>
          </a:p>
          <a:p>
            <a:pPr eaLnBrk="1" hangingPunct="1">
              <a:spcBef>
                <a:spcPct val="50000"/>
              </a:spcBef>
              <a:buClrTx/>
              <a:buSzTx/>
              <a:buFontTx/>
              <a:buNone/>
            </a:pPr>
            <a:r>
              <a:rPr lang="en-US" altLang="zh-CN" sz="2400">
                <a:latin typeface="Times New Roman" panose="02020603050405020304" pitchFamily="18" charset="0"/>
              </a:rPr>
              <a:t>X</a:t>
            </a:r>
            <a:r>
              <a:rPr lang="en-US" altLang="zh-CN" sz="2400" b="0">
                <a:latin typeface="Times New Roman" panose="02020603050405020304" pitchFamily="18" charset="0"/>
              </a:rPr>
              <a:t>= (x</a:t>
            </a:r>
            <a:r>
              <a:rPr lang="en-US" altLang="zh-CN" sz="2400" b="0" baseline="-25000">
                <a:latin typeface="Times New Roman" panose="02020603050405020304" pitchFamily="18" charset="0"/>
              </a:rPr>
              <a:t>1</a:t>
            </a:r>
            <a:r>
              <a:rPr lang="en-US" altLang="zh-CN" sz="2400" b="0">
                <a:latin typeface="Times New Roman" panose="02020603050405020304" pitchFamily="18" charset="0"/>
              </a:rPr>
              <a:t>, x</a:t>
            </a:r>
            <a:r>
              <a:rPr lang="en-US" altLang="zh-CN" sz="2400" b="0" baseline="-25000">
                <a:latin typeface="Times New Roman" panose="02020603050405020304" pitchFamily="18" charset="0"/>
              </a:rPr>
              <a:t>2</a:t>
            </a:r>
            <a:r>
              <a:rPr lang="en-US" altLang="zh-CN" sz="2400" b="0">
                <a:latin typeface="Times New Roman" panose="02020603050405020304" pitchFamily="18" charset="0"/>
              </a:rPr>
              <a:t>,…,x</a:t>
            </a:r>
            <a:r>
              <a:rPr lang="en-US" altLang="zh-CN" sz="2400" b="0" i="1" baseline="-25000">
                <a:latin typeface="Times New Roman" panose="02020603050405020304" pitchFamily="18" charset="0"/>
              </a:rPr>
              <a:t>n</a:t>
            </a:r>
            <a:r>
              <a:rPr lang="en-US" altLang="zh-CN" sz="2400" b="0">
                <a:latin typeface="Times New Roman" panose="02020603050405020304" pitchFamily="18" charset="0"/>
              </a:rPr>
              <a:t>)</a:t>
            </a:r>
            <a:r>
              <a:rPr lang="en-US" altLang="zh-CN" sz="2400" b="0" baseline="30000">
                <a:latin typeface="Times New Roman" panose="02020603050405020304" pitchFamily="18" charset="0"/>
              </a:rPr>
              <a:t>T</a:t>
            </a:r>
          </a:p>
          <a:p>
            <a:pPr eaLnBrk="1" hangingPunct="1">
              <a:spcBef>
                <a:spcPct val="50000"/>
              </a:spcBef>
              <a:buClrTx/>
              <a:buSzTx/>
              <a:buFontTx/>
              <a:buNone/>
            </a:pPr>
            <a:r>
              <a:rPr lang="en-US" altLang="zh-CN" sz="2400">
                <a:latin typeface="Times New Roman" panose="02020603050405020304" pitchFamily="18" charset="0"/>
              </a:rPr>
              <a:t>Y</a:t>
            </a:r>
            <a:r>
              <a:rPr lang="en-US" altLang="zh-CN" sz="2400" b="0">
                <a:latin typeface="Times New Roman" panose="02020603050405020304" pitchFamily="18" charset="0"/>
              </a:rPr>
              <a:t>= (y</a:t>
            </a:r>
            <a:r>
              <a:rPr lang="en-US" altLang="zh-CN" sz="2400" b="0" baseline="-25000">
                <a:latin typeface="Times New Roman" panose="02020603050405020304" pitchFamily="18" charset="0"/>
              </a:rPr>
              <a:t>1</a:t>
            </a:r>
            <a:r>
              <a:rPr lang="en-US" altLang="zh-CN" sz="2400" b="0">
                <a:latin typeface="Times New Roman" panose="02020603050405020304" pitchFamily="18" charset="0"/>
              </a:rPr>
              <a:t>, y</a:t>
            </a:r>
            <a:r>
              <a:rPr lang="en-US" altLang="zh-CN" sz="2400" b="0" baseline="-25000">
                <a:latin typeface="Times New Roman" panose="02020603050405020304" pitchFamily="18" charset="0"/>
              </a:rPr>
              <a:t>2</a:t>
            </a:r>
            <a:r>
              <a:rPr lang="en-US" altLang="zh-CN" sz="2400" b="0">
                <a:latin typeface="Times New Roman" panose="02020603050405020304" pitchFamily="18" charset="0"/>
              </a:rPr>
              <a:t>,…,y</a:t>
            </a:r>
            <a:r>
              <a:rPr lang="en-US" altLang="zh-CN" sz="2400" b="0" i="1" baseline="-25000">
                <a:latin typeface="Times New Roman" panose="02020603050405020304" pitchFamily="18" charset="0"/>
              </a:rPr>
              <a:t>m</a:t>
            </a:r>
            <a:r>
              <a:rPr lang="en-US" altLang="zh-CN" sz="2400" b="0">
                <a:latin typeface="Times New Roman" panose="02020603050405020304" pitchFamily="18" charset="0"/>
              </a:rPr>
              <a:t>)</a:t>
            </a:r>
            <a:endParaRPr lang="en-US" altLang="zh-CN" sz="2400" b="0" baseline="30000">
              <a:latin typeface="Times New Roman" panose="02020603050405020304" pitchFamily="18" charset="0"/>
            </a:endParaRPr>
          </a:p>
          <a:p>
            <a:pPr eaLnBrk="1" hangingPunct="1">
              <a:spcBef>
                <a:spcPct val="50000"/>
              </a:spcBef>
              <a:buClrTx/>
              <a:buSzTx/>
              <a:buFontTx/>
              <a:buNone/>
            </a:pPr>
            <a:r>
              <a:rPr lang="en-US" altLang="zh-CN" sz="2400">
                <a:latin typeface="Times New Roman" panose="02020603050405020304" pitchFamily="18" charset="0"/>
              </a:rPr>
              <a:t>C</a:t>
            </a:r>
            <a:r>
              <a:rPr lang="en-US" altLang="zh-CN" sz="2400" b="0">
                <a:latin typeface="Times New Roman" panose="02020603050405020304" pitchFamily="18" charset="0"/>
              </a:rPr>
              <a:t>= (c</a:t>
            </a:r>
            <a:r>
              <a:rPr lang="en-US" altLang="zh-CN" sz="2400" b="0" baseline="-25000">
                <a:latin typeface="Times New Roman" panose="02020603050405020304" pitchFamily="18" charset="0"/>
              </a:rPr>
              <a:t>1</a:t>
            </a:r>
            <a:r>
              <a:rPr lang="en-US" altLang="zh-CN" sz="2400" b="0">
                <a:latin typeface="Times New Roman" panose="02020603050405020304" pitchFamily="18" charset="0"/>
              </a:rPr>
              <a:t>, c</a:t>
            </a:r>
            <a:r>
              <a:rPr lang="en-US" altLang="zh-CN" sz="2400" b="0" baseline="-25000">
                <a:latin typeface="Times New Roman" panose="02020603050405020304" pitchFamily="18" charset="0"/>
              </a:rPr>
              <a:t>2</a:t>
            </a:r>
            <a:r>
              <a:rPr lang="en-US" altLang="zh-CN" sz="2400" b="0">
                <a:latin typeface="Times New Roman" panose="02020603050405020304" pitchFamily="18" charset="0"/>
              </a:rPr>
              <a:t>,…,c</a:t>
            </a:r>
            <a:r>
              <a:rPr lang="en-US" altLang="zh-CN" sz="2400" b="0" i="1" baseline="-25000">
                <a:latin typeface="Times New Roman" panose="02020603050405020304" pitchFamily="18" charset="0"/>
              </a:rPr>
              <a:t>n</a:t>
            </a:r>
            <a:r>
              <a:rPr lang="en-US" altLang="zh-CN" sz="2400" b="0">
                <a:latin typeface="Times New Roman" panose="02020603050405020304" pitchFamily="18" charset="0"/>
              </a:rPr>
              <a:t>)</a:t>
            </a:r>
            <a:endParaRPr lang="en-US" altLang="zh-CN" sz="2400" b="0" baseline="30000">
              <a:latin typeface="Times New Roman" panose="02020603050405020304" pitchFamily="18" charset="0"/>
            </a:endParaRPr>
          </a:p>
          <a:p>
            <a:pPr eaLnBrk="1" hangingPunct="1">
              <a:spcBef>
                <a:spcPct val="50000"/>
              </a:spcBef>
              <a:buClrTx/>
              <a:buSzTx/>
              <a:buFontTx/>
              <a:buNone/>
            </a:pPr>
            <a:r>
              <a:rPr lang="en-US" altLang="zh-CN" sz="2400">
                <a:latin typeface="Times New Roman" panose="02020603050405020304" pitchFamily="18" charset="0"/>
              </a:rPr>
              <a:t>b</a:t>
            </a:r>
            <a:r>
              <a:rPr lang="en-US" altLang="zh-CN" sz="2400" b="0">
                <a:latin typeface="Times New Roman" panose="02020603050405020304" pitchFamily="18" charset="0"/>
              </a:rPr>
              <a:t>= (b</a:t>
            </a:r>
            <a:r>
              <a:rPr lang="en-US" altLang="zh-CN" sz="2400" b="0" baseline="-25000">
                <a:latin typeface="Times New Roman" panose="02020603050405020304" pitchFamily="18" charset="0"/>
              </a:rPr>
              <a:t>1</a:t>
            </a:r>
            <a:r>
              <a:rPr lang="en-US" altLang="zh-CN" sz="2400" b="0">
                <a:latin typeface="Times New Roman" panose="02020603050405020304" pitchFamily="18" charset="0"/>
              </a:rPr>
              <a:t>, b</a:t>
            </a:r>
            <a:r>
              <a:rPr lang="en-US" altLang="zh-CN" sz="2400" b="0" baseline="-25000">
                <a:latin typeface="Times New Roman" panose="02020603050405020304" pitchFamily="18" charset="0"/>
              </a:rPr>
              <a:t>2</a:t>
            </a:r>
            <a:r>
              <a:rPr lang="en-US" altLang="zh-CN" sz="2400" b="0">
                <a:latin typeface="Times New Roman" panose="02020603050405020304" pitchFamily="18" charset="0"/>
              </a:rPr>
              <a:t>,…,b</a:t>
            </a:r>
            <a:r>
              <a:rPr lang="en-US" altLang="zh-CN" sz="2400" b="0" i="1" baseline="-25000">
                <a:latin typeface="Times New Roman" panose="02020603050405020304" pitchFamily="18" charset="0"/>
              </a:rPr>
              <a:t>m</a:t>
            </a:r>
            <a:r>
              <a:rPr lang="en-US" altLang="zh-CN" sz="2400" b="0">
                <a:latin typeface="Times New Roman" panose="02020603050405020304" pitchFamily="18" charset="0"/>
              </a:rPr>
              <a:t>)</a:t>
            </a:r>
            <a:r>
              <a:rPr lang="en-US" altLang="zh-CN" sz="2400" b="0" baseline="30000">
                <a:latin typeface="Times New Roman" panose="02020603050405020304" pitchFamily="18" charset="0"/>
              </a:rPr>
              <a:t>T</a:t>
            </a:r>
          </a:p>
        </p:txBody>
      </p:sp>
      <p:graphicFrame>
        <p:nvGraphicFramePr>
          <p:cNvPr id="35846" name="Object 6">
            <a:extLst>
              <a:ext uri="{FF2B5EF4-FFF2-40B4-BE49-F238E27FC236}">
                <a16:creationId xmlns:a16="http://schemas.microsoft.com/office/drawing/2014/main" id="{E8035AFE-3CCF-447A-AA47-D92729D8FE93}"/>
              </a:ext>
            </a:extLst>
          </p:cNvPr>
          <p:cNvGraphicFramePr>
            <a:graphicFrameLocks noGrp="1" noChangeAspect="1"/>
          </p:cNvGraphicFramePr>
          <p:nvPr>
            <p:ph sz="half" idx="2"/>
          </p:nvPr>
        </p:nvGraphicFramePr>
        <p:xfrm>
          <a:off x="4572000" y="3733800"/>
          <a:ext cx="3048000" cy="1666875"/>
        </p:xfrm>
        <a:graphic>
          <a:graphicData uri="http://schemas.openxmlformats.org/presentationml/2006/ole">
            <mc:AlternateContent xmlns:mc="http://schemas.openxmlformats.org/markup-compatibility/2006">
              <mc:Choice xmlns:v="urn:schemas-microsoft-com:vml" Requires="v">
                <p:oleObj spid="_x0000_s35901" name="公式" r:id="rId3" imgW="1612900" imgH="939800" progId="Equation.3">
                  <p:embed/>
                </p:oleObj>
              </mc:Choice>
              <mc:Fallback>
                <p:oleObj name="公式" r:id="rId3" imgW="1612900" imgH="939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733800"/>
                        <a:ext cx="3048000" cy="166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7" name="矩形 21">
            <a:extLst>
              <a:ext uri="{FF2B5EF4-FFF2-40B4-BE49-F238E27FC236}">
                <a16:creationId xmlns:a16="http://schemas.microsoft.com/office/drawing/2014/main" id="{28647DBC-779A-4AE9-9B52-0147B8429ECB}"/>
              </a:ext>
            </a:extLst>
          </p:cNvPr>
          <p:cNvSpPr>
            <a:spLocks noChangeArrowheads="1"/>
          </p:cNvSpPr>
          <p:nvPr/>
        </p:nvSpPr>
        <p:spPr bwMode="auto">
          <a:xfrm>
            <a:off x="4648200" y="2339975"/>
            <a:ext cx="1143000" cy="3698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solidFill>
                  <a:srgbClr val="FF00FF"/>
                </a:solidFill>
                <a:latin typeface="Times New Roman" panose="02020603050405020304" pitchFamily="18" charset="0"/>
                <a:cs typeface="Times New Roman" panose="02020603050405020304" pitchFamily="18" charset="0"/>
              </a:rPr>
              <a:t>对称形式</a:t>
            </a:r>
            <a:endParaRPr lang="en-US" altLang="zh-CN" sz="1800">
              <a:solidFill>
                <a:srgbClr val="FF00FF"/>
              </a:solidFill>
              <a:latin typeface="Times New Roman" panose="02020603050405020304" pitchFamily="18" charset="0"/>
              <a:cs typeface="Times New Roman" panose="02020603050405020304" pitchFamily="18" charset="0"/>
            </a:endParaRPr>
          </a:p>
        </p:txBody>
      </p:sp>
      <p:sp>
        <p:nvSpPr>
          <p:cNvPr id="35848" name="矩形 21">
            <a:extLst>
              <a:ext uri="{FF2B5EF4-FFF2-40B4-BE49-F238E27FC236}">
                <a16:creationId xmlns:a16="http://schemas.microsoft.com/office/drawing/2014/main" id="{B8D56DAF-2B64-4686-A1DD-A7D7248509A6}"/>
              </a:ext>
            </a:extLst>
          </p:cNvPr>
          <p:cNvSpPr>
            <a:spLocks noChangeArrowheads="1"/>
          </p:cNvSpPr>
          <p:nvPr/>
        </p:nvSpPr>
        <p:spPr bwMode="auto">
          <a:xfrm>
            <a:off x="2667000" y="28194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0">
                <a:solidFill>
                  <a:srgbClr val="FF00FF"/>
                </a:solidFill>
                <a:latin typeface="Times New Roman" panose="02020603050405020304" pitchFamily="18" charset="0"/>
                <a:cs typeface="Times New Roman" panose="02020603050405020304" pitchFamily="18" charset="0"/>
              </a:rPr>
              <a:t>（</a:t>
            </a:r>
            <a:r>
              <a:rPr lang="en-US" altLang="zh-CN" sz="1800" b="0">
                <a:solidFill>
                  <a:srgbClr val="FF00FF"/>
                </a:solidFill>
                <a:latin typeface="Times New Roman" panose="02020603050405020304" pitchFamily="18" charset="0"/>
                <a:cs typeface="Times New Roman" panose="02020603050405020304" pitchFamily="18" charset="0"/>
              </a:rPr>
              <a:t>P</a:t>
            </a:r>
            <a:r>
              <a:rPr lang="zh-CN" altLang="en-US" sz="1800" b="0">
                <a:solidFill>
                  <a:srgbClr val="FF00FF"/>
                </a:solidFill>
                <a:latin typeface="Times New Roman" panose="02020603050405020304" pitchFamily="18" charset="0"/>
                <a:cs typeface="Times New Roman" panose="02020603050405020304" pitchFamily="18" charset="0"/>
              </a:rPr>
              <a:t>）</a:t>
            </a:r>
            <a:endParaRPr lang="en-US" altLang="zh-CN" sz="1800" b="0">
              <a:solidFill>
                <a:srgbClr val="FF00FF"/>
              </a:solidFill>
              <a:latin typeface="Times New Roman" panose="02020603050405020304" pitchFamily="18" charset="0"/>
              <a:cs typeface="Times New Roman" panose="02020603050405020304" pitchFamily="18" charset="0"/>
            </a:endParaRPr>
          </a:p>
        </p:txBody>
      </p:sp>
      <p:sp>
        <p:nvSpPr>
          <p:cNvPr id="35849" name="矩形 21">
            <a:extLst>
              <a:ext uri="{FF2B5EF4-FFF2-40B4-BE49-F238E27FC236}">
                <a16:creationId xmlns:a16="http://schemas.microsoft.com/office/drawing/2014/main" id="{D09B591D-B83C-4B16-AC84-EE2F5A102F5D}"/>
              </a:ext>
            </a:extLst>
          </p:cNvPr>
          <p:cNvSpPr>
            <a:spLocks noChangeArrowheads="1"/>
          </p:cNvSpPr>
          <p:nvPr/>
        </p:nvSpPr>
        <p:spPr bwMode="auto">
          <a:xfrm>
            <a:off x="7010400" y="28194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0">
                <a:solidFill>
                  <a:srgbClr val="FF00FF"/>
                </a:solidFill>
                <a:latin typeface="Times New Roman" panose="02020603050405020304" pitchFamily="18" charset="0"/>
                <a:cs typeface="Times New Roman" panose="02020603050405020304" pitchFamily="18" charset="0"/>
              </a:rPr>
              <a:t>（</a:t>
            </a:r>
            <a:r>
              <a:rPr lang="en-US" altLang="zh-CN" sz="1800" b="0">
                <a:solidFill>
                  <a:srgbClr val="FF00FF"/>
                </a:solidFill>
                <a:latin typeface="Times New Roman" panose="02020603050405020304" pitchFamily="18" charset="0"/>
                <a:cs typeface="Times New Roman" panose="02020603050405020304" pitchFamily="18" charset="0"/>
              </a:rPr>
              <a:t>D</a:t>
            </a:r>
            <a:r>
              <a:rPr lang="zh-CN" altLang="en-US" sz="1800" b="0">
                <a:solidFill>
                  <a:srgbClr val="FF00FF"/>
                </a:solidFill>
                <a:latin typeface="Times New Roman" panose="02020603050405020304" pitchFamily="18" charset="0"/>
                <a:cs typeface="Times New Roman" panose="02020603050405020304" pitchFamily="18" charset="0"/>
              </a:rPr>
              <a:t>）</a:t>
            </a:r>
            <a:endParaRPr lang="en-US" altLang="zh-CN" sz="1800" b="0">
              <a:solidFill>
                <a:srgbClr val="FF00FF"/>
              </a:solidFill>
              <a:latin typeface="Times New Roman" panose="02020603050405020304" pitchFamily="18" charset="0"/>
              <a:cs typeface="Times New Roman" panose="02020603050405020304" pitchFamily="18" charset="0"/>
            </a:endParaRPr>
          </a:p>
        </p:txBody>
      </p:sp>
      <p:sp>
        <p:nvSpPr>
          <p:cNvPr id="35850" name="矩形 21">
            <a:extLst>
              <a:ext uri="{FF2B5EF4-FFF2-40B4-BE49-F238E27FC236}">
                <a16:creationId xmlns:a16="http://schemas.microsoft.com/office/drawing/2014/main" id="{6E9D0C79-1719-4D3D-8C03-3CDB4FAD192C}"/>
              </a:ext>
            </a:extLst>
          </p:cNvPr>
          <p:cNvSpPr>
            <a:spLocks noChangeArrowheads="1"/>
          </p:cNvSpPr>
          <p:nvPr/>
        </p:nvSpPr>
        <p:spPr bwMode="auto">
          <a:xfrm>
            <a:off x="4038600" y="2830513"/>
            <a:ext cx="838200" cy="369887"/>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b="0">
                <a:solidFill>
                  <a:srgbClr val="FF00FF"/>
                </a:solidFill>
                <a:latin typeface="Times New Roman" panose="02020603050405020304" pitchFamily="18" charset="0"/>
                <a:cs typeface="Times New Roman" panose="02020603050405020304" pitchFamily="18" charset="0"/>
              </a:rPr>
              <a:t>Primal</a:t>
            </a:r>
          </a:p>
        </p:txBody>
      </p:sp>
      <p:sp>
        <p:nvSpPr>
          <p:cNvPr id="35851" name="右箭头 22">
            <a:extLst>
              <a:ext uri="{FF2B5EF4-FFF2-40B4-BE49-F238E27FC236}">
                <a16:creationId xmlns:a16="http://schemas.microsoft.com/office/drawing/2014/main" id="{3D7839DD-0B5D-41FC-9257-8125250C7527}"/>
              </a:ext>
            </a:extLst>
          </p:cNvPr>
          <p:cNvSpPr>
            <a:spLocks noChangeArrowheads="1"/>
          </p:cNvSpPr>
          <p:nvPr/>
        </p:nvSpPr>
        <p:spPr bwMode="auto">
          <a:xfrm rot="10800000">
            <a:off x="6477000" y="2819400"/>
            <a:ext cx="522288" cy="333375"/>
          </a:xfrm>
          <a:prstGeom prst="rightArrow">
            <a:avLst>
              <a:gd name="adj1" fmla="val 50000"/>
              <a:gd name="adj2" fmla="val 49938"/>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1200" b="0">
              <a:solidFill>
                <a:srgbClr val="FF0000"/>
              </a:solidFill>
              <a:latin typeface="Times New Roman" panose="02020603050405020304" pitchFamily="18" charset="0"/>
            </a:endParaRPr>
          </a:p>
        </p:txBody>
      </p:sp>
      <p:sp>
        <p:nvSpPr>
          <p:cNvPr id="35852" name="矩形 21">
            <a:extLst>
              <a:ext uri="{FF2B5EF4-FFF2-40B4-BE49-F238E27FC236}">
                <a16:creationId xmlns:a16="http://schemas.microsoft.com/office/drawing/2014/main" id="{10B67DE3-86FD-402F-B735-88451D3575C7}"/>
              </a:ext>
            </a:extLst>
          </p:cNvPr>
          <p:cNvSpPr>
            <a:spLocks noChangeArrowheads="1"/>
          </p:cNvSpPr>
          <p:nvPr/>
        </p:nvSpPr>
        <p:spPr bwMode="auto">
          <a:xfrm>
            <a:off x="5638800" y="2819400"/>
            <a:ext cx="762000" cy="3698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b="0">
                <a:solidFill>
                  <a:srgbClr val="FF00FF"/>
                </a:solidFill>
                <a:latin typeface="Times New Roman" panose="02020603050405020304" pitchFamily="18" charset="0"/>
                <a:cs typeface="Times New Roman" panose="02020603050405020304" pitchFamily="18" charset="0"/>
              </a:rPr>
              <a:t>Dual</a:t>
            </a:r>
          </a:p>
        </p:txBody>
      </p:sp>
      <p:sp>
        <p:nvSpPr>
          <p:cNvPr id="35853" name="右箭头 22">
            <a:extLst>
              <a:ext uri="{FF2B5EF4-FFF2-40B4-BE49-F238E27FC236}">
                <a16:creationId xmlns:a16="http://schemas.microsoft.com/office/drawing/2014/main" id="{D82872CD-C7E3-4E40-AFAE-A7098352EB08}"/>
              </a:ext>
            </a:extLst>
          </p:cNvPr>
          <p:cNvSpPr>
            <a:spLocks noChangeArrowheads="1"/>
          </p:cNvSpPr>
          <p:nvPr/>
        </p:nvSpPr>
        <p:spPr bwMode="auto">
          <a:xfrm>
            <a:off x="3440113" y="2830513"/>
            <a:ext cx="522287" cy="333375"/>
          </a:xfrm>
          <a:prstGeom prst="rightArrow">
            <a:avLst>
              <a:gd name="adj1" fmla="val 50000"/>
              <a:gd name="adj2" fmla="val 49937"/>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1200" b="0">
              <a:solidFill>
                <a:srgbClr val="FF0000"/>
              </a:solidFill>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a:extLst>
              <a:ext uri="{FF2B5EF4-FFF2-40B4-BE49-F238E27FC236}">
                <a16:creationId xmlns:a16="http://schemas.microsoft.com/office/drawing/2014/main" id="{B6A1C64E-D90E-4126-A505-BF30A0D13FDC}"/>
              </a:ext>
            </a:extLst>
          </p:cNvPr>
          <p:cNvSpPr txBox="1">
            <a:spLocks noChangeArrowheads="1"/>
          </p:cNvSpPr>
          <p:nvPr/>
        </p:nvSpPr>
        <p:spPr bwMode="auto">
          <a:xfrm>
            <a:off x="2667000" y="2057400"/>
            <a:ext cx="5105400" cy="461963"/>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b="0">
                <a:latin typeface="Times New Roman" panose="02020603050405020304" pitchFamily="18" charset="0"/>
              </a:rPr>
              <a:t> </a:t>
            </a:r>
          </a:p>
        </p:txBody>
      </p:sp>
      <p:sp>
        <p:nvSpPr>
          <p:cNvPr id="7" name="Text Box 5">
            <a:extLst>
              <a:ext uri="{FF2B5EF4-FFF2-40B4-BE49-F238E27FC236}">
                <a16:creationId xmlns:a16="http://schemas.microsoft.com/office/drawing/2014/main" id="{95EC1DF8-DA0A-459A-8ADA-030BA98F02CF}"/>
              </a:ext>
            </a:extLst>
          </p:cNvPr>
          <p:cNvSpPr txBox="1">
            <a:spLocks noChangeArrowheads="1"/>
          </p:cNvSpPr>
          <p:nvPr/>
        </p:nvSpPr>
        <p:spPr bwMode="auto">
          <a:xfrm rot="-5400000">
            <a:off x="1624807" y="3121818"/>
            <a:ext cx="2590800" cy="461963"/>
          </a:xfrm>
          <a:prstGeom prst="rect">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b="0">
                <a:solidFill>
                  <a:srgbClr val="FF0000"/>
                </a:solidFill>
                <a:latin typeface="Times New Roman" panose="02020603050405020304" pitchFamily="18" charset="0"/>
              </a:rPr>
              <a:t> </a:t>
            </a:r>
          </a:p>
        </p:txBody>
      </p:sp>
      <p:sp>
        <p:nvSpPr>
          <p:cNvPr id="36868" name="Rectangle 2">
            <a:extLst>
              <a:ext uri="{FF2B5EF4-FFF2-40B4-BE49-F238E27FC236}">
                <a16:creationId xmlns:a16="http://schemas.microsoft.com/office/drawing/2014/main" id="{71E2853F-DD8C-4CA6-B71A-935413279E10}"/>
              </a:ext>
            </a:extLst>
          </p:cNvPr>
          <p:cNvSpPr>
            <a:spLocks noGrp="1" noChangeArrowheads="1"/>
          </p:cNvSpPr>
          <p:nvPr>
            <p:ph type="title"/>
          </p:nvPr>
        </p:nvSpPr>
        <p:spPr/>
        <p:txBody>
          <a:bodyPr/>
          <a:lstStyle/>
          <a:p>
            <a:pPr eaLnBrk="1" hangingPunct="1"/>
            <a:r>
              <a:rPr lang="zh-CN" altLang="en-US"/>
              <a:t>原问题与对偶问题的关系</a:t>
            </a:r>
          </a:p>
        </p:txBody>
      </p:sp>
      <p:graphicFrame>
        <p:nvGraphicFramePr>
          <p:cNvPr id="113976" name="Group 312">
            <a:extLst>
              <a:ext uri="{FF2B5EF4-FFF2-40B4-BE49-F238E27FC236}">
                <a16:creationId xmlns:a16="http://schemas.microsoft.com/office/drawing/2014/main" id="{D3FBE3E0-2ED9-4C23-932C-242BA9F461C0}"/>
              </a:ext>
            </a:extLst>
          </p:cNvPr>
          <p:cNvGraphicFramePr>
            <a:graphicFrameLocks noGrp="1"/>
          </p:cNvGraphicFramePr>
          <p:nvPr>
            <p:ph sz="half" idx="2"/>
          </p:nvPr>
        </p:nvGraphicFramePr>
        <p:xfrm>
          <a:off x="838200" y="1577975"/>
          <a:ext cx="7315200" cy="3070226"/>
        </p:xfrm>
        <a:graphic>
          <a:graphicData uri="http://schemas.openxmlformats.org/drawingml/2006/table">
            <a:tbl>
              <a:tblPr/>
              <a:tblGrid>
                <a:gridCol w="1725613">
                  <a:extLst>
                    <a:ext uri="{9D8B030D-6E8A-4147-A177-3AD203B41FA5}">
                      <a16:colId xmlns:a16="http://schemas.microsoft.com/office/drawing/2014/main" val="20000"/>
                    </a:ext>
                  </a:extLst>
                </a:gridCol>
                <a:gridCol w="788987">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860425">
                  <a:extLst>
                    <a:ext uri="{9D8B030D-6E8A-4147-A177-3AD203B41FA5}">
                      <a16:colId xmlns:a16="http://schemas.microsoft.com/office/drawing/2014/main" val="20004"/>
                    </a:ext>
                  </a:extLst>
                </a:gridCol>
                <a:gridCol w="1104900">
                  <a:extLst>
                    <a:ext uri="{9D8B030D-6E8A-4147-A177-3AD203B41FA5}">
                      <a16:colId xmlns:a16="http://schemas.microsoft.com/office/drawing/2014/main" val="20005"/>
                    </a:ext>
                  </a:extLst>
                </a:gridCol>
                <a:gridCol w="1311275">
                  <a:extLst>
                    <a:ext uri="{9D8B030D-6E8A-4147-A177-3AD203B41FA5}">
                      <a16:colId xmlns:a16="http://schemas.microsoft.com/office/drawing/2014/main" val="20006"/>
                    </a:ext>
                  </a:extLst>
                </a:gridCol>
              </a:tblGrid>
              <a:tr h="4381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     </a:t>
                      </a:r>
                      <a:r>
                        <a:rPr kumimoji="0" lang="en-US" altLang="zh-CN" sz="2000" b="1" i="0" u="none" strike="noStrike" cap="none" normalizeH="0" baseline="0" dirty="0" err="1">
                          <a:ln>
                            <a:noFill/>
                          </a:ln>
                          <a:solidFill>
                            <a:schemeClr val="tx1"/>
                          </a:solidFill>
                          <a:effectLst/>
                          <a:latin typeface="Times New Roman" pitchFamily="18" charset="0"/>
                          <a:ea typeface="宋体" pitchFamily="2" charset="-122"/>
                        </a:rPr>
                        <a:t>y</a:t>
                      </a:r>
                      <a:r>
                        <a:rPr kumimoji="0" lang="en-US" altLang="zh-CN" sz="2000" b="1" i="0" u="none" strike="noStrike" cap="none" normalizeH="0" baseline="-25000" dirty="0" err="1">
                          <a:ln>
                            <a:noFill/>
                          </a:ln>
                          <a:solidFill>
                            <a:schemeClr val="tx1"/>
                          </a:solidFill>
                          <a:effectLst/>
                          <a:latin typeface="Times New Roman" pitchFamily="18" charset="0"/>
                          <a:ea typeface="宋体" pitchFamily="2" charset="-122"/>
                        </a:rPr>
                        <a:t>j</a:t>
                      </a: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         </a:t>
                      </a:r>
                      <a:r>
                        <a:rPr kumimoji="0" lang="en-US" altLang="zh-CN" sz="2000" b="1" i="0" u="none" strike="noStrike" cap="none" normalizeH="0" baseline="18000" dirty="0">
                          <a:ln>
                            <a:noFill/>
                          </a:ln>
                          <a:solidFill>
                            <a:schemeClr val="tx1"/>
                          </a:solidFill>
                          <a:effectLst/>
                          <a:latin typeface="Times New Roman" pitchFamily="18" charset="0"/>
                          <a:ea typeface="宋体" pitchFamily="2" charset="-122"/>
                        </a:rPr>
                        <a:t>xi</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2</a:t>
                      </a:r>
                    </a:p>
                  </a:txBody>
                  <a:tcPr marL="90000" marR="90000" marT="46800" marB="4680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n</a:t>
                      </a: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rPr>
                        <a:t>原关系</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Min </a:t>
                      </a:r>
                      <a:r>
                        <a:rPr kumimoji="0" lang="el-GR"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ω</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97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1</a:t>
                      </a:r>
                    </a:p>
                  </a:txBody>
                  <a:tcPr marL="90000" marR="90000" marT="46800" marB="46800"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dirty="0">
                          <a:ln>
                            <a:noFill/>
                          </a:ln>
                          <a:solidFill>
                            <a:schemeClr val="tx1"/>
                          </a:solidFill>
                          <a:effectLst/>
                          <a:latin typeface="Times New Roman" pitchFamily="18" charset="0"/>
                          <a:ea typeface="宋体" pitchFamily="2" charset="-122"/>
                        </a:rPr>
                        <a:t>11</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12</a:t>
                      </a:r>
                    </a:p>
                  </a:txBody>
                  <a:tcPr marL="90000" marR="90000" marT="46800" marB="46800"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dirty="0">
                          <a:ln>
                            <a:noFill/>
                          </a:ln>
                          <a:solidFill>
                            <a:schemeClr val="tx1"/>
                          </a:solidFill>
                          <a:effectLst/>
                          <a:latin typeface="Times New Roman" pitchFamily="18" charset="0"/>
                          <a:ea typeface="宋体" pitchFamily="2" charset="-122"/>
                        </a:rPr>
                        <a:t>1n</a:t>
                      </a: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宋体" pitchFamily="2" charset="-122"/>
                        </a:rPr>
                        <a:t>b</a:t>
                      </a:r>
                      <a:r>
                        <a:rPr kumimoji="0" lang="en-US" altLang="zh-CN" sz="2000" b="1" i="0" u="none" strike="noStrike" cap="none" normalizeH="0" baseline="-25000" dirty="0">
                          <a:ln>
                            <a:noFill/>
                          </a:ln>
                          <a:solidFill>
                            <a:schemeClr val="tx1"/>
                          </a:solidFill>
                          <a:effectLst/>
                          <a:latin typeface="Times New Roman" pitchFamily="18" charset="0"/>
                          <a:ea typeface="宋体"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2</a:t>
                      </a:r>
                    </a:p>
                  </a:txBody>
                  <a:tcPr marL="90000" marR="90000" marT="46800" marB="46800"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dirty="0">
                          <a:ln>
                            <a:noFill/>
                          </a:ln>
                          <a:solidFill>
                            <a:schemeClr val="tx1"/>
                          </a:solidFill>
                          <a:effectLst/>
                          <a:latin typeface="Times New Roman" pitchFamily="18" charset="0"/>
                          <a:ea typeface="宋体" pitchFamily="2" charset="-122"/>
                        </a:rPr>
                        <a:t>21</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22</a:t>
                      </a:r>
                    </a:p>
                  </a:txBody>
                  <a:tcPr marL="90000" marR="90000" marT="46800" marB="4680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2n</a:t>
                      </a: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dirty="0">
                          <a:ln>
                            <a:noFill/>
                          </a:ln>
                          <a:solidFill>
                            <a:schemeClr val="tx1"/>
                          </a:solidFill>
                          <a:effectLst/>
                          <a:latin typeface="Times New Roman" pitchFamily="18" charset="0"/>
                          <a:ea typeface="宋体" pitchFamily="2" charset="-122"/>
                        </a:rPr>
                        <a:t>b</a:t>
                      </a:r>
                      <a:r>
                        <a:rPr kumimoji="0" lang="en-US" altLang="zh-CN" sz="2000" b="1" i="0" u="none" strike="noStrike" cap="none" normalizeH="0" baseline="-25000" dirty="0">
                          <a:ln>
                            <a:noFill/>
                          </a:ln>
                          <a:solidFill>
                            <a:schemeClr val="tx1"/>
                          </a:solidFill>
                          <a:effectLst/>
                          <a:latin typeface="Times New Roman" pitchFamily="18" charset="0"/>
                          <a:ea typeface="宋体" pitchFamily="2" charset="-122"/>
                        </a:rPr>
                        <a:t>2</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381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vert="eaVert"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2000" b="1" i="0" u="none" strike="noStrike" cap="none" normalizeH="0" baseline="0" dirty="0">
                        <a:ln>
                          <a:noFill/>
                        </a:ln>
                        <a:solidFill>
                          <a:schemeClr val="tx1"/>
                        </a:solidFill>
                        <a:effectLst/>
                        <a:latin typeface="Arial" charset="0"/>
                        <a:ea typeface="宋体" pitchFamily="2" charset="-122"/>
                      </a:endParaRPr>
                    </a:p>
                  </a:txBody>
                  <a:tcPr marL="90000" marR="90000" marT="46800" marB="46800" vert="eaVert" anchor="ctr" anchorCtr="1"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endParaRPr kumimoji="0"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L="90000" marR="90000" marT="46800" marB="46800" vert="eaVert"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zh-CN" altLang="zh-CN" sz="20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800" marB="4680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vert="eaVert"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vert="eaVert" anchor="ctr" anchorCtr="1"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381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m</a:t>
                      </a:r>
                    </a:p>
                  </a:txBody>
                  <a:tcPr marL="90000" marR="90000" marT="46800" marB="46800" anchor="ctr" anchorCtr="1"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m1</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m2</a:t>
                      </a:r>
                    </a:p>
                  </a:txBody>
                  <a:tcPr marL="90000" marR="90000" marT="46800" marB="4680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a</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mn</a:t>
                      </a: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b</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m</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97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rPr>
                        <a:t>对偶关系</a:t>
                      </a:r>
                    </a:p>
                  </a:txBody>
                  <a:tcPr marL="90000" marR="90000" marT="46800" marB="46800"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rPr>
                        <a:t>Max z = Min </a:t>
                      </a:r>
                      <a:r>
                        <a:rPr kumimoji="0" lang="el-GR" altLang="zh-CN"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ω</a:t>
                      </a:r>
                      <a:endParaRPr kumimoji="0" lang="en-US" altLang="zh-CN" sz="20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extLst>
                  <a:ext uri="{0D108BD9-81ED-4DB2-BD59-A6C34878D82A}">
                    <a16:rowId xmlns:a16="http://schemas.microsoft.com/office/drawing/2014/main" val="10005"/>
                  </a:ext>
                </a:extLst>
              </a:tr>
              <a:tr h="4381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Max z</a:t>
                      </a:r>
                    </a:p>
                  </a:txBody>
                  <a:tcPr marL="90000" marR="90000" marT="46800" marB="46800"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c</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a:ln>
                            <a:noFill/>
                          </a:ln>
                          <a:solidFill>
                            <a:schemeClr val="tx1"/>
                          </a:solidFill>
                          <a:effectLst/>
                          <a:latin typeface="Times New Roman" pitchFamily="18" charset="0"/>
                          <a:ea typeface="宋体" pitchFamily="2" charset="-122"/>
                        </a:rPr>
                        <a:t>c</a:t>
                      </a:r>
                      <a:r>
                        <a:rPr kumimoji="0" lang="en-US" altLang="zh-CN" sz="2000" b="1" i="0" u="none" strike="noStrike" cap="none" normalizeH="0" baseline="-25000">
                          <a:ln>
                            <a:noFill/>
                          </a:ln>
                          <a:solidFill>
                            <a:schemeClr val="tx1"/>
                          </a:solidFill>
                          <a:effectLst/>
                          <a:latin typeface="Times New Roman" pitchFamily="18" charset="0"/>
                          <a:ea typeface="宋体" pitchFamily="2" charset="-122"/>
                        </a:rPr>
                        <a:t>2</a:t>
                      </a:r>
                    </a:p>
                  </a:txBody>
                  <a:tcPr marL="90000" marR="90000" marT="46800" marB="4680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a:t>
                      </a:r>
                    </a:p>
                  </a:txBody>
                  <a:tcPr marL="90000" marR="90000" marT="46800" marB="4680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altLang="zh-CN" sz="2000" b="1" i="1" u="none" strike="noStrike" cap="none" normalizeH="0" baseline="0" dirty="0" err="1">
                          <a:ln>
                            <a:noFill/>
                          </a:ln>
                          <a:solidFill>
                            <a:schemeClr val="tx1"/>
                          </a:solidFill>
                          <a:effectLst/>
                          <a:latin typeface="Times New Roman" pitchFamily="18" charset="0"/>
                          <a:ea typeface="宋体" pitchFamily="2" charset="-122"/>
                        </a:rPr>
                        <a:t>c</a:t>
                      </a:r>
                      <a:r>
                        <a:rPr kumimoji="0" lang="en-US" altLang="zh-CN" sz="2000" b="1" i="0" u="none" strike="noStrike" cap="none" normalizeH="0" baseline="-25000" dirty="0" err="1">
                          <a:ln>
                            <a:noFill/>
                          </a:ln>
                          <a:solidFill>
                            <a:schemeClr val="tx1"/>
                          </a:solidFill>
                          <a:effectLst/>
                          <a:latin typeface="Times New Roman" pitchFamily="18" charset="0"/>
                          <a:ea typeface="宋体" pitchFamily="2" charset="-122"/>
                        </a:rPr>
                        <a:t>n</a:t>
                      </a:r>
                      <a:endParaRPr kumimoji="0" lang="en-US" altLang="zh-CN" sz="2000" b="1" i="0" u="none" strike="noStrike" cap="none" normalizeH="0" baseline="-25000" dirty="0">
                        <a:ln>
                          <a:noFill/>
                        </a:ln>
                        <a:solidFill>
                          <a:schemeClr val="tx1"/>
                        </a:solidFill>
                        <a:effectLst/>
                        <a:latin typeface="Times New Roman" pitchFamily="18" charset="0"/>
                        <a:ea typeface="宋体"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006"/>
                  </a:ext>
                </a:extLst>
              </a:tr>
            </a:tbl>
          </a:graphicData>
        </a:graphic>
      </p:graphicFrame>
      <p:sp>
        <p:nvSpPr>
          <p:cNvPr id="8" name="矩形 7">
            <a:extLst>
              <a:ext uri="{FF2B5EF4-FFF2-40B4-BE49-F238E27FC236}">
                <a16:creationId xmlns:a16="http://schemas.microsoft.com/office/drawing/2014/main" id="{CCF43148-8236-4F04-BCBB-064C5C9F5143}"/>
              </a:ext>
            </a:extLst>
          </p:cNvPr>
          <p:cNvSpPr>
            <a:spLocks noChangeArrowheads="1"/>
          </p:cNvSpPr>
          <p:nvPr/>
        </p:nvSpPr>
        <p:spPr bwMode="auto">
          <a:xfrm>
            <a:off x="1066800" y="4787900"/>
            <a:ext cx="7315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FF"/>
                </a:solidFill>
              </a:rPr>
              <a:t>Primal-dual table, </a:t>
            </a:r>
            <a:r>
              <a:rPr lang="zh-CN" altLang="en-US" sz="2000">
                <a:solidFill>
                  <a:srgbClr val="FF00FF"/>
                </a:solidFill>
              </a:rPr>
              <a:t>原问题和对偶问题的约束条件之间的关系！</a:t>
            </a:r>
            <a:endParaRPr lang="zh-CN" altLang="en-US" sz="2000" b="0">
              <a:solidFill>
                <a:srgbClr val="FF0000"/>
              </a:solidFill>
            </a:endParaRPr>
          </a:p>
        </p:txBody>
      </p:sp>
      <p:sp>
        <p:nvSpPr>
          <p:cNvPr id="2" name="矩形 1">
            <a:extLst>
              <a:ext uri="{FF2B5EF4-FFF2-40B4-BE49-F238E27FC236}">
                <a16:creationId xmlns:a16="http://schemas.microsoft.com/office/drawing/2014/main" id="{4A454367-FD5A-4D1C-B0CD-DD4A7849AD79}"/>
              </a:ext>
            </a:extLst>
          </p:cNvPr>
          <p:cNvSpPr/>
          <p:nvPr/>
        </p:nvSpPr>
        <p:spPr>
          <a:xfrm>
            <a:off x="5867400" y="3886200"/>
            <a:ext cx="23622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xit" presetSubtype="0" fill="hold" grpId="0" nodeType="clickEffect">
                                  <p:stCondLst>
                                    <p:cond delay="0"/>
                                  </p:stCondLst>
                                  <p:childTnLst>
                                    <p:animEffect transition="out" filter="fade">
                                      <p:cBhvr>
                                        <p:cTn id="19" dur="500"/>
                                        <p:tgtEl>
                                          <p:spTgt spid="2"/>
                                        </p:tgtEl>
                                      </p:cBhvr>
                                    </p:animEffect>
                                    <p:set>
                                      <p:cBhvr>
                                        <p:cTn id="20"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63C5293-0C33-4C28-BDCB-F584B866CDCB}"/>
              </a:ext>
            </a:extLst>
          </p:cNvPr>
          <p:cNvSpPr>
            <a:spLocks noGrp="1" noChangeArrowheads="1"/>
          </p:cNvSpPr>
          <p:nvPr>
            <p:ph type="title"/>
          </p:nvPr>
        </p:nvSpPr>
        <p:spPr/>
        <p:txBody>
          <a:bodyPr/>
          <a:lstStyle/>
          <a:p>
            <a:pPr eaLnBrk="1" hangingPunct="1"/>
            <a:r>
              <a:rPr lang="zh-CN" altLang="en-US" sz="4400"/>
              <a:t>非对称形式处理（</a:t>
            </a:r>
            <a:r>
              <a:rPr lang="en-US" altLang="zh-CN" sz="4400"/>
              <a:t>P66</a:t>
            </a:r>
            <a:r>
              <a:rPr lang="zh-CN" altLang="en-US" sz="4400"/>
              <a:t>）</a:t>
            </a:r>
            <a:br>
              <a:rPr lang="zh-CN" altLang="en-US" sz="4400"/>
            </a:br>
            <a:endParaRPr lang="zh-CN" altLang="en-US"/>
          </a:p>
        </p:txBody>
      </p:sp>
      <p:sp>
        <p:nvSpPr>
          <p:cNvPr id="37891" name="Rectangle 3">
            <a:extLst>
              <a:ext uri="{FF2B5EF4-FFF2-40B4-BE49-F238E27FC236}">
                <a16:creationId xmlns:a16="http://schemas.microsoft.com/office/drawing/2014/main" id="{34AFF50B-C5C7-4195-BD2C-AD593A3A57D5}"/>
              </a:ext>
            </a:extLst>
          </p:cNvPr>
          <p:cNvSpPr>
            <a:spLocks noGrp="1" noChangeArrowheads="1"/>
          </p:cNvSpPr>
          <p:nvPr>
            <p:ph type="body" sz="half" idx="1"/>
          </p:nvPr>
        </p:nvSpPr>
        <p:spPr>
          <a:xfrm>
            <a:off x="457200" y="1600200"/>
            <a:ext cx="8077200" cy="4343400"/>
          </a:xfrm>
        </p:spPr>
        <p:txBody>
          <a:bodyPr/>
          <a:lstStyle/>
          <a:p>
            <a:pPr eaLnBrk="1" hangingPunct="1"/>
            <a:endParaRPr lang="en-US" altLang="zh-CN" sz="2400"/>
          </a:p>
          <a:p>
            <a:pPr eaLnBrk="1" hangingPunct="1"/>
            <a:endParaRPr lang="en-US" altLang="zh-CN" sz="2400"/>
          </a:p>
          <a:p>
            <a:pPr eaLnBrk="1" hangingPunct="1"/>
            <a:endParaRPr lang="en-US" altLang="zh-CN" sz="2400"/>
          </a:p>
          <a:p>
            <a:pPr eaLnBrk="1" hangingPunct="1">
              <a:buFont typeface="Wingdings" panose="05000000000000000000" pitchFamily="2" charset="2"/>
              <a:buNone/>
            </a:pPr>
            <a:endParaRPr lang="en-US" altLang="zh-CN" sz="2400"/>
          </a:p>
        </p:txBody>
      </p:sp>
      <p:sp>
        <p:nvSpPr>
          <p:cNvPr id="37892" name="内容占位符 4">
            <a:extLst>
              <a:ext uri="{FF2B5EF4-FFF2-40B4-BE49-F238E27FC236}">
                <a16:creationId xmlns:a16="http://schemas.microsoft.com/office/drawing/2014/main" id="{77254921-81EC-4333-971A-A7E8F9FBBFEE}"/>
              </a:ext>
            </a:extLst>
          </p:cNvPr>
          <p:cNvSpPr>
            <a:spLocks noGrp="1" noChangeArrowheads="1"/>
          </p:cNvSpPr>
          <p:nvPr>
            <p:ph sz="half" idx="2"/>
          </p:nvPr>
        </p:nvSpPr>
        <p:spPr>
          <a:xfrm>
            <a:off x="457200" y="1143000"/>
            <a:ext cx="7848600" cy="4953000"/>
          </a:xfrm>
        </p:spPr>
        <p:txBody>
          <a:bodyPr/>
          <a:lstStyle/>
          <a:p>
            <a:r>
              <a:rPr lang="zh-CN" altLang="en-US" dirty="0"/>
              <a:t>约束条件含等式约束条件</a:t>
            </a:r>
            <a:endParaRPr lang="en-US" altLang="zh-CN" dirty="0"/>
          </a:p>
          <a:p>
            <a:endParaRPr lang="en-US" altLang="zh-CN" dirty="0"/>
          </a:p>
          <a:p>
            <a:endParaRPr lang="en-US" altLang="zh-CN" dirty="0"/>
          </a:p>
          <a:p>
            <a:endParaRPr lang="en-US" altLang="zh-CN" dirty="0"/>
          </a:p>
          <a:p>
            <a:endParaRPr lang="en-US" altLang="zh-CN" dirty="0"/>
          </a:p>
          <a:p>
            <a:r>
              <a:rPr lang="zh-CN" altLang="en-US" dirty="0"/>
              <a:t>约束条件为≥型</a:t>
            </a:r>
            <a:endParaRPr lang="en-US" altLang="zh-CN" dirty="0"/>
          </a:p>
          <a:p>
            <a:endParaRPr lang="zh-CN" altLang="en-US" dirty="0"/>
          </a:p>
        </p:txBody>
      </p:sp>
      <p:graphicFrame>
        <p:nvGraphicFramePr>
          <p:cNvPr id="37893" name="Object 4">
            <a:extLst>
              <a:ext uri="{FF2B5EF4-FFF2-40B4-BE49-F238E27FC236}">
                <a16:creationId xmlns:a16="http://schemas.microsoft.com/office/drawing/2014/main" id="{CA2ACC74-B052-4E48-887D-05633688802A}"/>
              </a:ext>
            </a:extLst>
          </p:cNvPr>
          <p:cNvGraphicFramePr>
            <a:graphicFrameLocks noChangeAspect="1"/>
          </p:cNvGraphicFramePr>
          <p:nvPr/>
        </p:nvGraphicFramePr>
        <p:xfrm>
          <a:off x="990600" y="4648200"/>
          <a:ext cx="2593975" cy="838200"/>
        </p:xfrm>
        <a:graphic>
          <a:graphicData uri="http://schemas.openxmlformats.org/presentationml/2006/ole">
            <mc:AlternateContent xmlns:mc="http://schemas.openxmlformats.org/markup-compatibility/2006">
              <mc:Choice xmlns:v="urn:schemas-microsoft-com:vml" Requires="v">
                <p:oleObj spid="_x0000_s38140" name="Equation" r:id="rId3" imgW="1256755" imgH="406224" progId="Equation.DSMT4">
                  <p:embed/>
                </p:oleObj>
              </mc:Choice>
              <mc:Fallback>
                <p:oleObj name="Equation" r:id="rId3" imgW="1256755" imgH="406224"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648200"/>
                        <a:ext cx="259397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4" name="Object 5">
            <a:extLst>
              <a:ext uri="{FF2B5EF4-FFF2-40B4-BE49-F238E27FC236}">
                <a16:creationId xmlns:a16="http://schemas.microsoft.com/office/drawing/2014/main" id="{5C604DD8-9BFC-4931-862E-C01F2F51193E}"/>
              </a:ext>
            </a:extLst>
          </p:cNvPr>
          <p:cNvGraphicFramePr>
            <a:graphicFrameLocks noChangeAspect="1"/>
          </p:cNvGraphicFramePr>
          <p:nvPr/>
        </p:nvGraphicFramePr>
        <p:xfrm>
          <a:off x="5599113" y="4648200"/>
          <a:ext cx="2935287" cy="838200"/>
        </p:xfrm>
        <a:graphic>
          <a:graphicData uri="http://schemas.openxmlformats.org/presentationml/2006/ole">
            <mc:AlternateContent xmlns:mc="http://schemas.openxmlformats.org/markup-compatibility/2006">
              <mc:Choice xmlns:v="urn:schemas-microsoft-com:vml" Requires="v">
                <p:oleObj spid="_x0000_s38141" name="Equation" r:id="rId5" imgW="1422400" imgH="406400" progId="Equation.DSMT4">
                  <p:embed/>
                </p:oleObj>
              </mc:Choice>
              <mc:Fallback>
                <p:oleObj name="Equation" r:id="rId5" imgW="1422400" imgH="4064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9113" y="4648200"/>
                        <a:ext cx="2935287"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1">
            <a:extLst>
              <a:ext uri="{FF2B5EF4-FFF2-40B4-BE49-F238E27FC236}">
                <a16:creationId xmlns:a16="http://schemas.microsoft.com/office/drawing/2014/main" id="{E766078F-DE95-4906-8383-F2B716A641E2}"/>
              </a:ext>
            </a:extLst>
          </p:cNvPr>
          <p:cNvGrpSpPr>
            <a:grpSpLocks/>
          </p:cNvGrpSpPr>
          <p:nvPr/>
        </p:nvGrpSpPr>
        <p:grpSpPr bwMode="auto">
          <a:xfrm>
            <a:off x="3810000" y="4724400"/>
            <a:ext cx="1600200" cy="641350"/>
            <a:chOff x="2016" y="3072"/>
            <a:chExt cx="1008" cy="404"/>
          </a:xfrm>
        </p:grpSpPr>
        <p:sp>
          <p:nvSpPr>
            <p:cNvPr id="37903" name="AutoShape 42">
              <a:extLst>
                <a:ext uri="{FF2B5EF4-FFF2-40B4-BE49-F238E27FC236}">
                  <a16:creationId xmlns:a16="http://schemas.microsoft.com/office/drawing/2014/main" id="{1A1B5C93-5136-48CE-A37D-72052CEA32CA}"/>
                </a:ext>
              </a:extLst>
            </p:cNvPr>
            <p:cNvSpPr>
              <a:spLocks noChangeArrowheads="1"/>
            </p:cNvSpPr>
            <p:nvPr/>
          </p:nvSpPr>
          <p:spPr bwMode="auto">
            <a:xfrm>
              <a:off x="2016" y="3216"/>
              <a:ext cx="1008" cy="144"/>
            </a:xfrm>
            <a:prstGeom prst="leftRightArrow">
              <a:avLst>
                <a:gd name="adj1" fmla="val 50000"/>
                <a:gd name="adj2" fmla="val 14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04" name="Text Box 43">
              <a:extLst>
                <a:ext uri="{FF2B5EF4-FFF2-40B4-BE49-F238E27FC236}">
                  <a16:creationId xmlns:a16="http://schemas.microsoft.com/office/drawing/2014/main" id="{9832B26D-24F8-45D0-B630-1DD55D2084D2}"/>
                </a:ext>
              </a:extLst>
            </p:cNvPr>
            <p:cNvSpPr txBox="1">
              <a:spLocks noChangeArrowheads="1"/>
            </p:cNvSpPr>
            <p:nvPr/>
          </p:nvSpPr>
          <p:spPr bwMode="auto">
            <a:xfrm>
              <a:off x="2352" y="3072"/>
              <a:ext cx="52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对偶问题</a:t>
              </a:r>
            </a:p>
          </p:txBody>
        </p:sp>
      </p:grpSp>
      <p:grpSp>
        <p:nvGrpSpPr>
          <p:cNvPr id="3" name="组合 3">
            <a:extLst>
              <a:ext uri="{FF2B5EF4-FFF2-40B4-BE49-F238E27FC236}">
                <a16:creationId xmlns:a16="http://schemas.microsoft.com/office/drawing/2014/main" id="{05B5D944-1DA0-476A-8B7B-86B6D6909E4D}"/>
              </a:ext>
            </a:extLst>
          </p:cNvPr>
          <p:cNvGrpSpPr>
            <a:grpSpLocks/>
          </p:cNvGrpSpPr>
          <p:nvPr/>
        </p:nvGrpSpPr>
        <p:grpSpPr bwMode="auto">
          <a:xfrm>
            <a:off x="3652838" y="2133600"/>
            <a:ext cx="2025650" cy="1984375"/>
            <a:chOff x="3652044" y="2133600"/>
            <a:chExt cx="2025650" cy="1984886"/>
          </a:xfrm>
        </p:grpSpPr>
        <p:grpSp>
          <p:nvGrpSpPr>
            <p:cNvPr id="37899" name="Group 51">
              <a:extLst>
                <a:ext uri="{FF2B5EF4-FFF2-40B4-BE49-F238E27FC236}">
                  <a16:creationId xmlns:a16="http://schemas.microsoft.com/office/drawing/2014/main" id="{33F1AAB4-72BE-42F7-AF51-2B091DE96CCE}"/>
                </a:ext>
              </a:extLst>
            </p:cNvPr>
            <p:cNvGrpSpPr>
              <a:grpSpLocks/>
            </p:cNvGrpSpPr>
            <p:nvPr/>
          </p:nvGrpSpPr>
          <p:grpSpPr bwMode="auto">
            <a:xfrm>
              <a:off x="3810000" y="2133600"/>
              <a:ext cx="1600200" cy="641350"/>
              <a:chOff x="2016" y="3072"/>
              <a:chExt cx="1008" cy="404"/>
            </a:xfrm>
          </p:grpSpPr>
          <p:sp>
            <p:nvSpPr>
              <p:cNvPr id="37901" name="AutoShape 42">
                <a:extLst>
                  <a:ext uri="{FF2B5EF4-FFF2-40B4-BE49-F238E27FC236}">
                    <a16:creationId xmlns:a16="http://schemas.microsoft.com/office/drawing/2014/main" id="{53420180-84AE-41AC-9EFD-111A0DDFD2F7}"/>
                  </a:ext>
                </a:extLst>
              </p:cNvPr>
              <p:cNvSpPr>
                <a:spLocks noChangeArrowheads="1"/>
              </p:cNvSpPr>
              <p:nvPr/>
            </p:nvSpPr>
            <p:spPr bwMode="auto">
              <a:xfrm>
                <a:off x="2016" y="3216"/>
                <a:ext cx="1008" cy="144"/>
              </a:xfrm>
              <a:prstGeom prst="leftRightArrow">
                <a:avLst>
                  <a:gd name="adj1" fmla="val 50000"/>
                  <a:gd name="adj2" fmla="val 14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7902" name="Text Box 43">
                <a:extLst>
                  <a:ext uri="{FF2B5EF4-FFF2-40B4-BE49-F238E27FC236}">
                    <a16:creationId xmlns:a16="http://schemas.microsoft.com/office/drawing/2014/main" id="{04184569-B265-424B-B2F1-113441D84996}"/>
                  </a:ext>
                </a:extLst>
              </p:cNvPr>
              <p:cNvSpPr txBox="1">
                <a:spLocks noChangeArrowheads="1"/>
              </p:cNvSpPr>
              <p:nvPr/>
            </p:nvSpPr>
            <p:spPr bwMode="auto">
              <a:xfrm>
                <a:off x="2352" y="3072"/>
                <a:ext cx="52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t>对偶问题</a:t>
                </a:r>
              </a:p>
            </p:txBody>
          </p:sp>
        </p:grpSp>
        <p:graphicFrame>
          <p:nvGraphicFramePr>
            <p:cNvPr id="37900" name="Object 12">
              <a:extLst>
                <a:ext uri="{FF2B5EF4-FFF2-40B4-BE49-F238E27FC236}">
                  <a16:creationId xmlns:a16="http://schemas.microsoft.com/office/drawing/2014/main" id="{2E6E419A-529B-48ED-918E-269DC8F43C91}"/>
                </a:ext>
              </a:extLst>
            </p:cNvPr>
            <p:cNvGraphicFramePr>
              <a:graphicFrameLocks noChangeAspect="1"/>
            </p:cNvGraphicFramePr>
            <p:nvPr/>
          </p:nvGraphicFramePr>
          <p:xfrm>
            <a:off x="3652044" y="2953261"/>
            <a:ext cx="2025650" cy="1165225"/>
          </p:xfrm>
          <a:graphic>
            <a:graphicData uri="http://schemas.openxmlformats.org/presentationml/2006/ole">
              <mc:AlternateContent xmlns:mc="http://schemas.openxmlformats.org/markup-compatibility/2006">
                <mc:Choice xmlns:v="urn:schemas-microsoft-com:vml" Requires="v">
                  <p:oleObj spid="_x0000_s38142" name="Equation" r:id="rId7" imgW="1497950" imgH="863225" progId="Equation.DSMT4">
                    <p:embed/>
                  </p:oleObj>
                </mc:Choice>
                <mc:Fallback>
                  <p:oleObj name="Equation" r:id="rId7" imgW="1497950" imgH="863225"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2044" y="2953261"/>
                          <a:ext cx="202565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7897" name="Object 4">
            <a:extLst>
              <a:ext uri="{FF2B5EF4-FFF2-40B4-BE49-F238E27FC236}">
                <a16:creationId xmlns:a16="http://schemas.microsoft.com/office/drawing/2014/main" id="{2CB29115-FD99-4AF8-B696-BD261AAD364E}"/>
              </a:ext>
            </a:extLst>
          </p:cNvPr>
          <p:cNvGraphicFramePr>
            <a:graphicFrameLocks noChangeAspect="1"/>
          </p:cNvGraphicFramePr>
          <p:nvPr/>
        </p:nvGraphicFramePr>
        <p:xfrm>
          <a:off x="942975" y="1538288"/>
          <a:ext cx="2441575" cy="1997075"/>
        </p:xfrm>
        <a:graphic>
          <a:graphicData uri="http://schemas.openxmlformats.org/presentationml/2006/ole">
            <mc:AlternateContent xmlns:mc="http://schemas.openxmlformats.org/markup-compatibility/2006">
              <mc:Choice xmlns:v="urn:schemas-microsoft-com:vml" Requires="v">
                <p:oleObj spid="_x0000_s38143" name="Equation" r:id="rId9" imgW="1333500" imgH="1092200" progId="Equation.DSMT4">
                  <p:embed/>
                </p:oleObj>
              </mc:Choice>
              <mc:Fallback>
                <p:oleObj name="Equation" r:id="rId9" imgW="1333500" imgH="10922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2975" y="1538288"/>
                        <a:ext cx="2441575"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8" name="Object 4">
            <a:extLst>
              <a:ext uri="{FF2B5EF4-FFF2-40B4-BE49-F238E27FC236}">
                <a16:creationId xmlns:a16="http://schemas.microsoft.com/office/drawing/2014/main" id="{377FC8EC-654D-438B-AB1D-4680E68C5D29}"/>
              </a:ext>
            </a:extLst>
          </p:cNvPr>
          <p:cNvGraphicFramePr>
            <a:graphicFrameLocks noChangeAspect="1"/>
          </p:cNvGraphicFramePr>
          <p:nvPr/>
        </p:nvGraphicFramePr>
        <p:xfrm>
          <a:off x="5900738" y="1538288"/>
          <a:ext cx="2673350" cy="1927225"/>
        </p:xfrm>
        <a:graphic>
          <a:graphicData uri="http://schemas.openxmlformats.org/presentationml/2006/ole">
            <mc:AlternateContent xmlns:mc="http://schemas.openxmlformats.org/markup-compatibility/2006">
              <mc:Choice xmlns:v="urn:schemas-microsoft-com:vml" Requires="v">
                <p:oleObj spid="_x0000_s38144" name="Equation" r:id="rId11" imgW="1460500" imgH="1054100" progId="Equation.DSMT4">
                  <p:embed/>
                </p:oleObj>
              </mc:Choice>
              <mc:Fallback>
                <p:oleObj name="Equation" r:id="rId11" imgW="1460500" imgH="1054100" progId="Equation.DSMT4">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00738" y="1538288"/>
                        <a:ext cx="2673350"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986B1EB-4123-47F0-AD5E-0F7368C4DBC8}"/>
              </a:ext>
            </a:extLst>
          </p:cNvPr>
          <p:cNvSpPr>
            <a:spLocks noGrp="1" noChangeArrowheads="1"/>
          </p:cNvSpPr>
          <p:nvPr>
            <p:ph type="title"/>
          </p:nvPr>
        </p:nvSpPr>
        <p:spPr/>
        <p:txBody>
          <a:bodyPr/>
          <a:lstStyle/>
          <a:p>
            <a:pPr eaLnBrk="1" hangingPunct="1"/>
            <a:r>
              <a:rPr lang="zh-CN" altLang="en-US"/>
              <a:t>对偶变换规则</a:t>
            </a:r>
          </a:p>
        </p:txBody>
      </p:sp>
      <p:graphicFrame>
        <p:nvGraphicFramePr>
          <p:cNvPr id="38915" name="Object 35">
            <a:extLst>
              <a:ext uri="{FF2B5EF4-FFF2-40B4-BE49-F238E27FC236}">
                <a16:creationId xmlns:a16="http://schemas.microsoft.com/office/drawing/2014/main" id="{512F94D0-6E25-4409-B978-C97A974272EA}"/>
              </a:ext>
            </a:extLst>
          </p:cNvPr>
          <p:cNvGraphicFramePr>
            <a:graphicFrameLocks noChangeAspect="1"/>
          </p:cNvGraphicFramePr>
          <p:nvPr/>
        </p:nvGraphicFramePr>
        <p:xfrm>
          <a:off x="-344488" y="1119188"/>
          <a:ext cx="4824413" cy="4572000"/>
        </p:xfrm>
        <a:graphic>
          <a:graphicData uri="http://schemas.openxmlformats.org/presentationml/2006/ole">
            <mc:AlternateContent xmlns:mc="http://schemas.openxmlformats.org/markup-compatibility/2006">
              <mc:Choice xmlns:v="urn:schemas-microsoft-com:vml" Requires="v">
                <p:oleObj spid="_x0000_s39216" name="Equation" r:id="rId3" imgW="2387600" imgH="2222500" progId="Equation.DSMT4">
                  <p:embed/>
                </p:oleObj>
              </mc:Choice>
              <mc:Fallback>
                <p:oleObj name="Equation" r:id="rId3" imgW="2387600" imgH="2222500" progId="Equation.DSMT4">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88" y="1119188"/>
                        <a:ext cx="482441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Line 3">
            <a:extLst>
              <a:ext uri="{FF2B5EF4-FFF2-40B4-BE49-F238E27FC236}">
                <a16:creationId xmlns:a16="http://schemas.microsoft.com/office/drawing/2014/main" id="{172C43FC-74CD-4EBF-8813-2E39968E4569}"/>
              </a:ext>
            </a:extLst>
          </p:cNvPr>
          <p:cNvSpPr>
            <a:spLocks noChangeShapeType="1"/>
          </p:cNvSpPr>
          <p:nvPr/>
        </p:nvSpPr>
        <p:spPr bwMode="auto">
          <a:xfrm>
            <a:off x="4598988" y="1697038"/>
            <a:ext cx="720725" cy="0"/>
          </a:xfrm>
          <a:prstGeom prst="line">
            <a:avLst/>
          </a:prstGeom>
          <a:noFill/>
          <a:ln w="3810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2" name="Object 36">
            <a:extLst>
              <a:ext uri="{FF2B5EF4-FFF2-40B4-BE49-F238E27FC236}">
                <a16:creationId xmlns:a16="http://schemas.microsoft.com/office/drawing/2014/main" id="{036CEA63-E3F9-4C57-9B09-617B444A7BAF}"/>
              </a:ext>
            </a:extLst>
          </p:cNvPr>
          <p:cNvGraphicFramePr>
            <a:graphicFrameLocks noChangeAspect="1"/>
          </p:cNvGraphicFramePr>
          <p:nvPr/>
        </p:nvGraphicFramePr>
        <p:xfrm>
          <a:off x="5175250" y="1255713"/>
          <a:ext cx="2347913" cy="863600"/>
        </p:xfrm>
        <a:graphic>
          <a:graphicData uri="http://schemas.openxmlformats.org/presentationml/2006/ole">
            <mc:AlternateContent xmlns:mc="http://schemas.openxmlformats.org/markup-compatibility/2006">
              <mc:Choice xmlns:v="urn:schemas-microsoft-com:vml" Requires="v">
                <p:oleObj spid="_x0000_s39217" name="公式" r:id="rId5" imgW="1193800" imgH="431800" progId="Equation.3">
                  <p:embed/>
                </p:oleObj>
              </mc:Choice>
              <mc:Fallback>
                <p:oleObj name="公式" r:id="rId5" imgW="1193800" imgH="431800"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5250" y="1255713"/>
                        <a:ext cx="234791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37">
            <a:extLst>
              <a:ext uri="{FF2B5EF4-FFF2-40B4-BE49-F238E27FC236}">
                <a16:creationId xmlns:a16="http://schemas.microsoft.com/office/drawing/2014/main" id="{4124861F-7DC3-4C7E-8CB8-1BB32C86B07A}"/>
              </a:ext>
            </a:extLst>
          </p:cNvPr>
          <p:cNvGraphicFramePr>
            <a:graphicFrameLocks noChangeAspect="1"/>
          </p:cNvGraphicFramePr>
          <p:nvPr/>
        </p:nvGraphicFramePr>
        <p:xfrm>
          <a:off x="5464175" y="2314575"/>
          <a:ext cx="2471738" cy="457200"/>
        </p:xfrm>
        <a:graphic>
          <a:graphicData uri="http://schemas.openxmlformats.org/presentationml/2006/ole">
            <mc:AlternateContent xmlns:mc="http://schemas.openxmlformats.org/markup-compatibility/2006">
              <mc:Choice xmlns:v="urn:schemas-microsoft-com:vml" Requires="v">
                <p:oleObj spid="_x0000_s39218" name="公式" r:id="rId7" imgW="1257300" imgH="228600" progId="Equation.3">
                  <p:embed/>
                </p:oleObj>
              </mc:Choice>
              <mc:Fallback>
                <p:oleObj name="公式" r:id="rId7" imgW="1257300" imgH="228600" progId="Equation.3">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4175" y="2314575"/>
                        <a:ext cx="2471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Line 6">
            <a:extLst>
              <a:ext uri="{FF2B5EF4-FFF2-40B4-BE49-F238E27FC236}">
                <a16:creationId xmlns:a16="http://schemas.microsoft.com/office/drawing/2014/main" id="{0631325A-2D56-4D96-97C6-EAD21F17492E}"/>
              </a:ext>
            </a:extLst>
          </p:cNvPr>
          <p:cNvSpPr>
            <a:spLocks noChangeShapeType="1"/>
          </p:cNvSpPr>
          <p:nvPr/>
        </p:nvSpPr>
        <p:spPr bwMode="auto">
          <a:xfrm>
            <a:off x="4672013" y="2624138"/>
            <a:ext cx="720725" cy="0"/>
          </a:xfrm>
          <a:prstGeom prst="line">
            <a:avLst/>
          </a:prstGeom>
          <a:noFill/>
          <a:ln w="3810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7">
            <a:extLst>
              <a:ext uri="{FF2B5EF4-FFF2-40B4-BE49-F238E27FC236}">
                <a16:creationId xmlns:a16="http://schemas.microsoft.com/office/drawing/2014/main" id="{553DF7B8-91FF-456E-9527-BEADC4E28322}"/>
              </a:ext>
            </a:extLst>
          </p:cNvPr>
          <p:cNvSpPr>
            <a:spLocks noChangeShapeType="1"/>
          </p:cNvSpPr>
          <p:nvPr/>
        </p:nvSpPr>
        <p:spPr bwMode="auto">
          <a:xfrm>
            <a:off x="4598988" y="3487738"/>
            <a:ext cx="720725" cy="0"/>
          </a:xfrm>
          <a:prstGeom prst="line">
            <a:avLst/>
          </a:prstGeom>
          <a:noFill/>
          <a:ln w="3810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8">
            <a:extLst>
              <a:ext uri="{FF2B5EF4-FFF2-40B4-BE49-F238E27FC236}">
                <a16:creationId xmlns:a16="http://schemas.microsoft.com/office/drawing/2014/main" id="{FC8EB505-18CB-46C8-92F9-1F1F6205F5CA}"/>
              </a:ext>
            </a:extLst>
          </p:cNvPr>
          <p:cNvSpPr>
            <a:spLocks noChangeShapeType="1"/>
          </p:cNvSpPr>
          <p:nvPr/>
        </p:nvSpPr>
        <p:spPr bwMode="auto">
          <a:xfrm>
            <a:off x="4598988" y="4640263"/>
            <a:ext cx="720725" cy="0"/>
          </a:xfrm>
          <a:prstGeom prst="line">
            <a:avLst/>
          </a:prstGeom>
          <a:noFill/>
          <a:ln w="3810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9">
            <a:extLst>
              <a:ext uri="{FF2B5EF4-FFF2-40B4-BE49-F238E27FC236}">
                <a16:creationId xmlns:a16="http://schemas.microsoft.com/office/drawing/2014/main" id="{19784033-8F39-4647-B2AE-AF114E5ABAA8}"/>
              </a:ext>
            </a:extLst>
          </p:cNvPr>
          <p:cNvSpPr>
            <a:spLocks noChangeShapeType="1"/>
          </p:cNvSpPr>
          <p:nvPr/>
        </p:nvSpPr>
        <p:spPr bwMode="auto">
          <a:xfrm>
            <a:off x="4527550" y="5503863"/>
            <a:ext cx="720725" cy="0"/>
          </a:xfrm>
          <a:prstGeom prst="line">
            <a:avLst/>
          </a:prstGeom>
          <a:noFill/>
          <a:ln w="38100">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8" name="Object 38">
            <a:extLst>
              <a:ext uri="{FF2B5EF4-FFF2-40B4-BE49-F238E27FC236}">
                <a16:creationId xmlns:a16="http://schemas.microsoft.com/office/drawing/2014/main" id="{7946DDCA-1887-48DA-B5F7-FA28ADA0A8E2}"/>
              </a:ext>
            </a:extLst>
          </p:cNvPr>
          <p:cNvGraphicFramePr>
            <a:graphicFrameLocks noChangeAspect="1"/>
          </p:cNvGraphicFramePr>
          <p:nvPr/>
        </p:nvGraphicFramePr>
        <p:xfrm>
          <a:off x="5438775" y="3175000"/>
          <a:ext cx="3397250" cy="458788"/>
        </p:xfrm>
        <a:graphic>
          <a:graphicData uri="http://schemas.openxmlformats.org/presentationml/2006/ole">
            <mc:AlternateContent xmlns:mc="http://schemas.openxmlformats.org/markup-compatibility/2006">
              <mc:Choice xmlns:v="urn:schemas-microsoft-com:vml" Requires="v">
                <p:oleObj spid="_x0000_s39219" name="公式" r:id="rId9" imgW="1727200" imgH="228600" progId="Equation.3">
                  <p:embed/>
                </p:oleObj>
              </mc:Choice>
              <mc:Fallback>
                <p:oleObj name="公式" r:id="rId9" imgW="1727200" imgH="228600" progId="Equation.3">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38775" y="3175000"/>
                        <a:ext cx="3397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39">
            <a:extLst>
              <a:ext uri="{FF2B5EF4-FFF2-40B4-BE49-F238E27FC236}">
                <a16:creationId xmlns:a16="http://schemas.microsoft.com/office/drawing/2014/main" id="{99A3021B-9306-4274-8FDC-4E8588D446CC}"/>
              </a:ext>
            </a:extLst>
          </p:cNvPr>
          <p:cNvGraphicFramePr>
            <a:graphicFrameLocks noChangeAspect="1"/>
          </p:cNvGraphicFramePr>
          <p:nvPr/>
        </p:nvGraphicFramePr>
        <p:xfrm>
          <a:off x="5446713" y="4017963"/>
          <a:ext cx="3197225" cy="863600"/>
        </p:xfrm>
        <a:graphic>
          <a:graphicData uri="http://schemas.openxmlformats.org/presentationml/2006/ole">
            <mc:AlternateContent xmlns:mc="http://schemas.openxmlformats.org/markup-compatibility/2006">
              <mc:Choice xmlns:v="urn:schemas-microsoft-com:vml" Requires="v">
                <p:oleObj spid="_x0000_s39220" name="公式" r:id="rId11" imgW="1625600" imgH="431800" progId="Equation.3">
                  <p:embed/>
                </p:oleObj>
              </mc:Choice>
              <mc:Fallback>
                <p:oleObj name="公式" r:id="rId11" imgW="1625600" imgH="431800" progId="Equation.3">
                  <p:embed/>
                  <p:pic>
                    <p:nvPicPr>
                      <p:cNvPr id="0" name="Object 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46713" y="4017963"/>
                        <a:ext cx="319722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40">
            <a:extLst>
              <a:ext uri="{FF2B5EF4-FFF2-40B4-BE49-F238E27FC236}">
                <a16:creationId xmlns:a16="http://schemas.microsoft.com/office/drawing/2014/main" id="{334C103D-3EEF-4ABD-97D1-C09F83815E2B}"/>
              </a:ext>
            </a:extLst>
          </p:cNvPr>
          <p:cNvGraphicFramePr>
            <a:graphicFrameLocks noChangeAspect="1"/>
          </p:cNvGraphicFramePr>
          <p:nvPr/>
        </p:nvGraphicFramePr>
        <p:xfrm>
          <a:off x="5418138" y="4927600"/>
          <a:ext cx="3646487" cy="863600"/>
        </p:xfrm>
        <a:graphic>
          <a:graphicData uri="http://schemas.openxmlformats.org/presentationml/2006/ole">
            <mc:AlternateContent xmlns:mc="http://schemas.openxmlformats.org/markup-compatibility/2006">
              <mc:Choice xmlns:v="urn:schemas-microsoft-com:vml" Requires="v">
                <p:oleObj spid="_x0000_s39221" name="公式" r:id="rId13" imgW="1854200" imgH="431800" progId="Equation.3">
                  <p:embed/>
                </p:oleObj>
              </mc:Choice>
              <mc:Fallback>
                <p:oleObj name="公式" r:id="rId13" imgW="1854200" imgH="431800" progId="Equation.3">
                  <p:embed/>
                  <p:pic>
                    <p:nvPicPr>
                      <p:cNvPr id="0" name="Object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18138" y="4927600"/>
                        <a:ext cx="3646487"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
            <a:extLst>
              <a:ext uri="{FF2B5EF4-FFF2-40B4-BE49-F238E27FC236}">
                <a16:creationId xmlns:a16="http://schemas.microsoft.com/office/drawing/2014/main" id="{39FFF604-7805-426A-AFF1-DC17A7BCAF21}"/>
              </a:ext>
            </a:extLst>
          </p:cNvPr>
          <p:cNvGrpSpPr>
            <a:grpSpLocks/>
          </p:cNvGrpSpPr>
          <p:nvPr/>
        </p:nvGrpSpPr>
        <p:grpSpPr bwMode="auto">
          <a:xfrm>
            <a:off x="7696200" y="1460500"/>
            <a:ext cx="1506538" cy="977900"/>
            <a:chOff x="7696200" y="1460559"/>
            <a:chExt cx="1506538" cy="977841"/>
          </a:xfrm>
        </p:grpSpPr>
        <p:sp>
          <p:nvSpPr>
            <p:cNvPr id="38932" name="矩形 20">
              <a:extLst>
                <a:ext uri="{FF2B5EF4-FFF2-40B4-BE49-F238E27FC236}">
                  <a16:creationId xmlns:a16="http://schemas.microsoft.com/office/drawing/2014/main" id="{47D8CCC1-D264-4862-8E77-FEA45B0786E7}"/>
                </a:ext>
              </a:extLst>
            </p:cNvPr>
            <p:cNvSpPr>
              <a:spLocks noChangeArrowheads="1"/>
            </p:cNvSpPr>
            <p:nvPr/>
          </p:nvSpPr>
          <p:spPr bwMode="auto">
            <a:xfrm>
              <a:off x="7696200" y="1460559"/>
              <a:ext cx="15065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00FF"/>
                  </a:solidFill>
                </a:rPr>
                <a:t>资源有限，所以值钱，收购要有一定价值</a:t>
              </a:r>
              <a:endParaRPr lang="zh-CN" altLang="en-US" sz="1600" b="0">
                <a:solidFill>
                  <a:srgbClr val="FF0000"/>
                </a:solidFill>
              </a:endParaRPr>
            </a:p>
          </p:txBody>
        </p:sp>
        <p:cxnSp>
          <p:nvCxnSpPr>
            <p:cNvPr id="3" name="直接箭头连接符 2">
              <a:extLst>
                <a:ext uri="{FF2B5EF4-FFF2-40B4-BE49-F238E27FC236}">
                  <a16:creationId xmlns:a16="http://schemas.microsoft.com/office/drawing/2014/main" id="{5C561A42-D2AC-43B8-B300-56E546FA06B9}"/>
                </a:ext>
              </a:extLst>
            </p:cNvPr>
            <p:cNvCxnSpPr/>
            <p:nvPr/>
          </p:nvCxnSpPr>
          <p:spPr>
            <a:xfrm flipH="1">
              <a:off x="7848600" y="2268548"/>
              <a:ext cx="87313" cy="169852"/>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组合 21">
            <a:extLst>
              <a:ext uri="{FF2B5EF4-FFF2-40B4-BE49-F238E27FC236}">
                <a16:creationId xmlns:a16="http://schemas.microsoft.com/office/drawing/2014/main" id="{374FD283-ABA0-4340-8135-B01004638F6F}"/>
              </a:ext>
            </a:extLst>
          </p:cNvPr>
          <p:cNvGrpSpPr>
            <a:grpSpLocks/>
          </p:cNvGrpSpPr>
          <p:nvPr/>
        </p:nvGrpSpPr>
        <p:grpSpPr bwMode="auto">
          <a:xfrm>
            <a:off x="6985000" y="3616325"/>
            <a:ext cx="2266950" cy="685800"/>
            <a:chOff x="6832600" y="3464529"/>
            <a:chExt cx="2266950" cy="685497"/>
          </a:xfrm>
        </p:grpSpPr>
        <p:sp>
          <p:nvSpPr>
            <p:cNvPr id="38930" name="矩形 22">
              <a:extLst>
                <a:ext uri="{FF2B5EF4-FFF2-40B4-BE49-F238E27FC236}">
                  <a16:creationId xmlns:a16="http://schemas.microsoft.com/office/drawing/2014/main" id="{36014E74-52BE-4C9C-BB61-D9746F214362}"/>
                </a:ext>
              </a:extLst>
            </p:cNvPr>
            <p:cNvSpPr>
              <a:spLocks noChangeArrowheads="1"/>
            </p:cNvSpPr>
            <p:nvPr/>
          </p:nvSpPr>
          <p:spPr bwMode="auto">
            <a:xfrm>
              <a:off x="6892925" y="3464529"/>
              <a:ext cx="22066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00FF"/>
                  </a:solidFill>
                </a:rPr>
                <a:t>产品值钱，收购之后大于原来生产收益</a:t>
              </a:r>
              <a:endParaRPr lang="zh-CN" altLang="en-US" sz="1600" b="0">
                <a:solidFill>
                  <a:srgbClr val="FF0000"/>
                </a:solidFill>
              </a:endParaRPr>
            </a:p>
          </p:txBody>
        </p:sp>
        <p:cxnSp>
          <p:nvCxnSpPr>
            <p:cNvPr id="24" name="直接箭头连接符 23">
              <a:extLst>
                <a:ext uri="{FF2B5EF4-FFF2-40B4-BE49-F238E27FC236}">
                  <a16:creationId xmlns:a16="http://schemas.microsoft.com/office/drawing/2014/main" id="{D4EAAB94-F58A-4BD8-8509-C638242EB21C}"/>
                </a:ext>
              </a:extLst>
            </p:cNvPr>
            <p:cNvCxnSpPr/>
            <p:nvPr/>
          </p:nvCxnSpPr>
          <p:spPr>
            <a:xfrm flipH="1">
              <a:off x="6832600" y="3997693"/>
              <a:ext cx="152400" cy="152333"/>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矩形 24">
            <a:extLst>
              <a:ext uri="{FF2B5EF4-FFF2-40B4-BE49-F238E27FC236}">
                <a16:creationId xmlns:a16="http://schemas.microsoft.com/office/drawing/2014/main" id="{7FAA9392-46D7-46AC-B742-8ABBAD73E032}"/>
              </a:ext>
            </a:extLst>
          </p:cNvPr>
          <p:cNvSpPr>
            <a:spLocks noChangeArrowheads="1"/>
          </p:cNvSpPr>
          <p:nvPr/>
        </p:nvSpPr>
        <p:spPr bwMode="auto">
          <a:xfrm>
            <a:off x="1752600" y="3570288"/>
            <a:ext cx="1143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00FF"/>
                </a:solidFill>
              </a:rPr>
              <a:t>见例子</a:t>
            </a:r>
            <a:r>
              <a:rPr lang="en-US" altLang="zh-CN" sz="1600">
                <a:solidFill>
                  <a:srgbClr val="FF00FF"/>
                </a:solidFill>
              </a:rPr>
              <a:t>3-2</a:t>
            </a:r>
            <a:endParaRPr lang="zh-CN" altLang="en-US" sz="1600">
              <a:solidFill>
                <a:srgbClr val="FF00FF"/>
              </a:solidFill>
            </a:endParaRPr>
          </a:p>
        </p:txBody>
      </p:sp>
      <p:sp>
        <p:nvSpPr>
          <p:cNvPr id="26" name="矩形 25">
            <a:extLst>
              <a:ext uri="{FF2B5EF4-FFF2-40B4-BE49-F238E27FC236}">
                <a16:creationId xmlns:a16="http://schemas.microsoft.com/office/drawing/2014/main" id="{9433369E-A83D-454C-A02F-61700BCE76A1}"/>
              </a:ext>
            </a:extLst>
          </p:cNvPr>
          <p:cNvSpPr>
            <a:spLocks noChangeArrowheads="1"/>
          </p:cNvSpPr>
          <p:nvPr/>
        </p:nvSpPr>
        <p:spPr bwMode="auto">
          <a:xfrm>
            <a:off x="6129338" y="5541963"/>
            <a:ext cx="1143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00FF"/>
                </a:solidFill>
              </a:rPr>
              <a:t>见例子</a:t>
            </a:r>
            <a:r>
              <a:rPr lang="en-US" altLang="zh-CN" sz="1600">
                <a:solidFill>
                  <a:srgbClr val="FF00FF"/>
                </a:solidFill>
              </a:rPr>
              <a:t>3-2</a:t>
            </a:r>
            <a:endParaRPr lang="zh-CN" altLang="en-US" sz="1600">
              <a:solidFill>
                <a:srgbClr val="FF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500"/>
                                        <p:tgtEl>
                                          <p:spTgt spid="1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wipe(left)">
                                      <p:cBhvr>
                                        <p:cTn id="62" dur="500"/>
                                        <p:tgtEl>
                                          <p:spTgt spid="1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1840112-AFF1-4F3D-B823-13542251FC5F}"/>
              </a:ext>
            </a:extLst>
          </p:cNvPr>
          <p:cNvSpPr>
            <a:spLocks noGrp="1" noChangeArrowheads="1"/>
          </p:cNvSpPr>
          <p:nvPr>
            <p:ph type="title"/>
          </p:nvPr>
        </p:nvSpPr>
        <p:spPr/>
        <p:txBody>
          <a:bodyPr/>
          <a:lstStyle/>
          <a:p>
            <a:pPr eaLnBrk="1" hangingPunct="1"/>
            <a:r>
              <a:rPr lang="zh-CN" altLang="en-US"/>
              <a:t>对偶变换规则</a:t>
            </a:r>
          </a:p>
        </p:txBody>
      </p:sp>
      <p:graphicFrame>
        <p:nvGraphicFramePr>
          <p:cNvPr id="108596" name="Group 52">
            <a:extLst>
              <a:ext uri="{FF2B5EF4-FFF2-40B4-BE49-F238E27FC236}">
                <a16:creationId xmlns:a16="http://schemas.microsoft.com/office/drawing/2014/main" id="{44A03BD8-B52A-4090-A3A8-D4C150359714}"/>
              </a:ext>
            </a:extLst>
          </p:cNvPr>
          <p:cNvGraphicFramePr>
            <a:graphicFrameLocks noGrp="1"/>
          </p:cNvGraphicFramePr>
          <p:nvPr>
            <p:ph idx="1"/>
          </p:nvPr>
        </p:nvGraphicFramePr>
        <p:xfrm>
          <a:off x="457200" y="1066800"/>
          <a:ext cx="8229600" cy="5281616"/>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Arial" charset="0"/>
                          <a:ea typeface="宋体" pitchFamily="2" charset="-122"/>
                        </a:rPr>
                        <a:t>原问题（或对偶问题）</a:t>
                      </a:r>
                    </a:p>
                  </a:txBody>
                  <a:tcPr marT="45712" marB="45712"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对偶问题（或原问题）</a:t>
                      </a:r>
                    </a:p>
                  </a:txBody>
                  <a:tcPr marT="45712" marB="45712"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目标函数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max</a:t>
                      </a:r>
                    </a:p>
                  </a:txBody>
                  <a:tcPr marT="45712" marB="45712"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目标函数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min</a:t>
                      </a:r>
                    </a:p>
                  </a:txBody>
                  <a:tcPr marT="45712" marB="45712"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价值系数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C</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约束条件右端项</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限额系数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b</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89609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约束条件右端项</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限额系数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b</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技术系数矩阵</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价值系数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C</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技术系数矩阵</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a:t>
                      </a:r>
                      <a:r>
                        <a:rPr kumimoji="0" lang="en-US" altLang="zh-CN" sz="2400" b="1" i="0" u="none" strike="noStrike" cap="none" normalizeH="0" baseline="30000" dirty="0">
                          <a:ln>
                            <a:noFill/>
                          </a:ln>
                          <a:solidFill>
                            <a:schemeClr val="tx1"/>
                          </a:solidFill>
                          <a:effectLst/>
                          <a:latin typeface="Times New Roman" pitchFamily="18" charset="0"/>
                          <a:ea typeface="宋体" pitchFamily="2" charset="-122"/>
                        </a:rPr>
                        <a:t>T</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dirty="0" err="1">
                          <a:ln>
                            <a:noFill/>
                          </a:ln>
                          <a:solidFill>
                            <a:schemeClr val="tx1"/>
                          </a:solidFill>
                          <a:effectLst/>
                          <a:latin typeface="Times New Roman" pitchFamily="18" charset="0"/>
                          <a:ea typeface="宋体" pitchFamily="2" charset="-122"/>
                        </a:rPr>
                        <a:t>i</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行约束条件 </a:t>
                      </a:r>
                      <a:r>
                        <a:rPr kumimoji="0" lang="zh-CN" altLang="en-US" sz="2400" b="1" i="0" u="none" strike="noStrike" cap="none" normalizeH="0" baseline="0" dirty="0">
                          <a:ln>
                            <a:noFill/>
                          </a:ln>
                          <a:solidFill>
                            <a:schemeClr val="tx1"/>
                          </a:solidFill>
                          <a:effectLst/>
                          <a:latin typeface="Arial" charset="0"/>
                          <a:ea typeface="宋体" pitchFamily="2" charset="-122"/>
                        </a:rPr>
                        <a:t>≤</a:t>
                      </a:r>
                    </a:p>
                  </a:txBody>
                  <a:tcPr marT="45712" marB="45712"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对偶变量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i</a:t>
                      </a:r>
                      <a:r>
                        <a:rPr kumimoji="0" lang="en-US" altLang="zh-CN" sz="2400" b="1" i="0" u="none" strike="noStrike" cap="none" normalizeH="0" baseline="0">
                          <a:ln>
                            <a:noFill/>
                          </a:ln>
                          <a:solidFill>
                            <a:schemeClr val="tx1"/>
                          </a:solidFill>
                          <a:effectLst/>
                          <a:latin typeface="Arial" charset="0"/>
                          <a:ea typeface="宋体" pitchFamily="2" charset="-122"/>
                        </a:rPr>
                        <a:t>≥0</a:t>
                      </a:r>
                    </a:p>
                  </a:txBody>
                  <a:tcPr marT="45712" marB="45712"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i</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行约束条件 </a:t>
                      </a:r>
                      <a:r>
                        <a:rPr kumimoji="0" lang="zh-CN" altLang="en-US" sz="2400" b="1" i="0" u="none" strike="noStrike" cap="none" normalizeH="0" baseline="0">
                          <a:ln>
                            <a:noFill/>
                          </a:ln>
                          <a:solidFill>
                            <a:schemeClr val="tx1"/>
                          </a:solidFill>
                          <a:effectLst/>
                          <a:latin typeface="Arial" charset="0"/>
                          <a:ea typeface="宋体" pitchFamily="2" charset="-122"/>
                        </a:rPr>
                        <a:t>≥</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对偶变量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i </a:t>
                      </a:r>
                      <a:r>
                        <a:rPr kumimoji="0" lang="en-US" altLang="zh-CN" sz="2400" b="1" i="0" u="none" strike="noStrike" cap="none" normalizeH="0" baseline="0">
                          <a:ln>
                            <a:noFill/>
                          </a:ln>
                          <a:solidFill>
                            <a:schemeClr val="tx1"/>
                          </a:solidFill>
                          <a:effectLst/>
                          <a:latin typeface="Arial" charset="0"/>
                          <a:ea typeface="宋体" pitchFamily="2" charset="-122"/>
                        </a:rPr>
                        <a:t>≤0</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i</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行约束条件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对偶变量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i </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无约束</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决策变量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j</a:t>
                      </a:r>
                      <a:r>
                        <a:rPr kumimoji="0" lang="en-US" altLang="zh-CN" sz="2400" b="1" i="0" u="none" strike="noStrike" cap="none" normalizeH="0" baseline="0">
                          <a:ln>
                            <a:noFill/>
                          </a:ln>
                          <a:solidFill>
                            <a:schemeClr val="tx1"/>
                          </a:solidFill>
                          <a:effectLst/>
                          <a:latin typeface="Arial" charset="0"/>
                          <a:ea typeface="宋体" pitchFamily="2" charset="-122"/>
                        </a:rPr>
                        <a:t>≥0</a:t>
                      </a:r>
                      <a:endParaRPr kumimoji="0" lang="en-US" altLang="zh-CN" sz="2400" b="1"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j</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行约束条件 </a:t>
                      </a:r>
                      <a:r>
                        <a:rPr kumimoji="0" lang="zh-CN" altLang="en-US" sz="2400" b="1" i="0" u="none" strike="noStrike" cap="none" normalizeH="0" baseline="0">
                          <a:ln>
                            <a:noFill/>
                          </a:ln>
                          <a:solidFill>
                            <a:schemeClr val="tx1"/>
                          </a:solidFill>
                          <a:effectLst/>
                          <a:latin typeface="Arial" charset="0"/>
                          <a:ea typeface="宋体" pitchFamily="2" charset="-122"/>
                        </a:rPr>
                        <a:t>≥</a:t>
                      </a:r>
                    </a:p>
                  </a:txBody>
                  <a:tcPr marT="45712" marB="45712"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7"/>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决策变量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j </a:t>
                      </a:r>
                      <a:r>
                        <a:rPr kumimoji="0" lang="en-US" altLang="zh-CN" sz="2400" b="1" i="0" u="none" strike="noStrike" cap="none" normalizeH="0" baseline="0">
                          <a:ln>
                            <a:noFill/>
                          </a:ln>
                          <a:solidFill>
                            <a:schemeClr val="tx1"/>
                          </a:solidFill>
                          <a:effectLst/>
                          <a:latin typeface="Arial" charset="0"/>
                          <a:ea typeface="宋体" pitchFamily="2" charset="-122"/>
                        </a:rPr>
                        <a:t>≤0</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j</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行约束条件 </a:t>
                      </a:r>
                      <a:r>
                        <a:rPr kumimoji="0" lang="zh-CN" altLang="en-US" sz="2400" b="1" i="0" u="none" strike="noStrike" cap="none" normalizeH="0" baseline="0">
                          <a:ln>
                            <a:noFill/>
                          </a:ln>
                          <a:solidFill>
                            <a:schemeClr val="tx1"/>
                          </a:solidFill>
                          <a:effectLst/>
                          <a:latin typeface="Arial" charset="0"/>
                          <a:ea typeface="宋体" pitchFamily="2" charset="-122"/>
                        </a:rPr>
                        <a:t>≤</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决策变量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j </a:t>
                      </a:r>
                      <a:r>
                        <a:rPr kumimoji="0" lang="zh-CN" altLang="en-US" sz="2400" b="1" i="0" u="none" strike="noStrike" cap="none" normalizeH="0" baseline="0">
                          <a:ln>
                            <a:noFill/>
                          </a:ln>
                          <a:solidFill>
                            <a:schemeClr val="tx1"/>
                          </a:solidFill>
                          <a:effectLst/>
                          <a:latin typeface="Arial" charset="0"/>
                          <a:ea typeface="宋体" pitchFamily="2" charset="-122"/>
                        </a:rPr>
                        <a:t>无约束</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j</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行约束条件 </a:t>
                      </a:r>
                      <a:r>
                        <a:rPr kumimoji="0" lang="en-US" altLang="zh-CN" sz="2400" b="1" i="0" u="none" strike="noStrike" cap="none" normalizeH="0" baseline="0" dirty="0">
                          <a:ln>
                            <a:noFill/>
                          </a:ln>
                          <a:solidFill>
                            <a:schemeClr val="tx1"/>
                          </a:solidFill>
                          <a:effectLst/>
                          <a:latin typeface="Arial" charset="0"/>
                          <a:ea typeface="宋体" pitchFamily="2" charset="-122"/>
                        </a:rPr>
                        <a:t>=</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39966" name="Object 2">
            <a:extLst>
              <a:ext uri="{FF2B5EF4-FFF2-40B4-BE49-F238E27FC236}">
                <a16:creationId xmlns:a16="http://schemas.microsoft.com/office/drawing/2014/main" id="{79DD87C4-A221-44D2-BC7C-140F9FF993C1}"/>
              </a:ext>
            </a:extLst>
          </p:cNvPr>
          <p:cNvGraphicFramePr>
            <a:graphicFrameLocks noChangeAspect="1"/>
          </p:cNvGraphicFramePr>
          <p:nvPr/>
        </p:nvGraphicFramePr>
        <p:xfrm>
          <a:off x="228600" y="3454400"/>
          <a:ext cx="990600" cy="1270000"/>
        </p:xfrm>
        <a:graphic>
          <a:graphicData uri="http://schemas.openxmlformats.org/presentationml/2006/ole">
            <mc:AlternateContent xmlns:mc="http://schemas.openxmlformats.org/markup-compatibility/2006">
              <mc:Choice xmlns:v="urn:schemas-microsoft-com:vml" Requires="v">
                <p:oleObj spid="_x0000_s40158" name="Equation" r:id="rId3" imgW="990170" imgH="1269449" progId="Equation.DSMT4">
                  <p:embed/>
                </p:oleObj>
              </mc:Choice>
              <mc:Fallback>
                <p:oleObj name="Equation" r:id="rId3" imgW="990170" imgH="126944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454400"/>
                        <a:ext cx="990600"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7" name="Object 3">
            <a:extLst>
              <a:ext uri="{FF2B5EF4-FFF2-40B4-BE49-F238E27FC236}">
                <a16:creationId xmlns:a16="http://schemas.microsoft.com/office/drawing/2014/main" id="{B81719AC-63C2-4F69-9A3F-6E0960813D15}"/>
              </a:ext>
            </a:extLst>
          </p:cNvPr>
          <p:cNvGraphicFramePr>
            <a:graphicFrameLocks noChangeAspect="1"/>
          </p:cNvGraphicFramePr>
          <p:nvPr/>
        </p:nvGraphicFramePr>
        <p:xfrm>
          <a:off x="533400" y="4902200"/>
          <a:ext cx="685800" cy="1270000"/>
        </p:xfrm>
        <a:graphic>
          <a:graphicData uri="http://schemas.openxmlformats.org/presentationml/2006/ole">
            <mc:AlternateContent xmlns:mc="http://schemas.openxmlformats.org/markup-compatibility/2006">
              <mc:Choice xmlns:v="urn:schemas-microsoft-com:vml" Requires="v">
                <p:oleObj spid="_x0000_s40159" name="Equation" r:id="rId5" imgW="685800" imgH="1270000" progId="Equation.DSMT4">
                  <p:embed/>
                </p:oleObj>
              </mc:Choice>
              <mc:Fallback>
                <p:oleObj name="Equation" r:id="rId5" imgW="685800" imgH="12700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4902200"/>
                        <a:ext cx="685800"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8" name="Object 4">
            <a:extLst>
              <a:ext uri="{FF2B5EF4-FFF2-40B4-BE49-F238E27FC236}">
                <a16:creationId xmlns:a16="http://schemas.microsoft.com/office/drawing/2014/main" id="{5B45B1D1-8FB5-4222-AA4C-268FF98C46AB}"/>
              </a:ext>
            </a:extLst>
          </p:cNvPr>
          <p:cNvGraphicFramePr>
            <a:graphicFrameLocks noChangeAspect="1"/>
          </p:cNvGraphicFramePr>
          <p:nvPr/>
        </p:nvGraphicFramePr>
        <p:xfrm>
          <a:off x="7924800" y="3454400"/>
          <a:ext cx="711200" cy="1270000"/>
        </p:xfrm>
        <a:graphic>
          <a:graphicData uri="http://schemas.openxmlformats.org/presentationml/2006/ole">
            <mc:AlternateContent xmlns:mc="http://schemas.openxmlformats.org/markup-compatibility/2006">
              <mc:Choice xmlns:v="urn:schemas-microsoft-com:vml" Requires="v">
                <p:oleObj spid="_x0000_s40160" name="Equation" r:id="rId7" imgW="710891" imgH="1269449" progId="Equation.DSMT4">
                  <p:embed/>
                </p:oleObj>
              </mc:Choice>
              <mc:Fallback>
                <p:oleObj name="Equation" r:id="rId7" imgW="710891" imgH="1269449"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24800" y="3454400"/>
                        <a:ext cx="711200"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9" name="Object 5">
            <a:extLst>
              <a:ext uri="{FF2B5EF4-FFF2-40B4-BE49-F238E27FC236}">
                <a16:creationId xmlns:a16="http://schemas.microsoft.com/office/drawing/2014/main" id="{9076A277-D819-42A7-BCE8-977DD72279A4}"/>
              </a:ext>
            </a:extLst>
          </p:cNvPr>
          <p:cNvGraphicFramePr>
            <a:graphicFrameLocks noChangeAspect="1"/>
          </p:cNvGraphicFramePr>
          <p:nvPr/>
        </p:nvGraphicFramePr>
        <p:xfrm>
          <a:off x="7950200" y="4902200"/>
          <a:ext cx="965200" cy="1270000"/>
        </p:xfrm>
        <a:graphic>
          <a:graphicData uri="http://schemas.openxmlformats.org/presentationml/2006/ole">
            <mc:AlternateContent xmlns:mc="http://schemas.openxmlformats.org/markup-compatibility/2006">
              <mc:Choice xmlns:v="urn:schemas-microsoft-com:vml" Requires="v">
                <p:oleObj spid="_x0000_s40161" name="Equation" r:id="rId9" imgW="965200" imgH="1270000" progId="Equation.DSMT4">
                  <p:embed/>
                </p:oleObj>
              </mc:Choice>
              <mc:Fallback>
                <p:oleObj name="Equation" r:id="rId9" imgW="965200" imgH="12700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0200" y="4902200"/>
                        <a:ext cx="965200"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9F4256E-8056-4D65-8115-B91710F212F0}"/>
              </a:ext>
            </a:extLst>
          </p:cNvPr>
          <p:cNvSpPr>
            <a:spLocks noGrp="1" noChangeArrowheads="1"/>
          </p:cNvSpPr>
          <p:nvPr>
            <p:ph type="title"/>
          </p:nvPr>
        </p:nvSpPr>
        <p:spPr/>
        <p:txBody>
          <a:bodyPr/>
          <a:lstStyle/>
          <a:p>
            <a:pPr eaLnBrk="1" hangingPunct="1"/>
            <a:r>
              <a:rPr lang="zh-CN" altLang="en-US"/>
              <a:t>原问题与对偶问题的表达形式</a:t>
            </a:r>
          </a:p>
        </p:txBody>
      </p:sp>
      <mc:AlternateContent xmlns:mc="http://schemas.openxmlformats.org/markup-compatibility/2006" xmlns:a14="http://schemas.microsoft.com/office/drawing/2010/main">
        <mc:Choice Requires="a14">
          <p:sp>
            <p:nvSpPr>
              <p:cNvPr id="40963" name="Rectangle 3">
                <a:extLst>
                  <a:ext uri="{FF2B5EF4-FFF2-40B4-BE49-F238E27FC236}">
                    <a16:creationId xmlns:a16="http://schemas.microsoft.com/office/drawing/2014/main" id="{953775C5-9DE1-44BC-A9F4-20CC0C984AEF}"/>
                  </a:ext>
                </a:extLst>
              </p:cNvPr>
              <p:cNvSpPr>
                <a:spLocks noGrp="1" noChangeArrowheads="1"/>
              </p:cNvSpPr>
              <p:nvPr>
                <p:ph type="body" sz="half" idx="1"/>
              </p:nvPr>
            </p:nvSpPr>
            <p:spPr>
              <a:xfrm>
                <a:off x="975067" y="2886698"/>
                <a:ext cx="3733800" cy="457200"/>
              </a:xfrm>
              <a:noFill/>
            </p:spPr>
            <p:txBody>
              <a:bodyPr/>
              <a:lstStyle/>
              <a:p>
                <a:pPr eaLnBrk="1" hangingPunct="1">
                  <a:buFont typeface="Wingdings" panose="05000000000000000000" pitchFamily="2" charset="2"/>
                  <a:buNone/>
                </a:pPr>
                <a:r>
                  <a:rPr lang="en-US" altLang="zh-CN" sz="2400" dirty="0">
                    <a:latin typeface="Times New Roman" panose="02020603050405020304" pitchFamily="18" charset="0"/>
                  </a:rPr>
                  <a:t>min   z= CX</a:t>
                </a:r>
              </a:p>
              <a:p>
                <a:pPr eaLnBrk="1" hangingPunct="1">
                  <a:buFont typeface="Wingdings" panose="05000000000000000000" pitchFamily="2" charset="2"/>
                  <a:buNone/>
                </a:pPr>
                <a:r>
                  <a:rPr lang="en-US" altLang="zh-CN" sz="2400" b="0" dirty="0">
                    <a:latin typeface="Times New Roman" panose="02020603050405020304" pitchFamily="18" charset="0"/>
                  </a:rPr>
                  <a:t>          </a:t>
                </a:r>
              </a:p>
              <a:p>
                <a:pPr eaLnBrk="1" hangingPunct="1">
                  <a:buFont typeface="Wingdings" panose="05000000000000000000" pitchFamily="2" charset="2"/>
                  <a:buNone/>
                </a:pPr>
                <a:r>
                  <a:rPr lang="en-US" altLang="zh-CN" sz="2400" b="0" dirty="0">
                    <a:latin typeface="Times New Roman" panose="02020603050405020304" pitchFamily="18" charset="0"/>
                  </a:rPr>
                  <a:t>           </a:t>
                </a:r>
                <a:r>
                  <a:rPr lang="en-US" altLang="zh-CN" sz="2400" dirty="0">
                    <a:latin typeface="Times New Roman" panose="02020603050405020304" pitchFamily="18" charset="0"/>
                  </a:rPr>
                  <a:t>AX</a:t>
                </a:r>
                <a14:m>
                  <m:oMath xmlns:m="http://schemas.openxmlformats.org/officeDocument/2006/math">
                    <m:r>
                      <a:rPr lang="en-US" altLang="zh-CN" sz="2400" b="1" i="1" smtClean="0">
                        <a:latin typeface="Cambria Math" panose="02040503050406030204" pitchFamily="18" charset="0"/>
                      </a:rPr>
                      <m:t>≥,=,≤</m:t>
                    </m:r>
                  </m:oMath>
                </a14:m>
                <a:r>
                  <a:rPr lang="en-US" altLang="zh-CN" sz="2400" dirty="0">
                    <a:latin typeface="Times New Roman" panose="02020603050405020304" pitchFamily="18" charset="0"/>
                  </a:rPr>
                  <a:t>b</a:t>
                </a:r>
              </a:p>
              <a:p>
                <a:pPr eaLnBrk="1" hangingPunct="1">
                  <a:buFont typeface="Wingdings" panose="05000000000000000000" pitchFamily="2" charset="2"/>
                  <a:buNone/>
                </a:pPr>
                <a:endParaRPr lang="en-US" altLang="zh-CN" sz="2400" dirty="0">
                  <a:latin typeface="Times New Roman" panose="02020603050405020304" pitchFamily="18" charset="0"/>
                </a:endParaRPr>
              </a:p>
              <a:p>
                <a:pPr eaLnBrk="1" hangingPunct="1">
                  <a:buFont typeface="Wingdings" panose="05000000000000000000" pitchFamily="2" charset="2"/>
                  <a:buNone/>
                </a:pPr>
                <a:r>
                  <a:rPr lang="en-US" altLang="zh-CN" sz="2400" dirty="0">
                    <a:latin typeface="Times New Roman" panose="02020603050405020304" pitchFamily="18" charset="0"/>
                  </a:rPr>
                  <a:t>           </a:t>
                </a:r>
                <a:endParaRPr lang="en-US" altLang="zh-CN" sz="2400" dirty="0"/>
              </a:p>
            </p:txBody>
          </p:sp>
        </mc:Choice>
        <mc:Fallback xmlns="">
          <p:sp>
            <p:nvSpPr>
              <p:cNvPr id="40963" name="Rectangle 3">
                <a:extLst>
                  <a:ext uri="{FF2B5EF4-FFF2-40B4-BE49-F238E27FC236}">
                    <a16:creationId xmlns:a16="http://schemas.microsoft.com/office/drawing/2014/main" id="{953775C5-9DE1-44BC-A9F4-20CC0C984AEF}"/>
                  </a:ext>
                </a:extLst>
              </p:cNvPr>
              <p:cNvSpPr>
                <a:spLocks noGrp="1" noRot="1" noChangeAspect="1" noMove="1" noResize="1" noEditPoints="1" noAdjustHandles="1" noChangeArrowheads="1" noChangeShapeType="1" noTextEdit="1"/>
              </p:cNvSpPr>
              <p:nvPr>
                <p:ph type="body" sz="half" idx="1"/>
              </p:nvPr>
            </p:nvSpPr>
            <p:spPr>
              <a:xfrm>
                <a:off x="975067" y="2886698"/>
                <a:ext cx="3733800" cy="457200"/>
              </a:xfrm>
              <a:blipFill>
                <a:blip r:embed="rId2"/>
                <a:stretch>
                  <a:fillRect l="-2614" t="-10667" b="-22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964" name="Rectangle 4">
                <a:extLst>
                  <a:ext uri="{FF2B5EF4-FFF2-40B4-BE49-F238E27FC236}">
                    <a16:creationId xmlns:a16="http://schemas.microsoft.com/office/drawing/2014/main" id="{A02198F0-6D8F-4BDD-83C8-BA02E8D5A759}"/>
                  </a:ext>
                </a:extLst>
              </p:cNvPr>
              <p:cNvSpPr>
                <a:spLocks noChangeArrowheads="1"/>
              </p:cNvSpPr>
              <p:nvPr/>
            </p:nvSpPr>
            <p:spPr bwMode="auto">
              <a:xfrm>
                <a:off x="5181603" y="2769975"/>
                <a:ext cx="2743197" cy="2590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max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40964" name="Rectangle 4">
                <a:extLst>
                  <a:ext uri="{FF2B5EF4-FFF2-40B4-BE49-F238E27FC236}">
                    <a16:creationId xmlns:a16="http://schemas.microsoft.com/office/drawing/2014/main" id="{A02198F0-6D8F-4BDD-83C8-BA02E8D5A759}"/>
                  </a:ext>
                </a:extLst>
              </p:cNvPr>
              <p:cNvSpPr>
                <a:spLocks noRot="1" noChangeAspect="1" noMove="1" noResize="1" noEditPoints="1" noAdjustHandles="1" noChangeArrowheads="1" noChangeShapeType="1" noTextEdit="1"/>
              </p:cNvSpPr>
              <p:nvPr/>
            </p:nvSpPr>
            <p:spPr bwMode="auto">
              <a:xfrm>
                <a:off x="5181603" y="2769975"/>
                <a:ext cx="2743197" cy="2590800"/>
              </a:xfrm>
              <a:prstGeom prst="rect">
                <a:avLst/>
              </a:prstGeom>
              <a:blipFill>
                <a:blip r:embed="rId3"/>
                <a:stretch>
                  <a:fillRect l="-3333" t="-16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2" name="组合 41">
            <a:extLst>
              <a:ext uri="{FF2B5EF4-FFF2-40B4-BE49-F238E27FC236}">
                <a16:creationId xmlns:a16="http://schemas.microsoft.com/office/drawing/2014/main" id="{5DEBA954-6668-4544-99D0-55B41BF8CDC3}"/>
              </a:ext>
            </a:extLst>
          </p:cNvPr>
          <p:cNvGrpSpPr>
            <a:grpSpLocks/>
          </p:cNvGrpSpPr>
          <p:nvPr/>
        </p:nvGrpSpPr>
        <p:grpSpPr bwMode="auto">
          <a:xfrm>
            <a:off x="1295400" y="2457450"/>
            <a:ext cx="5029200" cy="838200"/>
            <a:chOff x="1295400" y="1828800"/>
            <a:chExt cx="5029200" cy="838200"/>
          </a:xfrm>
        </p:grpSpPr>
        <p:sp>
          <p:nvSpPr>
            <p:cNvPr id="15" name="椭圆 14">
              <a:extLst>
                <a:ext uri="{FF2B5EF4-FFF2-40B4-BE49-F238E27FC236}">
                  <a16:creationId xmlns:a16="http://schemas.microsoft.com/office/drawing/2014/main" id="{DF403109-346E-47BC-9BC5-64C39CCED0C9}"/>
                </a:ext>
              </a:extLst>
            </p:cNvPr>
            <p:cNvSpPr/>
            <p:nvPr/>
          </p:nvSpPr>
          <p:spPr bwMode="auto">
            <a:xfrm>
              <a:off x="1295400" y="2209800"/>
              <a:ext cx="914400" cy="4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6" name="椭圆 15">
              <a:extLst>
                <a:ext uri="{FF2B5EF4-FFF2-40B4-BE49-F238E27FC236}">
                  <a16:creationId xmlns:a16="http://schemas.microsoft.com/office/drawing/2014/main" id="{95DB01D1-165A-4735-BADD-921159F5B07F}"/>
                </a:ext>
              </a:extLst>
            </p:cNvPr>
            <p:cNvSpPr/>
            <p:nvPr/>
          </p:nvSpPr>
          <p:spPr bwMode="auto">
            <a:xfrm>
              <a:off x="5334000" y="2133600"/>
              <a:ext cx="990600" cy="4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7" name="直接连接符 16">
              <a:extLst>
                <a:ext uri="{FF2B5EF4-FFF2-40B4-BE49-F238E27FC236}">
                  <a16:creationId xmlns:a16="http://schemas.microsoft.com/office/drawing/2014/main" id="{D388F80D-1CD2-4C45-BCB2-80E1F9417054}"/>
                </a:ext>
              </a:extLst>
            </p:cNvPr>
            <p:cNvCxnSpPr/>
            <p:nvPr/>
          </p:nvCxnSpPr>
          <p:spPr bwMode="auto">
            <a:xfrm>
              <a:off x="1752600" y="1828800"/>
              <a:ext cx="0" cy="425450"/>
            </a:xfrm>
            <a:prstGeom prst="line">
              <a:avLst/>
            </a:prstGeom>
            <a:ln w="2222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8D7280BD-8719-4961-8199-272A8FE8F516}"/>
                </a:ext>
              </a:extLst>
            </p:cNvPr>
            <p:cNvCxnSpPr/>
            <p:nvPr/>
          </p:nvCxnSpPr>
          <p:spPr bwMode="auto">
            <a:xfrm flipV="1">
              <a:off x="1752600" y="1828800"/>
              <a:ext cx="4038600" cy="31750"/>
            </a:xfrm>
            <a:prstGeom prst="line">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7BC1CD3-1FE0-4AC1-AD51-A542647FFF49}"/>
                </a:ext>
              </a:extLst>
            </p:cNvPr>
            <p:cNvCxnSpPr/>
            <p:nvPr/>
          </p:nvCxnSpPr>
          <p:spPr bwMode="auto">
            <a:xfrm>
              <a:off x="5791200" y="1828800"/>
              <a:ext cx="0" cy="349250"/>
            </a:xfrm>
            <a:prstGeom prst="line">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0968" name="矩形 21">
            <a:extLst>
              <a:ext uri="{FF2B5EF4-FFF2-40B4-BE49-F238E27FC236}">
                <a16:creationId xmlns:a16="http://schemas.microsoft.com/office/drawing/2014/main" id="{9AB7F71F-D9E5-4350-9B56-AFD2DBBECC4C}"/>
              </a:ext>
            </a:extLst>
          </p:cNvPr>
          <p:cNvSpPr>
            <a:spLocks noChangeArrowheads="1"/>
          </p:cNvSpPr>
          <p:nvPr/>
        </p:nvSpPr>
        <p:spPr bwMode="auto">
          <a:xfrm>
            <a:off x="1684338" y="1752600"/>
            <a:ext cx="1058862"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latin typeface="Times New Roman" panose="02020603050405020304" pitchFamily="18" charset="0"/>
                <a:cs typeface="Times New Roman" panose="02020603050405020304" pitchFamily="18" charset="0"/>
              </a:rPr>
              <a:t>原问题</a:t>
            </a:r>
            <a:endParaRPr lang="en-US" altLang="zh-CN" b="1">
              <a:latin typeface="Times New Roman" panose="02020603050405020304" pitchFamily="18" charset="0"/>
              <a:cs typeface="Times New Roman" panose="02020603050405020304" pitchFamily="18" charset="0"/>
            </a:endParaRPr>
          </a:p>
        </p:txBody>
      </p:sp>
      <p:sp>
        <p:nvSpPr>
          <p:cNvPr id="40969" name="矩形 21">
            <a:extLst>
              <a:ext uri="{FF2B5EF4-FFF2-40B4-BE49-F238E27FC236}">
                <a16:creationId xmlns:a16="http://schemas.microsoft.com/office/drawing/2014/main" id="{8FEE99F4-E655-4AD8-8BF8-0BE4102DB9D6}"/>
              </a:ext>
            </a:extLst>
          </p:cNvPr>
          <p:cNvSpPr>
            <a:spLocks noChangeArrowheads="1"/>
          </p:cNvSpPr>
          <p:nvPr/>
        </p:nvSpPr>
        <p:spPr bwMode="auto">
          <a:xfrm>
            <a:off x="5562600" y="1760538"/>
            <a:ext cx="1333500"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latin typeface="Times New Roman" panose="02020603050405020304" pitchFamily="18" charset="0"/>
                <a:cs typeface="Times New Roman" panose="02020603050405020304" pitchFamily="18" charset="0"/>
              </a:rPr>
              <a:t>对偶问题</a:t>
            </a:r>
            <a:endParaRPr lang="en-US" altLang="zh-CN"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82062641-7CB2-4047-AA48-2C5ADCCFEEBF}"/>
                  </a:ext>
                </a:extLst>
              </p:cNvPr>
              <p:cNvSpPr/>
              <p:nvPr/>
            </p:nvSpPr>
            <p:spPr>
              <a:xfrm>
                <a:off x="6026710" y="4724400"/>
                <a:ext cx="1509837" cy="374270"/>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b="1" i="1" smtClean="0">
                            <a:latin typeface="Cambria Math" panose="02040503050406030204" pitchFamily="18" charset="0"/>
                          </a:rPr>
                        </m:ctrlPr>
                      </m:sSupPr>
                      <m:e>
                        <m:r>
                          <a:rPr lang="en-US" altLang="zh-CN" b="1">
                            <a:latin typeface="Cambria Math" panose="02040503050406030204" pitchFamily="18" charset="0"/>
                          </a:rPr>
                          <m:t>𝐀</m:t>
                        </m:r>
                      </m:e>
                      <m:sup>
                        <m:r>
                          <a:rPr lang="en-US" altLang="zh-CN" b="1" i="1">
                            <a:latin typeface="Cambria Math" panose="02040503050406030204" pitchFamily="18" charset="0"/>
                          </a:rPr>
                          <m:t>𝑻</m:t>
                        </m:r>
                      </m:sup>
                    </m:sSup>
                    <m:r>
                      <a:rPr lang="en-US" altLang="zh-CN" b="1" i="1">
                        <a:latin typeface="Cambria Math" panose="02040503050406030204" pitchFamily="18" charset="0"/>
                      </a:rPr>
                      <m:t>𝒚</m:t>
                    </m:r>
                    <m:r>
                      <a:rPr lang="en-US" altLang="zh-CN" b="1" i="1" smtClean="0">
                        <a:latin typeface="Cambria Math" panose="02040503050406030204" pitchFamily="18" charset="0"/>
                      </a:rPr>
                      <m:t>≤,=,≥</m:t>
                    </m:r>
                  </m:oMath>
                </a14:m>
                <a:r>
                  <a:rPr lang="en-US" altLang="zh-CN" b="1" dirty="0">
                    <a:latin typeface="Times New Roman" panose="02020603050405020304" pitchFamily="18" charset="0"/>
                  </a:rPr>
                  <a:t>C</a:t>
                </a:r>
              </a:p>
            </p:txBody>
          </p:sp>
        </mc:Choice>
        <mc:Fallback xmlns="">
          <p:sp>
            <p:nvSpPr>
              <p:cNvPr id="5" name="矩形 4">
                <a:extLst>
                  <a:ext uri="{FF2B5EF4-FFF2-40B4-BE49-F238E27FC236}">
                    <a16:creationId xmlns:a16="http://schemas.microsoft.com/office/drawing/2014/main" id="{82062641-7CB2-4047-AA48-2C5ADCCFEEBF}"/>
                  </a:ext>
                </a:extLst>
              </p:cNvPr>
              <p:cNvSpPr>
                <a:spLocks noRot="1" noChangeAspect="1" noMove="1" noResize="1" noEditPoints="1" noAdjustHandles="1" noChangeArrowheads="1" noChangeShapeType="1" noTextEdit="1"/>
              </p:cNvSpPr>
              <p:nvPr/>
            </p:nvSpPr>
            <p:spPr>
              <a:xfrm>
                <a:off x="6026710" y="4724400"/>
                <a:ext cx="1509837" cy="374270"/>
              </a:xfrm>
              <a:prstGeom prst="rect">
                <a:avLst/>
              </a:prstGeom>
              <a:blipFill>
                <a:blip r:embed="rId4"/>
                <a:stretch>
                  <a:fillRect t="-6557" r="-2429"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CDBC894-0D2C-4C5B-82AC-9830A0498499}"/>
                  </a:ext>
                </a:extLst>
              </p:cNvPr>
              <p:cNvSpPr/>
              <p:nvPr/>
            </p:nvSpPr>
            <p:spPr>
              <a:xfrm>
                <a:off x="1981200" y="4620247"/>
                <a:ext cx="139890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𝑥</m:t>
                      </m:r>
                      <m:r>
                        <a:rPr lang="en-US" altLang="zh-CN" i="1">
                          <a:latin typeface="Cambria Math" panose="02040503050406030204" pitchFamily="18" charset="0"/>
                        </a:rPr>
                        <m:t>≥,</m:t>
                      </m:r>
                      <m:r>
                        <a:rPr lang="zh-CN" altLang="en-US" i="1">
                          <a:latin typeface="Cambria Math" panose="02040503050406030204" pitchFamily="18" charset="0"/>
                        </a:rPr>
                        <m:t>无</m:t>
                      </m:r>
                      <m:r>
                        <a:rPr lang="en-US" altLang="zh-CN" b="1">
                          <a:latin typeface="Cambria Math" panose="02040503050406030204" pitchFamily="18" charset="0"/>
                        </a:rPr>
                        <m:t>,</m:t>
                      </m:r>
                      <m:r>
                        <a:rPr lang="en-US" altLang="zh-CN" b="1" i="1">
                          <a:latin typeface="Cambria Math" panose="02040503050406030204" pitchFamily="18" charset="0"/>
                        </a:rPr>
                        <m:t>≤</m:t>
                      </m:r>
                      <m:r>
                        <a:rPr lang="en-US" altLang="zh-CN" b="1" i="1">
                          <a:latin typeface="Cambria Math" panose="02040503050406030204" pitchFamily="18" charset="0"/>
                        </a:rPr>
                        <m:t>𝟎</m:t>
                      </m:r>
                    </m:oMath>
                  </m:oMathPara>
                </a14:m>
                <a:endParaRPr lang="zh-CN" altLang="en-US" dirty="0"/>
              </a:p>
            </p:txBody>
          </p:sp>
        </mc:Choice>
        <mc:Fallback xmlns="">
          <p:sp>
            <p:nvSpPr>
              <p:cNvPr id="6" name="矩形 5">
                <a:extLst>
                  <a:ext uri="{FF2B5EF4-FFF2-40B4-BE49-F238E27FC236}">
                    <a16:creationId xmlns:a16="http://schemas.microsoft.com/office/drawing/2014/main" id="{9CDBC894-0D2C-4C5B-82AC-9830A0498499}"/>
                  </a:ext>
                </a:extLst>
              </p:cNvPr>
              <p:cNvSpPr>
                <a:spLocks noRot="1" noChangeAspect="1" noMove="1" noResize="1" noEditPoints="1" noAdjustHandles="1" noChangeArrowheads="1" noChangeShapeType="1" noTextEdit="1"/>
              </p:cNvSpPr>
              <p:nvPr/>
            </p:nvSpPr>
            <p:spPr>
              <a:xfrm>
                <a:off x="1981200" y="4620247"/>
                <a:ext cx="1398908" cy="369332"/>
              </a:xfrm>
              <a:prstGeom prst="rect">
                <a:avLst/>
              </a:prstGeom>
              <a:blipFill>
                <a:blip r:embed="rId5"/>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4A5C0920-A388-437C-8C0A-F0934F35C072}"/>
                  </a:ext>
                </a:extLst>
              </p:cNvPr>
              <p:cNvSpPr/>
              <p:nvPr/>
            </p:nvSpPr>
            <p:spPr>
              <a:xfrm>
                <a:off x="6021211" y="3821235"/>
                <a:ext cx="139890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𝑦</m:t>
                      </m:r>
                      <m:r>
                        <a:rPr lang="en-US" altLang="zh-CN" i="1" smtClean="0">
                          <a:latin typeface="Cambria Math" panose="02040503050406030204" pitchFamily="18" charset="0"/>
                        </a:rPr>
                        <m:t>≥</m:t>
                      </m:r>
                      <m:r>
                        <a:rPr lang="en-US" altLang="zh-CN" i="1">
                          <a:latin typeface="Cambria Math" panose="02040503050406030204" pitchFamily="18" charset="0"/>
                        </a:rPr>
                        <m:t>,</m:t>
                      </m:r>
                      <m:r>
                        <a:rPr lang="zh-CN" altLang="en-US" i="1">
                          <a:latin typeface="Cambria Math" panose="02040503050406030204" pitchFamily="18" charset="0"/>
                        </a:rPr>
                        <m:t>无</m:t>
                      </m:r>
                      <m:r>
                        <a:rPr lang="en-US" altLang="zh-CN" b="1">
                          <a:latin typeface="Cambria Math" panose="02040503050406030204" pitchFamily="18" charset="0"/>
                        </a:rPr>
                        <m:t>,</m:t>
                      </m:r>
                      <m:r>
                        <a:rPr lang="en-US" altLang="zh-CN" b="1" i="1" smtClean="0">
                          <a:latin typeface="Cambria Math" panose="02040503050406030204" pitchFamily="18" charset="0"/>
                        </a:rPr>
                        <m:t>≤</m:t>
                      </m:r>
                      <m:r>
                        <a:rPr lang="en-US" altLang="zh-CN" b="1" i="1">
                          <a:latin typeface="Cambria Math" panose="02040503050406030204" pitchFamily="18" charset="0"/>
                        </a:rPr>
                        <m:t>𝟎</m:t>
                      </m:r>
                    </m:oMath>
                  </m:oMathPara>
                </a14:m>
                <a:endParaRPr lang="zh-CN" altLang="en-US" dirty="0"/>
              </a:p>
            </p:txBody>
          </p:sp>
        </mc:Choice>
        <mc:Fallback xmlns="">
          <p:sp>
            <p:nvSpPr>
              <p:cNvPr id="7" name="矩形 6">
                <a:extLst>
                  <a:ext uri="{FF2B5EF4-FFF2-40B4-BE49-F238E27FC236}">
                    <a16:creationId xmlns:a16="http://schemas.microsoft.com/office/drawing/2014/main" id="{4A5C0920-A388-437C-8C0A-F0934F35C072}"/>
                  </a:ext>
                </a:extLst>
              </p:cNvPr>
              <p:cNvSpPr>
                <a:spLocks noRot="1" noChangeAspect="1" noMove="1" noResize="1" noEditPoints="1" noAdjustHandles="1" noChangeArrowheads="1" noChangeShapeType="1" noTextEdit="1"/>
              </p:cNvSpPr>
              <p:nvPr/>
            </p:nvSpPr>
            <p:spPr>
              <a:xfrm>
                <a:off x="6021211" y="3821235"/>
                <a:ext cx="1398908" cy="369332"/>
              </a:xfrm>
              <a:prstGeom prst="rect">
                <a:avLst/>
              </a:prstGeom>
              <a:blipFill>
                <a:blip r:embed="rId6"/>
                <a:stretch>
                  <a:fillRect b="-833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C2F4E1C-7C77-465B-9D64-66CB7C191588}"/>
              </a:ext>
            </a:extLst>
          </p:cNvPr>
          <p:cNvSpPr>
            <a:spLocks noGrp="1"/>
          </p:cNvSpPr>
          <p:nvPr>
            <p:ph type="title"/>
          </p:nvPr>
        </p:nvSpPr>
        <p:spPr/>
        <p:txBody>
          <a:bodyPr/>
          <a:lstStyle/>
          <a:p>
            <a:endParaRPr lang="zh-CN" altLang="en-US"/>
          </a:p>
        </p:txBody>
      </p:sp>
      <p:sp>
        <p:nvSpPr>
          <p:cNvPr id="6" name="内容占位符 5">
            <a:extLst>
              <a:ext uri="{FF2B5EF4-FFF2-40B4-BE49-F238E27FC236}">
                <a16:creationId xmlns:a16="http://schemas.microsoft.com/office/drawing/2014/main" id="{7AAC1977-A783-4D3F-AB33-88DF4325AE5D}"/>
              </a:ext>
            </a:extLst>
          </p:cNvPr>
          <p:cNvSpPr>
            <a:spLocks noGrp="1"/>
          </p:cNvSpPr>
          <p:nvPr>
            <p:ph idx="1"/>
          </p:nvPr>
        </p:nvSpPr>
        <p:spPr/>
        <p:txBody>
          <a:bodyPr/>
          <a:lstStyle/>
          <a:p>
            <a:endParaRPr lang="zh-CN" altLang="en-US" dirty="0"/>
          </a:p>
        </p:txBody>
      </p:sp>
      <p:sp>
        <p:nvSpPr>
          <p:cNvPr id="8" name="矩形 7">
            <a:extLst>
              <a:ext uri="{FF2B5EF4-FFF2-40B4-BE49-F238E27FC236}">
                <a16:creationId xmlns:a16="http://schemas.microsoft.com/office/drawing/2014/main" id="{661CE74A-716C-49B1-9419-0960BCF91F2D}"/>
              </a:ext>
            </a:extLst>
          </p:cNvPr>
          <p:cNvSpPr/>
          <p:nvPr/>
        </p:nvSpPr>
        <p:spPr>
          <a:xfrm>
            <a:off x="1447800" y="2895600"/>
            <a:ext cx="4323204" cy="2362200"/>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3">
            <a:extLst>
              <a:ext uri="{FF2B5EF4-FFF2-40B4-BE49-F238E27FC236}">
                <a16:creationId xmlns:a16="http://schemas.microsoft.com/office/drawing/2014/main" id="{4C572E54-867A-40C4-A5BE-C96AE01FD628}"/>
              </a:ext>
            </a:extLst>
          </p:cNvPr>
          <p:cNvSpPr txBox="1">
            <a:spLocks noChangeArrowheads="1"/>
          </p:cNvSpPr>
          <p:nvPr/>
        </p:nvSpPr>
        <p:spPr bwMode="auto">
          <a:xfrm>
            <a:off x="1366166" y="3161703"/>
            <a:ext cx="206283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algn="ctr" eaLnBrk="1" hangingPunct="1">
              <a:buFont typeface="Wingdings" panose="05000000000000000000" pitchFamily="2" charset="2"/>
              <a:buNone/>
            </a:pPr>
            <a:r>
              <a:rPr lang="en-US" altLang="zh-CN" sz="2400" kern="0" dirty="0">
                <a:latin typeface="Times New Roman" panose="02020603050405020304" pitchFamily="18" charset="0"/>
              </a:rPr>
              <a:t>max   z= CX</a:t>
            </a:r>
          </a:p>
          <a:p>
            <a:pPr algn="ctr" eaLnBrk="1" hangingPunct="1">
              <a:buFont typeface="Wingdings" panose="05000000000000000000" pitchFamily="2" charset="2"/>
              <a:buNone/>
            </a:pPr>
            <a:r>
              <a:rPr lang="en-US" altLang="zh-CN" sz="2400" b="0" kern="0" dirty="0">
                <a:latin typeface="Times New Roman" panose="02020603050405020304" pitchFamily="18" charset="0"/>
              </a:rPr>
              <a:t>          </a:t>
            </a:r>
          </a:p>
          <a:p>
            <a:pPr algn="ctr" eaLnBrk="1" hangingPunct="1">
              <a:buFont typeface="Wingdings" panose="05000000000000000000" pitchFamily="2" charset="2"/>
              <a:buNone/>
            </a:pPr>
            <a:r>
              <a:rPr lang="en-US" altLang="zh-CN" sz="2400" b="0" kern="0" dirty="0">
                <a:latin typeface="Times New Roman" panose="02020603050405020304" pitchFamily="18" charset="0"/>
              </a:rPr>
              <a:t>           </a:t>
            </a:r>
            <a:endParaRPr lang="en-US" altLang="zh-CN" sz="2400" kern="0" dirty="0">
              <a:latin typeface="Times New Roman" panose="02020603050405020304" pitchFamily="18" charset="0"/>
            </a:endParaRPr>
          </a:p>
          <a:p>
            <a:pPr algn="ctr" eaLnBrk="1" hangingPunct="1">
              <a:buFont typeface="Wingdings" panose="05000000000000000000" pitchFamily="2" charset="2"/>
              <a:buNone/>
            </a:pPr>
            <a:r>
              <a:rPr lang="en-US" altLang="zh-CN" sz="2400" kern="0" dirty="0">
                <a:latin typeface="Times New Roman" panose="02020603050405020304" pitchFamily="18" charset="0"/>
              </a:rPr>
              <a:t>           </a:t>
            </a:r>
            <a:endParaRPr lang="en-US" altLang="zh-CN" sz="2400" kern="0" dirty="0"/>
          </a:p>
        </p:txBody>
      </p:sp>
      <mc:AlternateContent xmlns:mc="http://schemas.openxmlformats.org/markup-compatibility/2006" xmlns:a14="http://schemas.microsoft.com/office/drawing/2010/main">
        <mc:Choice Requires="a14">
          <p:sp>
            <p:nvSpPr>
              <p:cNvPr id="10" name="Rectangle 4">
                <a:extLst>
                  <a:ext uri="{FF2B5EF4-FFF2-40B4-BE49-F238E27FC236}">
                    <a16:creationId xmlns:a16="http://schemas.microsoft.com/office/drawing/2014/main" id="{C46B676C-2A48-45C3-9768-84899DC54E1F}"/>
                  </a:ext>
                </a:extLst>
              </p:cNvPr>
              <p:cNvSpPr>
                <a:spLocks noChangeArrowheads="1"/>
              </p:cNvSpPr>
              <p:nvPr/>
            </p:nvSpPr>
            <p:spPr bwMode="auto">
              <a:xfrm>
                <a:off x="3581400" y="3151491"/>
                <a:ext cx="2062835" cy="573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10" name="Rectangle 4">
                <a:extLst>
                  <a:ext uri="{FF2B5EF4-FFF2-40B4-BE49-F238E27FC236}">
                    <a16:creationId xmlns:a16="http://schemas.microsoft.com/office/drawing/2014/main" id="{C46B676C-2A48-45C3-9768-84899DC54E1F}"/>
                  </a:ext>
                </a:extLst>
              </p:cNvPr>
              <p:cNvSpPr>
                <a:spLocks noRot="1" noChangeAspect="1" noMove="1" noResize="1" noEditPoints="1" noAdjustHandles="1" noChangeArrowheads="1" noChangeShapeType="1" noTextEdit="1"/>
              </p:cNvSpPr>
              <p:nvPr/>
            </p:nvSpPr>
            <p:spPr bwMode="auto">
              <a:xfrm>
                <a:off x="3581400" y="3151491"/>
                <a:ext cx="2062835" cy="573923"/>
              </a:xfrm>
              <a:prstGeom prst="rect">
                <a:avLst/>
              </a:prstGeom>
              <a:blipFill>
                <a:blip r:embed="rId2"/>
                <a:stretch>
                  <a:fillRect l="-4734" t="-7447" b="-53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E755082A-2B91-497B-87E8-F73034CE2A95}"/>
                  </a:ext>
                </a:extLst>
              </p:cNvPr>
              <p:cNvSpPr/>
              <p:nvPr/>
            </p:nvSpPr>
            <p:spPr>
              <a:xfrm>
                <a:off x="3825856" y="4615697"/>
                <a:ext cx="1945148" cy="468205"/>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a:latin typeface="Cambria Math" panose="02040503050406030204" pitchFamily="18" charset="0"/>
                          </a:rPr>
                          <m:t>𝐀</m:t>
                        </m:r>
                      </m:e>
                      <m:sup>
                        <m:r>
                          <a:rPr lang="en-US" altLang="zh-CN" sz="2400" b="1" i="1">
                            <a:latin typeface="Cambria Math" panose="02040503050406030204" pitchFamily="18" charset="0"/>
                          </a:rPr>
                          <m:t>𝑻</m:t>
                        </m:r>
                      </m:sup>
                    </m:sSup>
                    <m:r>
                      <a:rPr lang="en-US" altLang="zh-CN" sz="2400" b="1" i="1">
                        <a:latin typeface="Cambria Math" panose="02040503050406030204" pitchFamily="18" charset="0"/>
                      </a:rPr>
                      <m:t>𝒚</m:t>
                    </m:r>
                    <m:r>
                      <a:rPr lang="en-US" altLang="zh-CN" sz="2400" b="1" i="1">
                        <a:latin typeface="Cambria Math" panose="02040503050406030204" pitchFamily="18" charset="0"/>
                      </a:rPr>
                      <m:t>≥,=, ≤</m:t>
                    </m:r>
                  </m:oMath>
                </a14:m>
                <a:r>
                  <a:rPr lang="en-US" altLang="zh-CN" sz="2400" b="1" dirty="0">
                    <a:latin typeface="Times New Roman" panose="02020603050405020304" pitchFamily="18" charset="0"/>
                  </a:rPr>
                  <a:t>C</a:t>
                </a:r>
              </a:p>
            </p:txBody>
          </p:sp>
        </mc:Choice>
        <mc:Fallback xmlns="">
          <p:sp>
            <p:nvSpPr>
              <p:cNvPr id="11" name="矩形 10">
                <a:extLst>
                  <a:ext uri="{FF2B5EF4-FFF2-40B4-BE49-F238E27FC236}">
                    <a16:creationId xmlns:a16="http://schemas.microsoft.com/office/drawing/2014/main" id="{E755082A-2B91-497B-87E8-F73034CE2A95}"/>
                  </a:ext>
                </a:extLst>
              </p:cNvPr>
              <p:cNvSpPr>
                <a:spLocks noRot="1" noChangeAspect="1" noMove="1" noResize="1" noEditPoints="1" noAdjustHandles="1" noChangeArrowheads="1" noChangeShapeType="1" noTextEdit="1"/>
              </p:cNvSpPr>
              <p:nvPr/>
            </p:nvSpPr>
            <p:spPr>
              <a:xfrm>
                <a:off x="3825856" y="4615697"/>
                <a:ext cx="1945148" cy="468205"/>
              </a:xfrm>
              <a:prstGeom prst="rect">
                <a:avLst/>
              </a:prstGeom>
              <a:blipFill>
                <a:blip r:embed="rId3"/>
                <a:stretch>
                  <a:fillRect l="-940" t="-9091" r="-3762"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93961058-CE91-468A-9F5B-E6270B33ACEC}"/>
                  </a:ext>
                </a:extLst>
              </p:cNvPr>
              <p:cNvSpPr/>
              <p:nvPr/>
            </p:nvSpPr>
            <p:spPr>
              <a:xfrm>
                <a:off x="1577748" y="4622237"/>
                <a:ext cx="17947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i="1">
                          <a:latin typeface="Cambria Math" panose="02040503050406030204" pitchFamily="18" charset="0"/>
                        </a:rPr>
                        <m:t>≥,</m:t>
                      </m:r>
                      <m:r>
                        <a:rPr lang="zh-CN" altLang="en-US" sz="2400" i="1">
                          <a:latin typeface="Cambria Math" panose="02040503050406030204" pitchFamily="18" charset="0"/>
                        </a:rPr>
                        <m:t>无</m:t>
                      </m:r>
                      <m:r>
                        <a:rPr lang="en-US" altLang="zh-CN" sz="2400" b="1">
                          <a:latin typeface="Cambria Math" panose="02040503050406030204" pitchFamily="18" charset="0"/>
                        </a:rPr>
                        <m:t>,</m:t>
                      </m:r>
                      <m:r>
                        <a:rPr lang="en-US" altLang="zh-CN" sz="2400" b="1" i="1">
                          <a:latin typeface="Cambria Math" panose="02040503050406030204" pitchFamily="18" charset="0"/>
                        </a:rPr>
                        <m:t>≤</m:t>
                      </m:r>
                      <m:r>
                        <a:rPr lang="en-US" altLang="zh-CN" sz="2400" b="1" i="1">
                          <a:latin typeface="Cambria Math" panose="02040503050406030204" pitchFamily="18" charset="0"/>
                        </a:rPr>
                        <m:t>𝟎</m:t>
                      </m:r>
                    </m:oMath>
                  </m:oMathPara>
                </a14:m>
                <a:endParaRPr lang="zh-CN" altLang="en-US" sz="2400" dirty="0"/>
              </a:p>
            </p:txBody>
          </p:sp>
        </mc:Choice>
        <mc:Fallback xmlns="">
          <p:sp>
            <p:nvSpPr>
              <p:cNvPr id="12" name="矩形 11">
                <a:extLst>
                  <a:ext uri="{FF2B5EF4-FFF2-40B4-BE49-F238E27FC236}">
                    <a16:creationId xmlns:a16="http://schemas.microsoft.com/office/drawing/2014/main" id="{93961058-CE91-468A-9F5B-E6270B33ACEC}"/>
                  </a:ext>
                </a:extLst>
              </p:cNvPr>
              <p:cNvSpPr>
                <a:spLocks noRot="1" noChangeAspect="1" noMove="1" noResize="1" noEditPoints="1" noAdjustHandles="1" noChangeArrowheads="1" noChangeShapeType="1" noTextEdit="1"/>
              </p:cNvSpPr>
              <p:nvPr/>
            </p:nvSpPr>
            <p:spPr>
              <a:xfrm>
                <a:off x="1577748" y="4622237"/>
                <a:ext cx="1794787" cy="461665"/>
              </a:xfrm>
              <a:prstGeom prst="rect">
                <a:avLst/>
              </a:prstGeom>
              <a:blipFill>
                <a:blip r:embed="rId4"/>
                <a:stretch>
                  <a:fillRect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02128526-27C5-4677-9673-BA282A408E63}"/>
                  </a:ext>
                </a:extLst>
              </p:cNvPr>
              <p:cNvSpPr/>
              <p:nvPr/>
            </p:nvSpPr>
            <p:spPr>
              <a:xfrm>
                <a:off x="3657600" y="3939723"/>
                <a:ext cx="179876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𝑦</m:t>
                      </m:r>
                      <m:r>
                        <a:rPr lang="en-US" altLang="zh-CN" sz="2400" i="1">
                          <a:latin typeface="Cambria Math" panose="02040503050406030204" pitchFamily="18" charset="0"/>
                        </a:rPr>
                        <m:t>,</m:t>
                      </m:r>
                      <m:r>
                        <a:rPr lang="en-US" altLang="zh-CN" sz="2400" b="1" i="1">
                          <a:latin typeface="Cambria Math" panose="02040503050406030204" pitchFamily="18" charset="0"/>
                        </a:rPr>
                        <m:t>≤</m:t>
                      </m:r>
                      <m:r>
                        <a:rPr lang="zh-CN" altLang="en-US" sz="2400" i="1">
                          <a:latin typeface="Cambria Math" panose="02040503050406030204" pitchFamily="18" charset="0"/>
                        </a:rPr>
                        <m:t>无</m:t>
                      </m:r>
                      <m:r>
                        <a:rPr lang="en-US" altLang="zh-CN" sz="2400" b="1">
                          <a:latin typeface="Cambria Math" panose="02040503050406030204" pitchFamily="18" charset="0"/>
                        </a:rPr>
                        <m:t>,</m:t>
                      </m:r>
                      <m:r>
                        <a:rPr lang="en-US" altLang="zh-CN" sz="2400" i="1">
                          <a:latin typeface="Cambria Math" panose="02040503050406030204" pitchFamily="18" charset="0"/>
                        </a:rPr>
                        <m:t>≥</m:t>
                      </m:r>
                      <m:r>
                        <a:rPr lang="en-US" altLang="zh-CN" sz="2400" b="1" i="1">
                          <a:latin typeface="Cambria Math" panose="02040503050406030204" pitchFamily="18" charset="0"/>
                        </a:rPr>
                        <m:t>𝟎</m:t>
                      </m:r>
                    </m:oMath>
                  </m:oMathPara>
                </a14:m>
                <a:endParaRPr lang="zh-CN" altLang="en-US" sz="2400" dirty="0"/>
              </a:p>
            </p:txBody>
          </p:sp>
        </mc:Choice>
        <mc:Fallback xmlns="">
          <p:sp>
            <p:nvSpPr>
              <p:cNvPr id="13" name="矩形 12">
                <a:extLst>
                  <a:ext uri="{FF2B5EF4-FFF2-40B4-BE49-F238E27FC236}">
                    <a16:creationId xmlns:a16="http://schemas.microsoft.com/office/drawing/2014/main" id="{02128526-27C5-4677-9673-BA282A408E63}"/>
                  </a:ext>
                </a:extLst>
              </p:cNvPr>
              <p:cNvSpPr>
                <a:spLocks noRot="1" noChangeAspect="1" noMove="1" noResize="1" noEditPoints="1" noAdjustHandles="1" noChangeArrowheads="1" noChangeShapeType="1" noTextEdit="1"/>
              </p:cNvSpPr>
              <p:nvPr/>
            </p:nvSpPr>
            <p:spPr>
              <a:xfrm>
                <a:off x="3657600" y="3939723"/>
                <a:ext cx="1798762" cy="461665"/>
              </a:xfrm>
              <a:prstGeom prst="rect">
                <a:avLst/>
              </a:prstGeom>
              <a:blipFill>
                <a:blip r:embed="rId5"/>
                <a:stretch>
                  <a:fillRect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DD1A82F0-8F39-4728-AD48-AA6ECC44BE99}"/>
                  </a:ext>
                </a:extLst>
              </p:cNvPr>
              <p:cNvSpPr/>
              <p:nvPr/>
            </p:nvSpPr>
            <p:spPr>
              <a:xfrm>
                <a:off x="1653619" y="3913127"/>
                <a:ext cx="1702710" cy="461665"/>
              </a:xfrm>
              <a:prstGeom prst="rect">
                <a:avLst/>
              </a:prstGeom>
            </p:spPr>
            <p:txBody>
              <a:bodyPr wrap="none">
                <a:spAutoFit/>
              </a:bodyPr>
              <a:lstStyle/>
              <a:p>
                <a:pPr eaLnBrk="1" hangingPunct="1">
                  <a:buFont typeface="Wingdings" panose="05000000000000000000" pitchFamily="2" charset="2"/>
                  <a:buNone/>
                </a:pPr>
                <a:r>
                  <a:rPr lang="en-US" altLang="zh-CN" sz="2400" kern="0" dirty="0">
                    <a:latin typeface="Times New Roman" panose="02020603050405020304" pitchFamily="18" charset="0"/>
                  </a:rPr>
                  <a:t>AX</a:t>
                </a:r>
                <a14:m>
                  <m:oMath xmlns:m="http://schemas.openxmlformats.org/officeDocument/2006/math">
                    <m:r>
                      <a:rPr lang="en-US" altLang="zh-CN" sz="2400" i="1" kern="0">
                        <a:latin typeface="Cambria Math" panose="02040503050406030204" pitchFamily="18" charset="0"/>
                      </a:rPr>
                      <m:t>≥,=,≤</m:t>
                    </m:r>
                  </m:oMath>
                </a14:m>
                <a:r>
                  <a:rPr lang="en-US" altLang="zh-CN" sz="2400" kern="0" dirty="0">
                    <a:latin typeface="Times New Roman" panose="02020603050405020304" pitchFamily="18" charset="0"/>
                  </a:rPr>
                  <a:t>b</a:t>
                </a:r>
              </a:p>
            </p:txBody>
          </p:sp>
        </mc:Choice>
        <mc:Fallback xmlns="">
          <p:sp>
            <p:nvSpPr>
              <p:cNvPr id="14" name="矩形 13">
                <a:extLst>
                  <a:ext uri="{FF2B5EF4-FFF2-40B4-BE49-F238E27FC236}">
                    <a16:creationId xmlns:a16="http://schemas.microsoft.com/office/drawing/2014/main" id="{DD1A82F0-8F39-4728-AD48-AA6ECC44BE99}"/>
                  </a:ext>
                </a:extLst>
              </p:cNvPr>
              <p:cNvSpPr>
                <a:spLocks noRot="1" noChangeAspect="1" noMove="1" noResize="1" noEditPoints="1" noAdjustHandles="1" noChangeArrowheads="1" noChangeShapeType="1" noTextEdit="1"/>
              </p:cNvSpPr>
              <p:nvPr/>
            </p:nvSpPr>
            <p:spPr>
              <a:xfrm>
                <a:off x="1653619" y="3913127"/>
                <a:ext cx="1702710" cy="461665"/>
              </a:xfrm>
              <a:prstGeom prst="rect">
                <a:avLst/>
              </a:prstGeom>
              <a:blipFill>
                <a:blip r:embed="rId6"/>
                <a:stretch>
                  <a:fillRect l="-5357" t="-10526" r="-3571" b="-289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93865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E58C3DC-66EF-44DD-913A-6C3D9DE90F24}"/>
              </a:ext>
            </a:extLst>
          </p:cNvPr>
          <p:cNvSpPr>
            <a:spLocks noGrp="1"/>
          </p:cNvSpPr>
          <p:nvPr>
            <p:ph type="title"/>
          </p:nvPr>
        </p:nvSpPr>
        <p:spPr/>
        <p:txBody>
          <a:bodyPr/>
          <a:lstStyle/>
          <a:p>
            <a:r>
              <a:rPr lang="zh-CN" altLang="en-US" dirty="0"/>
              <a:t>例子</a:t>
            </a:r>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6ABAAF51-70FB-4C00-913C-4DFA8BD338D3}"/>
                  </a:ext>
                </a:extLst>
              </p:cNvPr>
              <p:cNvSpPr>
                <a:spLocks noGrp="1"/>
              </p:cNvSpPr>
              <p:nvPr>
                <p:ph idx="1"/>
              </p:nvPr>
            </p:nvSpPr>
            <p:spPr>
              <a:xfrm>
                <a:off x="-152400" y="1600200"/>
                <a:ext cx="4800600" cy="2590800"/>
              </a:xfrm>
            </p:spPr>
            <p:txBody>
              <a:bodyPr/>
              <a:lstStyle/>
              <a:p>
                <a:pPr marL="0" indent="0" eaLnBrk="1" hangingPunct="1">
                  <a:lnSpc>
                    <a:spcPct val="90000"/>
                  </a:lnSpc>
                  <a:buNone/>
                </a:pPr>
                <a:r>
                  <a:rPr lang="en-US" altLang="zh-CN" dirty="0">
                    <a:latin typeface="Times New Roman" panose="02020603050405020304" pitchFamily="18" charset="0"/>
                  </a:rPr>
                  <a:t>Max    z = 2x</a:t>
                </a:r>
                <a:r>
                  <a:rPr lang="en-US" altLang="zh-CN" baseline="-25000" dirty="0">
                    <a:latin typeface="Times New Roman" panose="02020603050405020304" pitchFamily="18" charset="0"/>
                  </a:rPr>
                  <a:t>1 </a:t>
                </a:r>
                <a:r>
                  <a:rPr lang="en-US" altLang="zh-CN" dirty="0">
                    <a:latin typeface="Times New Roman" panose="02020603050405020304" pitchFamily="18" charset="0"/>
                  </a:rPr>
                  <a:t>+3x</a:t>
                </a:r>
                <a:r>
                  <a:rPr lang="en-US" altLang="zh-CN" baseline="-25000" dirty="0">
                    <a:latin typeface="Times New Roman" panose="02020603050405020304" pitchFamily="18" charset="0"/>
                  </a:rPr>
                  <a:t>2</a:t>
                </a:r>
              </a:p>
              <a:p>
                <a:pPr marL="0" indent="0" eaLnBrk="1" hangingPunct="1">
                  <a:lnSpc>
                    <a:spcPct val="90000"/>
                  </a:lnSpc>
                  <a:buNone/>
                </a:pPr>
                <a:r>
                  <a:rPr lang="en-US" altLang="zh-CN" dirty="0">
                    <a:latin typeface="Times New Roman" panose="02020603050405020304" pitchFamily="18" charset="0"/>
                  </a:rPr>
                  <a:t>              </a:t>
                </a:r>
                <a:r>
                  <a:rPr lang="en-US" altLang="zh-CN" dirty="0" err="1">
                    <a:latin typeface="Times New Roman" panose="02020603050405020304" pitchFamily="18" charset="0"/>
                  </a:rPr>
                  <a:t>s.t.</a:t>
                </a:r>
                <a:r>
                  <a:rPr lang="en-US" altLang="zh-CN" dirty="0">
                    <a:latin typeface="Times New Roman" panose="02020603050405020304" pitchFamily="18" charset="0"/>
                  </a:rPr>
                  <a:t>       x</a:t>
                </a:r>
                <a:r>
                  <a:rPr lang="en-US" altLang="zh-CN" baseline="-25000" dirty="0">
                    <a:latin typeface="Times New Roman" panose="02020603050405020304" pitchFamily="18" charset="0"/>
                  </a:rPr>
                  <a:t>1</a:t>
                </a:r>
                <a:r>
                  <a:rPr lang="en-US" altLang="zh-CN" dirty="0">
                    <a:latin typeface="Times New Roman" panose="02020603050405020304" pitchFamily="18" charset="0"/>
                  </a:rPr>
                  <a:t>+2x</a:t>
                </a:r>
                <a:r>
                  <a:rPr lang="en-US" altLang="zh-CN" baseline="-25000" dirty="0">
                    <a:latin typeface="Times New Roman" panose="02020603050405020304" pitchFamily="18" charset="0"/>
                  </a:rPr>
                  <a:t>2</a:t>
                </a:r>
                <a:r>
                  <a:rPr lang="en-US" altLang="zh-CN" dirty="0">
                    <a:latin typeface="Times New Roman" panose="02020603050405020304" pitchFamily="18" charset="0"/>
                  </a:rPr>
                  <a:t>≤8 </a:t>
                </a:r>
              </a:p>
              <a:p>
                <a:pPr marL="0" indent="0" eaLnBrk="1" hangingPunct="1">
                  <a:lnSpc>
                    <a:spcPct val="90000"/>
                  </a:lnSpc>
                  <a:buNone/>
                </a:pPr>
                <a:r>
                  <a:rPr lang="en-US" altLang="zh-CN" dirty="0">
                    <a:latin typeface="Times New Roman" panose="02020603050405020304" pitchFamily="18" charset="0"/>
                  </a:rPr>
                  <a:t>                        4x</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14:m>
                  <m:oMath xmlns:m="http://schemas.openxmlformats.org/officeDocument/2006/math">
                    <m:r>
                      <a:rPr lang="en-US" altLang="zh-CN" b="1" i="1" smtClean="0">
                        <a:latin typeface="Cambria Math" panose="02040503050406030204" pitchFamily="18" charset="0"/>
                      </a:rPr>
                      <m:t>≥ </m:t>
                    </m:r>
                  </m:oMath>
                </a14:m>
                <a:r>
                  <a:rPr lang="en-US" altLang="zh-CN" dirty="0">
                    <a:latin typeface="Times New Roman" panose="02020603050405020304" pitchFamily="18" charset="0"/>
                  </a:rPr>
                  <a:t>6</a:t>
                </a:r>
              </a:p>
              <a:p>
                <a:pPr marL="0" indent="0" eaLnBrk="1" hangingPunct="1">
                  <a:lnSpc>
                    <a:spcPct val="90000"/>
                  </a:lnSpc>
                  <a:buNone/>
                </a:pPr>
                <a:r>
                  <a:rPr lang="en-US" altLang="zh-CN" dirty="0">
                    <a:latin typeface="Times New Roman" panose="02020603050405020304" pitchFamily="18" charset="0"/>
                  </a:rPr>
                  <a:t>                              4x</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14:m>
                  <m:oMath xmlns:m="http://schemas.openxmlformats.org/officeDocument/2006/math">
                    <m:r>
                      <a:rPr lang="en-US" altLang="zh-CN" b="1" i="1" smtClean="0">
                        <a:latin typeface="Cambria Math" panose="02040503050406030204" pitchFamily="18" charset="0"/>
                      </a:rPr>
                      <m:t>≤</m:t>
                    </m:r>
                  </m:oMath>
                </a14:m>
                <a:r>
                  <a:rPr lang="en-US" altLang="zh-CN" dirty="0">
                    <a:latin typeface="Times New Roman" panose="02020603050405020304" pitchFamily="18" charset="0"/>
                  </a:rPr>
                  <a:t>12</a:t>
                </a:r>
              </a:p>
              <a:p>
                <a:pPr marL="0" indent="0" eaLnBrk="1" hangingPunct="1">
                  <a:lnSpc>
                    <a:spcPct val="90000"/>
                  </a:lnSpc>
                  <a:buNone/>
                </a:pPr>
                <a:r>
                  <a:rPr lang="en-US" altLang="zh-CN" dirty="0">
                    <a:latin typeface="Times New Roman" panose="02020603050405020304" pitchFamily="18" charset="0"/>
                  </a:rPr>
                  <a:t>                         x</a:t>
                </a:r>
                <a:r>
                  <a:rPr lang="en-US" altLang="zh-CN" baseline="-25000" dirty="0">
                    <a:latin typeface="Times New Roman" panose="02020603050405020304" pitchFamily="18" charset="0"/>
                  </a:rPr>
                  <a:t>1</a:t>
                </a:r>
                <a:r>
                  <a:rPr lang="en-US" altLang="zh-CN" dirty="0">
                    <a:latin typeface="Times New Roman" panose="02020603050405020304" pitchFamily="18" charset="0"/>
                  </a:rPr>
                  <a:t>, ≥0 x2</a:t>
                </a:r>
                <a:r>
                  <a:rPr lang="zh-CN" altLang="en-US" dirty="0">
                    <a:latin typeface="Times New Roman" panose="02020603050405020304" pitchFamily="18" charset="0"/>
                  </a:rPr>
                  <a:t>无约束</a:t>
                </a:r>
                <a:endParaRPr lang="zh-CN" altLang="en-US" dirty="0"/>
              </a:p>
            </p:txBody>
          </p:sp>
        </mc:Choice>
        <mc:Fallback xmlns="">
          <p:sp>
            <p:nvSpPr>
              <p:cNvPr id="6" name="内容占位符 5">
                <a:extLst>
                  <a:ext uri="{FF2B5EF4-FFF2-40B4-BE49-F238E27FC236}">
                    <a16:creationId xmlns:a16="http://schemas.microsoft.com/office/drawing/2014/main" id="{6ABAAF51-70FB-4C00-913C-4DFA8BD338D3}"/>
                  </a:ext>
                </a:extLst>
              </p:cNvPr>
              <p:cNvSpPr>
                <a:spLocks noGrp="1" noRot="1" noChangeAspect="1" noMove="1" noResize="1" noEditPoints="1" noAdjustHandles="1" noChangeArrowheads="1" noChangeShapeType="1" noTextEdit="1"/>
              </p:cNvSpPr>
              <p:nvPr>
                <p:ph idx="1"/>
              </p:nvPr>
            </p:nvSpPr>
            <p:spPr>
              <a:xfrm>
                <a:off x="-152400" y="1600200"/>
                <a:ext cx="4800600" cy="2590800"/>
              </a:xfrm>
              <a:blipFill>
                <a:blip r:embed="rId2"/>
                <a:stretch>
                  <a:fillRect l="-2538" t="-4235" r="-1777"/>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CB7C2754-45A9-436A-813A-34EE2A5A7996}"/>
              </a:ext>
            </a:extLst>
          </p:cNvPr>
          <p:cNvSpPr/>
          <p:nvPr/>
        </p:nvSpPr>
        <p:spPr>
          <a:xfrm>
            <a:off x="4495800" y="1661319"/>
            <a:ext cx="4323204" cy="2362200"/>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3">
            <a:extLst>
              <a:ext uri="{FF2B5EF4-FFF2-40B4-BE49-F238E27FC236}">
                <a16:creationId xmlns:a16="http://schemas.microsoft.com/office/drawing/2014/main" id="{57A1ED14-8162-4FDC-B252-9294F5F34682}"/>
              </a:ext>
            </a:extLst>
          </p:cNvPr>
          <p:cNvSpPr txBox="1">
            <a:spLocks noChangeArrowheads="1"/>
          </p:cNvSpPr>
          <p:nvPr/>
        </p:nvSpPr>
        <p:spPr bwMode="auto">
          <a:xfrm>
            <a:off x="4414166" y="1927422"/>
            <a:ext cx="206283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algn="ctr" eaLnBrk="1" hangingPunct="1">
              <a:buFont typeface="Wingdings" panose="05000000000000000000" pitchFamily="2" charset="2"/>
              <a:buNone/>
            </a:pPr>
            <a:r>
              <a:rPr lang="en-US" altLang="zh-CN" sz="2400" kern="0" dirty="0">
                <a:latin typeface="Times New Roman" panose="02020603050405020304" pitchFamily="18" charset="0"/>
              </a:rPr>
              <a:t>max   z= CX</a:t>
            </a:r>
          </a:p>
          <a:p>
            <a:pPr algn="ctr" eaLnBrk="1" hangingPunct="1">
              <a:buFont typeface="Wingdings" panose="05000000000000000000" pitchFamily="2" charset="2"/>
              <a:buNone/>
            </a:pPr>
            <a:r>
              <a:rPr lang="en-US" altLang="zh-CN" sz="2400" b="0" kern="0" dirty="0">
                <a:latin typeface="Times New Roman" panose="02020603050405020304" pitchFamily="18" charset="0"/>
              </a:rPr>
              <a:t>          </a:t>
            </a:r>
          </a:p>
          <a:p>
            <a:pPr algn="ctr" eaLnBrk="1" hangingPunct="1">
              <a:buFont typeface="Wingdings" panose="05000000000000000000" pitchFamily="2" charset="2"/>
              <a:buNone/>
            </a:pPr>
            <a:r>
              <a:rPr lang="en-US" altLang="zh-CN" sz="2400" b="0" kern="0" dirty="0">
                <a:latin typeface="Times New Roman" panose="02020603050405020304" pitchFamily="18" charset="0"/>
              </a:rPr>
              <a:t>           </a:t>
            </a:r>
            <a:endParaRPr lang="en-US" altLang="zh-CN" sz="2400" kern="0" dirty="0">
              <a:latin typeface="Times New Roman" panose="02020603050405020304" pitchFamily="18" charset="0"/>
            </a:endParaRPr>
          </a:p>
          <a:p>
            <a:pPr algn="ctr" eaLnBrk="1" hangingPunct="1">
              <a:buFont typeface="Wingdings" panose="05000000000000000000" pitchFamily="2" charset="2"/>
              <a:buNone/>
            </a:pPr>
            <a:r>
              <a:rPr lang="en-US" altLang="zh-CN" sz="2400" kern="0" dirty="0">
                <a:latin typeface="Times New Roman" panose="02020603050405020304" pitchFamily="18" charset="0"/>
              </a:rPr>
              <a:t>           </a:t>
            </a:r>
            <a:endParaRPr lang="en-US" altLang="zh-CN" sz="2400" kern="0" dirty="0"/>
          </a:p>
        </p:txBody>
      </p:sp>
      <mc:AlternateContent xmlns:mc="http://schemas.openxmlformats.org/markup-compatibility/2006" xmlns:a14="http://schemas.microsoft.com/office/drawing/2010/main">
        <mc:Choice Requires="a14">
          <p:sp>
            <p:nvSpPr>
              <p:cNvPr id="18" name="Rectangle 4">
                <a:extLst>
                  <a:ext uri="{FF2B5EF4-FFF2-40B4-BE49-F238E27FC236}">
                    <a16:creationId xmlns:a16="http://schemas.microsoft.com/office/drawing/2014/main" id="{5E762AED-2462-4624-9F09-564CF472563E}"/>
                  </a:ext>
                </a:extLst>
              </p:cNvPr>
              <p:cNvSpPr>
                <a:spLocks noChangeArrowheads="1"/>
              </p:cNvSpPr>
              <p:nvPr/>
            </p:nvSpPr>
            <p:spPr bwMode="auto">
              <a:xfrm>
                <a:off x="6629400" y="1917210"/>
                <a:ext cx="2062835" cy="573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18" name="Rectangle 4">
                <a:extLst>
                  <a:ext uri="{FF2B5EF4-FFF2-40B4-BE49-F238E27FC236}">
                    <a16:creationId xmlns:a16="http://schemas.microsoft.com/office/drawing/2014/main" id="{5E762AED-2462-4624-9F09-564CF472563E}"/>
                  </a:ext>
                </a:extLst>
              </p:cNvPr>
              <p:cNvSpPr>
                <a:spLocks noRot="1" noChangeAspect="1" noMove="1" noResize="1" noEditPoints="1" noAdjustHandles="1" noChangeArrowheads="1" noChangeShapeType="1" noTextEdit="1"/>
              </p:cNvSpPr>
              <p:nvPr/>
            </p:nvSpPr>
            <p:spPr bwMode="auto">
              <a:xfrm>
                <a:off x="6629400" y="1917210"/>
                <a:ext cx="2062835" cy="573923"/>
              </a:xfrm>
              <a:prstGeom prst="rect">
                <a:avLst/>
              </a:prstGeom>
              <a:blipFill>
                <a:blip r:embed="rId3"/>
                <a:stretch>
                  <a:fillRect l="-4734" t="-7447" b="-53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7D525703-5D0F-4FED-9A4F-576D8E65F2C9}"/>
                  </a:ext>
                </a:extLst>
              </p:cNvPr>
              <p:cNvSpPr/>
              <p:nvPr/>
            </p:nvSpPr>
            <p:spPr>
              <a:xfrm>
                <a:off x="6873856" y="3381416"/>
                <a:ext cx="1945148" cy="468205"/>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a:latin typeface="Cambria Math" panose="02040503050406030204" pitchFamily="18" charset="0"/>
                          </a:rPr>
                          <m:t>𝐀</m:t>
                        </m:r>
                      </m:e>
                      <m:sup>
                        <m:r>
                          <a:rPr lang="en-US" altLang="zh-CN" sz="2400" b="1" i="1">
                            <a:latin typeface="Cambria Math" panose="02040503050406030204" pitchFamily="18" charset="0"/>
                          </a:rPr>
                          <m:t>𝑻</m:t>
                        </m:r>
                      </m:sup>
                    </m:sSup>
                    <m:r>
                      <a:rPr lang="en-US" altLang="zh-CN" sz="2400" b="1" i="1">
                        <a:latin typeface="Cambria Math" panose="02040503050406030204" pitchFamily="18" charset="0"/>
                      </a:rPr>
                      <m:t>𝒚</m:t>
                    </m:r>
                    <m:r>
                      <a:rPr lang="en-US" altLang="zh-CN" sz="2400" b="1" i="1">
                        <a:latin typeface="Cambria Math" panose="02040503050406030204" pitchFamily="18" charset="0"/>
                      </a:rPr>
                      <m:t>≥,=, ≤</m:t>
                    </m:r>
                  </m:oMath>
                </a14:m>
                <a:r>
                  <a:rPr lang="en-US" altLang="zh-CN" sz="2400" b="1" dirty="0">
                    <a:latin typeface="Times New Roman" panose="02020603050405020304" pitchFamily="18" charset="0"/>
                  </a:rPr>
                  <a:t>C</a:t>
                </a:r>
              </a:p>
            </p:txBody>
          </p:sp>
        </mc:Choice>
        <mc:Fallback xmlns="">
          <p:sp>
            <p:nvSpPr>
              <p:cNvPr id="19" name="矩形 18">
                <a:extLst>
                  <a:ext uri="{FF2B5EF4-FFF2-40B4-BE49-F238E27FC236}">
                    <a16:creationId xmlns:a16="http://schemas.microsoft.com/office/drawing/2014/main" id="{7D525703-5D0F-4FED-9A4F-576D8E65F2C9}"/>
                  </a:ext>
                </a:extLst>
              </p:cNvPr>
              <p:cNvSpPr>
                <a:spLocks noRot="1" noChangeAspect="1" noMove="1" noResize="1" noEditPoints="1" noAdjustHandles="1" noChangeArrowheads="1" noChangeShapeType="1" noTextEdit="1"/>
              </p:cNvSpPr>
              <p:nvPr/>
            </p:nvSpPr>
            <p:spPr>
              <a:xfrm>
                <a:off x="6873856" y="3381416"/>
                <a:ext cx="1945148" cy="468205"/>
              </a:xfrm>
              <a:prstGeom prst="rect">
                <a:avLst/>
              </a:prstGeom>
              <a:blipFill>
                <a:blip r:embed="rId4"/>
                <a:stretch>
                  <a:fillRect l="-940" t="-9211" r="-3762"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77E32A22-86F8-4685-8775-76B881FD2A31}"/>
                  </a:ext>
                </a:extLst>
              </p:cNvPr>
              <p:cNvSpPr/>
              <p:nvPr/>
            </p:nvSpPr>
            <p:spPr>
              <a:xfrm>
                <a:off x="4625748" y="3387956"/>
                <a:ext cx="17947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i="1">
                          <a:latin typeface="Cambria Math" panose="02040503050406030204" pitchFamily="18" charset="0"/>
                        </a:rPr>
                        <m:t>≥,</m:t>
                      </m:r>
                      <m:r>
                        <a:rPr lang="zh-CN" altLang="en-US" sz="2400" i="1">
                          <a:latin typeface="Cambria Math" panose="02040503050406030204" pitchFamily="18" charset="0"/>
                        </a:rPr>
                        <m:t>无</m:t>
                      </m:r>
                      <m:r>
                        <a:rPr lang="en-US" altLang="zh-CN" sz="2400" b="1">
                          <a:latin typeface="Cambria Math" panose="02040503050406030204" pitchFamily="18" charset="0"/>
                        </a:rPr>
                        <m:t>,</m:t>
                      </m:r>
                      <m:r>
                        <a:rPr lang="en-US" altLang="zh-CN" sz="2400" b="1" i="1">
                          <a:latin typeface="Cambria Math" panose="02040503050406030204" pitchFamily="18" charset="0"/>
                        </a:rPr>
                        <m:t>≤</m:t>
                      </m:r>
                      <m:r>
                        <a:rPr lang="en-US" altLang="zh-CN" sz="2400" b="1" i="1">
                          <a:latin typeface="Cambria Math" panose="02040503050406030204" pitchFamily="18" charset="0"/>
                        </a:rPr>
                        <m:t>𝟎</m:t>
                      </m:r>
                    </m:oMath>
                  </m:oMathPara>
                </a14:m>
                <a:endParaRPr lang="zh-CN" altLang="en-US" sz="2400" dirty="0"/>
              </a:p>
            </p:txBody>
          </p:sp>
        </mc:Choice>
        <mc:Fallback xmlns="">
          <p:sp>
            <p:nvSpPr>
              <p:cNvPr id="20" name="矩形 19">
                <a:extLst>
                  <a:ext uri="{FF2B5EF4-FFF2-40B4-BE49-F238E27FC236}">
                    <a16:creationId xmlns:a16="http://schemas.microsoft.com/office/drawing/2014/main" id="{77E32A22-86F8-4685-8775-76B881FD2A31}"/>
                  </a:ext>
                </a:extLst>
              </p:cNvPr>
              <p:cNvSpPr>
                <a:spLocks noRot="1" noChangeAspect="1" noMove="1" noResize="1" noEditPoints="1" noAdjustHandles="1" noChangeArrowheads="1" noChangeShapeType="1" noTextEdit="1"/>
              </p:cNvSpPr>
              <p:nvPr/>
            </p:nvSpPr>
            <p:spPr>
              <a:xfrm>
                <a:off x="4625748" y="3387956"/>
                <a:ext cx="1794787" cy="461665"/>
              </a:xfrm>
              <a:prstGeom prst="rect">
                <a:avLst/>
              </a:prstGeom>
              <a:blipFill>
                <a:blip r:embed="rId5"/>
                <a:stretch>
                  <a:fillRect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7EE8342C-AAA4-4E1A-8A2B-3BC8FD7C3969}"/>
                  </a:ext>
                </a:extLst>
              </p:cNvPr>
              <p:cNvSpPr/>
              <p:nvPr/>
            </p:nvSpPr>
            <p:spPr>
              <a:xfrm>
                <a:off x="6705600" y="2705442"/>
                <a:ext cx="179876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𝑦</m:t>
                      </m:r>
                      <m:r>
                        <a:rPr lang="en-US" altLang="zh-CN" sz="2400" i="1">
                          <a:latin typeface="Cambria Math" panose="02040503050406030204" pitchFamily="18" charset="0"/>
                        </a:rPr>
                        <m:t>,</m:t>
                      </m:r>
                      <m:r>
                        <a:rPr lang="en-US" altLang="zh-CN" sz="2400" b="1" i="1">
                          <a:latin typeface="Cambria Math" panose="02040503050406030204" pitchFamily="18" charset="0"/>
                        </a:rPr>
                        <m:t>≤</m:t>
                      </m:r>
                      <m:r>
                        <a:rPr lang="zh-CN" altLang="en-US" sz="2400" i="1">
                          <a:latin typeface="Cambria Math" panose="02040503050406030204" pitchFamily="18" charset="0"/>
                        </a:rPr>
                        <m:t>无</m:t>
                      </m:r>
                      <m:r>
                        <a:rPr lang="en-US" altLang="zh-CN" sz="2400" b="1">
                          <a:latin typeface="Cambria Math" panose="02040503050406030204" pitchFamily="18" charset="0"/>
                        </a:rPr>
                        <m:t>,</m:t>
                      </m:r>
                      <m:r>
                        <a:rPr lang="en-US" altLang="zh-CN" sz="2400" i="1">
                          <a:latin typeface="Cambria Math" panose="02040503050406030204" pitchFamily="18" charset="0"/>
                        </a:rPr>
                        <m:t>≥</m:t>
                      </m:r>
                      <m:r>
                        <a:rPr lang="en-US" altLang="zh-CN" sz="2400" b="1" i="1">
                          <a:latin typeface="Cambria Math" panose="02040503050406030204" pitchFamily="18" charset="0"/>
                        </a:rPr>
                        <m:t>𝟎</m:t>
                      </m:r>
                    </m:oMath>
                  </m:oMathPara>
                </a14:m>
                <a:endParaRPr lang="zh-CN" altLang="en-US" sz="2400" dirty="0"/>
              </a:p>
            </p:txBody>
          </p:sp>
        </mc:Choice>
        <mc:Fallback xmlns="">
          <p:sp>
            <p:nvSpPr>
              <p:cNvPr id="21" name="矩形 20">
                <a:extLst>
                  <a:ext uri="{FF2B5EF4-FFF2-40B4-BE49-F238E27FC236}">
                    <a16:creationId xmlns:a16="http://schemas.microsoft.com/office/drawing/2014/main" id="{7EE8342C-AAA4-4E1A-8A2B-3BC8FD7C3969}"/>
                  </a:ext>
                </a:extLst>
              </p:cNvPr>
              <p:cNvSpPr>
                <a:spLocks noRot="1" noChangeAspect="1" noMove="1" noResize="1" noEditPoints="1" noAdjustHandles="1" noChangeArrowheads="1" noChangeShapeType="1" noTextEdit="1"/>
              </p:cNvSpPr>
              <p:nvPr/>
            </p:nvSpPr>
            <p:spPr>
              <a:xfrm>
                <a:off x="6705600" y="2705442"/>
                <a:ext cx="1798762" cy="461665"/>
              </a:xfrm>
              <a:prstGeom prst="rect">
                <a:avLst/>
              </a:prstGeom>
              <a:blipFill>
                <a:blip r:embed="rId6"/>
                <a:stretch>
                  <a:fillRect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D140CF31-A6C1-4ECB-B5B6-529A7CC69184}"/>
                  </a:ext>
                </a:extLst>
              </p:cNvPr>
              <p:cNvSpPr/>
              <p:nvPr/>
            </p:nvSpPr>
            <p:spPr>
              <a:xfrm>
                <a:off x="4701619" y="2678846"/>
                <a:ext cx="1702710" cy="461665"/>
              </a:xfrm>
              <a:prstGeom prst="rect">
                <a:avLst/>
              </a:prstGeom>
            </p:spPr>
            <p:txBody>
              <a:bodyPr wrap="none">
                <a:spAutoFit/>
              </a:bodyPr>
              <a:lstStyle/>
              <a:p>
                <a:pPr eaLnBrk="1" hangingPunct="1">
                  <a:buFont typeface="Wingdings" panose="05000000000000000000" pitchFamily="2" charset="2"/>
                  <a:buNone/>
                </a:pPr>
                <a:r>
                  <a:rPr lang="en-US" altLang="zh-CN" sz="2400" kern="0" dirty="0">
                    <a:latin typeface="Times New Roman" panose="02020603050405020304" pitchFamily="18" charset="0"/>
                  </a:rPr>
                  <a:t>AX</a:t>
                </a:r>
                <a14:m>
                  <m:oMath xmlns:m="http://schemas.openxmlformats.org/officeDocument/2006/math">
                    <m:r>
                      <a:rPr lang="en-US" altLang="zh-CN" sz="2400" i="1" kern="0">
                        <a:latin typeface="Cambria Math" panose="02040503050406030204" pitchFamily="18" charset="0"/>
                      </a:rPr>
                      <m:t>≥,=,≤</m:t>
                    </m:r>
                  </m:oMath>
                </a14:m>
                <a:r>
                  <a:rPr lang="en-US" altLang="zh-CN" sz="2400" kern="0" dirty="0">
                    <a:latin typeface="Times New Roman" panose="02020603050405020304" pitchFamily="18" charset="0"/>
                  </a:rPr>
                  <a:t>b</a:t>
                </a:r>
              </a:p>
            </p:txBody>
          </p:sp>
        </mc:Choice>
        <mc:Fallback xmlns="">
          <p:sp>
            <p:nvSpPr>
              <p:cNvPr id="22" name="矩形 21">
                <a:extLst>
                  <a:ext uri="{FF2B5EF4-FFF2-40B4-BE49-F238E27FC236}">
                    <a16:creationId xmlns:a16="http://schemas.microsoft.com/office/drawing/2014/main" id="{D140CF31-A6C1-4ECB-B5B6-529A7CC69184}"/>
                  </a:ext>
                </a:extLst>
              </p:cNvPr>
              <p:cNvSpPr>
                <a:spLocks noRot="1" noChangeAspect="1" noMove="1" noResize="1" noEditPoints="1" noAdjustHandles="1" noChangeArrowheads="1" noChangeShapeType="1" noTextEdit="1"/>
              </p:cNvSpPr>
              <p:nvPr/>
            </p:nvSpPr>
            <p:spPr>
              <a:xfrm>
                <a:off x="4701619" y="2678846"/>
                <a:ext cx="1702710" cy="461665"/>
              </a:xfrm>
              <a:prstGeom prst="rect">
                <a:avLst/>
              </a:prstGeom>
              <a:blipFill>
                <a:blip r:embed="rId7"/>
                <a:stretch>
                  <a:fillRect l="-5357" t="-10526" r="-3571" b="-289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00003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6344718-C94B-49D7-8270-0A29E7861F8A}"/>
              </a:ext>
            </a:extLst>
          </p:cNvPr>
          <p:cNvSpPr>
            <a:spLocks noGrp="1" noChangeArrowheads="1"/>
          </p:cNvSpPr>
          <p:nvPr>
            <p:ph type="title"/>
          </p:nvPr>
        </p:nvSpPr>
        <p:spPr/>
        <p:txBody>
          <a:bodyPr/>
          <a:lstStyle/>
          <a:p>
            <a:pPr eaLnBrk="1" hangingPunct="1"/>
            <a:r>
              <a:rPr lang="zh-CN" altLang="en-US"/>
              <a:t>对偶问题基本性质</a:t>
            </a:r>
            <a:r>
              <a:rPr lang="en-US" altLang="zh-CN"/>
              <a:t>(1)</a:t>
            </a:r>
            <a:endParaRPr lang="zh-CN" altLang="en-US"/>
          </a:p>
        </p:txBody>
      </p:sp>
      <p:sp>
        <p:nvSpPr>
          <p:cNvPr id="109571" name="Rectangle 3">
            <a:extLst>
              <a:ext uri="{FF2B5EF4-FFF2-40B4-BE49-F238E27FC236}">
                <a16:creationId xmlns:a16="http://schemas.microsoft.com/office/drawing/2014/main" id="{DAE6B8E5-8682-4327-B3EE-B9B3319BE4D5}"/>
              </a:ext>
            </a:extLst>
          </p:cNvPr>
          <p:cNvSpPr>
            <a:spLocks noGrp="1" noChangeArrowheads="1"/>
          </p:cNvSpPr>
          <p:nvPr>
            <p:ph type="body" sz="half" idx="1"/>
          </p:nvPr>
        </p:nvSpPr>
        <p:spPr>
          <a:xfrm>
            <a:off x="457200" y="1143000"/>
            <a:ext cx="5410200" cy="609600"/>
          </a:xfrm>
        </p:spPr>
        <p:txBody>
          <a:bodyPr/>
          <a:lstStyle/>
          <a:p>
            <a:pPr marL="533400" indent="-533400" eaLnBrk="1" hangingPunct="1">
              <a:buFont typeface="Wingdings" panose="05000000000000000000" pitchFamily="2" charset="2"/>
              <a:buNone/>
            </a:pPr>
            <a:r>
              <a:rPr lang="en-US" altLang="zh-CN" sz="2400"/>
              <a:t>1. </a:t>
            </a:r>
            <a:r>
              <a:rPr lang="zh-CN" altLang="en-US" sz="2400">
                <a:solidFill>
                  <a:srgbClr val="FF0000"/>
                </a:solidFill>
              </a:rPr>
              <a:t>对称性</a:t>
            </a:r>
            <a:r>
              <a:rPr lang="zh-CN" altLang="en-US" sz="2400"/>
              <a:t>：对偶问题的对偶是原问题</a:t>
            </a:r>
          </a:p>
        </p:txBody>
      </p:sp>
      <p:grpSp>
        <p:nvGrpSpPr>
          <p:cNvPr id="2" name="组合 12">
            <a:extLst>
              <a:ext uri="{FF2B5EF4-FFF2-40B4-BE49-F238E27FC236}">
                <a16:creationId xmlns:a16="http://schemas.microsoft.com/office/drawing/2014/main" id="{9DF5B5F1-814C-4A85-A215-2E4F877252A4}"/>
              </a:ext>
            </a:extLst>
          </p:cNvPr>
          <p:cNvGrpSpPr>
            <a:grpSpLocks/>
          </p:cNvGrpSpPr>
          <p:nvPr/>
        </p:nvGrpSpPr>
        <p:grpSpPr bwMode="auto">
          <a:xfrm>
            <a:off x="1524000" y="1828800"/>
            <a:ext cx="2133600" cy="1489075"/>
            <a:chOff x="1524000" y="1828800"/>
            <a:chExt cx="2133600" cy="1489075"/>
          </a:xfrm>
        </p:grpSpPr>
        <p:sp>
          <p:nvSpPr>
            <p:cNvPr id="42007" name="AutoShape 22">
              <a:extLst>
                <a:ext uri="{FF2B5EF4-FFF2-40B4-BE49-F238E27FC236}">
                  <a16:creationId xmlns:a16="http://schemas.microsoft.com/office/drawing/2014/main" id="{0FE96C3B-9187-43ED-ADF2-B46CE283263B}"/>
                </a:ext>
              </a:extLst>
            </p:cNvPr>
            <p:cNvSpPr>
              <a:spLocks noChangeArrowheads="1"/>
            </p:cNvSpPr>
            <p:nvPr/>
          </p:nvSpPr>
          <p:spPr bwMode="auto">
            <a:xfrm>
              <a:off x="1524000" y="1828800"/>
              <a:ext cx="2133600" cy="1489075"/>
            </a:xfrm>
            <a:prstGeom prst="roundRect">
              <a:avLst>
                <a:gd name="adj" fmla="val 16667"/>
              </a:avLst>
            </a:prstGeom>
            <a:solidFill>
              <a:schemeClr val="hlink"/>
            </a:solidFill>
            <a:ln w="38100">
              <a:solidFill>
                <a:schemeClr val="accent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2008" name="对象 11">
              <a:extLst>
                <a:ext uri="{FF2B5EF4-FFF2-40B4-BE49-F238E27FC236}">
                  <a16:creationId xmlns:a16="http://schemas.microsoft.com/office/drawing/2014/main" id="{B7F17D1A-C6FB-449A-9ED4-BF9CC2024854}"/>
                </a:ext>
              </a:extLst>
            </p:cNvPr>
            <p:cNvGraphicFramePr>
              <a:graphicFrameLocks noChangeAspect="1"/>
            </p:cNvGraphicFramePr>
            <p:nvPr/>
          </p:nvGraphicFramePr>
          <p:xfrm>
            <a:off x="1779588" y="1917700"/>
            <a:ext cx="1636712" cy="1352550"/>
          </p:xfrm>
          <a:graphic>
            <a:graphicData uri="http://schemas.openxmlformats.org/presentationml/2006/ole">
              <mc:AlternateContent xmlns:mc="http://schemas.openxmlformats.org/markup-compatibility/2006">
                <mc:Choice xmlns:v="urn:schemas-microsoft-com:vml" Requires="v">
                  <p:oleObj spid="_x0000_s42197" name="Equation" r:id="rId3" imgW="583947" imgH="482391" progId="Equation.DSMT4">
                    <p:embed/>
                  </p:oleObj>
                </mc:Choice>
                <mc:Fallback>
                  <p:oleObj name="Equation" r:id="rId3" imgW="583947" imgH="482391" progId="Equation.DSMT4">
                    <p:embed/>
                    <p:pic>
                      <p:nvPicPr>
                        <p:cNvPr id="0" name="对象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9588" y="1917700"/>
                          <a:ext cx="1636712"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组合 13">
            <a:extLst>
              <a:ext uri="{FF2B5EF4-FFF2-40B4-BE49-F238E27FC236}">
                <a16:creationId xmlns:a16="http://schemas.microsoft.com/office/drawing/2014/main" id="{EF7C4AC0-4DF7-4159-9DCA-10DB9B12E8D5}"/>
              </a:ext>
            </a:extLst>
          </p:cNvPr>
          <p:cNvGrpSpPr>
            <a:grpSpLocks/>
          </p:cNvGrpSpPr>
          <p:nvPr/>
        </p:nvGrpSpPr>
        <p:grpSpPr bwMode="auto">
          <a:xfrm>
            <a:off x="3657600" y="1828800"/>
            <a:ext cx="3803650" cy="1447800"/>
            <a:chOff x="3657600" y="1828800"/>
            <a:chExt cx="3803650" cy="1447800"/>
          </a:xfrm>
        </p:grpSpPr>
        <p:grpSp>
          <p:nvGrpSpPr>
            <p:cNvPr id="42002" name="Group 29">
              <a:extLst>
                <a:ext uri="{FF2B5EF4-FFF2-40B4-BE49-F238E27FC236}">
                  <a16:creationId xmlns:a16="http://schemas.microsoft.com/office/drawing/2014/main" id="{A81543B9-3347-4946-88DB-2276A14C4780}"/>
                </a:ext>
              </a:extLst>
            </p:cNvPr>
            <p:cNvGrpSpPr>
              <a:grpSpLocks/>
            </p:cNvGrpSpPr>
            <p:nvPr/>
          </p:nvGrpSpPr>
          <p:grpSpPr bwMode="auto">
            <a:xfrm>
              <a:off x="3657600" y="1981200"/>
              <a:ext cx="1676400" cy="990600"/>
              <a:chOff x="2400" y="1488"/>
              <a:chExt cx="790" cy="624"/>
            </a:xfrm>
          </p:grpSpPr>
          <p:sp>
            <p:nvSpPr>
              <p:cNvPr id="42005" name="AutoShape 30">
                <a:extLst>
                  <a:ext uri="{FF2B5EF4-FFF2-40B4-BE49-F238E27FC236}">
                    <a16:creationId xmlns:a16="http://schemas.microsoft.com/office/drawing/2014/main" id="{31F2094A-2EA5-4BBC-914F-B61A6F0CCDE0}"/>
                  </a:ext>
                </a:extLst>
              </p:cNvPr>
              <p:cNvSpPr>
                <a:spLocks noChangeArrowheads="1"/>
              </p:cNvSpPr>
              <p:nvPr/>
            </p:nvSpPr>
            <p:spPr bwMode="auto">
              <a:xfrm>
                <a:off x="2400" y="1776"/>
                <a:ext cx="790" cy="336"/>
              </a:xfrm>
              <a:prstGeom prst="rightArrow">
                <a:avLst>
                  <a:gd name="adj1" fmla="val 50000"/>
                  <a:gd name="adj2" fmla="val 5878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2006" name="Text Box 31">
                <a:extLst>
                  <a:ext uri="{FF2B5EF4-FFF2-40B4-BE49-F238E27FC236}">
                    <a16:creationId xmlns:a16="http://schemas.microsoft.com/office/drawing/2014/main" id="{E976A0E3-C5FA-411A-9903-260EB2496CD5}"/>
                  </a:ext>
                </a:extLst>
              </p:cNvPr>
              <p:cNvSpPr txBox="1">
                <a:spLocks noChangeArrowheads="1"/>
              </p:cNvSpPr>
              <p:nvPr/>
            </p:nvSpPr>
            <p:spPr bwMode="auto">
              <a:xfrm>
                <a:off x="2400" y="1488"/>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3366"/>
                    </a:solidFill>
                  </a:rPr>
                  <a:t>    对偶问题</a:t>
                </a:r>
                <a:endParaRPr lang="en-US" altLang="zh-CN">
                  <a:solidFill>
                    <a:srgbClr val="003366"/>
                  </a:solidFill>
                </a:endParaRPr>
              </a:p>
            </p:txBody>
          </p:sp>
        </p:grpSp>
        <p:sp>
          <p:nvSpPr>
            <p:cNvPr id="42003" name="AutoShape 19">
              <a:extLst>
                <a:ext uri="{FF2B5EF4-FFF2-40B4-BE49-F238E27FC236}">
                  <a16:creationId xmlns:a16="http://schemas.microsoft.com/office/drawing/2014/main" id="{19C4E73D-E4ED-4E53-89CB-2BC35DFF6593}"/>
                </a:ext>
              </a:extLst>
            </p:cNvPr>
            <p:cNvSpPr>
              <a:spLocks noChangeArrowheads="1"/>
            </p:cNvSpPr>
            <p:nvPr/>
          </p:nvSpPr>
          <p:spPr bwMode="auto">
            <a:xfrm>
              <a:off x="5334000" y="1828800"/>
              <a:ext cx="2127250" cy="1447800"/>
            </a:xfrm>
            <a:prstGeom prst="roundRect">
              <a:avLst>
                <a:gd name="adj" fmla="val 16667"/>
              </a:avLst>
            </a:prstGeom>
            <a:solidFill>
              <a:schemeClr val="hlink"/>
            </a:solidFill>
            <a:ln w="38100">
              <a:solidFill>
                <a:schemeClr val="accent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2004" name="对象 29">
              <a:extLst>
                <a:ext uri="{FF2B5EF4-FFF2-40B4-BE49-F238E27FC236}">
                  <a16:creationId xmlns:a16="http://schemas.microsoft.com/office/drawing/2014/main" id="{10B08DED-F51A-4C86-9512-1F9C9010A979}"/>
                </a:ext>
              </a:extLst>
            </p:cNvPr>
            <p:cNvGraphicFramePr>
              <a:graphicFrameLocks noChangeAspect="1"/>
            </p:cNvGraphicFramePr>
            <p:nvPr/>
          </p:nvGraphicFramePr>
          <p:xfrm>
            <a:off x="5584825" y="1914479"/>
            <a:ext cx="1708150" cy="1351822"/>
          </p:xfrm>
          <a:graphic>
            <a:graphicData uri="http://schemas.openxmlformats.org/presentationml/2006/ole">
              <mc:AlternateContent xmlns:mc="http://schemas.openxmlformats.org/markup-compatibility/2006">
                <mc:Choice xmlns:v="urn:schemas-microsoft-com:vml" Requires="v">
                  <p:oleObj spid="_x0000_s42198" name="Equation" r:id="rId5" imgW="609336" imgH="482391" progId="Equation.DSMT4">
                    <p:embed/>
                  </p:oleObj>
                </mc:Choice>
                <mc:Fallback>
                  <p:oleObj name="Equation" r:id="rId5" imgW="609336" imgH="482391" progId="Equation.DSMT4">
                    <p:embed/>
                    <p:pic>
                      <p:nvPicPr>
                        <p:cNvPr id="0" name="对象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4825" y="1914479"/>
                          <a:ext cx="1708150" cy="1351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 name="组合 15">
            <a:extLst>
              <a:ext uri="{FF2B5EF4-FFF2-40B4-BE49-F238E27FC236}">
                <a16:creationId xmlns:a16="http://schemas.microsoft.com/office/drawing/2014/main" id="{ED50EE8E-D1FD-48DD-84DF-C285242851E9}"/>
              </a:ext>
            </a:extLst>
          </p:cNvPr>
          <p:cNvGrpSpPr>
            <a:grpSpLocks/>
          </p:cNvGrpSpPr>
          <p:nvPr/>
        </p:nvGrpSpPr>
        <p:grpSpPr bwMode="auto">
          <a:xfrm>
            <a:off x="1555750" y="4378325"/>
            <a:ext cx="3830638" cy="1489075"/>
            <a:chOff x="1555596" y="4167981"/>
            <a:chExt cx="3830792" cy="1489075"/>
          </a:xfrm>
        </p:grpSpPr>
        <p:grpSp>
          <p:nvGrpSpPr>
            <p:cNvPr id="41997" name="Group 26">
              <a:extLst>
                <a:ext uri="{FF2B5EF4-FFF2-40B4-BE49-F238E27FC236}">
                  <a16:creationId xmlns:a16="http://schemas.microsoft.com/office/drawing/2014/main" id="{5207E318-13B6-42B2-B77A-F67ECE57395D}"/>
                </a:ext>
              </a:extLst>
            </p:cNvPr>
            <p:cNvGrpSpPr>
              <a:grpSpLocks/>
            </p:cNvGrpSpPr>
            <p:nvPr/>
          </p:nvGrpSpPr>
          <p:grpSpPr bwMode="auto">
            <a:xfrm>
              <a:off x="3733800" y="4495800"/>
              <a:ext cx="1652588" cy="1052513"/>
              <a:chOff x="2367" y="3120"/>
              <a:chExt cx="801" cy="663"/>
            </a:xfrm>
          </p:grpSpPr>
          <p:sp>
            <p:nvSpPr>
              <p:cNvPr id="42000" name="AutoShape 27">
                <a:extLst>
                  <a:ext uri="{FF2B5EF4-FFF2-40B4-BE49-F238E27FC236}">
                    <a16:creationId xmlns:a16="http://schemas.microsoft.com/office/drawing/2014/main" id="{D0271069-B6A7-426B-9C2F-89F8153B88B3}"/>
                  </a:ext>
                </a:extLst>
              </p:cNvPr>
              <p:cNvSpPr>
                <a:spLocks noChangeArrowheads="1"/>
              </p:cNvSpPr>
              <p:nvPr/>
            </p:nvSpPr>
            <p:spPr bwMode="auto">
              <a:xfrm>
                <a:off x="2367" y="3120"/>
                <a:ext cx="794" cy="336"/>
              </a:xfrm>
              <a:prstGeom prst="leftArrow">
                <a:avLst>
                  <a:gd name="adj1" fmla="val 50000"/>
                  <a:gd name="adj2" fmla="val 5907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2001" name="Text Box 28">
                <a:extLst>
                  <a:ext uri="{FF2B5EF4-FFF2-40B4-BE49-F238E27FC236}">
                    <a16:creationId xmlns:a16="http://schemas.microsoft.com/office/drawing/2014/main" id="{847EB2AE-5B72-4841-A75E-BA31096C13F5}"/>
                  </a:ext>
                </a:extLst>
              </p:cNvPr>
              <p:cNvSpPr txBox="1">
                <a:spLocks noChangeArrowheads="1"/>
              </p:cNvSpPr>
              <p:nvPr/>
            </p:nvSpPr>
            <p:spPr bwMode="auto">
              <a:xfrm>
                <a:off x="2400" y="3552"/>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3366"/>
                    </a:solidFill>
                  </a:rPr>
                  <a:t>对偶问题</a:t>
                </a:r>
                <a:endParaRPr lang="en-US" altLang="zh-CN">
                  <a:solidFill>
                    <a:srgbClr val="003366"/>
                  </a:solidFill>
                </a:endParaRPr>
              </a:p>
            </p:txBody>
          </p:sp>
        </p:grpSp>
        <p:sp>
          <p:nvSpPr>
            <p:cNvPr id="41998" name="AutoShape 22">
              <a:extLst>
                <a:ext uri="{FF2B5EF4-FFF2-40B4-BE49-F238E27FC236}">
                  <a16:creationId xmlns:a16="http://schemas.microsoft.com/office/drawing/2014/main" id="{B447635A-16CD-44AD-9DC6-E400E84B126E}"/>
                </a:ext>
              </a:extLst>
            </p:cNvPr>
            <p:cNvSpPr>
              <a:spLocks noChangeArrowheads="1"/>
            </p:cNvSpPr>
            <p:nvPr/>
          </p:nvSpPr>
          <p:spPr bwMode="auto">
            <a:xfrm>
              <a:off x="1555596" y="4167981"/>
              <a:ext cx="2133600" cy="1489075"/>
            </a:xfrm>
            <a:prstGeom prst="roundRect">
              <a:avLst>
                <a:gd name="adj" fmla="val 16667"/>
              </a:avLst>
            </a:prstGeom>
            <a:solidFill>
              <a:schemeClr val="hlink"/>
            </a:solidFill>
            <a:ln w="38100">
              <a:solidFill>
                <a:schemeClr val="accent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1999" name="对象 33">
              <a:extLst>
                <a:ext uri="{FF2B5EF4-FFF2-40B4-BE49-F238E27FC236}">
                  <a16:creationId xmlns:a16="http://schemas.microsoft.com/office/drawing/2014/main" id="{71F5EF21-EF50-4480-AABD-4F021E4066F9}"/>
                </a:ext>
              </a:extLst>
            </p:cNvPr>
            <p:cNvGraphicFramePr>
              <a:graphicFrameLocks noChangeAspect="1"/>
            </p:cNvGraphicFramePr>
            <p:nvPr/>
          </p:nvGraphicFramePr>
          <p:xfrm>
            <a:off x="1633387" y="4256881"/>
            <a:ext cx="1992392" cy="1354138"/>
          </p:xfrm>
          <a:graphic>
            <a:graphicData uri="http://schemas.openxmlformats.org/presentationml/2006/ole">
              <mc:AlternateContent xmlns:mc="http://schemas.openxmlformats.org/markup-compatibility/2006">
                <mc:Choice xmlns:v="urn:schemas-microsoft-com:vml" Requires="v">
                  <p:oleObj spid="_x0000_s42199" name="Equation" r:id="rId7" imgW="710891" imgH="482391" progId="Equation.DSMT4">
                    <p:embed/>
                  </p:oleObj>
                </mc:Choice>
                <mc:Fallback>
                  <p:oleObj name="Equation" r:id="rId7" imgW="710891" imgH="482391" progId="Equation.DSMT4">
                    <p:embed/>
                    <p:pic>
                      <p:nvPicPr>
                        <p:cNvPr id="0" name="对象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3387" y="4256881"/>
                          <a:ext cx="1992392"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 name="组合 16">
            <a:extLst>
              <a:ext uri="{FF2B5EF4-FFF2-40B4-BE49-F238E27FC236}">
                <a16:creationId xmlns:a16="http://schemas.microsoft.com/office/drawing/2014/main" id="{AA9F1D98-B5D9-4246-AB44-EC426E58C635}"/>
              </a:ext>
            </a:extLst>
          </p:cNvPr>
          <p:cNvGrpSpPr>
            <a:grpSpLocks/>
          </p:cNvGrpSpPr>
          <p:nvPr/>
        </p:nvGrpSpPr>
        <p:grpSpPr bwMode="auto">
          <a:xfrm>
            <a:off x="5410200" y="3324225"/>
            <a:ext cx="2127250" cy="2449513"/>
            <a:chOff x="5410200" y="3323767"/>
            <a:chExt cx="2127250" cy="2449177"/>
          </a:xfrm>
        </p:grpSpPr>
        <p:grpSp>
          <p:nvGrpSpPr>
            <p:cNvPr id="41993" name="组合 14">
              <a:extLst>
                <a:ext uri="{FF2B5EF4-FFF2-40B4-BE49-F238E27FC236}">
                  <a16:creationId xmlns:a16="http://schemas.microsoft.com/office/drawing/2014/main" id="{B5AA913B-0CA7-49F2-9661-D57AAB46AAB4}"/>
                </a:ext>
              </a:extLst>
            </p:cNvPr>
            <p:cNvGrpSpPr>
              <a:grpSpLocks/>
            </p:cNvGrpSpPr>
            <p:nvPr/>
          </p:nvGrpSpPr>
          <p:grpSpPr bwMode="auto">
            <a:xfrm>
              <a:off x="5410200" y="4325144"/>
              <a:ext cx="2127250" cy="1447800"/>
              <a:chOff x="5410200" y="4114800"/>
              <a:chExt cx="2127250" cy="1447800"/>
            </a:xfrm>
          </p:grpSpPr>
          <p:sp>
            <p:nvSpPr>
              <p:cNvPr id="41995" name="AutoShape 19">
                <a:extLst>
                  <a:ext uri="{FF2B5EF4-FFF2-40B4-BE49-F238E27FC236}">
                    <a16:creationId xmlns:a16="http://schemas.microsoft.com/office/drawing/2014/main" id="{4888D302-B625-47E4-8E13-8BBFDE428EB8}"/>
                  </a:ext>
                </a:extLst>
              </p:cNvPr>
              <p:cNvSpPr>
                <a:spLocks noChangeArrowheads="1"/>
              </p:cNvSpPr>
              <p:nvPr/>
            </p:nvSpPr>
            <p:spPr bwMode="auto">
              <a:xfrm>
                <a:off x="5410200" y="4114800"/>
                <a:ext cx="2127250" cy="1447800"/>
              </a:xfrm>
              <a:prstGeom prst="roundRect">
                <a:avLst>
                  <a:gd name="adj" fmla="val 16667"/>
                </a:avLst>
              </a:prstGeom>
              <a:solidFill>
                <a:schemeClr val="hlink"/>
              </a:solidFill>
              <a:ln w="38100">
                <a:solidFill>
                  <a:schemeClr val="accent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1996" name="对象 30">
                <a:extLst>
                  <a:ext uri="{FF2B5EF4-FFF2-40B4-BE49-F238E27FC236}">
                    <a16:creationId xmlns:a16="http://schemas.microsoft.com/office/drawing/2014/main" id="{E18A6EA8-EEFE-4168-98A8-3761CEE98E76}"/>
                  </a:ext>
                </a:extLst>
              </p:cNvPr>
              <p:cNvGraphicFramePr>
                <a:graphicFrameLocks noChangeAspect="1"/>
              </p:cNvGraphicFramePr>
              <p:nvPr/>
            </p:nvGraphicFramePr>
            <p:xfrm>
              <a:off x="5499100" y="4202649"/>
              <a:ext cx="2027237" cy="1352799"/>
            </p:xfrm>
            <a:graphic>
              <a:graphicData uri="http://schemas.openxmlformats.org/presentationml/2006/ole">
                <mc:AlternateContent xmlns:mc="http://schemas.openxmlformats.org/markup-compatibility/2006">
                  <mc:Choice xmlns:v="urn:schemas-microsoft-com:vml" Requires="v">
                    <p:oleObj spid="_x0000_s42200" name="Equation" r:id="rId9" imgW="723586" imgH="482391" progId="Equation.DSMT4">
                      <p:embed/>
                    </p:oleObj>
                  </mc:Choice>
                  <mc:Fallback>
                    <p:oleObj name="Equation" r:id="rId9" imgW="723586" imgH="482391" progId="Equation.DSMT4">
                      <p:embed/>
                      <p:pic>
                        <p:nvPicPr>
                          <p:cNvPr id="0" name="对象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99100" y="4202649"/>
                            <a:ext cx="2027237" cy="135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1994" name="AutoShape 54">
              <a:extLst>
                <a:ext uri="{FF2B5EF4-FFF2-40B4-BE49-F238E27FC236}">
                  <a16:creationId xmlns:a16="http://schemas.microsoft.com/office/drawing/2014/main" id="{368E45D3-9489-4334-B270-FC4CBD9F18F7}"/>
                </a:ext>
              </a:extLst>
            </p:cNvPr>
            <p:cNvSpPr>
              <a:spLocks noChangeArrowheads="1"/>
            </p:cNvSpPr>
            <p:nvPr/>
          </p:nvSpPr>
          <p:spPr bwMode="auto">
            <a:xfrm rot="5400000">
              <a:off x="6014410" y="3557757"/>
              <a:ext cx="1001379" cy="533400"/>
            </a:xfrm>
            <a:prstGeom prst="leftRightArrow">
              <a:avLst>
                <a:gd name="adj1" fmla="val 50000"/>
                <a:gd name="adj2" fmla="val 51175"/>
              </a:avLst>
            </a:prstGeom>
            <a:solidFill>
              <a:schemeClr val="accent1"/>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0" name="AutoShape 54">
            <a:extLst>
              <a:ext uri="{FF2B5EF4-FFF2-40B4-BE49-F238E27FC236}">
                <a16:creationId xmlns:a16="http://schemas.microsoft.com/office/drawing/2014/main" id="{2C7713FA-EBA0-4BC2-981C-13A8488AA0B0}"/>
              </a:ext>
            </a:extLst>
          </p:cNvPr>
          <p:cNvSpPr>
            <a:spLocks noChangeArrowheads="1"/>
          </p:cNvSpPr>
          <p:nvPr/>
        </p:nvSpPr>
        <p:spPr bwMode="auto">
          <a:xfrm rot="5400000">
            <a:off x="1975644" y="3579019"/>
            <a:ext cx="1001712" cy="533400"/>
          </a:xfrm>
          <a:prstGeom prst="leftRightArrow">
            <a:avLst>
              <a:gd name="adj1" fmla="val 50000"/>
              <a:gd name="adj2" fmla="val 51192"/>
            </a:avLst>
          </a:prstGeom>
          <a:solidFill>
            <a:schemeClr val="accent1"/>
          </a:solidFill>
          <a:ln w="9525" algn="ctr">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blinds(horizontal)">
                                      <p:cBhvr>
                                        <p:cTn id="7" dur="500"/>
                                        <p:tgtEl>
                                          <p:spTgt spid="109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barn(outVertical)">
                                      <p:cBhvr>
                                        <p:cTn id="2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P spid="4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1E516D9-AF87-401C-90A5-975C7762384B}"/>
              </a:ext>
            </a:extLst>
          </p:cNvPr>
          <p:cNvSpPr>
            <a:spLocks noGrp="1" noChangeArrowheads="1"/>
          </p:cNvSpPr>
          <p:nvPr>
            <p:ph type="title"/>
          </p:nvPr>
        </p:nvSpPr>
        <p:spPr/>
        <p:txBody>
          <a:bodyPr/>
          <a:lstStyle/>
          <a:p>
            <a:pPr eaLnBrk="1" hangingPunct="1"/>
            <a:r>
              <a:rPr lang="zh-CN" altLang="en-US"/>
              <a:t>对偶问题基本性质</a:t>
            </a:r>
            <a:r>
              <a:rPr lang="en-US" altLang="zh-CN"/>
              <a:t>(2)</a:t>
            </a:r>
            <a:endParaRPr lang="zh-CN" altLang="en-US"/>
          </a:p>
        </p:txBody>
      </p:sp>
      <p:sp>
        <p:nvSpPr>
          <p:cNvPr id="109571" name="Rectangle 3">
            <a:extLst>
              <a:ext uri="{FF2B5EF4-FFF2-40B4-BE49-F238E27FC236}">
                <a16:creationId xmlns:a16="http://schemas.microsoft.com/office/drawing/2014/main" id="{BD6ECF62-C2F6-4146-942A-1ECC5C1453C1}"/>
              </a:ext>
            </a:extLst>
          </p:cNvPr>
          <p:cNvSpPr>
            <a:spLocks noGrp="1" noChangeArrowheads="1"/>
          </p:cNvSpPr>
          <p:nvPr>
            <p:ph type="body" sz="half" idx="1"/>
          </p:nvPr>
        </p:nvSpPr>
        <p:spPr>
          <a:xfrm>
            <a:off x="457200" y="2362200"/>
            <a:ext cx="8229600" cy="1839913"/>
          </a:xfrm>
        </p:spPr>
        <p:txBody>
          <a:bodyPr/>
          <a:lstStyle/>
          <a:p>
            <a:pPr marL="533400" indent="-533400" eaLnBrk="1" hangingPunct="1">
              <a:buFont typeface="Wingdings" panose="05000000000000000000" pitchFamily="2" charset="2"/>
              <a:buAutoNum type="arabicPeriod"/>
            </a:pPr>
            <a:endParaRPr lang="zh-CN" altLang="en-US" sz="800" dirty="0"/>
          </a:p>
          <a:p>
            <a:pPr marL="533400" indent="-533400" eaLnBrk="1" hangingPunct="1">
              <a:buFont typeface="Wingdings" panose="05000000000000000000" pitchFamily="2" charset="2"/>
              <a:buNone/>
            </a:pPr>
            <a:r>
              <a:rPr lang="en-US" altLang="zh-CN" sz="2400" dirty="0"/>
              <a:t>      </a:t>
            </a:r>
            <a:r>
              <a:rPr lang="zh-CN" altLang="en-US" sz="2400" dirty="0">
                <a:solidFill>
                  <a:srgbClr val="000099"/>
                </a:solidFill>
              </a:rPr>
              <a:t>原问题任一可行解的目标函数值是其对偶问题目标函数值的下界；</a:t>
            </a:r>
            <a:endParaRPr lang="en-US" altLang="zh-CN" sz="2400" dirty="0">
              <a:solidFill>
                <a:srgbClr val="000099"/>
              </a:solidFill>
            </a:endParaRPr>
          </a:p>
          <a:p>
            <a:pPr marL="533400" indent="-533400" eaLnBrk="1" hangingPunct="1">
              <a:buFont typeface="Wingdings" panose="05000000000000000000" pitchFamily="2" charset="2"/>
              <a:buNone/>
            </a:pPr>
            <a:r>
              <a:rPr lang="en-US" altLang="zh-CN" sz="2400" dirty="0">
                <a:solidFill>
                  <a:srgbClr val="000099"/>
                </a:solidFill>
              </a:rPr>
              <a:t>      </a:t>
            </a:r>
            <a:r>
              <a:rPr lang="zh-CN" altLang="en-US" sz="2400" dirty="0">
                <a:solidFill>
                  <a:srgbClr val="000099"/>
                </a:solidFill>
              </a:rPr>
              <a:t>反之，对偶问题任意可行解的目标函数值是其原问题目标函数值的上界。</a:t>
            </a:r>
            <a:endParaRPr lang="en-US" altLang="zh-CN" sz="2400" dirty="0">
              <a:latin typeface="Times New Roman" panose="02020603050405020304" pitchFamily="18" charset="0"/>
            </a:endParaRPr>
          </a:p>
        </p:txBody>
      </p:sp>
      <p:grpSp>
        <p:nvGrpSpPr>
          <p:cNvPr id="2" name="组合 9">
            <a:extLst>
              <a:ext uri="{FF2B5EF4-FFF2-40B4-BE49-F238E27FC236}">
                <a16:creationId xmlns:a16="http://schemas.microsoft.com/office/drawing/2014/main" id="{596F3143-9DFC-4B1C-A288-B52351433B94}"/>
              </a:ext>
            </a:extLst>
          </p:cNvPr>
          <p:cNvGrpSpPr>
            <a:grpSpLocks/>
          </p:cNvGrpSpPr>
          <p:nvPr/>
        </p:nvGrpSpPr>
        <p:grpSpPr bwMode="auto">
          <a:xfrm>
            <a:off x="1524000" y="990600"/>
            <a:ext cx="5029200" cy="1360488"/>
            <a:chOff x="1600200" y="1002268"/>
            <a:chExt cx="5029200" cy="1359932"/>
          </a:xfrm>
        </p:grpSpPr>
        <p:sp>
          <p:nvSpPr>
            <p:cNvPr id="43020" name="矩形 21">
              <a:extLst>
                <a:ext uri="{FF2B5EF4-FFF2-40B4-BE49-F238E27FC236}">
                  <a16:creationId xmlns:a16="http://schemas.microsoft.com/office/drawing/2014/main" id="{E8C8BD19-C328-48A8-8900-A771DDEC1AC6}"/>
                </a:ext>
              </a:extLst>
            </p:cNvPr>
            <p:cNvSpPr>
              <a:spLocks noChangeArrowheads="1"/>
            </p:cNvSpPr>
            <p:nvPr/>
          </p:nvSpPr>
          <p:spPr bwMode="auto">
            <a:xfrm>
              <a:off x="1600200" y="1048306"/>
              <a:ext cx="2057400" cy="36933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FF"/>
                  </a:solidFill>
                  <a:latin typeface="Times New Roman" panose="02020603050405020304" pitchFamily="18" charset="0"/>
                  <a:cs typeface="Times New Roman" panose="02020603050405020304" pitchFamily="18" charset="0"/>
                </a:rPr>
                <a:t>原问题的目标函数</a:t>
              </a:r>
              <a:endParaRPr lang="en-US" altLang="zh-CN" b="1" dirty="0">
                <a:solidFill>
                  <a:srgbClr val="FF00FF"/>
                </a:solidFill>
                <a:latin typeface="Times New Roman" panose="02020603050405020304" pitchFamily="18" charset="0"/>
                <a:cs typeface="Times New Roman" panose="02020603050405020304" pitchFamily="18" charset="0"/>
              </a:endParaRPr>
            </a:p>
          </p:txBody>
        </p:sp>
        <p:sp>
          <p:nvSpPr>
            <p:cNvPr id="43021" name="矩形 21">
              <a:extLst>
                <a:ext uri="{FF2B5EF4-FFF2-40B4-BE49-F238E27FC236}">
                  <a16:creationId xmlns:a16="http://schemas.microsoft.com/office/drawing/2014/main" id="{91E029E8-F523-4D8E-AB1F-8E457A659FDF}"/>
                </a:ext>
              </a:extLst>
            </p:cNvPr>
            <p:cNvSpPr>
              <a:spLocks noChangeArrowheads="1"/>
            </p:cNvSpPr>
            <p:nvPr/>
          </p:nvSpPr>
          <p:spPr bwMode="auto">
            <a:xfrm>
              <a:off x="4267200" y="1002268"/>
              <a:ext cx="2362200" cy="36933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FF"/>
                  </a:solidFill>
                  <a:latin typeface="Times New Roman" panose="02020603050405020304" pitchFamily="18" charset="0"/>
                  <a:cs typeface="Times New Roman" panose="02020603050405020304" pitchFamily="18" charset="0"/>
                </a:rPr>
                <a:t>对偶问题的目标函数</a:t>
              </a:r>
              <a:endParaRPr lang="en-US" altLang="zh-CN" b="1" dirty="0">
                <a:solidFill>
                  <a:srgbClr val="FF00FF"/>
                </a:solidFill>
                <a:latin typeface="Times New Roman" panose="02020603050405020304" pitchFamily="18" charset="0"/>
                <a:cs typeface="Times New Roman" panose="02020603050405020304" pitchFamily="18" charset="0"/>
              </a:endParaRPr>
            </a:p>
          </p:txBody>
        </p:sp>
        <p:sp>
          <p:nvSpPr>
            <p:cNvPr id="7" name="椭圆 6">
              <a:extLst>
                <a:ext uri="{FF2B5EF4-FFF2-40B4-BE49-F238E27FC236}">
                  <a16:creationId xmlns:a16="http://schemas.microsoft.com/office/drawing/2014/main" id="{6D2A5322-9685-4051-8CA2-287E148B566A}"/>
                </a:ext>
              </a:extLst>
            </p:cNvPr>
            <p:cNvSpPr/>
            <p:nvPr/>
          </p:nvSpPr>
          <p:spPr bwMode="auto">
            <a:xfrm>
              <a:off x="2895600" y="1981356"/>
              <a:ext cx="685800" cy="380844"/>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椭圆 7">
              <a:extLst>
                <a:ext uri="{FF2B5EF4-FFF2-40B4-BE49-F238E27FC236}">
                  <a16:creationId xmlns:a16="http://schemas.microsoft.com/office/drawing/2014/main" id="{F40A71C5-D092-4314-A8D0-47CD53CD2E40}"/>
                </a:ext>
              </a:extLst>
            </p:cNvPr>
            <p:cNvSpPr/>
            <p:nvPr/>
          </p:nvSpPr>
          <p:spPr bwMode="auto">
            <a:xfrm>
              <a:off x="3810000" y="1981356"/>
              <a:ext cx="685800" cy="380844"/>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9" name="直接连接符 8">
              <a:extLst>
                <a:ext uri="{FF2B5EF4-FFF2-40B4-BE49-F238E27FC236}">
                  <a16:creationId xmlns:a16="http://schemas.microsoft.com/office/drawing/2014/main" id="{FA9BB49F-3F34-4BF4-A7AA-A02BFA9A658C}"/>
                </a:ext>
              </a:extLst>
            </p:cNvPr>
            <p:cNvCxnSpPr/>
            <p:nvPr/>
          </p:nvCxnSpPr>
          <p:spPr bwMode="auto">
            <a:xfrm flipH="1" flipV="1">
              <a:off x="2971800" y="1418023"/>
              <a:ext cx="228600" cy="563333"/>
            </a:xfrm>
            <a:prstGeom prst="line">
              <a:avLst/>
            </a:prstGeom>
            <a:ln w="22225">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D79D9C1F-3CBA-4D1C-9C84-0D60DE8FBBC7}"/>
                </a:ext>
              </a:extLst>
            </p:cNvPr>
            <p:cNvCxnSpPr/>
            <p:nvPr/>
          </p:nvCxnSpPr>
          <p:spPr bwMode="auto">
            <a:xfrm flipV="1">
              <a:off x="4267200" y="1373591"/>
              <a:ext cx="563563" cy="607765"/>
            </a:xfrm>
            <a:prstGeom prst="line">
              <a:avLst/>
            </a:prstGeom>
            <a:ln w="22225">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FB204B65-8586-4F9C-8360-ADAF73C51CE4}"/>
              </a:ext>
            </a:extLst>
          </p:cNvPr>
          <p:cNvGrpSpPr>
            <a:grpSpLocks/>
          </p:cNvGrpSpPr>
          <p:nvPr/>
        </p:nvGrpSpPr>
        <p:grpSpPr bwMode="auto">
          <a:xfrm>
            <a:off x="457200" y="1371600"/>
            <a:ext cx="8229600" cy="1084263"/>
            <a:chOff x="457200" y="1371196"/>
            <a:chExt cx="8229600" cy="1085022"/>
          </a:xfrm>
        </p:grpSpPr>
        <p:sp>
          <p:nvSpPr>
            <p:cNvPr id="18" name="Rectangle 3">
              <a:extLst>
                <a:ext uri="{FF2B5EF4-FFF2-40B4-BE49-F238E27FC236}">
                  <a16:creationId xmlns:a16="http://schemas.microsoft.com/office/drawing/2014/main" id="{48435AFE-C419-4D28-8FE5-45E18EF59685}"/>
                </a:ext>
              </a:extLst>
            </p:cNvPr>
            <p:cNvSpPr txBox="1">
              <a:spLocks noChangeArrowheads="1"/>
            </p:cNvSpPr>
            <p:nvPr/>
          </p:nvSpPr>
          <p:spPr bwMode="auto">
            <a:xfrm>
              <a:off x="457200" y="1371196"/>
              <a:ext cx="8229600" cy="1085022"/>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533400" indent="-533400" eaLnBrk="1" hangingPunct="1">
                <a:buFont typeface="Wingdings" panose="05000000000000000000" pitchFamily="2" charset="2"/>
                <a:buAutoNum type="arabicPeriod"/>
                <a:defRPr/>
              </a:pPr>
              <a:endParaRPr lang="zh-CN" altLang="en-US" sz="800" kern="0" dirty="0"/>
            </a:p>
            <a:p>
              <a:pPr marL="533400" indent="-533400" eaLnBrk="1" hangingPunct="1">
                <a:buFont typeface="Wingdings" panose="05000000000000000000" pitchFamily="2" charset="2"/>
                <a:buNone/>
                <a:defRPr/>
              </a:pPr>
              <a:r>
                <a:rPr lang="en-US" altLang="zh-CN" sz="2400" kern="0" dirty="0"/>
                <a:t>2.   </a:t>
              </a:r>
              <a:r>
                <a:rPr lang="zh-CN" altLang="en-US" sz="2400" kern="0" dirty="0">
                  <a:solidFill>
                    <a:srgbClr val="FF0000"/>
                  </a:solidFill>
                </a:rPr>
                <a:t>弱对偶性</a:t>
              </a:r>
              <a:r>
                <a:rPr lang="zh-CN" altLang="en-US" sz="2400" kern="0" dirty="0"/>
                <a:t>：若</a:t>
              </a:r>
              <a:r>
                <a:rPr lang="en-US" altLang="zh-CN" sz="2400" b="0" kern="0" dirty="0">
                  <a:latin typeface="Times New Roman" panose="02020603050405020304" pitchFamily="18" charset="0"/>
                </a:rPr>
                <a:t>    </a:t>
              </a:r>
              <a:r>
                <a:rPr lang="zh-CN" altLang="en-US" sz="2400" kern="0" dirty="0">
                  <a:latin typeface="Times New Roman" panose="02020603050405020304" pitchFamily="18" charset="0"/>
                </a:rPr>
                <a:t>是原问题的可行解，   是对偶问题的可行解；则存在                  。</a:t>
              </a:r>
              <a:endParaRPr lang="en-US" altLang="zh-CN" sz="2400" kern="0" dirty="0">
                <a:latin typeface="Times New Roman" panose="02020603050405020304" pitchFamily="18" charset="0"/>
              </a:endParaRPr>
            </a:p>
          </p:txBody>
        </p:sp>
        <p:grpSp>
          <p:nvGrpSpPr>
            <p:cNvPr id="43016" name="组合 2">
              <a:extLst>
                <a:ext uri="{FF2B5EF4-FFF2-40B4-BE49-F238E27FC236}">
                  <a16:creationId xmlns:a16="http://schemas.microsoft.com/office/drawing/2014/main" id="{F628B7A1-060B-4B6F-A293-3223BC7F1C34}"/>
                </a:ext>
              </a:extLst>
            </p:cNvPr>
            <p:cNvGrpSpPr>
              <a:grpSpLocks/>
            </p:cNvGrpSpPr>
            <p:nvPr/>
          </p:nvGrpSpPr>
          <p:grpSpPr bwMode="auto">
            <a:xfrm>
              <a:off x="2864457" y="1553426"/>
              <a:ext cx="3338233" cy="464254"/>
              <a:chOff x="2876101" y="1541463"/>
              <a:chExt cx="3338233" cy="464254"/>
            </a:xfrm>
          </p:grpSpPr>
          <p:graphicFrame>
            <p:nvGraphicFramePr>
              <p:cNvPr id="43018" name="对象 14">
                <a:extLst>
                  <a:ext uri="{FF2B5EF4-FFF2-40B4-BE49-F238E27FC236}">
                    <a16:creationId xmlns:a16="http://schemas.microsoft.com/office/drawing/2014/main" id="{EC7C0DE3-E4D2-48A4-8C4C-13EEEE9F6FF9}"/>
                  </a:ext>
                </a:extLst>
              </p:cNvPr>
              <p:cNvGraphicFramePr>
                <a:graphicFrameLocks noChangeAspect="1"/>
              </p:cNvGraphicFramePr>
              <p:nvPr>
                <p:extLst>
                  <p:ext uri="{D42A27DB-BD31-4B8C-83A1-F6EECF244321}">
                    <p14:modId xmlns:p14="http://schemas.microsoft.com/office/powerpoint/2010/main" val="2962600090"/>
                  </p:ext>
                </p:extLst>
              </p:nvPr>
            </p:nvGraphicFramePr>
            <p:xfrm>
              <a:off x="5800822" y="1551692"/>
              <a:ext cx="413512" cy="454025"/>
            </p:xfrm>
            <a:graphic>
              <a:graphicData uri="http://schemas.openxmlformats.org/presentationml/2006/ole">
                <mc:AlternateContent xmlns:mc="http://schemas.openxmlformats.org/markup-compatibility/2006">
                  <mc:Choice xmlns:v="urn:schemas-microsoft-com:vml" Requires="v">
                    <p:oleObj spid="_x0000_s43198" name="Equation" r:id="rId3" imgW="126835" imgH="139518" progId="Equation.DSMT4">
                      <p:embed/>
                    </p:oleObj>
                  </mc:Choice>
                  <mc:Fallback>
                    <p:oleObj name="Equation" r:id="rId3" imgW="126835" imgH="139518" progId="Equation.DSMT4">
                      <p:embed/>
                      <p:pic>
                        <p:nvPicPr>
                          <p:cNvPr id="0" name="对象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0822" y="1551692"/>
                            <a:ext cx="4135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9" name="对象 15">
                <a:extLst>
                  <a:ext uri="{FF2B5EF4-FFF2-40B4-BE49-F238E27FC236}">
                    <a16:creationId xmlns:a16="http://schemas.microsoft.com/office/drawing/2014/main" id="{12DC6993-7BA6-45A4-B626-8A7CB8E25768}"/>
                  </a:ext>
                </a:extLst>
              </p:cNvPr>
              <p:cNvGraphicFramePr>
                <a:graphicFrameLocks noChangeAspect="1"/>
              </p:cNvGraphicFramePr>
              <p:nvPr/>
            </p:nvGraphicFramePr>
            <p:xfrm>
              <a:off x="2876101" y="1541463"/>
              <a:ext cx="400499" cy="439737"/>
            </p:xfrm>
            <a:graphic>
              <a:graphicData uri="http://schemas.openxmlformats.org/presentationml/2006/ole">
                <mc:AlternateContent xmlns:mc="http://schemas.openxmlformats.org/markup-compatibility/2006">
                  <mc:Choice xmlns:v="urn:schemas-microsoft-com:vml" Requires="v">
                    <p:oleObj spid="_x0000_s43199" name="Equation" r:id="rId5" imgW="126835" imgH="139518" progId="Equation.DSMT4">
                      <p:embed/>
                    </p:oleObj>
                  </mc:Choice>
                  <mc:Fallback>
                    <p:oleObj name="Equation" r:id="rId5" imgW="126835" imgH="139518" progId="Equation.DSMT4">
                      <p:embed/>
                      <p:pic>
                        <p:nvPicPr>
                          <p:cNvPr id="0" name="对象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6101" y="1541463"/>
                            <a:ext cx="400499"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3017" name="对象 16">
              <a:extLst>
                <a:ext uri="{FF2B5EF4-FFF2-40B4-BE49-F238E27FC236}">
                  <a16:creationId xmlns:a16="http://schemas.microsoft.com/office/drawing/2014/main" id="{30529316-5C2C-4A46-B0BD-6134DA846639}"/>
                </a:ext>
              </a:extLst>
            </p:cNvPr>
            <p:cNvGraphicFramePr>
              <a:graphicFrameLocks noChangeAspect="1"/>
            </p:cNvGraphicFramePr>
            <p:nvPr>
              <p:extLst>
                <p:ext uri="{D42A27DB-BD31-4B8C-83A1-F6EECF244321}">
                  <p14:modId xmlns:p14="http://schemas.microsoft.com/office/powerpoint/2010/main" val="2172932487"/>
                </p:ext>
              </p:extLst>
            </p:nvPr>
          </p:nvGraphicFramePr>
          <p:xfrm>
            <a:off x="2852737" y="1918165"/>
            <a:ext cx="1457325" cy="458788"/>
          </p:xfrm>
          <a:graphic>
            <a:graphicData uri="http://schemas.openxmlformats.org/presentationml/2006/ole">
              <mc:AlternateContent xmlns:mc="http://schemas.openxmlformats.org/markup-compatibility/2006">
                <mc:Choice xmlns:v="urn:schemas-microsoft-com:vml" Requires="v">
                  <p:oleObj spid="_x0000_s43200" name="Equation" r:id="rId7" imgW="482391" imgH="152334" progId="Equation.DSMT4">
                    <p:embed/>
                  </p:oleObj>
                </mc:Choice>
                <mc:Fallback>
                  <p:oleObj name="Equation" r:id="rId7" imgW="482391" imgH="152334" progId="Equation.DSMT4">
                    <p:embed/>
                    <p:pic>
                      <p:nvPicPr>
                        <p:cNvPr id="0" name="对象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2737" y="1918165"/>
                          <a:ext cx="14573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62E39B9-A4DC-4716-A57C-535EAB4DD2B9}"/>
                  </a:ext>
                </a:extLst>
              </p:cNvPr>
              <p:cNvSpPr txBox="1"/>
              <p:nvPr/>
            </p:nvSpPr>
            <p:spPr>
              <a:xfrm>
                <a:off x="3232872" y="1341716"/>
                <a:ext cx="13925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𝒎𝒂𝒙</m:t>
                          </m:r>
                        </m:e>
                      </m:d>
                      <m:r>
                        <a:rPr lang="zh-CN" altLang="en-US" b="1" i="1">
                          <a:latin typeface="Cambria Math" panose="02040503050406030204" pitchFamily="18" charset="0"/>
                        </a:rPr>
                        <m:t>问题</m:t>
                      </m:r>
                    </m:oMath>
                  </m:oMathPara>
                </a14:m>
                <a:endParaRPr lang="zh-CN" altLang="en-US" b="1" dirty="0"/>
              </a:p>
            </p:txBody>
          </p:sp>
        </mc:Choice>
        <mc:Fallback xmlns="">
          <p:sp>
            <p:nvSpPr>
              <p:cNvPr id="3" name="文本框 2">
                <a:extLst>
                  <a:ext uri="{FF2B5EF4-FFF2-40B4-BE49-F238E27FC236}">
                    <a16:creationId xmlns:a16="http://schemas.microsoft.com/office/drawing/2014/main" id="{862E39B9-A4DC-4716-A57C-535EAB4DD2B9}"/>
                  </a:ext>
                </a:extLst>
              </p:cNvPr>
              <p:cNvSpPr txBox="1">
                <a:spLocks noRot="1" noChangeAspect="1" noMove="1" noResize="1" noEditPoints="1" noAdjustHandles="1" noChangeArrowheads="1" noChangeShapeType="1" noTextEdit="1"/>
              </p:cNvSpPr>
              <p:nvPr/>
            </p:nvSpPr>
            <p:spPr>
              <a:xfrm>
                <a:off x="3232872" y="1341716"/>
                <a:ext cx="1392561" cy="369332"/>
              </a:xfrm>
              <a:prstGeom prst="rect">
                <a:avLst/>
              </a:prstGeom>
              <a:blipFill>
                <a:blip r:embed="rId9"/>
                <a:stretch>
                  <a:fillRect b="-4918"/>
                </a:stretch>
              </a:blipFill>
            </p:spPr>
            <p:txBody>
              <a:bodyPr/>
              <a:lstStyle/>
              <a:p>
                <a:r>
                  <a:rPr lang="zh-CN" altLang="en-US">
                    <a:noFill/>
                  </a:rPr>
                  <a:t> </a:t>
                </a:r>
              </a:p>
            </p:txBody>
          </p:sp>
        </mc:Fallback>
      </mc:AlternateContent>
      <p:sp>
        <p:nvSpPr>
          <p:cNvPr id="20" name="矩形 19">
            <a:extLst>
              <a:ext uri="{FF2B5EF4-FFF2-40B4-BE49-F238E27FC236}">
                <a16:creationId xmlns:a16="http://schemas.microsoft.com/office/drawing/2014/main" id="{31E7563A-EABD-41AF-B7CC-0D0E9DF0B5A5}"/>
              </a:ext>
            </a:extLst>
          </p:cNvPr>
          <p:cNvSpPr/>
          <p:nvPr/>
        </p:nvSpPr>
        <p:spPr>
          <a:xfrm>
            <a:off x="4572000" y="3810000"/>
            <a:ext cx="4323204" cy="2362200"/>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1" name="Rectangle 3">
                <a:extLst>
                  <a:ext uri="{FF2B5EF4-FFF2-40B4-BE49-F238E27FC236}">
                    <a16:creationId xmlns:a16="http://schemas.microsoft.com/office/drawing/2014/main" id="{9F90549A-5395-497A-ADD1-76577A7FC401}"/>
                  </a:ext>
                </a:extLst>
              </p:cNvPr>
              <p:cNvSpPr txBox="1">
                <a:spLocks noChangeArrowheads="1"/>
              </p:cNvSpPr>
              <p:nvPr/>
            </p:nvSpPr>
            <p:spPr bwMode="auto">
              <a:xfrm>
                <a:off x="4490366" y="4076103"/>
                <a:ext cx="2062834" cy="457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algn="ctr" eaLnBrk="1" hangingPunct="1">
                  <a:buFont typeface="Wingdings" panose="05000000000000000000" pitchFamily="2" charset="2"/>
                  <a:buNone/>
                </a:pPr>
                <a:r>
                  <a:rPr lang="en-US" altLang="zh-CN" sz="2400" kern="0" dirty="0">
                    <a:latin typeface="Times New Roman" panose="02020603050405020304" pitchFamily="18" charset="0"/>
                  </a:rPr>
                  <a:t>max   z=</a:t>
                </a:r>
                <a14:m>
                  <m:oMath xmlns:m="http://schemas.openxmlformats.org/officeDocument/2006/math">
                    <m:sSup>
                      <m:sSupPr>
                        <m:ctrlPr>
                          <a:rPr lang="en-US" altLang="zh-CN" sz="2400" b="1" i="1" kern="0" smtClean="0">
                            <a:latin typeface="Cambria Math" panose="02040503050406030204" pitchFamily="18" charset="0"/>
                          </a:rPr>
                        </m:ctrlPr>
                      </m:sSupPr>
                      <m:e>
                        <m:r>
                          <m:rPr>
                            <m:sty m:val="p"/>
                          </m:rPr>
                          <a:rPr lang="en-US" altLang="zh-CN" sz="2400" i="1" kern="0">
                            <a:latin typeface="Cambria Math" panose="02040503050406030204" pitchFamily="18" charset="0"/>
                          </a:rPr>
                          <m:t>c</m:t>
                        </m:r>
                      </m:e>
                      <m:sup>
                        <m:r>
                          <a:rPr lang="en-US" altLang="zh-CN" sz="2400" b="1" i="0" kern="0" smtClean="0">
                            <a:latin typeface="Cambria Math" panose="02040503050406030204" pitchFamily="18" charset="0"/>
                          </a:rPr>
                          <m:t>𝐓</m:t>
                        </m:r>
                      </m:sup>
                    </m:sSup>
                    <m:r>
                      <a:rPr lang="en-US" altLang="zh-CN" sz="2400" b="1" i="0" kern="0" smtClean="0">
                        <a:latin typeface="Cambria Math" panose="02040503050406030204" pitchFamily="18" charset="0"/>
                      </a:rPr>
                      <m:t>𝐱</m:t>
                    </m:r>
                  </m:oMath>
                </a14:m>
                <a:endParaRPr lang="en-US" altLang="zh-CN" sz="2400" kern="0" dirty="0">
                  <a:latin typeface="Times New Roman" panose="02020603050405020304" pitchFamily="18" charset="0"/>
                </a:endParaRPr>
              </a:p>
              <a:p>
                <a:pPr algn="ctr" eaLnBrk="1" hangingPunct="1">
                  <a:buFont typeface="Wingdings" panose="05000000000000000000" pitchFamily="2" charset="2"/>
                  <a:buNone/>
                </a:pPr>
                <a:r>
                  <a:rPr lang="en-US" altLang="zh-CN" sz="2400" b="0" kern="0" dirty="0">
                    <a:latin typeface="Times New Roman" panose="02020603050405020304" pitchFamily="18" charset="0"/>
                  </a:rPr>
                  <a:t>          </a:t>
                </a:r>
              </a:p>
              <a:p>
                <a:pPr algn="ctr" eaLnBrk="1" hangingPunct="1">
                  <a:buFont typeface="Wingdings" panose="05000000000000000000" pitchFamily="2" charset="2"/>
                  <a:buNone/>
                </a:pPr>
                <a:r>
                  <a:rPr lang="en-US" altLang="zh-CN" sz="2400" b="0" kern="0" dirty="0">
                    <a:latin typeface="Times New Roman" panose="02020603050405020304" pitchFamily="18" charset="0"/>
                  </a:rPr>
                  <a:t>           </a:t>
                </a:r>
                <a:endParaRPr lang="en-US" altLang="zh-CN" sz="2400" kern="0" dirty="0">
                  <a:latin typeface="Times New Roman" panose="02020603050405020304" pitchFamily="18" charset="0"/>
                </a:endParaRPr>
              </a:p>
              <a:p>
                <a:pPr algn="ctr" eaLnBrk="1" hangingPunct="1">
                  <a:buFont typeface="Wingdings" panose="05000000000000000000" pitchFamily="2" charset="2"/>
                  <a:buNone/>
                </a:pPr>
                <a:r>
                  <a:rPr lang="en-US" altLang="zh-CN" sz="2400" kern="0" dirty="0">
                    <a:latin typeface="Times New Roman" panose="02020603050405020304" pitchFamily="18" charset="0"/>
                  </a:rPr>
                  <a:t>           </a:t>
                </a:r>
                <a:endParaRPr lang="en-US" altLang="zh-CN" sz="2400" kern="0" dirty="0"/>
              </a:p>
            </p:txBody>
          </p:sp>
        </mc:Choice>
        <mc:Fallback xmlns="">
          <p:sp>
            <p:nvSpPr>
              <p:cNvPr id="21" name="Rectangle 3">
                <a:extLst>
                  <a:ext uri="{FF2B5EF4-FFF2-40B4-BE49-F238E27FC236}">
                    <a16:creationId xmlns:a16="http://schemas.microsoft.com/office/drawing/2014/main" id="{9F90549A-5395-497A-ADD1-76577A7FC401}"/>
                  </a:ext>
                </a:extLst>
              </p:cNvPr>
              <p:cNvSpPr txBox="1">
                <a:spLocks noRot="1" noChangeAspect="1" noMove="1" noResize="1" noEditPoints="1" noAdjustHandles="1" noChangeArrowheads="1" noChangeShapeType="1" noTextEdit="1"/>
              </p:cNvSpPr>
              <p:nvPr/>
            </p:nvSpPr>
            <p:spPr bwMode="auto">
              <a:xfrm>
                <a:off x="4490366" y="4076103"/>
                <a:ext cx="2062834" cy="457200"/>
              </a:xfrm>
              <a:prstGeom prst="rect">
                <a:avLst/>
              </a:prstGeom>
              <a:blipFill>
                <a:blip r:embed="rId10"/>
                <a:stretch>
                  <a:fillRect t="-9333"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Rectangle 4">
                <a:extLst>
                  <a:ext uri="{FF2B5EF4-FFF2-40B4-BE49-F238E27FC236}">
                    <a16:creationId xmlns:a16="http://schemas.microsoft.com/office/drawing/2014/main" id="{97789F43-6772-48A0-BF44-730A50E0A779}"/>
                  </a:ext>
                </a:extLst>
              </p:cNvPr>
              <p:cNvSpPr>
                <a:spLocks noChangeArrowheads="1"/>
              </p:cNvSpPr>
              <p:nvPr/>
            </p:nvSpPr>
            <p:spPr bwMode="auto">
              <a:xfrm>
                <a:off x="6705600" y="4065891"/>
                <a:ext cx="2062835" cy="573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22" name="Rectangle 4">
                <a:extLst>
                  <a:ext uri="{FF2B5EF4-FFF2-40B4-BE49-F238E27FC236}">
                    <a16:creationId xmlns:a16="http://schemas.microsoft.com/office/drawing/2014/main" id="{97789F43-6772-48A0-BF44-730A50E0A779}"/>
                  </a:ext>
                </a:extLst>
              </p:cNvPr>
              <p:cNvSpPr>
                <a:spLocks noRot="1" noChangeAspect="1" noMove="1" noResize="1" noEditPoints="1" noAdjustHandles="1" noChangeArrowheads="1" noChangeShapeType="1" noTextEdit="1"/>
              </p:cNvSpPr>
              <p:nvPr/>
            </p:nvSpPr>
            <p:spPr bwMode="auto">
              <a:xfrm>
                <a:off x="6705600" y="4065891"/>
                <a:ext cx="2062835" cy="573923"/>
              </a:xfrm>
              <a:prstGeom prst="rect">
                <a:avLst/>
              </a:prstGeom>
              <a:blipFill>
                <a:blip r:embed="rId11"/>
                <a:stretch>
                  <a:fillRect l="-4438" t="-7447" b="-53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CEBF2367-3EEB-4E80-B396-54CC4C8AFA0C}"/>
                  </a:ext>
                </a:extLst>
              </p:cNvPr>
              <p:cNvSpPr/>
              <p:nvPr/>
            </p:nvSpPr>
            <p:spPr>
              <a:xfrm>
                <a:off x="6950056" y="5530097"/>
                <a:ext cx="1257460" cy="468205"/>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a:latin typeface="Cambria Math" panose="02040503050406030204" pitchFamily="18" charset="0"/>
                          </a:rPr>
                          <m:t>𝐀</m:t>
                        </m:r>
                      </m:e>
                      <m:sup>
                        <m:r>
                          <a:rPr lang="en-US" altLang="zh-CN" sz="2400" b="1" i="1">
                            <a:latin typeface="Cambria Math" panose="02040503050406030204" pitchFamily="18" charset="0"/>
                          </a:rPr>
                          <m:t>𝑻</m:t>
                        </m:r>
                      </m:sup>
                    </m:sSup>
                    <m:r>
                      <a:rPr lang="en-US" altLang="zh-CN" sz="2400" b="1" i="1">
                        <a:latin typeface="Cambria Math" panose="02040503050406030204" pitchFamily="18" charset="0"/>
                      </a:rPr>
                      <m:t>𝒚</m:t>
                    </m:r>
                    <m:r>
                      <a:rPr lang="en-US" altLang="zh-CN" sz="2400" b="1" i="1">
                        <a:latin typeface="Cambria Math" panose="02040503050406030204" pitchFamily="18" charset="0"/>
                      </a:rPr>
                      <m:t>≥</m:t>
                    </m:r>
                  </m:oMath>
                </a14:m>
                <a:r>
                  <a:rPr lang="en-US" altLang="zh-CN" sz="2400" b="1" dirty="0">
                    <a:latin typeface="Times New Roman" panose="02020603050405020304" pitchFamily="18" charset="0"/>
                  </a:rPr>
                  <a:t>C</a:t>
                </a:r>
              </a:p>
            </p:txBody>
          </p:sp>
        </mc:Choice>
        <mc:Fallback xmlns="">
          <p:sp>
            <p:nvSpPr>
              <p:cNvPr id="23" name="矩形 22">
                <a:extLst>
                  <a:ext uri="{FF2B5EF4-FFF2-40B4-BE49-F238E27FC236}">
                    <a16:creationId xmlns:a16="http://schemas.microsoft.com/office/drawing/2014/main" id="{CEBF2367-3EEB-4E80-B396-54CC4C8AFA0C}"/>
                  </a:ext>
                </a:extLst>
              </p:cNvPr>
              <p:cNvSpPr>
                <a:spLocks noRot="1" noChangeAspect="1" noMove="1" noResize="1" noEditPoints="1" noAdjustHandles="1" noChangeArrowheads="1" noChangeShapeType="1" noTextEdit="1"/>
              </p:cNvSpPr>
              <p:nvPr/>
            </p:nvSpPr>
            <p:spPr>
              <a:xfrm>
                <a:off x="6950056" y="5530097"/>
                <a:ext cx="1257460" cy="468205"/>
              </a:xfrm>
              <a:prstGeom prst="rect">
                <a:avLst/>
              </a:prstGeom>
              <a:blipFill>
                <a:blip r:embed="rId12"/>
                <a:stretch>
                  <a:fillRect l="-971" t="-9091" r="-6796"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990C08A9-0C22-4A5E-9907-4DBDAF677E09}"/>
                  </a:ext>
                </a:extLst>
              </p:cNvPr>
              <p:cNvSpPr/>
              <p:nvPr/>
            </p:nvSpPr>
            <p:spPr>
              <a:xfrm>
                <a:off x="4701948" y="5536637"/>
                <a:ext cx="10958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i="1">
                          <a:latin typeface="Cambria Math" panose="02040503050406030204" pitchFamily="18" charset="0"/>
                        </a:rPr>
                        <m:t>≥</m:t>
                      </m:r>
                      <m:r>
                        <a:rPr lang="zh-CN" altLang="en-US" sz="2400" i="1" smtClean="0">
                          <a:latin typeface="Cambria Math" panose="02040503050406030204" pitchFamily="18" charset="0"/>
                        </a:rPr>
                        <m:t> </m:t>
                      </m:r>
                      <m:r>
                        <a:rPr lang="en-US" altLang="zh-CN" sz="2400" b="1" i="1">
                          <a:latin typeface="Cambria Math" panose="02040503050406030204" pitchFamily="18" charset="0"/>
                        </a:rPr>
                        <m:t>𝟎</m:t>
                      </m:r>
                    </m:oMath>
                  </m:oMathPara>
                </a14:m>
                <a:endParaRPr lang="zh-CN" altLang="en-US" sz="2400" dirty="0"/>
              </a:p>
            </p:txBody>
          </p:sp>
        </mc:Choice>
        <mc:Fallback xmlns="">
          <p:sp>
            <p:nvSpPr>
              <p:cNvPr id="24" name="矩形 23">
                <a:extLst>
                  <a:ext uri="{FF2B5EF4-FFF2-40B4-BE49-F238E27FC236}">
                    <a16:creationId xmlns:a16="http://schemas.microsoft.com/office/drawing/2014/main" id="{990C08A9-0C22-4A5E-9907-4DBDAF677E09}"/>
                  </a:ext>
                </a:extLst>
              </p:cNvPr>
              <p:cNvSpPr>
                <a:spLocks noRot="1" noChangeAspect="1" noMove="1" noResize="1" noEditPoints="1" noAdjustHandles="1" noChangeArrowheads="1" noChangeShapeType="1" noTextEdit="1"/>
              </p:cNvSpPr>
              <p:nvPr/>
            </p:nvSpPr>
            <p:spPr>
              <a:xfrm>
                <a:off x="4701948" y="5536637"/>
                <a:ext cx="1095877" cy="461665"/>
              </a:xfrm>
              <a:prstGeom prst="rect">
                <a:avLst/>
              </a:prstGeom>
              <a:blipFill>
                <a:blip r:embed="rId13"/>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ED5FB371-F402-44CE-ABE0-2B2DADCB37E6}"/>
                  </a:ext>
                </a:extLst>
              </p:cNvPr>
              <p:cNvSpPr/>
              <p:nvPr/>
            </p:nvSpPr>
            <p:spPr>
              <a:xfrm>
                <a:off x="6781800" y="4854123"/>
                <a:ext cx="103252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𝑦</m:t>
                      </m:r>
                      <m:r>
                        <a:rPr lang="en-US" altLang="zh-CN" sz="2400" i="1">
                          <a:latin typeface="Cambria Math" panose="02040503050406030204" pitchFamily="18" charset="0"/>
                        </a:rPr>
                        <m:t>≥</m:t>
                      </m:r>
                      <m:r>
                        <a:rPr lang="en-US" altLang="zh-CN" sz="2400" b="1" i="1">
                          <a:latin typeface="Cambria Math" panose="02040503050406030204" pitchFamily="18" charset="0"/>
                        </a:rPr>
                        <m:t>𝟎</m:t>
                      </m:r>
                    </m:oMath>
                  </m:oMathPara>
                </a14:m>
                <a:endParaRPr lang="zh-CN" altLang="en-US" sz="2400" dirty="0"/>
              </a:p>
            </p:txBody>
          </p:sp>
        </mc:Choice>
        <mc:Fallback xmlns="">
          <p:sp>
            <p:nvSpPr>
              <p:cNvPr id="25" name="矩形 24">
                <a:extLst>
                  <a:ext uri="{FF2B5EF4-FFF2-40B4-BE49-F238E27FC236}">
                    <a16:creationId xmlns:a16="http://schemas.microsoft.com/office/drawing/2014/main" id="{ED5FB371-F402-44CE-ABE0-2B2DADCB37E6}"/>
                  </a:ext>
                </a:extLst>
              </p:cNvPr>
              <p:cNvSpPr>
                <a:spLocks noRot="1" noChangeAspect="1" noMove="1" noResize="1" noEditPoints="1" noAdjustHandles="1" noChangeArrowheads="1" noChangeShapeType="1" noTextEdit="1"/>
              </p:cNvSpPr>
              <p:nvPr/>
            </p:nvSpPr>
            <p:spPr>
              <a:xfrm>
                <a:off x="6781800" y="4854123"/>
                <a:ext cx="1032526" cy="461665"/>
              </a:xfrm>
              <a:prstGeom prst="rect">
                <a:avLst/>
              </a:prstGeom>
              <a:blipFill>
                <a:blip r:embed="rId14"/>
                <a:stretch>
                  <a:fillRect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0C22C577-821A-4144-BD68-C791965E3838}"/>
                  </a:ext>
                </a:extLst>
              </p:cNvPr>
              <p:cNvSpPr/>
              <p:nvPr/>
            </p:nvSpPr>
            <p:spPr>
              <a:xfrm>
                <a:off x="4777819" y="4827527"/>
                <a:ext cx="1015021" cy="461665"/>
              </a:xfrm>
              <a:prstGeom prst="rect">
                <a:avLst/>
              </a:prstGeom>
            </p:spPr>
            <p:txBody>
              <a:bodyPr wrap="none">
                <a:spAutoFit/>
              </a:bodyPr>
              <a:lstStyle/>
              <a:p>
                <a:pPr eaLnBrk="1" hangingPunct="1">
                  <a:buFont typeface="Wingdings" panose="05000000000000000000" pitchFamily="2" charset="2"/>
                  <a:buNone/>
                </a:pPr>
                <a:r>
                  <a:rPr lang="en-US" altLang="zh-CN" sz="2400" kern="0" dirty="0">
                    <a:latin typeface="Times New Roman" panose="02020603050405020304" pitchFamily="18" charset="0"/>
                  </a:rPr>
                  <a:t>AX</a:t>
                </a:r>
                <a14:m>
                  <m:oMath xmlns:m="http://schemas.openxmlformats.org/officeDocument/2006/math">
                    <m:r>
                      <a:rPr lang="en-US" altLang="zh-CN" sz="2400" i="1" kern="0">
                        <a:latin typeface="Cambria Math" panose="02040503050406030204" pitchFamily="18" charset="0"/>
                      </a:rPr>
                      <m:t>≤</m:t>
                    </m:r>
                  </m:oMath>
                </a14:m>
                <a:r>
                  <a:rPr lang="en-US" altLang="zh-CN" sz="2400" kern="0" dirty="0">
                    <a:latin typeface="Times New Roman" panose="02020603050405020304" pitchFamily="18" charset="0"/>
                  </a:rPr>
                  <a:t>b</a:t>
                </a:r>
              </a:p>
            </p:txBody>
          </p:sp>
        </mc:Choice>
        <mc:Fallback xmlns="">
          <p:sp>
            <p:nvSpPr>
              <p:cNvPr id="26" name="矩形 25">
                <a:extLst>
                  <a:ext uri="{FF2B5EF4-FFF2-40B4-BE49-F238E27FC236}">
                    <a16:creationId xmlns:a16="http://schemas.microsoft.com/office/drawing/2014/main" id="{0C22C577-821A-4144-BD68-C791965E3838}"/>
                  </a:ext>
                </a:extLst>
              </p:cNvPr>
              <p:cNvSpPr>
                <a:spLocks noRot="1" noChangeAspect="1" noMove="1" noResize="1" noEditPoints="1" noAdjustHandles="1" noChangeArrowheads="1" noChangeShapeType="1" noTextEdit="1"/>
              </p:cNvSpPr>
              <p:nvPr/>
            </p:nvSpPr>
            <p:spPr>
              <a:xfrm>
                <a:off x="4777819" y="4827527"/>
                <a:ext cx="1015021" cy="461665"/>
              </a:xfrm>
              <a:prstGeom prst="rect">
                <a:avLst/>
              </a:prstGeom>
              <a:blipFill>
                <a:blip r:embed="rId15"/>
                <a:stretch>
                  <a:fillRect l="-9639" t="-10526" r="-7229"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C4C77C9-207F-41B1-994A-0DD49C76B79F}"/>
                  </a:ext>
                </a:extLst>
              </p:cNvPr>
              <p:cNvSpPr txBox="1"/>
              <p:nvPr/>
            </p:nvSpPr>
            <p:spPr>
              <a:xfrm>
                <a:off x="609358" y="4485614"/>
                <a:ext cx="3647217" cy="11113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𝒛</m:t>
                      </m:r>
                      <m:r>
                        <a:rPr lang="en-US" altLang="zh-CN" sz="2800" b="1" i="1" smtClean="0">
                          <a:latin typeface="Cambria Math" panose="02040503050406030204" pitchFamily="18" charset="0"/>
                        </a:rPr>
                        <m:t>=</m:t>
                      </m:r>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𝒄</m:t>
                          </m:r>
                        </m:e>
                        <m:sup>
                          <m:r>
                            <a:rPr lang="en-US" altLang="zh-CN" sz="2800" b="1" i="1" smtClean="0">
                              <a:latin typeface="Cambria Math" panose="02040503050406030204" pitchFamily="18" charset="0"/>
                            </a:rPr>
                            <m:t>𝑻</m:t>
                          </m:r>
                        </m:sup>
                      </m:sSup>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sSup>
                        <m:sSupPr>
                          <m:ctrlPr>
                            <a:rPr lang="en-US" altLang="zh-CN" sz="2800" b="1" i="1" smtClean="0">
                              <a:latin typeface="Cambria Math" panose="02040503050406030204" pitchFamily="18" charset="0"/>
                            </a:rPr>
                          </m:ctrlPr>
                        </m:sSupPr>
                        <m:e>
                          <m:d>
                            <m:dPr>
                              <m:ctrlPr>
                                <a:rPr lang="en-US" altLang="zh-CN" sz="2800" b="1" i="1" smtClean="0">
                                  <a:latin typeface="Cambria Math" panose="02040503050406030204" pitchFamily="18" charset="0"/>
                                </a:rPr>
                              </m:ctrlPr>
                            </m:dPr>
                            <m:e>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𝑨</m:t>
                                  </m:r>
                                </m:e>
                                <m:sup>
                                  <m:r>
                                    <a:rPr lang="en-US" altLang="zh-CN" sz="2800" b="1" i="1">
                                      <a:latin typeface="Cambria Math" panose="02040503050406030204" pitchFamily="18" charset="0"/>
                                    </a:rPr>
                                    <m:t>𝑻</m:t>
                                  </m:r>
                                </m:sup>
                              </m:sSup>
                              <m:r>
                                <a:rPr lang="en-US" altLang="zh-CN" sz="2800" b="1" i="1">
                                  <a:latin typeface="Cambria Math" panose="02040503050406030204" pitchFamily="18" charset="0"/>
                                </a:rPr>
                                <m:t>𝒚</m:t>
                              </m:r>
                            </m:e>
                          </m:d>
                        </m:e>
                        <m:sup>
                          <m:r>
                            <a:rPr lang="en-US" altLang="zh-CN" sz="2800" b="1" i="1" smtClean="0">
                              <a:latin typeface="Cambria Math" panose="02040503050406030204" pitchFamily="18" charset="0"/>
                            </a:rPr>
                            <m:t>𝑻</m:t>
                          </m:r>
                        </m:sup>
                      </m:sSup>
                      <m:r>
                        <a:rPr lang="en-US" altLang="zh-CN" sz="2800" b="1" i="1" smtClean="0">
                          <a:latin typeface="Cambria Math" panose="02040503050406030204" pitchFamily="18" charset="0"/>
                        </a:rPr>
                        <m:t>𝒙</m:t>
                      </m:r>
                    </m:oMath>
                  </m:oMathPara>
                </a14:m>
                <a:endParaRPr lang="en-US" altLang="zh-CN" sz="2800" b="1"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m:t>
                      </m:r>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𝒚</m:t>
                          </m:r>
                        </m:e>
                        <m:sup>
                          <m:r>
                            <a:rPr lang="en-US" altLang="zh-CN" sz="2800" b="1" i="1" smtClean="0">
                              <a:latin typeface="Cambria Math" panose="02040503050406030204" pitchFamily="18" charset="0"/>
                            </a:rPr>
                            <m:t>𝑻</m:t>
                          </m:r>
                        </m:sup>
                      </m:sSup>
                      <m:r>
                        <a:rPr lang="en-US" altLang="zh-CN" sz="2800" b="1" i="1" smtClean="0">
                          <a:latin typeface="Cambria Math" panose="02040503050406030204" pitchFamily="18" charset="0"/>
                        </a:rPr>
                        <m:t>𝑨𝒙</m:t>
                      </m:r>
                      <m:r>
                        <a:rPr lang="en-US" altLang="zh-CN" sz="2800" b="1" i="1" smtClean="0">
                          <a:latin typeface="Cambria Math" panose="02040503050406030204" pitchFamily="18" charset="0"/>
                        </a:rPr>
                        <m:t>≤</m:t>
                      </m:r>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𝒚</m:t>
                          </m:r>
                        </m:e>
                        <m:sup>
                          <m:r>
                            <a:rPr lang="en-US" altLang="zh-CN" sz="2800" b="1" i="1" smtClean="0">
                              <a:latin typeface="Cambria Math" panose="02040503050406030204" pitchFamily="18" charset="0"/>
                            </a:rPr>
                            <m:t>𝑻</m:t>
                          </m:r>
                        </m:sup>
                      </m:sSup>
                      <m:r>
                        <a:rPr lang="en-US" altLang="zh-CN" sz="2800" b="1" i="1" smtClean="0">
                          <a:latin typeface="Cambria Math" panose="02040503050406030204" pitchFamily="18" charset="0"/>
                        </a:rPr>
                        <m:t>𝒃</m:t>
                      </m:r>
                      <m:r>
                        <a:rPr lang="en-US" altLang="zh-CN" sz="2800" b="1" i="1" smtClean="0">
                          <a:latin typeface="Cambria Math" panose="02040503050406030204" pitchFamily="18" charset="0"/>
                        </a:rPr>
                        <m:t>=</m:t>
                      </m:r>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𝒃</m:t>
                          </m:r>
                        </m:e>
                        <m:sup>
                          <m:r>
                            <a:rPr lang="en-US" altLang="zh-CN" sz="2800" b="1" i="1" smtClean="0">
                              <a:latin typeface="Cambria Math" panose="02040503050406030204" pitchFamily="18" charset="0"/>
                            </a:rPr>
                            <m:t>𝑻</m:t>
                          </m:r>
                        </m:sup>
                      </m:sSup>
                      <m:r>
                        <a:rPr lang="en-US" altLang="zh-CN" sz="2800" b="1" i="1" smtClean="0">
                          <a:latin typeface="Cambria Math" panose="02040503050406030204" pitchFamily="18" charset="0"/>
                        </a:rPr>
                        <m:t>𝒚</m:t>
                      </m:r>
                    </m:oMath>
                  </m:oMathPara>
                </a14:m>
                <a:endParaRPr lang="zh-CN" altLang="en-US" sz="2800" b="1" dirty="0"/>
              </a:p>
            </p:txBody>
          </p:sp>
        </mc:Choice>
        <mc:Fallback xmlns="">
          <p:sp>
            <p:nvSpPr>
              <p:cNvPr id="5" name="文本框 4">
                <a:extLst>
                  <a:ext uri="{FF2B5EF4-FFF2-40B4-BE49-F238E27FC236}">
                    <a16:creationId xmlns:a16="http://schemas.microsoft.com/office/drawing/2014/main" id="{EC4C77C9-207F-41B1-994A-0DD49C76B79F}"/>
                  </a:ext>
                </a:extLst>
              </p:cNvPr>
              <p:cNvSpPr txBox="1">
                <a:spLocks noRot="1" noChangeAspect="1" noMove="1" noResize="1" noEditPoints="1" noAdjustHandles="1" noChangeArrowheads="1" noChangeShapeType="1" noTextEdit="1"/>
              </p:cNvSpPr>
              <p:nvPr/>
            </p:nvSpPr>
            <p:spPr>
              <a:xfrm>
                <a:off x="609358" y="4485614"/>
                <a:ext cx="3647217" cy="1111330"/>
              </a:xfrm>
              <a:prstGeom prst="rect">
                <a:avLst/>
              </a:prstGeom>
              <a:blipFill>
                <a:blip r:embed="rId16"/>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4" presetClass="entr" presetSubtype="10" fill="hold" nodeType="clickEffect">
                                  <p:stCondLst>
                                    <p:cond delay="0"/>
                                  </p:stCondLst>
                                  <p:childTnLst>
                                    <p:set>
                                      <p:cBhvr>
                                        <p:cTn id="15" dur="1" fill="hold">
                                          <p:stCondLst>
                                            <p:cond delay="0"/>
                                          </p:stCondLst>
                                        </p:cTn>
                                        <p:tgtEl>
                                          <p:spTgt spid="109571">
                                            <p:txEl>
                                              <p:pRg st="1" end="1"/>
                                            </p:txEl>
                                          </p:spTgt>
                                        </p:tgtEl>
                                        <p:attrNameLst>
                                          <p:attrName>style.visibility</p:attrName>
                                        </p:attrNameLst>
                                      </p:cBhvr>
                                      <p:to>
                                        <p:strVal val="visible"/>
                                      </p:to>
                                    </p:set>
                                    <p:animEffect transition="in" filter="randombar(horizontal)">
                                      <p:cBhvr>
                                        <p:cTn id="16" dur="500"/>
                                        <p:tgtEl>
                                          <p:spTgt spid="10957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95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50A02A1-76C6-4CAE-BDC4-9D201B507225}"/>
              </a:ext>
            </a:extLst>
          </p:cNvPr>
          <p:cNvSpPr>
            <a:spLocks noGrp="1" noChangeArrowheads="1"/>
          </p:cNvSpPr>
          <p:nvPr>
            <p:ph type="title"/>
          </p:nvPr>
        </p:nvSpPr>
        <p:spPr/>
        <p:txBody>
          <a:bodyPr/>
          <a:lstStyle/>
          <a:p>
            <a:pPr eaLnBrk="1" hangingPunct="1"/>
            <a:r>
              <a:rPr lang="zh-CN" altLang="en-US"/>
              <a:t>对偶问题基本性质</a:t>
            </a:r>
            <a:r>
              <a:rPr lang="en-US" altLang="zh-CN"/>
              <a:t>(3)</a:t>
            </a:r>
            <a:endParaRPr lang="zh-CN" altLang="en-US"/>
          </a:p>
        </p:txBody>
      </p:sp>
      <p:sp>
        <p:nvSpPr>
          <p:cNvPr id="109571" name="Rectangle 3">
            <a:extLst>
              <a:ext uri="{FF2B5EF4-FFF2-40B4-BE49-F238E27FC236}">
                <a16:creationId xmlns:a16="http://schemas.microsoft.com/office/drawing/2014/main" id="{636C9CC1-8E74-47AC-AE8F-81201E94B984}"/>
              </a:ext>
            </a:extLst>
          </p:cNvPr>
          <p:cNvSpPr>
            <a:spLocks noGrp="1" noChangeArrowheads="1"/>
          </p:cNvSpPr>
          <p:nvPr>
            <p:ph type="body" sz="half" idx="1"/>
          </p:nvPr>
        </p:nvSpPr>
        <p:spPr>
          <a:xfrm>
            <a:off x="457200" y="1371600"/>
            <a:ext cx="8229600" cy="1547813"/>
          </a:xfrm>
        </p:spPr>
        <p:txBody>
          <a:bodyPr/>
          <a:lstStyle/>
          <a:p>
            <a:pPr marL="533400" indent="-533400" eaLnBrk="1" hangingPunct="1">
              <a:buFont typeface="Wingdings" panose="05000000000000000000" pitchFamily="2" charset="2"/>
              <a:buAutoNum type="arabicPeriod"/>
            </a:pPr>
            <a:endParaRPr lang="zh-CN" altLang="en-US" sz="800"/>
          </a:p>
          <a:p>
            <a:pPr marL="533400" indent="-533400" eaLnBrk="1" hangingPunct="1">
              <a:buFont typeface="Wingdings" panose="05000000000000000000" pitchFamily="2" charset="2"/>
              <a:buNone/>
            </a:pPr>
            <a:r>
              <a:rPr lang="en-US" altLang="zh-CN" sz="2400"/>
              <a:t>3.   </a:t>
            </a:r>
            <a:r>
              <a:rPr lang="zh-CN" altLang="en-US" sz="2400">
                <a:solidFill>
                  <a:srgbClr val="FF0000"/>
                </a:solidFill>
              </a:rPr>
              <a:t>无界性</a:t>
            </a:r>
            <a:r>
              <a:rPr lang="zh-CN" altLang="en-US" sz="2400"/>
              <a:t>： 若原问题为</a:t>
            </a:r>
            <a:r>
              <a:rPr lang="zh-CN" altLang="en-US" sz="2400">
                <a:solidFill>
                  <a:srgbClr val="FF00FF"/>
                </a:solidFill>
              </a:rPr>
              <a:t>无界解</a:t>
            </a:r>
            <a:r>
              <a:rPr lang="zh-CN" altLang="en-US" sz="2400"/>
              <a:t>，则其对偶问题</a:t>
            </a:r>
            <a:r>
              <a:rPr lang="zh-CN" altLang="en-US" sz="2400">
                <a:solidFill>
                  <a:srgbClr val="FF00FF"/>
                </a:solidFill>
              </a:rPr>
              <a:t>无可行解</a:t>
            </a:r>
            <a:endParaRPr lang="en-US" altLang="zh-CN" sz="2400">
              <a:solidFill>
                <a:srgbClr val="FF00FF"/>
              </a:solidFill>
            </a:endParaRPr>
          </a:p>
          <a:p>
            <a:pPr marL="533400" indent="-533400" eaLnBrk="1" hangingPunct="1">
              <a:buFont typeface="Wingdings" panose="05000000000000000000" pitchFamily="2" charset="2"/>
              <a:buNone/>
            </a:pPr>
            <a:r>
              <a:rPr lang="zh-CN" altLang="en-US" sz="2400" b="0">
                <a:latin typeface="Times New Roman" panose="02020603050405020304" pitchFamily="18" charset="0"/>
              </a:rPr>
              <a:t>       </a:t>
            </a:r>
            <a:endParaRPr lang="en-US" altLang="zh-CN" sz="800" b="0">
              <a:latin typeface="Times New Roman" panose="02020603050405020304" pitchFamily="18" charset="0"/>
            </a:endParaRPr>
          </a:p>
        </p:txBody>
      </p:sp>
      <p:sp>
        <p:nvSpPr>
          <p:cNvPr id="5" name="上弧形箭头 4">
            <a:extLst>
              <a:ext uri="{FF2B5EF4-FFF2-40B4-BE49-F238E27FC236}">
                <a16:creationId xmlns:a16="http://schemas.microsoft.com/office/drawing/2014/main" id="{A48886A4-2064-4498-AF84-5BE44E7D8AA7}"/>
              </a:ext>
            </a:extLst>
          </p:cNvPr>
          <p:cNvSpPr/>
          <p:nvPr/>
        </p:nvSpPr>
        <p:spPr>
          <a:xfrm>
            <a:off x="4343400" y="1066800"/>
            <a:ext cx="3276600" cy="533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chemeClr val="tx1"/>
              </a:solidFill>
            </a:endParaRPr>
          </a:p>
        </p:txBody>
      </p:sp>
      <p:grpSp>
        <p:nvGrpSpPr>
          <p:cNvPr id="2" name="组合 8">
            <a:extLst>
              <a:ext uri="{FF2B5EF4-FFF2-40B4-BE49-F238E27FC236}">
                <a16:creationId xmlns:a16="http://schemas.microsoft.com/office/drawing/2014/main" id="{954CD9DB-72BE-4435-A005-904A32C2A8C7}"/>
              </a:ext>
            </a:extLst>
          </p:cNvPr>
          <p:cNvGrpSpPr>
            <a:grpSpLocks/>
          </p:cNvGrpSpPr>
          <p:nvPr/>
        </p:nvGrpSpPr>
        <p:grpSpPr bwMode="auto">
          <a:xfrm>
            <a:off x="4267200" y="1981200"/>
            <a:ext cx="3276600" cy="762000"/>
            <a:chOff x="4267200" y="1981200"/>
            <a:chExt cx="3276600" cy="762000"/>
          </a:xfrm>
        </p:grpSpPr>
        <p:sp>
          <p:nvSpPr>
            <p:cNvPr id="6" name="上弧形箭头 5">
              <a:extLst>
                <a:ext uri="{FF2B5EF4-FFF2-40B4-BE49-F238E27FC236}">
                  <a16:creationId xmlns:a16="http://schemas.microsoft.com/office/drawing/2014/main" id="{7A0F859C-E0BE-4308-946E-C23D309E388F}"/>
                </a:ext>
              </a:extLst>
            </p:cNvPr>
            <p:cNvSpPr/>
            <p:nvPr/>
          </p:nvSpPr>
          <p:spPr>
            <a:xfrm rot="10800000">
              <a:off x="4267200" y="1981200"/>
              <a:ext cx="3276600" cy="533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chemeClr val="tx1"/>
                </a:solidFill>
              </a:endParaRPr>
            </a:p>
          </p:txBody>
        </p:sp>
        <p:sp>
          <p:nvSpPr>
            <p:cNvPr id="8" name="乘号 7">
              <a:extLst>
                <a:ext uri="{FF2B5EF4-FFF2-40B4-BE49-F238E27FC236}">
                  <a16:creationId xmlns:a16="http://schemas.microsoft.com/office/drawing/2014/main" id="{B0A08C23-56C3-4145-AFFA-7BD35A941E0D}"/>
                </a:ext>
              </a:extLst>
            </p:cNvPr>
            <p:cNvSpPr/>
            <p:nvPr/>
          </p:nvSpPr>
          <p:spPr>
            <a:xfrm>
              <a:off x="5715000" y="2362200"/>
              <a:ext cx="609600" cy="3810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3" name="组合 2">
            <a:extLst>
              <a:ext uri="{FF2B5EF4-FFF2-40B4-BE49-F238E27FC236}">
                <a16:creationId xmlns:a16="http://schemas.microsoft.com/office/drawing/2014/main" id="{8422D681-DC98-411D-ADD9-A7F2F74BBCD9}"/>
              </a:ext>
            </a:extLst>
          </p:cNvPr>
          <p:cNvGrpSpPr>
            <a:grpSpLocks/>
          </p:cNvGrpSpPr>
          <p:nvPr/>
        </p:nvGrpSpPr>
        <p:grpSpPr bwMode="auto">
          <a:xfrm>
            <a:off x="457200" y="1722438"/>
            <a:ext cx="8229600" cy="1471612"/>
            <a:chOff x="452562" y="1752600"/>
            <a:chExt cx="8229600" cy="1471654"/>
          </a:xfrm>
        </p:grpSpPr>
        <p:sp>
          <p:nvSpPr>
            <p:cNvPr id="10" name="Rectangle 3">
              <a:extLst>
                <a:ext uri="{FF2B5EF4-FFF2-40B4-BE49-F238E27FC236}">
                  <a16:creationId xmlns:a16="http://schemas.microsoft.com/office/drawing/2014/main" id="{AB82F56E-0EA3-47F8-BFF3-C33A16379796}"/>
                </a:ext>
              </a:extLst>
            </p:cNvPr>
            <p:cNvSpPr txBox="1">
              <a:spLocks noChangeArrowheads="1"/>
            </p:cNvSpPr>
            <p:nvPr/>
          </p:nvSpPr>
          <p:spPr bwMode="auto">
            <a:xfrm>
              <a:off x="452562" y="1752600"/>
              <a:ext cx="8229600" cy="1471654"/>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533400" indent="-533400" eaLnBrk="1" hangingPunct="1">
                <a:buFont typeface="Wingdings" panose="05000000000000000000" pitchFamily="2" charset="2"/>
                <a:buAutoNum type="arabicPeriod"/>
                <a:defRPr/>
              </a:pPr>
              <a:endParaRPr lang="zh-CN" altLang="en-US" sz="800" kern="0" dirty="0"/>
            </a:p>
            <a:p>
              <a:pPr marL="533400" indent="-533400" eaLnBrk="1" hangingPunct="1">
                <a:buFont typeface="Wingdings" panose="05000000000000000000" pitchFamily="2" charset="2"/>
                <a:buNone/>
                <a:defRPr/>
              </a:pPr>
              <a:r>
                <a:rPr lang="zh-CN" altLang="en-US" sz="2400" b="0" kern="0" dirty="0">
                  <a:latin typeface="Times New Roman" panose="02020603050405020304" pitchFamily="18" charset="0"/>
                </a:rPr>
                <a:t>       </a:t>
              </a:r>
              <a:r>
                <a:rPr lang="en-US" altLang="zh-CN" sz="2400" b="0" kern="0" dirty="0">
                  <a:latin typeface="Times New Roman" panose="02020603050405020304" pitchFamily="18" charset="0"/>
                </a:rPr>
                <a:t>(</a:t>
              </a:r>
              <a:r>
                <a:rPr lang="zh-CN" altLang="en-US" sz="2400" b="0" kern="0" dirty="0">
                  <a:latin typeface="Times New Roman" panose="02020603050405020304" pitchFamily="18" charset="0"/>
                </a:rPr>
                <a:t>反证法</a:t>
              </a:r>
              <a:r>
                <a:rPr lang="en-US" altLang="zh-CN" sz="2400" b="0" kern="0" dirty="0">
                  <a:latin typeface="Times New Roman" panose="02020603050405020304" pitchFamily="18" charset="0"/>
                </a:rPr>
                <a:t>)</a:t>
              </a:r>
              <a:r>
                <a:rPr lang="zh-CN" altLang="en-US" sz="2400" b="0" kern="0" dirty="0">
                  <a:latin typeface="Times New Roman" panose="02020603050405020304" pitchFamily="18" charset="0"/>
                </a:rPr>
                <a:t>：若原问题无界解，且对偶问题有可行解</a:t>
              </a:r>
              <a:r>
                <a:rPr lang="en-US" altLang="zh-CN" sz="2400" kern="0" dirty="0">
                  <a:latin typeface="Times New Roman" panose="02020603050405020304" pitchFamily="18" charset="0"/>
                </a:rPr>
                <a:t>Y</a:t>
              </a:r>
              <a:r>
                <a:rPr lang="en-US" altLang="zh-CN" sz="2400" b="0" kern="0" baseline="-25000" dirty="0">
                  <a:latin typeface="Times New Roman" panose="02020603050405020304" pitchFamily="18" charset="0"/>
                </a:rPr>
                <a:t>0</a:t>
              </a:r>
              <a:r>
                <a:rPr lang="zh-CN" altLang="en-US" sz="2400" b="0" kern="0" dirty="0">
                  <a:latin typeface="Times New Roman" panose="02020603050405020304" pitchFamily="18" charset="0"/>
                </a:rPr>
                <a:t>，根据弱对偶性，有                </a:t>
              </a:r>
              <a:r>
                <a:rPr lang="zh-CN" altLang="en-US" sz="2400" kern="0" dirty="0">
                  <a:latin typeface="Times New Roman" panose="02020603050405020304" pitchFamily="18" charset="0"/>
                </a:rPr>
                <a:t>。</a:t>
              </a:r>
              <a:r>
                <a:rPr lang="zh-CN" altLang="en-US" sz="2400" b="0" kern="0" dirty="0">
                  <a:latin typeface="Times New Roman" panose="02020603050405020304" pitchFamily="18" charset="0"/>
                </a:rPr>
                <a:t>这显然与原问题无上界相矛盾。</a:t>
              </a:r>
              <a:endParaRPr lang="en-US" altLang="zh-CN" sz="2400" b="0" kern="0" dirty="0">
                <a:latin typeface="Times New Roman" panose="02020603050405020304" pitchFamily="18" charset="0"/>
              </a:endParaRPr>
            </a:p>
            <a:p>
              <a:pPr marL="533400" indent="-533400" eaLnBrk="1" hangingPunct="1">
                <a:buFont typeface="Wingdings" panose="05000000000000000000" pitchFamily="2" charset="2"/>
                <a:buAutoNum type="arabicPeriod"/>
                <a:defRPr/>
              </a:pPr>
              <a:endParaRPr lang="en-US" altLang="zh-CN" sz="800" b="0" kern="0" dirty="0">
                <a:latin typeface="Times New Roman" panose="02020603050405020304" pitchFamily="18" charset="0"/>
              </a:endParaRPr>
            </a:p>
          </p:txBody>
        </p:sp>
        <p:graphicFrame>
          <p:nvGraphicFramePr>
            <p:cNvPr id="44041" name="对象 8">
              <a:extLst>
                <a:ext uri="{FF2B5EF4-FFF2-40B4-BE49-F238E27FC236}">
                  <a16:creationId xmlns:a16="http://schemas.microsoft.com/office/drawing/2014/main" id="{47B0187F-A9F6-4484-A49E-DBCF46145749}"/>
                </a:ext>
              </a:extLst>
            </p:cNvPr>
            <p:cNvGraphicFramePr>
              <a:graphicFrameLocks noChangeAspect="1"/>
            </p:cNvGraphicFramePr>
            <p:nvPr/>
          </p:nvGraphicFramePr>
          <p:xfrm>
            <a:off x="3505200" y="2362200"/>
            <a:ext cx="1274763" cy="444715"/>
          </p:xfrm>
          <a:graphic>
            <a:graphicData uri="http://schemas.openxmlformats.org/presentationml/2006/ole">
              <mc:AlternateContent xmlns:mc="http://schemas.openxmlformats.org/markup-compatibility/2006">
                <mc:Choice xmlns:v="urn:schemas-microsoft-com:vml" Requires="v">
                  <p:oleObj spid="_x0000_s44092" name="Equation" r:id="rId3" imgW="507780" imgH="177723" progId="Equation.DSMT4">
                    <p:embed/>
                  </p:oleObj>
                </mc:Choice>
                <mc:Fallback>
                  <p:oleObj name="Equation" r:id="rId3" imgW="507780" imgH="177723"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2362200"/>
                          <a:ext cx="1274763" cy="44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 name="Rectangle 3">
            <a:extLst>
              <a:ext uri="{FF2B5EF4-FFF2-40B4-BE49-F238E27FC236}">
                <a16:creationId xmlns:a16="http://schemas.microsoft.com/office/drawing/2014/main" id="{5DEBF701-EB76-4F1F-BEC5-1391BEAB5FE1}"/>
              </a:ext>
            </a:extLst>
          </p:cNvPr>
          <p:cNvSpPr txBox="1">
            <a:spLocks noChangeArrowheads="1"/>
          </p:cNvSpPr>
          <p:nvPr/>
        </p:nvSpPr>
        <p:spPr bwMode="auto">
          <a:xfrm>
            <a:off x="609600" y="4218156"/>
            <a:ext cx="8229600" cy="266065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533400" indent="-533400" eaLnBrk="1" hangingPunct="1">
              <a:buFont typeface="Wingdings" panose="05000000000000000000" pitchFamily="2" charset="2"/>
              <a:buAutoNum type="arabicPeriod"/>
              <a:defRPr/>
            </a:pPr>
            <a:endParaRPr lang="zh-CN" altLang="en-US" sz="800" kern="0" dirty="0"/>
          </a:p>
          <a:p>
            <a:pPr marL="533400" indent="-533400" eaLnBrk="1" hangingPunct="1">
              <a:buFont typeface="Wingdings" panose="05000000000000000000" pitchFamily="2" charset="2"/>
              <a:buNone/>
              <a:defRPr/>
            </a:pPr>
            <a:r>
              <a:rPr lang="zh-CN" altLang="en-US" sz="2400" b="0" kern="0" dirty="0">
                <a:solidFill>
                  <a:srgbClr val="0000FF"/>
                </a:solidFill>
                <a:latin typeface="Times New Roman" panose="02020603050405020304" pitchFamily="18" charset="0"/>
              </a:rPr>
              <a:t>推论</a:t>
            </a:r>
            <a:r>
              <a:rPr lang="en-US" altLang="zh-CN" sz="2400" b="0" kern="0" dirty="0">
                <a:solidFill>
                  <a:srgbClr val="0000FF"/>
                </a:solidFill>
                <a:latin typeface="Times New Roman" panose="02020603050405020304" pitchFamily="18" charset="0"/>
              </a:rPr>
              <a:t>1</a:t>
            </a:r>
            <a:r>
              <a:rPr lang="zh-CN" altLang="en-US" sz="2400" b="0" kern="0" dirty="0">
                <a:solidFill>
                  <a:srgbClr val="0000FF"/>
                </a:solidFill>
                <a:latin typeface="Times New Roman" panose="02020603050405020304" pitchFamily="18" charset="0"/>
              </a:rPr>
              <a:t>：</a:t>
            </a:r>
            <a:r>
              <a:rPr lang="zh-CN" altLang="en-US" sz="2400" kern="0" dirty="0">
                <a:solidFill>
                  <a:srgbClr val="0000FF"/>
                </a:solidFill>
                <a:latin typeface="楷体_GB2312" pitchFamily="49" charset="-122"/>
              </a:rPr>
              <a:t>在互为对偶的两个问题中，若一个问题无可行解，则另一个问题或具有无界解或无可行解。</a:t>
            </a:r>
            <a:endParaRPr lang="en-US" altLang="zh-CN" sz="2400" kern="0" dirty="0">
              <a:solidFill>
                <a:srgbClr val="0000FF"/>
              </a:solidFill>
              <a:latin typeface="楷体_GB2312" pitchFamily="49" charset="-122"/>
            </a:endParaRPr>
          </a:p>
          <a:p>
            <a:pPr marL="533400" indent="-533400" eaLnBrk="1" hangingPunct="1">
              <a:buFont typeface="Wingdings" panose="05000000000000000000" pitchFamily="2" charset="2"/>
              <a:buNone/>
              <a:defRPr/>
            </a:pPr>
            <a:endParaRPr lang="en-US" altLang="zh-CN" sz="2400" b="0" kern="0" dirty="0">
              <a:solidFill>
                <a:srgbClr val="0000FF"/>
              </a:solidFill>
              <a:latin typeface="Times New Roman" panose="02020603050405020304" pitchFamily="18" charset="0"/>
            </a:endParaRPr>
          </a:p>
          <a:p>
            <a:pPr marL="533400" indent="-533400" eaLnBrk="1" hangingPunct="1">
              <a:buFont typeface="Wingdings" panose="05000000000000000000" pitchFamily="2" charset="2"/>
              <a:buNone/>
              <a:defRPr/>
            </a:pPr>
            <a:r>
              <a:rPr lang="zh-CN" altLang="en-US" sz="2400" b="0" kern="0" dirty="0">
                <a:solidFill>
                  <a:srgbClr val="0000FF"/>
                </a:solidFill>
                <a:latin typeface="Times New Roman" panose="02020603050405020304" pitchFamily="18" charset="0"/>
              </a:rPr>
              <a:t>推论</a:t>
            </a:r>
            <a:r>
              <a:rPr lang="en-US" altLang="zh-CN" sz="2400" b="0" kern="0" dirty="0">
                <a:solidFill>
                  <a:srgbClr val="0000FF"/>
                </a:solidFill>
                <a:latin typeface="Times New Roman" panose="02020603050405020304" pitchFamily="18" charset="0"/>
              </a:rPr>
              <a:t>2</a:t>
            </a:r>
            <a:r>
              <a:rPr lang="zh-CN" altLang="en-US" sz="2400" b="0" kern="0" dirty="0">
                <a:solidFill>
                  <a:srgbClr val="0000FF"/>
                </a:solidFill>
                <a:latin typeface="Times New Roman" panose="02020603050405020304" pitchFamily="18" charset="0"/>
              </a:rPr>
              <a:t>：</a:t>
            </a:r>
            <a:r>
              <a:rPr lang="zh-CN" altLang="en-US" sz="2400" kern="0" dirty="0">
                <a:solidFill>
                  <a:srgbClr val="0000FF"/>
                </a:solidFill>
              </a:rPr>
              <a:t>在一对对偶问题（</a:t>
            </a:r>
            <a:r>
              <a:rPr lang="en-US" altLang="zh-CN" sz="2400" kern="0" dirty="0">
                <a:solidFill>
                  <a:srgbClr val="0000FF"/>
                </a:solidFill>
              </a:rPr>
              <a:t>P</a:t>
            </a:r>
            <a:r>
              <a:rPr lang="zh-CN" altLang="en-US" sz="2400" kern="0" dirty="0">
                <a:solidFill>
                  <a:srgbClr val="0000FF"/>
                </a:solidFill>
              </a:rPr>
              <a:t>）和（</a:t>
            </a:r>
            <a:r>
              <a:rPr lang="en-US" altLang="zh-CN" sz="2400" kern="0" dirty="0">
                <a:solidFill>
                  <a:srgbClr val="0000FF"/>
                </a:solidFill>
              </a:rPr>
              <a:t>D</a:t>
            </a:r>
            <a:r>
              <a:rPr lang="zh-CN" altLang="en-US" sz="2400" kern="0" dirty="0">
                <a:solidFill>
                  <a:srgbClr val="0000FF"/>
                </a:solidFill>
              </a:rPr>
              <a:t>）中，若一个可行（如</a:t>
            </a:r>
            <a:r>
              <a:rPr lang="en-US" altLang="zh-CN" sz="2400" kern="0" dirty="0">
                <a:solidFill>
                  <a:srgbClr val="0000FF"/>
                </a:solidFill>
              </a:rPr>
              <a:t>P</a:t>
            </a:r>
            <a:r>
              <a:rPr lang="zh-CN" altLang="en-US" sz="2400" kern="0" dirty="0">
                <a:solidFill>
                  <a:srgbClr val="0000FF"/>
                </a:solidFill>
              </a:rPr>
              <a:t>），而另一个无可行解（如</a:t>
            </a:r>
            <a:r>
              <a:rPr lang="en-US" altLang="zh-CN" sz="2400" kern="0" dirty="0">
                <a:solidFill>
                  <a:srgbClr val="0000FF"/>
                </a:solidFill>
              </a:rPr>
              <a:t>D</a:t>
            </a:r>
            <a:r>
              <a:rPr lang="zh-CN" altLang="en-US" sz="2400" kern="0" dirty="0">
                <a:solidFill>
                  <a:srgbClr val="0000FF"/>
                </a:solidFill>
              </a:rPr>
              <a:t>），则该可行的问题（如</a:t>
            </a:r>
            <a:r>
              <a:rPr lang="en-US" altLang="zh-CN" sz="2400" kern="0" dirty="0">
                <a:solidFill>
                  <a:srgbClr val="0000FF"/>
                </a:solidFill>
              </a:rPr>
              <a:t>P</a:t>
            </a:r>
            <a:r>
              <a:rPr lang="zh-CN" altLang="en-US" sz="2400" kern="0" dirty="0">
                <a:solidFill>
                  <a:srgbClr val="0000FF"/>
                </a:solidFill>
              </a:rPr>
              <a:t>）目标函数值无界。</a:t>
            </a:r>
            <a:endParaRPr lang="en-US" altLang="zh-CN" sz="2400" b="0" kern="0" dirty="0">
              <a:solidFill>
                <a:srgbClr val="0000FF"/>
              </a:solidFill>
              <a:latin typeface="Times New Roman" panose="02020603050405020304" pitchFamily="18" charset="0"/>
            </a:endParaRPr>
          </a:p>
          <a:p>
            <a:pPr marL="533400" indent="-533400" eaLnBrk="1" hangingPunct="1">
              <a:buFont typeface="Wingdings" panose="05000000000000000000" pitchFamily="2" charset="2"/>
              <a:buAutoNum type="arabicPeriod"/>
              <a:defRPr/>
            </a:pPr>
            <a:endParaRPr lang="en-US" altLang="zh-CN" sz="800" b="0" kern="0" dirty="0">
              <a:latin typeface="Times New Roman" panose="02020603050405020304" pitchFamily="18" charset="0"/>
            </a:endParaRPr>
          </a:p>
        </p:txBody>
      </p:sp>
      <p:grpSp>
        <p:nvGrpSpPr>
          <p:cNvPr id="4" name="组合 3">
            <a:extLst>
              <a:ext uri="{FF2B5EF4-FFF2-40B4-BE49-F238E27FC236}">
                <a16:creationId xmlns:a16="http://schemas.microsoft.com/office/drawing/2014/main" id="{60AC7E8D-C4D4-4858-9468-B6BD0365E476}"/>
              </a:ext>
            </a:extLst>
          </p:cNvPr>
          <p:cNvGrpSpPr/>
          <p:nvPr/>
        </p:nvGrpSpPr>
        <p:grpSpPr>
          <a:xfrm>
            <a:off x="2369581" y="3067034"/>
            <a:ext cx="4404838" cy="1118448"/>
            <a:chOff x="3573443" y="2738741"/>
            <a:chExt cx="4404838" cy="1118448"/>
          </a:xfrm>
        </p:grpSpPr>
        <p:sp>
          <p:nvSpPr>
            <p:cNvPr id="12" name="矩形 11">
              <a:extLst>
                <a:ext uri="{FF2B5EF4-FFF2-40B4-BE49-F238E27FC236}">
                  <a16:creationId xmlns:a16="http://schemas.microsoft.com/office/drawing/2014/main" id="{8A054AF1-F46B-402E-863E-C8EE271DDF00}"/>
                </a:ext>
              </a:extLst>
            </p:cNvPr>
            <p:cNvSpPr/>
            <p:nvPr/>
          </p:nvSpPr>
          <p:spPr>
            <a:xfrm>
              <a:off x="3655077" y="2738741"/>
              <a:ext cx="4323204" cy="1118447"/>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Rectangle 3">
                  <a:extLst>
                    <a:ext uri="{FF2B5EF4-FFF2-40B4-BE49-F238E27FC236}">
                      <a16:creationId xmlns:a16="http://schemas.microsoft.com/office/drawing/2014/main" id="{D52DBE4E-8DB7-4274-B774-848F23DF251A}"/>
                    </a:ext>
                  </a:extLst>
                </p:cNvPr>
                <p:cNvSpPr txBox="1">
                  <a:spLocks noChangeArrowheads="1"/>
                </p:cNvSpPr>
                <p:nvPr/>
              </p:nvSpPr>
              <p:spPr bwMode="auto">
                <a:xfrm>
                  <a:off x="3573443" y="2748954"/>
                  <a:ext cx="2062834" cy="457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algn="ctr" eaLnBrk="1" hangingPunct="1">
                    <a:buFont typeface="Wingdings" panose="05000000000000000000" pitchFamily="2" charset="2"/>
                    <a:buNone/>
                  </a:pPr>
                  <a:r>
                    <a:rPr lang="en-US" altLang="zh-CN" sz="2400" kern="0" dirty="0">
                      <a:latin typeface="Times New Roman" panose="02020603050405020304" pitchFamily="18" charset="0"/>
                    </a:rPr>
                    <a:t>max   z=</a:t>
                  </a:r>
                  <a14:m>
                    <m:oMath xmlns:m="http://schemas.openxmlformats.org/officeDocument/2006/math">
                      <m:sSup>
                        <m:sSupPr>
                          <m:ctrlPr>
                            <a:rPr lang="en-US" altLang="zh-CN" sz="2400" b="1" i="1" kern="0" smtClean="0">
                              <a:latin typeface="Cambria Math" panose="02040503050406030204" pitchFamily="18" charset="0"/>
                            </a:rPr>
                          </m:ctrlPr>
                        </m:sSupPr>
                        <m:e>
                          <m:r>
                            <m:rPr>
                              <m:sty m:val="p"/>
                            </m:rPr>
                            <a:rPr lang="en-US" altLang="zh-CN" sz="2400" i="1" kern="0">
                              <a:latin typeface="Cambria Math" panose="02040503050406030204" pitchFamily="18" charset="0"/>
                            </a:rPr>
                            <m:t>c</m:t>
                          </m:r>
                        </m:e>
                        <m:sup>
                          <m:r>
                            <a:rPr lang="en-US" altLang="zh-CN" sz="2400" b="1" i="0" kern="0" smtClean="0">
                              <a:latin typeface="Cambria Math" panose="02040503050406030204" pitchFamily="18" charset="0"/>
                            </a:rPr>
                            <m:t>𝐓</m:t>
                          </m:r>
                        </m:sup>
                      </m:sSup>
                      <m:r>
                        <a:rPr lang="en-US" altLang="zh-CN" sz="2400" b="1" i="0" kern="0" smtClean="0">
                          <a:latin typeface="Cambria Math" panose="02040503050406030204" pitchFamily="18" charset="0"/>
                        </a:rPr>
                        <m:t>𝐱</m:t>
                      </m:r>
                    </m:oMath>
                  </a14:m>
                  <a:endParaRPr lang="en-US" altLang="zh-CN" sz="2400" kern="0" dirty="0">
                    <a:latin typeface="Times New Roman" panose="02020603050405020304" pitchFamily="18" charset="0"/>
                  </a:endParaRPr>
                </a:p>
                <a:p>
                  <a:pPr algn="ctr" eaLnBrk="1" hangingPunct="1">
                    <a:buFont typeface="Wingdings" panose="05000000000000000000" pitchFamily="2" charset="2"/>
                    <a:buNone/>
                  </a:pPr>
                  <a:r>
                    <a:rPr lang="en-US" altLang="zh-CN" sz="2400" b="0" kern="0" dirty="0">
                      <a:latin typeface="Times New Roman" panose="02020603050405020304" pitchFamily="18" charset="0"/>
                    </a:rPr>
                    <a:t>          </a:t>
                  </a:r>
                </a:p>
                <a:p>
                  <a:pPr algn="ctr" eaLnBrk="1" hangingPunct="1">
                    <a:buFont typeface="Wingdings" panose="05000000000000000000" pitchFamily="2" charset="2"/>
                    <a:buNone/>
                  </a:pPr>
                  <a:r>
                    <a:rPr lang="en-US" altLang="zh-CN" sz="2400" b="0" kern="0" dirty="0">
                      <a:latin typeface="Times New Roman" panose="02020603050405020304" pitchFamily="18" charset="0"/>
                    </a:rPr>
                    <a:t>           </a:t>
                  </a:r>
                  <a:endParaRPr lang="en-US" altLang="zh-CN" sz="2400" kern="0" dirty="0">
                    <a:latin typeface="Times New Roman" panose="02020603050405020304" pitchFamily="18" charset="0"/>
                  </a:endParaRPr>
                </a:p>
                <a:p>
                  <a:pPr algn="ctr" eaLnBrk="1" hangingPunct="1">
                    <a:buFont typeface="Wingdings" panose="05000000000000000000" pitchFamily="2" charset="2"/>
                    <a:buNone/>
                  </a:pPr>
                  <a:r>
                    <a:rPr lang="en-US" altLang="zh-CN" sz="2400" kern="0" dirty="0">
                      <a:latin typeface="Times New Roman" panose="02020603050405020304" pitchFamily="18" charset="0"/>
                    </a:rPr>
                    <a:t>           </a:t>
                  </a:r>
                  <a:endParaRPr lang="en-US" altLang="zh-CN" sz="2400" kern="0" dirty="0"/>
                </a:p>
              </p:txBody>
            </p:sp>
          </mc:Choice>
          <mc:Fallback xmlns="">
            <p:sp>
              <p:nvSpPr>
                <p:cNvPr id="13" name="Rectangle 3">
                  <a:extLst>
                    <a:ext uri="{FF2B5EF4-FFF2-40B4-BE49-F238E27FC236}">
                      <a16:creationId xmlns:a16="http://schemas.microsoft.com/office/drawing/2014/main" id="{D52DBE4E-8DB7-4274-B774-848F23DF251A}"/>
                    </a:ext>
                  </a:extLst>
                </p:cNvPr>
                <p:cNvSpPr txBox="1">
                  <a:spLocks noRot="1" noChangeAspect="1" noMove="1" noResize="1" noEditPoints="1" noAdjustHandles="1" noChangeArrowheads="1" noChangeShapeType="1" noTextEdit="1"/>
                </p:cNvSpPr>
                <p:nvPr/>
              </p:nvSpPr>
              <p:spPr bwMode="auto">
                <a:xfrm>
                  <a:off x="3573443" y="2748954"/>
                  <a:ext cx="2062834" cy="457200"/>
                </a:xfrm>
                <a:prstGeom prst="rect">
                  <a:avLst/>
                </a:prstGeom>
                <a:blipFill>
                  <a:blip r:embed="rId5"/>
                  <a:stretch>
                    <a:fillRect t="-9333"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Rectangle 4">
                  <a:extLst>
                    <a:ext uri="{FF2B5EF4-FFF2-40B4-BE49-F238E27FC236}">
                      <a16:creationId xmlns:a16="http://schemas.microsoft.com/office/drawing/2014/main" id="{D4EE2DBB-9D02-4844-A0D3-B4D83F4C9843}"/>
                    </a:ext>
                  </a:extLst>
                </p:cNvPr>
                <p:cNvSpPr>
                  <a:spLocks noChangeArrowheads="1"/>
                </p:cNvSpPr>
                <p:nvPr/>
              </p:nvSpPr>
              <p:spPr bwMode="auto">
                <a:xfrm>
                  <a:off x="5788677" y="2738742"/>
                  <a:ext cx="2062835" cy="573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14" name="Rectangle 4">
                  <a:extLst>
                    <a:ext uri="{FF2B5EF4-FFF2-40B4-BE49-F238E27FC236}">
                      <a16:creationId xmlns:a16="http://schemas.microsoft.com/office/drawing/2014/main" id="{D4EE2DBB-9D02-4844-A0D3-B4D83F4C9843}"/>
                    </a:ext>
                  </a:extLst>
                </p:cNvPr>
                <p:cNvSpPr>
                  <a:spLocks noRot="1" noChangeAspect="1" noMove="1" noResize="1" noEditPoints="1" noAdjustHandles="1" noChangeArrowheads="1" noChangeShapeType="1" noTextEdit="1"/>
                </p:cNvSpPr>
                <p:nvPr/>
              </p:nvSpPr>
              <p:spPr bwMode="auto">
                <a:xfrm>
                  <a:off x="5788677" y="2738742"/>
                  <a:ext cx="2062835" cy="573923"/>
                </a:xfrm>
                <a:prstGeom prst="rect">
                  <a:avLst/>
                </a:prstGeom>
                <a:blipFill>
                  <a:blip r:embed="rId6"/>
                  <a:stretch>
                    <a:fillRect l="-4438" t="-7447" b="-53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DE8EDCCD-93EF-41EC-BEEC-D69BA2F791AF}"/>
                    </a:ext>
                  </a:extLst>
                </p:cNvPr>
                <p:cNvSpPr/>
                <p:nvPr/>
              </p:nvSpPr>
              <p:spPr>
                <a:xfrm>
                  <a:off x="6033133" y="3388984"/>
                  <a:ext cx="1257460" cy="468205"/>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a:latin typeface="Cambria Math" panose="02040503050406030204" pitchFamily="18" charset="0"/>
                            </a:rPr>
                            <m:t>𝐀</m:t>
                          </m:r>
                        </m:e>
                        <m:sup>
                          <m:r>
                            <a:rPr lang="en-US" altLang="zh-CN" sz="2400" b="1" i="1">
                              <a:latin typeface="Cambria Math" panose="02040503050406030204" pitchFamily="18" charset="0"/>
                            </a:rPr>
                            <m:t>𝑻</m:t>
                          </m:r>
                        </m:sup>
                      </m:sSup>
                      <m:r>
                        <a:rPr lang="en-US" altLang="zh-CN" sz="2400" b="1" i="1">
                          <a:latin typeface="Cambria Math" panose="02040503050406030204" pitchFamily="18" charset="0"/>
                        </a:rPr>
                        <m:t>𝒚</m:t>
                      </m:r>
                      <m:r>
                        <a:rPr lang="en-US" altLang="zh-CN" sz="2400" b="1" i="1">
                          <a:latin typeface="Cambria Math" panose="02040503050406030204" pitchFamily="18" charset="0"/>
                        </a:rPr>
                        <m:t>≥</m:t>
                      </m:r>
                    </m:oMath>
                  </a14:m>
                  <a:r>
                    <a:rPr lang="en-US" altLang="zh-CN" sz="2400" b="1" dirty="0">
                      <a:latin typeface="Times New Roman" panose="02020603050405020304" pitchFamily="18" charset="0"/>
                    </a:rPr>
                    <a:t>C</a:t>
                  </a:r>
                </a:p>
              </p:txBody>
            </p:sp>
          </mc:Choice>
          <mc:Fallback xmlns="">
            <p:sp>
              <p:nvSpPr>
                <p:cNvPr id="15" name="矩形 14">
                  <a:extLst>
                    <a:ext uri="{FF2B5EF4-FFF2-40B4-BE49-F238E27FC236}">
                      <a16:creationId xmlns:a16="http://schemas.microsoft.com/office/drawing/2014/main" id="{DE8EDCCD-93EF-41EC-BEEC-D69BA2F791AF}"/>
                    </a:ext>
                  </a:extLst>
                </p:cNvPr>
                <p:cNvSpPr>
                  <a:spLocks noRot="1" noChangeAspect="1" noMove="1" noResize="1" noEditPoints="1" noAdjustHandles="1" noChangeArrowheads="1" noChangeShapeType="1" noTextEdit="1"/>
                </p:cNvSpPr>
                <p:nvPr/>
              </p:nvSpPr>
              <p:spPr>
                <a:xfrm>
                  <a:off x="6033133" y="3388984"/>
                  <a:ext cx="1257460" cy="468205"/>
                </a:xfrm>
                <a:prstGeom prst="rect">
                  <a:avLst/>
                </a:prstGeom>
                <a:blipFill>
                  <a:blip r:embed="rId7"/>
                  <a:stretch>
                    <a:fillRect l="-971" t="-9091" r="-6796"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9E1AFE62-6BAA-481E-AED7-2179CA2D4DD3}"/>
                    </a:ext>
                  </a:extLst>
                </p:cNvPr>
                <p:cNvSpPr/>
                <p:nvPr/>
              </p:nvSpPr>
              <p:spPr>
                <a:xfrm>
                  <a:off x="3785025" y="3395524"/>
                  <a:ext cx="10958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i="1">
                            <a:latin typeface="Cambria Math" panose="02040503050406030204" pitchFamily="18" charset="0"/>
                          </a:rPr>
                          <m:t>≥</m:t>
                        </m:r>
                        <m:r>
                          <a:rPr lang="zh-CN" altLang="en-US" sz="2400" i="1" smtClean="0">
                            <a:latin typeface="Cambria Math" panose="02040503050406030204" pitchFamily="18" charset="0"/>
                          </a:rPr>
                          <m:t> </m:t>
                        </m:r>
                        <m:r>
                          <a:rPr lang="en-US" altLang="zh-CN" sz="2400" b="1" i="1">
                            <a:latin typeface="Cambria Math" panose="02040503050406030204" pitchFamily="18" charset="0"/>
                          </a:rPr>
                          <m:t>𝟎</m:t>
                        </m:r>
                      </m:oMath>
                    </m:oMathPara>
                  </a14:m>
                  <a:endParaRPr lang="zh-CN" altLang="en-US" sz="2400" dirty="0"/>
                </a:p>
              </p:txBody>
            </p:sp>
          </mc:Choice>
          <mc:Fallback xmlns="">
            <p:sp>
              <p:nvSpPr>
                <p:cNvPr id="16" name="矩形 15">
                  <a:extLst>
                    <a:ext uri="{FF2B5EF4-FFF2-40B4-BE49-F238E27FC236}">
                      <a16:creationId xmlns:a16="http://schemas.microsoft.com/office/drawing/2014/main" id="{9E1AFE62-6BAA-481E-AED7-2179CA2D4DD3}"/>
                    </a:ext>
                  </a:extLst>
                </p:cNvPr>
                <p:cNvSpPr>
                  <a:spLocks noRot="1" noChangeAspect="1" noMove="1" noResize="1" noEditPoints="1" noAdjustHandles="1" noChangeArrowheads="1" noChangeShapeType="1" noTextEdit="1"/>
                </p:cNvSpPr>
                <p:nvPr/>
              </p:nvSpPr>
              <p:spPr>
                <a:xfrm>
                  <a:off x="3785025" y="3395524"/>
                  <a:ext cx="1095877" cy="461665"/>
                </a:xfrm>
                <a:prstGeom prst="rect">
                  <a:avLst/>
                </a:prstGeom>
                <a:blipFill>
                  <a:blip r:embed="rId8"/>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5CBCF0DA-C5E6-4EB9-A397-B3B6A771159C}"/>
                    </a:ext>
                  </a:extLst>
                </p:cNvPr>
                <p:cNvSpPr/>
                <p:nvPr/>
              </p:nvSpPr>
              <p:spPr>
                <a:xfrm>
                  <a:off x="5864877" y="3106891"/>
                  <a:ext cx="103252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𝑦</m:t>
                        </m:r>
                        <m:r>
                          <a:rPr lang="en-US" altLang="zh-CN" sz="2400" i="1">
                            <a:latin typeface="Cambria Math" panose="02040503050406030204" pitchFamily="18" charset="0"/>
                          </a:rPr>
                          <m:t>≥</m:t>
                        </m:r>
                        <m:r>
                          <a:rPr lang="en-US" altLang="zh-CN" sz="2400" b="1" i="1">
                            <a:latin typeface="Cambria Math" panose="02040503050406030204" pitchFamily="18" charset="0"/>
                          </a:rPr>
                          <m:t>𝟎</m:t>
                        </m:r>
                      </m:oMath>
                    </m:oMathPara>
                  </a14:m>
                  <a:endParaRPr lang="zh-CN" altLang="en-US" sz="2400" dirty="0"/>
                </a:p>
              </p:txBody>
            </p:sp>
          </mc:Choice>
          <mc:Fallback xmlns="">
            <p:sp>
              <p:nvSpPr>
                <p:cNvPr id="17" name="矩形 16">
                  <a:extLst>
                    <a:ext uri="{FF2B5EF4-FFF2-40B4-BE49-F238E27FC236}">
                      <a16:creationId xmlns:a16="http://schemas.microsoft.com/office/drawing/2014/main" id="{5CBCF0DA-C5E6-4EB9-A397-B3B6A771159C}"/>
                    </a:ext>
                  </a:extLst>
                </p:cNvPr>
                <p:cNvSpPr>
                  <a:spLocks noRot="1" noChangeAspect="1" noMove="1" noResize="1" noEditPoints="1" noAdjustHandles="1" noChangeArrowheads="1" noChangeShapeType="1" noTextEdit="1"/>
                </p:cNvSpPr>
                <p:nvPr/>
              </p:nvSpPr>
              <p:spPr>
                <a:xfrm>
                  <a:off x="5864877" y="3106891"/>
                  <a:ext cx="1032526" cy="461665"/>
                </a:xfrm>
                <a:prstGeom prst="rect">
                  <a:avLst/>
                </a:prstGeom>
                <a:blipFill>
                  <a:blip r:embed="rId9"/>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EA2CE7BD-739A-4E2A-92B3-2D5622DB252F}"/>
                    </a:ext>
                  </a:extLst>
                </p:cNvPr>
                <p:cNvSpPr/>
                <p:nvPr/>
              </p:nvSpPr>
              <p:spPr>
                <a:xfrm>
                  <a:off x="3860896" y="3080295"/>
                  <a:ext cx="1015021" cy="461665"/>
                </a:xfrm>
                <a:prstGeom prst="rect">
                  <a:avLst/>
                </a:prstGeom>
              </p:spPr>
              <p:txBody>
                <a:bodyPr wrap="none">
                  <a:spAutoFit/>
                </a:bodyPr>
                <a:lstStyle/>
                <a:p>
                  <a:pPr eaLnBrk="1" hangingPunct="1">
                    <a:buFont typeface="Wingdings" panose="05000000000000000000" pitchFamily="2" charset="2"/>
                    <a:buNone/>
                  </a:pPr>
                  <a:r>
                    <a:rPr lang="en-US" altLang="zh-CN" sz="2400" kern="0" dirty="0">
                      <a:latin typeface="Times New Roman" panose="02020603050405020304" pitchFamily="18" charset="0"/>
                    </a:rPr>
                    <a:t>AX</a:t>
                  </a:r>
                  <a14:m>
                    <m:oMath xmlns:m="http://schemas.openxmlformats.org/officeDocument/2006/math">
                      <m:r>
                        <a:rPr lang="en-US" altLang="zh-CN" sz="2400" i="1" kern="0">
                          <a:latin typeface="Cambria Math" panose="02040503050406030204" pitchFamily="18" charset="0"/>
                        </a:rPr>
                        <m:t>≤</m:t>
                      </m:r>
                    </m:oMath>
                  </a14:m>
                  <a:r>
                    <a:rPr lang="en-US" altLang="zh-CN" sz="2400" kern="0" dirty="0">
                      <a:latin typeface="Times New Roman" panose="02020603050405020304" pitchFamily="18" charset="0"/>
                    </a:rPr>
                    <a:t>b</a:t>
                  </a:r>
                </a:p>
              </p:txBody>
            </p:sp>
          </mc:Choice>
          <mc:Fallback xmlns="">
            <p:sp>
              <p:nvSpPr>
                <p:cNvPr id="18" name="矩形 17">
                  <a:extLst>
                    <a:ext uri="{FF2B5EF4-FFF2-40B4-BE49-F238E27FC236}">
                      <a16:creationId xmlns:a16="http://schemas.microsoft.com/office/drawing/2014/main" id="{EA2CE7BD-739A-4E2A-92B3-2D5622DB252F}"/>
                    </a:ext>
                  </a:extLst>
                </p:cNvPr>
                <p:cNvSpPr>
                  <a:spLocks noRot="1" noChangeAspect="1" noMove="1" noResize="1" noEditPoints="1" noAdjustHandles="1" noChangeArrowheads="1" noChangeShapeType="1" noTextEdit="1"/>
                </p:cNvSpPr>
                <p:nvPr/>
              </p:nvSpPr>
              <p:spPr>
                <a:xfrm>
                  <a:off x="3860896" y="3080295"/>
                  <a:ext cx="1015021" cy="461665"/>
                </a:xfrm>
                <a:prstGeom prst="rect">
                  <a:avLst/>
                </a:prstGeom>
                <a:blipFill>
                  <a:blip r:embed="rId10"/>
                  <a:stretch>
                    <a:fillRect l="-9639" t="-10526" r="-7229" b="-28947"/>
                  </a:stretch>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571">
                                            <p:txEl>
                                              <p:pRg st="1" end="1"/>
                                            </p:txEl>
                                          </p:spTgt>
                                        </p:tgtEl>
                                        <p:attrNameLst>
                                          <p:attrName>style.visibility</p:attrName>
                                        </p:attrNameLst>
                                      </p:cBhvr>
                                      <p:to>
                                        <p:strVal val="visible"/>
                                      </p:to>
                                    </p:set>
                                    <p:animEffect transition="in" filter="blinds(horizontal)">
                                      <p:cBhvr>
                                        <p:cTn id="7" dur="500"/>
                                        <p:tgtEl>
                                          <p:spTgt spid="1095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2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animEffect transition="in" filter="blinds(horizontal)">
                                      <p:cBhvr>
                                        <p:cTn id="27" dur="500"/>
                                        <p:tgtEl>
                                          <p:spTgt spid="11">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
                                            <p:txEl>
                                              <p:pRg st="3" end="3"/>
                                            </p:txEl>
                                          </p:spTgt>
                                        </p:tgtEl>
                                        <p:attrNameLst>
                                          <p:attrName>style.visibility</p:attrName>
                                        </p:attrNameLst>
                                      </p:cBhvr>
                                      <p:to>
                                        <p:strVal val="visible"/>
                                      </p:to>
                                    </p:set>
                                    <p:animEffect transition="in" filter="blinds(horizontal)">
                                      <p:cBhvr>
                                        <p:cTn id="32"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uiExpand="1" build="p"/>
      <p:bldP spid="5" grpId="0" animBg="1"/>
      <p:bldP spid="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a:extLst>
              <a:ext uri="{FF2B5EF4-FFF2-40B4-BE49-F238E27FC236}">
                <a16:creationId xmlns:a16="http://schemas.microsoft.com/office/drawing/2014/main" id="{F5797A11-A402-4837-9FA5-798F5976AF56}"/>
              </a:ext>
            </a:extLst>
          </p:cNvPr>
          <p:cNvSpPr>
            <a:spLocks noGrp="1" noChangeArrowheads="1"/>
          </p:cNvSpPr>
          <p:nvPr>
            <p:ph type="body" sz="half" idx="1"/>
          </p:nvPr>
        </p:nvSpPr>
        <p:spPr>
          <a:xfrm>
            <a:off x="457200" y="1343025"/>
            <a:ext cx="8229600" cy="1447800"/>
          </a:xfrm>
        </p:spPr>
        <p:txBody>
          <a:bodyPr/>
          <a:lstStyle/>
          <a:p>
            <a:pPr marL="533400" indent="-533400" eaLnBrk="1" hangingPunct="1">
              <a:buFont typeface="Wingdings" panose="05000000000000000000" pitchFamily="2" charset="2"/>
              <a:buAutoNum type="arabicPeriod"/>
            </a:pPr>
            <a:endParaRPr lang="zh-CN" altLang="en-US" sz="800"/>
          </a:p>
          <a:p>
            <a:pPr marL="533400" indent="-533400" eaLnBrk="1" hangingPunct="1">
              <a:buFont typeface="Wingdings" panose="05000000000000000000" pitchFamily="2" charset="2"/>
              <a:buNone/>
            </a:pPr>
            <a:r>
              <a:rPr lang="en-US" altLang="zh-CN" sz="2400">
                <a:latin typeface="Times New Roman" panose="02020603050405020304" pitchFamily="18" charset="0"/>
              </a:rPr>
              <a:t>4.    </a:t>
            </a:r>
            <a:r>
              <a:rPr lang="zh-CN" altLang="en-US" sz="2400">
                <a:solidFill>
                  <a:srgbClr val="FF0000"/>
                </a:solidFill>
              </a:rPr>
              <a:t>最优性定理</a:t>
            </a:r>
            <a:r>
              <a:rPr lang="zh-CN" altLang="en-US" sz="2400"/>
              <a:t>：（</a:t>
            </a:r>
            <a:r>
              <a:rPr lang="zh-CN" altLang="en-US" sz="2400">
                <a:latin typeface="Times New Roman" panose="02020603050405020304" pitchFamily="18" charset="0"/>
              </a:rPr>
              <a:t>可行解是最优解时的性质）设   是原问题的可行解，  是对偶问题的可行解，当             时，     </a:t>
            </a: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a:t>
            </a:r>
            <a:r>
              <a:rPr lang="zh-CN" altLang="en-US" sz="2400">
                <a:latin typeface="Times New Roman" panose="02020603050405020304" pitchFamily="18" charset="0"/>
              </a:rPr>
              <a:t>    是最优解（最优解一般记为</a:t>
            </a:r>
            <a:r>
              <a:rPr lang="en-US" altLang="zh-CN" sz="2400">
                <a:latin typeface="Times New Roman" panose="02020603050405020304" pitchFamily="18" charset="0"/>
              </a:rPr>
              <a:t>X</a:t>
            </a:r>
            <a:r>
              <a:rPr lang="zh-CN" altLang="en-US" sz="2400" baseline="30000">
                <a:latin typeface="Times New Roman" panose="02020603050405020304" pitchFamily="18" charset="0"/>
              </a:rPr>
              <a:t>*</a:t>
            </a:r>
            <a:r>
              <a:rPr lang="zh-CN" altLang="en-US" sz="2400">
                <a:latin typeface="Times New Roman" panose="02020603050405020304" pitchFamily="18" charset="0"/>
              </a:rPr>
              <a:t>，</a:t>
            </a:r>
            <a:r>
              <a:rPr lang="en-US" altLang="zh-CN" sz="2400">
                <a:latin typeface="Times New Roman" panose="02020603050405020304" pitchFamily="18" charset="0"/>
              </a:rPr>
              <a:t>Y</a:t>
            </a:r>
            <a:r>
              <a:rPr lang="zh-CN" altLang="en-US" sz="2400" baseline="30000">
                <a:latin typeface="Times New Roman" panose="02020603050405020304" pitchFamily="18" charset="0"/>
              </a:rPr>
              <a:t>*</a:t>
            </a:r>
            <a:r>
              <a:rPr lang="zh-CN" altLang="en-US" sz="2400">
                <a:latin typeface="Times New Roman" panose="02020603050405020304" pitchFamily="18" charset="0"/>
              </a:rPr>
              <a:t>） （</a:t>
            </a:r>
            <a:r>
              <a:rPr lang="en-US" altLang="zh-CN" sz="2400">
                <a:latin typeface="Times New Roman" panose="02020603050405020304" pitchFamily="18" charset="0"/>
              </a:rPr>
              <a:t>P69</a:t>
            </a:r>
            <a:r>
              <a:rPr lang="zh-CN" altLang="en-US" sz="2400">
                <a:latin typeface="Times New Roman" panose="02020603050405020304" pitchFamily="18" charset="0"/>
              </a:rPr>
              <a:t>）</a:t>
            </a:r>
          </a:p>
        </p:txBody>
      </p:sp>
      <p:grpSp>
        <p:nvGrpSpPr>
          <p:cNvPr id="45059" name="组合 3">
            <a:extLst>
              <a:ext uri="{FF2B5EF4-FFF2-40B4-BE49-F238E27FC236}">
                <a16:creationId xmlns:a16="http://schemas.microsoft.com/office/drawing/2014/main" id="{7881AD70-F148-4C51-952C-834E4C481E5F}"/>
              </a:ext>
            </a:extLst>
          </p:cNvPr>
          <p:cNvGrpSpPr>
            <a:grpSpLocks/>
          </p:cNvGrpSpPr>
          <p:nvPr/>
        </p:nvGrpSpPr>
        <p:grpSpPr bwMode="auto">
          <a:xfrm>
            <a:off x="1066800" y="1524000"/>
            <a:ext cx="6408738" cy="1200150"/>
            <a:chOff x="1066800" y="1524000"/>
            <a:chExt cx="6408738" cy="1200012"/>
          </a:xfrm>
        </p:grpSpPr>
        <p:graphicFrame>
          <p:nvGraphicFramePr>
            <p:cNvPr id="45070" name="对象 14">
              <a:extLst>
                <a:ext uri="{FF2B5EF4-FFF2-40B4-BE49-F238E27FC236}">
                  <a16:creationId xmlns:a16="http://schemas.microsoft.com/office/drawing/2014/main" id="{6FB169C0-9667-4981-AAAB-5C09BCE52009}"/>
                </a:ext>
              </a:extLst>
            </p:cNvPr>
            <p:cNvGraphicFramePr>
              <a:graphicFrameLocks noChangeAspect="1"/>
            </p:cNvGraphicFramePr>
            <p:nvPr/>
          </p:nvGraphicFramePr>
          <p:xfrm>
            <a:off x="7162800" y="1524000"/>
            <a:ext cx="312738" cy="376238"/>
          </p:xfrm>
          <a:graphic>
            <a:graphicData uri="http://schemas.openxmlformats.org/presentationml/2006/ole">
              <mc:AlternateContent xmlns:mc="http://schemas.openxmlformats.org/markup-compatibility/2006">
                <mc:Choice xmlns:v="urn:schemas-microsoft-com:vml" Requires="v">
                  <p:oleObj spid="_x0000_s45404" name="Equation" r:id="rId4" imgW="126835" imgH="152202" progId="Equation.DSMT4">
                    <p:embed/>
                  </p:oleObj>
                </mc:Choice>
                <mc:Fallback>
                  <p:oleObj name="Equation" r:id="rId4" imgW="126835" imgH="152202" progId="Equation.DSMT4">
                    <p:embed/>
                    <p:pic>
                      <p:nvPicPr>
                        <p:cNvPr id="0" name="对象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2800" y="1524000"/>
                          <a:ext cx="312738"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71" name="对象 15">
              <a:extLst>
                <a:ext uri="{FF2B5EF4-FFF2-40B4-BE49-F238E27FC236}">
                  <a16:creationId xmlns:a16="http://schemas.microsoft.com/office/drawing/2014/main" id="{6B19B3F6-4487-46DA-81C3-4104D8CFCE28}"/>
                </a:ext>
              </a:extLst>
            </p:cNvPr>
            <p:cNvGraphicFramePr>
              <a:graphicFrameLocks noChangeAspect="1"/>
            </p:cNvGraphicFramePr>
            <p:nvPr/>
          </p:nvGraphicFramePr>
          <p:xfrm>
            <a:off x="2763741" y="1921883"/>
            <a:ext cx="312738" cy="376237"/>
          </p:xfrm>
          <a:graphic>
            <a:graphicData uri="http://schemas.openxmlformats.org/presentationml/2006/ole">
              <mc:AlternateContent xmlns:mc="http://schemas.openxmlformats.org/markup-compatibility/2006">
                <mc:Choice xmlns:v="urn:schemas-microsoft-com:vml" Requires="v">
                  <p:oleObj spid="_x0000_s45405" name="Equation" r:id="rId6" imgW="126835" imgH="152202" progId="Equation.DSMT4">
                    <p:embed/>
                  </p:oleObj>
                </mc:Choice>
                <mc:Fallback>
                  <p:oleObj name="Equation" r:id="rId6" imgW="126835" imgH="152202" progId="Equation.DSMT4">
                    <p:embed/>
                    <p:pic>
                      <p:nvPicPr>
                        <p:cNvPr id="0" name="对象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63741" y="1921883"/>
                          <a:ext cx="312738"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72" name="对象 16">
              <a:extLst>
                <a:ext uri="{FF2B5EF4-FFF2-40B4-BE49-F238E27FC236}">
                  <a16:creationId xmlns:a16="http://schemas.microsoft.com/office/drawing/2014/main" id="{AC21A638-61A0-41BC-88AB-FC3A4793C0D7}"/>
                </a:ext>
              </a:extLst>
            </p:cNvPr>
            <p:cNvGraphicFramePr>
              <a:graphicFrameLocks noChangeAspect="1"/>
            </p:cNvGraphicFramePr>
            <p:nvPr/>
          </p:nvGraphicFramePr>
          <p:xfrm>
            <a:off x="6477000" y="1905000"/>
            <a:ext cx="938212" cy="407988"/>
          </p:xfrm>
          <a:graphic>
            <a:graphicData uri="http://schemas.openxmlformats.org/presentationml/2006/ole">
              <mc:AlternateContent xmlns:mc="http://schemas.openxmlformats.org/markup-compatibility/2006">
                <mc:Choice xmlns:v="urn:schemas-microsoft-com:vml" Requires="v">
                  <p:oleObj spid="_x0000_s45406" name="Equation" r:id="rId8" imgW="380835" imgH="165028" progId="Equation.DSMT4">
                    <p:embed/>
                  </p:oleObj>
                </mc:Choice>
                <mc:Fallback>
                  <p:oleObj name="Equation" r:id="rId8" imgW="380835" imgH="165028" progId="Equation.DSMT4">
                    <p:embed/>
                    <p:pic>
                      <p:nvPicPr>
                        <p:cNvPr id="0" name="对象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1905000"/>
                          <a:ext cx="938212"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73" name="对象 18">
              <a:extLst>
                <a:ext uri="{FF2B5EF4-FFF2-40B4-BE49-F238E27FC236}">
                  <a16:creationId xmlns:a16="http://schemas.microsoft.com/office/drawing/2014/main" id="{2B1A7FF5-78F5-4573-AB9E-9C8221451BDD}"/>
                </a:ext>
              </a:extLst>
            </p:cNvPr>
            <p:cNvGraphicFramePr>
              <a:graphicFrameLocks noChangeAspect="1"/>
            </p:cNvGraphicFramePr>
            <p:nvPr/>
          </p:nvGraphicFramePr>
          <p:xfrm>
            <a:off x="1066800" y="2347774"/>
            <a:ext cx="312738" cy="376238"/>
          </p:xfrm>
          <a:graphic>
            <a:graphicData uri="http://schemas.openxmlformats.org/presentationml/2006/ole">
              <mc:AlternateContent xmlns:mc="http://schemas.openxmlformats.org/markup-compatibility/2006">
                <mc:Choice xmlns:v="urn:schemas-microsoft-com:vml" Requires="v">
                  <p:oleObj spid="_x0000_s45407" name="Equation" r:id="rId10" imgW="126835" imgH="152202" progId="Equation.DSMT4">
                    <p:embed/>
                  </p:oleObj>
                </mc:Choice>
                <mc:Fallback>
                  <p:oleObj name="Equation" r:id="rId10" imgW="126835" imgH="152202" progId="Equation.DSMT4">
                    <p:embed/>
                    <p:pic>
                      <p:nvPicPr>
                        <p:cNvPr id="0" name="对象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347774"/>
                          <a:ext cx="312738"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74" name="对象 19">
              <a:extLst>
                <a:ext uri="{FF2B5EF4-FFF2-40B4-BE49-F238E27FC236}">
                  <a16:creationId xmlns:a16="http://schemas.microsoft.com/office/drawing/2014/main" id="{23DA0646-FBD1-41B6-8FB9-3638F409AB60}"/>
                </a:ext>
              </a:extLst>
            </p:cNvPr>
            <p:cNvGraphicFramePr>
              <a:graphicFrameLocks noChangeAspect="1"/>
            </p:cNvGraphicFramePr>
            <p:nvPr/>
          </p:nvGraphicFramePr>
          <p:xfrm>
            <a:off x="1447800" y="2347774"/>
            <a:ext cx="312738" cy="376237"/>
          </p:xfrm>
          <a:graphic>
            <a:graphicData uri="http://schemas.openxmlformats.org/presentationml/2006/ole">
              <mc:AlternateContent xmlns:mc="http://schemas.openxmlformats.org/markup-compatibility/2006">
                <mc:Choice xmlns:v="urn:schemas-microsoft-com:vml" Requires="v">
                  <p:oleObj spid="_x0000_s45408" name="Equation" r:id="rId11" imgW="126835" imgH="152202" progId="Equation.DSMT4">
                    <p:embed/>
                  </p:oleObj>
                </mc:Choice>
                <mc:Fallback>
                  <p:oleObj name="Equation" r:id="rId11" imgW="126835" imgH="152202" progId="Equation.DSMT4">
                    <p:embed/>
                    <p:pic>
                      <p:nvPicPr>
                        <p:cNvPr id="0" name="对象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 y="2347774"/>
                          <a:ext cx="312738"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5060" name="Rectangle 2">
            <a:extLst>
              <a:ext uri="{FF2B5EF4-FFF2-40B4-BE49-F238E27FC236}">
                <a16:creationId xmlns:a16="http://schemas.microsoft.com/office/drawing/2014/main" id="{50103760-0A84-4045-BE4A-87B36E8AA716}"/>
              </a:ext>
            </a:extLst>
          </p:cNvPr>
          <p:cNvSpPr>
            <a:spLocks noGrp="1" noChangeArrowheads="1"/>
          </p:cNvSpPr>
          <p:nvPr>
            <p:ph type="title"/>
          </p:nvPr>
        </p:nvSpPr>
        <p:spPr/>
        <p:txBody>
          <a:bodyPr/>
          <a:lstStyle/>
          <a:p>
            <a:pPr eaLnBrk="1" hangingPunct="1"/>
            <a:r>
              <a:rPr lang="zh-CN" altLang="en-US" dirty="0"/>
              <a:t>对偶问题基本性质</a:t>
            </a:r>
            <a:r>
              <a:rPr lang="en-US" altLang="zh-CN" dirty="0"/>
              <a:t>(4)</a:t>
            </a:r>
            <a:endParaRPr lang="zh-CN" altLang="en-US" dirty="0"/>
          </a:p>
        </p:txBody>
      </p:sp>
      <p:sp>
        <p:nvSpPr>
          <p:cNvPr id="11" name="Line 2">
            <a:extLst>
              <a:ext uri="{FF2B5EF4-FFF2-40B4-BE49-F238E27FC236}">
                <a16:creationId xmlns:a16="http://schemas.microsoft.com/office/drawing/2014/main" id="{1739E2DF-D069-44A5-AF38-83CDA7E0B271}"/>
              </a:ext>
            </a:extLst>
          </p:cNvPr>
          <p:cNvSpPr>
            <a:spLocks noChangeShapeType="1"/>
          </p:cNvSpPr>
          <p:nvPr/>
        </p:nvSpPr>
        <p:spPr bwMode="auto">
          <a:xfrm>
            <a:off x="1752600" y="4038600"/>
            <a:ext cx="57912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AutoShape 4">
            <a:extLst>
              <a:ext uri="{FF2B5EF4-FFF2-40B4-BE49-F238E27FC236}">
                <a16:creationId xmlns:a16="http://schemas.microsoft.com/office/drawing/2014/main" id="{9AA2C20E-D8ED-4767-9EF4-D1ABDC91B285}"/>
              </a:ext>
            </a:extLst>
          </p:cNvPr>
          <p:cNvSpPr>
            <a:spLocks noChangeArrowheads="1"/>
          </p:cNvSpPr>
          <p:nvPr/>
        </p:nvSpPr>
        <p:spPr bwMode="auto">
          <a:xfrm>
            <a:off x="2514600" y="3505200"/>
            <a:ext cx="1600200" cy="1066800"/>
          </a:xfrm>
          <a:prstGeom prst="rightArrowCallout">
            <a:avLst>
              <a:gd name="adj1" fmla="val 25000"/>
              <a:gd name="adj2" fmla="val 25000"/>
              <a:gd name="adj3" fmla="val 25000"/>
              <a:gd name="adj4" fmla="val 66667"/>
            </a:avLst>
          </a:prstGeom>
          <a:solidFill>
            <a:srgbClr val="FFCC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原问题</a:t>
            </a:r>
          </a:p>
        </p:txBody>
      </p:sp>
      <p:sp>
        <p:nvSpPr>
          <p:cNvPr id="13" name="AutoShape 5">
            <a:extLst>
              <a:ext uri="{FF2B5EF4-FFF2-40B4-BE49-F238E27FC236}">
                <a16:creationId xmlns:a16="http://schemas.microsoft.com/office/drawing/2014/main" id="{7EDBE59D-4FDF-4B8B-865C-02B40A663288}"/>
              </a:ext>
            </a:extLst>
          </p:cNvPr>
          <p:cNvSpPr>
            <a:spLocks noChangeArrowheads="1"/>
          </p:cNvSpPr>
          <p:nvPr/>
        </p:nvSpPr>
        <p:spPr bwMode="auto">
          <a:xfrm>
            <a:off x="4114800" y="3505200"/>
            <a:ext cx="2133600" cy="1066800"/>
          </a:xfrm>
          <a:prstGeom prst="leftArrowCallout">
            <a:avLst>
              <a:gd name="adj1" fmla="val 25000"/>
              <a:gd name="adj2" fmla="val 25000"/>
              <a:gd name="adj3" fmla="val 33333"/>
              <a:gd name="adj4" fmla="val 66667"/>
            </a:avLst>
          </a:prstGeom>
          <a:solidFill>
            <a:srgbClr val="FFFF9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对偶问题</a:t>
            </a:r>
          </a:p>
        </p:txBody>
      </p:sp>
      <p:sp>
        <p:nvSpPr>
          <p:cNvPr id="14" name="Oval 6">
            <a:extLst>
              <a:ext uri="{FF2B5EF4-FFF2-40B4-BE49-F238E27FC236}">
                <a16:creationId xmlns:a16="http://schemas.microsoft.com/office/drawing/2014/main" id="{AFE9D81E-34DD-48AA-9FD9-F1BE0092BD10}"/>
              </a:ext>
            </a:extLst>
          </p:cNvPr>
          <p:cNvSpPr>
            <a:spLocks noChangeArrowheads="1"/>
          </p:cNvSpPr>
          <p:nvPr/>
        </p:nvSpPr>
        <p:spPr bwMode="auto">
          <a:xfrm>
            <a:off x="4038600" y="3962400"/>
            <a:ext cx="152400" cy="152400"/>
          </a:xfrm>
          <a:prstGeom prst="ellipse">
            <a:avLst/>
          </a:prstGeom>
          <a:solidFill>
            <a:srgbClr val="FF3300"/>
          </a:solidFill>
          <a:ln w="9525">
            <a:solidFill>
              <a:srgbClr val="FF00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 name="对象 2">
            <a:extLst>
              <a:ext uri="{FF2B5EF4-FFF2-40B4-BE49-F238E27FC236}">
                <a16:creationId xmlns:a16="http://schemas.microsoft.com/office/drawing/2014/main" id="{2A718FA6-93BD-4839-B25C-2079385BFE30}"/>
              </a:ext>
            </a:extLst>
          </p:cNvPr>
          <p:cNvGraphicFramePr>
            <a:graphicFrameLocks noChangeAspect="1"/>
          </p:cNvGraphicFramePr>
          <p:nvPr/>
        </p:nvGraphicFramePr>
        <p:xfrm>
          <a:off x="3659188" y="3017838"/>
          <a:ext cx="1063625" cy="407987"/>
        </p:xfrm>
        <a:graphic>
          <a:graphicData uri="http://schemas.openxmlformats.org/presentationml/2006/ole">
            <mc:AlternateContent xmlns:mc="http://schemas.openxmlformats.org/markup-compatibility/2006">
              <mc:Choice xmlns:v="urn:schemas-microsoft-com:vml" Requires="v">
                <p:oleObj spid="_x0000_s45409" name="Equation" r:id="rId12" imgW="431613" imgH="165028" progId="Equation.DSMT4">
                  <p:embed/>
                </p:oleObj>
              </mc:Choice>
              <mc:Fallback>
                <p:oleObj name="Equation" r:id="rId12" imgW="431613" imgH="165028" progId="Equation.DSMT4">
                  <p:embed/>
                  <p:pic>
                    <p:nvPicPr>
                      <p:cNvPr id="0" name="对象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9188" y="3017838"/>
                        <a:ext cx="10636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3">
            <a:extLst>
              <a:ext uri="{FF2B5EF4-FFF2-40B4-BE49-F238E27FC236}">
                <a16:creationId xmlns:a16="http://schemas.microsoft.com/office/drawing/2014/main" id="{0C69C17E-2E82-416F-822C-F8C61BFE05CC}"/>
              </a:ext>
            </a:extLst>
          </p:cNvPr>
          <p:cNvGrpSpPr>
            <a:grpSpLocks/>
          </p:cNvGrpSpPr>
          <p:nvPr/>
        </p:nvGrpSpPr>
        <p:grpSpPr bwMode="auto">
          <a:xfrm>
            <a:off x="2743200" y="4724400"/>
            <a:ext cx="3048000" cy="762000"/>
            <a:chOff x="2743200" y="4648200"/>
            <a:chExt cx="3048000" cy="762000"/>
          </a:xfrm>
        </p:grpSpPr>
        <p:sp>
          <p:nvSpPr>
            <p:cNvPr id="45068" name="AutoShape 9">
              <a:extLst>
                <a:ext uri="{FF2B5EF4-FFF2-40B4-BE49-F238E27FC236}">
                  <a16:creationId xmlns:a16="http://schemas.microsoft.com/office/drawing/2014/main" id="{664111A2-FC44-4B98-845C-CFEAD0436E57}"/>
                </a:ext>
              </a:extLst>
            </p:cNvPr>
            <p:cNvSpPr>
              <a:spLocks noChangeArrowheads="1"/>
            </p:cNvSpPr>
            <p:nvPr/>
          </p:nvSpPr>
          <p:spPr bwMode="auto">
            <a:xfrm>
              <a:off x="2743200" y="4648200"/>
              <a:ext cx="3048000" cy="762000"/>
            </a:xfrm>
            <a:prstGeom prst="wedgeEllipseCallout">
              <a:avLst>
                <a:gd name="adj1" fmla="val -5000"/>
                <a:gd name="adj2" fmla="val -128958"/>
              </a:avLst>
            </a:prstGeom>
            <a:solidFill>
              <a:srgbClr val="FFCC99"/>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p>
          </p:txBody>
        </p:sp>
        <p:graphicFrame>
          <p:nvGraphicFramePr>
            <p:cNvPr id="45069" name="对象 15">
              <a:extLst>
                <a:ext uri="{FF2B5EF4-FFF2-40B4-BE49-F238E27FC236}">
                  <a16:creationId xmlns:a16="http://schemas.microsoft.com/office/drawing/2014/main" id="{E10A4A59-DB0A-4AAF-B107-FC2A26A89B23}"/>
                </a:ext>
              </a:extLst>
            </p:cNvPr>
            <p:cNvGraphicFramePr>
              <a:graphicFrameLocks noChangeAspect="1"/>
            </p:cNvGraphicFramePr>
            <p:nvPr/>
          </p:nvGraphicFramePr>
          <p:xfrm>
            <a:off x="3657600" y="4854575"/>
            <a:ext cx="1219200" cy="406400"/>
          </p:xfrm>
          <a:graphic>
            <a:graphicData uri="http://schemas.openxmlformats.org/presentationml/2006/ole">
              <mc:AlternateContent xmlns:mc="http://schemas.openxmlformats.org/markup-compatibility/2006">
                <mc:Choice xmlns:v="urn:schemas-microsoft-com:vml" Requires="v">
                  <p:oleObj spid="_x0000_s45410" name="Equation" r:id="rId14" imgW="494870" imgH="164957" progId="Equation.DSMT4">
                    <p:embed/>
                  </p:oleObj>
                </mc:Choice>
                <mc:Fallback>
                  <p:oleObj name="Equation" r:id="rId14" imgW="494870" imgH="164957" progId="Equation.DSMT4">
                    <p:embed/>
                    <p:pic>
                      <p:nvPicPr>
                        <p:cNvPr id="0" name="对象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57600" y="4854575"/>
                          <a:ext cx="12192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1" name="矩形 20">
            <a:extLst>
              <a:ext uri="{FF2B5EF4-FFF2-40B4-BE49-F238E27FC236}">
                <a16:creationId xmlns:a16="http://schemas.microsoft.com/office/drawing/2014/main" id="{ED9C936F-F1CA-4417-BF3A-4D50FBFBF748}"/>
              </a:ext>
            </a:extLst>
          </p:cNvPr>
          <p:cNvSpPr>
            <a:spLocks noChangeArrowheads="1"/>
          </p:cNvSpPr>
          <p:nvPr/>
        </p:nvSpPr>
        <p:spPr bwMode="auto">
          <a:xfrm>
            <a:off x="2133600" y="5692775"/>
            <a:ext cx="4514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rPr>
              <a:t>对偶单纯形法的理论基础之一</a:t>
            </a:r>
            <a:r>
              <a:rPr lang="en-US" altLang="zh-CN" sz="2400" b="1">
                <a:solidFill>
                  <a:srgbClr val="FF0000"/>
                </a:solidFill>
              </a:rPr>
              <a:t>!!!</a:t>
            </a:r>
            <a:endParaRPr lang="zh-CN" altLang="en-US" sz="24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1+#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ox(out)">
                                      <p:cBhvr>
                                        <p:cTn id="27" dur="500"/>
                                        <p:tgtEl>
                                          <p:spTgt spid="14"/>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4" presetClass="entr" presetSubtype="10" fill="hold" nodeType="clickEffect">
                                  <p:stCondLst>
                                    <p:cond delay="0"/>
                                  </p:stCondLst>
                                  <p:childTnLst>
                                    <p:set>
                                      <p:cBhvr>
                                        <p:cTn id="35" dur="1" fill="hold">
                                          <p:stCondLst>
                                            <p:cond delay="0"/>
                                          </p:stCondLst>
                                        </p:cTn>
                                        <p:tgtEl>
                                          <p:spTgt spid="21">
                                            <p:txEl>
                                              <p:pRg st="0" end="0"/>
                                            </p:txEl>
                                          </p:spTgt>
                                        </p:tgtEl>
                                        <p:attrNameLst>
                                          <p:attrName>style.visibility</p:attrName>
                                        </p:attrNameLst>
                                      </p:cBhvr>
                                      <p:to>
                                        <p:strVal val="visible"/>
                                      </p:to>
                                    </p:set>
                                    <p:animEffect transition="in" filter="randombar(horizontal)">
                                      <p:cBhvr>
                                        <p:cTn id="36"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P spid="13" grpId="0" animBg="1" autoUpdateAnimBg="0"/>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6936645-FED1-4950-9B48-DE6ADA948EF3}"/>
              </a:ext>
            </a:extLst>
          </p:cNvPr>
          <p:cNvSpPr>
            <a:spLocks noGrp="1"/>
          </p:cNvSpPr>
          <p:nvPr>
            <p:ph type="title"/>
          </p:nvPr>
        </p:nvSpPr>
        <p:spPr/>
        <p:txBody>
          <a:bodyPr/>
          <a:lstStyle/>
          <a:p>
            <a:r>
              <a:rPr lang="zh-CN" altLang="en-US" dirty="0"/>
              <a:t>证明</a:t>
            </a:r>
          </a:p>
        </p:txBody>
      </p:sp>
      <mc:AlternateContent xmlns:mc="http://schemas.openxmlformats.org/markup-compatibility/2006" xmlns:a14="http://schemas.microsoft.com/office/drawing/2010/main">
        <mc:Choice Requires="a14">
          <p:sp>
            <p:nvSpPr>
              <p:cNvPr id="14" name="内容占位符 13">
                <a:extLst>
                  <a:ext uri="{FF2B5EF4-FFF2-40B4-BE49-F238E27FC236}">
                    <a16:creationId xmlns:a16="http://schemas.microsoft.com/office/drawing/2014/main" id="{C425AE56-ABA3-4686-A2FA-9D64844B1F85}"/>
                  </a:ext>
                </a:extLst>
              </p:cNvPr>
              <p:cNvSpPr>
                <a:spLocks noGrp="1"/>
              </p:cNvSpPr>
              <p:nvPr>
                <p:ph idx="1"/>
              </p:nvPr>
            </p:nvSpPr>
            <p:spPr>
              <a:xfrm>
                <a:off x="457200" y="1600200"/>
                <a:ext cx="8229600" cy="4530725"/>
              </a:xfrm>
            </p:spPr>
            <p:txBody>
              <a:bodyPr/>
              <a:lstStyle/>
              <a:p>
                <a:r>
                  <a:rPr lang="zh-CN" altLang="en-US" dirty="0"/>
                  <a:t>由弱对偶性</a:t>
                </a:r>
                <a:endParaRPr lang="en-US" altLang="zh-CN" dirty="0"/>
              </a:p>
              <a:p>
                <a:r>
                  <a:rPr lang="zh-CN" altLang="en-US" dirty="0"/>
                  <a:t>有</a:t>
                </a:r>
                <a14:m>
                  <m:oMath xmlns:m="http://schemas.openxmlformats.org/officeDocument/2006/math">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𝒄</m:t>
                        </m:r>
                      </m:e>
                      <m:sup>
                        <m:r>
                          <a:rPr lang="en-US" altLang="zh-CN" b="1" i="1" smtClean="0">
                            <a:latin typeface="Cambria Math" panose="02040503050406030204" pitchFamily="18" charset="0"/>
                          </a:rPr>
                          <m:t>𝑻</m:t>
                        </m:r>
                      </m:sup>
                    </m:sSup>
                    <m:r>
                      <a:rPr lang="en-US" altLang="zh-CN" b="1" i="1" smtClean="0">
                        <a:latin typeface="Cambria Math" panose="02040503050406030204" pitchFamily="18" charset="0"/>
                      </a:rPr>
                      <m:t>𝒙</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𝒃</m:t>
                        </m:r>
                      </m:e>
                      <m:sup>
                        <m:r>
                          <a:rPr lang="en-US" altLang="zh-CN" b="1" i="1" smtClean="0">
                            <a:latin typeface="Cambria Math" panose="02040503050406030204" pitchFamily="18" charset="0"/>
                          </a:rPr>
                          <m:t>𝑻</m:t>
                        </m:r>
                      </m:sup>
                    </m:sSup>
                    <m:r>
                      <a:rPr lang="en-US" altLang="zh-CN" b="1" i="1" smtClean="0">
                        <a:latin typeface="Cambria Math" panose="02040503050406030204" pitchFamily="18" charset="0"/>
                      </a:rPr>
                      <m:t>𝒚</m:t>
                    </m:r>
                  </m:oMath>
                </a14:m>
                <a:r>
                  <a:rPr lang="en-US" altLang="zh-CN" dirty="0"/>
                  <a:t>, </a:t>
                </a:r>
                <a14:m>
                  <m:oMath xmlns:m="http://schemas.openxmlformats.org/officeDocument/2006/math">
                    <m:r>
                      <a:rPr lang="en-US" altLang="zh-CN" b="1" i="1" smtClean="0">
                        <a:latin typeface="Cambria Math" panose="02040503050406030204" pitchFamily="18" charset="0"/>
                      </a:rPr>
                      <m:t>∀</m:t>
                    </m:r>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zh-CN" altLang="en-US" i="1">
                        <a:latin typeface="Cambria Math" panose="02040503050406030204" pitchFamily="18" charset="0"/>
                      </a:rPr>
                      <m:t>可行解</m:t>
                    </m:r>
                  </m:oMath>
                </a14:m>
                <a:endParaRPr lang="en-US" altLang="zh-CN" dirty="0"/>
              </a:p>
              <a:p>
                <a:r>
                  <a:rPr lang="zh-CN" altLang="en-US" dirty="0"/>
                  <a:t>现有</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𝒃</m:t>
                        </m:r>
                      </m:e>
                      <m:sup>
                        <m:r>
                          <a:rPr lang="en-US" altLang="zh-CN" i="1">
                            <a:latin typeface="Cambria Math" panose="02040503050406030204" pitchFamily="18" charset="0"/>
                          </a:rPr>
                          <m:t>𝑻</m:t>
                        </m:r>
                      </m:sup>
                    </m:sSup>
                    <m:r>
                      <a:rPr lang="en-US" altLang="zh-CN" i="1">
                        <a:latin typeface="Cambria Math" panose="02040503050406030204" pitchFamily="18" charset="0"/>
                      </a:rPr>
                      <m:t>𝒚</m:t>
                    </m:r>
                    <m:r>
                      <a:rPr lang="en-US" altLang="zh-CN" b="1"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𝒄</m:t>
                        </m:r>
                      </m:e>
                      <m:sup>
                        <m:r>
                          <a:rPr lang="en-US" altLang="zh-CN" i="1">
                            <a:latin typeface="Cambria Math" panose="02040503050406030204" pitchFamily="18" charset="0"/>
                          </a:rPr>
                          <m:t>𝑻</m:t>
                        </m:r>
                      </m:sup>
                    </m:sSup>
                    <m:sSup>
                      <m:sSupPr>
                        <m:ctrlPr>
                          <a:rPr lang="en-US" altLang="zh-CN" b="1" i="1" smtClean="0">
                            <a:latin typeface="Cambria Math" panose="02040503050406030204" pitchFamily="18" charset="0"/>
                          </a:rPr>
                        </m:ctrlPr>
                      </m:sSupPr>
                      <m:e>
                        <m:r>
                          <a:rPr lang="en-US" altLang="zh-CN" i="1">
                            <a:latin typeface="Cambria Math" panose="02040503050406030204" pitchFamily="18" charset="0"/>
                          </a:rPr>
                          <m:t>𝒙</m:t>
                        </m:r>
                      </m:e>
                      <m:sup>
                        <m:r>
                          <a:rPr lang="en-US" altLang="zh-CN" b="1" i="0" smtClean="0">
                            <a:latin typeface="Cambria Math" panose="02040503050406030204" pitchFamily="18" charset="0"/>
                          </a:rPr>
                          <m:t>∗</m:t>
                        </m:r>
                      </m:sup>
                    </m:sSup>
                  </m:oMath>
                </a14:m>
                <a:r>
                  <a:rPr lang="en-US" altLang="zh-CN" dirty="0"/>
                  <a:t>,</a:t>
                </a:r>
                <a:r>
                  <a:rPr lang="zh-CN" altLang="en-US" dirty="0"/>
                  <a:t>则</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𝒄</m:t>
                        </m:r>
                      </m:e>
                      <m:sup>
                        <m:r>
                          <a:rPr lang="en-US" altLang="zh-CN" i="1">
                            <a:latin typeface="Cambria Math" panose="02040503050406030204" pitchFamily="18" charset="0"/>
                          </a:rPr>
                          <m:t>𝑻</m:t>
                        </m:r>
                      </m:sup>
                    </m:sSup>
                    <m:r>
                      <a:rPr lang="en-US" altLang="zh-CN" i="1">
                        <a:latin typeface="Cambria Math" panose="02040503050406030204" pitchFamily="18" charset="0"/>
                      </a:rPr>
                      <m:t>𝒙</m:t>
                    </m:r>
                    <m:r>
                      <a:rPr lang="en-US" altLang="zh-CN" b="1"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𝒄</m:t>
                        </m:r>
                      </m:e>
                      <m:sup>
                        <m:r>
                          <a:rPr lang="en-US" altLang="zh-CN" i="1">
                            <a:latin typeface="Cambria Math" panose="02040503050406030204" pitchFamily="18" charset="0"/>
                          </a:rPr>
                          <m:t>𝑻</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𝒙</m:t>
                        </m:r>
                      </m:e>
                      <m:sup>
                        <m:r>
                          <a:rPr lang="en-US" altLang="zh-CN">
                            <a:latin typeface="Cambria Math" panose="02040503050406030204" pitchFamily="18" charset="0"/>
                          </a:rPr>
                          <m:t>∗</m:t>
                        </m:r>
                      </m:sup>
                    </m:sSup>
                  </m:oMath>
                </a14:m>
                <a:endParaRPr lang="en-US" altLang="zh-CN" dirty="0"/>
              </a:p>
              <a:p>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𝒙</m:t>
                        </m:r>
                      </m:e>
                      <m:sup>
                        <m:r>
                          <a:rPr lang="en-US" altLang="zh-CN">
                            <a:latin typeface="Cambria Math" panose="02040503050406030204" pitchFamily="18" charset="0"/>
                          </a:rPr>
                          <m:t>∗</m:t>
                        </m:r>
                      </m:sup>
                    </m:sSup>
                    <m:r>
                      <a:rPr lang="zh-CN" altLang="en-US" i="1">
                        <a:latin typeface="Cambria Math" panose="02040503050406030204" pitchFamily="18" charset="0"/>
                      </a:rPr>
                      <m:t>为</m:t>
                    </m:r>
                  </m:oMath>
                </a14:m>
                <a:r>
                  <a:rPr lang="zh-CN" altLang="en-US" dirty="0"/>
                  <a:t>原问题最优解</a:t>
                </a:r>
                <a:endParaRPr lang="en-US" altLang="zh-CN" dirty="0"/>
              </a:p>
              <a:p>
                <a:endParaRPr lang="en-US" altLang="zh-CN" dirty="0"/>
              </a:p>
              <a:p>
                <a:r>
                  <a:rPr lang="zh-CN" altLang="en-US" dirty="0"/>
                  <a:t>有</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𝒄</m:t>
                        </m:r>
                      </m:e>
                      <m:sup>
                        <m:r>
                          <a:rPr lang="en-US" altLang="zh-CN" i="1">
                            <a:latin typeface="Cambria Math" panose="02040503050406030204" pitchFamily="18" charset="0"/>
                          </a:rPr>
                          <m:t>𝑻</m:t>
                        </m:r>
                      </m:sup>
                    </m:sSup>
                    <m:r>
                      <a:rPr lang="en-US" altLang="zh-CN" i="1">
                        <a:latin typeface="Cambria Math" panose="02040503050406030204" pitchFamily="18" charset="0"/>
                      </a:rPr>
                      <m:t>𝒙</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𝒃</m:t>
                        </m:r>
                      </m:e>
                      <m:sup>
                        <m:r>
                          <a:rPr lang="en-US" altLang="zh-CN" i="1">
                            <a:latin typeface="Cambria Math" panose="02040503050406030204" pitchFamily="18" charset="0"/>
                          </a:rPr>
                          <m:t>𝑻</m:t>
                        </m:r>
                      </m:sup>
                    </m:sSup>
                    <m:r>
                      <a:rPr lang="en-US" altLang="zh-CN" i="1">
                        <a:latin typeface="Cambria Math" panose="02040503050406030204" pitchFamily="18" charset="0"/>
                      </a:rPr>
                      <m:t>𝒚</m:t>
                    </m:r>
                  </m:oMath>
                </a14:m>
                <a:r>
                  <a:rPr lang="en-US" altLang="zh-CN" dirty="0"/>
                  <a:t>, </a:t>
                </a: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𝒙</m:t>
                    </m:r>
                    <m:r>
                      <a:rPr lang="en-US" altLang="zh-CN" i="1">
                        <a:latin typeface="Cambria Math" panose="02040503050406030204" pitchFamily="18" charset="0"/>
                      </a:rPr>
                      <m:t>∈</m:t>
                    </m:r>
                    <m:r>
                      <a:rPr lang="zh-CN" altLang="en-US" i="1">
                        <a:latin typeface="Cambria Math" panose="02040503050406030204" pitchFamily="18" charset="0"/>
                      </a:rPr>
                      <m:t>可行解</m:t>
                    </m:r>
                  </m:oMath>
                </a14:m>
                <a:endParaRPr lang="en-US" altLang="zh-CN" dirty="0"/>
              </a:p>
              <a:p>
                <a:r>
                  <a:rPr lang="zh-CN" altLang="en-US" dirty="0"/>
                  <a:t>现有</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𝒃</m:t>
                        </m:r>
                      </m:e>
                      <m:sup>
                        <m:r>
                          <a:rPr lang="en-US" altLang="zh-CN" i="1">
                            <a:latin typeface="Cambria Math" panose="02040503050406030204" pitchFamily="18" charset="0"/>
                          </a:rPr>
                          <m:t>𝑻</m:t>
                        </m:r>
                      </m:sup>
                    </m:sSup>
                    <m:sSup>
                      <m:sSupPr>
                        <m:ctrlPr>
                          <a:rPr lang="en-US" altLang="zh-CN" b="1" i="1" smtClean="0">
                            <a:latin typeface="Cambria Math" panose="02040503050406030204" pitchFamily="18" charset="0"/>
                          </a:rPr>
                        </m:ctrlPr>
                      </m:sSupPr>
                      <m:e>
                        <m:r>
                          <a:rPr lang="en-US" altLang="zh-CN" i="1">
                            <a:latin typeface="Cambria Math" panose="02040503050406030204" pitchFamily="18" charset="0"/>
                          </a:rPr>
                          <m:t>𝒚</m:t>
                        </m:r>
                      </m:e>
                      <m:sup>
                        <m:r>
                          <a:rPr lang="en-US" altLang="zh-CN" b="1" i="1" smtClean="0">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𝒄</m:t>
                        </m:r>
                      </m:e>
                      <m:sup>
                        <m:r>
                          <a:rPr lang="en-US" altLang="zh-CN" i="1">
                            <a:latin typeface="Cambria Math" panose="02040503050406030204" pitchFamily="18" charset="0"/>
                          </a:rPr>
                          <m:t>𝑻</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𝒙</m:t>
                        </m:r>
                      </m:e>
                      <m:sup>
                        <m:r>
                          <a:rPr lang="en-US" altLang="zh-CN">
                            <a:latin typeface="Cambria Math" panose="02040503050406030204" pitchFamily="18" charset="0"/>
                          </a:rPr>
                          <m:t>∗</m:t>
                        </m:r>
                      </m:sup>
                    </m:sSup>
                  </m:oMath>
                </a14:m>
                <a:r>
                  <a:rPr lang="en-US" altLang="zh-CN" dirty="0"/>
                  <a:t>,</a:t>
                </a:r>
                <a:r>
                  <a:rPr lang="zh-CN" altLang="en-US" dirty="0"/>
                  <a:t>则</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𝒃</m:t>
                        </m:r>
                      </m:e>
                      <m:sup>
                        <m:r>
                          <a:rPr lang="en-US" altLang="zh-CN" i="1">
                            <a:latin typeface="Cambria Math" panose="02040503050406030204" pitchFamily="18" charset="0"/>
                          </a:rPr>
                          <m:t>𝑻</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𝒚</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𝒃</m:t>
                        </m:r>
                      </m:e>
                      <m:sup>
                        <m:r>
                          <a:rPr lang="en-US" altLang="zh-CN" i="1">
                            <a:latin typeface="Cambria Math" panose="02040503050406030204" pitchFamily="18" charset="0"/>
                          </a:rPr>
                          <m:t>𝑻</m:t>
                        </m:r>
                      </m:sup>
                    </m:sSup>
                    <m:r>
                      <a:rPr lang="en-US" altLang="zh-CN" b="1" i="1" smtClean="0">
                        <a:latin typeface="Cambria Math" panose="02040503050406030204" pitchFamily="18" charset="0"/>
                      </a:rPr>
                      <m:t>𝒚</m:t>
                    </m:r>
                  </m:oMath>
                </a14:m>
                <a:endParaRPr lang="en-US" altLang="zh-CN" dirty="0"/>
              </a:p>
              <a:p>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𝒚</m:t>
                        </m:r>
                      </m:e>
                      <m:sup>
                        <m:r>
                          <a:rPr lang="en-US" altLang="zh-CN" i="1">
                            <a:latin typeface="Cambria Math" panose="02040503050406030204" pitchFamily="18" charset="0"/>
                          </a:rPr>
                          <m:t>∗</m:t>
                        </m:r>
                      </m:sup>
                    </m:sSup>
                    <m:r>
                      <a:rPr lang="zh-CN" altLang="en-US" i="1" smtClean="0">
                        <a:latin typeface="Cambria Math" panose="02040503050406030204" pitchFamily="18" charset="0"/>
                      </a:rPr>
                      <m:t>为</m:t>
                    </m:r>
                  </m:oMath>
                </a14:m>
                <a:r>
                  <a:rPr lang="zh-CN" altLang="en-US" dirty="0"/>
                  <a:t>对偶问题最优解</a:t>
                </a:r>
                <a:endParaRPr lang="en-US" altLang="zh-CN" dirty="0"/>
              </a:p>
              <a:p>
                <a:endParaRPr lang="zh-CN" altLang="en-US" dirty="0"/>
              </a:p>
            </p:txBody>
          </p:sp>
        </mc:Choice>
        <mc:Fallback xmlns="">
          <p:sp>
            <p:nvSpPr>
              <p:cNvPr id="14" name="内容占位符 13">
                <a:extLst>
                  <a:ext uri="{FF2B5EF4-FFF2-40B4-BE49-F238E27FC236}">
                    <a16:creationId xmlns:a16="http://schemas.microsoft.com/office/drawing/2014/main" id="{C425AE56-ABA3-4686-A2FA-9D64844B1F85}"/>
                  </a:ext>
                </a:extLst>
              </p:cNvPr>
              <p:cNvSpPr>
                <a:spLocks noGrp="1" noRot="1" noChangeAspect="1" noMove="1" noResize="1" noEditPoints="1" noAdjustHandles="1" noChangeArrowheads="1" noChangeShapeType="1" noTextEdit="1"/>
              </p:cNvSpPr>
              <p:nvPr>
                <p:ph idx="1"/>
              </p:nvPr>
            </p:nvSpPr>
            <p:spPr>
              <a:xfrm>
                <a:off x="457200" y="1600200"/>
                <a:ext cx="8229600" cy="4530725"/>
              </a:xfrm>
              <a:blipFill>
                <a:blip r:embed="rId2"/>
                <a:stretch>
                  <a:fillRect l="-444" t="-1884"/>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F1012CC8-C820-441A-97C2-16BBB5D2C5F1}"/>
              </a:ext>
            </a:extLst>
          </p:cNvPr>
          <p:cNvGrpSpPr/>
          <p:nvPr/>
        </p:nvGrpSpPr>
        <p:grpSpPr>
          <a:xfrm>
            <a:off x="3200400" y="481752"/>
            <a:ext cx="4404838" cy="1118448"/>
            <a:chOff x="3573443" y="2738741"/>
            <a:chExt cx="4404838" cy="1118448"/>
          </a:xfrm>
        </p:grpSpPr>
        <p:sp>
          <p:nvSpPr>
            <p:cNvPr id="7" name="矩形 6">
              <a:extLst>
                <a:ext uri="{FF2B5EF4-FFF2-40B4-BE49-F238E27FC236}">
                  <a16:creationId xmlns:a16="http://schemas.microsoft.com/office/drawing/2014/main" id="{4DA2C895-4075-4B7A-A926-590A40AF5B1F}"/>
                </a:ext>
              </a:extLst>
            </p:cNvPr>
            <p:cNvSpPr/>
            <p:nvPr/>
          </p:nvSpPr>
          <p:spPr>
            <a:xfrm>
              <a:off x="3655077" y="2738741"/>
              <a:ext cx="4323204" cy="1118447"/>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3EBD51A6-5721-4640-9BE0-023CFC623536}"/>
                    </a:ext>
                  </a:extLst>
                </p:cNvPr>
                <p:cNvSpPr txBox="1">
                  <a:spLocks noChangeArrowheads="1"/>
                </p:cNvSpPr>
                <p:nvPr/>
              </p:nvSpPr>
              <p:spPr bwMode="auto">
                <a:xfrm>
                  <a:off x="3573443" y="2748954"/>
                  <a:ext cx="2062834" cy="457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algn="ctr" eaLnBrk="1" hangingPunct="1">
                    <a:buFont typeface="Wingdings" panose="05000000000000000000" pitchFamily="2" charset="2"/>
                    <a:buNone/>
                  </a:pPr>
                  <a:r>
                    <a:rPr lang="en-US" altLang="zh-CN" sz="2400" kern="0" dirty="0">
                      <a:latin typeface="Times New Roman" panose="02020603050405020304" pitchFamily="18" charset="0"/>
                    </a:rPr>
                    <a:t>max   z=</a:t>
                  </a:r>
                  <a14:m>
                    <m:oMath xmlns:m="http://schemas.openxmlformats.org/officeDocument/2006/math">
                      <m:sSup>
                        <m:sSupPr>
                          <m:ctrlPr>
                            <a:rPr lang="en-US" altLang="zh-CN" sz="2400" b="1" i="1" kern="0" smtClean="0">
                              <a:latin typeface="Cambria Math" panose="02040503050406030204" pitchFamily="18" charset="0"/>
                            </a:rPr>
                          </m:ctrlPr>
                        </m:sSupPr>
                        <m:e>
                          <m:r>
                            <m:rPr>
                              <m:sty m:val="p"/>
                            </m:rPr>
                            <a:rPr lang="en-US" altLang="zh-CN" sz="2400" i="1" kern="0">
                              <a:latin typeface="Cambria Math" panose="02040503050406030204" pitchFamily="18" charset="0"/>
                            </a:rPr>
                            <m:t>c</m:t>
                          </m:r>
                        </m:e>
                        <m:sup>
                          <m:r>
                            <a:rPr lang="en-US" altLang="zh-CN" sz="2400" b="1" i="0" kern="0" smtClean="0">
                              <a:latin typeface="Cambria Math" panose="02040503050406030204" pitchFamily="18" charset="0"/>
                            </a:rPr>
                            <m:t>𝐓</m:t>
                          </m:r>
                        </m:sup>
                      </m:sSup>
                      <m:r>
                        <a:rPr lang="en-US" altLang="zh-CN" sz="2400" b="1" i="0" kern="0" smtClean="0">
                          <a:latin typeface="Cambria Math" panose="02040503050406030204" pitchFamily="18" charset="0"/>
                        </a:rPr>
                        <m:t>𝐱</m:t>
                      </m:r>
                    </m:oMath>
                  </a14:m>
                  <a:endParaRPr lang="en-US" altLang="zh-CN" sz="2400" kern="0" dirty="0">
                    <a:latin typeface="Times New Roman" panose="02020603050405020304" pitchFamily="18" charset="0"/>
                  </a:endParaRPr>
                </a:p>
              </p:txBody>
            </p:sp>
          </mc:Choice>
          <mc:Fallback xmlns="">
            <p:sp>
              <p:nvSpPr>
                <p:cNvPr id="8" name="Rectangle 3">
                  <a:extLst>
                    <a:ext uri="{FF2B5EF4-FFF2-40B4-BE49-F238E27FC236}">
                      <a16:creationId xmlns:a16="http://schemas.microsoft.com/office/drawing/2014/main" id="{3EBD51A6-5721-4640-9BE0-023CFC623536}"/>
                    </a:ext>
                  </a:extLst>
                </p:cNvPr>
                <p:cNvSpPr txBox="1">
                  <a:spLocks noRot="1" noChangeAspect="1" noMove="1" noResize="1" noEditPoints="1" noAdjustHandles="1" noChangeArrowheads="1" noChangeShapeType="1" noTextEdit="1"/>
                </p:cNvSpPr>
                <p:nvPr/>
              </p:nvSpPr>
              <p:spPr bwMode="auto">
                <a:xfrm>
                  <a:off x="3573443" y="2748954"/>
                  <a:ext cx="2062834" cy="457200"/>
                </a:xfrm>
                <a:prstGeom prst="rect">
                  <a:avLst/>
                </a:prstGeom>
                <a:blipFill>
                  <a:blip r:embed="rId3"/>
                  <a:stretch>
                    <a:fillRect t="-9333"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4">
                  <a:extLst>
                    <a:ext uri="{FF2B5EF4-FFF2-40B4-BE49-F238E27FC236}">
                      <a16:creationId xmlns:a16="http://schemas.microsoft.com/office/drawing/2014/main" id="{58226587-B009-43B3-B02B-D2739CD8FC86}"/>
                    </a:ext>
                  </a:extLst>
                </p:cNvPr>
                <p:cNvSpPr>
                  <a:spLocks noChangeArrowheads="1"/>
                </p:cNvSpPr>
                <p:nvPr/>
              </p:nvSpPr>
              <p:spPr bwMode="auto">
                <a:xfrm>
                  <a:off x="5788677" y="2738742"/>
                  <a:ext cx="2062835" cy="573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9" name="Rectangle 4">
                  <a:extLst>
                    <a:ext uri="{FF2B5EF4-FFF2-40B4-BE49-F238E27FC236}">
                      <a16:creationId xmlns:a16="http://schemas.microsoft.com/office/drawing/2014/main" id="{58226587-B009-43B3-B02B-D2739CD8FC86}"/>
                    </a:ext>
                  </a:extLst>
                </p:cNvPr>
                <p:cNvSpPr>
                  <a:spLocks noRot="1" noChangeAspect="1" noMove="1" noResize="1" noEditPoints="1" noAdjustHandles="1" noChangeArrowheads="1" noChangeShapeType="1" noTextEdit="1"/>
                </p:cNvSpPr>
                <p:nvPr/>
              </p:nvSpPr>
              <p:spPr bwMode="auto">
                <a:xfrm>
                  <a:off x="5788677" y="2738742"/>
                  <a:ext cx="2062835" cy="573923"/>
                </a:xfrm>
                <a:prstGeom prst="rect">
                  <a:avLst/>
                </a:prstGeom>
                <a:blipFill>
                  <a:blip r:embed="rId4"/>
                  <a:stretch>
                    <a:fillRect l="-4425" t="-7447" b="-53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0CC79351-A7DA-4B00-BC8F-D0B89A374C91}"/>
                    </a:ext>
                  </a:extLst>
                </p:cNvPr>
                <p:cNvSpPr/>
                <p:nvPr/>
              </p:nvSpPr>
              <p:spPr>
                <a:xfrm>
                  <a:off x="6033133" y="3388984"/>
                  <a:ext cx="1257460" cy="468205"/>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a:latin typeface="Cambria Math" panose="02040503050406030204" pitchFamily="18" charset="0"/>
                            </a:rPr>
                            <m:t>𝐀</m:t>
                          </m:r>
                        </m:e>
                        <m:sup>
                          <m:r>
                            <a:rPr lang="en-US" altLang="zh-CN" sz="2400" b="1" i="1">
                              <a:latin typeface="Cambria Math" panose="02040503050406030204" pitchFamily="18" charset="0"/>
                            </a:rPr>
                            <m:t>𝑻</m:t>
                          </m:r>
                        </m:sup>
                      </m:sSup>
                      <m:r>
                        <a:rPr lang="en-US" altLang="zh-CN" sz="2400" b="1" i="1">
                          <a:latin typeface="Cambria Math" panose="02040503050406030204" pitchFamily="18" charset="0"/>
                        </a:rPr>
                        <m:t>𝒚</m:t>
                      </m:r>
                      <m:r>
                        <a:rPr lang="en-US" altLang="zh-CN" sz="2400" b="1" i="1">
                          <a:latin typeface="Cambria Math" panose="02040503050406030204" pitchFamily="18" charset="0"/>
                        </a:rPr>
                        <m:t>≥</m:t>
                      </m:r>
                    </m:oMath>
                  </a14:m>
                  <a:r>
                    <a:rPr lang="en-US" altLang="zh-CN" sz="2400" b="1" dirty="0">
                      <a:latin typeface="Times New Roman" panose="02020603050405020304" pitchFamily="18" charset="0"/>
                    </a:rPr>
                    <a:t>C</a:t>
                  </a:r>
                </a:p>
              </p:txBody>
            </p:sp>
          </mc:Choice>
          <mc:Fallback xmlns="">
            <p:sp>
              <p:nvSpPr>
                <p:cNvPr id="10" name="矩形 9">
                  <a:extLst>
                    <a:ext uri="{FF2B5EF4-FFF2-40B4-BE49-F238E27FC236}">
                      <a16:creationId xmlns:a16="http://schemas.microsoft.com/office/drawing/2014/main" id="{0CC79351-A7DA-4B00-BC8F-D0B89A374C91}"/>
                    </a:ext>
                  </a:extLst>
                </p:cNvPr>
                <p:cNvSpPr>
                  <a:spLocks noRot="1" noChangeAspect="1" noMove="1" noResize="1" noEditPoints="1" noAdjustHandles="1" noChangeArrowheads="1" noChangeShapeType="1" noTextEdit="1"/>
                </p:cNvSpPr>
                <p:nvPr/>
              </p:nvSpPr>
              <p:spPr>
                <a:xfrm>
                  <a:off x="6033133" y="3388984"/>
                  <a:ext cx="1257460" cy="468205"/>
                </a:xfrm>
                <a:prstGeom prst="rect">
                  <a:avLst/>
                </a:prstGeom>
                <a:blipFill>
                  <a:blip r:embed="rId5"/>
                  <a:stretch>
                    <a:fillRect l="-966" t="-9091" r="-6280"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429425FD-A343-4ED5-AF2C-7E23030024EE}"/>
                    </a:ext>
                  </a:extLst>
                </p:cNvPr>
                <p:cNvSpPr/>
                <p:nvPr/>
              </p:nvSpPr>
              <p:spPr>
                <a:xfrm>
                  <a:off x="3785025" y="3395524"/>
                  <a:ext cx="10958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i="1">
                            <a:latin typeface="Cambria Math" panose="02040503050406030204" pitchFamily="18" charset="0"/>
                          </a:rPr>
                          <m:t>≥</m:t>
                        </m:r>
                        <m:r>
                          <a:rPr lang="zh-CN" altLang="en-US" sz="2400" i="1" smtClean="0">
                            <a:latin typeface="Cambria Math" panose="02040503050406030204" pitchFamily="18" charset="0"/>
                          </a:rPr>
                          <m:t> </m:t>
                        </m:r>
                        <m:r>
                          <a:rPr lang="en-US" altLang="zh-CN" sz="2400" b="1" i="1">
                            <a:latin typeface="Cambria Math" panose="02040503050406030204" pitchFamily="18" charset="0"/>
                          </a:rPr>
                          <m:t>𝟎</m:t>
                        </m:r>
                      </m:oMath>
                    </m:oMathPara>
                  </a14:m>
                  <a:endParaRPr lang="zh-CN" altLang="en-US" sz="2400" dirty="0"/>
                </a:p>
              </p:txBody>
            </p:sp>
          </mc:Choice>
          <mc:Fallback xmlns="">
            <p:sp>
              <p:nvSpPr>
                <p:cNvPr id="11" name="矩形 10">
                  <a:extLst>
                    <a:ext uri="{FF2B5EF4-FFF2-40B4-BE49-F238E27FC236}">
                      <a16:creationId xmlns:a16="http://schemas.microsoft.com/office/drawing/2014/main" id="{429425FD-A343-4ED5-AF2C-7E23030024EE}"/>
                    </a:ext>
                  </a:extLst>
                </p:cNvPr>
                <p:cNvSpPr>
                  <a:spLocks noRot="1" noChangeAspect="1" noMove="1" noResize="1" noEditPoints="1" noAdjustHandles="1" noChangeArrowheads="1" noChangeShapeType="1" noTextEdit="1"/>
                </p:cNvSpPr>
                <p:nvPr/>
              </p:nvSpPr>
              <p:spPr>
                <a:xfrm>
                  <a:off x="3785025" y="3395524"/>
                  <a:ext cx="1095877" cy="461665"/>
                </a:xfrm>
                <a:prstGeom prst="rect">
                  <a:avLst/>
                </a:prstGeom>
                <a:blipFill>
                  <a:blip r:embed="rId6"/>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95AE6C56-4BEA-43F6-9EFB-4BC83D072D12}"/>
                    </a:ext>
                  </a:extLst>
                </p:cNvPr>
                <p:cNvSpPr/>
                <p:nvPr/>
              </p:nvSpPr>
              <p:spPr>
                <a:xfrm>
                  <a:off x="5864877" y="3106891"/>
                  <a:ext cx="103252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𝑦</m:t>
                        </m:r>
                        <m:r>
                          <a:rPr lang="en-US" altLang="zh-CN" sz="2400" i="1">
                            <a:latin typeface="Cambria Math" panose="02040503050406030204" pitchFamily="18" charset="0"/>
                          </a:rPr>
                          <m:t>≥</m:t>
                        </m:r>
                        <m:r>
                          <a:rPr lang="en-US" altLang="zh-CN" sz="2400" b="1" i="1">
                            <a:latin typeface="Cambria Math" panose="02040503050406030204" pitchFamily="18" charset="0"/>
                          </a:rPr>
                          <m:t>𝟎</m:t>
                        </m:r>
                      </m:oMath>
                    </m:oMathPara>
                  </a14:m>
                  <a:endParaRPr lang="zh-CN" altLang="en-US" sz="2400" dirty="0"/>
                </a:p>
              </p:txBody>
            </p:sp>
          </mc:Choice>
          <mc:Fallback xmlns="">
            <p:sp>
              <p:nvSpPr>
                <p:cNvPr id="12" name="矩形 11">
                  <a:extLst>
                    <a:ext uri="{FF2B5EF4-FFF2-40B4-BE49-F238E27FC236}">
                      <a16:creationId xmlns:a16="http://schemas.microsoft.com/office/drawing/2014/main" id="{95AE6C56-4BEA-43F6-9EFB-4BC83D072D12}"/>
                    </a:ext>
                  </a:extLst>
                </p:cNvPr>
                <p:cNvSpPr>
                  <a:spLocks noRot="1" noChangeAspect="1" noMove="1" noResize="1" noEditPoints="1" noAdjustHandles="1" noChangeArrowheads="1" noChangeShapeType="1" noTextEdit="1"/>
                </p:cNvSpPr>
                <p:nvPr/>
              </p:nvSpPr>
              <p:spPr>
                <a:xfrm>
                  <a:off x="5864877" y="3106891"/>
                  <a:ext cx="1032526" cy="461665"/>
                </a:xfrm>
                <a:prstGeom prst="rect">
                  <a:avLst/>
                </a:prstGeom>
                <a:blipFill>
                  <a:blip r:embed="rId7"/>
                  <a:stretch>
                    <a:fillRect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661DD5FB-89B6-40C4-9DB5-667D63B5D3AF}"/>
                    </a:ext>
                  </a:extLst>
                </p:cNvPr>
                <p:cNvSpPr/>
                <p:nvPr/>
              </p:nvSpPr>
              <p:spPr>
                <a:xfrm>
                  <a:off x="3860896" y="3080295"/>
                  <a:ext cx="1015021" cy="461665"/>
                </a:xfrm>
                <a:prstGeom prst="rect">
                  <a:avLst/>
                </a:prstGeom>
              </p:spPr>
              <p:txBody>
                <a:bodyPr wrap="none">
                  <a:spAutoFit/>
                </a:bodyPr>
                <a:lstStyle/>
                <a:p>
                  <a:pPr eaLnBrk="1" hangingPunct="1">
                    <a:buFont typeface="Wingdings" panose="05000000000000000000" pitchFamily="2" charset="2"/>
                    <a:buNone/>
                  </a:pPr>
                  <a:r>
                    <a:rPr lang="en-US" altLang="zh-CN" sz="2400" kern="0" dirty="0">
                      <a:latin typeface="Times New Roman" panose="02020603050405020304" pitchFamily="18" charset="0"/>
                    </a:rPr>
                    <a:t>AX</a:t>
                  </a:r>
                  <a14:m>
                    <m:oMath xmlns:m="http://schemas.openxmlformats.org/officeDocument/2006/math">
                      <m:r>
                        <a:rPr lang="en-US" altLang="zh-CN" sz="2400" i="1" kern="0">
                          <a:latin typeface="Cambria Math" panose="02040503050406030204" pitchFamily="18" charset="0"/>
                        </a:rPr>
                        <m:t>≤</m:t>
                      </m:r>
                    </m:oMath>
                  </a14:m>
                  <a:r>
                    <a:rPr lang="en-US" altLang="zh-CN" sz="2400" kern="0" dirty="0">
                      <a:latin typeface="Times New Roman" panose="02020603050405020304" pitchFamily="18" charset="0"/>
                    </a:rPr>
                    <a:t>b</a:t>
                  </a:r>
                </a:p>
              </p:txBody>
            </p:sp>
          </mc:Choice>
          <mc:Fallback xmlns="">
            <p:sp>
              <p:nvSpPr>
                <p:cNvPr id="13" name="矩形 12">
                  <a:extLst>
                    <a:ext uri="{FF2B5EF4-FFF2-40B4-BE49-F238E27FC236}">
                      <a16:creationId xmlns:a16="http://schemas.microsoft.com/office/drawing/2014/main" id="{661DD5FB-89B6-40C4-9DB5-667D63B5D3AF}"/>
                    </a:ext>
                  </a:extLst>
                </p:cNvPr>
                <p:cNvSpPr>
                  <a:spLocks noRot="1" noChangeAspect="1" noMove="1" noResize="1" noEditPoints="1" noAdjustHandles="1" noChangeArrowheads="1" noChangeShapeType="1" noTextEdit="1"/>
                </p:cNvSpPr>
                <p:nvPr/>
              </p:nvSpPr>
              <p:spPr>
                <a:xfrm>
                  <a:off x="3860896" y="3080295"/>
                  <a:ext cx="1015021" cy="461665"/>
                </a:xfrm>
                <a:prstGeom prst="rect">
                  <a:avLst/>
                </a:prstGeom>
                <a:blipFill>
                  <a:blip r:embed="rId8"/>
                  <a:stretch>
                    <a:fillRect l="-8982" t="-10526" r="-7186" b="-28947"/>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532566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22495D3-61AD-40C6-A0D7-41DDF40B4AA7}"/>
              </a:ext>
            </a:extLst>
          </p:cNvPr>
          <p:cNvSpPr>
            <a:spLocks noGrp="1" noChangeArrowheads="1"/>
          </p:cNvSpPr>
          <p:nvPr>
            <p:ph type="title"/>
          </p:nvPr>
        </p:nvSpPr>
        <p:spPr/>
        <p:txBody>
          <a:bodyPr/>
          <a:lstStyle/>
          <a:p>
            <a:pPr eaLnBrk="1" hangingPunct="1"/>
            <a:r>
              <a:rPr lang="zh-CN" altLang="en-US"/>
              <a:t>弱对偶性结论小结</a:t>
            </a:r>
          </a:p>
        </p:txBody>
      </p:sp>
      <p:sp>
        <p:nvSpPr>
          <p:cNvPr id="27651" name="Rectangle 3">
            <a:extLst>
              <a:ext uri="{FF2B5EF4-FFF2-40B4-BE49-F238E27FC236}">
                <a16:creationId xmlns:a16="http://schemas.microsoft.com/office/drawing/2014/main" id="{197BED3A-4B03-462A-8F63-1799E7F1307B}"/>
              </a:ext>
            </a:extLst>
          </p:cNvPr>
          <p:cNvSpPr>
            <a:spLocks noGrp="1" noChangeArrowheads="1"/>
          </p:cNvSpPr>
          <p:nvPr>
            <p:ph idx="1"/>
          </p:nvPr>
        </p:nvSpPr>
        <p:spPr>
          <a:xfrm>
            <a:off x="152400" y="914400"/>
            <a:ext cx="7772400" cy="4953000"/>
          </a:xfrm>
        </p:spPr>
        <p:txBody>
          <a:bodyPr/>
          <a:lstStyle/>
          <a:p>
            <a:pPr>
              <a:spcAft>
                <a:spcPts val="600"/>
              </a:spcAft>
            </a:pPr>
            <a:r>
              <a:rPr lang="zh-CN" altLang="en-US" sz="2200">
                <a:latin typeface="楷体_GB2312" pitchFamily="49" charset="-122"/>
                <a:ea typeface="楷体_GB2312" pitchFamily="49" charset="-122"/>
              </a:rPr>
              <a:t>（1）极大化问题（原问题）的任一可行解所对应的目标函数值是对偶问题最优目标函数值的下界。</a:t>
            </a:r>
          </a:p>
          <a:p>
            <a:pPr>
              <a:spcAft>
                <a:spcPts val="600"/>
              </a:spcAft>
            </a:pPr>
            <a:r>
              <a:rPr lang="zh-CN" altLang="en-US" sz="2200">
                <a:latin typeface="楷体_GB2312" pitchFamily="49" charset="-122"/>
                <a:ea typeface="楷体_GB2312" pitchFamily="49" charset="-122"/>
              </a:rPr>
              <a:t>（2）极小化问题（对偶问题）的任一可行解所对应的目标函数值是原问题最优目标函数值的上界。</a:t>
            </a:r>
          </a:p>
          <a:p>
            <a:pPr>
              <a:spcAft>
                <a:spcPts val="600"/>
              </a:spcAft>
            </a:pPr>
            <a:r>
              <a:rPr lang="zh-CN" altLang="en-US" sz="2200">
                <a:latin typeface="楷体_GB2312" pitchFamily="49" charset="-122"/>
                <a:ea typeface="楷体_GB2312" pitchFamily="49" charset="-122"/>
              </a:rPr>
              <a:t>（3）若原问题可行，但其目标函数值无界，则对偶问题无可行解。</a:t>
            </a:r>
            <a:endParaRPr lang="en-US" altLang="zh-CN" sz="2200">
              <a:latin typeface="楷体_GB2312" pitchFamily="49" charset="-122"/>
              <a:ea typeface="楷体_GB2312" pitchFamily="49" charset="-122"/>
            </a:endParaRPr>
          </a:p>
          <a:p>
            <a:pPr>
              <a:spcAft>
                <a:spcPts val="600"/>
              </a:spcAft>
            </a:pPr>
            <a:r>
              <a:rPr lang="zh-CN" altLang="en-US" sz="2200">
                <a:latin typeface="楷体_GB2312" pitchFamily="49" charset="-122"/>
                <a:ea typeface="楷体_GB2312" pitchFamily="49" charset="-122"/>
              </a:rPr>
              <a:t>（4）若对偶问题可行，但其目标函数值无界，则原问题无可行解</a:t>
            </a:r>
            <a:endParaRPr lang="en-US" altLang="zh-CN" sz="2200">
              <a:latin typeface="楷体_GB2312" pitchFamily="49" charset="-122"/>
              <a:ea typeface="楷体_GB2312" pitchFamily="49" charset="-122"/>
            </a:endParaRPr>
          </a:p>
          <a:p>
            <a:pPr>
              <a:spcAft>
                <a:spcPts val="600"/>
              </a:spcAft>
            </a:pPr>
            <a:r>
              <a:rPr lang="zh-CN" altLang="en-US" sz="2200">
                <a:latin typeface="楷体_GB2312" pitchFamily="49" charset="-122"/>
                <a:ea typeface="楷体_GB2312" pitchFamily="49" charset="-122"/>
              </a:rPr>
              <a:t>（5）若原问题有可行解而其对偶问题无可行解，则原问题目标函数值无界。</a:t>
            </a:r>
            <a:endParaRPr lang="en-US" altLang="zh-CN" sz="2200">
              <a:latin typeface="楷体_GB2312" pitchFamily="49" charset="-122"/>
              <a:ea typeface="楷体_GB2312" pitchFamily="49" charset="-122"/>
            </a:endParaRPr>
          </a:p>
          <a:p>
            <a:pPr>
              <a:spcAft>
                <a:spcPts val="600"/>
              </a:spcAft>
            </a:pPr>
            <a:r>
              <a:rPr lang="zh-CN" altLang="en-US" sz="2200">
                <a:latin typeface="楷体_GB2312" pitchFamily="49" charset="-122"/>
                <a:ea typeface="楷体_GB2312" pitchFamily="49" charset="-122"/>
              </a:rPr>
              <a:t>（6）对偶问题有可行解而其原问题无可行解，则对偶问题的目标函数值无界。</a:t>
            </a:r>
            <a:endParaRPr lang="zh-CN" altLang="en-US" sz="2200"/>
          </a:p>
          <a:p>
            <a:endParaRPr lang="zh-CN" altLang="en-US">
              <a:latin typeface="楷体_GB2312" pitchFamily="49" charset="-122"/>
              <a:ea typeface="楷体_GB2312" pitchFamily="49" charset="-122"/>
            </a:endParaRPr>
          </a:p>
        </p:txBody>
      </p:sp>
      <p:grpSp>
        <p:nvGrpSpPr>
          <p:cNvPr id="46084" name="组合 1">
            <a:extLst>
              <a:ext uri="{FF2B5EF4-FFF2-40B4-BE49-F238E27FC236}">
                <a16:creationId xmlns:a16="http://schemas.microsoft.com/office/drawing/2014/main" id="{67B351B3-8559-41E6-A0C3-38346403D09D}"/>
              </a:ext>
            </a:extLst>
          </p:cNvPr>
          <p:cNvGrpSpPr>
            <a:grpSpLocks/>
          </p:cNvGrpSpPr>
          <p:nvPr/>
        </p:nvGrpSpPr>
        <p:grpSpPr bwMode="auto">
          <a:xfrm>
            <a:off x="1676400" y="5791200"/>
            <a:ext cx="5410200" cy="1066800"/>
            <a:chOff x="1524000" y="2667000"/>
            <a:chExt cx="5410200" cy="1066800"/>
          </a:xfrm>
        </p:grpSpPr>
        <p:sp>
          <p:nvSpPr>
            <p:cNvPr id="46087" name="Line 2">
              <a:extLst>
                <a:ext uri="{FF2B5EF4-FFF2-40B4-BE49-F238E27FC236}">
                  <a16:creationId xmlns:a16="http://schemas.microsoft.com/office/drawing/2014/main" id="{3C878CAA-F698-4DB8-A3EA-E87F1ABA4751}"/>
                </a:ext>
              </a:extLst>
            </p:cNvPr>
            <p:cNvSpPr>
              <a:spLocks noChangeShapeType="1"/>
            </p:cNvSpPr>
            <p:nvPr/>
          </p:nvSpPr>
          <p:spPr bwMode="auto">
            <a:xfrm flipV="1">
              <a:off x="1524000" y="3170238"/>
              <a:ext cx="5410200" cy="30162"/>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88" name="AutoShape 4">
              <a:extLst>
                <a:ext uri="{FF2B5EF4-FFF2-40B4-BE49-F238E27FC236}">
                  <a16:creationId xmlns:a16="http://schemas.microsoft.com/office/drawing/2014/main" id="{48E39716-6CC9-4BA2-A109-B6A87A16271D}"/>
                </a:ext>
              </a:extLst>
            </p:cNvPr>
            <p:cNvSpPr>
              <a:spLocks noChangeArrowheads="1"/>
            </p:cNvSpPr>
            <p:nvPr/>
          </p:nvSpPr>
          <p:spPr bwMode="auto">
            <a:xfrm>
              <a:off x="2286000" y="2667000"/>
              <a:ext cx="1600200" cy="1066800"/>
            </a:xfrm>
            <a:prstGeom prst="rightArrowCallout">
              <a:avLst>
                <a:gd name="adj1" fmla="val 25000"/>
                <a:gd name="adj2" fmla="val 25000"/>
                <a:gd name="adj3" fmla="val 25000"/>
                <a:gd name="adj4" fmla="val 66667"/>
              </a:avLst>
            </a:prstGeom>
            <a:solidFill>
              <a:srgbClr val="FFCCFF"/>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0"/>
                <a:t>原问题</a:t>
              </a:r>
            </a:p>
          </p:txBody>
        </p:sp>
        <p:sp>
          <p:nvSpPr>
            <p:cNvPr id="46089" name="AutoShape 5">
              <a:extLst>
                <a:ext uri="{FF2B5EF4-FFF2-40B4-BE49-F238E27FC236}">
                  <a16:creationId xmlns:a16="http://schemas.microsoft.com/office/drawing/2014/main" id="{3034CB19-4A65-4C08-9C93-6090F5D3C774}"/>
                </a:ext>
              </a:extLst>
            </p:cNvPr>
            <p:cNvSpPr>
              <a:spLocks noChangeArrowheads="1"/>
            </p:cNvSpPr>
            <p:nvPr/>
          </p:nvSpPr>
          <p:spPr bwMode="auto">
            <a:xfrm>
              <a:off x="3886200" y="2667000"/>
              <a:ext cx="2133600" cy="1066800"/>
            </a:xfrm>
            <a:prstGeom prst="leftArrowCallout">
              <a:avLst>
                <a:gd name="adj1" fmla="val 25000"/>
                <a:gd name="adj2" fmla="val 25000"/>
                <a:gd name="adj3" fmla="val 33333"/>
                <a:gd name="adj4" fmla="val 66667"/>
              </a:avLst>
            </a:prstGeom>
            <a:solidFill>
              <a:srgbClr val="FFFF99"/>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b="0"/>
                <a:t>对偶问题</a:t>
              </a:r>
            </a:p>
          </p:txBody>
        </p:sp>
      </p:grpSp>
      <p:sp>
        <p:nvSpPr>
          <p:cNvPr id="10" name="Rectangle 3">
            <a:extLst>
              <a:ext uri="{FF2B5EF4-FFF2-40B4-BE49-F238E27FC236}">
                <a16:creationId xmlns:a16="http://schemas.microsoft.com/office/drawing/2014/main" id="{ED997C45-5875-4803-BE17-BDE6DBBF58CE}"/>
              </a:ext>
            </a:extLst>
          </p:cNvPr>
          <p:cNvSpPr txBox="1">
            <a:spLocks noChangeArrowheads="1"/>
          </p:cNvSpPr>
          <p:nvPr/>
        </p:nvSpPr>
        <p:spPr bwMode="auto">
          <a:xfrm>
            <a:off x="152400" y="5791200"/>
            <a:ext cx="1981200" cy="13335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eaLnBrk="1" hangingPunct="1">
              <a:buFont typeface="Wingdings" panose="05000000000000000000" pitchFamily="2" charset="2"/>
              <a:buNone/>
              <a:defRPr/>
            </a:pPr>
            <a:r>
              <a:rPr lang="en-US" altLang="zh-CN" sz="2000" kern="0" dirty="0">
                <a:solidFill>
                  <a:srgbClr val="FF3300"/>
                </a:solidFill>
                <a:latin typeface="Times New Roman" panose="02020603050405020304" pitchFamily="18" charset="0"/>
              </a:rPr>
              <a:t>max   z= CX</a:t>
            </a:r>
          </a:p>
          <a:p>
            <a:pPr eaLnBrk="1" hangingPunct="1">
              <a:buFont typeface="Wingdings" panose="05000000000000000000" pitchFamily="2" charset="2"/>
              <a:buNone/>
              <a:defRPr/>
            </a:pPr>
            <a:r>
              <a:rPr lang="en-US" altLang="zh-CN" sz="2000" kern="0" dirty="0" err="1">
                <a:solidFill>
                  <a:srgbClr val="FF3300"/>
                </a:solidFill>
                <a:latin typeface="Times New Roman" panose="02020603050405020304" pitchFamily="18" charset="0"/>
              </a:rPr>
              <a:t>AX</a:t>
            </a:r>
            <a:r>
              <a:rPr lang="en-US" altLang="zh-CN" sz="2000" kern="0" dirty="0" err="1">
                <a:solidFill>
                  <a:srgbClr val="FF3300"/>
                </a:solidFill>
              </a:rPr>
              <a:t>≤</a:t>
            </a:r>
            <a:r>
              <a:rPr lang="en-US" altLang="zh-CN" sz="2000" kern="0" dirty="0" err="1">
                <a:solidFill>
                  <a:srgbClr val="FF3300"/>
                </a:solidFill>
                <a:latin typeface="Times New Roman" panose="02020603050405020304" pitchFamily="18" charset="0"/>
              </a:rPr>
              <a:t>b</a:t>
            </a:r>
            <a:endParaRPr lang="en-US" altLang="zh-CN" sz="2000" kern="0" dirty="0">
              <a:solidFill>
                <a:srgbClr val="FF3300"/>
              </a:solidFill>
              <a:latin typeface="Times New Roman" panose="02020603050405020304" pitchFamily="18" charset="0"/>
            </a:endParaRPr>
          </a:p>
          <a:p>
            <a:pPr eaLnBrk="1" hangingPunct="1">
              <a:buFont typeface="Wingdings" panose="05000000000000000000" pitchFamily="2" charset="2"/>
              <a:buNone/>
              <a:defRPr/>
            </a:pPr>
            <a:r>
              <a:rPr lang="en-US" altLang="zh-CN" sz="2000" kern="0" dirty="0">
                <a:solidFill>
                  <a:srgbClr val="FF3300"/>
                </a:solidFill>
                <a:latin typeface="Times New Roman" panose="02020603050405020304" pitchFamily="18" charset="0"/>
              </a:rPr>
              <a:t>X</a:t>
            </a:r>
            <a:r>
              <a:rPr lang="en-US" altLang="zh-CN" sz="2000" kern="0" dirty="0">
                <a:solidFill>
                  <a:srgbClr val="FF3300"/>
                </a:solidFill>
              </a:rPr>
              <a:t>≥0</a:t>
            </a:r>
          </a:p>
        </p:txBody>
      </p:sp>
      <p:sp>
        <p:nvSpPr>
          <p:cNvPr id="46086" name="Rectangle 4">
            <a:extLst>
              <a:ext uri="{FF2B5EF4-FFF2-40B4-BE49-F238E27FC236}">
                <a16:creationId xmlns:a16="http://schemas.microsoft.com/office/drawing/2014/main" id="{8AD407DD-A1E4-4EFA-B8D9-E418787427BA}"/>
              </a:ext>
            </a:extLst>
          </p:cNvPr>
          <p:cNvSpPr>
            <a:spLocks noChangeArrowheads="1"/>
          </p:cNvSpPr>
          <p:nvPr/>
        </p:nvSpPr>
        <p:spPr bwMode="auto">
          <a:xfrm>
            <a:off x="7162800" y="5791200"/>
            <a:ext cx="2057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000">
                <a:solidFill>
                  <a:srgbClr val="0000FF"/>
                </a:solidFill>
                <a:latin typeface="Times New Roman" panose="02020603050405020304" pitchFamily="18" charset="0"/>
              </a:rPr>
              <a:t>min   </a:t>
            </a:r>
            <a:r>
              <a:rPr lang="el-GR" altLang="zh-CN" sz="2000">
                <a:solidFill>
                  <a:srgbClr val="0000FF"/>
                </a:solidFill>
                <a:latin typeface="Times New Roman" panose="02020603050405020304" pitchFamily="18" charset="0"/>
                <a:cs typeface="Times New Roman" panose="02020603050405020304" pitchFamily="18" charset="0"/>
              </a:rPr>
              <a:t>ω</a:t>
            </a:r>
            <a:r>
              <a:rPr lang="en-US" altLang="zh-CN" sz="2000">
                <a:solidFill>
                  <a:srgbClr val="0000FF"/>
                </a:solidFill>
                <a:latin typeface="Times New Roman" panose="02020603050405020304" pitchFamily="18" charset="0"/>
              </a:rPr>
              <a:t>= Yb</a:t>
            </a:r>
          </a:p>
          <a:p>
            <a:pPr eaLnBrk="1" hangingPunct="1">
              <a:buFont typeface="Wingdings" panose="05000000000000000000" pitchFamily="2" charset="2"/>
              <a:buNone/>
            </a:pPr>
            <a:r>
              <a:rPr lang="en-US" altLang="zh-CN" sz="2000">
                <a:solidFill>
                  <a:srgbClr val="0000FF"/>
                </a:solidFill>
                <a:latin typeface="Times New Roman" panose="02020603050405020304" pitchFamily="18" charset="0"/>
              </a:rPr>
              <a:t>YA </a:t>
            </a:r>
            <a:r>
              <a:rPr lang="en-US" altLang="zh-CN" sz="2000">
                <a:solidFill>
                  <a:srgbClr val="0000FF"/>
                </a:solidFill>
              </a:rPr>
              <a:t>≥ </a:t>
            </a:r>
            <a:r>
              <a:rPr lang="en-US" altLang="zh-CN" sz="2000">
                <a:solidFill>
                  <a:srgbClr val="0000FF"/>
                </a:solidFill>
                <a:latin typeface="Times New Roman" panose="02020603050405020304" pitchFamily="18" charset="0"/>
              </a:rPr>
              <a:t>C</a:t>
            </a:r>
          </a:p>
          <a:p>
            <a:pPr eaLnBrk="1" hangingPunct="1">
              <a:buFont typeface="Wingdings" panose="05000000000000000000" pitchFamily="2" charset="2"/>
              <a:buNone/>
            </a:pPr>
            <a:r>
              <a:rPr lang="en-US" altLang="zh-CN" sz="2000">
                <a:solidFill>
                  <a:srgbClr val="0000FF"/>
                </a:solidFill>
                <a:latin typeface="Times New Roman" panose="02020603050405020304" pitchFamily="18" charset="0"/>
              </a:rPr>
              <a:t>Y</a:t>
            </a:r>
            <a:r>
              <a:rPr lang="en-US" altLang="zh-CN" sz="2000">
                <a:solidFill>
                  <a:srgbClr val="0000FF"/>
                </a:solidFill>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randombar(horizontal)">
                                      <p:cBhvr>
                                        <p:cTn id="7" dur="500"/>
                                        <p:tgtEl>
                                          <p:spTgt spid="27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randombar(horizontal)">
                                      <p:cBhvr>
                                        <p:cTn id="12" dur="500"/>
                                        <p:tgtEl>
                                          <p:spTgt spid="276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randombar(horizontal)">
                                      <p:cBhvr>
                                        <p:cTn id="17" dur="500"/>
                                        <p:tgtEl>
                                          <p:spTgt spid="276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7651">
                                            <p:txEl>
                                              <p:pRg st="3" end="3"/>
                                            </p:txEl>
                                          </p:spTgt>
                                        </p:tgtEl>
                                        <p:attrNameLst>
                                          <p:attrName>style.visibility</p:attrName>
                                        </p:attrNameLst>
                                      </p:cBhvr>
                                      <p:to>
                                        <p:strVal val="visible"/>
                                      </p:to>
                                    </p:set>
                                    <p:animEffect transition="in" filter="randombar(horizontal)">
                                      <p:cBhvr>
                                        <p:cTn id="22" dur="500"/>
                                        <p:tgtEl>
                                          <p:spTgt spid="276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7651">
                                            <p:txEl>
                                              <p:pRg st="4" end="4"/>
                                            </p:txEl>
                                          </p:spTgt>
                                        </p:tgtEl>
                                        <p:attrNameLst>
                                          <p:attrName>style.visibility</p:attrName>
                                        </p:attrNameLst>
                                      </p:cBhvr>
                                      <p:to>
                                        <p:strVal val="visible"/>
                                      </p:to>
                                    </p:set>
                                    <p:animEffect transition="in" filter="randombar(horizontal)">
                                      <p:cBhvr>
                                        <p:cTn id="27" dur="500"/>
                                        <p:tgtEl>
                                          <p:spTgt spid="276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7651">
                                            <p:txEl>
                                              <p:pRg st="5" end="5"/>
                                            </p:txEl>
                                          </p:spTgt>
                                        </p:tgtEl>
                                        <p:attrNameLst>
                                          <p:attrName>style.visibility</p:attrName>
                                        </p:attrNameLst>
                                      </p:cBhvr>
                                      <p:to>
                                        <p:strVal val="visible"/>
                                      </p:to>
                                    </p:set>
                                    <p:animEffect transition="in" filter="randombar(horizontal)">
                                      <p:cBhvr>
                                        <p:cTn id="32" dur="500"/>
                                        <p:tgtEl>
                                          <p:spTgt spid="27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A8DBA63-1D1B-4248-BC55-79E0051B6F1E}"/>
              </a:ext>
            </a:extLst>
          </p:cNvPr>
          <p:cNvSpPr>
            <a:spLocks noGrp="1"/>
          </p:cNvSpPr>
          <p:nvPr>
            <p:ph type="title"/>
          </p:nvPr>
        </p:nvSpPr>
        <p:spPr/>
        <p:txBody>
          <a:bodyPr/>
          <a:lstStyle/>
          <a:p>
            <a:r>
              <a:rPr lang="zh-CN" altLang="en-US" dirty="0"/>
              <a:t>强对偶性</a:t>
            </a:r>
          </a:p>
        </p:txBody>
      </p:sp>
      <p:sp>
        <p:nvSpPr>
          <p:cNvPr id="6" name="内容占位符 5">
            <a:extLst>
              <a:ext uri="{FF2B5EF4-FFF2-40B4-BE49-F238E27FC236}">
                <a16:creationId xmlns:a16="http://schemas.microsoft.com/office/drawing/2014/main" id="{7061AEDD-DBB5-4BAC-AA92-517F94D7F70F}"/>
              </a:ext>
            </a:extLst>
          </p:cNvPr>
          <p:cNvSpPr>
            <a:spLocks noGrp="1"/>
          </p:cNvSpPr>
          <p:nvPr>
            <p:ph idx="1"/>
          </p:nvPr>
        </p:nvSpPr>
        <p:spPr>
          <a:xfrm>
            <a:off x="457200" y="1600201"/>
            <a:ext cx="8229600" cy="992808"/>
          </a:xfrm>
        </p:spPr>
        <p:txBody>
          <a:bodyPr/>
          <a:lstStyle/>
          <a:p>
            <a:r>
              <a:rPr lang="zh-CN" altLang="en-US" dirty="0"/>
              <a:t>若原问题有最优解，则对偶问题也有最优解，且两者目标函数值相等</a:t>
            </a:r>
          </a:p>
        </p:txBody>
      </p:sp>
      <p:grpSp>
        <p:nvGrpSpPr>
          <p:cNvPr id="7" name="组合 6">
            <a:extLst>
              <a:ext uri="{FF2B5EF4-FFF2-40B4-BE49-F238E27FC236}">
                <a16:creationId xmlns:a16="http://schemas.microsoft.com/office/drawing/2014/main" id="{A747403C-D838-4A9F-ADF4-F5649F3BC8E7}"/>
              </a:ext>
            </a:extLst>
          </p:cNvPr>
          <p:cNvGrpSpPr/>
          <p:nvPr/>
        </p:nvGrpSpPr>
        <p:grpSpPr>
          <a:xfrm>
            <a:off x="2590800" y="2669327"/>
            <a:ext cx="4404838" cy="1118448"/>
            <a:chOff x="3573443" y="2738741"/>
            <a:chExt cx="4404838" cy="1118448"/>
          </a:xfrm>
        </p:grpSpPr>
        <p:sp>
          <p:nvSpPr>
            <p:cNvPr id="8" name="矩形 7">
              <a:extLst>
                <a:ext uri="{FF2B5EF4-FFF2-40B4-BE49-F238E27FC236}">
                  <a16:creationId xmlns:a16="http://schemas.microsoft.com/office/drawing/2014/main" id="{3F07CBC2-29F3-44BD-988F-DF1526F98EF9}"/>
                </a:ext>
              </a:extLst>
            </p:cNvPr>
            <p:cNvSpPr/>
            <p:nvPr/>
          </p:nvSpPr>
          <p:spPr>
            <a:xfrm>
              <a:off x="3655077" y="2738741"/>
              <a:ext cx="4323204" cy="1118447"/>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Rectangle 3">
                  <a:extLst>
                    <a:ext uri="{FF2B5EF4-FFF2-40B4-BE49-F238E27FC236}">
                      <a16:creationId xmlns:a16="http://schemas.microsoft.com/office/drawing/2014/main" id="{0FFE2EC9-0EA4-474F-8CBE-97C7432E7E97}"/>
                    </a:ext>
                  </a:extLst>
                </p:cNvPr>
                <p:cNvSpPr txBox="1">
                  <a:spLocks noChangeArrowheads="1"/>
                </p:cNvSpPr>
                <p:nvPr/>
              </p:nvSpPr>
              <p:spPr bwMode="auto">
                <a:xfrm>
                  <a:off x="3573443" y="2748954"/>
                  <a:ext cx="2062834" cy="457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algn="ctr" eaLnBrk="1" hangingPunct="1">
                    <a:buFont typeface="Wingdings" panose="05000000000000000000" pitchFamily="2" charset="2"/>
                    <a:buNone/>
                  </a:pPr>
                  <a:r>
                    <a:rPr lang="en-US" altLang="zh-CN" sz="2400" kern="0" dirty="0">
                      <a:latin typeface="Times New Roman" panose="02020603050405020304" pitchFamily="18" charset="0"/>
                    </a:rPr>
                    <a:t>max   z=</a:t>
                  </a:r>
                  <a14:m>
                    <m:oMath xmlns:m="http://schemas.openxmlformats.org/officeDocument/2006/math">
                      <m:sSup>
                        <m:sSupPr>
                          <m:ctrlPr>
                            <a:rPr lang="en-US" altLang="zh-CN" sz="2400" b="1" i="1" kern="0" smtClean="0">
                              <a:latin typeface="Cambria Math" panose="02040503050406030204" pitchFamily="18" charset="0"/>
                            </a:rPr>
                          </m:ctrlPr>
                        </m:sSupPr>
                        <m:e>
                          <m:r>
                            <m:rPr>
                              <m:sty m:val="p"/>
                            </m:rPr>
                            <a:rPr lang="en-US" altLang="zh-CN" sz="2400" i="1" kern="0">
                              <a:latin typeface="Cambria Math" panose="02040503050406030204" pitchFamily="18" charset="0"/>
                            </a:rPr>
                            <m:t>c</m:t>
                          </m:r>
                        </m:e>
                        <m:sup>
                          <m:r>
                            <a:rPr lang="en-US" altLang="zh-CN" sz="2400" b="1" i="0" kern="0" smtClean="0">
                              <a:latin typeface="Cambria Math" panose="02040503050406030204" pitchFamily="18" charset="0"/>
                            </a:rPr>
                            <m:t>𝐓</m:t>
                          </m:r>
                        </m:sup>
                      </m:sSup>
                      <m:r>
                        <a:rPr lang="en-US" altLang="zh-CN" sz="2400" b="1" i="0" kern="0" smtClean="0">
                          <a:latin typeface="Cambria Math" panose="02040503050406030204" pitchFamily="18" charset="0"/>
                        </a:rPr>
                        <m:t>𝐱</m:t>
                      </m:r>
                    </m:oMath>
                  </a14:m>
                  <a:endParaRPr lang="en-US" altLang="zh-CN" sz="2400" kern="0" dirty="0">
                    <a:latin typeface="Times New Roman" panose="02020603050405020304" pitchFamily="18" charset="0"/>
                  </a:endParaRPr>
                </a:p>
              </p:txBody>
            </p:sp>
          </mc:Choice>
          <mc:Fallback xmlns="">
            <p:sp>
              <p:nvSpPr>
                <p:cNvPr id="9" name="Rectangle 3">
                  <a:extLst>
                    <a:ext uri="{FF2B5EF4-FFF2-40B4-BE49-F238E27FC236}">
                      <a16:creationId xmlns:a16="http://schemas.microsoft.com/office/drawing/2014/main" id="{0FFE2EC9-0EA4-474F-8CBE-97C7432E7E97}"/>
                    </a:ext>
                  </a:extLst>
                </p:cNvPr>
                <p:cNvSpPr txBox="1">
                  <a:spLocks noRot="1" noChangeAspect="1" noMove="1" noResize="1" noEditPoints="1" noAdjustHandles="1" noChangeArrowheads="1" noChangeShapeType="1" noTextEdit="1"/>
                </p:cNvSpPr>
                <p:nvPr/>
              </p:nvSpPr>
              <p:spPr bwMode="auto">
                <a:xfrm>
                  <a:off x="3573443" y="2748954"/>
                  <a:ext cx="2062834" cy="457200"/>
                </a:xfrm>
                <a:prstGeom prst="rect">
                  <a:avLst/>
                </a:prstGeom>
                <a:blipFill>
                  <a:blip r:embed="rId2"/>
                  <a:stretch>
                    <a:fillRect t="-9333"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Rectangle 4">
                  <a:extLst>
                    <a:ext uri="{FF2B5EF4-FFF2-40B4-BE49-F238E27FC236}">
                      <a16:creationId xmlns:a16="http://schemas.microsoft.com/office/drawing/2014/main" id="{16E5E147-86AD-4622-840C-B1371B2EAD12}"/>
                    </a:ext>
                  </a:extLst>
                </p:cNvPr>
                <p:cNvSpPr>
                  <a:spLocks noChangeArrowheads="1"/>
                </p:cNvSpPr>
                <p:nvPr/>
              </p:nvSpPr>
              <p:spPr bwMode="auto">
                <a:xfrm>
                  <a:off x="5788677" y="2738742"/>
                  <a:ext cx="2062835" cy="573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10" name="Rectangle 4">
                  <a:extLst>
                    <a:ext uri="{FF2B5EF4-FFF2-40B4-BE49-F238E27FC236}">
                      <a16:creationId xmlns:a16="http://schemas.microsoft.com/office/drawing/2014/main" id="{16E5E147-86AD-4622-840C-B1371B2EAD12}"/>
                    </a:ext>
                  </a:extLst>
                </p:cNvPr>
                <p:cNvSpPr>
                  <a:spLocks noRot="1" noChangeAspect="1" noMove="1" noResize="1" noEditPoints="1" noAdjustHandles="1" noChangeArrowheads="1" noChangeShapeType="1" noTextEdit="1"/>
                </p:cNvSpPr>
                <p:nvPr/>
              </p:nvSpPr>
              <p:spPr bwMode="auto">
                <a:xfrm>
                  <a:off x="5788677" y="2738742"/>
                  <a:ext cx="2062835" cy="573923"/>
                </a:xfrm>
                <a:prstGeom prst="rect">
                  <a:avLst/>
                </a:prstGeom>
                <a:blipFill>
                  <a:blip r:embed="rId3"/>
                  <a:stretch>
                    <a:fillRect l="-4425" t="-7447" b="-53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504222B-0B37-4ADB-9C04-1ECEDA927311}"/>
                    </a:ext>
                  </a:extLst>
                </p:cNvPr>
                <p:cNvSpPr/>
                <p:nvPr/>
              </p:nvSpPr>
              <p:spPr>
                <a:xfrm>
                  <a:off x="6033133" y="3388984"/>
                  <a:ext cx="1257460" cy="468205"/>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a:latin typeface="Cambria Math" panose="02040503050406030204" pitchFamily="18" charset="0"/>
                            </a:rPr>
                            <m:t>𝐀</m:t>
                          </m:r>
                        </m:e>
                        <m:sup>
                          <m:r>
                            <a:rPr lang="en-US" altLang="zh-CN" sz="2400" b="1" i="1">
                              <a:latin typeface="Cambria Math" panose="02040503050406030204" pitchFamily="18" charset="0"/>
                            </a:rPr>
                            <m:t>𝑻</m:t>
                          </m:r>
                        </m:sup>
                      </m:sSup>
                      <m:r>
                        <a:rPr lang="en-US" altLang="zh-CN" sz="2400" b="1" i="1">
                          <a:latin typeface="Cambria Math" panose="02040503050406030204" pitchFamily="18" charset="0"/>
                        </a:rPr>
                        <m:t>𝒚</m:t>
                      </m:r>
                      <m:r>
                        <a:rPr lang="en-US" altLang="zh-CN" sz="2400" b="1" i="1">
                          <a:latin typeface="Cambria Math" panose="02040503050406030204" pitchFamily="18" charset="0"/>
                        </a:rPr>
                        <m:t>≥</m:t>
                      </m:r>
                    </m:oMath>
                  </a14:m>
                  <a:r>
                    <a:rPr lang="en-US" altLang="zh-CN" sz="2400" b="1" dirty="0">
                      <a:latin typeface="Times New Roman" panose="02020603050405020304" pitchFamily="18" charset="0"/>
                    </a:rPr>
                    <a:t>C</a:t>
                  </a:r>
                </a:p>
              </p:txBody>
            </p:sp>
          </mc:Choice>
          <mc:Fallback xmlns="">
            <p:sp>
              <p:nvSpPr>
                <p:cNvPr id="11" name="矩形 10">
                  <a:extLst>
                    <a:ext uri="{FF2B5EF4-FFF2-40B4-BE49-F238E27FC236}">
                      <a16:creationId xmlns:a16="http://schemas.microsoft.com/office/drawing/2014/main" id="{5504222B-0B37-4ADB-9C04-1ECEDA927311}"/>
                    </a:ext>
                  </a:extLst>
                </p:cNvPr>
                <p:cNvSpPr>
                  <a:spLocks noRot="1" noChangeAspect="1" noMove="1" noResize="1" noEditPoints="1" noAdjustHandles="1" noChangeArrowheads="1" noChangeShapeType="1" noTextEdit="1"/>
                </p:cNvSpPr>
                <p:nvPr/>
              </p:nvSpPr>
              <p:spPr>
                <a:xfrm>
                  <a:off x="6033133" y="3388984"/>
                  <a:ext cx="1257460" cy="468205"/>
                </a:xfrm>
                <a:prstGeom prst="rect">
                  <a:avLst/>
                </a:prstGeom>
                <a:blipFill>
                  <a:blip r:embed="rId4"/>
                  <a:stretch>
                    <a:fillRect l="-966" t="-9211" r="-6280"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34109C36-87B6-4561-8733-9993F88958EE}"/>
                    </a:ext>
                  </a:extLst>
                </p:cNvPr>
                <p:cNvSpPr/>
                <p:nvPr/>
              </p:nvSpPr>
              <p:spPr>
                <a:xfrm>
                  <a:off x="3785025" y="3395524"/>
                  <a:ext cx="10958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i="1">
                            <a:latin typeface="Cambria Math" panose="02040503050406030204" pitchFamily="18" charset="0"/>
                          </a:rPr>
                          <m:t>≥</m:t>
                        </m:r>
                        <m:r>
                          <a:rPr lang="zh-CN" altLang="en-US" sz="2400" i="1" smtClean="0">
                            <a:latin typeface="Cambria Math" panose="02040503050406030204" pitchFamily="18" charset="0"/>
                          </a:rPr>
                          <m:t> </m:t>
                        </m:r>
                        <m:r>
                          <a:rPr lang="en-US" altLang="zh-CN" sz="2400" b="1" i="1">
                            <a:latin typeface="Cambria Math" panose="02040503050406030204" pitchFamily="18" charset="0"/>
                          </a:rPr>
                          <m:t>𝟎</m:t>
                        </m:r>
                      </m:oMath>
                    </m:oMathPara>
                  </a14:m>
                  <a:endParaRPr lang="zh-CN" altLang="en-US" sz="2400" dirty="0"/>
                </a:p>
              </p:txBody>
            </p:sp>
          </mc:Choice>
          <mc:Fallback xmlns="">
            <p:sp>
              <p:nvSpPr>
                <p:cNvPr id="12" name="矩形 11">
                  <a:extLst>
                    <a:ext uri="{FF2B5EF4-FFF2-40B4-BE49-F238E27FC236}">
                      <a16:creationId xmlns:a16="http://schemas.microsoft.com/office/drawing/2014/main" id="{34109C36-87B6-4561-8733-9993F88958EE}"/>
                    </a:ext>
                  </a:extLst>
                </p:cNvPr>
                <p:cNvSpPr>
                  <a:spLocks noRot="1" noChangeAspect="1" noMove="1" noResize="1" noEditPoints="1" noAdjustHandles="1" noChangeArrowheads="1" noChangeShapeType="1" noTextEdit="1"/>
                </p:cNvSpPr>
                <p:nvPr/>
              </p:nvSpPr>
              <p:spPr>
                <a:xfrm>
                  <a:off x="3785025" y="3395524"/>
                  <a:ext cx="1095877" cy="461665"/>
                </a:xfrm>
                <a:prstGeom prst="rect">
                  <a:avLst/>
                </a:prstGeom>
                <a:blipFill>
                  <a:blip r:embed="rId5"/>
                  <a:stretch>
                    <a:fillRect b="-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9BBF555-6BD0-4F2B-9B1A-7F8396D1AC64}"/>
                    </a:ext>
                  </a:extLst>
                </p:cNvPr>
                <p:cNvSpPr/>
                <p:nvPr/>
              </p:nvSpPr>
              <p:spPr>
                <a:xfrm>
                  <a:off x="6041284" y="3036749"/>
                  <a:ext cx="1279517" cy="461665"/>
                </a:xfrm>
                <a:prstGeom prst="rect">
                  <a:avLst/>
                </a:prstGeom>
              </p:spPr>
              <p:txBody>
                <a:bodyPr wrap="none">
                  <a:spAutoFit/>
                </a:bodyPr>
                <a:lstStyle/>
                <a:p>
                  <a14:m>
                    <m:oMath xmlns:m="http://schemas.openxmlformats.org/officeDocument/2006/math">
                      <m:r>
                        <a:rPr lang="en-US" altLang="zh-CN" sz="2400" i="1">
                          <a:latin typeface="Cambria Math" panose="02040503050406030204" pitchFamily="18" charset="0"/>
                        </a:rPr>
                        <m:t>𝑦</m:t>
                      </m:r>
                      <m:r>
                        <a:rPr lang="zh-CN" altLang="en-US" sz="2400" i="1">
                          <a:latin typeface="Cambria Math" panose="02040503050406030204" pitchFamily="18" charset="0"/>
                        </a:rPr>
                        <m:t>无</m:t>
                      </m:r>
                    </m:oMath>
                  </a14:m>
                  <a:r>
                    <a:rPr lang="zh-CN" altLang="en-US" sz="2400" dirty="0"/>
                    <a:t>约束</a:t>
                  </a:r>
                </a:p>
              </p:txBody>
            </p:sp>
          </mc:Choice>
          <mc:Fallback xmlns="">
            <p:sp>
              <p:nvSpPr>
                <p:cNvPr id="13" name="矩形 12">
                  <a:extLst>
                    <a:ext uri="{FF2B5EF4-FFF2-40B4-BE49-F238E27FC236}">
                      <a16:creationId xmlns:a16="http://schemas.microsoft.com/office/drawing/2014/main" id="{C9BBF555-6BD0-4F2B-9B1A-7F8396D1AC64}"/>
                    </a:ext>
                  </a:extLst>
                </p:cNvPr>
                <p:cNvSpPr>
                  <a:spLocks noRot="1" noChangeAspect="1" noMove="1" noResize="1" noEditPoints="1" noAdjustHandles="1" noChangeArrowheads="1" noChangeShapeType="1" noTextEdit="1"/>
                </p:cNvSpPr>
                <p:nvPr/>
              </p:nvSpPr>
              <p:spPr>
                <a:xfrm>
                  <a:off x="6041284" y="3036749"/>
                  <a:ext cx="1279517" cy="461665"/>
                </a:xfrm>
                <a:prstGeom prst="rect">
                  <a:avLst/>
                </a:prstGeom>
                <a:blipFill>
                  <a:blip r:embed="rId6"/>
                  <a:stretch>
                    <a:fillRect l="-1429" t="-14474" r="-6190"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818DC38-969B-436B-8DD4-FAFDEA768995}"/>
                    </a:ext>
                  </a:extLst>
                </p:cNvPr>
                <p:cNvSpPr/>
                <p:nvPr/>
              </p:nvSpPr>
              <p:spPr>
                <a:xfrm>
                  <a:off x="3860896" y="3080295"/>
                  <a:ext cx="1015021" cy="461665"/>
                </a:xfrm>
                <a:prstGeom prst="rect">
                  <a:avLst/>
                </a:prstGeom>
              </p:spPr>
              <p:txBody>
                <a:bodyPr wrap="none">
                  <a:spAutoFit/>
                </a:bodyPr>
                <a:lstStyle/>
                <a:p>
                  <a:pPr eaLnBrk="1" hangingPunct="1">
                    <a:buFont typeface="Wingdings" panose="05000000000000000000" pitchFamily="2" charset="2"/>
                    <a:buNone/>
                  </a:pPr>
                  <a:r>
                    <a:rPr lang="en-US" altLang="zh-CN" sz="2400" kern="0" dirty="0">
                      <a:latin typeface="Times New Roman" panose="02020603050405020304" pitchFamily="18" charset="0"/>
                    </a:rPr>
                    <a:t>AX</a:t>
                  </a:r>
                  <a14:m>
                    <m:oMath xmlns:m="http://schemas.openxmlformats.org/officeDocument/2006/math">
                      <m:r>
                        <a:rPr lang="en-US" altLang="zh-CN" sz="2400" b="0" i="1" kern="0" smtClean="0">
                          <a:latin typeface="Cambria Math" panose="02040503050406030204" pitchFamily="18" charset="0"/>
                        </a:rPr>
                        <m:t>=</m:t>
                      </m:r>
                    </m:oMath>
                  </a14:m>
                  <a:r>
                    <a:rPr lang="en-US" altLang="zh-CN" sz="2400" kern="0" dirty="0">
                      <a:latin typeface="Times New Roman" panose="02020603050405020304" pitchFamily="18" charset="0"/>
                    </a:rPr>
                    <a:t>b</a:t>
                  </a:r>
                </a:p>
              </p:txBody>
            </p:sp>
          </mc:Choice>
          <mc:Fallback xmlns="">
            <p:sp>
              <p:nvSpPr>
                <p:cNvPr id="14" name="矩形 13">
                  <a:extLst>
                    <a:ext uri="{FF2B5EF4-FFF2-40B4-BE49-F238E27FC236}">
                      <a16:creationId xmlns:a16="http://schemas.microsoft.com/office/drawing/2014/main" id="{E818DC38-969B-436B-8DD4-FAFDEA768995}"/>
                    </a:ext>
                  </a:extLst>
                </p:cNvPr>
                <p:cNvSpPr>
                  <a:spLocks noRot="1" noChangeAspect="1" noMove="1" noResize="1" noEditPoints="1" noAdjustHandles="1" noChangeArrowheads="1" noChangeShapeType="1" noTextEdit="1"/>
                </p:cNvSpPr>
                <p:nvPr/>
              </p:nvSpPr>
              <p:spPr>
                <a:xfrm>
                  <a:off x="3860896" y="3080295"/>
                  <a:ext cx="1015021" cy="461665"/>
                </a:xfrm>
                <a:prstGeom prst="rect">
                  <a:avLst/>
                </a:prstGeom>
                <a:blipFill>
                  <a:blip r:embed="rId7"/>
                  <a:stretch>
                    <a:fillRect l="-8982" t="-10526" r="-6587" b="-2894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6" name="内容占位符 5">
                <a:extLst>
                  <a:ext uri="{FF2B5EF4-FFF2-40B4-BE49-F238E27FC236}">
                    <a16:creationId xmlns:a16="http://schemas.microsoft.com/office/drawing/2014/main" id="{5541EC9D-AFAF-4AF7-B795-0B308E2F4F50}"/>
                  </a:ext>
                </a:extLst>
              </p:cNvPr>
              <p:cNvSpPr txBox="1">
                <a:spLocks/>
              </p:cNvSpPr>
              <p:nvPr/>
            </p:nvSpPr>
            <p:spPr bwMode="auto">
              <a:xfrm>
                <a:off x="457200" y="3874304"/>
                <a:ext cx="8229600" cy="283129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r>
                  <a:rPr lang="zh-CN" altLang="en-US" kern="0" dirty="0"/>
                  <a:t>原问题取得最优解的条件：</a:t>
                </a:r>
                <a:endParaRPr lang="en-US" altLang="zh-CN" kern="0" dirty="0"/>
              </a:p>
              <a:p>
                <a:pPr lvl="1"/>
                <a:r>
                  <a:rPr lang="zh-CN" altLang="en-US" kern="0" dirty="0"/>
                  <a:t>检验数</a:t>
                </a:r>
                <a14:m>
                  <m:oMath xmlns:m="http://schemas.openxmlformats.org/officeDocument/2006/math">
                    <m:r>
                      <a:rPr lang="en-US" altLang="zh-CN" b="0" i="1" kern="0" smtClean="0">
                        <a:latin typeface="Cambria Math" panose="02040503050406030204" pitchFamily="18" charset="0"/>
                      </a:rPr>
                      <m:t>𝜎</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𝑐</m:t>
                    </m:r>
                    <m:r>
                      <a:rPr lang="en-US" altLang="zh-CN" b="0" i="1" kern="0" smtClean="0">
                        <a:latin typeface="Cambria Math" panose="02040503050406030204" pitchFamily="18" charset="0"/>
                      </a:rPr>
                      <m:t>−</m:t>
                    </m:r>
                    <m:sSubSup>
                      <m:sSubSupPr>
                        <m:ctrlPr>
                          <a:rPr lang="en-US" altLang="zh-CN" b="0" i="1" kern="0" smtClean="0">
                            <a:latin typeface="Cambria Math" panose="02040503050406030204" pitchFamily="18" charset="0"/>
                          </a:rPr>
                        </m:ctrlPr>
                      </m:sSubSupPr>
                      <m:e>
                        <m:r>
                          <a:rPr lang="en-US" altLang="zh-CN" b="0" i="1" kern="0" smtClean="0">
                            <a:latin typeface="Cambria Math" panose="02040503050406030204" pitchFamily="18" charset="0"/>
                          </a:rPr>
                          <m:t>𝐶</m:t>
                        </m:r>
                      </m:e>
                      <m:sub>
                        <m:r>
                          <a:rPr lang="en-US" altLang="zh-CN" b="0" i="1" kern="0" smtClean="0">
                            <a:latin typeface="Cambria Math" panose="02040503050406030204" pitchFamily="18" charset="0"/>
                          </a:rPr>
                          <m:t>𝐵</m:t>
                        </m:r>
                      </m:sub>
                      <m:sup>
                        <m:r>
                          <a:rPr lang="en-US" altLang="zh-CN" b="0" i="1" kern="0" smtClean="0">
                            <a:latin typeface="Cambria Math" panose="02040503050406030204" pitchFamily="18" charset="0"/>
                          </a:rPr>
                          <m:t>𝑇</m:t>
                        </m:r>
                      </m:sup>
                    </m:sSubSup>
                    <m:sSup>
                      <m:sSupPr>
                        <m:ctrlPr>
                          <a:rPr lang="en-US" altLang="zh-CN" b="0" i="1" kern="0" smtClean="0">
                            <a:latin typeface="Cambria Math" panose="02040503050406030204" pitchFamily="18" charset="0"/>
                          </a:rPr>
                        </m:ctrlPr>
                      </m:sSupPr>
                      <m:e>
                        <m:r>
                          <a:rPr lang="en-US" altLang="zh-CN" b="0" i="1" kern="0" smtClean="0">
                            <a:latin typeface="Cambria Math" panose="02040503050406030204" pitchFamily="18" charset="0"/>
                          </a:rPr>
                          <m:t>𝐵</m:t>
                        </m:r>
                      </m:e>
                      <m:sup>
                        <m:r>
                          <a:rPr lang="en-US" altLang="zh-CN" b="0" i="1" kern="0" smtClean="0">
                            <a:latin typeface="Cambria Math" panose="02040503050406030204" pitchFamily="18" charset="0"/>
                          </a:rPr>
                          <m:t>−1</m:t>
                        </m:r>
                      </m:sup>
                    </m:sSup>
                    <m:r>
                      <a:rPr lang="en-US" altLang="zh-CN" b="0" i="1" kern="0" smtClean="0">
                        <a:latin typeface="Cambria Math" panose="02040503050406030204" pitchFamily="18" charset="0"/>
                      </a:rPr>
                      <m:t>𝐴</m:t>
                    </m:r>
                    <m:r>
                      <a:rPr lang="en-US" altLang="zh-CN" b="0" i="1" kern="0" smtClean="0">
                        <a:latin typeface="Cambria Math" panose="02040503050406030204" pitchFamily="18" charset="0"/>
                      </a:rPr>
                      <m:t>≤0</m:t>
                    </m:r>
                  </m:oMath>
                </a14:m>
                <a:endParaRPr lang="en-US" altLang="zh-CN" b="0" kern="0" dirty="0"/>
              </a:p>
              <a:p>
                <a:pPr marL="344487" lvl="1" indent="0">
                  <a:buNone/>
                </a:pPr>
                <a:r>
                  <a:rPr lang="zh-CN" altLang="en-US" kern="0" dirty="0"/>
                  <a:t>我们取</a:t>
                </a:r>
                <a14:m>
                  <m:oMath xmlns:m="http://schemas.openxmlformats.org/officeDocument/2006/math">
                    <m:sSup>
                      <m:sSupPr>
                        <m:ctrlPr>
                          <a:rPr lang="en-US" altLang="zh-CN" b="0" i="1" kern="0" smtClean="0">
                            <a:latin typeface="Cambria Math" panose="02040503050406030204" pitchFamily="18" charset="0"/>
                          </a:rPr>
                        </m:ctrlPr>
                      </m:sSupPr>
                      <m:e>
                        <m:r>
                          <m:rPr>
                            <m:sty m:val="p"/>
                          </m:rPr>
                          <a:rPr lang="en-US" altLang="zh-CN" b="0" i="0" kern="0" smtClean="0">
                            <a:latin typeface="Cambria Math" panose="02040503050406030204" pitchFamily="18" charset="0"/>
                          </a:rPr>
                          <m:t>y</m:t>
                        </m:r>
                      </m:e>
                      <m:sup>
                        <m:r>
                          <m:rPr>
                            <m:sty m:val="p"/>
                          </m:rPr>
                          <a:rPr lang="en-US" altLang="zh-CN" b="0" i="0" kern="0" smtClean="0">
                            <a:latin typeface="Cambria Math" panose="02040503050406030204" pitchFamily="18" charset="0"/>
                          </a:rPr>
                          <m:t>T</m:t>
                        </m:r>
                      </m:sup>
                    </m:sSup>
                    <m:r>
                      <a:rPr lang="en-US" altLang="zh-CN" b="0" i="0" kern="0" smtClean="0">
                        <a:latin typeface="Cambria Math" panose="02040503050406030204" pitchFamily="18" charset="0"/>
                      </a:rPr>
                      <m:t>=</m:t>
                    </m:r>
                    <m:sSubSup>
                      <m:sSubSupPr>
                        <m:ctrlPr>
                          <a:rPr lang="en-US" altLang="zh-CN" i="1" kern="0">
                            <a:latin typeface="Cambria Math" panose="02040503050406030204" pitchFamily="18" charset="0"/>
                          </a:rPr>
                        </m:ctrlPr>
                      </m:sSubSupPr>
                      <m:e>
                        <m:r>
                          <a:rPr lang="en-US" altLang="zh-CN" i="1" kern="0">
                            <a:latin typeface="Cambria Math" panose="02040503050406030204" pitchFamily="18" charset="0"/>
                          </a:rPr>
                          <m:t>𝐶</m:t>
                        </m:r>
                      </m:e>
                      <m:sub>
                        <m:r>
                          <a:rPr lang="en-US" altLang="zh-CN" i="1" kern="0">
                            <a:latin typeface="Cambria Math" panose="02040503050406030204" pitchFamily="18" charset="0"/>
                          </a:rPr>
                          <m:t>𝐵</m:t>
                        </m:r>
                      </m:sub>
                      <m:sup>
                        <m:r>
                          <a:rPr lang="en-US" altLang="zh-CN" i="1" kern="0">
                            <a:latin typeface="Cambria Math" panose="02040503050406030204" pitchFamily="18" charset="0"/>
                          </a:rPr>
                          <m:t>𝑇</m:t>
                        </m:r>
                      </m:sup>
                    </m:sSubSup>
                    <m:sSup>
                      <m:sSupPr>
                        <m:ctrlPr>
                          <a:rPr lang="en-US" altLang="zh-CN" i="1" kern="0">
                            <a:latin typeface="Cambria Math" panose="02040503050406030204" pitchFamily="18" charset="0"/>
                          </a:rPr>
                        </m:ctrlPr>
                      </m:sSupPr>
                      <m:e>
                        <m:r>
                          <a:rPr lang="en-US" altLang="zh-CN" i="1" kern="0">
                            <a:latin typeface="Cambria Math" panose="02040503050406030204" pitchFamily="18" charset="0"/>
                          </a:rPr>
                          <m:t>𝐵</m:t>
                        </m:r>
                      </m:e>
                      <m:sup>
                        <m:r>
                          <a:rPr lang="en-US" altLang="zh-CN" i="1" kern="0">
                            <a:latin typeface="Cambria Math" panose="02040503050406030204" pitchFamily="18" charset="0"/>
                          </a:rPr>
                          <m:t>−1</m:t>
                        </m:r>
                      </m:sup>
                    </m:sSup>
                  </m:oMath>
                </a14:m>
                <a:r>
                  <a:rPr lang="zh-CN" altLang="en-US" kern="0" dirty="0"/>
                  <a:t>，则</a:t>
                </a:r>
                <a14:m>
                  <m:oMath xmlns:m="http://schemas.openxmlformats.org/officeDocument/2006/math">
                    <m:sSup>
                      <m:sSupPr>
                        <m:ctrlPr>
                          <a:rPr lang="en-US" altLang="zh-CN" i="1" kern="0">
                            <a:latin typeface="Cambria Math" panose="02040503050406030204" pitchFamily="18" charset="0"/>
                          </a:rPr>
                        </m:ctrlPr>
                      </m:sSupPr>
                      <m:e>
                        <m:r>
                          <a:rPr lang="en-US" altLang="zh-CN" i="1" kern="0">
                            <a:latin typeface="Cambria Math" panose="02040503050406030204" pitchFamily="18" charset="0"/>
                          </a:rPr>
                          <m:t>𝑐</m:t>
                        </m:r>
                      </m:e>
                      <m:sup>
                        <m:r>
                          <a:rPr lang="en-US" altLang="zh-CN" i="1" kern="0">
                            <a:latin typeface="Cambria Math" panose="02040503050406030204" pitchFamily="18" charset="0"/>
                          </a:rPr>
                          <m:t>𝑇</m:t>
                        </m:r>
                      </m:sup>
                    </m:sSup>
                    <m:r>
                      <a:rPr lang="en-US" altLang="zh-CN" i="1" kern="0">
                        <a:latin typeface="Cambria Math" panose="02040503050406030204" pitchFamily="18" charset="0"/>
                      </a:rPr>
                      <m:t>≤</m:t>
                    </m:r>
                    <m:sSup>
                      <m:sSupPr>
                        <m:ctrlPr>
                          <a:rPr lang="en-US" altLang="zh-CN" i="1" kern="0">
                            <a:latin typeface="Cambria Math" panose="02040503050406030204" pitchFamily="18" charset="0"/>
                          </a:rPr>
                        </m:ctrlPr>
                      </m:sSupPr>
                      <m:e>
                        <m:r>
                          <m:rPr>
                            <m:sty m:val="p"/>
                          </m:rPr>
                          <a:rPr lang="en-US" altLang="zh-CN" kern="0">
                            <a:latin typeface="Cambria Math" panose="02040503050406030204" pitchFamily="18" charset="0"/>
                          </a:rPr>
                          <m:t>y</m:t>
                        </m:r>
                      </m:e>
                      <m:sup>
                        <m:r>
                          <m:rPr>
                            <m:sty m:val="p"/>
                          </m:rPr>
                          <a:rPr lang="en-US" altLang="zh-CN" kern="0">
                            <a:latin typeface="Cambria Math" panose="02040503050406030204" pitchFamily="18" charset="0"/>
                          </a:rPr>
                          <m:t>T</m:t>
                        </m:r>
                      </m:sup>
                    </m:sSup>
                    <m:r>
                      <a:rPr lang="en-US" altLang="zh-CN" i="1" kern="0">
                        <a:latin typeface="Cambria Math" panose="02040503050406030204" pitchFamily="18" charset="0"/>
                      </a:rPr>
                      <m:t>𝐴</m:t>
                    </m:r>
                  </m:oMath>
                </a14:m>
                <a:endParaRPr lang="en-US" altLang="zh-CN" kern="0" dirty="0"/>
              </a:p>
              <a:p>
                <a:pPr marL="344487" lvl="1" indent="0">
                  <a:buNone/>
                </a:pPr>
                <a14:m>
                  <m:oMath xmlns:m="http://schemas.openxmlformats.org/officeDocument/2006/math">
                    <m:sSup>
                      <m:sSupPr>
                        <m:ctrlPr>
                          <a:rPr lang="en-US" altLang="zh-CN" i="1" kern="0">
                            <a:latin typeface="Cambria Math" panose="02040503050406030204" pitchFamily="18" charset="0"/>
                          </a:rPr>
                        </m:ctrlPr>
                      </m:sSupPr>
                      <m:e>
                        <m:r>
                          <m:rPr>
                            <m:sty m:val="p"/>
                          </m:rPr>
                          <a:rPr lang="en-US" altLang="zh-CN" kern="0">
                            <a:latin typeface="Cambria Math" panose="02040503050406030204" pitchFamily="18" charset="0"/>
                          </a:rPr>
                          <m:t>y</m:t>
                        </m:r>
                      </m:e>
                      <m:sup>
                        <m:r>
                          <m:rPr>
                            <m:sty m:val="p"/>
                          </m:rPr>
                          <a:rPr lang="en-US" altLang="zh-CN" kern="0">
                            <a:latin typeface="Cambria Math" panose="02040503050406030204" pitchFamily="18" charset="0"/>
                          </a:rPr>
                          <m:t>T</m:t>
                        </m:r>
                      </m:sup>
                    </m:sSup>
                  </m:oMath>
                </a14:m>
                <a:r>
                  <a:rPr lang="zh-CN" altLang="en-US" kern="0" dirty="0"/>
                  <a:t>满足对偶问题的约束条件</a:t>
                </a:r>
                <a:endParaRPr lang="en-US" altLang="zh-CN" kern="0" dirty="0"/>
              </a:p>
              <a:p>
                <a:pPr marL="344487" lvl="1" indent="0">
                  <a:buNone/>
                </a:pPr>
                <a:r>
                  <a:rPr lang="zh-CN" altLang="en-US" kern="0" dirty="0"/>
                  <a:t>由于</a:t>
                </a:r>
                <a14:m>
                  <m:oMath xmlns:m="http://schemas.openxmlformats.org/officeDocument/2006/math">
                    <m:sSup>
                      <m:sSupPr>
                        <m:ctrlPr>
                          <a:rPr lang="en-US" altLang="zh-CN" b="1" i="1">
                            <a:latin typeface="Cambria Math" panose="02040503050406030204" pitchFamily="18" charset="0"/>
                          </a:rPr>
                        </m:ctrlPr>
                      </m:sSupPr>
                      <m:e>
                        <m:r>
                          <a:rPr lang="en-US" altLang="zh-CN" b="1" i="1">
                            <a:latin typeface="Cambria Math" panose="02040503050406030204" pitchFamily="18" charset="0"/>
                          </a:rPr>
                          <m:t>𝒃</m:t>
                        </m:r>
                      </m:e>
                      <m:sup>
                        <m:r>
                          <a:rPr lang="en-US" altLang="zh-CN" b="1" i="1">
                            <a:latin typeface="Cambria Math" panose="02040503050406030204" pitchFamily="18" charset="0"/>
                          </a:rPr>
                          <m:t>𝑻</m:t>
                        </m:r>
                      </m:sup>
                    </m:sSup>
                    <m:r>
                      <a:rPr lang="en-US" altLang="zh-CN" b="1" i="1">
                        <a:latin typeface="Cambria Math" panose="02040503050406030204" pitchFamily="18" charset="0"/>
                      </a:rPr>
                      <m:t>𝒚</m:t>
                    </m:r>
                    <m:r>
                      <a:rPr lang="en-US" altLang="zh-CN" b="1" i="1" smtClean="0">
                        <a:latin typeface="Cambria Math" panose="02040503050406030204" pitchFamily="18" charset="0"/>
                      </a:rPr>
                      <m:t>=</m:t>
                    </m:r>
                    <m:sSubSup>
                      <m:sSubSupPr>
                        <m:ctrlPr>
                          <a:rPr lang="en-US" altLang="zh-CN" i="1" kern="0">
                            <a:latin typeface="Cambria Math" panose="02040503050406030204" pitchFamily="18" charset="0"/>
                          </a:rPr>
                        </m:ctrlPr>
                      </m:sSubSupPr>
                      <m:e>
                        <m:r>
                          <a:rPr lang="en-US" altLang="zh-CN" i="1" kern="0">
                            <a:latin typeface="Cambria Math" panose="02040503050406030204" pitchFamily="18" charset="0"/>
                          </a:rPr>
                          <m:t>𝐶</m:t>
                        </m:r>
                      </m:e>
                      <m:sub>
                        <m:r>
                          <a:rPr lang="en-US" altLang="zh-CN" i="1" kern="0">
                            <a:latin typeface="Cambria Math" panose="02040503050406030204" pitchFamily="18" charset="0"/>
                          </a:rPr>
                          <m:t>𝐵</m:t>
                        </m:r>
                      </m:sub>
                      <m:sup>
                        <m:r>
                          <a:rPr lang="en-US" altLang="zh-CN" i="1" kern="0">
                            <a:latin typeface="Cambria Math" panose="02040503050406030204" pitchFamily="18" charset="0"/>
                          </a:rPr>
                          <m:t>𝑇</m:t>
                        </m:r>
                      </m:sup>
                    </m:sSubSup>
                    <m:sSup>
                      <m:sSupPr>
                        <m:ctrlPr>
                          <a:rPr lang="en-US" altLang="zh-CN" i="1" kern="0">
                            <a:latin typeface="Cambria Math" panose="02040503050406030204" pitchFamily="18" charset="0"/>
                          </a:rPr>
                        </m:ctrlPr>
                      </m:sSupPr>
                      <m:e>
                        <m:r>
                          <a:rPr lang="en-US" altLang="zh-CN" i="1" kern="0">
                            <a:latin typeface="Cambria Math" panose="02040503050406030204" pitchFamily="18" charset="0"/>
                          </a:rPr>
                          <m:t>𝐵</m:t>
                        </m:r>
                      </m:e>
                      <m:sup>
                        <m:r>
                          <a:rPr lang="en-US" altLang="zh-CN" i="1" kern="0">
                            <a:latin typeface="Cambria Math" panose="02040503050406030204" pitchFamily="18" charset="0"/>
                          </a:rPr>
                          <m:t>−1</m:t>
                        </m:r>
                      </m:sup>
                    </m:sSup>
                    <m:r>
                      <a:rPr lang="en-US" altLang="zh-CN" b="0" i="1" kern="0" smtClean="0">
                        <a:latin typeface="Cambria Math" panose="02040503050406030204" pitchFamily="18" charset="0"/>
                      </a:rPr>
                      <m:t>𝑏</m:t>
                    </m:r>
                    <m:r>
                      <a:rPr lang="en-US" altLang="zh-CN" b="0" i="1" kern="0" smtClean="0">
                        <a:latin typeface="Cambria Math" panose="02040503050406030204" pitchFamily="18" charset="0"/>
                      </a:rPr>
                      <m:t>=</m:t>
                    </m:r>
                    <m:sSubSup>
                      <m:sSubSupPr>
                        <m:ctrlPr>
                          <a:rPr lang="en-US" altLang="zh-CN" b="0" i="1" kern="0" smtClean="0">
                            <a:latin typeface="Cambria Math" panose="02040503050406030204" pitchFamily="18" charset="0"/>
                          </a:rPr>
                        </m:ctrlPr>
                      </m:sSubSupPr>
                      <m:e>
                        <m:r>
                          <a:rPr lang="en-US" altLang="zh-CN" b="0" i="1" kern="0" smtClean="0">
                            <a:latin typeface="Cambria Math" panose="02040503050406030204" pitchFamily="18" charset="0"/>
                          </a:rPr>
                          <m:t>𝐶</m:t>
                        </m:r>
                      </m:e>
                      <m:sub>
                        <m:r>
                          <a:rPr lang="en-US" altLang="zh-CN" b="0" i="1" kern="0" smtClean="0">
                            <a:latin typeface="Cambria Math" panose="02040503050406030204" pitchFamily="18" charset="0"/>
                          </a:rPr>
                          <m:t>𝐵</m:t>
                        </m:r>
                      </m:sub>
                      <m:sup>
                        <m:r>
                          <a:rPr lang="en-US" altLang="zh-CN" b="0" i="1" kern="0" smtClean="0">
                            <a:latin typeface="Cambria Math" panose="02040503050406030204" pitchFamily="18" charset="0"/>
                          </a:rPr>
                          <m:t>𝑇</m:t>
                        </m:r>
                      </m:sup>
                    </m:sSubSup>
                    <m:sSubSup>
                      <m:sSubSupPr>
                        <m:ctrlPr>
                          <a:rPr lang="en-US" altLang="zh-CN" b="0" i="1" kern="0" smtClean="0">
                            <a:latin typeface="Cambria Math" panose="02040503050406030204" pitchFamily="18" charset="0"/>
                          </a:rPr>
                        </m:ctrlPr>
                      </m:sSubSup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𝐵</m:t>
                        </m:r>
                      </m:sub>
                      <m:sup>
                        <m:r>
                          <a:rPr lang="en-US" altLang="zh-CN" b="0" i="1" kern="0" smtClean="0">
                            <a:latin typeface="Cambria Math" panose="02040503050406030204" pitchFamily="18" charset="0"/>
                          </a:rPr>
                          <m:t>𝑇</m:t>
                        </m:r>
                      </m:sup>
                    </m:sSubSup>
                    <m:r>
                      <a:rPr lang="en-US" altLang="zh-CN" b="0" i="1" kern="0" smtClean="0">
                        <a:latin typeface="Cambria Math" panose="02040503050406030204" pitchFamily="18" charset="0"/>
                      </a:rPr>
                      <m:t>=</m:t>
                    </m:r>
                    <m:sSup>
                      <m:sSupPr>
                        <m:ctrlPr>
                          <a:rPr lang="en-US" altLang="zh-CN" b="0" i="1" kern="0" smtClean="0">
                            <a:latin typeface="Cambria Math" panose="02040503050406030204" pitchFamily="18" charset="0"/>
                          </a:rPr>
                        </m:ctrlPr>
                      </m:sSupPr>
                      <m:e>
                        <m:r>
                          <a:rPr lang="en-US" altLang="zh-CN" b="0" i="1" kern="0" smtClean="0">
                            <a:latin typeface="Cambria Math" panose="02040503050406030204" pitchFamily="18" charset="0"/>
                          </a:rPr>
                          <m:t>𝑐</m:t>
                        </m:r>
                      </m:e>
                      <m:sup>
                        <m:r>
                          <a:rPr lang="en-US" altLang="zh-CN" b="0" i="1" kern="0" smtClean="0">
                            <a:latin typeface="Cambria Math" panose="02040503050406030204" pitchFamily="18" charset="0"/>
                          </a:rPr>
                          <m:t>𝑇</m:t>
                        </m:r>
                      </m:sup>
                    </m:sSup>
                    <m:r>
                      <a:rPr lang="en-US" altLang="zh-CN" b="0" i="1" kern="0" smtClean="0">
                        <a:latin typeface="Cambria Math" panose="02040503050406030204" pitchFamily="18" charset="0"/>
                      </a:rPr>
                      <m:t>𝑥</m:t>
                    </m:r>
                    <m:r>
                      <a:rPr lang="en-US" altLang="zh-CN" b="0" i="0" kern="0" smtClean="0">
                        <a:latin typeface="Cambria Math" panose="02040503050406030204" pitchFamily="18" charset="0"/>
                      </a:rPr>
                      <m:t> </m:t>
                    </m:r>
                    <m:r>
                      <a:rPr lang="zh-CN" altLang="en-US" i="1" kern="0">
                        <a:latin typeface="Cambria Math" panose="02040503050406030204" pitchFamily="18" charset="0"/>
                      </a:rPr>
                      <m:t>根据</m:t>
                    </m:r>
                  </m:oMath>
                </a14:m>
                <a:r>
                  <a:rPr lang="zh-CN" altLang="en-US" kern="0" dirty="0"/>
                  <a:t>最优性定理，</a:t>
                </a:r>
                <a:r>
                  <a:rPr lang="en-US" altLang="zh-CN" b="1" dirty="0"/>
                  <a:t> </a:t>
                </a:r>
                <a14:m>
                  <m:oMath xmlns:m="http://schemas.openxmlformats.org/officeDocument/2006/math">
                    <m:sSup>
                      <m:sSupPr>
                        <m:ctrlPr>
                          <a:rPr lang="en-US" altLang="zh-CN" b="1" i="1">
                            <a:latin typeface="Cambria Math" panose="02040503050406030204" pitchFamily="18" charset="0"/>
                          </a:rPr>
                        </m:ctrlPr>
                      </m:sSupPr>
                      <m:e>
                        <m:r>
                          <a:rPr lang="en-US" altLang="zh-CN" b="1" i="1">
                            <a:latin typeface="Cambria Math" panose="02040503050406030204" pitchFamily="18" charset="0"/>
                          </a:rPr>
                          <m:t>𝒃</m:t>
                        </m:r>
                      </m:e>
                      <m:sup>
                        <m:r>
                          <a:rPr lang="en-US" altLang="zh-CN" b="1" i="1">
                            <a:latin typeface="Cambria Math" panose="02040503050406030204" pitchFamily="18" charset="0"/>
                          </a:rPr>
                          <m:t>𝑻</m:t>
                        </m:r>
                      </m:sup>
                    </m:sSup>
                    <m:r>
                      <a:rPr lang="en-US" altLang="zh-CN" b="1" i="1">
                        <a:latin typeface="Cambria Math" panose="02040503050406030204" pitchFamily="18" charset="0"/>
                      </a:rPr>
                      <m:t>𝒚</m:t>
                    </m:r>
                  </m:oMath>
                </a14:m>
                <a:r>
                  <a:rPr lang="zh-CN" altLang="en-US" kern="0" dirty="0"/>
                  <a:t>是对偶问题的可行解</a:t>
                </a:r>
                <a:endParaRPr lang="en-US" altLang="zh-CN" kern="0" dirty="0"/>
              </a:p>
            </p:txBody>
          </p:sp>
        </mc:Choice>
        <mc:Fallback xmlns="">
          <p:sp>
            <p:nvSpPr>
              <p:cNvPr id="16" name="内容占位符 5">
                <a:extLst>
                  <a:ext uri="{FF2B5EF4-FFF2-40B4-BE49-F238E27FC236}">
                    <a16:creationId xmlns:a16="http://schemas.microsoft.com/office/drawing/2014/main" id="{5541EC9D-AFAF-4AF7-B795-0B308E2F4F50}"/>
                  </a:ext>
                </a:extLst>
              </p:cNvPr>
              <p:cNvSpPr txBox="1">
                <a:spLocks noRot="1" noChangeAspect="1" noMove="1" noResize="1" noEditPoints="1" noAdjustHandles="1" noChangeArrowheads="1" noChangeShapeType="1" noTextEdit="1"/>
              </p:cNvSpPr>
              <p:nvPr/>
            </p:nvSpPr>
            <p:spPr bwMode="auto">
              <a:xfrm>
                <a:off x="457200" y="3874304"/>
                <a:ext cx="8229600" cy="2831296"/>
              </a:xfrm>
              <a:prstGeom prst="rect">
                <a:avLst/>
              </a:prstGeom>
              <a:blipFill>
                <a:blip r:embed="rId8"/>
                <a:stretch>
                  <a:fillRect l="-444" t="-30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1BD9BF0-90D5-4452-9687-9225F3A062D7}"/>
                  </a:ext>
                </a:extLst>
              </p:cNvPr>
              <p:cNvSpPr txBox="1"/>
              <p:nvPr/>
            </p:nvSpPr>
            <p:spPr>
              <a:xfrm>
                <a:off x="5812051" y="4191964"/>
                <a:ext cx="2743200" cy="1205715"/>
              </a:xfrm>
              <a:prstGeom prst="rect">
                <a:avLst/>
              </a:prstGeom>
              <a:noFill/>
              <a:ln>
                <a:solidFill>
                  <a:schemeClr val="tx1"/>
                </a:solidFill>
              </a:ln>
            </p:spPr>
            <p:txBody>
              <a:bodyPr wrap="square" rtlCol="0">
                <a:spAutoFit/>
              </a:bodyPr>
              <a:lstStyle/>
              <a:p>
                <a:r>
                  <a:rPr lang="zh-CN" altLang="en-US" sz="2400" dirty="0"/>
                  <a:t>对偶问题的最优解是</a:t>
                </a:r>
                <a14:m>
                  <m:oMath xmlns:m="http://schemas.openxmlformats.org/officeDocument/2006/math">
                    <m:sSubSup>
                      <m:sSubSupPr>
                        <m:ctrlPr>
                          <a:rPr lang="en-US" altLang="zh-CN" sz="2400" i="1" kern="0">
                            <a:latin typeface="Cambria Math" panose="02040503050406030204" pitchFamily="18" charset="0"/>
                          </a:rPr>
                        </m:ctrlPr>
                      </m:sSubSupPr>
                      <m:e>
                        <m:r>
                          <a:rPr lang="en-US" altLang="zh-CN" sz="2400" i="1" kern="0">
                            <a:latin typeface="Cambria Math" panose="02040503050406030204" pitchFamily="18" charset="0"/>
                          </a:rPr>
                          <m:t>𝐶</m:t>
                        </m:r>
                      </m:e>
                      <m:sub>
                        <m:r>
                          <a:rPr lang="en-US" altLang="zh-CN" sz="2400" i="1" kern="0">
                            <a:latin typeface="Cambria Math" panose="02040503050406030204" pitchFamily="18" charset="0"/>
                          </a:rPr>
                          <m:t>𝐵</m:t>
                        </m:r>
                      </m:sub>
                      <m:sup>
                        <m:r>
                          <a:rPr lang="en-US" altLang="zh-CN" sz="2400" i="1" kern="0">
                            <a:latin typeface="Cambria Math" panose="02040503050406030204" pitchFamily="18" charset="0"/>
                          </a:rPr>
                          <m:t>𝑇</m:t>
                        </m:r>
                      </m:sup>
                    </m:sSubSup>
                    <m:sSup>
                      <m:sSupPr>
                        <m:ctrlPr>
                          <a:rPr lang="en-US" altLang="zh-CN" sz="2400" i="1" kern="0">
                            <a:latin typeface="Cambria Math" panose="02040503050406030204" pitchFamily="18" charset="0"/>
                          </a:rPr>
                        </m:ctrlPr>
                      </m:sSupPr>
                      <m:e>
                        <m:r>
                          <a:rPr lang="en-US" altLang="zh-CN" sz="2400" i="1" kern="0">
                            <a:latin typeface="Cambria Math" panose="02040503050406030204" pitchFamily="18" charset="0"/>
                          </a:rPr>
                          <m:t>𝐵</m:t>
                        </m:r>
                      </m:e>
                      <m:sup>
                        <m:r>
                          <a:rPr lang="en-US" altLang="zh-CN" sz="2400" i="1" kern="0">
                            <a:latin typeface="Cambria Math" panose="02040503050406030204" pitchFamily="18" charset="0"/>
                          </a:rPr>
                          <m:t>−1</m:t>
                        </m:r>
                      </m:sup>
                    </m:sSup>
                  </m:oMath>
                </a14:m>
                <a:r>
                  <a:rPr lang="zh-CN" altLang="en-US" sz="2400" dirty="0"/>
                  <a:t>，隐藏在单纯形法的计算中</a:t>
                </a:r>
              </a:p>
            </p:txBody>
          </p:sp>
        </mc:Choice>
        <mc:Fallback xmlns="">
          <p:sp>
            <p:nvSpPr>
              <p:cNvPr id="17" name="文本框 16">
                <a:extLst>
                  <a:ext uri="{FF2B5EF4-FFF2-40B4-BE49-F238E27FC236}">
                    <a16:creationId xmlns:a16="http://schemas.microsoft.com/office/drawing/2014/main" id="{11BD9BF0-90D5-4452-9687-9225F3A062D7}"/>
                  </a:ext>
                </a:extLst>
              </p:cNvPr>
              <p:cNvSpPr txBox="1">
                <a:spLocks noRot="1" noChangeAspect="1" noMove="1" noResize="1" noEditPoints="1" noAdjustHandles="1" noChangeArrowheads="1" noChangeShapeType="1" noTextEdit="1"/>
              </p:cNvSpPr>
              <p:nvPr/>
            </p:nvSpPr>
            <p:spPr>
              <a:xfrm>
                <a:off x="5812051" y="4191964"/>
                <a:ext cx="2743200" cy="1205715"/>
              </a:xfrm>
              <a:prstGeom prst="rect">
                <a:avLst/>
              </a:prstGeom>
              <a:blipFill>
                <a:blip r:embed="rId9"/>
                <a:stretch>
                  <a:fillRect l="-3097" t="-3518" b="-9045"/>
                </a:stretch>
              </a:blipFill>
              <a:ln>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3385437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43D04B-F608-42DE-BF4F-6F23F9AF0684}"/>
              </a:ext>
            </a:extLst>
          </p:cNvPr>
          <p:cNvSpPr>
            <a:spLocks noGrp="1"/>
          </p:cNvSpPr>
          <p:nvPr>
            <p:ph type="title"/>
          </p:nvPr>
        </p:nvSpPr>
        <p:spPr/>
        <p:txBody>
          <a:bodyPr/>
          <a:lstStyle/>
          <a:p>
            <a:r>
              <a:rPr lang="zh-CN" altLang="en-US" dirty="0"/>
              <a:t>例子</a:t>
            </a:r>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8CD10EC9-AE7A-443D-A513-F635934F12D0}"/>
                  </a:ext>
                </a:extLst>
              </p:cNvPr>
              <p:cNvSpPr txBox="1">
                <a:spLocks noGrp="1"/>
              </p:cNvSpPr>
              <p:nvPr>
                <p:ph idx="1"/>
              </p:nvPr>
            </p:nvSpPr>
            <p:spPr bwMode="auto">
              <a:xfrm>
                <a:off x="424081" y="1417638"/>
                <a:ext cx="4269945" cy="2286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a:rPr lang="en-US" altLang="zh-CN" b="0" i="1" kern="0" smtClean="0">
                            <a:latin typeface="Cambria Math" panose="02040503050406030204" pitchFamily="18" charset="0"/>
                          </a:rPr>
                          <m:t>𝑚𝑎𝑥</m:t>
                        </m:r>
                      </m:fName>
                      <m:e>
                        <m:r>
                          <a:rPr lang="en-US" altLang="zh-CN" b="0" i="1" kern="0" smtClean="0">
                            <a:latin typeface="Cambria Math" panose="02040503050406030204" pitchFamily="18" charset="0"/>
                          </a:rPr>
                          <m:t>𝑧</m:t>
                        </m:r>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2</m:t>
                                  </m:r>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1</m:t>
                                  </m:r>
                                </m:sub>
                              </m:sSub>
                              <m:r>
                                <m:rPr>
                                  <m:brk m:alnAt="7"/>
                                </m:rP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1">
                                      <a:latin typeface="Cambria Math" panose="02040503050406030204" pitchFamily="18" charset="0"/>
                                    </a:rPr>
                                    <m:t>x</m:t>
                                  </m:r>
                                </m:e>
                                <m:sub>
                                  <m:r>
                                    <a:rPr lang="en-US" altLang="zh-CN" b="0" i="1" smtClean="0">
                                      <a:latin typeface="Cambria Math" panose="02040503050406030204" pitchFamily="18" charset="0"/>
                                    </a:rPr>
                                    <m:t>3</m:t>
                                  </m:r>
                                </m:sub>
                              </m:sSub>
                              <m:r>
                                <a:rPr lang="en-US" altLang="zh-CN" b="0" i="1" kern="0" smtClean="0">
                                  <a:latin typeface="Cambria Math" panose="02040503050406030204" pitchFamily="18" charset="0"/>
                                </a:rPr>
                                <m:t>=12</m:t>
                              </m:r>
                            </m:e>
                          </m:mr>
                          <m:mr>
                            <m:e>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1</m:t>
                                  </m:r>
                                </m:sub>
                              </m:sSub>
                              <m:r>
                                <m:rPr>
                                  <m:brk m:alnAt="7"/>
                                </m:rPr>
                                <a:rPr lang="en-US" altLang="zh-CN" i="1" kern="0">
                                  <a:latin typeface="Cambria Math" panose="02040503050406030204" pitchFamily="18" charset="0"/>
                                </a:rPr>
                                <m:t>+</m:t>
                              </m:r>
                              <m:r>
                                <a:rPr lang="en-US" altLang="zh-CN" i="1" kern="0">
                                  <a:latin typeface="Cambria Math" panose="02040503050406030204" pitchFamily="18" charset="0"/>
                                </a:rPr>
                                <m:t>2</m:t>
                              </m:r>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2</m:t>
                                  </m:r>
                                </m:sub>
                              </m:sSub>
                              <m:r>
                                <a:rPr lang="en-US" altLang="zh-CN" b="1"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4</m:t>
                                  </m:r>
                                </m:sub>
                              </m:sSub>
                              <m:r>
                                <a:rPr lang="en-US" altLang="zh-CN" b="1" i="1" kern="0" smtClean="0">
                                  <a:latin typeface="Cambria Math" panose="02040503050406030204" pitchFamily="18" charset="0"/>
                                </a:rPr>
                                <m:t>=</m:t>
                              </m:r>
                              <m:r>
                                <a:rPr lang="en-US" altLang="zh-CN" b="0" i="1" kern="0" smtClean="0">
                                  <a:latin typeface="Cambria Math" panose="02040503050406030204" pitchFamily="18" charset="0"/>
                                </a:rPr>
                                <m:t>9</m:t>
                              </m:r>
                            </m:e>
                          </m:m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 ,</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3</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4</m:t>
                                  </m:r>
                                </m:sub>
                              </m:sSub>
                              <m:r>
                                <a:rPr lang="en-US" altLang="zh-CN" b="0" i="1" kern="0" smtClean="0">
                                  <a:latin typeface="Cambria Math" panose="02040503050406030204" pitchFamily="18" charset="0"/>
                                </a:rPr>
                                <m:t>≥0</m:t>
                              </m:r>
                            </m:e>
                          </m:mr>
                        </m:m>
                      </m:e>
                    </m:d>
                  </m:oMath>
                </a14:m>
                <a:endParaRPr lang="zh-CN" altLang="en-US" kern="0" dirty="0"/>
              </a:p>
            </p:txBody>
          </p:sp>
        </mc:Choice>
        <mc:Fallback xmlns="">
          <p:sp>
            <p:nvSpPr>
              <p:cNvPr id="4" name="内容占位符 2">
                <a:extLst>
                  <a:ext uri="{FF2B5EF4-FFF2-40B4-BE49-F238E27FC236}">
                    <a16:creationId xmlns:a16="http://schemas.microsoft.com/office/drawing/2014/main" id="{8CD10EC9-AE7A-443D-A513-F635934F12D0}"/>
                  </a:ext>
                </a:extLst>
              </p:cNvPr>
              <p:cNvSpPr txBox="1">
                <a:spLocks noGrp="1" noRot="1" noChangeAspect="1" noMove="1" noResize="1" noEditPoints="1" noAdjustHandles="1" noChangeArrowheads="1" noChangeShapeType="1" noTextEdit="1"/>
              </p:cNvSpPr>
              <p:nvPr>
                <p:ph idx="1"/>
              </p:nvPr>
            </p:nvSpPr>
            <p:spPr bwMode="auto">
              <a:xfrm>
                <a:off x="424081" y="1417638"/>
                <a:ext cx="4269945" cy="2286000"/>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1D6FED3F-5173-4DF3-8B3A-D1FDF8553EAD}"/>
              </a:ext>
            </a:extLst>
          </p:cNvPr>
          <p:cNvGrpSpPr/>
          <p:nvPr/>
        </p:nvGrpSpPr>
        <p:grpSpPr>
          <a:xfrm>
            <a:off x="4739162" y="1600200"/>
            <a:ext cx="4404838" cy="1118448"/>
            <a:chOff x="3573443" y="2738741"/>
            <a:chExt cx="4404838" cy="1118448"/>
          </a:xfrm>
        </p:grpSpPr>
        <p:sp>
          <p:nvSpPr>
            <p:cNvPr id="6" name="矩形 5">
              <a:extLst>
                <a:ext uri="{FF2B5EF4-FFF2-40B4-BE49-F238E27FC236}">
                  <a16:creationId xmlns:a16="http://schemas.microsoft.com/office/drawing/2014/main" id="{18FEFA9A-8110-4D98-A1F9-3443DE533DD0}"/>
                </a:ext>
              </a:extLst>
            </p:cNvPr>
            <p:cNvSpPr/>
            <p:nvPr/>
          </p:nvSpPr>
          <p:spPr>
            <a:xfrm>
              <a:off x="3655077" y="2738741"/>
              <a:ext cx="4323204" cy="1118447"/>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4007F508-F6D8-4904-B595-6113DDAB4FB2}"/>
                    </a:ext>
                  </a:extLst>
                </p:cNvPr>
                <p:cNvSpPr txBox="1">
                  <a:spLocks noChangeArrowheads="1"/>
                </p:cNvSpPr>
                <p:nvPr/>
              </p:nvSpPr>
              <p:spPr bwMode="auto">
                <a:xfrm>
                  <a:off x="3573443" y="2748954"/>
                  <a:ext cx="2062834" cy="457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algn="ctr" eaLnBrk="1" hangingPunct="1">
                    <a:buFont typeface="Wingdings" panose="05000000000000000000" pitchFamily="2" charset="2"/>
                    <a:buNone/>
                  </a:pPr>
                  <a:r>
                    <a:rPr lang="en-US" altLang="zh-CN" sz="2400" kern="0" dirty="0">
                      <a:latin typeface="Times New Roman" panose="02020603050405020304" pitchFamily="18" charset="0"/>
                    </a:rPr>
                    <a:t>max   z=</a:t>
                  </a:r>
                  <a14:m>
                    <m:oMath xmlns:m="http://schemas.openxmlformats.org/officeDocument/2006/math">
                      <m:sSup>
                        <m:sSupPr>
                          <m:ctrlPr>
                            <a:rPr lang="en-US" altLang="zh-CN" sz="2400" b="1" i="1" kern="0" smtClean="0">
                              <a:latin typeface="Cambria Math" panose="02040503050406030204" pitchFamily="18" charset="0"/>
                            </a:rPr>
                          </m:ctrlPr>
                        </m:sSupPr>
                        <m:e>
                          <m:r>
                            <m:rPr>
                              <m:sty m:val="p"/>
                            </m:rPr>
                            <a:rPr lang="en-US" altLang="zh-CN" sz="2400" i="1" kern="0">
                              <a:latin typeface="Cambria Math" panose="02040503050406030204" pitchFamily="18" charset="0"/>
                            </a:rPr>
                            <m:t>c</m:t>
                          </m:r>
                        </m:e>
                        <m:sup>
                          <m:r>
                            <a:rPr lang="en-US" altLang="zh-CN" sz="2400" b="1" i="0" kern="0" smtClean="0">
                              <a:latin typeface="Cambria Math" panose="02040503050406030204" pitchFamily="18" charset="0"/>
                            </a:rPr>
                            <m:t>𝐓</m:t>
                          </m:r>
                        </m:sup>
                      </m:sSup>
                      <m:r>
                        <a:rPr lang="en-US" altLang="zh-CN" sz="2400" b="1" i="0" kern="0" smtClean="0">
                          <a:latin typeface="Cambria Math" panose="02040503050406030204" pitchFamily="18" charset="0"/>
                        </a:rPr>
                        <m:t>𝐱</m:t>
                      </m:r>
                    </m:oMath>
                  </a14:m>
                  <a:endParaRPr lang="en-US" altLang="zh-CN" sz="2400" kern="0" dirty="0">
                    <a:latin typeface="Times New Roman" panose="02020603050405020304" pitchFamily="18" charset="0"/>
                  </a:endParaRPr>
                </a:p>
              </p:txBody>
            </p:sp>
          </mc:Choice>
          <mc:Fallback xmlns="">
            <p:sp>
              <p:nvSpPr>
                <p:cNvPr id="7" name="Rectangle 3">
                  <a:extLst>
                    <a:ext uri="{FF2B5EF4-FFF2-40B4-BE49-F238E27FC236}">
                      <a16:creationId xmlns:a16="http://schemas.microsoft.com/office/drawing/2014/main" id="{4007F508-F6D8-4904-B595-6113DDAB4FB2}"/>
                    </a:ext>
                  </a:extLst>
                </p:cNvPr>
                <p:cNvSpPr txBox="1">
                  <a:spLocks noRot="1" noChangeAspect="1" noMove="1" noResize="1" noEditPoints="1" noAdjustHandles="1" noChangeArrowheads="1" noChangeShapeType="1" noTextEdit="1"/>
                </p:cNvSpPr>
                <p:nvPr/>
              </p:nvSpPr>
              <p:spPr bwMode="auto">
                <a:xfrm>
                  <a:off x="3573443" y="2748954"/>
                  <a:ext cx="2062834" cy="457200"/>
                </a:xfrm>
                <a:prstGeom prst="rect">
                  <a:avLst/>
                </a:prstGeom>
                <a:blipFill>
                  <a:blip r:embed="rId3"/>
                  <a:stretch>
                    <a:fillRect t="-9333"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4">
                  <a:extLst>
                    <a:ext uri="{FF2B5EF4-FFF2-40B4-BE49-F238E27FC236}">
                      <a16:creationId xmlns:a16="http://schemas.microsoft.com/office/drawing/2014/main" id="{F94FCA0B-360B-4EC6-9E5D-0375572F7ED9}"/>
                    </a:ext>
                  </a:extLst>
                </p:cNvPr>
                <p:cNvSpPr>
                  <a:spLocks noChangeArrowheads="1"/>
                </p:cNvSpPr>
                <p:nvPr/>
              </p:nvSpPr>
              <p:spPr bwMode="auto">
                <a:xfrm>
                  <a:off x="5788677" y="2738742"/>
                  <a:ext cx="2062835" cy="573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8" name="Rectangle 4">
                  <a:extLst>
                    <a:ext uri="{FF2B5EF4-FFF2-40B4-BE49-F238E27FC236}">
                      <a16:creationId xmlns:a16="http://schemas.microsoft.com/office/drawing/2014/main" id="{F94FCA0B-360B-4EC6-9E5D-0375572F7ED9}"/>
                    </a:ext>
                  </a:extLst>
                </p:cNvPr>
                <p:cNvSpPr>
                  <a:spLocks noRot="1" noChangeAspect="1" noMove="1" noResize="1" noEditPoints="1" noAdjustHandles="1" noChangeArrowheads="1" noChangeShapeType="1" noTextEdit="1"/>
                </p:cNvSpPr>
                <p:nvPr/>
              </p:nvSpPr>
              <p:spPr bwMode="auto">
                <a:xfrm>
                  <a:off x="5788677" y="2738742"/>
                  <a:ext cx="2062835" cy="573923"/>
                </a:xfrm>
                <a:prstGeom prst="rect">
                  <a:avLst/>
                </a:prstGeom>
                <a:blipFill>
                  <a:blip r:embed="rId4"/>
                  <a:stretch>
                    <a:fillRect l="-4734" t="-7447" b="-42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4DC318D-FC02-4F0D-AC72-31610E926C64}"/>
                    </a:ext>
                  </a:extLst>
                </p:cNvPr>
                <p:cNvSpPr/>
                <p:nvPr/>
              </p:nvSpPr>
              <p:spPr>
                <a:xfrm>
                  <a:off x="6033133" y="3388984"/>
                  <a:ext cx="1257460" cy="468205"/>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a:latin typeface="Cambria Math" panose="02040503050406030204" pitchFamily="18" charset="0"/>
                            </a:rPr>
                            <m:t>𝐀</m:t>
                          </m:r>
                        </m:e>
                        <m:sup>
                          <m:r>
                            <a:rPr lang="en-US" altLang="zh-CN" sz="2400" b="1" i="1">
                              <a:latin typeface="Cambria Math" panose="02040503050406030204" pitchFamily="18" charset="0"/>
                            </a:rPr>
                            <m:t>𝑻</m:t>
                          </m:r>
                        </m:sup>
                      </m:sSup>
                      <m:r>
                        <a:rPr lang="en-US" altLang="zh-CN" sz="2400" b="1" i="1">
                          <a:latin typeface="Cambria Math" panose="02040503050406030204" pitchFamily="18" charset="0"/>
                        </a:rPr>
                        <m:t>𝒚</m:t>
                      </m:r>
                      <m:r>
                        <a:rPr lang="en-US" altLang="zh-CN" sz="2400" b="1" i="1">
                          <a:latin typeface="Cambria Math" panose="02040503050406030204" pitchFamily="18" charset="0"/>
                        </a:rPr>
                        <m:t>≥</m:t>
                      </m:r>
                    </m:oMath>
                  </a14:m>
                  <a:r>
                    <a:rPr lang="en-US" altLang="zh-CN" sz="2400" b="1" dirty="0">
                      <a:latin typeface="Times New Roman" panose="02020603050405020304" pitchFamily="18" charset="0"/>
                    </a:rPr>
                    <a:t>C</a:t>
                  </a:r>
                </a:p>
              </p:txBody>
            </p:sp>
          </mc:Choice>
          <mc:Fallback xmlns="">
            <p:sp>
              <p:nvSpPr>
                <p:cNvPr id="9" name="矩形 8">
                  <a:extLst>
                    <a:ext uri="{FF2B5EF4-FFF2-40B4-BE49-F238E27FC236}">
                      <a16:creationId xmlns:a16="http://schemas.microsoft.com/office/drawing/2014/main" id="{74DC318D-FC02-4F0D-AC72-31610E926C64}"/>
                    </a:ext>
                  </a:extLst>
                </p:cNvPr>
                <p:cNvSpPr>
                  <a:spLocks noRot="1" noChangeAspect="1" noMove="1" noResize="1" noEditPoints="1" noAdjustHandles="1" noChangeArrowheads="1" noChangeShapeType="1" noTextEdit="1"/>
                </p:cNvSpPr>
                <p:nvPr/>
              </p:nvSpPr>
              <p:spPr>
                <a:xfrm>
                  <a:off x="6033133" y="3388984"/>
                  <a:ext cx="1257460" cy="468205"/>
                </a:xfrm>
                <a:prstGeom prst="rect">
                  <a:avLst/>
                </a:prstGeom>
                <a:blipFill>
                  <a:blip r:embed="rId5"/>
                  <a:stretch>
                    <a:fillRect l="-1456" t="-9091" r="-6311"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3EA9C2C7-0DA2-4858-9EBF-B1985B667C0F}"/>
                    </a:ext>
                  </a:extLst>
                </p:cNvPr>
                <p:cNvSpPr/>
                <p:nvPr/>
              </p:nvSpPr>
              <p:spPr>
                <a:xfrm>
                  <a:off x="3785025" y="3395524"/>
                  <a:ext cx="10958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i="1">
                            <a:latin typeface="Cambria Math" panose="02040503050406030204" pitchFamily="18" charset="0"/>
                          </a:rPr>
                          <m:t>≥</m:t>
                        </m:r>
                        <m:r>
                          <a:rPr lang="zh-CN" altLang="en-US" sz="2400" i="1" smtClean="0">
                            <a:latin typeface="Cambria Math" panose="02040503050406030204" pitchFamily="18" charset="0"/>
                          </a:rPr>
                          <m:t> </m:t>
                        </m:r>
                        <m:r>
                          <a:rPr lang="en-US" altLang="zh-CN" sz="2400" b="1" i="1">
                            <a:latin typeface="Cambria Math" panose="02040503050406030204" pitchFamily="18" charset="0"/>
                          </a:rPr>
                          <m:t>𝟎</m:t>
                        </m:r>
                      </m:oMath>
                    </m:oMathPara>
                  </a14:m>
                  <a:endParaRPr lang="zh-CN" altLang="en-US" sz="2400" dirty="0"/>
                </a:p>
              </p:txBody>
            </p:sp>
          </mc:Choice>
          <mc:Fallback xmlns="">
            <p:sp>
              <p:nvSpPr>
                <p:cNvPr id="10" name="矩形 9">
                  <a:extLst>
                    <a:ext uri="{FF2B5EF4-FFF2-40B4-BE49-F238E27FC236}">
                      <a16:creationId xmlns:a16="http://schemas.microsoft.com/office/drawing/2014/main" id="{3EA9C2C7-0DA2-4858-9EBF-B1985B667C0F}"/>
                    </a:ext>
                  </a:extLst>
                </p:cNvPr>
                <p:cNvSpPr>
                  <a:spLocks noRot="1" noChangeAspect="1" noMove="1" noResize="1" noEditPoints="1" noAdjustHandles="1" noChangeArrowheads="1" noChangeShapeType="1" noTextEdit="1"/>
                </p:cNvSpPr>
                <p:nvPr/>
              </p:nvSpPr>
              <p:spPr>
                <a:xfrm>
                  <a:off x="3785025" y="3395524"/>
                  <a:ext cx="1095877" cy="461665"/>
                </a:xfrm>
                <a:prstGeom prst="rect">
                  <a:avLst/>
                </a:prstGeom>
                <a:blipFill>
                  <a:blip r:embed="rId6"/>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8F58C9E-8EEB-496D-8379-55A99A7BC68F}"/>
                    </a:ext>
                  </a:extLst>
                </p:cNvPr>
                <p:cNvSpPr/>
                <p:nvPr/>
              </p:nvSpPr>
              <p:spPr>
                <a:xfrm>
                  <a:off x="6041284" y="3036749"/>
                  <a:ext cx="1279517" cy="461665"/>
                </a:xfrm>
                <a:prstGeom prst="rect">
                  <a:avLst/>
                </a:prstGeom>
              </p:spPr>
              <p:txBody>
                <a:bodyPr wrap="none">
                  <a:spAutoFit/>
                </a:bodyPr>
                <a:lstStyle/>
                <a:p>
                  <a14:m>
                    <m:oMath xmlns:m="http://schemas.openxmlformats.org/officeDocument/2006/math">
                      <m:r>
                        <a:rPr lang="en-US" altLang="zh-CN" sz="2400" i="1">
                          <a:latin typeface="Cambria Math" panose="02040503050406030204" pitchFamily="18" charset="0"/>
                        </a:rPr>
                        <m:t>𝑦</m:t>
                      </m:r>
                      <m:r>
                        <a:rPr lang="zh-CN" altLang="en-US" sz="2400" i="1">
                          <a:latin typeface="Cambria Math" panose="02040503050406030204" pitchFamily="18" charset="0"/>
                        </a:rPr>
                        <m:t>无</m:t>
                      </m:r>
                    </m:oMath>
                  </a14:m>
                  <a:r>
                    <a:rPr lang="zh-CN" altLang="en-US" sz="2400" dirty="0"/>
                    <a:t>约束</a:t>
                  </a:r>
                </a:p>
              </p:txBody>
            </p:sp>
          </mc:Choice>
          <mc:Fallback xmlns="">
            <p:sp>
              <p:nvSpPr>
                <p:cNvPr id="11" name="矩形 10">
                  <a:extLst>
                    <a:ext uri="{FF2B5EF4-FFF2-40B4-BE49-F238E27FC236}">
                      <a16:creationId xmlns:a16="http://schemas.microsoft.com/office/drawing/2014/main" id="{58F58C9E-8EEB-496D-8379-55A99A7BC68F}"/>
                    </a:ext>
                  </a:extLst>
                </p:cNvPr>
                <p:cNvSpPr>
                  <a:spLocks noRot="1" noChangeAspect="1" noMove="1" noResize="1" noEditPoints="1" noAdjustHandles="1" noChangeArrowheads="1" noChangeShapeType="1" noTextEdit="1"/>
                </p:cNvSpPr>
                <p:nvPr/>
              </p:nvSpPr>
              <p:spPr>
                <a:xfrm>
                  <a:off x="6041284" y="3036749"/>
                  <a:ext cx="1279517" cy="461665"/>
                </a:xfrm>
                <a:prstGeom prst="rect">
                  <a:avLst/>
                </a:prstGeom>
                <a:blipFill>
                  <a:blip r:embed="rId7"/>
                  <a:stretch>
                    <a:fillRect l="-1429" t="-14474" r="-6667"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30A1A28A-DFB5-43AC-B515-DEB92930EE7D}"/>
                    </a:ext>
                  </a:extLst>
                </p:cNvPr>
                <p:cNvSpPr/>
                <p:nvPr/>
              </p:nvSpPr>
              <p:spPr>
                <a:xfrm>
                  <a:off x="3860896" y="3080295"/>
                  <a:ext cx="1015021" cy="461665"/>
                </a:xfrm>
                <a:prstGeom prst="rect">
                  <a:avLst/>
                </a:prstGeom>
              </p:spPr>
              <p:txBody>
                <a:bodyPr wrap="none">
                  <a:spAutoFit/>
                </a:bodyPr>
                <a:lstStyle/>
                <a:p>
                  <a:pPr eaLnBrk="1" hangingPunct="1">
                    <a:buFont typeface="Wingdings" panose="05000000000000000000" pitchFamily="2" charset="2"/>
                    <a:buNone/>
                  </a:pPr>
                  <a:r>
                    <a:rPr lang="en-US" altLang="zh-CN" sz="2400" kern="0" dirty="0">
                      <a:latin typeface="Times New Roman" panose="02020603050405020304" pitchFamily="18" charset="0"/>
                    </a:rPr>
                    <a:t>AX</a:t>
                  </a:r>
                  <a14:m>
                    <m:oMath xmlns:m="http://schemas.openxmlformats.org/officeDocument/2006/math">
                      <m:r>
                        <a:rPr lang="en-US" altLang="zh-CN" sz="2400" b="0" i="1" kern="0" smtClean="0">
                          <a:latin typeface="Cambria Math" panose="02040503050406030204" pitchFamily="18" charset="0"/>
                        </a:rPr>
                        <m:t>=</m:t>
                      </m:r>
                    </m:oMath>
                  </a14:m>
                  <a:r>
                    <a:rPr lang="en-US" altLang="zh-CN" sz="2400" kern="0" dirty="0">
                      <a:latin typeface="Times New Roman" panose="02020603050405020304" pitchFamily="18" charset="0"/>
                    </a:rPr>
                    <a:t>b</a:t>
                  </a:r>
                </a:p>
              </p:txBody>
            </p:sp>
          </mc:Choice>
          <mc:Fallback xmlns="">
            <p:sp>
              <p:nvSpPr>
                <p:cNvPr id="12" name="矩形 11">
                  <a:extLst>
                    <a:ext uri="{FF2B5EF4-FFF2-40B4-BE49-F238E27FC236}">
                      <a16:creationId xmlns:a16="http://schemas.microsoft.com/office/drawing/2014/main" id="{30A1A28A-DFB5-43AC-B515-DEB92930EE7D}"/>
                    </a:ext>
                  </a:extLst>
                </p:cNvPr>
                <p:cNvSpPr>
                  <a:spLocks noRot="1" noChangeAspect="1" noMove="1" noResize="1" noEditPoints="1" noAdjustHandles="1" noChangeArrowheads="1" noChangeShapeType="1" noTextEdit="1"/>
                </p:cNvSpPr>
                <p:nvPr/>
              </p:nvSpPr>
              <p:spPr>
                <a:xfrm>
                  <a:off x="3860896" y="3080295"/>
                  <a:ext cx="1015021" cy="461665"/>
                </a:xfrm>
                <a:prstGeom prst="rect">
                  <a:avLst/>
                </a:prstGeom>
                <a:blipFill>
                  <a:blip r:embed="rId8"/>
                  <a:stretch>
                    <a:fillRect l="-9639" t="-10667" r="-6627" b="-30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FAF1B77-7F11-4C6B-B107-73C97002D6C8}"/>
                  </a:ext>
                </a:extLst>
              </p:cNvPr>
              <p:cNvSpPr txBox="1"/>
              <p:nvPr/>
            </p:nvSpPr>
            <p:spPr>
              <a:xfrm>
                <a:off x="5414093" y="3200400"/>
                <a:ext cx="3569517" cy="1205715"/>
              </a:xfrm>
              <a:prstGeom prst="rect">
                <a:avLst/>
              </a:prstGeom>
              <a:noFill/>
              <a:ln>
                <a:solidFill>
                  <a:schemeClr val="tx1"/>
                </a:solidFill>
              </a:ln>
            </p:spPr>
            <p:txBody>
              <a:bodyPr wrap="square" rtlCol="0">
                <a:spAutoFit/>
              </a:bodyPr>
              <a:lstStyle/>
              <a:p>
                <a:r>
                  <a:rPr lang="zh-CN" altLang="en-US" sz="2400" dirty="0"/>
                  <a:t>对偶问题的最优解是</a:t>
                </a:r>
                <a14:m>
                  <m:oMath xmlns:m="http://schemas.openxmlformats.org/officeDocument/2006/math">
                    <m:sSubSup>
                      <m:sSubSupPr>
                        <m:ctrlPr>
                          <a:rPr lang="en-US" altLang="zh-CN" sz="2400" i="1" kern="0">
                            <a:latin typeface="Cambria Math" panose="02040503050406030204" pitchFamily="18" charset="0"/>
                          </a:rPr>
                        </m:ctrlPr>
                      </m:sSubSupPr>
                      <m:e>
                        <m:r>
                          <a:rPr lang="en-US" altLang="zh-CN" sz="2400" i="1" kern="0">
                            <a:latin typeface="Cambria Math" panose="02040503050406030204" pitchFamily="18" charset="0"/>
                          </a:rPr>
                          <m:t>𝐶</m:t>
                        </m:r>
                      </m:e>
                      <m:sub>
                        <m:r>
                          <a:rPr lang="en-US" altLang="zh-CN" sz="2400" i="1" kern="0">
                            <a:latin typeface="Cambria Math" panose="02040503050406030204" pitchFamily="18" charset="0"/>
                          </a:rPr>
                          <m:t>𝐵</m:t>
                        </m:r>
                      </m:sub>
                      <m:sup>
                        <m:r>
                          <a:rPr lang="en-US" altLang="zh-CN" sz="2400" i="1" kern="0">
                            <a:latin typeface="Cambria Math" panose="02040503050406030204" pitchFamily="18" charset="0"/>
                          </a:rPr>
                          <m:t>𝑇</m:t>
                        </m:r>
                      </m:sup>
                    </m:sSubSup>
                    <m:sSup>
                      <m:sSupPr>
                        <m:ctrlPr>
                          <a:rPr lang="en-US" altLang="zh-CN" sz="2400" i="1" kern="0">
                            <a:latin typeface="Cambria Math" panose="02040503050406030204" pitchFamily="18" charset="0"/>
                          </a:rPr>
                        </m:ctrlPr>
                      </m:sSupPr>
                      <m:e>
                        <m:r>
                          <a:rPr lang="en-US" altLang="zh-CN" sz="2400" i="1" kern="0">
                            <a:latin typeface="Cambria Math" panose="02040503050406030204" pitchFamily="18" charset="0"/>
                          </a:rPr>
                          <m:t>𝐵</m:t>
                        </m:r>
                      </m:e>
                      <m:sup>
                        <m:r>
                          <a:rPr lang="en-US" altLang="zh-CN" sz="2400" i="1" kern="0">
                            <a:latin typeface="Cambria Math" panose="02040503050406030204" pitchFamily="18" charset="0"/>
                          </a:rPr>
                          <m:t>−1</m:t>
                        </m:r>
                      </m:sup>
                    </m:sSup>
                  </m:oMath>
                </a14:m>
                <a:r>
                  <a:rPr lang="zh-CN" altLang="en-US" sz="2400" dirty="0"/>
                  <a:t>，隐藏在单纯性法的计算中</a:t>
                </a:r>
              </a:p>
            </p:txBody>
          </p:sp>
        </mc:Choice>
        <mc:Fallback xmlns="">
          <p:sp>
            <p:nvSpPr>
              <p:cNvPr id="13" name="文本框 12">
                <a:extLst>
                  <a:ext uri="{FF2B5EF4-FFF2-40B4-BE49-F238E27FC236}">
                    <a16:creationId xmlns:a16="http://schemas.microsoft.com/office/drawing/2014/main" id="{6FAF1B77-7F11-4C6B-B107-73C97002D6C8}"/>
                  </a:ext>
                </a:extLst>
              </p:cNvPr>
              <p:cNvSpPr txBox="1">
                <a:spLocks noRot="1" noChangeAspect="1" noMove="1" noResize="1" noEditPoints="1" noAdjustHandles="1" noChangeArrowheads="1" noChangeShapeType="1" noTextEdit="1"/>
              </p:cNvSpPr>
              <p:nvPr/>
            </p:nvSpPr>
            <p:spPr>
              <a:xfrm>
                <a:off x="5414093" y="3200400"/>
                <a:ext cx="3569517" cy="1205715"/>
              </a:xfrm>
              <a:prstGeom prst="rect">
                <a:avLst/>
              </a:prstGeom>
              <a:blipFill>
                <a:blip r:embed="rId9"/>
                <a:stretch>
                  <a:fillRect l="-2381" t="-3500" r="-170" b="-8500"/>
                </a:stretch>
              </a:blipFill>
              <a:ln>
                <a:solidFill>
                  <a:schemeClr val="tx1"/>
                </a:solidFill>
              </a:ln>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17F34978-6407-43EE-8F8D-878B825D5879}"/>
              </a:ext>
            </a:extLst>
          </p:cNvPr>
          <p:cNvSpPr txBox="1"/>
          <p:nvPr/>
        </p:nvSpPr>
        <p:spPr>
          <a:xfrm>
            <a:off x="725247" y="3896413"/>
            <a:ext cx="4118693" cy="1384995"/>
          </a:xfrm>
          <a:prstGeom prst="rect">
            <a:avLst/>
          </a:prstGeom>
          <a:noFill/>
        </p:spPr>
        <p:txBody>
          <a:bodyPr wrap="square" rtlCol="0">
            <a:spAutoFit/>
          </a:bodyPr>
          <a:lstStyle/>
          <a:p>
            <a:r>
              <a:rPr lang="zh-CN" altLang="en-US" sz="2800" dirty="0"/>
              <a:t>写出该问题的对偶问题，并直接写出对偶问题的最优解</a:t>
            </a:r>
          </a:p>
        </p:txBody>
      </p:sp>
    </p:spTree>
    <p:extLst>
      <p:ext uri="{BB962C8B-B14F-4D97-AF65-F5344CB8AC3E}">
        <p14:creationId xmlns:p14="http://schemas.microsoft.com/office/powerpoint/2010/main" val="3033985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1D4781F6-31D7-4E79-9553-BCB5FAB08395}"/>
                  </a:ext>
                </a:extLst>
              </p:cNvPr>
              <p:cNvSpPr txBox="1">
                <a:spLocks noGrp="1"/>
              </p:cNvSpPr>
              <p:nvPr>
                <p:ph idx="1"/>
              </p:nvPr>
            </p:nvSpPr>
            <p:spPr bwMode="auto">
              <a:xfrm>
                <a:off x="424081" y="1417638"/>
                <a:ext cx="4269945" cy="2286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a:rPr lang="en-US" altLang="zh-CN" b="0" i="1" kern="0" smtClean="0">
                            <a:latin typeface="Cambria Math" panose="02040503050406030204" pitchFamily="18" charset="0"/>
                          </a:rPr>
                          <m:t>𝑚𝑎𝑥</m:t>
                        </m:r>
                      </m:fName>
                      <m:e>
                        <m:r>
                          <a:rPr lang="en-US" altLang="zh-CN" b="0" i="1" kern="0" smtClean="0">
                            <a:latin typeface="Cambria Math" panose="02040503050406030204" pitchFamily="18" charset="0"/>
                          </a:rPr>
                          <m:t>𝑧</m:t>
                        </m:r>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2</m:t>
                                  </m:r>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1</m:t>
                                  </m:r>
                                </m:sub>
                              </m:sSub>
                              <m:r>
                                <m:rPr>
                                  <m:brk m:alnAt="7"/>
                                </m:rP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1">
                                      <a:latin typeface="Cambria Math" panose="02040503050406030204" pitchFamily="18" charset="0"/>
                                    </a:rPr>
                                    <m:t>x</m:t>
                                  </m:r>
                                </m:e>
                                <m:sub>
                                  <m:r>
                                    <a:rPr lang="en-US" altLang="zh-CN" b="0" i="1" smtClean="0">
                                      <a:latin typeface="Cambria Math" panose="02040503050406030204" pitchFamily="18" charset="0"/>
                                    </a:rPr>
                                    <m:t>3</m:t>
                                  </m:r>
                                </m:sub>
                              </m:sSub>
                              <m:r>
                                <a:rPr lang="en-US" altLang="zh-CN" b="0" i="1" kern="0" smtClean="0">
                                  <a:latin typeface="Cambria Math" panose="02040503050406030204" pitchFamily="18" charset="0"/>
                                </a:rPr>
                                <m:t>=12</m:t>
                              </m:r>
                            </m:e>
                          </m:mr>
                          <m:mr>
                            <m:e>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1</m:t>
                                  </m:r>
                                </m:sub>
                              </m:sSub>
                              <m:r>
                                <m:rPr>
                                  <m:brk m:alnAt="7"/>
                                </m:rPr>
                                <a:rPr lang="en-US" altLang="zh-CN" i="1" kern="0">
                                  <a:latin typeface="Cambria Math" panose="02040503050406030204" pitchFamily="18" charset="0"/>
                                </a:rPr>
                                <m:t>+</m:t>
                              </m:r>
                              <m:r>
                                <a:rPr lang="en-US" altLang="zh-CN" i="1" kern="0">
                                  <a:latin typeface="Cambria Math" panose="02040503050406030204" pitchFamily="18" charset="0"/>
                                </a:rPr>
                                <m:t>2</m:t>
                              </m:r>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2</m:t>
                                  </m:r>
                                </m:sub>
                              </m:sSub>
                              <m:r>
                                <a:rPr lang="en-US" altLang="zh-CN" b="1"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4</m:t>
                                  </m:r>
                                </m:sub>
                              </m:sSub>
                              <m:r>
                                <a:rPr lang="en-US" altLang="zh-CN" b="1" i="1" kern="0" smtClean="0">
                                  <a:latin typeface="Cambria Math" panose="02040503050406030204" pitchFamily="18" charset="0"/>
                                </a:rPr>
                                <m:t>=</m:t>
                              </m:r>
                              <m:r>
                                <a:rPr lang="en-US" altLang="zh-CN" b="0" i="1" kern="0" smtClean="0">
                                  <a:latin typeface="Cambria Math" panose="02040503050406030204" pitchFamily="18" charset="0"/>
                                </a:rPr>
                                <m:t>9</m:t>
                              </m:r>
                            </m:e>
                          </m:m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 ,</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3</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4</m:t>
                                  </m:r>
                                </m:sub>
                              </m:sSub>
                              <m:r>
                                <a:rPr lang="en-US" altLang="zh-CN" b="0" i="1" kern="0" smtClean="0">
                                  <a:latin typeface="Cambria Math" panose="02040503050406030204" pitchFamily="18" charset="0"/>
                                </a:rPr>
                                <m:t>≥0</m:t>
                              </m:r>
                            </m:e>
                          </m:mr>
                        </m:m>
                      </m:e>
                    </m:d>
                  </m:oMath>
                </a14:m>
                <a:endParaRPr lang="zh-CN" altLang="en-US" kern="0" dirty="0"/>
              </a:p>
            </p:txBody>
          </p:sp>
        </mc:Choice>
        <mc:Fallback xmlns="">
          <p:sp>
            <p:nvSpPr>
              <p:cNvPr id="4" name="内容占位符 2">
                <a:extLst>
                  <a:ext uri="{FF2B5EF4-FFF2-40B4-BE49-F238E27FC236}">
                    <a16:creationId xmlns:a16="http://schemas.microsoft.com/office/drawing/2014/main" id="{1D4781F6-31D7-4E79-9553-BCB5FAB08395}"/>
                  </a:ext>
                </a:extLst>
              </p:cNvPr>
              <p:cNvSpPr txBox="1">
                <a:spLocks noGrp="1" noRot="1" noChangeAspect="1" noMove="1" noResize="1" noEditPoints="1" noAdjustHandles="1" noChangeArrowheads="1" noChangeShapeType="1" noTextEdit="1"/>
              </p:cNvSpPr>
              <p:nvPr>
                <p:ph idx="1"/>
              </p:nvPr>
            </p:nvSpPr>
            <p:spPr bwMode="auto">
              <a:xfrm>
                <a:off x="424081" y="1417638"/>
                <a:ext cx="4269945" cy="2286000"/>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C341F6DD-2BDD-49B6-AEA5-8D064642A341}"/>
                  </a:ext>
                </a:extLst>
              </p:cNvPr>
              <p:cNvSpPr txBox="1">
                <a:spLocks/>
              </p:cNvSpPr>
              <p:nvPr/>
            </p:nvSpPr>
            <p:spPr bwMode="auto">
              <a:xfrm>
                <a:off x="4727145" y="1417638"/>
                <a:ext cx="4269945" cy="30019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m:rPr>
                            <m:sty m:val="p"/>
                          </m:rPr>
                          <a:rPr lang="en-US" altLang="zh-CN" b="0" i="1" kern="0">
                            <a:latin typeface="Cambria Math" panose="02040503050406030204" pitchFamily="18" charset="0"/>
                          </a:rPr>
                          <m:t>min</m:t>
                        </m:r>
                      </m:fName>
                      <m:e>
                        <m:r>
                          <a:rPr lang="en-US" altLang="zh-CN" b="0" i="1" kern="0" smtClean="0">
                            <a:latin typeface="Cambria Math" panose="02040503050406030204" pitchFamily="18" charset="0"/>
                          </a:rPr>
                          <m:t>𝜔</m:t>
                        </m:r>
                        <m:r>
                          <a:rPr lang="en-US" altLang="zh-CN" b="0" i="1" kern="0" smtClean="0">
                            <a:latin typeface="Cambria Math" panose="02040503050406030204" pitchFamily="18" charset="0"/>
                          </a:rPr>
                          <m:t>=12</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9</m:t>
                            </m:r>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r>
                                <a:rPr lang="en-US" altLang="zh-CN" b="0" i="1" kern="0" smtClean="0">
                                  <a:latin typeface="Cambria Math" panose="02040503050406030204" pitchFamily="18" charset="0"/>
                                </a:rPr>
                                <m:t>2</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≥1</m:t>
                              </m:r>
                            </m:e>
                          </m:mr>
                          <m:mr>
                            <m:e>
                              <m:sSub>
                                <m:sSubPr>
                                  <m:ctrlPr>
                                    <a:rPr lang="en-US" altLang="zh-CN" b="0" i="1" kern="0">
                                      <a:latin typeface="Cambria Math" panose="02040503050406030204" pitchFamily="18" charset="0"/>
                                    </a:rPr>
                                  </m:ctrlPr>
                                </m:sSubPr>
                                <m:e>
                                  <m:r>
                                    <a:rPr lang="en-US" altLang="zh-CN" b="0" i="1" kern="0">
                                      <a:latin typeface="Cambria Math" panose="02040503050406030204" pitchFamily="18" charset="0"/>
                                    </a:rPr>
                                    <m:t>𝑦</m:t>
                                  </m:r>
                                </m:e>
                                <m:sub>
                                  <m:r>
                                    <a:rPr lang="en-US" altLang="zh-CN" b="0" i="1" kern="0">
                                      <a:latin typeface="Cambria Math" panose="02040503050406030204" pitchFamily="18" charset="0"/>
                                    </a:rPr>
                                    <m:t>1</m:t>
                                  </m:r>
                                </m:sub>
                              </m:sSub>
                              <m:r>
                                <a:rPr lang="en-US" altLang="zh-CN" b="0" i="1" kern="0">
                                  <a:latin typeface="Cambria Math" panose="02040503050406030204" pitchFamily="18" charset="0"/>
                                </a:rPr>
                                <m:t>+</m:t>
                              </m:r>
                              <m:sSub>
                                <m:sSubPr>
                                  <m:ctrlPr>
                                    <a:rPr lang="en-US" altLang="zh-CN" b="0" i="1" kern="0">
                                      <a:latin typeface="Cambria Math" panose="02040503050406030204" pitchFamily="18" charset="0"/>
                                    </a:rPr>
                                  </m:ctrlPr>
                                </m:sSubPr>
                                <m:e>
                                  <m:r>
                                    <a:rPr lang="en-US" altLang="zh-CN" b="0" i="1" kern="0" smtClean="0">
                                      <a:latin typeface="Cambria Math" panose="02040503050406030204" pitchFamily="18" charset="0"/>
                                    </a:rPr>
                                    <m:t>2</m:t>
                                  </m:r>
                                  <m:r>
                                    <a:rPr lang="en-US" altLang="zh-CN" b="0" i="1" kern="0">
                                      <a:latin typeface="Cambria Math" panose="02040503050406030204" pitchFamily="18" charset="0"/>
                                    </a:rPr>
                                    <m:t>𝑦</m:t>
                                  </m:r>
                                </m:e>
                                <m:sub>
                                  <m:r>
                                    <a:rPr lang="en-US" altLang="zh-CN" b="0" i="1" kern="0">
                                      <a:latin typeface="Cambria Math" panose="02040503050406030204" pitchFamily="18" charset="0"/>
                                    </a:rPr>
                                    <m:t>2</m:t>
                                  </m:r>
                                </m:sub>
                              </m:sSub>
                              <m:r>
                                <a:rPr lang="en-US" altLang="zh-CN" b="1" i="1" kern="0" smtClean="0">
                                  <a:latin typeface="Cambria Math" panose="02040503050406030204" pitchFamily="18" charset="0"/>
                                </a:rPr>
                                <m:t>≥</m:t>
                              </m:r>
                              <m:r>
                                <a:rPr lang="en-US" altLang="zh-CN" b="0" i="1" kern="0" smtClean="0">
                                  <a:latin typeface="Cambria Math" panose="02040503050406030204" pitchFamily="18" charset="0"/>
                                </a:rPr>
                                <m:t>1</m:t>
                              </m:r>
                            </m:e>
                          </m:mr>
                          <m:mr>
                            <m:e>
                              <m:eqArr>
                                <m:eqArrPr>
                                  <m:ctrlPr>
                                    <a:rPr lang="en-US" altLang="zh-CN" b="0" i="1" kern="0" smtClean="0">
                                      <a:latin typeface="Cambria Math" panose="02040503050406030204" pitchFamily="18" charset="0"/>
                                    </a:rPr>
                                  </m:ctrlPr>
                                </m:eqArrP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≥0</m:t>
                                  </m:r>
                                </m:e>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≥0</m:t>
                                  </m:r>
                                </m:e>
                              </m:eqArr>
                            </m:e>
                          </m:mr>
                        </m:m>
                      </m:e>
                    </m:d>
                  </m:oMath>
                </a14:m>
                <a:endParaRPr lang="zh-CN" altLang="en-US" kern="0" dirty="0"/>
              </a:p>
            </p:txBody>
          </p:sp>
        </mc:Choice>
        <mc:Fallback xmlns="">
          <p:sp>
            <p:nvSpPr>
              <p:cNvPr id="5" name="内容占位符 2">
                <a:extLst>
                  <a:ext uri="{FF2B5EF4-FFF2-40B4-BE49-F238E27FC236}">
                    <a16:creationId xmlns:a16="http://schemas.microsoft.com/office/drawing/2014/main" id="{C341F6DD-2BDD-49B6-AEA5-8D064642A341}"/>
                  </a:ext>
                </a:extLst>
              </p:cNvPr>
              <p:cNvSpPr txBox="1">
                <a:spLocks noRot="1" noChangeAspect="1" noMove="1" noResize="1" noEditPoints="1" noAdjustHandles="1" noChangeArrowheads="1" noChangeShapeType="1" noTextEdit="1"/>
              </p:cNvSpPr>
              <p:nvPr/>
            </p:nvSpPr>
            <p:spPr bwMode="auto">
              <a:xfrm>
                <a:off x="4727145" y="1417638"/>
                <a:ext cx="4269945" cy="3001962"/>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B5EA3D0A-7B7A-4399-8FB0-F738183A1BF3}"/>
              </a:ext>
            </a:extLst>
          </p:cNvPr>
          <p:cNvGrpSpPr/>
          <p:nvPr/>
        </p:nvGrpSpPr>
        <p:grpSpPr>
          <a:xfrm>
            <a:off x="1981200" y="299190"/>
            <a:ext cx="4404838" cy="1118448"/>
            <a:chOff x="3573443" y="2738741"/>
            <a:chExt cx="4404838" cy="1118448"/>
          </a:xfrm>
        </p:grpSpPr>
        <p:sp>
          <p:nvSpPr>
            <p:cNvPr id="7" name="矩形 6">
              <a:extLst>
                <a:ext uri="{FF2B5EF4-FFF2-40B4-BE49-F238E27FC236}">
                  <a16:creationId xmlns:a16="http://schemas.microsoft.com/office/drawing/2014/main" id="{CC0C98BD-5378-4324-A4A3-79BE2E2B8426}"/>
                </a:ext>
              </a:extLst>
            </p:cNvPr>
            <p:cNvSpPr/>
            <p:nvPr/>
          </p:nvSpPr>
          <p:spPr>
            <a:xfrm>
              <a:off x="3655077" y="2738741"/>
              <a:ext cx="4323204" cy="1118447"/>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CE937B0C-B695-451B-956B-29F0B466EC34}"/>
                    </a:ext>
                  </a:extLst>
                </p:cNvPr>
                <p:cNvSpPr txBox="1">
                  <a:spLocks noChangeArrowheads="1"/>
                </p:cNvSpPr>
                <p:nvPr/>
              </p:nvSpPr>
              <p:spPr bwMode="auto">
                <a:xfrm>
                  <a:off x="3573443" y="2748954"/>
                  <a:ext cx="2062834" cy="457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algn="ctr" eaLnBrk="1" hangingPunct="1">
                    <a:buFont typeface="Wingdings" panose="05000000000000000000" pitchFamily="2" charset="2"/>
                    <a:buNone/>
                  </a:pPr>
                  <a:r>
                    <a:rPr lang="en-US" altLang="zh-CN" sz="2400" kern="0" dirty="0">
                      <a:latin typeface="Times New Roman" panose="02020603050405020304" pitchFamily="18" charset="0"/>
                    </a:rPr>
                    <a:t>max   z=</a:t>
                  </a:r>
                  <a14:m>
                    <m:oMath xmlns:m="http://schemas.openxmlformats.org/officeDocument/2006/math">
                      <m:sSup>
                        <m:sSupPr>
                          <m:ctrlPr>
                            <a:rPr lang="en-US" altLang="zh-CN" sz="2400" b="1" i="1" kern="0" smtClean="0">
                              <a:latin typeface="Cambria Math" panose="02040503050406030204" pitchFamily="18" charset="0"/>
                            </a:rPr>
                          </m:ctrlPr>
                        </m:sSupPr>
                        <m:e>
                          <m:r>
                            <m:rPr>
                              <m:sty m:val="p"/>
                            </m:rPr>
                            <a:rPr lang="en-US" altLang="zh-CN" sz="2400" i="1" kern="0">
                              <a:latin typeface="Cambria Math" panose="02040503050406030204" pitchFamily="18" charset="0"/>
                            </a:rPr>
                            <m:t>c</m:t>
                          </m:r>
                        </m:e>
                        <m:sup>
                          <m:r>
                            <a:rPr lang="en-US" altLang="zh-CN" sz="2400" b="1" i="0" kern="0" smtClean="0">
                              <a:latin typeface="Cambria Math" panose="02040503050406030204" pitchFamily="18" charset="0"/>
                            </a:rPr>
                            <m:t>𝐓</m:t>
                          </m:r>
                        </m:sup>
                      </m:sSup>
                      <m:r>
                        <a:rPr lang="en-US" altLang="zh-CN" sz="2400" b="1" i="0" kern="0" smtClean="0">
                          <a:latin typeface="Cambria Math" panose="02040503050406030204" pitchFamily="18" charset="0"/>
                        </a:rPr>
                        <m:t>𝐱</m:t>
                      </m:r>
                    </m:oMath>
                  </a14:m>
                  <a:endParaRPr lang="en-US" altLang="zh-CN" sz="2400" kern="0" dirty="0">
                    <a:latin typeface="Times New Roman" panose="02020603050405020304" pitchFamily="18" charset="0"/>
                  </a:endParaRPr>
                </a:p>
              </p:txBody>
            </p:sp>
          </mc:Choice>
          <mc:Fallback xmlns="">
            <p:sp>
              <p:nvSpPr>
                <p:cNvPr id="8" name="Rectangle 3">
                  <a:extLst>
                    <a:ext uri="{FF2B5EF4-FFF2-40B4-BE49-F238E27FC236}">
                      <a16:creationId xmlns:a16="http://schemas.microsoft.com/office/drawing/2014/main" id="{CE937B0C-B695-451B-956B-29F0B466EC34}"/>
                    </a:ext>
                  </a:extLst>
                </p:cNvPr>
                <p:cNvSpPr txBox="1">
                  <a:spLocks noRot="1" noChangeAspect="1" noMove="1" noResize="1" noEditPoints="1" noAdjustHandles="1" noChangeArrowheads="1" noChangeShapeType="1" noTextEdit="1"/>
                </p:cNvSpPr>
                <p:nvPr/>
              </p:nvSpPr>
              <p:spPr bwMode="auto">
                <a:xfrm>
                  <a:off x="3573443" y="2748954"/>
                  <a:ext cx="2062834" cy="457200"/>
                </a:xfrm>
                <a:prstGeom prst="rect">
                  <a:avLst/>
                </a:prstGeom>
                <a:blipFill>
                  <a:blip r:embed="rId4"/>
                  <a:stretch>
                    <a:fillRect t="-9333"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4">
                  <a:extLst>
                    <a:ext uri="{FF2B5EF4-FFF2-40B4-BE49-F238E27FC236}">
                      <a16:creationId xmlns:a16="http://schemas.microsoft.com/office/drawing/2014/main" id="{22D095ED-1B1E-4215-BDD8-E03B81426351}"/>
                    </a:ext>
                  </a:extLst>
                </p:cNvPr>
                <p:cNvSpPr>
                  <a:spLocks noChangeArrowheads="1"/>
                </p:cNvSpPr>
                <p:nvPr/>
              </p:nvSpPr>
              <p:spPr bwMode="auto">
                <a:xfrm>
                  <a:off x="5788677" y="2738742"/>
                  <a:ext cx="2062835" cy="57392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a:t>
                  </a: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𝒃</m:t>
                          </m:r>
                        </m:e>
                        <m:sup>
                          <m:r>
                            <a:rPr lang="en-US" altLang="zh-CN" sz="2400" b="1" i="1" smtClean="0">
                              <a:latin typeface="Cambria Math" panose="02040503050406030204" pitchFamily="18" charset="0"/>
                            </a:rPr>
                            <m:t>𝑻</m:t>
                          </m:r>
                        </m:sup>
                      </m:sSup>
                      <m:r>
                        <a:rPr lang="en-US" altLang="zh-CN" sz="2400" b="1" i="1" smtClean="0">
                          <a:latin typeface="Cambria Math" panose="02040503050406030204" pitchFamily="18" charset="0"/>
                        </a:rPr>
                        <m:t>𝒚</m:t>
                      </m:r>
                    </m:oMath>
                  </a14:m>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b="1" dirty="0">
                      <a:latin typeface="Times New Roman" panose="02020603050405020304" pitchFamily="18" charset="0"/>
                    </a:rPr>
                    <a:t>          </a:t>
                  </a:r>
                </a:p>
                <a:p>
                  <a:pPr eaLnBrk="1" hangingPunct="1">
                    <a:spcBef>
                      <a:spcPct val="20000"/>
                    </a:spcBef>
                    <a:buClr>
                      <a:schemeClr val="accent1"/>
                    </a:buClr>
                    <a:buSzPct val="65000"/>
                    <a:buFont typeface="Wingdings" panose="05000000000000000000" pitchFamily="2" charset="2"/>
                    <a:buNone/>
                  </a:pPr>
                  <a:r>
                    <a:rPr lang="en-US" altLang="zh-CN" sz="2400" dirty="0">
                      <a:latin typeface="Times New Roman" panose="02020603050405020304" pitchFamily="18" charset="0"/>
                    </a:rPr>
                    <a:t>            </a:t>
                  </a:r>
                  <a:endParaRPr lang="en-US" altLang="zh-CN" sz="2400" b="1" dirty="0"/>
                </a:p>
              </p:txBody>
            </p:sp>
          </mc:Choice>
          <mc:Fallback xmlns="">
            <p:sp>
              <p:nvSpPr>
                <p:cNvPr id="9" name="Rectangle 4">
                  <a:extLst>
                    <a:ext uri="{FF2B5EF4-FFF2-40B4-BE49-F238E27FC236}">
                      <a16:creationId xmlns:a16="http://schemas.microsoft.com/office/drawing/2014/main" id="{22D095ED-1B1E-4215-BDD8-E03B81426351}"/>
                    </a:ext>
                  </a:extLst>
                </p:cNvPr>
                <p:cNvSpPr>
                  <a:spLocks noRot="1" noChangeAspect="1" noMove="1" noResize="1" noEditPoints="1" noAdjustHandles="1" noChangeArrowheads="1" noChangeShapeType="1" noTextEdit="1"/>
                </p:cNvSpPr>
                <p:nvPr/>
              </p:nvSpPr>
              <p:spPr bwMode="auto">
                <a:xfrm>
                  <a:off x="5788677" y="2738742"/>
                  <a:ext cx="2062835" cy="573923"/>
                </a:xfrm>
                <a:prstGeom prst="rect">
                  <a:avLst/>
                </a:prstGeom>
                <a:blipFill>
                  <a:blip r:embed="rId5"/>
                  <a:stretch>
                    <a:fillRect l="-4425" t="-7447" b="-53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9FB743E-1301-41E8-9BCA-EFD0EC6C2760}"/>
                    </a:ext>
                  </a:extLst>
                </p:cNvPr>
                <p:cNvSpPr/>
                <p:nvPr/>
              </p:nvSpPr>
              <p:spPr>
                <a:xfrm>
                  <a:off x="6033133" y="3388984"/>
                  <a:ext cx="1257460" cy="468205"/>
                </a:xfrm>
                <a:prstGeom prst="rect">
                  <a:avLst/>
                </a:prstGeom>
              </p:spPr>
              <p:txBody>
                <a:bodyPr wrap="none">
                  <a:spAutoFit/>
                </a:bodyPr>
                <a:lstStyle/>
                <a:p>
                  <a:pPr eaLnBrk="1" hangingPunct="1">
                    <a:spcBef>
                      <a:spcPct val="20000"/>
                    </a:spcBef>
                    <a:buClr>
                      <a:schemeClr val="accent1"/>
                    </a:buClr>
                    <a:buSzPct val="65000"/>
                    <a:buFont typeface="Wingdings" panose="05000000000000000000" pitchFamily="2" charset="2"/>
                    <a:buNone/>
                  </a:pPr>
                  <a14:m>
                    <m:oMath xmlns:m="http://schemas.openxmlformats.org/officeDocument/2006/math">
                      <m:sSup>
                        <m:sSupPr>
                          <m:ctrlPr>
                            <a:rPr lang="en-US" altLang="zh-CN" sz="2400" b="1" i="1" smtClean="0">
                              <a:latin typeface="Cambria Math" panose="02040503050406030204" pitchFamily="18" charset="0"/>
                            </a:rPr>
                          </m:ctrlPr>
                        </m:sSupPr>
                        <m:e>
                          <m:r>
                            <a:rPr lang="en-US" altLang="zh-CN" sz="2400" b="1">
                              <a:latin typeface="Cambria Math" panose="02040503050406030204" pitchFamily="18" charset="0"/>
                            </a:rPr>
                            <m:t>𝐀</m:t>
                          </m:r>
                        </m:e>
                        <m:sup>
                          <m:r>
                            <a:rPr lang="en-US" altLang="zh-CN" sz="2400" b="1" i="1">
                              <a:latin typeface="Cambria Math" panose="02040503050406030204" pitchFamily="18" charset="0"/>
                            </a:rPr>
                            <m:t>𝑻</m:t>
                          </m:r>
                        </m:sup>
                      </m:sSup>
                      <m:r>
                        <a:rPr lang="en-US" altLang="zh-CN" sz="2400" b="1" i="1">
                          <a:latin typeface="Cambria Math" panose="02040503050406030204" pitchFamily="18" charset="0"/>
                        </a:rPr>
                        <m:t>𝒚</m:t>
                      </m:r>
                      <m:r>
                        <a:rPr lang="en-US" altLang="zh-CN" sz="2400" b="1" i="1">
                          <a:latin typeface="Cambria Math" panose="02040503050406030204" pitchFamily="18" charset="0"/>
                        </a:rPr>
                        <m:t>≥</m:t>
                      </m:r>
                    </m:oMath>
                  </a14:m>
                  <a:r>
                    <a:rPr lang="en-US" altLang="zh-CN" sz="2400" b="1" dirty="0">
                      <a:latin typeface="Times New Roman" panose="02020603050405020304" pitchFamily="18" charset="0"/>
                    </a:rPr>
                    <a:t>C</a:t>
                  </a:r>
                </a:p>
              </p:txBody>
            </p:sp>
          </mc:Choice>
          <mc:Fallback xmlns="">
            <p:sp>
              <p:nvSpPr>
                <p:cNvPr id="10" name="矩形 9">
                  <a:extLst>
                    <a:ext uri="{FF2B5EF4-FFF2-40B4-BE49-F238E27FC236}">
                      <a16:creationId xmlns:a16="http://schemas.microsoft.com/office/drawing/2014/main" id="{79FB743E-1301-41E8-9BCA-EFD0EC6C2760}"/>
                    </a:ext>
                  </a:extLst>
                </p:cNvPr>
                <p:cNvSpPr>
                  <a:spLocks noRot="1" noChangeAspect="1" noMove="1" noResize="1" noEditPoints="1" noAdjustHandles="1" noChangeArrowheads="1" noChangeShapeType="1" noTextEdit="1"/>
                </p:cNvSpPr>
                <p:nvPr/>
              </p:nvSpPr>
              <p:spPr>
                <a:xfrm>
                  <a:off x="6033133" y="3388984"/>
                  <a:ext cx="1257460" cy="468205"/>
                </a:xfrm>
                <a:prstGeom prst="rect">
                  <a:avLst/>
                </a:prstGeom>
                <a:blipFill>
                  <a:blip r:embed="rId6"/>
                  <a:stretch>
                    <a:fillRect l="-966" t="-9091" r="-6280"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D9FDEB7A-FD3B-4AF1-A0A3-17C2D23BF65A}"/>
                    </a:ext>
                  </a:extLst>
                </p:cNvPr>
                <p:cNvSpPr/>
                <p:nvPr/>
              </p:nvSpPr>
              <p:spPr>
                <a:xfrm>
                  <a:off x="3785025" y="3395524"/>
                  <a:ext cx="10958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𝑥</m:t>
                        </m:r>
                        <m:r>
                          <a:rPr lang="en-US" altLang="zh-CN" sz="2400" i="1">
                            <a:latin typeface="Cambria Math" panose="02040503050406030204" pitchFamily="18" charset="0"/>
                          </a:rPr>
                          <m:t>≥</m:t>
                        </m:r>
                        <m:r>
                          <a:rPr lang="zh-CN" altLang="en-US" sz="2400" i="1" smtClean="0">
                            <a:latin typeface="Cambria Math" panose="02040503050406030204" pitchFamily="18" charset="0"/>
                          </a:rPr>
                          <m:t> </m:t>
                        </m:r>
                        <m:r>
                          <a:rPr lang="en-US" altLang="zh-CN" sz="2400" b="1" i="1">
                            <a:latin typeface="Cambria Math" panose="02040503050406030204" pitchFamily="18" charset="0"/>
                          </a:rPr>
                          <m:t>𝟎</m:t>
                        </m:r>
                      </m:oMath>
                    </m:oMathPara>
                  </a14:m>
                  <a:endParaRPr lang="zh-CN" altLang="en-US" sz="2400" dirty="0"/>
                </a:p>
              </p:txBody>
            </p:sp>
          </mc:Choice>
          <mc:Fallback xmlns="">
            <p:sp>
              <p:nvSpPr>
                <p:cNvPr id="11" name="矩形 10">
                  <a:extLst>
                    <a:ext uri="{FF2B5EF4-FFF2-40B4-BE49-F238E27FC236}">
                      <a16:creationId xmlns:a16="http://schemas.microsoft.com/office/drawing/2014/main" id="{D9FDEB7A-FD3B-4AF1-A0A3-17C2D23BF65A}"/>
                    </a:ext>
                  </a:extLst>
                </p:cNvPr>
                <p:cNvSpPr>
                  <a:spLocks noRot="1" noChangeAspect="1" noMove="1" noResize="1" noEditPoints="1" noAdjustHandles="1" noChangeArrowheads="1" noChangeShapeType="1" noTextEdit="1"/>
                </p:cNvSpPr>
                <p:nvPr/>
              </p:nvSpPr>
              <p:spPr>
                <a:xfrm>
                  <a:off x="3785025" y="3395524"/>
                  <a:ext cx="1095877" cy="461665"/>
                </a:xfrm>
                <a:prstGeom prst="rect">
                  <a:avLst/>
                </a:prstGeom>
                <a:blipFill>
                  <a:blip r:embed="rId7"/>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565C89DF-B5A8-443E-98FD-2E20B41E90B8}"/>
                    </a:ext>
                  </a:extLst>
                </p:cNvPr>
                <p:cNvSpPr/>
                <p:nvPr/>
              </p:nvSpPr>
              <p:spPr>
                <a:xfrm>
                  <a:off x="6041284" y="3036749"/>
                  <a:ext cx="1279517" cy="461665"/>
                </a:xfrm>
                <a:prstGeom prst="rect">
                  <a:avLst/>
                </a:prstGeom>
              </p:spPr>
              <p:txBody>
                <a:bodyPr wrap="none">
                  <a:spAutoFit/>
                </a:bodyPr>
                <a:lstStyle/>
                <a:p>
                  <a14:m>
                    <m:oMath xmlns:m="http://schemas.openxmlformats.org/officeDocument/2006/math">
                      <m:r>
                        <a:rPr lang="en-US" altLang="zh-CN" sz="2400" i="1">
                          <a:latin typeface="Cambria Math" panose="02040503050406030204" pitchFamily="18" charset="0"/>
                        </a:rPr>
                        <m:t>𝑦</m:t>
                      </m:r>
                      <m:r>
                        <a:rPr lang="zh-CN" altLang="en-US" sz="2400" i="1">
                          <a:latin typeface="Cambria Math" panose="02040503050406030204" pitchFamily="18" charset="0"/>
                        </a:rPr>
                        <m:t>无</m:t>
                      </m:r>
                    </m:oMath>
                  </a14:m>
                  <a:r>
                    <a:rPr lang="zh-CN" altLang="en-US" sz="2400" dirty="0"/>
                    <a:t>约束</a:t>
                  </a:r>
                </a:p>
              </p:txBody>
            </p:sp>
          </mc:Choice>
          <mc:Fallback xmlns="">
            <p:sp>
              <p:nvSpPr>
                <p:cNvPr id="12" name="矩形 11">
                  <a:extLst>
                    <a:ext uri="{FF2B5EF4-FFF2-40B4-BE49-F238E27FC236}">
                      <a16:creationId xmlns:a16="http://schemas.microsoft.com/office/drawing/2014/main" id="{565C89DF-B5A8-443E-98FD-2E20B41E90B8}"/>
                    </a:ext>
                  </a:extLst>
                </p:cNvPr>
                <p:cNvSpPr>
                  <a:spLocks noRot="1" noChangeAspect="1" noMove="1" noResize="1" noEditPoints="1" noAdjustHandles="1" noChangeArrowheads="1" noChangeShapeType="1" noTextEdit="1"/>
                </p:cNvSpPr>
                <p:nvPr/>
              </p:nvSpPr>
              <p:spPr>
                <a:xfrm>
                  <a:off x="6041284" y="3036749"/>
                  <a:ext cx="1279517" cy="461665"/>
                </a:xfrm>
                <a:prstGeom prst="rect">
                  <a:avLst/>
                </a:prstGeom>
                <a:blipFill>
                  <a:blip r:embed="rId8"/>
                  <a:stretch>
                    <a:fillRect l="-1429" t="-14474" r="-6190"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5C85B872-7240-4A3F-A191-0372B2B4B2E4}"/>
                    </a:ext>
                  </a:extLst>
                </p:cNvPr>
                <p:cNvSpPr/>
                <p:nvPr/>
              </p:nvSpPr>
              <p:spPr>
                <a:xfrm>
                  <a:off x="3860896" y="3080295"/>
                  <a:ext cx="1015021" cy="461665"/>
                </a:xfrm>
                <a:prstGeom prst="rect">
                  <a:avLst/>
                </a:prstGeom>
              </p:spPr>
              <p:txBody>
                <a:bodyPr wrap="none">
                  <a:spAutoFit/>
                </a:bodyPr>
                <a:lstStyle/>
                <a:p>
                  <a:pPr eaLnBrk="1" hangingPunct="1">
                    <a:buFont typeface="Wingdings" panose="05000000000000000000" pitchFamily="2" charset="2"/>
                    <a:buNone/>
                  </a:pPr>
                  <a:r>
                    <a:rPr lang="en-US" altLang="zh-CN" sz="2400" kern="0" dirty="0">
                      <a:latin typeface="Times New Roman" panose="02020603050405020304" pitchFamily="18" charset="0"/>
                    </a:rPr>
                    <a:t>AX</a:t>
                  </a:r>
                  <a14:m>
                    <m:oMath xmlns:m="http://schemas.openxmlformats.org/officeDocument/2006/math">
                      <m:r>
                        <a:rPr lang="en-US" altLang="zh-CN" sz="2400" b="0" i="1" kern="0" smtClean="0">
                          <a:latin typeface="Cambria Math" panose="02040503050406030204" pitchFamily="18" charset="0"/>
                        </a:rPr>
                        <m:t>=</m:t>
                      </m:r>
                    </m:oMath>
                  </a14:m>
                  <a:r>
                    <a:rPr lang="en-US" altLang="zh-CN" sz="2400" kern="0" dirty="0">
                      <a:latin typeface="Times New Roman" panose="02020603050405020304" pitchFamily="18" charset="0"/>
                    </a:rPr>
                    <a:t>b</a:t>
                  </a:r>
                </a:p>
              </p:txBody>
            </p:sp>
          </mc:Choice>
          <mc:Fallback xmlns="">
            <p:sp>
              <p:nvSpPr>
                <p:cNvPr id="13" name="矩形 12">
                  <a:extLst>
                    <a:ext uri="{FF2B5EF4-FFF2-40B4-BE49-F238E27FC236}">
                      <a16:creationId xmlns:a16="http://schemas.microsoft.com/office/drawing/2014/main" id="{5C85B872-7240-4A3F-A191-0372B2B4B2E4}"/>
                    </a:ext>
                  </a:extLst>
                </p:cNvPr>
                <p:cNvSpPr>
                  <a:spLocks noRot="1" noChangeAspect="1" noMove="1" noResize="1" noEditPoints="1" noAdjustHandles="1" noChangeArrowheads="1" noChangeShapeType="1" noTextEdit="1"/>
                </p:cNvSpPr>
                <p:nvPr/>
              </p:nvSpPr>
              <p:spPr>
                <a:xfrm>
                  <a:off x="3860896" y="3080295"/>
                  <a:ext cx="1015021" cy="461665"/>
                </a:xfrm>
                <a:prstGeom prst="rect">
                  <a:avLst/>
                </a:prstGeom>
                <a:blipFill>
                  <a:blip r:embed="rId9"/>
                  <a:stretch>
                    <a:fillRect l="-8982" t="-10526" r="-6587" b="-2894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9AD7A9D-CD15-4101-86A9-CC54847791C5}"/>
                  </a:ext>
                </a:extLst>
              </p:cNvPr>
              <p:cNvSpPr txBox="1"/>
              <p:nvPr/>
            </p:nvSpPr>
            <p:spPr>
              <a:xfrm>
                <a:off x="1136511" y="4267200"/>
                <a:ext cx="6039282" cy="148207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𝑦</m:t>
                          </m:r>
                        </m:e>
                        <m:sup>
                          <m:r>
                            <a:rPr lang="en-US" altLang="zh-CN" sz="2800" b="0" i="1" smtClean="0">
                              <a:latin typeface="Cambria Math" panose="02040503050406030204" pitchFamily="18" charset="0"/>
                            </a:rPr>
                            <m:t>𝑇</m:t>
                          </m:r>
                        </m:sup>
                      </m:sSup>
                      <m:r>
                        <a:rPr lang="en-US" altLang="zh-CN" sz="2800" b="0" i="1" smtClean="0">
                          <a:latin typeface="Cambria Math" panose="02040503050406030204" pitchFamily="18" charset="0"/>
                        </a:rPr>
                        <m:t>=</m:t>
                      </m:r>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𝐶</m:t>
                          </m:r>
                        </m:e>
                        <m:sub>
                          <m:r>
                            <a:rPr lang="en-US" altLang="zh-CN" sz="2800" b="0" i="1" smtClean="0">
                              <a:latin typeface="Cambria Math" panose="02040503050406030204" pitchFamily="18" charset="0"/>
                            </a:rPr>
                            <m:t>𝐵</m:t>
                          </m:r>
                        </m:sub>
                        <m:sup>
                          <m:r>
                            <a:rPr lang="en-US" altLang="zh-CN" sz="2800" b="0" i="1" smtClean="0">
                              <a:latin typeface="Cambria Math" panose="02040503050406030204" pitchFamily="18" charset="0"/>
                            </a:rPr>
                            <m:t>𝑇</m:t>
                          </m:r>
                        </m:sup>
                      </m:sSubSup>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𝐵</m:t>
                          </m:r>
                        </m:e>
                        <m:sup>
                          <m:r>
                            <a:rPr lang="en-US" altLang="zh-CN" sz="2800" b="0" i="1" smtClean="0">
                              <a:latin typeface="Cambria Math" panose="02040503050406030204" pitchFamily="18" charset="0"/>
                            </a:rPr>
                            <m:t>−1</m:t>
                          </m:r>
                        </m:sup>
                      </m:sSup>
                      <m:r>
                        <a:rPr lang="en-US" altLang="zh-CN" sz="2800" b="0" i="1" smtClean="0">
                          <a:latin typeface="Cambria Math" panose="02040503050406030204" pitchFamily="18" charset="0"/>
                        </a:rPr>
                        <m:t>=</m:t>
                      </m:r>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1 1</m:t>
                          </m:r>
                        </m:e>
                      </m:d>
                      <m:sSup>
                        <m:sSupPr>
                          <m:ctrlPr>
                            <a:rPr lang="en-US" altLang="zh-CN" sz="2800" b="0" i="1" smtClean="0">
                              <a:latin typeface="Cambria Math" panose="02040503050406030204" pitchFamily="18" charset="0"/>
                            </a:rPr>
                          </m:ctrlPr>
                        </m:sSupPr>
                        <m:e>
                          <m:d>
                            <m:dPr>
                              <m:begChr m:val="["/>
                              <m:endChr m:val="]"/>
                              <m:ctrlPr>
                                <a:rPr lang="en-US" altLang="zh-CN" sz="2800" b="0" i="1" smtClean="0">
                                  <a:latin typeface="Cambria Math" panose="02040503050406030204" pitchFamily="18" charset="0"/>
                                </a:rPr>
                              </m:ctrlPr>
                            </m:dPr>
                            <m:e>
                              <m:eqArr>
                                <m:eqArrPr>
                                  <m:ctrlPr>
                                    <a:rPr lang="en-US" altLang="zh-CN" sz="2800" b="0" i="1" smtClean="0">
                                      <a:latin typeface="Cambria Math" panose="02040503050406030204" pitchFamily="18" charset="0"/>
                                    </a:rPr>
                                  </m:ctrlPr>
                                </m:eqArrPr>
                                <m:e>
                                  <m:r>
                                    <a:rPr lang="en-US" altLang="zh-CN" sz="2800" b="0" i="1" smtClean="0">
                                      <a:latin typeface="Cambria Math" panose="02040503050406030204" pitchFamily="18" charset="0"/>
                                    </a:rPr>
                                    <m:t>2 1</m:t>
                                  </m:r>
                                </m:e>
                                <m:e>
                                  <m:r>
                                    <a:rPr lang="en-US" altLang="zh-CN" sz="2800" b="0" i="1" smtClean="0">
                                      <a:latin typeface="Cambria Math" panose="02040503050406030204" pitchFamily="18" charset="0"/>
                                    </a:rPr>
                                    <m:t>1 2</m:t>
                                  </m:r>
                                </m:e>
                              </m:eqArr>
                            </m:e>
                          </m:d>
                        </m:e>
                        <m:sup>
                          <m:r>
                            <a:rPr lang="en-US" altLang="zh-CN" sz="2800" b="0" i="1" smtClean="0">
                              <a:latin typeface="Cambria Math" panose="02040503050406030204" pitchFamily="18" charset="0"/>
                            </a:rPr>
                            <m:t>−1</m:t>
                          </m:r>
                        </m:sup>
                      </m:sSup>
                      <m:r>
                        <a:rPr lang="en-US" altLang="zh-CN" sz="2800" b="0" i="1" smtClean="0">
                          <a:latin typeface="Cambria Math" panose="02040503050406030204" pitchFamily="18" charset="0"/>
                        </a:rPr>
                        <m:t>=</m:t>
                      </m:r>
                      <m:d>
                        <m:dPr>
                          <m:begChr m:val="["/>
                          <m:endChr m:val="]"/>
                          <m:ctrlPr>
                            <a:rPr lang="en-US" altLang="zh-CN" sz="2800" b="0" i="1" smtClean="0">
                              <a:latin typeface="Cambria Math" panose="02040503050406030204" pitchFamily="18" charset="0"/>
                            </a:rPr>
                          </m:ctrlPr>
                        </m:dPr>
                        <m:e>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3</m:t>
                              </m:r>
                            </m:den>
                          </m:f>
                          <m:r>
                            <a:rPr lang="en-US" altLang="zh-CN" sz="2800" b="0" i="1" smtClean="0">
                              <a:latin typeface="Cambria Math" panose="02040503050406030204" pitchFamily="18" charset="0"/>
                            </a:rPr>
                            <m:t>   </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3</m:t>
                              </m:r>
                            </m:den>
                          </m:f>
                        </m:e>
                      </m:d>
                    </m:oMath>
                  </m:oMathPara>
                </a14:m>
                <a:endParaRPr lang="en-US" altLang="zh-CN" sz="2800" dirty="0"/>
              </a:p>
              <a:p>
                <a:pPr/>
                <a14:m>
                  <m:oMathPara xmlns:m="http://schemas.openxmlformats.org/officeDocument/2006/math">
                    <m:oMathParaPr>
                      <m:jc m:val="centerGroup"/>
                    </m:oMathParaPr>
                    <m:oMath xmlns:m="http://schemas.openxmlformats.org/officeDocument/2006/math">
                      <m:r>
                        <a:rPr lang="en-US" altLang="zh-CN" sz="2800" i="1" kern="0">
                          <a:latin typeface="Cambria Math" panose="02040503050406030204" pitchFamily="18" charset="0"/>
                        </a:rPr>
                        <m:t>𝜔</m:t>
                      </m:r>
                      <m:r>
                        <a:rPr lang="en-US" altLang="zh-CN" sz="2800" b="0" i="1" kern="0" smtClean="0">
                          <a:latin typeface="Cambria Math" panose="02040503050406030204" pitchFamily="18" charset="0"/>
                        </a:rPr>
                        <m:t>=7</m:t>
                      </m:r>
                    </m:oMath>
                  </m:oMathPara>
                </a14:m>
                <a:endParaRPr lang="zh-CN" altLang="en-US" sz="2800" dirty="0"/>
              </a:p>
            </p:txBody>
          </p:sp>
        </mc:Choice>
        <mc:Fallback xmlns="">
          <p:sp>
            <p:nvSpPr>
              <p:cNvPr id="14" name="文本框 13">
                <a:extLst>
                  <a:ext uri="{FF2B5EF4-FFF2-40B4-BE49-F238E27FC236}">
                    <a16:creationId xmlns:a16="http://schemas.microsoft.com/office/drawing/2014/main" id="{A9AD7A9D-CD15-4101-86A9-CC54847791C5}"/>
                  </a:ext>
                </a:extLst>
              </p:cNvPr>
              <p:cNvSpPr txBox="1">
                <a:spLocks noRot="1" noChangeAspect="1" noMove="1" noResize="1" noEditPoints="1" noAdjustHandles="1" noChangeArrowheads="1" noChangeShapeType="1" noTextEdit="1"/>
              </p:cNvSpPr>
              <p:nvPr/>
            </p:nvSpPr>
            <p:spPr>
              <a:xfrm>
                <a:off x="1136511" y="4267200"/>
                <a:ext cx="6039282" cy="1482072"/>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48760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F11A6C7-FEDA-4588-AB72-ED5E59281A5A}"/>
              </a:ext>
            </a:extLst>
          </p:cNvPr>
          <p:cNvSpPr>
            <a:spLocks noGrp="1" noChangeArrowheads="1"/>
          </p:cNvSpPr>
          <p:nvPr>
            <p:ph type="title"/>
          </p:nvPr>
        </p:nvSpPr>
        <p:spPr/>
        <p:txBody>
          <a:bodyPr/>
          <a:lstStyle/>
          <a:p>
            <a:pPr eaLnBrk="1" hangingPunct="1"/>
            <a:r>
              <a:rPr lang="zh-CN" altLang="en-US"/>
              <a:t>对偶问题基本性质</a:t>
            </a:r>
            <a:r>
              <a:rPr lang="en-US" altLang="zh-CN"/>
              <a:t>(5)</a:t>
            </a:r>
            <a:endParaRPr lang="zh-CN" altLang="en-US"/>
          </a:p>
        </p:txBody>
      </p:sp>
      <p:sp>
        <p:nvSpPr>
          <p:cNvPr id="47107" name="Rectangle 3">
            <a:extLst>
              <a:ext uri="{FF2B5EF4-FFF2-40B4-BE49-F238E27FC236}">
                <a16:creationId xmlns:a16="http://schemas.microsoft.com/office/drawing/2014/main" id="{D5A140E3-4D33-401C-A763-726DEC28E59A}"/>
              </a:ext>
            </a:extLst>
          </p:cNvPr>
          <p:cNvSpPr>
            <a:spLocks noGrp="1" noChangeArrowheads="1"/>
          </p:cNvSpPr>
          <p:nvPr>
            <p:ph type="body" sz="half" idx="1"/>
          </p:nvPr>
        </p:nvSpPr>
        <p:spPr>
          <a:xfrm>
            <a:off x="457200" y="914400"/>
            <a:ext cx="7086600" cy="1143000"/>
          </a:xfrm>
        </p:spPr>
        <p:txBody>
          <a:bodyPr/>
          <a:lstStyle/>
          <a:p>
            <a:pPr marL="533400" indent="-533400" eaLnBrk="1" hangingPunct="1">
              <a:buFont typeface="Wingdings" panose="05000000000000000000" pitchFamily="2" charset="2"/>
              <a:buAutoNum type="arabicPeriod"/>
            </a:pPr>
            <a:endParaRPr lang="zh-CN" altLang="en-US" sz="800"/>
          </a:p>
          <a:p>
            <a:pPr marL="533400" indent="-533400" eaLnBrk="1" hangingPunct="1">
              <a:buFont typeface="Wingdings" panose="05000000000000000000" pitchFamily="2" charset="2"/>
              <a:buNone/>
            </a:pPr>
            <a:r>
              <a:rPr lang="en-US" altLang="zh-CN" sz="2400">
                <a:latin typeface="Times New Roman" panose="02020603050405020304" pitchFamily="18" charset="0"/>
              </a:rPr>
              <a:t>5.   </a:t>
            </a:r>
            <a:r>
              <a:rPr lang="zh-CN" altLang="en-US" sz="2400">
                <a:solidFill>
                  <a:srgbClr val="FF3300"/>
                </a:solidFill>
                <a:latin typeface="Times New Roman" panose="02020603050405020304" pitchFamily="18" charset="0"/>
              </a:rPr>
              <a:t>强对偶性</a:t>
            </a:r>
            <a:r>
              <a:rPr lang="zh-CN" altLang="en-US" sz="2400">
                <a:latin typeface="Times New Roman" panose="02020603050405020304" pitchFamily="18" charset="0"/>
              </a:rPr>
              <a:t>：</a:t>
            </a:r>
            <a:r>
              <a:rPr lang="en-US" altLang="zh-CN" sz="2400">
                <a:latin typeface="Times New Roman" panose="02020603050405020304" pitchFamily="18" charset="0"/>
              </a:rPr>
              <a:t>(</a:t>
            </a:r>
            <a:r>
              <a:rPr lang="zh-CN" altLang="en-US" sz="2400">
                <a:latin typeface="Times New Roman" panose="02020603050405020304" pitchFamily="18" charset="0"/>
              </a:rPr>
              <a:t>对偶定理</a:t>
            </a:r>
            <a:r>
              <a:rPr lang="en-US" altLang="zh-CN" sz="2400">
                <a:latin typeface="Times New Roman" panose="02020603050405020304" pitchFamily="18" charset="0"/>
              </a:rPr>
              <a:t>)</a:t>
            </a:r>
            <a:r>
              <a:rPr lang="zh-CN" altLang="en-US" sz="2400">
                <a:latin typeface="Times New Roman" panose="02020603050405020304" pitchFamily="18" charset="0"/>
              </a:rPr>
              <a:t>若原问题有最优解，那么对偶问题也有最优解；且目标函数值相等</a:t>
            </a:r>
            <a:r>
              <a:rPr lang="zh-CN" altLang="en-US">
                <a:latin typeface="Times New Roman" panose="02020603050405020304" pitchFamily="18" charset="0"/>
              </a:rPr>
              <a:t>  </a:t>
            </a:r>
          </a:p>
        </p:txBody>
      </p:sp>
      <p:sp>
        <p:nvSpPr>
          <p:cNvPr id="47108" name="文本框 1">
            <a:extLst>
              <a:ext uri="{FF2B5EF4-FFF2-40B4-BE49-F238E27FC236}">
                <a16:creationId xmlns:a16="http://schemas.microsoft.com/office/drawing/2014/main" id="{DC91B52A-F51E-4275-B93D-2AF1A07ED055}"/>
              </a:ext>
            </a:extLst>
          </p:cNvPr>
          <p:cNvSpPr txBox="1">
            <a:spLocks noChangeArrowheads="1"/>
          </p:cNvSpPr>
          <p:nvPr/>
        </p:nvSpPr>
        <p:spPr bwMode="auto">
          <a:xfrm>
            <a:off x="457200" y="1044575"/>
            <a:ext cx="6935788" cy="9906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1">
            <a:extLst>
              <a:ext uri="{FF2B5EF4-FFF2-40B4-BE49-F238E27FC236}">
                <a16:creationId xmlns:a16="http://schemas.microsoft.com/office/drawing/2014/main" id="{22BCFE28-79CE-4A3A-AF57-FBAB7B0B17D7}"/>
              </a:ext>
            </a:extLst>
          </p:cNvPr>
          <p:cNvGrpSpPr>
            <a:grpSpLocks/>
          </p:cNvGrpSpPr>
          <p:nvPr/>
        </p:nvGrpSpPr>
        <p:grpSpPr bwMode="auto">
          <a:xfrm>
            <a:off x="228600" y="2165350"/>
            <a:ext cx="8763000" cy="3449638"/>
            <a:chOff x="228600" y="2165350"/>
            <a:chExt cx="8763000" cy="3448864"/>
          </a:xfrm>
        </p:grpSpPr>
        <p:sp>
          <p:nvSpPr>
            <p:cNvPr id="47118" name="文本框 2">
              <a:extLst>
                <a:ext uri="{FF2B5EF4-FFF2-40B4-BE49-F238E27FC236}">
                  <a16:creationId xmlns:a16="http://schemas.microsoft.com/office/drawing/2014/main" id="{A5BE7E14-D545-4A90-BBF6-EA65C6636B90}"/>
                </a:ext>
              </a:extLst>
            </p:cNvPr>
            <p:cNvSpPr txBox="1">
              <a:spLocks noChangeArrowheads="1"/>
            </p:cNvSpPr>
            <p:nvPr/>
          </p:nvSpPr>
          <p:spPr bwMode="auto">
            <a:xfrm>
              <a:off x="1447800" y="216535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原问题 </a:t>
              </a:r>
              <a:r>
                <a:rPr lang="en-US" altLang="zh-CN" sz="2400"/>
                <a:t>max </a:t>
              </a:r>
              <a:r>
                <a:rPr lang="en-US" altLang="zh-CN" sz="2400" b="1"/>
                <a:t>z</a:t>
              </a:r>
              <a:r>
                <a:rPr lang="en-US" altLang="zh-CN" sz="2400"/>
                <a:t>=</a:t>
              </a:r>
              <a:r>
                <a:rPr lang="en-US" altLang="zh-CN" sz="2400" b="1"/>
                <a:t>CX</a:t>
              </a:r>
              <a:r>
                <a:rPr lang="zh-CN" altLang="en-US" sz="2400"/>
                <a:t>； </a:t>
              </a:r>
              <a:r>
                <a:rPr lang="en-US" altLang="zh-CN" sz="2400" b="1"/>
                <a:t>AX</a:t>
              </a:r>
              <a:r>
                <a:rPr lang="en-US" altLang="zh-CN" sz="2400"/>
                <a:t> ≤ </a:t>
              </a:r>
              <a:r>
                <a:rPr lang="en-US" altLang="zh-CN" sz="2400" b="1"/>
                <a:t>b</a:t>
              </a:r>
              <a:r>
                <a:rPr lang="en-US" altLang="zh-CN" sz="2400"/>
                <a:t>; </a:t>
              </a:r>
              <a:r>
                <a:rPr lang="en-US" altLang="zh-CN" sz="2400" b="1"/>
                <a:t>X</a:t>
              </a:r>
              <a:r>
                <a:rPr lang="en-US" altLang="zh-CN" sz="2400"/>
                <a:t> ≥ </a:t>
              </a:r>
              <a:r>
                <a:rPr lang="en-US" altLang="zh-CN" sz="2400" b="1"/>
                <a:t>0</a:t>
              </a:r>
              <a:r>
                <a:rPr lang="en-US" altLang="zh-CN" sz="2400"/>
                <a:t>;</a:t>
              </a:r>
              <a:endParaRPr lang="zh-CN" altLang="en-US" sz="2400"/>
            </a:p>
          </p:txBody>
        </p:sp>
        <p:sp>
          <p:nvSpPr>
            <p:cNvPr id="47119" name="文本框 7">
              <a:extLst>
                <a:ext uri="{FF2B5EF4-FFF2-40B4-BE49-F238E27FC236}">
                  <a16:creationId xmlns:a16="http://schemas.microsoft.com/office/drawing/2014/main" id="{7EC20205-95A0-4995-8110-47F3F0D7CF8A}"/>
                </a:ext>
              </a:extLst>
            </p:cNvPr>
            <p:cNvSpPr txBox="1">
              <a:spLocks noChangeArrowheads="1"/>
            </p:cNvSpPr>
            <p:nvPr/>
          </p:nvSpPr>
          <p:spPr bwMode="auto">
            <a:xfrm>
              <a:off x="1258888" y="2693988"/>
              <a:ext cx="5105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对偶问题 </a:t>
              </a:r>
              <a:r>
                <a:rPr lang="en-US" altLang="zh-CN" sz="2400"/>
                <a:t>min </a:t>
              </a:r>
              <a:r>
                <a:rPr lang="en-US" altLang="zh-CN" sz="2400" b="1"/>
                <a:t>ω</a:t>
              </a:r>
              <a:r>
                <a:rPr lang="en-US" altLang="zh-CN" sz="2400"/>
                <a:t>=</a:t>
              </a:r>
              <a:r>
                <a:rPr lang="en-US" altLang="zh-CN" sz="2400" b="1"/>
                <a:t>Yb</a:t>
              </a:r>
              <a:r>
                <a:rPr lang="zh-CN" altLang="en-US" sz="2400"/>
                <a:t>； </a:t>
              </a:r>
              <a:r>
                <a:rPr lang="en-US" altLang="zh-CN" sz="2400" b="1"/>
                <a:t>YA</a:t>
              </a:r>
              <a:r>
                <a:rPr lang="en-US" altLang="zh-CN" sz="2400"/>
                <a:t> ≥ </a:t>
              </a:r>
              <a:r>
                <a:rPr lang="en-US" altLang="zh-CN" sz="2400" b="1"/>
                <a:t>C</a:t>
              </a:r>
              <a:r>
                <a:rPr lang="en-US" altLang="zh-CN" sz="2400"/>
                <a:t>; </a:t>
              </a:r>
              <a:r>
                <a:rPr lang="en-US" altLang="zh-CN" sz="2400" b="1"/>
                <a:t>Y</a:t>
              </a:r>
              <a:r>
                <a:rPr lang="en-US" altLang="zh-CN" sz="2400"/>
                <a:t> ≥ </a:t>
              </a:r>
              <a:r>
                <a:rPr lang="en-US" altLang="zh-CN" sz="2400" b="1"/>
                <a:t>0</a:t>
              </a:r>
              <a:r>
                <a:rPr lang="en-US" altLang="zh-CN" sz="2400"/>
                <a:t>;</a:t>
              </a:r>
              <a:endParaRPr lang="zh-CN" altLang="en-US" sz="2400"/>
            </a:p>
          </p:txBody>
        </p:sp>
        <p:grpSp>
          <p:nvGrpSpPr>
            <p:cNvPr id="47120" name="组合 1">
              <a:extLst>
                <a:ext uri="{FF2B5EF4-FFF2-40B4-BE49-F238E27FC236}">
                  <a16:creationId xmlns:a16="http://schemas.microsoft.com/office/drawing/2014/main" id="{FD094EF0-67B1-4A6A-9264-5AC6EA24AAA5}"/>
                </a:ext>
              </a:extLst>
            </p:cNvPr>
            <p:cNvGrpSpPr>
              <a:grpSpLocks/>
            </p:cNvGrpSpPr>
            <p:nvPr/>
          </p:nvGrpSpPr>
          <p:grpSpPr bwMode="auto">
            <a:xfrm>
              <a:off x="228600" y="3429000"/>
              <a:ext cx="8763000" cy="2185214"/>
              <a:chOff x="228600" y="3082925"/>
              <a:chExt cx="8763000" cy="2185214"/>
            </a:xfrm>
          </p:grpSpPr>
          <p:sp>
            <p:nvSpPr>
              <p:cNvPr id="47121" name="文本框 8">
                <a:extLst>
                  <a:ext uri="{FF2B5EF4-FFF2-40B4-BE49-F238E27FC236}">
                    <a16:creationId xmlns:a16="http://schemas.microsoft.com/office/drawing/2014/main" id="{251DA666-2B38-4073-AB21-59936C2A06F2}"/>
                  </a:ext>
                </a:extLst>
              </p:cNvPr>
              <p:cNvSpPr txBox="1">
                <a:spLocks noChangeArrowheads="1"/>
              </p:cNvSpPr>
              <p:nvPr/>
            </p:nvSpPr>
            <p:spPr bwMode="auto">
              <a:xfrm>
                <a:off x="228600" y="3082925"/>
                <a:ext cx="8763000"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设</a:t>
                </a:r>
                <a:r>
                  <a:rPr lang="en-US" altLang="zh-CN" sz="2400" b="1"/>
                  <a:t>X’</a:t>
                </a:r>
                <a:r>
                  <a:rPr lang="en-US" altLang="zh-CN" sz="2400"/>
                  <a:t> </a:t>
                </a:r>
                <a:r>
                  <a:rPr lang="zh-CN" altLang="en-US" sz="2400"/>
                  <a:t>是原问题的最优解，它对应的基矩阵</a:t>
                </a:r>
                <a:r>
                  <a:rPr lang="en-US" altLang="zh-CN" sz="2400" b="1"/>
                  <a:t>B</a:t>
                </a:r>
                <a:r>
                  <a:rPr lang="zh-CN" altLang="en-US" sz="2400"/>
                  <a:t>满足</a:t>
                </a:r>
                <a:r>
                  <a:rPr lang="en-US" altLang="zh-CN" sz="2400" b="1"/>
                  <a:t>C-C</a:t>
                </a:r>
                <a:r>
                  <a:rPr lang="en-US" altLang="zh-CN" sz="2400" b="1" baseline="-25000"/>
                  <a:t>B</a:t>
                </a:r>
                <a:r>
                  <a:rPr lang="en-US" altLang="zh-CN" sz="2400" b="1"/>
                  <a:t>B</a:t>
                </a:r>
                <a:r>
                  <a:rPr lang="en-US" altLang="zh-CN" sz="2400" b="1" baseline="30000"/>
                  <a:t>-1</a:t>
                </a:r>
                <a:r>
                  <a:rPr lang="en-US" altLang="zh-CN" sz="2400" b="1"/>
                  <a:t>A</a:t>
                </a:r>
                <a:r>
                  <a:rPr lang="en-US" altLang="zh-CN" sz="2400"/>
                  <a:t> ≤ </a:t>
                </a:r>
                <a:r>
                  <a:rPr lang="en-US" altLang="zh-CN" sz="2400" b="1"/>
                  <a:t>0</a:t>
                </a:r>
                <a:r>
                  <a:rPr lang="zh-CN" altLang="en-US" sz="2400"/>
                  <a:t>。</a:t>
                </a:r>
                <a:endParaRPr lang="en-US" altLang="zh-CN" sz="2400"/>
              </a:p>
              <a:p>
                <a:pPr eaLnBrk="1" hangingPunct="1"/>
                <a:r>
                  <a:rPr lang="en-US" altLang="zh-CN" sz="2400"/>
                  <a:t>           </a:t>
                </a:r>
                <a:r>
                  <a:rPr lang="en-US" altLang="zh-CN" sz="2400" b="1"/>
                  <a:t>Y’A </a:t>
                </a:r>
                <a:r>
                  <a:rPr lang="en-US" altLang="zh-CN" sz="2400"/>
                  <a:t>≥ </a:t>
                </a:r>
                <a:r>
                  <a:rPr lang="en-US" altLang="zh-CN" sz="2400" b="1"/>
                  <a:t>C</a:t>
                </a:r>
                <a:r>
                  <a:rPr lang="en-US" altLang="zh-CN" sz="2400"/>
                  <a:t>,</a:t>
                </a:r>
                <a:r>
                  <a:rPr lang="zh-CN" altLang="en-US" sz="2400"/>
                  <a:t>其中</a:t>
                </a:r>
                <a:r>
                  <a:rPr lang="en-US" altLang="zh-CN" sz="2400" b="1"/>
                  <a:t>Y’=C</a:t>
                </a:r>
                <a:r>
                  <a:rPr lang="en-US" altLang="zh-CN" sz="2400" b="1" baseline="-25000"/>
                  <a:t>B</a:t>
                </a:r>
                <a:r>
                  <a:rPr lang="en-US" altLang="zh-CN" sz="2400" b="1"/>
                  <a:t>B</a:t>
                </a:r>
                <a:r>
                  <a:rPr lang="en-US" altLang="zh-CN" sz="2400" b="1" baseline="30000"/>
                  <a:t>-1</a:t>
                </a:r>
                <a:r>
                  <a:rPr lang="zh-CN" altLang="en-US" sz="2400"/>
                  <a:t>。           </a:t>
                </a:r>
                <a:r>
                  <a:rPr lang="en-US" altLang="zh-CN" sz="2400" b="1"/>
                  <a:t>Y’</a:t>
                </a:r>
                <a:r>
                  <a:rPr lang="zh-CN" altLang="en-US" sz="2400"/>
                  <a:t>是对偶问题的可行解</a:t>
                </a:r>
                <a:endParaRPr lang="en-US" altLang="zh-CN" sz="2400"/>
              </a:p>
              <a:p>
                <a:pPr eaLnBrk="1" hangingPunct="1"/>
                <a:endParaRPr lang="en-US" altLang="zh-CN" sz="2400" baseline="30000"/>
              </a:p>
              <a:p>
                <a:pPr eaLnBrk="1" hangingPunct="1"/>
                <a:r>
                  <a:rPr lang="en-US" altLang="zh-CN" sz="2400" b="1"/>
                  <a:t>ω</a:t>
                </a:r>
                <a:r>
                  <a:rPr lang="en-US" altLang="zh-CN" sz="2400"/>
                  <a:t>=</a:t>
                </a:r>
                <a:r>
                  <a:rPr lang="en-US" altLang="zh-CN" sz="2400" b="1"/>
                  <a:t>Y’b</a:t>
                </a:r>
                <a:r>
                  <a:rPr lang="en-US" altLang="zh-CN" sz="2400"/>
                  <a:t>= </a:t>
                </a:r>
                <a:r>
                  <a:rPr lang="en-US" altLang="zh-CN" sz="2400" b="1"/>
                  <a:t>C</a:t>
                </a:r>
                <a:r>
                  <a:rPr lang="en-US" altLang="zh-CN" sz="2400" b="1" baseline="-25000"/>
                  <a:t>B</a:t>
                </a:r>
                <a:r>
                  <a:rPr lang="en-US" altLang="zh-CN" sz="2400" b="1"/>
                  <a:t>B</a:t>
                </a:r>
                <a:r>
                  <a:rPr lang="en-US" altLang="zh-CN" sz="2400" b="1" baseline="30000"/>
                  <a:t>-1</a:t>
                </a:r>
                <a:r>
                  <a:rPr lang="en-US" altLang="zh-CN" sz="2400" b="1"/>
                  <a:t>b</a:t>
                </a:r>
                <a:r>
                  <a:rPr lang="en-US" altLang="zh-CN" sz="2400"/>
                  <a:t>, </a:t>
                </a:r>
                <a:r>
                  <a:rPr lang="zh-CN" altLang="en-US" sz="2400"/>
                  <a:t>同时因为</a:t>
                </a:r>
                <a:r>
                  <a:rPr lang="en-US" altLang="zh-CN" sz="2400" b="1"/>
                  <a:t>z=CX’= C</a:t>
                </a:r>
                <a:r>
                  <a:rPr lang="en-US" altLang="zh-CN" sz="2400" b="1" baseline="-25000"/>
                  <a:t>B</a:t>
                </a:r>
                <a:r>
                  <a:rPr lang="en-US" altLang="zh-CN" sz="2400" b="1"/>
                  <a:t>B</a:t>
                </a:r>
                <a:r>
                  <a:rPr lang="en-US" altLang="zh-CN" sz="2400" b="1" baseline="30000"/>
                  <a:t>-1</a:t>
                </a:r>
                <a:r>
                  <a:rPr lang="en-US" altLang="zh-CN" sz="2400" b="1"/>
                  <a:t>b</a:t>
                </a:r>
              </a:p>
              <a:p>
                <a:pPr eaLnBrk="1" hangingPunct="1"/>
                <a:r>
                  <a:rPr lang="en-US" altLang="zh-CN" sz="2400"/>
                  <a:t> </a:t>
                </a:r>
              </a:p>
              <a:p>
                <a:pPr eaLnBrk="1" hangingPunct="1"/>
                <a:r>
                  <a:rPr lang="en-US" altLang="zh-CN" sz="2400"/>
                  <a:t>           </a:t>
                </a:r>
                <a:r>
                  <a:rPr lang="en-US" altLang="zh-CN" sz="2400" b="1"/>
                  <a:t>ω=Y’b= C</a:t>
                </a:r>
                <a:r>
                  <a:rPr lang="en-US" altLang="zh-CN" sz="2400" b="1" baseline="-25000"/>
                  <a:t>B</a:t>
                </a:r>
                <a:r>
                  <a:rPr lang="en-US" altLang="zh-CN" sz="2400" b="1"/>
                  <a:t>B</a:t>
                </a:r>
                <a:r>
                  <a:rPr lang="en-US" altLang="zh-CN" sz="2400" b="1" baseline="30000"/>
                  <a:t>-1</a:t>
                </a:r>
                <a:r>
                  <a:rPr lang="en-US" altLang="zh-CN" sz="2400" b="1"/>
                  <a:t>b= z=CX’ </a:t>
                </a:r>
                <a:r>
                  <a:rPr lang="en-US" altLang="zh-CN" sz="2400"/>
                  <a:t>            </a:t>
                </a:r>
                <a:r>
                  <a:rPr lang="en-US" altLang="zh-CN" sz="2400" b="1"/>
                  <a:t>Y’</a:t>
                </a:r>
                <a:r>
                  <a:rPr lang="zh-CN" altLang="en-US" sz="2400"/>
                  <a:t>也是对偶问题的最优解</a:t>
                </a:r>
              </a:p>
            </p:txBody>
          </p:sp>
          <p:sp>
            <p:nvSpPr>
              <p:cNvPr id="4" name="右箭头 3">
                <a:extLst>
                  <a:ext uri="{FF2B5EF4-FFF2-40B4-BE49-F238E27FC236}">
                    <a16:creationId xmlns:a16="http://schemas.microsoft.com/office/drawing/2014/main" id="{7240A7FB-3886-4A21-B095-3BA1832E619D}"/>
                  </a:ext>
                </a:extLst>
              </p:cNvPr>
              <p:cNvSpPr/>
              <p:nvPr/>
            </p:nvSpPr>
            <p:spPr>
              <a:xfrm>
                <a:off x="481013" y="3577830"/>
                <a:ext cx="762000" cy="2285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1" name="右箭头 10">
                <a:extLst>
                  <a:ext uri="{FF2B5EF4-FFF2-40B4-BE49-F238E27FC236}">
                    <a16:creationId xmlns:a16="http://schemas.microsoft.com/office/drawing/2014/main" id="{56DF0E7E-2AF5-4B93-8EC3-D4B0433F57BF}"/>
                  </a:ext>
                </a:extLst>
              </p:cNvPr>
              <p:cNvSpPr/>
              <p:nvPr/>
            </p:nvSpPr>
            <p:spPr>
              <a:xfrm>
                <a:off x="4610100" y="3569895"/>
                <a:ext cx="760413" cy="2285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2" name="右箭头 11">
                <a:extLst>
                  <a:ext uri="{FF2B5EF4-FFF2-40B4-BE49-F238E27FC236}">
                    <a16:creationId xmlns:a16="http://schemas.microsoft.com/office/drawing/2014/main" id="{D068886D-8CF7-4AC6-B159-45C12DC416D9}"/>
                  </a:ext>
                </a:extLst>
              </p:cNvPr>
              <p:cNvSpPr/>
              <p:nvPr/>
            </p:nvSpPr>
            <p:spPr>
              <a:xfrm>
                <a:off x="457200" y="4911031"/>
                <a:ext cx="760413" cy="2285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3" name="右箭头 12">
                <a:extLst>
                  <a:ext uri="{FF2B5EF4-FFF2-40B4-BE49-F238E27FC236}">
                    <a16:creationId xmlns:a16="http://schemas.microsoft.com/office/drawing/2014/main" id="{DC6E2C29-68F2-42EB-8EEE-07051BB1355E}"/>
                  </a:ext>
                </a:extLst>
              </p:cNvPr>
              <p:cNvSpPr/>
              <p:nvPr/>
            </p:nvSpPr>
            <p:spPr>
              <a:xfrm>
                <a:off x="4689475" y="4879288"/>
                <a:ext cx="760413" cy="2285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grpSp>
        <p:nvGrpSpPr>
          <p:cNvPr id="15" name="组合 14">
            <a:extLst>
              <a:ext uri="{FF2B5EF4-FFF2-40B4-BE49-F238E27FC236}">
                <a16:creationId xmlns:a16="http://schemas.microsoft.com/office/drawing/2014/main" id="{2879C615-F673-4486-8CC9-AE23D1292675}"/>
              </a:ext>
            </a:extLst>
          </p:cNvPr>
          <p:cNvGrpSpPr>
            <a:grpSpLocks/>
          </p:cNvGrpSpPr>
          <p:nvPr/>
        </p:nvGrpSpPr>
        <p:grpSpPr bwMode="auto">
          <a:xfrm>
            <a:off x="152400" y="993775"/>
            <a:ext cx="8839200" cy="2359025"/>
            <a:chOff x="152400" y="4270373"/>
            <a:chExt cx="8839198" cy="2359027"/>
          </a:xfrm>
        </p:grpSpPr>
        <p:graphicFrame>
          <p:nvGraphicFramePr>
            <p:cNvPr id="16" name="Group 109">
              <a:extLst>
                <a:ext uri="{FF2B5EF4-FFF2-40B4-BE49-F238E27FC236}">
                  <a16:creationId xmlns:a16="http://schemas.microsoft.com/office/drawing/2014/main" id="{5D3BE063-F234-437E-A72E-FC11CDD3B010}"/>
                </a:ext>
              </a:extLst>
            </p:cNvPr>
            <p:cNvGraphicFramePr>
              <a:graphicFrameLocks/>
            </p:cNvGraphicFramePr>
            <p:nvPr/>
          </p:nvGraphicFramePr>
          <p:xfrm>
            <a:off x="152400" y="4270373"/>
            <a:ext cx="8839197" cy="2359022"/>
          </p:xfrm>
          <a:graphic>
            <a:graphicData uri="http://schemas.openxmlformats.org/drawingml/2006/table">
              <a:tbl>
                <a:tblPr/>
                <a:tblGrid>
                  <a:gridCol w="1329791">
                    <a:extLst>
                      <a:ext uri="{9D8B030D-6E8A-4147-A177-3AD203B41FA5}">
                        <a16:colId xmlns:a16="http://schemas.microsoft.com/office/drawing/2014/main" val="20000"/>
                      </a:ext>
                    </a:extLst>
                  </a:gridCol>
                  <a:gridCol w="1794409">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523999">
                    <a:extLst>
                      <a:ext uri="{9D8B030D-6E8A-4147-A177-3AD203B41FA5}">
                        <a16:colId xmlns:a16="http://schemas.microsoft.com/office/drawing/2014/main" val="20004"/>
                      </a:ext>
                    </a:extLst>
                  </a:gridCol>
                </a:tblGrid>
                <a:tr h="541337">
                  <a:tc rowSpan="2">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endParaRPr kumimoji="0" lang="en-US" altLang="zh-CN" sz="24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rowSpan="2">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基变量 </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24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gridSpan="2">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非基变量</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24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N</a:t>
                        </a:r>
                        <a:endParaRPr kumimoji="0" lang="zh-CN" altLang="en-US" sz="24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hMerge="1">
                    <a:txBody>
                      <a:bodyPr/>
                      <a:lstStyle/>
                      <a:p>
                        <a:endParaRPr lang="zh-CN" altLang="en-US"/>
                      </a:p>
                    </a:txBody>
                    <a:tcPr/>
                  </a:tc>
                  <a:tc rowSpan="2">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RHS</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r h="604836">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endParaRPr kumimoji="0" lang="en-US" altLang="zh-CN" sz="24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r>
                          <a:rPr kumimoji="0" lang="en-US" altLang="zh-CN" sz="24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s</a:t>
                        </a:r>
                        <a:endParaRPr kumimoji="0" lang="en-US" altLang="zh-CN" sz="24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vMerge="1">
                    <a:txBody>
                      <a:bodyPr/>
                      <a:lstStyle/>
                      <a:p>
                        <a:endParaRPr lang="zh-CN" altLang="en-US"/>
                      </a:p>
                    </a:txBody>
                    <a:tcPr/>
                  </a:tc>
                  <a:extLst>
                    <a:ext uri="{0D108BD9-81ED-4DB2-BD59-A6C34878D82A}">
                      <a16:rowId xmlns:a16="http://schemas.microsoft.com/office/drawing/2014/main" val="10001"/>
                    </a:ext>
                  </a:extLst>
                </a:tr>
                <a:tr h="604836">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系数矩阵</a:t>
                        </a:r>
                        <a:endPar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B=I</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r>
                          <a:rPr kumimoji="0" lang="en-US" altLang="zh-CN" sz="22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endParaRPr kumimoji="0"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extLst>
                    <a:ext uri="{0D108BD9-81ED-4DB2-BD59-A6C34878D82A}">
                      <a16:rowId xmlns:a16="http://schemas.microsoft.com/office/drawing/2014/main" val="10002"/>
                    </a:ext>
                  </a:extLst>
                </a:tr>
                <a:tr h="608011">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检验数</a:t>
                        </a:r>
                        <a:endPar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defRPr/>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2200" b="0" i="1"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2200" b="0" i="1"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endParaRPr kumimoji="0" lang="en-US" altLang="zh-CN" sz="2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endParaRPr kumimoji="0" lang="en-US" altLang="zh-CN" sz="24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2200" b="0" i="1"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2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bl>
            </a:graphicData>
          </a:graphic>
        </p:graphicFrame>
        <p:grpSp>
          <p:nvGrpSpPr>
            <p:cNvPr id="47112" name="组合 16">
              <a:extLst>
                <a:ext uri="{FF2B5EF4-FFF2-40B4-BE49-F238E27FC236}">
                  <a16:creationId xmlns:a16="http://schemas.microsoft.com/office/drawing/2014/main" id="{604539DD-4A8F-498C-BE9D-89AE3563409D}"/>
                </a:ext>
              </a:extLst>
            </p:cNvPr>
            <p:cNvGrpSpPr>
              <a:grpSpLocks/>
            </p:cNvGrpSpPr>
            <p:nvPr/>
          </p:nvGrpSpPr>
          <p:grpSpPr bwMode="auto">
            <a:xfrm>
              <a:off x="3511550" y="4965701"/>
              <a:ext cx="3890169" cy="1663699"/>
              <a:chOff x="3511550" y="4965701"/>
              <a:chExt cx="3890169" cy="1663699"/>
            </a:xfrm>
          </p:grpSpPr>
          <p:grpSp>
            <p:nvGrpSpPr>
              <p:cNvPr id="47113" name="组合 17">
                <a:extLst>
                  <a:ext uri="{FF2B5EF4-FFF2-40B4-BE49-F238E27FC236}">
                    <a16:creationId xmlns:a16="http://schemas.microsoft.com/office/drawing/2014/main" id="{D83C270E-45D7-4E3C-956B-817374264A6D}"/>
                  </a:ext>
                </a:extLst>
              </p:cNvPr>
              <p:cNvGrpSpPr>
                <a:grpSpLocks/>
              </p:cNvGrpSpPr>
              <p:nvPr/>
            </p:nvGrpSpPr>
            <p:grpSpPr bwMode="auto">
              <a:xfrm>
                <a:off x="3511550" y="5507832"/>
                <a:ext cx="3890169" cy="1121568"/>
                <a:chOff x="3511550" y="5507832"/>
                <a:chExt cx="3890169" cy="1121568"/>
              </a:xfrm>
            </p:grpSpPr>
            <p:graphicFrame>
              <p:nvGraphicFramePr>
                <p:cNvPr id="47115" name="对象 19">
                  <a:extLst>
                    <a:ext uri="{FF2B5EF4-FFF2-40B4-BE49-F238E27FC236}">
                      <a16:creationId xmlns:a16="http://schemas.microsoft.com/office/drawing/2014/main" id="{1EC3379A-78D0-4CCF-A3FD-CE00033E4580}"/>
                    </a:ext>
                  </a:extLst>
                </p:cNvPr>
                <p:cNvGraphicFramePr>
                  <a:graphicFrameLocks noChangeAspect="1"/>
                </p:cNvGraphicFramePr>
                <p:nvPr/>
              </p:nvGraphicFramePr>
              <p:xfrm>
                <a:off x="5672667" y="5507832"/>
                <a:ext cx="1566333" cy="440531"/>
              </p:xfrm>
              <a:graphic>
                <a:graphicData uri="http://schemas.openxmlformats.org/presentationml/2006/ole">
                  <mc:AlternateContent xmlns:mc="http://schemas.openxmlformats.org/markup-compatibility/2006">
                    <mc:Choice xmlns:v="urn:schemas-microsoft-com:vml" Requires="v">
                      <p:oleObj spid="_x0000_s47314" name="Equation" r:id="rId3" imgW="812447" imgH="228501" progId="Equation.DSMT4">
                        <p:embed/>
                      </p:oleObj>
                    </mc:Choice>
                    <mc:Fallback>
                      <p:oleObj name="Equation" r:id="rId3" imgW="812447" imgH="228501" progId="Equation.DSMT4">
                        <p:embed/>
                        <p:pic>
                          <p:nvPicPr>
                            <p:cNvPr id="0" name="对象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2667" y="5507832"/>
                              <a:ext cx="1566333" cy="440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6" name="对象 20">
                  <a:extLst>
                    <a:ext uri="{FF2B5EF4-FFF2-40B4-BE49-F238E27FC236}">
                      <a16:creationId xmlns:a16="http://schemas.microsoft.com/office/drawing/2014/main" id="{3496BB74-793F-4428-AF0C-BFEB15156D01}"/>
                    </a:ext>
                  </a:extLst>
                </p:cNvPr>
                <p:cNvGraphicFramePr>
                  <a:graphicFrameLocks noChangeAspect="1"/>
                </p:cNvGraphicFramePr>
                <p:nvPr/>
              </p:nvGraphicFramePr>
              <p:xfrm>
                <a:off x="5371306" y="6115050"/>
                <a:ext cx="2030413" cy="514350"/>
              </p:xfrm>
              <a:graphic>
                <a:graphicData uri="http://schemas.openxmlformats.org/presentationml/2006/ole">
                  <mc:AlternateContent xmlns:mc="http://schemas.openxmlformats.org/markup-compatibility/2006">
                    <mc:Choice xmlns:v="urn:schemas-microsoft-com:vml" Requires="v">
                      <p:oleObj spid="_x0000_s47315" name="Equation" r:id="rId5" imgW="1053643" imgH="266584" progId="Equation.DSMT4">
                        <p:embed/>
                      </p:oleObj>
                    </mc:Choice>
                    <mc:Fallback>
                      <p:oleObj name="Equation" r:id="rId5" imgW="1053643" imgH="266584" progId="Equation.DSMT4">
                        <p:embed/>
                        <p:pic>
                          <p:nvPicPr>
                            <p:cNvPr id="0" name="对象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1306" y="6115050"/>
                              <a:ext cx="203041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17" name="对象 21">
                  <a:extLst>
                    <a:ext uri="{FF2B5EF4-FFF2-40B4-BE49-F238E27FC236}">
                      <a16:creationId xmlns:a16="http://schemas.microsoft.com/office/drawing/2014/main" id="{94385A70-F477-4086-906A-887689479CAF}"/>
                    </a:ext>
                  </a:extLst>
                </p:cNvPr>
                <p:cNvGraphicFramePr>
                  <a:graphicFrameLocks noChangeAspect="1"/>
                </p:cNvGraphicFramePr>
                <p:nvPr/>
              </p:nvGraphicFramePr>
              <p:xfrm>
                <a:off x="3511550" y="6104732"/>
                <a:ext cx="1517650" cy="441325"/>
              </p:xfrm>
              <a:graphic>
                <a:graphicData uri="http://schemas.openxmlformats.org/presentationml/2006/ole">
                  <mc:AlternateContent xmlns:mc="http://schemas.openxmlformats.org/markup-compatibility/2006">
                    <mc:Choice xmlns:v="urn:schemas-microsoft-com:vml" Requires="v">
                      <p:oleObj spid="_x0000_s47316" name="Equation" r:id="rId7" imgW="787400" imgH="228600" progId="Equation.DSMT4">
                        <p:embed/>
                      </p:oleObj>
                    </mc:Choice>
                    <mc:Fallback>
                      <p:oleObj name="Equation" r:id="rId7" imgW="787400" imgH="228600" progId="Equation.DSMT4">
                        <p:embed/>
                        <p:pic>
                          <p:nvPicPr>
                            <p:cNvPr id="0" name="对象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1550" y="6104732"/>
                              <a:ext cx="15176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7114" name="对象 18">
                <a:extLst>
                  <a:ext uri="{FF2B5EF4-FFF2-40B4-BE49-F238E27FC236}">
                    <a16:creationId xmlns:a16="http://schemas.microsoft.com/office/drawing/2014/main" id="{5D69218B-B871-4B94-82B0-02E8B2D1171D}"/>
                  </a:ext>
                </a:extLst>
              </p:cNvPr>
              <p:cNvGraphicFramePr>
                <a:graphicFrameLocks noChangeAspect="1"/>
              </p:cNvGraphicFramePr>
              <p:nvPr/>
            </p:nvGraphicFramePr>
            <p:xfrm>
              <a:off x="3978275" y="4965701"/>
              <a:ext cx="441325" cy="417513"/>
            </p:xfrm>
            <a:graphic>
              <a:graphicData uri="http://schemas.openxmlformats.org/presentationml/2006/ole">
                <mc:AlternateContent xmlns:mc="http://schemas.openxmlformats.org/markup-compatibility/2006">
                  <mc:Choice xmlns:v="urn:schemas-microsoft-com:vml" Requires="v">
                    <p:oleObj spid="_x0000_s47317" name="Equation" r:id="rId9" imgW="228501" imgH="215806" progId="Equation.DSMT4">
                      <p:embed/>
                    </p:oleObj>
                  </mc:Choice>
                  <mc:Fallback>
                    <p:oleObj name="Equation" r:id="rId9" imgW="228501" imgH="215806" progId="Equation.DSMT4">
                      <p:embed/>
                      <p:pic>
                        <p:nvPicPr>
                          <p:cNvPr id="0" name="对象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8275" y="4965701"/>
                            <a:ext cx="441325"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4" presetClass="entr" presetSubtype="1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randombar(horizontal)">
                                      <p:cBhvr>
                                        <p:cTn id="11" dur="500"/>
                                        <p:tgtEl>
                                          <p:spTgt spid="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xit" presetSubtype="0" fill="hold" nodeType="clickEffect">
                                  <p:stCondLst>
                                    <p:cond delay="0"/>
                                  </p:stCondLst>
                                  <p:childTnLst>
                                    <p:animEffect transition="out" filter="fade">
                                      <p:cBhvr>
                                        <p:cTn id="15" dur="500"/>
                                        <p:tgtEl>
                                          <p:spTgt spid="15"/>
                                        </p:tgtEl>
                                      </p:cBhvr>
                                    </p:animEffect>
                                    <p:set>
                                      <p:cBhvr>
                                        <p:cTn id="16"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BA1B56C-E526-4C1C-94BC-839493432041}"/>
              </a:ext>
            </a:extLst>
          </p:cNvPr>
          <p:cNvSpPr>
            <a:spLocks noGrp="1" noChangeArrowheads="1"/>
          </p:cNvSpPr>
          <p:nvPr>
            <p:ph type="title"/>
          </p:nvPr>
        </p:nvSpPr>
        <p:spPr>
          <a:xfrm>
            <a:off x="457200" y="355600"/>
            <a:ext cx="8229600" cy="1139825"/>
          </a:xfrm>
        </p:spPr>
        <p:txBody>
          <a:bodyPr/>
          <a:lstStyle/>
          <a:p>
            <a:pPr eaLnBrk="1" hangingPunct="1"/>
            <a:r>
              <a:rPr lang="zh-CN" altLang="en-US"/>
              <a:t>对偶问题基本性质</a:t>
            </a:r>
            <a:r>
              <a:rPr lang="en-US" altLang="zh-CN"/>
              <a:t>(5)-</a:t>
            </a:r>
            <a:r>
              <a:rPr lang="zh-CN" altLang="en-US"/>
              <a:t>例子</a:t>
            </a:r>
          </a:p>
        </p:txBody>
      </p:sp>
      <p:sp>
        <p:nvSpPr>
          <p:cNvPr id="48131" name="矩形 1">
            <a:extLst>
              <a:ext uri="{FF2B5EF4-FFF2-40B4-BE49-F238E27FC236}">
                <a16:creationId xmlns:a16="http://schemas.microsoft.com/office/drawing/2014/main" id="{CAC69566-8067-4C3B-A56E-09B2D258AC22}"/>
              </a:ext>
            </a:extLst>
          </p:cNvPr>
          <p:cNvSpPr>
            <a:spLocks noChangeArrowheads="1"/>
          </p:cNvSpPr>
          <p:nvPr/>
        </p:nvSpPr>
        <p:spPr bwMode="auto">
          <a:xfrm>
            <a:off x="573088" y="91440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已知原问题</a:t>
            </a:r>
          </a:p>
        </p:txBody>
      </p:sp>
      <p:graphicFrame>
        <p:nvGraphicFramePr>
          <p:cNvPr id="48132" name="对象 2">
            <a:extLst>
              <a:ext uri="{FF2B5EF4-FFF2-40B4-BE49-F238E27FC236}">
                <a16:creationId xmlns:a16="http://schemas.microsoft.com/office/drawing/2014/main" id="{8C525850-5020-4C91-8E3B-1CFF4D4D7F0B}"/>
              </a:ext>
            </a:extLst>
          </p:cNvPr>
          <p:cNvGraphicFramePr>
            <a:graphicFrameLocks noChangeAspect="1"/>
          </p:cNvGraphicFramePr>
          <p:nvPr/>
        </p:nvGraphicFramePr>
        <p:xfrm>
          <a:off x="649288" y="1262063"/>
          <a:ext cx="2744787" cy="1571625"/>
        </p:xfrm>
        <a:graphic>
          <a:graphicData uri="http://schemas.openxmlformats.org/presentationml/2006/ole">
            <mc:AlternateContent xmlns:mc="http://schemas.openxmlformats.org/markup-compatibility/2006">
              <mc:Choice xmlns:v="urn:schemas-microsoft-com:vml" Requires="v">
                <p:oleObj spid="_x0000_s48477" name="Equation" r:id="rId3" imgW="1752600" imgH="1003300" progId="Equation.DSMT4">
                  <p:embed/>
                </p:oleObj>
              </mc:Choice>
              <mc:Fallback>
                <p:oleObj name="Equation" r:id="rId3" imgW="1752600" imgH="10033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288" y="1262063"/>
                        <a:ext cx="2744787"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3" name="矩形 11">
            <a:extLst>
              <a:ext uri="{FF2B5EF4-FFF2-40B4-BE49-F238E27FC236}">
                <a16:creationId xmlns:a16="http://schemas.microsoft.com/office/drawing/2014/main" id="{F4F9AAF0-EE12-4D63-9DA2-F93C4E038EAC}"/>
              </a:ext>
            </a:extLst>
          </p:cNvPr>
          <p:cNvSpPr>
            <a:spLocks noChangeArrowheads="1"/>
          </p:cNvSpPr>
          <p:nvPr/>
        </p:nvSpPr>
        <p:spPr bwMode="auto">
          <a:xfrm>
            <a:off x="533400" y="2859088"/>
            <a:ext cx="5345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其最优解为                        ，最优值为           </a:t>
            </a:r>
            <a:endParaRPr lang="en-US" altLang="zh-CN"/>
          </a:p>
          <a:p>
            <a:r>
              <a:rPr lang="zh-CN" altLang="en-US"/>
              <a:t>求对偶问题的最优解？</a:t>
            </a:r>
          </a:p>
        </p:txBody>
      </p:sp>
      <p:graphicFrame>
        <p:nvGraphicFramePr>
          <p:cNvPr id="48134" name="对象 12">
            <a:extLst>
              <a:ext uri="{FF2B5EF4-FFF2-40B4-BE49-F238E27FC236}">
                <a16:creationId xmlns:a16="http://schemas.microsoft.com/office/drawing/2014/main" id="{7649706D-9241-4642-B583-A59523E1C6AC}"/>
              </a:ext>
            </a:extLst>
          </p:cNvPr>
          <p:cNvGraphicFramePr>
            <a:graphicFrameLocks noChangeAspect="1"/>
          </p:cNvGraphicFramePr>
          <p:nvPr/>
        </p:nvGraphicFramePr>
        <p:xfrm>
          <a:off x="1839913" y="2860675"/>
          <a:ext cx="1471612" cy="377825"/>
        </p:xfrm>
        <a:graphic>
          <a:graphicData uri="http://schemas.openxmlformats.org/presentationml/2006/ole">
            <mc:AlternateContent xmlns:mc="http://schemas.openxmlformats.org/markup-compatibility/2006">
              <mc:Choice xmlns:v="urn:schemas-microsoft-com:vml" Requires="v">
                <p:oleObj spid="_x0000_s48478" name="Equation" r:id="rId5" imgW="939392" imgH="241195" progId="Equation.DSMT4">
                  <p:embed/>
                </p:oleObj>
              </mc:Choice>
              <mc:Fallback>
                <p:oleObj name="Equation" r:id="rId5" imgW="939392" imgH="241195" progId="Equation.DSMT4">
                  <p:embed/>
                  <p:pic>
                    <p:nvPicPr>
                      <p:cNvPr id="0"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9913" y="2860675"/>
                        <a:ext cx="147161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5" name="对象 13">
            <a:extLst>
              <a:ext uri="{FF2B5EF4-FFF2-40B4-BE49-F238E27FC236}">
                <a16:creationId xmlns:a16="http://schemas.microsoft.com/office/drawing/2014/main" id="{35713651-3230-4EAC-A50D-B90F2F91F323}"/>
              </a:ext>
            </a:extLst>
          </p:cNvPr>
          <p:cNvGraphicFramePr>
            <a:graphicFrameLocks noChangeAspect="1"/>
          </p:cNvGraphicFramePr>
          <p:nvPr/>
        </p:nvGraphicFramePr>
        <p:xfrm>
          <a:off x="4506913" y="2924175"/>
          <a:ext cx="676275" cy="238125"/>
        </p:xfrm>
        <a:graphic>
          <a:graphicData uri="http://schemas.openxmlformats.org/presentationml/2006/ole">
            <mc:AlternateContent xmlns:mc="http://schemas.openxmlformats.org/markup-compatibility/2006">
              <mc:Choice xmlns:v="urn:schemas-microsoft-com:vml" Requires="v">
                <p:oleObj spid="_x0000_s48479" name="Equation" r:id="rId7" imgW="431613" imgH="152334" progId="Equation.DSMT4">
                  <p:embed/>
                </p:oleObj>
              </mc:Choice>
              <mc:Fallback>
                <p:oleObj name="Equation" r:id="rId7" imgW="431613" imgH="152334" progId="Equation.DSMT4">
                  <p:embed/>
                  <p:pic>
                    <p:nvPicPr>
                      <p:cNvPr id="0"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6913" y="2924175"/>
                        <a:ext cx="6762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组合 3">
            <a:extLst>
              <a:ext uri="{FF2B5EF4-FFF2-40B4-BE49-F238E27FC236}">
                <a16:creationId xmlns:a16="http://schemas.microsoft.com/office/drawing/2014/main" id="{8D8EEF40-AC1F-48BF-82E8-B661D8430C1F}"/>
              </a:ext>
            </a:extLst>
          </p:cNvPr>
          <p:cNvGrpSpPr>
            <a:grpSpLocks/>
          </p:cNvGrpSpPr>
          <p:nvPr/>
        </p:nvGrpSpPr>
        <p:grpSpPr bwMode="auto">
          <a:xfrm>
            <a:off x="3627438" y="1200150"/>
            <a:ext cx="4503737" cy="2168525"/>
            <a:chOff x="3628085" y="1200929"/>
            <a:chExt cx="4503090" cy="2168525"/>
          </a:xfrm>
        </p:grpSpPr>
        <p:sp>
          <p:nvSpPr>
            <p:cNvPr id="48145" name="AutoShape 30">
              <a:extLst>
                <a:ext uri="{FF2B5EF4-FFF2-40B4-BE49-F238E27FC236}">
                  <a16:creationId xmlns:a16="http://schemas.microsoft.com/office/drawing/2014/main" id="{392966A0-3753-4D35-B216-0EFB36C3BA6F}"/>
                </a:ext>
              </a:extLst>
            </p:cNvPr>
            <p:cNvSpPr>
              <a:spLocks noChangeArrowheads="1"/>
            </p:cNvSpPr>
            <p:nvPr/>
          </p:nvSpPr>
          <p:spPr bwMode="auto">
            <a:xfrm>
              <a:off x="3657600" y="2172210"/>
              <a:ext cx="1676400" cy="533688"/>
            </a:xfrm>
            <a:prstGeom prst="rightArrow">
              <a:avLst>
                <a:gd name="adj1" fmla="val 50000"/>
                <a:gd name="adj2" fmla="val 5878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46" name="Text Box 31">
              <a:extLst>
                <a:ext uri="{FF2B5EF4-FFF2-40B4-BE49-F238E27FC236}">
                  <a16:creationId xmlns:a16="http://schemas.microsoft.com/office/drawing/2014/main" id="{64613E31-C824-480F-867C-FF381A049CF6}"/>
                </a:ext>
              </a:extLst>
            </p:cNvPr>
            <p:cNvSpPr txBox="1">
              <a:spLocks noChangeArrowheads="1"/>
            </p:cNvSpPr>
            <p:nvPr/>
          </p:nvSpPr>
          <p:spPr bwMode="auto">
            <a:xfrm>
              <a:off x="3628085" y="1981200"/>
              <a:ext cx="1629715" cy="36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3366"/>
                  </a:solidFill>
                </a:rPr>
                <a:t>    对偶问题</a:t>
              </a:r>
              <a:endParaRPr lang="en-US" altLang="zh-CN">
                <a:solidFill>
                  <a:srgbClr val="003366"/>
                </a:solidFill>
              </a:endParaRPr>
            </a:p>
          </p:txBody>
        </p:sp>
        <p:graphicFrame>
          <p:nvGraphicFramePr>
            <p:cNvPr id="48147" name="对象 17">
              <a:extLst>
                <a:ext uri="{FF2B5EF4-FFF2-40B4-BE49-F238E27FC236}">
                  <a16:creationId xmlns:a16="http://schemas.microsoft.com/office/drawing/2014/main" id="{D287CB41-80AD-4A05-8A9A-F6DC92F1629B}"/>
                </a:ext>
              </a:extLst>
            </p:cNvPr>
            <p:cNvGraphicFramePr>
              <a:graphicFrameLocks noChangeAspect="1"/>
            </p:cNvGraphicFramePr>
            <p:nvPr/>
          </p:nvGraphicFramePr>
          <p:xfrm>
            <a:off x="5902325" y="1200929"/>
            <a:ext cx="2228850" cy="2168525"/>
          </p:xfrm>
          <a:graphic>
            <a:graphicData uri="http://schemas.openxmlformats.org/presentationml/2006/ole">
              <mc:AlternateContent xmlns:mc="http://schemas.openxmlformats.org/markup-compatibility/2006">
                <mc:Choice xmlns:v="urn:schemas-microsoft-com:vml" Requires="v">
                  <p:oleObj spid="_x0000_s48480" name="Equation" r:id="rId9" imgW="1422400" imgH="1384300" progId="Equation.DSMT4">
                    <p:embed/>
                  </p:oleObj>
                </mc:Choice>
                <mc:Fallback>
                  <p:oleObj name="Equation" r:id="rId9" imgW="1422400" imgH="1384300" progId="Equation.DSMT4">
                    <p:embed/>
                    <p:pic>
                      <p:nvPicPr>
                        <p:cNvPr id="0" name="对象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02325" y="1200929"/>
                          <a:ext cx="222885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 name="组合 4">
            <a:extLst>
              <a:ext uri="{FF2B5EF4-FFF2-40B4-BE49-F238E27FC236}">
                <a16:creationId xmlns:a16="http://schemas.microsoft.com/office/drawing/2014/main" id="{26C65816-011F-4C6F-BCBC-D604CDF975F6}"/>
              </a:ext>
            </a:extLst>
          </p:cNvPr>
          <p:cNvGrpSpPr>
            <a:grpSpLocks/>
          </p:cNvGrpSpPr>
          <p:nvPr/>
        </p:nvGrpSpPr>
        <p:grpSpPr bwMode="auto">
          <a:xfrm>
            <a:off x="544513" y="3570288"/>
            <a:ext cx="6789737" cy="2698750"/>
            <a:chOff x="544358" y="3570218"/>
            <a:chExt cx="6789892" cy="2698820"/>
          </a:xfrm>
        </p:grpSpPr>
        <p:sp>
          <p:nvSpPr>
            <p:cNvPr id="48139" name="矩形 18">
              <a:extLst>
                <a:ext uri="{FF2B5EF4-FFF2-40B4-BE49-F238E27FC236}">
                  <a16:creationId xmlns:a16="http://schemas.microsoft.com/office/drawing/2014/main" id="{057EF7D2-EE33-4E5E-A8F5-260B1BA78870}"/>
                </a:ext>
              </a:extLst>
            </p:cNvPr>
            <p:cNvSpPr>
              <a:spLocks noChangeArrowheads="1"/>
            </p:cNvSpPr>
            <p:nvPr/>
          </p:nvSpPr>
          <p:spPr bwMode="auto">
            <a:xfrm>
              <a:off x="544358" y="3570218"/>
              <a:ext cx="67898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因</a:t>
              </a:r>
              <a:r>
                <a:rPr lang="en-US" altLang="zh-CN" i="1"/>
                <a:t>x</a:t>
              </a:r>
              <a:r>
                <a:rPr lang="en-US" altLang="zh-CN" baseline="-25000"/>
                <a:t>1</a:t>
              </a:r>
              <a:r>
                <a:rPr lang="en-US" altLang="zh-CN"/>
                <a:t>, </a:t>
              </a:r>
              <a:r>
                <a:rPr lang="en-US" altLang="zh-CN" i="1"/>
                <a:t>x</a:t>
              </a:r>
              <a:r>
                <a:rPr lang="en-US" altLang="zh-CN" baseline="-25000"/>
                <a:t>2</a:t>
              </a:r>
              <a:r>
                <a:rPr lang="en-US" altLang="zh-CN"/>
                <a:t>, </a:t>
              </a:r>
              <a:r>
                <a:rPr lang="en-US" altLang="zh-CN" i="1"/>
                <a:t>x</a:t>
              </a:r>
              <a:r>
                <a:rPr lang="en-US" altLang="zh-CN" baseline="-25000"/>
                <a:t>3</a:t>
              </a:r>
              <a:r>
                <a:rPr lang="zh-CN" altLang="en-US"/>
                <a:t>为最优基变量，则最优基及其逆矩阵分别为</a:t>
              </a:r>
            </a:p>
          </p:txBody>
        </p:sp>
        <p:graphicFrame>
          <p:nvGraphicFramePr>
            <p:cNvPr id="48140" name="对象 19">
              <a:extLst>
                <a:ext uri="{FF2B5EF4-FFF2-40B4-BE49-F238E27FC236}">
                  <a16:creationId xmlns:a16="http://schemas.microsoft.com/office/drawing/2014/main" id="{58424583-ECF5-438F-BEB9-FE24934C3E87}"/>
                </a:ext>
              </a:extLst>
            </p:cNvPr>
            <p:cNvGraphicFramePr>
              <a:graphicFrameLocks noChangeAspect="1"/>
            </p:cNvGraphicFramePr>
            <p:nvPr/>
          </p:nvGraphicFramePr>
          <p:xfrm>
            <a:off x="823912" y="4007847"/>
            <a:ext cx="2547938" cy="935038"/>
          </p:xfrm>
          <a:graphic>
            <a:graphicData uri="http://schemas.openxmlformats.org/presentationml/2006/ole">
              <mc:AlternateContent xmlns:mc="http://schemas.openxmlformats.org/markup-compatibility/2006">
                <mc:Choice xmlns:v="urn:schemas-microsoft-com:vml" Requires="v">
                  <p:oleObj spid="_x0000_s48481" name="Equation" r:id="rId11" imgW="1625600" imgH="596900" progId="Equation.DSMT4">
                    <p:embed/>
                  </p:oleObj>
                </mc:Choice>
                <mc:Fallback>
                  <p:oleObj name="Equation" r:id="rId11" imgW="1625600" imgH="596900" progId="Equation.DSMT4">
                    <p:embed/>
                    <p:pic>
                      <p:nvPicPr>
                        <p:cNvPr id="0" name="对象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3912" y="4007847"/>
                          <a:ext cx="2547938"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41" name="对象 20">
              <a:extLst>
                <a:ext uri="{FF2B5EF4-FFF2-40B4-BE49-F238E27FC236}">
                  <a16:creationId xmlns:a16="http://schemas.microsoft.com/office/drawing/2014/main" id="{CEDB7598-7046-4ED1-BD0A-B5C6006D1D7C}"/>
                </a:ext>
              </a:extLst>
            </p:cNvPr>
            <p:cNvGraphicFramePr>
              <a:graphicFrameLocks noChangeAspect="1"/>
            </p:cNvGraphicFramePr>
            <p:nvPr/>
          </p:nvGraphicFramePr>
          <p:xfrm>
            <a:off x="4647811" y="4004568"/>
            <a:ext cx="2190750" cy="935037"/>
          </p:xfrm>
          <a:graphic>
            <a:graphicData uri="http://schemas.openxmlformats.org/presentationml/2006/ole">
              <mc:AlternateContent xmlns:mc="http://schemas.openxmlformats.org/markup-compatibility/2006">
                <mc:Choice xmlns:v="urn:schemas-microsoft-com:vml" Requires="v">
                  <p:oleObj spid="_x0000_s48482" name="Equation" r:id="rId13" imgW="1397000" imgH="596900" progId="Equation.DSMT4">
                    <p:embed/>
                  </p:oleObj>
                </mc:Choice>
                <mc:Fallback>
                  <p:oleObj name="Equation" r:id="rId13" imgW="1397000" imgH="596900" progId="Equation.DSMT4">
                    <p:embed/>
                    <p:pic>
                      <p:nvPicPr>
                        <p:cNvPr id="0" name="对象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7811" y="4004568"/>
                          <a:ext cx="219075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42" name="AutoShape 30">
              <a:extLst>
                <a:ext uri="{FF2B5EF4-FFF2-40B4-BE49-F238E27FC236}">
                  <a16:creationId xmlns:a16="http://schemas.microsoft.com/office/drawing/2014/main" id="{EE7682A7-3178-4199-850B-71CFB7557542}"/>
                </a:ext>
              </a:extLst>
            </p:cNvPr>
            <p:cNvSpPr>
              <a:spLocks noChangeArrowheads="1"/>
            </p:cNvSpPr>
            <p:nvPr/>
          </p:nvSpPr>
          <p:spPr bwMode="auto">
            <a:xfrm>
              <a:off x="3628085" y="4212073"/>
              <a:ext cx="742950" cy="421660"/>
            </a:xfrm>
            <a:prstGeom prst="rightArrow">
              <a:avLst>
                <a:gd name="adj1" fmla="val 50000"/>
                <a:gd name="adj2" fmla="val 58781"/>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43" name="矩形 22">
              <a:extLst>
                <a:ext uri="{FF2B5EF4-FFF2-40B4-BE49-F238E27FC236}">
                  <a16:creationId xmlns:a16="http://schemas.microsoft.com/office/drawing/2014/main" id="{EE4723D7-5C87-49DF-BBDF-1B04A5EBAAAC}"/>
                </a:ext>
              </a:extLst>
            </p:cNvPr>
            <p:cNvSpPr>
              <a:spLocks noChangeArrowheads="1"/>
            </p:cNvSpPr>
            <p:nvPr/>
          </p:nvSpPr>
          <p:spPr bwMode="auto">
            <a:xfrm>
              <a:off x="552450" y="4953000"/>
              <a:ext cx="226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对偶问题的最优解为</a:t>
              </a:r>
            </a:p>
          </p:txBody>
        </p:sp>
        <p:graphicFrame>
          <p:nvGraphicFramePr>
            <p:cNvPr id="48144" name="对象 23">
              <a:extLst>
                <a:ext uri="{FF2B5EF4-FFF2-40B4-BE49-F238E27FC236}">
                  <a16:creationId xmlns:a16="http://schemas.microsoft.com/office/drawing/2014/main" id="{AA9685F2-5DDA-4DE0-A7DC-E221689EB084}"/>
                </a:ext>
              </a:extLst>
            </p:cNvPr>
            <p:cNvGraphicFramePr>
              <a:graphicFrameLocks noChangeAspect="1"/>
            </p:cNvGraphicFramePr>
            <p:nvPr/>
          </p:nvGraphicFramePr>
          <p:xfrm>
            <a:off x="691363" y="5334000"/>
            <a:ext cx="4518026" cy="935038"/>
          </p:xfrm>
          <a:graphic>
            <a:graphicData uri="http://schemas.openxmlformats.org/presentationml/2006/ole">
              <mc:AlternateContent xmlns:mc="http://schemas.openxmlformats.org/markup-compatibility/2006">
                <mc:Choice xmlns:v="urn:schemas-microsoft-com:vml" Requires="v">
                  <p:oleObj spid="_x0000_s48483" name="Equation" r:id="rId15" imgW="2882900" imgH="596900" progId="Equation.DSMT4">
                    <p:embed/>
                  </p:oleObj>
                </mc:Choice>
                <mc:Fallback>
                  <p:oleObj name="Equation" r:id="rId15" imgW="2882900" imgH="596900" progId="Equation.DSMT4">
                    <p:embed/>
                    <p:pic>
                      <p:nvPicPr>
                        <p:cNvPr id="0" name="对象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1363" y="5334000"/>
                          <a:ext cx="4518026"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7" name="矩形 20">
            <a:extLst>
              <a:ext uri="{FF2B5EF4-FFF2-40B4-BE49-F238E27FC236}">
                <a16:creationId xmlns:a16="http://schemas.microsoft.com/office/drawing/2014/main" id="{B89B900E-60ED-4112-9253-D4E8EC44D12E}"/>
              </a:ext>
            </a:extLst>
          </p:cNvPr>
          <p:cNvSpPr>
            <a:spLocks noChangeArrowheads="1"/>
          </p:cNvSpPr>
          <p:nvPr/>
        </p:nvSpPr>
        <p:spPr bwMode="auto">
          <a:xfrm>
            <a:off x="3452813" y="1384300"/>
            <a:ext cx="2800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AutoNum type="arabicPeriod"/>
            </a:pPr>
            <a:r>
              <a:rPr lang="zh-CN" altLang="en-US" sz="1600">
                <a:solidFill>
                  <a:srgbClr val="FF00FF"/>
                </a:solidFill>
              </a:rPr>
              <a:t>写出对偶问题</a:t>
            </a:r>
            <a:endParaRPr lang="en-US" altLang="zh-CN" sz="1600">
              <a:solidFill>
                <a:srgbClr val="FF00FF"/>
              </a:solidFill>
            </a:endParaRPr>
          </a:p>
          <a:p>
            <a:pPr eaLnBrk="1" hangingPunct="1">
              <a:spcBef>
                <a:spcPct val="0"/>
              </a:spcBef>
              <a:buClrTx/>
              <a:buSzTx/>
              <a:buFontTx/>
              <a:buAutoNum type="arabicPeriod"/>
            </a:pPr>
            <a:r>
              <a:rPr lang="zh-CN" altLang="en-US" sz="1600">
                <a:solidFill>
                  <a:srgbClr val="FF00FF"/>
                </a:solidFill>
              </a:rPr>
              <a:t>利用对偶定理，</a:t>
            </a:r>
            <a:r>
              <a:rPr lang="en-US" altLang="zh-CN" sz="1600">
                <a:solidFill>
                  <a:srgbClr val="FF00FF"/>
                </a:solidFill>
              </a:rPr>
              <a:t>Y=C</a:t>
            </a:r>
            <a:r>
              <a:rPr lang="en-US" altLang="zh-CN" sz="1600" b="0" i="1" baseline="-25000">
                <a:solidFill>
                  <a:srgbClr val="FF00FF"/>
                </a:solidFill>
              </a:rPr>
              <a:t>B</a:t>
            </a:r>
            <a:r>
              <a:rPr lang="en-US" altLang="zh-CN" sz="1600">
                <a:solidFill>
                  <a:srgbClr val="FF00FF"/>
                </a:solidFill>
              </a:rPr>
              <a:t>B</a:t>
            </a:r>
            <a:r>
              <a:rPr lang="en-US" altLang="zh-CN" sz="1600" b="0" baseline="30000">
                <a:solidFill>
                  <a:srgbClr val="FF00FF"/>
                </a:solidFill>
              </a:rPr>
              <a:t>-1</a:t>
            </a:r>
            <a:endParaRPr lang="zh-CN" altLang="en-US" sz="1600" b="0" baseline="300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randombar(horizontal)">
                                      <p:cBhvr>
                                        <p:cTn id="7" dur="500"/>
                                        <p:tgtEl>
                                          <p:spTgt spid="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descr="Large confetti">
            <a:extLst>
              <a:ext uri="{FF2B5EF4-FFF2-40B4-BE49-F238E27FC236}">
                <a16:creationId xmlns:a16="http://schemas.microsoft.com/office/drawing/2014/main" id="{F3478B57-466C-48DA-8E7C-E9223D7BED04}"/>
              </a:ext>
            </a:extLst>
          </p:cNvPr>
          <p:cNvSpPr>
            <a:spLocks noGrp="1" noChangeArrowheads="1"/>
          </p:cNvSpPr>
          <p:nvPr>
            <p:ph type="title"/>
          </p:nvPr>
        </p:nvSpPr>
        <p:spPr/>
        <p:txBody>
          <a:bodyPr/>
          <a:lstStyle/>
          <a:p>
            <a:pPr eaLnBrk="1" hangingPunct="1"/>
            <a:r>
              <a:rPr lang="zh-CN" altLang="en-US"/>
              <a:t>对偶问题基本性质</a:t>
            </a:r>
            <a:r>
              <a:rPr lang="en-US" altLang="zh-CN"/>
              <a:t>(6)</a:t>
            </a:r>
            <a:endParaRPr lang="zh-CN" altLang="en-US"/>
          </a:p>
        </p:txBody>
      </p:sp>
      <p:sp>
        <p:nvSpPr>
          <p:cNvPr id="49155" name="Rectangle 4">
            <a:extLst>
              <a:ext uri="{FF2B5EF4-FFF2-40B4-BE49-F238E27FC236}">
                <a16:creationId xmlns:a16="http://schemas.microsoft.com/office/drawing/2014/main" id="{CB417F53-060A-49B8-9F18-7985DFBE51AB}"/>
              </a:ext>
            </a:extLst>
          </p:cNvPr>
          <p:cNvSpPr>
            <a:spLocks noGrp="1" noChangeArrowheads="1"/>
          </p:cNvSpPr>
          <p:nvPr>
            <p:ph type="body" idx="1"/>
          </p:nvPr>
        </p:nvSpPr>
        <p:spPr>
          <a:xfrm>
            <a:off x="457200" y="1268413"/>
            <a:ext cx="6553200" cy="574675"/>
          </a:xfrm>
          <a:noFill/>
        </p:spPr>
        <p:txBody>
          <a:bodyPr/>
          <a:lstStyle/>
          <a:p>
            <a:pPr eaLnBrk="1" hangingPunct="1">
              <a:spcBef>
                <a:spcPct val="0"/>
              </a:spcBef>
              <a:buSzTx/>
            </a:pPr>
            <a:r>
              <a:rPr lang="zh-CN" altLang="en-US">
                <a:solidFill>
                  <a:srgbClr val="0066CC"/>
                </a:solidFill>
              </a:rPr>
              <a:t>原问题与对偶问题解的对应关系小结</a:t>
            </a:r>
          </a:p>
        </p:txBody>
      </p:sp>
      <p:graphicFrame>
        <p:nvGraphicFramePr>
          <p:cNvPr id="156767" name="Group 95">
            <a:extLst>
              <a:ext uri="{FF2B5EF4-FFF2-40B4-BE49-F238E27FC236}">
                <a16:creationId xmlns:a16="http://schemas.microsoft.com/office/drawing/2014/main" id="{D6B581CF-F77D-4F9E-B340-A79CE4350181}"/>
              </a:ext>
            </a:extLst>
          </p:cNvPr>
          <p:cNvGraphicFramePr>
            <a:graphicFrameLocks noGrp="1"/>
          </p:cNvGraphicFramePr>
          <p:nvPr/>
        </p:nvGraphicFramePr>
        <p:xfrm>
          <a:off x="1092200" y="1892300"/>
          <a:ext cx="6143625" cy="3251201"/>
        </p:xfrm>
        <a:graphic>
          <a:graphicData uri="http://schemas.openxmlformats.org/drawingml/2006/table">
            <a:tbl>
              <a:tblPr/>
              <a:tblGrid>
                <a:gridCol w="1230313">
                  <a:extLst>
                    <a:ext uri="{9D8B030D-6E8A-4147-A177-3AD203B41FA5}">
                      <a16:colId xmlns:a16="http://schemas.microsoft.com/office/drawing/2014/main" val="20000"/>
                    </a:ext>
                  </a:extLst>
                </a:gridCol>
                <a:gridCol w="1227137">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gridCol w="1227138">
                  <a:extLst>
                    <a:ext uri="{9D8B030D-6E8A-4147-A177-3AD203B41FA5}">
                      <a16:colId xmlns:a16="http://schemas.microsoft.com/office/drawing/2014/main" val="20003"/>
                    </a:ext>
                  </a:extLst>
                </a:gridCol>
                <a:gridCol w="1230312">
                  <a:extLst>
                    <a:ext uri="{9D8B030D-6E8A-4147-A177-3AD203B41FA5}">
                      <a16:colId xmlns:a16="http://schemas.microsoft.com/office/drawing/2014/main" val="20004"/>
                    </a:ext>
                  </a:extLst>
                </a:gridCol>
              </a:tblGrid>
              <a:tr h="461507">
                <a:tc rowSpan="2" gridSpan="2">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dirty="0">
                          <a:ln>
                            <a:noFill/>
                          </a:ln>
                          <a:solidFill>
                            <a:schemeClr val="bg2"/>
                          </a:solidFill>
                          <a:effectLst/>
                          <a:latin typeface="Times New Roman" pitchFamily="18" charset="0"/>
                          <a:ea typeface="华文细黑" pitchFamily="2" charset="-122"/>
                        </a:rPr>
                        <a:t>对应关系</a:t>
                      </a:r>
                    </a:p>
                  </a:txBody>
                  <a:tcPr marT="45708" marB="4570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endParaRPr lang="zh-CN" altLang="en-US"/>
                    </a:p>
                  </a:txBody>
                  <a:tcPr/>
                </a:tc>
                <a:tc gridSpan="3">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原问题</a:t>
                      </a:r>
                    </a:p>
                  </a:txBody>
                  <a:tcPr marT="45708" marB="4570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31598">
                <a:tc gridSpan="2"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最优解</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无界解</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无可行解</a:t>
                      </a:r>
                    </a:p>
                  </a:txBody>
                  <a:tcPr marT="45708" marB="4570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4991">
                <a:tc rowSpan="3">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对偶问题</a:t>
                      </a:r>
                    </a:p>
                  </a:txBody>
                  <a:tcPr marT="45708" marB="4570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最优解</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itchFamily="18" charset="0"/>
                          <a:ea typeface="华文细黑" pitchFamily="2" charset="-122"/>
                        </a:rPr>
                        <a:t>(Y,Y)</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华文细黑"/>
                          <a:ea typeface="华文细黑" pitchFamily="2" charset="-122"/>
                        </a:rPr>
                        <a:t>——</a:t>
                      </a:r>
                      <a:endParaRPr kumimoji="1" lang="en-US" altLang="zh-CN" sz="2000" b="1" i="0" u="none" strike="noStrike" cap="none" normalizeH="0" baseline="0" dirty="0">
                        <a:ln>
                          <a:noFill/>
                        </a:ln>
                        <a:solidFill>
                          <a:schemeClr val="bg2"/>
                        </a:solidFill>
                        <a:effectLst/>
                        <a:latin typeface="Times New Roman" pitchFamily="18" charset="0"/>
                        <a:ea typeface="华文细黑" pitchFamily="2" charset="-122"/>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华文细黑"/>
                          <a:ea typeface="华文细黑" pitchFamily="2" charset="-122"/>
                        </a:rPr>
                        <a:t>——</a:t>
                      </a:r>
                      <a:endParaRPr kumimoji="1" lang="en-US" altLang="zh-CN" sz="2000" b="1" i="0" u="none" strike="noStrike" cap="none" normalizeH="0" baseline="0">
                        <a:ln>
                          <a:noFill/>
                        </a:ln>
                        <a:solidFill>
                          <a:schemeClr val="bg2"/>
                        </a:solidFill>
                        <a:effectLst/>
                        <a:latin typeface="Times New Roman" pitchFamily="18" charset="0"/>
                        <a:ea typeface="华文细黑" pitchFamily="2" charset="-122"/>
                      </a:endParaRPr>
                    </a:p>
                  </a:txBody>
                  <a:tcPr marT="45708" marB="4570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1507">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无界解</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华文细黑"/>
                          <a:ea typeface="华文细黑" pitchFamily="2" charset="-122"/>
                        </a:rPr>
                        <a:t>——</a:t>
                      </a:r>
                      <a:endParaRPr kumimoji="1" lang="en-US" altLang="zh-CN" sz="2000" b="1" i="0" u="none" strike="noStrike" cap="none" normalizeH="0" baseline="0" dirty="0">
                        <a:ln>
                          <a:noFill/>
                        </a:ln>
                        <a:solidFill>
                          <a:schemeClr val="bg2"/>
                        </a:solidFill>
                        <a:effectLst/>
                        <a:latin typeface="Times New Roman" pitchFamily="18" charset="0"/>
                        <a:ea typeface="华文细黑" pitchFamily="2" charset="-122"/>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华文细黑"/>
                          <a:ea typeface="华文细黑" pitchFamily="2" charset="-122"/>
                        </a:rPr>
                        <a:t>——</a:t>
                      </a:r>
                      <a:endParaRPr kumimoji="1" lang="en-US" altLang="zh-CN" sz="2000" b="1" i="0" u="none" strike="noStrike" cap="none" normalizeH="0" baseline="0">
                        <a:ln>
                          <a:noFill/>
                        </a:ln>
                        <a:solidFill>
                          <a:schemeClr val="bg2"/>
                        </a:solidFill>
                        <a:effectLst/>
                        <a:latin typeface="Times New Roman" pitchFamily="18" charset="0"/>
                        <a:ea typeface="华文细黑" pitchFamily="2" charset="-122"/>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itchFamily="18" charset="0"/>
                          <a:ea typeface="华文细黑" pitchFamily="2" charset="-122"/>
                        </a:rPr>
                        <a:t>(Y,Y)</a:t>
                      </a:r>
                    </a:p>
                  </a:txBody>
                  <a:tcPr marT="45708" marB="4570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31598">
                <a:tc vMerge="1">
                  <a:txBody>
                    <a:bodyPr/>
                    <a:lstStyle/>
                    <a:p>
                      <a:endParaRPr lang="zh-CN" altLang="en-US"/>
                    </a:p>
                  </a:txBody>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无可行解</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华文细黑"/>
                          <a:ea typeface="华文细黑" pitchFamily="2" charset="-122"/>
                        </a:rPr>
                        <a:t>——</a:t>
                      </a:r>
                      <a:endParaRPr kumimoji="1" lang="en-US" altLang="zh-CN" sz="2000" b="1" i="0" u="none" strike="noStrike" cap="none" normalizeH="0" baseline="0">
                        <a:ln>
                          <a:noFill/>
                        </a:ln>
                        <a:solidFill>
                          <a:schemeClr val="bg2"/>
                        </a:solidFill>
                        <a:effectLst/>
                        <a:latin typeface="Times New Roman" pitchFamily="18" charset="0"/>
                        <a:ea typeface="华文细黑" pitchFamily="2" charset="-122"/>
                      </a:endParaRP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itchFamily="18" charset="0"/>
                          <a:ea typeface="华文细黑" pitchFamily="2" charset="-122"/>
                        </a:rPr>
                        <a:t>(Y,Y)</a:t>
                      </a:r>
                    </a:p>
                  </a:txBody>
                  <a:tcPr marT="45708" marB="4570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zh-CN" altLang="en-US" sz="2000" b="1" i="0" u="none" strike="noStrike" cap="none" normalizeH="0" baseline="0">
                          <a:ln>
                            <a:noFill/>
                          </a:ln>
                          <a:solidFill>
                            <a:schemeClr val="bg2"/>
                          </a:solidFill>
                          <a:effectLst/>
                          <a:latin typeface="Times New Roman" pitchFamily="18" charset="0"/>
                          <a:ea typeface="华文细黑" pitchFamily="2" charset="-122"/>
                        </a:rPr>
                        <a:t>无法判断</a:t>
                      </a:r>
                    </a:p>
                  </a:txBody>
                  <a:tcPr marT="45708" marB="4570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ECE0107-8215-4268-B7F1-4654D864E1A7}"/>
              </a:ext>
            </a:extLst>
          </p:cNvPr>
          <p:cNvSpPr>
            <a:spLocks noGrp="1" noChangeArrowheads="1"/>
          </p:cNvSpPr>
          <p:nvPr>
            <p:ph type="title"/>
          </p:nvPr>
        </p:nvSpPr>
        <p:spPr/>
        <p:txBody>
          <a:bodyPr/>
          <a:lstStyle/>
          <a:p>
            <a:pPr eaLnBrk="1" hangingPunct="1"/>
            <a:r>
              <a:rPr lang="zh-CN" altLang="en-US"/>
              <a:t>上一节课重要内容回放</a:t>
            </a:r>
            <a:r>
              <a:rPr lang="en-US" altLang="zh-CN"/>
              <a:t>(2)</a:t>
            </a:r>
            <a:endParaRPr lang="zh-CN" altLang="en-US"/>
          </a:p>
        </p:txBody>
      </p:sp>
      <p:graphicFrame>
        <p:nvGraphicFramePr>
          <p:cNvPr id="3" name="Group 52">
            <a:extLst>
              <a:ext uri="{FF2B5EF4-FFF2-40B4-BE49-F238E27FC236}">
                <a16:creationId xmlns:a16="http://schemas.microsoft.com/office/drawing/2014/main" id="{DBD85775-A108-4B3A-971F-088484C9A8D2}"/>
              </a:ext>
            </a:extLst>
          </p:cNvPr>
          <p:cNvGraphicFramePr>
            <a:graphicFrameLocks noGrp="1"/>
          </p:cNvGraphicFramePr>
          <p:nvPr>
            <p:ph idx="1"/>
          </p:nvPr>
        </p:nvGraphicFramePr>
        <p:xfrm>
          <a:off x="381000" y="1371600"/>
          <a:ext cx="8229600" cy="5281616"/>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Arial" charset="0"/>
                          <a:ea typeface="宋体" pitchFamily="2" charset="-122"/>
                        </a:rPr>
                        <a:t>原问题（或对偶问题）</a:t>
                      </a:r>
                    </a:p>
                  </a:txBody>
                  <a:tcPr marT="45712" marB="45712"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Arial" charset="0"/>
                          <a:ea typeface="宋体" pitchFamily="2" charset="-122"/>
                        </a:rPr>
                        <a:t>对偶问题（或原问题）</a:t>
                      </a:r>
                    </a:p>
                  </a:txBody>
                  <a:tcPr marT="45712" marB="45712"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目标函数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max</a:t>
                      </a:r>
                    </a:p>
                  </a:txBody>
                  <a:tcPr marT="45712" marB="45712"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目标函数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min</a:t>
                      </a:r>
                    </a:p>
                  </a:txBody>
                  <a:tcPr marT="45712" marB="45712"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价值系数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C</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约束条件右端项</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限额系数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b</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89609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约束条件右端项</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限额系数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b</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技术系数矩阵</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价值系数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C</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技术系数矩阵</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A</a:t>
                      </a:r>
                      <a:r>
                        <a:rPr kumimoji="0" lang="en-US" altLang="zh-CN" sz="2400" b="1" i="0" u="none" strike="noStrike" cap="none" normalizeH="0" baseline="30000" dirty="0">
                          <a:ln>
                            <a:noFill/>
                          </a:ln>
                          <a:solidFill>
                            <a:schemeClr val="tx1"/>
                          </a:solidFill>
                          <a:effectLst/>
                          <a:latin typeface="Times New Roman" pitchFamily="18" charset="0"/>
                          <a:ea typeface="宋体" pitchFamily="2" charset="-122"/>
                        </a:rPr>
                        <a:t>T</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dirty="0" err="1">
                          <a:ln>
                            <a:noFill/>
                          </a:ln>
                          <a:solidFill>
                            <a:schemeClr val="tx1"/>
                          </a:solidFill>
                          <a:effectLst/>
                          <a:latin typeface="Times New Roman" pitchFamily="18" charset="0"/>
                          <a:ea typeface="宋体" pitchFamily="2" charset="-122"/>
                        </a:rPr>
                        <a:t>i</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行约束条件 </a:t>
                      </a:r>
                      <a:r>
                        <a:rPr kumimoji="0" lang="zh-CN" altLang="en-US" sz="2400" b="1" i="0" u="none" strike="noStrike" cap="none" normalizeH="0" baseline="0" dirty="0">
                          <a:ln>
                            <a:noFill/>
                          </a:ln>
                          <a:solidFill>
                            <a:schemeClr val="tx1"/>
                          </a:solidFill>
                          <a:effectLst/>
                          <a:latin typeface="Arial" charset="0"/>
                          <a:ea typeface="宋体" pitchFamily="2" charset="-122"/>
                        </a:rPr>
                        <a:t>≤</a:t>
                      </a:r>
                    </a:p>
                  </a:txBody>
                  <a:tcPr marT="45712" marB="45712"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对偶变量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i</a:t>
                      </a:r>
                      <a:r>
                        <a:rPr kumimoji="0" lang="en-US" altLang="zh-CN" sz="2400" b="1" i="0" u="none" strike="noStrike" cap="none" normalizeH="0" baseline="0">
                          <a:ln>
                            <a:noFill/>
                          </a:ln>
                          <a:solidFill>
                            <a:schemeClr val="tx1"/>
                          </a:solidFill>
                          <a:effectLst/>
                          <a:latin typeface="Arial" charset="0"/>
                          <a:ea typeface="宋体" pitchFamily="2" charset="-122"/>
                        </a:rPr>
                        <a:t>≥0</a:t>
                      </a:r>
                    </a:p>
                  </a:txBody>
                  <a:tcPr marT="45712" marB="45712"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i</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行约束条件 </a:t>
                      </a:r>
                      <a:r>
                        <a:rPr kumimoji="0" lang="zh-CN" altLang="en-US" sz="2400" b="1" i="0" u="none" strike="noStrike" cap="none" normalizeH="0" baseline="0">
                          <a:ln>
                            <a:noFill/>
                          </a:ln>
                          <a:solidFill>
                            <a:schemeClr val="tx1"/>
                          </a:solidFill>
                          <a:effectLst/>
                          <a:latin typeface="Arial" charset="0"/>
                          <a:ea typeface="宋体" pitchFamily="2" charset="-122"/>
                        </a:rPr>
                        <a:t>≥</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对偶变量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i </a:t>
                      </a:r>
                      <a:r>
                        <a:rPr kumimoji="0" lang="en-US" altLang="zh-CN" sz="2400" b="1" i="0" u="none" strike="noStrike" cap="none" normalizeH="0" baseline="0">
                          <a:ln>
                            <a:noFill/>
                          </a:ln>
                          <a:solidFill>
                            <a:schemeClr val="tx1"/>
                          </a:solidFill>
                          <a:effectLst/>
                          <a:latin typeface="Arial" charset="0"/>
                          <a:ea typeface="宋体" pitchFamily="2" charset="-122"/>
                        </a:rPr>
                        <a:t>≤0</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i</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行约束条件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对偶变量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y</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i </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无约束</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决策变量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j</a:t>
                      </a:r>
                      <a:r>
                        <a:rPr kumimoji="0" lang="en-US" altLang="zh-CN" sz="2400" b="1" i="0" u="none" strike="noStrike" cap="none" normalizeH="0" baseline="0">
                          <a:ln>
                            <a:noFill/>
                          </a:ln>
                          <a:solidFill>
                            <a:schemeClr val="tx1"/>
                          </a:solidFill>
                          <a:effectLst/>
                          <a:latin typeface="Arial" charset="0"/>
                          <a:ea typeface="宋体" pitchFamily="2" charset="-122"/>
                        </a:rPr>
                        <a:t>≥0</a:t>
                      </a:r>
                      <a:endParaRPr kumimoji="0" lang="en-US" altLang="zh-CN" sz="2400" b="1" i="0" u="none" strike="noStrike" cap="none" normalizeH="0" baseline="0">
                        <a:ln>
                          <a:noFill/>
                        </a:ln>
                        <a:solidFill>
                          <a:schemeClr val="tx1"/>
                        </a:solidFill>
                        <a:effectLst/>
                        <a:latin typeface="Times New Roman" pitchFamily="18" charset="0"/>
                        <a:ea typeface="宋体" pitchFamily="2" charset="-122"/>
                      </a:endParaRPr>
                    </a:p>
                  </a:txBody>
                  <a:tcPr marT="45712" marB="45712"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j</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行约束条件 </a:t>
                      </a:r>
                      <a:r>
                        <a:rPr kumimoji="0" lang="zh-CN" altLang="en-US" sz="2400" b="1" i="0" u="none" strike="noStrike" cap="none" normalizeH="0" baseline="0">
                          <a:ln>
                            <a:noFill/>
                          </a:ln>
                          <a:solidFill>
                            <a:schemeClr val="tx1"/>
                          </a:solidFill>
                          <a:effectLst/>
                          <a:latin typeface="Arial" charset="0"/>
                          <a:ea typeface="宋体" pitchFamily="2" charset="-122"/>
                        </a:rPr>
                        <a:t>≥</a:t>
                      </a:r>
                    </a:p>
                  </a:txBody>
                  <a:tcPr marT="45712" marB="45712"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7"/>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决策变量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j </a:t>
                      </a:r>
                      <a:r>
                        <a:rPr kumimoji="0" lang="en-US" altLang="zh-CN" sz="2400" b="1" i="0" u="none" strike="noStrike" cap="none" normalizeH="0" baseline="0">
                          <a:ln>
                            <a:noFill/>
                          </a:ln>
                          <a:solidFill>
                            <a:schemeClr val="tx1"/>
                          </a:solidFill>
                          <a:effectLst/>
                          <a:latin typeface="Arial" charset="0"/>
                          <a:ea typeface="宋体" pitchFamily="2" charset="-122"/>
                        </a:rPr>
                        <a:t>≤0</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j</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行约束条件 </a:t>
                      </a:r>
                      <a:r>
                        <a:rPr kumimoji="0" lang="zh-CN" altLang="en-US" sz="2400" b="1" i="0" u="none" strike="noStrike" cap="none" normalizeH="0" baseline="0">
                          <a:ln>
                            <a:noFill/>
                          </a:ln>
                          <a:solidFill>
                            <a:schemeClr val="tx1"/>
                          </a:solidFill>
                          <a:effectLst/>
                          <a:latin typeface="Arial" charset="0"/>
                          <a:ea typeface="宋体" pitchFamily="2" charset="-122"/>
                        </a:rPr>
                        <a:t>≤</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48728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rPr>
                        <a:t>决策变量 </a:t>
                      </a:r>
                      <a:r>
                        <a:rPr kumimoji="0" lang="en-US" altLang="zh-CN" sz="2400" b="1" i="0" u="none" strike="noStrike" cap="none" normalizeH="0" baseline="0">
                          <a:ln>
                            <a:noFill/>
                          </a:ln>
                          <a:solidFill>
                            <a:schemeClr val="tx1"/>
                          </a:solidFill>
                          <a:effectLst/>
                          <a:latin typeface="Times New Roman" pitchFamily="18" charset="0"/>
                          <a:ea typeface="宋体" pitchFamily="2" charset="-122"/>
                        </a:rPr>
                        <a:t>x</a:t>
                      </a:r>
                      <a:r>
                        <a:rPr kumimoji="0" lang="en-US" altLang="zh-CN" sz="2400" b="1" i="0" u="none" strike="noStrike" cap="none" normalizeH="0" baseline="-25000">
                          <a:ln>
                            <a:noFill/>
                          </a:ln>
                          <a:solidFill>
                            <a:schemeClr val="tx1"/>
                          </a:solidFill>
                          <a:effectLst/>
                          <a:latin typeface="Times New Roman" pitchFamily="18" charset="0"/>
                          <a:ea typeface="宋体" pitchFamily="2" charset="-122"/>
                        </a:rPr>
                        <a:t>j </a:t>
                      </a:r>
                      <a:r>
                        <a:rPr kumimoji="0" lang="zh-CN" altLang="en-US" sz="2400" b="1" i="0" u="none" strike="noStrike" cap="none" normalizeH="0" baseline="0">
                          <a:ln>
                            <a:noFill/>
                          </a:ln>
                          <a:solidFill>
                            <a:schemeClr val="tx1"/>
                          </a:solidFill>
                          <a:effectLst/>
                          <a:latin typeface="Arial" charset="0"/>
                          <a:ea typeface="宋体" pitchFamily="2" charset="-122"/>
                        </a:rPr>
                        <a:t>无约束</a:t>
                      </a:r>
                    </a:p>
                  </a:txBody>
                  <a:tcPr marT="45712" marB="45712" horzOverflow="overflow">
                    <a:lnL cap="flat">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第</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j</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行约束条件 </a:t>
                      </a:r>
                      <a:r>
                        <a:rPr kumimoji="0" lang="en-US" altLang="zh-CN" sz="2400" b="1" i="0" u="none" strike="noStrike" cap="none" normalizeH="0" baseline="0" dirty="0">
                          <a:ln>
                            <a:noFill/>
                          </a:ln>
                          <a:solidFill>
                            <a:schemeClr val="tx1"/>
                          </a:solidFill>
                          <a:effectLst/>
                          <a:latin typeface="Arial" charset="0"/>
                          <a:ea typeface="宋体" pitchFamily="2" charset="-122"/>
                        </a:rPr>
                        <a:t>=</a:t>
                      </a:r>
                    </a:p>
                  </a:txBody>
                  <a:tcPr marT="45712" marB="45712" horzOverflow="overflow">
                    <a:lnL w="12700" cap="flat" cmpd="sng" algn="ctr">
                      <a:solidFill>
                        <a:schemeClr val="tx1"/>
                      </a:solidFill>
                      <a:prstDash val="solid"/>
                      <a:round/>
                      <a:headEnd type="none" w="med" len="med"/>
                      <a:tailEnd type="none" w="med" len="med"/>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50206" name="Object 2">
            <a:extLst>
              <a:ext uri="{FF2B5EF4-FFF2-40B4-BE49-F238E27FC236}">
                <a16:creationId xmlns:a16="http://schemas.microsoft.com/office/drawing/2014/main" id="{F64B5FAD-9C2F-4DA1-B06C-DFC8A0891E1C}"/>
              </a:ext>
            </a:extLst>
          </p:cNvPr>
          <p:cNvGraphicFramePr>
            <a:graphicFrameLocks noChangeAspect="1"/>
          </p:cNvGraphicFramePr>
          <p:nvPr/>
        </p:nvGraphicFramePr>
        <p:xfrm>
          <a:off x="152400" y="3759200"/>
          <a:ext cx="990600" cy="1270000"/>
        </p:xfrm>
        <a:graphic>
          <a:graphicData uri="http://schemas.openxmlformats.org/presentationml/2006/ole">
            <mc:AlternateContent xmlns:mc="http://schemas.openxmlformats.org/markup-compatibility/2006">
              <mc:Choice xmlns:v="urn:schemas-microsoft-com:vml" Requires="v">
                <p:oleObj spid="_x0000_s50399" name="Equation" r:id="rId3" imgW="990170" imgH="1269449" progId="Equation.DSMT4">
                  <p:embed/>
                </p:oleObj>
              </mc:Choice>
              <mc:Fallback>
                <p:oleObj name="Equation" r:id="rId3" imgW="990170" imgH="126944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759200"/>
                        <a:ext cx="990600"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07" name="Object 3">
            <a:extLst>
              <a:ext uri="{FF2B5EF4-FFF2-40B4-BE49-F238E27FC236}">
                <a16:creationId xmlns:a16="http://schemas.microsoft.com/office/drawing/2014/main" id="{67569A8F-AA01-434D-B7A2-A640E029F54E}"/>
              </a:ext>
            </a:extLst>
          </p:cNvPr>
          <p:cNvGraphicFramePr>
            <a:graphicFrameLocks noChangeAspect="1"/>
          </p:cNvGraphicFramePr>
          <p:nvPr/>
        </p:nvGraphicFramePr>
        <p:xfrm>
          <a:off x="457200" y="5207000"/>
          <a:ext cx="685800" cy="1270000"/>
        </p:xfrm>
        <a:graphic>
          <a:graphicData uri="http://schemas.openxmlformats.org/presentationml/2006/ole">
            <mc:AlternateContent xmlns:mc="http://schemas.openxmlformats.org/markup-compatibility/2006">
              <mc:Choice xmlns:v="urn:schemas-microsoft-com:vml" Requires="v">
                <p:oleObj spid="_x0000_s50400" name="Equation" r:id="rId5" imgW="685800" imgH="1270000" progId="Equation.DSMT4">
                  <p:embed/>
                </p:oleObj>
              </mc:Choice>
              <mc:Fallback>
                <p:oleObj name="Equation" r:id="rId5" imgW="685800" imgH="12700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5207000"/>
                        <a:ext cx="685800"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08" name="Object 4">
            <a:extLst>
              <a:ext uri="{FF2B5EF4-FFF2-40B4-BE49-F238E27FC236}">
                <a16:creationId xmlns:a16="http://schemas.microsoft.com/office/drawing/2014/main" id="{6B16AABF-BB7A-417A-BEA3-3C3BE80B275B}"/>
              </a:ext>
            </a:extLst>
          </p:cNvPr>
          <p:cNvGraphicFramePr>
            <a:graphicFrameLocks noChangeAspect="1"/>
          </p:cNvGraphicFramePr>
          <p:nvPr/>
        </p:nvGraphicFramePr>
        <p:xfrm>
          <a:off x="7848600" y="3759200"/>
          <a:ext cx="711200" cy="1270000"/>
        </p:xfrm>
        <a:graphic>
          <a:graphicData uri="http://schemas.openxmlformats.org/presentationml/2006/ole">
            <mc:AlternateContent xmlns:mc="http://schemas.openxmlformats.org/markup-compatibility/2006">
              <mc:Choice xmlns:v="urn:schemas-microsoft-com:vml" Requires="v">
                <p:oleObj spid="_x0000_s50401" name="Equation" r:id="rId7" imgW="710891" imgH="1269449" progId="Equation.DSMT4">
                  <p:embed/>
                </p:oleObj>
              </mc:Choice>
              <mc:Fallback>
                <p:oleObj name="Equation" r:id="rId7" imgW="710891" imgH="1269449"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48600" y="3759200"/>
                        <a:ext cx="711200"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09" name="Object 5">
            <a:extLst>
              <a:ext uri="{FF2B5EF4-FFF2-40B4-BE49-F238E27FC236}">
                <a16:creationId xmlns:a16="http://schemas.microsoft.com/office/drawing/2014/main" id="{216E52FC-38C0-4156-A256-8EF3CB7A1CB6}"/>
              </a:ext>
            </a:extLst>
          </p:cNvPr>
          <p:cNvGraphicFramePr>
            <a:graphicFrameLocks noChangeAspect="1"/>
          </p:cNvGraphicFramePr>
          <p:nvPr/>
        </p:nvGraphicFramePr>
        <p:xfrm>
          <a:off x="7874000" y="5207000"/>
          <a:ext cx="965200" cy="1270000"/>
        </p:xfrm>
        <a:graphic>
          <a:graphicData uri="http://schemas.openxmlformats.org/presentationml/2006/ole">
            <mc:AlternateContent xmlns:mc="http://schemas.openxmlformats.org/markup-compatibility/2006">
              <mc:Choice xmlns:v="urn:schemas-microsoft-com:vml" Requires="v">
                <p:oleObj spid="_x0000_s50402" name="Equation" r:id="rId9" imgW="965200" imgH="1270000" progId="Equation.DSMT4">
                  <p:embed/>
                </p:oleObj>
              </mc:Choice>
              <mc:Fallback>
                <p:oleObj name="Equation" r:id="rId9" imgW="965200" imgH="12700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74000" y="5207000"/>
                        <a:ext cx="965200"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10" name="矩形 1">
            <a:extLst>
              <a:ext uri="{FF2B5EF4-FFF2-40B4-BE49-F238E27FC236}">
                <a16:creationId xmlns:a16="http://schemas.microsoft.com/office/drawing/2014/main" id="{B002A00D-3E94-40B4-9620-98F187E00F78}"/>
              </a:ext>
            </a:extLst>
          </p:cNvPr>
          <p:cNvSpPr>
            <a:spLocks noChangeArrowheads="1"/>
          </p:cNvSpPr>
          <p:nvPr/>
        </p:nvSpPr>
        <p:spPr bwMode="auto">
          <a:xfrm>
            <a:off x="533400" y="912813"/>
            <a:ext cx="157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t>对偶变换规则</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44DBDDA-D0CF-46A5-B26E-88603E2CB7FD}"/>
              </a:ext>
            </a:extLst>
          </p:cNvPr>
          <p:cNvSpPr>
            <a:spLocks noGrp="1" noChangeArrowheads="1"/>
          </p:cNvSpPr>
          <p:nvPr>
            <p:ph type="title"/>
          </p:nvPr>
        </p:nvSpPr>
        <p:spPr/>
        <p:txBody>
          <a:bodyPr/>
          <a:lstStyle/>
          <a:p>
            <a:pPr eaLnBrk="1" hangingPunct="1"/>
            <a:r>
              <a:rPr lang="zh-CN" altLang="en-US"/>
              <a:t>上一节课重要内容回放</a:t>
            </a:r>
            <a:r>
              <a:rPr lang="en-US" altLang="zh-CN"/>
              <a:t>(3)</a:t>
            </a:r>
            <a:endParaRPr lang="zh-CN" altLang="en-US"/>
          </a:p>
        </p:txBody>
      </p:sp>
      <p:sp>
        <p:nvSpPr>
          <p:cNvPr id="51203" name="Rectangle 3">
            <a:extLst>
              <a:ext uri="{FF2B5EF4-FFF2-40B4-BE49-F238E27FC236}">
                <a16:creationId xmlns:a16="http://schemas.microsoft.com/office/drawing/2014/main" id="{75D884AF-1B6F-46D8-80E1-4C0CD1CB0CC2}"/>
              </a:ext>
            </a:extLst>
          </p:cNvPr>
          <p:cNvSpPr>
            <a:spLocks noGrp="1" noChangeArrowheads="1"/>
          </p:cNvSpPr>
          <p:nvPr>
            <p:ph type="body" sz="half" idx="1"/>
          </p:nvPr>
        </p:nvSpPr>
        <p:spPr>
          <a:xfrm>
            <a:off x="450850" y="1123950"/>
            <a:ext cx="5562600" cy="609600"/>
          </a:xfrm>
        </p:spPr>
        <p:txBody>
          <a:bodyPr/>
          <a:lstStyle/>
          <a:p>
            <a:pPr marL="533400" indent="-533400" eaLnBrk="1" hangingPunct="1">
              <a:buFont typeface="Wingdings" panose="05000000000000000000" pitchFamily="2" charset="2"/>
              <a:buNone/>
            </a:pPr>
            <a:r>
              <a:rPr lang="en-US" altLang="zh-CN" sz="2400"/>
              <a:t>1.   </a:t>
            </a:r>
            <a:r>
              <a:rPr lang="zh-CN" altLang="en-US" sz="2400">
                <a:solidFill>
                  <a:srgbClr val="FF0000"/>
                </a:solidFill>
              </a:rPr>
              <a:t>对称性</a:t>
            </a:r>
            <a:r>
              <a:rPr lang="zh-CN" altLang="en-US" sz="2400"/>
              <a:t>：对偶问题的对偶是原问题。</a:t>
            </a:r>
          </a:p>
        </p:txBody>
      </p:sp>
      <p:sp>
        <p:nvSpPr>
          <p:cNvPr id="4" name="Rectangle 3">
            <a:extLst>
              <a:ext uri="{FF2B5EF4-FFF2-40B4-BE49-F238E27FC236}">
                <a16:creationId xmlns:a16="http://schemas.microsoft.com/office/drawing/2014/main" id="{E71853F7-22C1-477E-8104-D92F8B0DA241}"/>
              </a:ext>
            </a:extLst>
          </p:cNvPr>
          <p:cNvSpPr txBox="1">
            <a:spLocks noChangeArrowheads="1"/>
          </p:cNvSpPr>
          <p:nvPr/>
        </p:nvSpPr>
        <p:spPr bwMode="auto">
          <a:xfrm>
            <a:off x="457200" y="1752600"/>
            <a:ext cx="8229600" cy="1093788"/>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533400" indent="-533400" eaLnBrk="1" hangingPunct="1">
              <a:buFont typeface="Wingdings" panose="05000000000000000000" pitchFamily="2" charset="2"/>
              <a:buAutoNum type="arabicPeriod"/>
              <a:defRPr/>
            </a:pPr>
            <a:endParaRPr lang="zh-CN" altLang="en-US" sz="800" kern="0" dirty="0"/>
          </a:p>
          <a:p>
            <a:pPr marL="533400" indent="-533400" eaLnBrk="1" hangingPunct="1">
              <a:buFont typeface="Wingdings" panose="05000000000000000000" pitchFamily="2" charset="2"/>
              <a:buNone/>
              <a:defRPr/>
            </a:pPr>
            <a:r>
              <a:rPr lang="en-US" altLang="zh-CN" sz="2400" kern="0" dirty="0"/>
              <a:t>2.   </a:t>
            </a:r>
            <a:r>
              <a:rPr lang="zh-CN" altLang="en-US" sz="2400" kern="0" dirty="0">
                <a:solidFill>
                  <a:srgbClr val="FF0000"/>
                </a:solidFill>
              </a:rPr>
              <a:t>弱对偶性</a:t>
            </a:r>
            <a:r>
              <a:rPr lang="zh-CN" altLang="en-US" sz="2400" kern="0" dirty="0"/>
              <a:t>：若</a:t>
            </a:r>
            <a:r>
              <a:rPr lang="en-US" altLang="zh-CN" sz="2400" b="0" kern="0" dirty="0">
                <a:latin typeface="Times New Roman" panose="02020603050405020304" pitchFamily="18" charset="0"/>
              </a:rPr>
              <a:t>X</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是原问题的可行解，</a:t>
            </a:r>
            <a:r>
              <a:rPr lang="en-US" altLang="zh-CN" sz="2400" b="0" kern="0" dirty="0">
                <a:latin typeface="Times New Roman" panose="02020603050405020304" pitchFamily="18" charset="0"/>
              </a:rPr>
              <a:t>Y</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是对偶问题的可行解；则存在</a:t>
            </a:r>
            <a:r>
              <a:rPr lang="en-US" altLang="zh-CN" sz="2400" b="0" kern="0" dirty="0">
                <a:latin typeface="Times New Roman" panose="02020603050405020304" pitchFamily="18" charset="0"/>
              </a:rPr>
              <a:t>CX</a:t>
            </a:r>
            <a:r>
              <a:rPr lang="en-US" altLang="zh-CN" sz="2400" kern="0" dirty="0">
                <a:latin typeface="Times New Roman" panose="02020603050405020304" pitchFamily="18" charset="0"/>
              </a:rPr>
              <a:t>’ </a:t>
            </a:r>
            <a:r>
              <a:rPr lang="en-US" altLang="zh-CN" sz="2400" kern="0" dirty="0"/>
              <a:t>≤</a:t>
            </a:r>
            <a:r>
              <a:rPr lang="en-US" altLang="zh-CN" sz="2400" b="0" kern="0" dirty="0" err="1">
                <a:latin typeface="Times New Roman" panose="02020603050405020304" pitchFamily="18" charset="0"/>
              </a:rPr>
              <a:t>Y</a:t>
            </a:r>
            <a:r>
              <a:rPr lang="en-US" altLang="zh-CN" sz="2400" kern="0" dirty="0" err="1">
                <a:latin typeface="Times New Roman" panose="02020603050405020304" pitchFamily="18" charset="0"/>
              </a:rPr>
              <a:t>’</a:t>
            </a:r>
            <a:r>
              <a:rPr lang="en-US" altLang="zh-CN" sz="2400" b="0" kern="0" dirty="0" err="1">
                <a:latin typeface="Times New Roman" panose="02020603050405020304" pitchFamily="18" charset="0"/>
              </a:rPr>
              <a:t>b</a:t>
            </a:r>
            <a:r>
              <a:rPr lang="zh-CN" altLang="en-US" sz="2400" kern="0" dirty="0">
                <a:latin typeface="Times New Roman" panose="02020603050405020304" pitchFamily="18" charset="0"/>
              </a:rPr>
              <a:t>。</a:t>
            </a:r>
            <a:endParaRPr lang="en-US" altLang="zh-CN" sz="2400" kern="0" dirty="0">
              <a:latin typeface="Times New Roman" panose="02020603050405020304" pitchFamily="18" charset="0"/>
            </a:endParaRPr>
          </a:p>
        </p:txBody>
      </p:sp>
      <p:sp>
        <p:nvSpPr>
          <p:cNvPr id="5" name="Rectangle 3">
            <a:extLst>
              <a:ext uri="{FF2B5EF4-FFF2-40B4-BE49-F238E27FC236}">
                <a16:creationId xmlns:a16="http://schemas.microsoft.com/office/drawing/2014/main" id="{07C85313-4846-4D32-B6B6-E6E60D684B4F}"/>
              </a:ext>
            </a:extLst>
          </p:cNvPr>
          <p:cNvSpPr txBox="1">
            <a:spLocks noChangeArrowheads="1"/>
          </p:cNvSpPr>
          <p:nvPr/>
        </p:nvSpPr>
        <p:spPr bwMode="auto">
          <a:xfrm>
            <a:off x="444500" y="2795588"/>
            <a:ext cx="8229600" cy="9906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533400" indent="-533400" eaLnBrk="1" hangingPunct="1">
              <a:buFont typeface="Wingdings" panose="05000000000000000000" pitchFamily="2" charset="2"/>
              <a:buAutoNum type="arabicPeriod"/>
              <a:defRPr/>
            </a:pPr>
            <a:endParaRPr lang="zh-CN" altLang="en-US" sz="800" kern="0" dirty="0"/>
          </a:p>
          <a:p>
            <a:pPr marL="533400" indent="-533400" eaLnBrk="1" hangingPunct="1">
              <a:buFont typeface="Wingdings" panose="05000000000000000000" pitchFamily="2" charset="2"/>
              <a:buNone/>
              <a:defRPr/>
            </a:pPr>
            <a:r>
              <a:rPr lang="en-US" altLang="zh-CN" sz="2400" kern="0" dirty="0"/>
              <a:t>3.   </a:t>
            </a:r>
            <a:r>
              <a:rPr lang="zh-CN" altLang="en-US" sz="2400" kern="0" dirty="0">
                <a:solidFill>
                  <a:srgbClr val="FF0000"/>
                </a:solidFill>
              </a:rPr>
              <a:t>无界性</a:t>
            </a:r>
            <a:r>
              <a:rPr lang="zh-CN" altLang="en-US" sz="2400" kern="0" dirty="0"/>
              <a:t>： 若原问题为</a:t>
            </a:r>
            <a:r>
              <a:rPr lang="zh-CN" altLang="en-US" sz="2400" kern="0" dirty="0">
                <a:solidFill>
                  <a:srgbClr val="FF00FF"/>
                </a:solidFill>
              </a:rPr>
              <a:t>无界解</a:t>
            </a:r>
            <a:r>
              <a:rPr lang="zh-CN" altLang="en-US" sz="2400" kern="0" dirty="0"/>
              <a:t>，则其对偶问题</a:t>
            </a:r>
            <a:r>
              <a:rPr lang="zh-CN" altLang="en-US" sz="2400" kern="0" dirty="0">
                <a:solidFill>
                  <a:srgbClr val="FF00FF"/>
                </a:solidFill>
              </a:rPr>
              <a:t>无可行解</a:t>
            </a:r>
            <a:r>
              <a:rPr lang="zh-CN" altLang="en-US" sz="2400" kern="0" dirty="0"/>
              <a:t>。</a:t>
            </a:r>
            <a:endParaRPr lang="en-US" altLang="zh-CN" sz="2400" kern="0" dirty="0"/>
          </a:p>
          <a:p>
            <a:pPr marL="533400" indent="-533400" eaLnBrk="1" hangingPunct="1">
              <a:buFont typeface="Wingdings" panose="05000000000000000000" pitchFamily="2" charset="2"/>
              <a:buAutoNum type="arabicPeriod"/>
              <a:defRPr/>
            </a:pPr>
            <a:endParaRPr lang="en-US" altLang="zh-CN" sz="800" b="0" kern="0" dirty="0">
              <a:latin typeface="Times New Roman" panose="02020603050405020304" pitchFamily="18" charset="0"/>
            </a:endParaRPr>
          </a:p>
        </p:txBody>
      </p:sp>
      <p:sp>
        <p:nvSpPr>
          <p:cNvPr id="6" name="Rectangle 3">
            <a:extLst>
              <a:ext uri="{FF2B5EF4-FFF2-40B4-BE49-F238E27FC236}">
                <a16:creationId xmlns:a16="http://schemas.microsoft.com/office/drawing/2014/main" id="{467AE304-7F15-429E-AC82-4DED3111CB6A}"/>
              </a:ext>
            </a:extLst>
          </p:cNvPr>
          <p:cNvSpPr txBox="1">
            <a:spLocks noChangeArrowheads="1"/>
          </p:cNvSpPr>
          <p:nvPr/>
        </p:nvSpPr>
        <p:spPr bwMode="auto">
          <a:xfrm>
            <a:off x="411163" y="3733800"/>
            <a:ext cx="8229600" cy="14478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533400" indent="-533400" eaLnBrk="1" hangingPunct="1">
              <a:buFont typeface="Wingdings" panose="05000000000000000000" pitchFamily="2" charset="2"/>
              <a:buAutoNum type="arabicPeriod"/>
              <a:defRPr/>
            </a:pPr>
            <a:endParaRPr lang="zh-CN" altLang="en-US" sz="800" kern="0" dirty="0"/>
          </a:p>
          <a:p>
            <a:pPr marL="533400" indent="-533400" eaLnBrk="1" hangingPunct="1">
              <a:buFont typeface="Wingdings" panose="05000000000000000000" pitchFamily="2" charset="2"/>
              <a:buNone/>
              <a:defRPr/>
            </a:pPr>
            <a:r>
              <a:rPr lang="en-US" altLang="zh-CN" sz="2400" kern="0" dirty="0">
                <a:latin typeface="Times New Roman" panose="02020603050405020304" pitchFamily="18" charset="0"/>
              </a:rPr>
              <a:t>4.    </a:t>
            </a:r>
            <a:r>
              <a:rPr lang="zh-CN" altLang="en-US" sz="2400" kern="0" dirty="0">
                <a:solidFill>
                  <a:srgbClr val="FF0000"/>
                </a:solidFill>
              </a:rPr>
              <a:t>最优性定理</a:t>
            </a:r>
            <a:r>
              <a:rPr lang="zh-CN" altLang="en-US" sz="2400" kern="0" dirty="0"/>
              <a:t>：（</a:t>
            </a:r>
            <a:r>
              <a:rPr lang="zh-CN" altLang="en-US" sz="2400" kern="0" dirty="0">
                <a:latin typeface="Times New Roman" panose="02020603050405020304" pitchFamily="18" charset="0"/>
              </a:rPr>
              <a:t>可行解是最优解时的性质）设</a:t>
            </a:r>
            <a:r>
              <a:rPr lang="en-US" altLang="zh-CN" sz="2400" b="0" kern="0" dirty="0">
                <a:latin typeface="Times New Roman" panose="02020603050405020304" pitchFamily="18" charset="0"/>
              </a:rPr>
              <a:t>X</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是原问题的可行解，</a:t>
            </a:r>
            <a:r>
              <a:rPr lang="en-US" altLang="zh-CN" sz="2400" b="0" kern="0" dirty="0">
                <a:latin typeface="Times New Roman" panose="02020603050405020304" pitchFamily="18" charset="0"/>
              </a:rPr>
              <a:t>Y</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是对偶问题的可行解，当</a:t>
            </a:r>
            <a:r>
              <a:rPr lang="en-US" altLang="zh-CN" sz="2400" b="0" kern="0" dirty="0">
                <a:latin typeface="Times New Roman" panose="02020603050405020304" pitchFamily="18" charset="0"/>
              </a:rPr>
              <a:t>CX</a:t>
            </a:r>
            <a:r>
              <a:rPr lang="en-US" altLang="zh-CN" sz="2400" kern="0" dirty="0">
                <a:latin typeface="Times New Roman" panose="02020603050405020304" pitchFamily="18" charset="0"/>
              </a:rPr>
              <a:t>’=</a:t>
            </a:r>
            <a:r>
              <a:rPr lang="en-US" altLang="zh-CN" sz="2400" b="0" kern="0" dirty="0">
                <a:latin typeface="Times New Roman" panose="02020603050405020304" pitchFamily="18" charset="0"/>
              </a:rPr>
              <a:t>Y</a:t>
            </a:r>
            <a:r>
              <a:rPr lang="en-US" altLang="zh-CN" sz="2400" kern="0" dirty="0">
                <a:latin typeface="Times New Roman" panose="02020603050405020304" pitchFamily="18" charset="0"/>
              </a:rPr>
              <a:t>’</a:t>
            </a:r>
            <a:r>
              <a:rPr lang="en-US" altLang="zh-CN" sz="2400" b="0" kern="0" dirty="0">
                <a:latin typeface="Times New Roman" panose="02020603050405020304" pitchFamily="18" charset="0"/>
              </a:rPr>
              <a:t> b </a:t>
            </a:r>
            <a:r>
              <a:rPr lang="zh-CN" altLang="en-US" sz="2400" kern="0" dirty="0">
                <a:latin typeface="Times New Roman" panose="02020603050405020304" pitchFamily="18" charset="0"/>
              </a:rPr>
              <a:t>时，</a:t>
            </a:r>
            <a:r>
              <a:rPr lang="en-US" altLang="zh-CN" sz="2400" b="0" kern="0" dirty="0">
                <a:latin typeface="Times New Roman" panose="02020603050405020304" pitchFamily="18" charset="0"/>
              </a:rPr>
              <a:t>X</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a:t>
            </a:r>
            <a:r>
              <a:rPr lang="en-US" altLang="zh-CN" sz="2400" b="0" kern="0" dirty="0">
                <a:latin typeface="Times New Roman" panose="02020603050405020304" pitchFamily="18" charset="0"/>
              </a:rPr>
              <a:t>Y</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是最优解（最优解一般记为</a:t>
            </a:r>
            <a:r>
              <a:rPr lang="en-US" altLang="zh-CN" sz="2400" b="0" kern="0" dirty="0">
                <a:latin typeface="Times New Roman" panose="02020603050405020304" pitchFamily="18" charset="0"/>
              </a:rPr>
              <a:t>X</a:t>
            </a:r>
            <a:r>
              <a:rPr lang="zh-CN" altLang="en-US" sz="2400" kern="0" baseline="30000" dirty="0">
                <a:latin typeface="Times New Roman" panose="02020603050405020304" pitchFamily="18" charset="0"/>
              </a:rPr>
              <a:t>*</a:t>
            </a:r>
            <a:r>
              <a:rPr lang="zh-CN" altLang="en-US" sz="2400" kern="0" dirty="0">
                <a:latin typeface="Times New Roman" panose="02020603050405020304" pitchFamily="18" charset="0"/>
              </a:rPr>
              <a:t>，</a:t>
            </a:r>
            <a:r>
              <a:rPr lang="en-US" altLang="zh-CN" sz="2400" b="0" kern="0" dirty="0">
                <a:latin typeface="Times New Roman" panose="02020603050405020304" pitchFamily="18" charset="0"/>
              </a:rPr>
              <a:t>Y</a:t>
            </a:r>
            <a:r>
              <a:rPr lang="zh-CN" altLang="en-US" sz="2400" kern="0" baseline="30000" dirty="0">
                <a:latin typeface="Times New Roman" panose="02020603050405020304" pitchFamily="18" charset="0"/>
              </a:rPr>
              <a:t>*</a:t>
            </a:r>
            <a:r>
              <a:rPr lang="zh-CN" altLang="en-US" sz="2400" kern="0" dirty="0">
                <a:latin typeface="Times New Roman" panose="02020603050405020304" pitchFamily="18" charset="0"/>
              </a:rPr>
              <a:t>）。</a:t>
            </a:r>
          </a:p>
        </p:txBody>
      </p:sp>
      <p:sp>
        <p:nvSpPr>
          <p:cNvPr id="8" name="Rectangle 3">
            <a:extLst>
              <a:ext uri="{FF2B5EF4-FFF2-40B4-BE49-F238E27FC236}">
                <a16:creationId xmlns:a16="http://schemas.microsoft.com/office/drawing/2014/main" id="{25450136-212A-44A8-B23A-D9EDE051B334}"/>
              </a:ext>
            </a:extLst>
          </p:cNvPr>
          <p:cNvSpPr txBox="1">
            <a:spLocks noChangeArrowheads="1"/>
          </p:cNvSpPr>
          <p:nvPr/>
        </p:nvSpPr>
        <p:spPr bwMode="auto">
          <a:xfrm>
            <a:off x="438150" y="5105400"/>
            <a:ext cx="7848600" cy="11430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533400" indent="-533400" eaLnBrk="1" hangingPunct="1">
              <a:buFont typeface="Wingdings" panose="05000000000000000000" pitchFamily="2" charset="2"/>
              <a:buAutoNum type="arabicPeriod"/>
              <a:defRPr/>
            </a:pPr>
            <a:endParaRPr lang="zh-CN" altLang="en-US" sz="800" kern="0" dirty="0"/>
          </a:p>
          <a:p>
            <a:pPr marL="533400" indent="-533400" eaLnBrk="1" hangingPunct="1">
              <a:buFont typeface="Wingdings" panose="05000000000000000000" pitchFamily="2" charset="2"/>
              <a:buNone/>
              <a:defRPr/>
            </a:pPr>
            <a:r>
              <a:rPr lang="en-US" altLang="zh-CN" sz="2400" kern="0" dirty="0">
                <a:latin typeface="Times New Roman" panose="02020603050405020304" pitchFamily="18" charset="0"/>
              </a:rPr>
              <a:t>5.   </a:t>
            </a:r>
            <a:r>
              <a:rPr lang="zh-CN" altLang="en-US" sz="2400" kern="0" dirty="0">
                <a:solidFill>
                  <a:srgbClr val="FF3300"/>
                </a:solidFill>
                <a:latin typeface="Times New Roman" panose="02020603050405020304" pitchFamily="18" charset="0"/>
              </a:rPr>
              <a:t>强对偶性</a:t>
            </a:r>
            <a:r>
              <a:rPr lang="zh-CN" altLang="en-US" sz="2400" kern="0" dirty="0">
                <a:latin typeface="Times New Roman" panose="02020603050405020304" pitchFamily="18" charset="0"/>
              </a:rPr>
              <a:t>：</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对偶定理</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若原问题有最优解，那么对偶问题也有最优解；且目标函数值相等</a:t>
            </a:r>
            <a:r>
              <a:rPr lang="zh-CN" altLang="en-US" kern="0" dirty="0">
                <a:latin typeface="Times New Roman" panose="02020603050405020304" pitchFamily="18" charset="0"/>
              </a:rPr>
              <a:t> 。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Rectangle 2">
            <a:extLst>
              <a:ext uri="{FF2B5EF4-FFF2-40B4-BE49-F238E27FC236}">
                <a16:creationId xmlns:a16="http://schemas.microsoft.com/office/drawing/2014/main" id="{CC3919D8-D2DF-4214-9E43-4AA145708A5A}"/>
              </a:ext>
            </a:extLst>
          </p:cNvPr>
          <p:cNvSpPr>
            <a:spLocks noGrp="1" noChangeArrowheads="1"/>
          </p:cNvSpPr>
          <p:nvPr>
            <p:ph type="title"/>
          </p:nvPr>
        </p:nvSpPr>
        <p:spPr/>
        <p:txBody>
          <a:bodyPr/>
          <a:lstStyle/>
          <a:p>
            <a:pPr eaLnBrk="1" hangingPunct="1"/>
            <a:r>
              <a:rPr lang="zh-CN" altLang="en-US" dirty="0"/>
              <a:t>对偶问题基本性质</a:t>
            </a:r>
            <a:r>
              <a:rPr lang="en-US" altLang="zh-CN" dirty="0"/>
              <a:t>(7) </a:t>
            </a:r>
            <a:r>
              <a:rPr lang="zh-CN" altLang="en-US" dirty="0"/>
              <a:t>互补松弛性</a:t>
            </a:r>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F45E809F-05BF-48AA-B897-31FDD2AE472E}"/>
                  </a:ext>
                </a:extLst>
              </p:cNvPr>
              <p:cNvSpPr>
                <a:spLocks noGrp="1"/>
              </p:cNvSpPr>
              <p:nvPr>
                <p:ph idx="1"/>
              </p:nvPr>
            </p:nvSpPr>
            <p:spPr>
              <a:xfrm>
                <a:off x="457200" y="1163637"/>
                <a:ext cx="8229600" cy="4530725"/>
              </a:xfrm>
            </p:spPr>
            <p:txBody>
              <a:bodyPr/>
              <a:lstStyle/>
              <a:p>
                <a14:m>
                  <m:oMath xmlns:m="http://schemas.openxmlformats.org/officeDocument/2006/math">
                    <m:r>
                      <a:rPr lang="en-US" altLang="zh-CN" b="1" i="1" smtClean="0">
                        <a:latin typeface="Cambria Math" panose="02040503050406030204" pitchFamily="18" charset="0"/>
                      </a:rPr>
                      <m:t>𝒙</m:t>
                    </m:r>
                    <m:r>
                      <a:rPr lang="en-US" altLang="zh-CN" b="1" i="1" smtClean="0">
                        <a:latin typeface="Cambria Math" panose="02040503050406030204" pitchFamily="18" charset="0"/>
                      </a:rPr>
                      <m:t>,</m:t>
                    </m:r>
                    <m:r>
                      <a:rPr lang="en-US" altLang="zh-CN" b="1" i="1" smtClean="0">
                        <a:latin typeface="Cambria Math" panose="02040503050406030204" pitchFamily="18" charset="0"/>
                      </a:rPr>
                      <m:t>𝒚</m:t>
                    </m:r>
                    <m:r>
                      <a:rPr lang="zh-CN" altLang="en-US" i="1">
                        <a:latin typeface="Cambria Math" panose="02040503050406030204" pitchFamily="18" charset="0"/>
                      </a:rPr>
                      <m:t>分别为</m:t>
                    </m:r>
                  </m:oMath>
                </a14:m>
                <a:r>
                  <a:rPr lang="zh-CN" altLang="en-US" dirty="0"/>
                  <a:t>原问题和对偶问题的充要条件是</a:t>
                </a:r>
                <a:endParaRPr lang="en-US" altLang="zh-CN" dirty="0"/>
              </a:p>
              <a:p>
                <a14:m>
                  <m:oMath xmlns:m="http://schemas.openxmlformats.org/officeDocument/2006/math">
                    <m:d>
                      <m:dPr>
                        <m:begChr m:val="{"/>
                        <m:endChr m:val=""/>
                        <m:ctrlPr>
                          <a:rPr lang="en-US" altLang="zh-CN" b="1" i="1" smtClean="0">
                            <a:latin typeface="Cambria Math" panose="02040503050406030204" pitchFamily="18" charset="0"/>
                          </a:rPr>
                        </m:ctrlPr>
                      </m:dPr>
                      <m:e>
                        <m:eqArr>
                          <m:eqArrPr>
                            <m:ctrlPr>
                              <a:rPr lang="en-US" altLang="zh-CN" b="1" i="1" smtClean="0">
                                <a:latin typeface="Cambria Math" panose="02040503050406030204" pitchFamily="18" charset="0"/>
                              </a:rPr>
                            </m:ctrlPr>
                          </m:eqArrPr>
                          <m:e>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𝒚</m:t>
                                </m:r>
                              </m:e>
                              <m:sup>
                                <m:r>
                                  <a:rPr lang="en-US" altLang="zh-CN" b="1" i="1" smtClean="0">
                                    <a:latin typeface="Cambria Math" panose="02040503050406030204" pitchFamily="18" charset="0"/>
                                  </a:rPr>
                                  <m:t>𝑻</m:t>
                                </m:r>
                              </m:sup>
                            </m:sSup>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𝑨𝒙</m:t>
                                </m:r>
                                <m:r>
                                  <a:rPr lang="en-US" altLang="zh-CN" b="1" i="1" smtClean="0">
                                    <a:latin typeface="Cambria Math" panose="02040503050406030204" pitchFamily="18" charset="0"/>
                                  </a:rPr>
                                  <m:t>−</m:t>
                                </m:r>
                                <m:r>
                                  <a:rPr lang="en-US" altLang="zh-CN" b="1" i="1" smtClean="0">
                                    <a:latin typeface="Cambria Math" panose="02040503050406030204" pitchFamily="18" charset="0"/>
                                  </a:rPr>
                                  <m:t>𝒃</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𝟎</m:t>
                            </m:r>
                          </m:e>
                          <m:e>
                            <m:sSup>
                              <m:sSupPr>
                                <m:ctrlPr>
                                  <a:rPr lang="en-US" altLang="zh-CN" i="1">
                                    <a:latin typeface="Cambria Math" panose="02040503050406030204" pitchFamily="18" charset="0"/>
                                  </a:rPr>
                                </m:ctrlPr>
                              </m:sSupPr>
                              <m:e>
                                <m:r>
                                  <a:rPr lang="en-US" altLang="zh-CN" b="1" i="1" smtClean="0">
                                    <a:latin typeface="Cambria Math" panose="02040503050406030204" pitchFamily="18" charset="0"/>
                                  </a:rPr>
                                  <m:t>𝒙</m:t>
                                </m:r>
                              </m:e>
                              <m:sup>
                                <m:r>
                                  <a:rPr lang="en-US" altLang="zh-CN" i="1">
                                    <a:latin typeface="Cambria Math" panose="02040503050406030204" pitchFamily="18" charset="0"/>
                                  </a:rPr>
                                  <m:t>𝑻</m:t>
                                </m:r>
                              </m:sup>
                            </m:sSup>
                            <m:d>
                              <m:dPr>
                                <m:ctrlPr>
                                  <a:rPr lang="en-US" altLang="zh-CN" i="1">
                                    <a:latin typeface="Cambria Math" panose="02040503050406030204" pitchFamily="18" charset="0"/>
                                  </a:rPr>
                                </m:ctrlPr>
                              </m:dPr>
                              <m:e>
                                <m:sSup>
                                  <m:sSupPr>
                                    <m:ctrlPr>
                                      <a:rPr lang="en-US" altLang="zh-CN" b="1" i="1" smtClean="0">
                                        <a:latin typeface="Cambria Math" panose="02040503050406030204" pitchFamily="18" charset="0"/>
                                      </a:rPr>
                                    </m:ctrlPr>
                                  </m:sSupPr>
                                  <m:e>
                                    <m:r>
                                      <a:rPr lang="en-US" altLang="zh-CN" i="1">
                                        <a:latin typeface="Cambria Math" panose="02040503050406030204" pitchFamily="18" charset="0"/>
                                      </a:rPr>
                                      <m:t>𝑨</m:t>
                                    </m:r>
                                  </m:e>
                                  <m:sup>
                                    <m:r>
                                      <a:rPr lang="en-US" altLang="zh-CN" b="1" i="1" smtClean="0">
                                        <a:latin typeface="Cambria Math" panose="02040503050406030204" pitchFamily="18" charset="0"/>
                                      </a:rPr>
                                      <m:t>𝑻</m:t>
                                    </m:r>
                                  </m:sup>
                                </m:sSup>
                                <m:r>
                                  <a:rPr lang="en-US" altLang="zh-CN" b="1" i="1" smtClean="0">
                                    <a:latin typeface="Cambria Math" panose="02040503050406030204" pitchFamily="18" charset="0"/>
                                  </a:rPr>
                                  <m:t>𝒚</m:t>
                                </m:r>
                                <m:r>
                                  <a:rPr lang="en-US" altLang="zh-CN" i="1">
                                    <a:latin typeface="Cambria Math" panose="02040503050406030204" pitchFamily="18" charset="0"/>
                                  </a:rPr>
                                  <m:t>−</m:t>
                                </m:r>
                                <m:r>
                                  <a:rPr lang="en-US" altLang="zh-CN" b="1" i="1" smtClean="0">
                                    <a:latin typeface="Cambria Math" panose="02040503050406030204" pitchFamily="18" charset="0"/>
                                  </a:rPr>
                                  <m:t>𝒄</m:t>
                                </m:r>
                              </m:e>
                            </m:d>
                            <m:r>
                              <a:rPr lang="en-US" altLang="zh-CN" i="1">
                                <a:latin typeface="Cambria Math" panose="02040503050406030204" pitchFamily="18" charset="0"/>
                              </a:rPr>
                              <m:t>=</m:t>
                            </m:r>
                            <m:r>
                              <a:rPr lang="en-US" altLang="zh-CN" i="1">
                                <a:latin typeface="Cambria Math" panose="02040503050406030204" pitchFamily="18" charset="0"/>
                              </a:rPr>
                              <m:t>𝟎</m:t>
                            </m:r>
                          </m:e>
                        </m:eqArr>
                      </m:e>
                    </m:d>
                  </m:oMath>
                </a14:m>
                <a:endParaRPr lang="en-US" altLang="zh-CN" dirty="0"/>
              </a:p>
              <a:p>
                <a:r>
                  <a:rPr lang="zh-CN" altLang="en-US" dirty="0"/>
                  <a:t>充分性：</a:t>
                </a:r>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𝒚</m:t>
                        </m:r>
                      </m:e>
                      <m:sup>
                        <m:r>
                          <a:rPr lang="en-US" altLang="zh-CN" i="1">
                            <a:latin typeface="Cambria Math" panose="02040503050406030204" pitchFamily="18" charset="0"/>
                          </a:rPr>
                          <m:t>𝑻</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𝑨𝒙</m:t>
                        </m:r>
                        <m:r>
                          <a:rPr lang="en-US" altLang="zh-CN" i="1">
                            <a:latin typeface="Cambria Math" panose="02040503050406030204" pitchFamily="18" charset="0"/>
                          </a:rPr>
                          <m:t>−</m:t>
                        </m:r>
                        <m:r>
                          <a:rPr lang="en-US" altLang="zh-CN" i="1">
                            <a:latin typeface="Cambria Math" panose="02040503050406030204" pitchFamily="18" charset="0"/>
                          </a:rPr>
                          <m:t>𝒃</m:t>
                        </m:r>
                      </m:e>
                    </m:d>
                    <m:r>
                      <a:rPr lang="en-US" altLang="zh-CN" i="1">
                        <a:latin typeface="Cambria Math" panose="02040503050406030204" pitchFamily="18" charset="0"/>
                      </a:rPr>
                      <m:t>=</m:t>
                    </m:r>
                    <m:r>
                      <a:rPr lang="en-US" altLang="zh-CN" i="1">
                        <a:latin typeface="Cambria Math" panose="02040503050406030204" pitchFamily="18" charset="0"/>
                      </a:rPr>
                      <m:t>𝟎</m:t>
                    </m:r>
                  </m:oMath>
                </a14:m>
                <a:r>
                  <a:rPr lang="zh-CN" altLang="en-US" dirty="0"/>
                  <a:t> 则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𝒚</m:t>
                        </m:r>
                      </m:e>
                      <m:sup>
                        <m:r>
                          <a:rPr lang="en-US" altLang="zh-CN" i="1">
                            <a:latin typeface="Cambria Math" panose="02040503050406030204" pitchFamily="18" charset="0"/>
                          </a:rPr>
                          <m:t>𝑻</m:t>
                        </m:r>
                      </m:sup>
                    </m:sSup>
                    <m:r>
                      <a:rPr lang="en-US" altLang="zh-CN" b="1" i="1" smtClean="0">
                        <a:latin typeface="Cambria Math" panose="02040503050406030204" pitchFamily="18" charset="0"/>
                      </a:rPr>
                      <m:t>𝒃</m:t>
                    </m:r>
                    <m:r>
                      <a:rPr lang="en-US" altLang="zh-CN" i="1">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𝒚</m:t>
                        </m:r>
                      </m:e>
                      <m:sup>
                        <m:r>
                          <a:rPr lang="en-US" altLang="zh-CN" b="1" i="1" smtClean="0">
                            <a:latin typeface="Cambria Math" panose="02040503050406030204" pitchFamily="18" charset="0"/>
                          </a:rPr>
                          <m:t>𝑻</m:t>
                        </m:r>
                      </m:sup>
                    </m:sSup>
                    <m:r>
                      <a:rPr lang="en-US" altLang="zh-CN" b="1" i="1" smtClean="0">
                        <a:latin typeface="Cambria Math" panose="02040503050406030204" pitchFamily="18" charset="0"/>
                      </a:rPr>
                      <m:t>𝑨𝒙</m:t>
                    </m:r>
                  </m:oMath>
                </a14:m>
                <a:r>
                  <a:rPr lang="zh-CN" altLang="en-US" dirty="0"/>
                  <a:t> </a:t>
                </a:r>
                <a:endParaRPr lang="en-US" altLang="zh-CN" dirty="0"/>
              </a:p>
              <a:p>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𝒙</m:t>
                        </m:r>
                      </m:e>
                      <m:sup>
                        <m:r>
                          <a:rPr lang="en-US" altLang="zh-CN" i="1">
                            <a:latin typeface="Cambria Math" panose="02040503050406030204" pitchFamily="18" charset="0"/>
                          </a:rPr>
                          <m:t>𝑻</m:t>
                        </m:r>
                      </m:sup>
                    </m:sSup>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𝑨</m:t>
                            </m:r>
                          </m:e>
                          <m:sup>
                            <m:r>
                              <a:rPr lang="en-US" altLang="zh-CN" i="1">
                                <a:latin typeface="Cambria Math" panose="02040503050406030204" pitchFamily="18" charset="0"/>
                              </a:rPr>
                              <m:t>𝑻</m:t>
                            </m:r>
                          </m:sup>
                        </m:sSup>
                        <m:r>
                          <a:rPr lang="en-US" altLang="zh-CN" i="1">
                            <a:latin typeface="Cambria Math" panose="02040503050406030204" pitchFamily="18" charset="0"/>
                          </a:rPr>
                          <m:t>𝒚</m:t>
                        </m:r>
                        <m:r>
                          <a:rPr lang="en-US" altLang="zh-CN" i="1">
                            <a:latin typeface="Cambria Math" panose="02040503050406030204" pitchFamily="18" charset="0"/>
                          </a:rPr>
                          <m:t>−</m:t>
                        </m:r>
                        <m:r>
                          <a:rPr lang="en-US" altLang="zh-CN" i="1">
                            <a:latin typeface="Cambria Math" panose="02040503050406030204" pitchFamily="18" charset="0"/>
                          </a:rPr>
                          <m:t>𝒄</m:t>
                        </m:r>
                      </m:e>
                    </m:d>
                    <m:r>
                      <a:rPr lang="en-US" altLang="zh-CN" i="1">
                        <a:latin typeface="Cambria Math" panose="02040503050406030204" pitchFamily="18" charset="0"/>
                      </a:rPr>
                      <m:t>=</m:t>
                    </m:r>
                    <m:r>
                      <a:rPr lang="en-US" altLang="zh-CN" i="1">
                        <a:latin typeface="Cambria Math" panose="02040503050406030204" pitchFamily="18" charset="0"/>
                      </a:rPr>
                      <m:t>𝟎</m:t>
                    </m:r>
                  </m:oMath>
                </a14:m>
                <a:r>
                  <a:rPr lang="zh-CN" altLang="en-US" dirty="0"/>
                  <a:t> 则 </a:t>
                </a:r>
                <a14:m>
                  <m:oMath xmlns:m="http://schemas.openxmlformats.org/officeDocument/2006/math">
                    <m:sSup>
                      <m:sSupPr>
                        <m:ctrlPr>
                          <a:rPr lang="en-US" altLang="zh-CN" i="1">
                            <a:latin typeface="Cambria Math" panose="02040503050406030204" pitchFamily="18" charset="0"/>
                          </a:rPr>
                        </m:ctrlPr>
                      </m:sSupPr>
                      <m:e>
                        <m:r>
                          <a:rPr lang="en-US" altLang="zh-CN" b="1" i="1" smtClean="0">
                            <a:latin typeface="Cambria Math" panose="02040503050406030204" pitchFamily="18" charset="0"/>
                          </a:rPr>
                          <m:t>𝒄</m:t>
                        </m:r>
                      </m:e>
                      <m:sup>
                        <m:r>
                          <a:rPr lang="en-US" altLang="zh-CN" i="1">
                            <a:latin typeface="Cambria Math" panose="02040503050406030204" pitchFamily="18" charset="0"/>
                          </a:rPr>
                          <m:t>𝑻</m:t>
                        </m:r>
                      </m:sup>
                    </m:sSup>
                    <m:r>
                      <a:rPr lang="en-US" altLang="zh-CN" b="1" i="1" smtClean="0">
                        <a:latin typeface="Cambria Math" panose="02040503050406030204" pitchFamily="18" charset="0"/>
                      </a:rPr>
                      <m:t>𝒙</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𝒚</m:t>
                        </m:r>
                      </m:e>
                      <m:sup>
                        <m:r>
                          <a:rPr lang="en-US" altLang="zh-CN" i="1">
                            <a:latin typeface="Cambria Math" panose="02040503050406030204" pitchFamily="18" charset="0"/>
                          </a:rPr>
                          <m:t>𝑻</m:t>
                        </m:r>
                      </m:sup>
                    </m:sSup>
                    <m:r>
                      <a:rPr lang="en-US" altLang="zh-CN" i="1">
                        <a:latin typeface="Cambria Math" panose="02040503050406030204" pitchFamily="18" charset="0"/>
                      </a:rPr>
                      <m:t>𝑨𝒙</m:t>
                    </m:r>
                  </m:oMath>
                </a14:m>
                <a:r>
                  <a:rPr lang="zh-CN" altLang="en-US" dirty="0"/>
                  <a:t> </a:t>
                </a:r>
                <a14:m>
                  <m:oMath xmlns:m="http://schemas.openxmlformats.org/officeDocument/2006/math">
                    <m:r>
                      <a:rPr lang="en-US" altLang="zh-CN" b="1" i="1" dirty="0"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𝒚</m:t>
                        </m:r>
                      </m:e>
                      <m:sup>
                        <m:r>
                          <a:rPr lang="en-US" altLang="zh-CN" i="1">
                            <a:latin typeface="Cambria Math" panose="02040503050406030204" pitchFamily="18" charset="0"/>
                          </a:rPr>
                          <m:t>𝑻</m:t>
                        </m:r>
                      </m:sup>
                    </m:sSup>
                    <m:r>
                      <a:rPr lang="en-US" altLang="zh-CN" i="1">
                        <a:latin typeface="Cambria Math" panose="02040503050406030204" pitchFamily="18" charset="0"/>
                      </a:rPr>
                      <m:t>𝒃</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𝒄</m:t>
                        </m:r>
                      </m:e>
                      <m:sup>
                        <m:r>
                          <a:rPr lang="en-US" altLang="zh-CN" b="1" i="1" smtClean="0">
                            <a:latin typeface="Cambria Math" panose="02040503050406030204" pitchFamily="18" charset="0"/>
                          </a:rPr>
                          <m:t>𝑻</m:t>
                        </m:r>
                      </m:sup>
                    </m:sSup>
                    <m:r>
                      <a:rPr lang="en-US" altLang="zh-CN" b="1" i="1" smtClean="0">
                        <a:latin typeface="Cambria Math" panose="02040503050406030204" pitchFamily="18" charset="0"/>
                      </a:rPr>
                      <m:t>𝒙</m:t>
                    </m:r>
                  </m:oMath>
                </a14:m>
                <a:endParaRPr lang="en-US" altLang="zh-CN" b="1" dirty="0"/>
              </a:p>
              <a:p>
                <a:r>
                  <a:rPr lang="zh-CN" altLang="en-US" dirty="0"/>
                  <a:t>必要性</a:t>
                </a:r>
                <a:r>
                  <a:rPr lang="en-US" altLang="zh-CN" dirty="0"/>
                  <a:t>: </a:t>
                </a:r>
                <a:r>
                  <a:rPr lang="zh-CN" altLang="en-US" dirty="0"/>
                  <a:t>证明略（见</a:t>
                </a:r>
                <a:r>
                  <a:rPr lang="en-US" altLang="zh-CN" dirty="0"/>
                  <a:t>Introduction to linear optimization P151</a:t>
                </a:r>
                <a:r>
                  <a:rPr lang="zh-CN" altLang="en-US" dirty="0"/>
                  <a:t>） </a:t>
                </a:r>
                <a:endParaRPr lang="en-US" altLang="zh-CN" dirty="0"/>
              </a:p>
              <a:p>
                <a:r>
                  <a:rPr lang="zh-CN" altLang="en-US" dirty="0"/>
                  <a:t>对于所有不等式约束，如果不能取等号，则对应的对偶问题的变量值必须取</a:t>
                </a:r>
                <a:r>
                  <a:rPr lang="en-US" altLang="zh-CN" dirty="0"/>
                  <a:t>0</a:t>
                </a:r>
                <a:endParaRPr lang="zh-CN" altLang="en-US" dirty="0"/>
              </a:p>
            </p:txBody>
          </p:sp>
        </mc:Choice>
        <mc:Fallback xmlns="">
          <p:sp>
            <p:nvSpPr>
              <p:cNvPr id="6" name="内容占位符 5">
                <a:extLst>
                  <a:ext uri="{FF2B5EF4-FFF2-40B4-BE49-F238E27FC236}">
                    <a16:creationId xmlns:a16="http://schemas.microsoft.com/office/drawing/2014/main" id="{F45E809F-05BF-48AA-B897-31FDD2AE472E}"/>
                  </a:ext>
                </a:extLst>
              </p:cNvPr>
              <p:cNvSpPr>
                <a:spLocks noGrp="1" noRot="1" noChangeAspect="1" noMove="1" noResize="1" noEditPoints="1" noAdjustHandles="1" noChangeArrowheads="1" noChangeShapeType="1" noTextEdit="1"/>
              </p:cNvSpPr>
              <p:nvPr>
                <p:ph idx="1"/>
              </p:nvPr>
            </p:nvSpPr>
            <p:spPr>
              <a:xfrm>
                <a:off x="457200" y="1163637"/>
                <a:ext cx="8229600" cy="4530725"/>
              </a:xfrm>
              <a:blipFill>
                <a:blip r:embed="rId2"/>
                <a:stretch>
                  <a:fillRect l="-444" t="-1884" b="-10363"/>
                </a:stretch>
              </a:blipFill>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0139EA2-04F3-44A8-B24F-3F57CAB15819}"/>
              </a:ext>
            </a:extLst>
          </p:cNvPr>
          <p:cNvSpPr>
            <a:spLocks noGrp="1" noChangeArrowheads="1"/>
          </p:cNvSpPr>
          <p:nvPr>
            <p:ph type="title"/>
          </p:nvPr>
        </p:nvSpPr>
        <p:spPr/>
        <p:txBody>
          <a:bodyPr/>
          <a:lstStyle/>
          <a:p>
            <a:pPr eaLnBrk="1" hangingPunct="1"/>
            <a:r>
              <a:rPr lang="zh-CN" altLang="en-US"/>
              <a:t>对偶问题基本性质</a:t>
            </a:r>
            <a:r>
              <a:rPr lang="en-US" altLang="zh-CN"/>
              <a:t>(7)</a:t>
            </a:r>
            <a:endParaRPr lang="zh-CN" altLang="en-US"/>
          </a:p>
        </p:txBody>
      </p:sp>
      <p:sp>
        <p:nvSpPr>
          <p:cNvPr id="2" name="矩形 1">
            <a:extLst>
              <a:ext uri="{FF2B5EF4-FFF2-40B4-BE49-F238E27FC236}">
                <a16:creationId xmlns:a16="http://schemas.microsoft.com/office/drawing/2014/main" id="{1EE1BB14-A683-4FB7-B044-E83F8B44CBEC}"/>
              </a:ext>
            </a:extLst>
          </p:cNvPr>
          <p:cNvSpPr>
            <a:spLocks noChangeArrowheads="1"/>
          </p:cNvSpPr>
          <p:nvPr/>
        </p:nvSpPr>
        <p:spPr bwMode="auto">
          <a:xfrm>
            <a:off x="647700" y="3817938"/>
            <a:ext cx="78486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400" b="1">
                <a:solidFill>
                  <a:srgbClr val="FF3300"/>
                </a:solidFill>
              </a:rPr>
              <a:t>含义：在线性规划问题的最优解中，如果对应某一约束条件的对偶变量值为非零</a:t>
            </a:r>
            <a:r>
              <a:rPr lang="en-US" altLang="zh-CN" sz="2400" b="1">
                <a:solidFill>
                  <a:srgbClr val="FF3300"/>
                </a:solidFill>
              </a:rPr>
              <a:t>(Y&gt;0)</a:t>
            </a:r>
            <a:r>
              <a:rPr lang="zh-CN" altLang="en-US" sz="2400" b="1">
                <a:solidFill>
                  <a:srgbClr val="FF3300"/>
                </a:solidFill>
              </a:rPr>
              <a:t>，则该约束条件取严格等式</a:t>
            </a:r>
            <a:r>
              <a:rPr lang="en-US" altLang="zh-CN" sz="2400" b="1">
                <a:solidFill>
                  <a:srgbClr val="FF3300"/>
                </a:solidFill>
              </a:rPr>
              <a:t>(AX=b)</a:t>
            </a:r>
            <a:r>
              <a:rPr lang="zh-CN" altLang="en-US" sz="2400" b="1">
                <a:solidFill>
                  <a:srgbClr val="FF3300"/>
                </a:solidFill>
              </a:rPr>
              <a:t>；反之如果约束条件取严格不等式</a:t>
            </a:r>
            <a:r>
              <a:rPr lang="en-US" altLang="zh-CN" sz="2400" b="1">
                <a:solidFill>
                  <a:srgbClr val="FF3300"/>
                </a:solidFill>
              </a:rPr>
              <a:t>(YA&gt;C)</a:t>
            </a:r>
            <a:r>
              <a:rPr lang="zh-CN" altLang="en-US" sz="2400" b="1">
                <a:solidFill>
                  <a:srgbClr val="FF3300"/>
                </a:solidFill>
              </a:rPr>
              <a:t>，则该约束条件对应的对偶变量一定为零</a:t>
            </a:r>
            <a:r>
              <a:rPr lang="en-US" altLang="zh-CN" sz="2400" b="1">
                <a:solidFill>
                  <a:srgbClr val="FF3300"/>
                </a:solidFill>
              </a:rPr>
              <a:t>(X=0)</a:t>
            </a:r>
            <a:r>
              <a:rPr lang="zh-CN" altLang="en-US" sz="2400" b="1">
                <a:solidFill>
                  <a:srgbClr val="FF3300"/>
                </a:solidFill>
              </a:rPr>
              <a:t>。</a:t>
            </a:r>
          </a:p>
        </p:txBody>
      </p:sp>
      <p:sp>
        <p:nvSpPr>
          <p:cNvPr id="8" name="Rectangle 3">
            <a:extLst>
              <a:ext uri="{FF2B5EF4-FFF2-40B4-BE49-F238E27FC236}">
                <a16:creationId xmlns:a16="http://schemas.microsoft.com/office/drawing/2014/main" id="{852B3E0B-1A02-43DC-833B-99C0FF83770A}"/>
              </a:ext>
            </a:extLst>
          </p:cNvPr>
          <p:cNvSpPr txBox="1">
            <a:spLocks noChangeArrowheads="1"/>
          </p:cNvSpPr>
          <p:nvPr/>
        </p:nvSpPr>
        <p:spPr bwMode="auto">
          <a:xfrm>
            <a:off x="685800" y="1520825"/>
            <a:ext cx="3124200" cy="248285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eaLnBrk="1" hangingPunct="1">
              <a:buFont typeface="Wingdings" panose="05000000000000000000" pitchFamily="2" charset="2"/>
              <a:buNone/>
              <a:defRPr/>
            </a:pPr>
            <a:r>
              <a:rPr lang="en-US" altLang="zh-CN" sz="2400" kern="0" dirty="0">
                <a:latin typeface="Times New Roman" panose="02020603050405020304" pitchFamily="18" charset="0"/>
              </a:rPr>
              <a:t>max   z= CX</a:t>
            </a:r>
          </a:p>
          <a:p>
            <a:pPr eaLnBrk="1" hangingPunct="1">
              <a:buFont typeface="Wingdings" panose="05000000000000000000" pitchFamily="2" charset="2"/>
              <a:buNone/>
              <a:defRPr/>
            </a:pPr>
            <a:r>
              <a:rPr lang="en-US" altLang="zh-CN" sz="2400" b="0" kern="0" dirty="0">
                <a:latin typeface="Times New Roman" panose="02020603050405020304" pitchFamily="18" charset="0"/>
              </a:rPr>
              <a:t>          </a:t>
            </a:r>
          </a:p>
          <a:p>
            <a:pPr eaLnBrk="1" hangingPunct="1">
              <a:buFont typeface="Wingdings" panose="05000000000000000000" pitchFamily="2" charset="2"/>
              <a:buNone/>
              <a:defRPr/>
            </a:pPr>
            <a:r>
              <a:rPr lang="en-US" altLang="zh-CN" sz="2400" b="0" kern="0" dirty="0">
                <a:latin typeface="Times New Roman" panose="02020603050405020304" pitchFamily="18" charset="0"/>
              </a:rPr>
              <a:t> </a:t>
            </a:r>
            <a:r>
              <a:rPr lang="en-US" altLang="zh-CN" sz="2400" kern="0" dirty="0" err="1">
                <a:latin typeface="Times New Roman" panose="02020603050405020304" pitchFamily="18" charset="0"/>
              </a:rPr>
              <a:t>AX≤b</a:t>
            </a:r>
            <a:r>
              <a:rPr lang="en-US" altLang="zh-CN" sz="2400" kern="0" dirty="0">
                <a:latin typeface="Times New Roman" panose="02020603050405020304" pitchFamily="18" charset="0"/>
              </a:rPr>
              <a:t> (</a:t>
            </a:r>
            <a:r>
              <a:rPr lang="zh-CN" altLang="en-US" sz="2400" kern="0" dirty="0">
                <a:latin typeface="Times New Roman" panose="02020603050405020304" pitchFamily="18" charset="0"/>
              </a:rPr>
              <a:t>或</a:t>
            </a:r>
            <a:r>
              <a:rPr lang="en-US" altLang="zh-CN" sz="2400" kern="0" dirty="0">
                <a:latin typeface="Times New Roman" panose="02020603050405020304" pitchFamily="18" charset="0"/>
              </a:rPr>
              <a:t>AX+X</a:t>
            </a:r>
            <a:r>
              <a:rPr lang="en-US" altLang="zh-CN" sz="2400" kern="0" baseline="-25000" dirty="0">
                <a:latin typeface="Times New Roman" panose="02020603050405020304" pitchFamily="18" charset="0"/>
              </a:rPr>
              <a:t>S</a:t>
            </a:r>
            <a:r>
              <a:rPr lang="en-US" altLang="zh-CN" sz="2400" kern="0" dirty="0"/>
              <a:t>=</a:t>
            </a:r>
            <a:r>
              <a:rPr lang="en-US" altLang="zh-CN" sz="2400" kern="0" dirty="0">
                <a:latin typeface="Times New Roman" panose="02020603050405020304" pitchFamily="18" charset="0"/>
              </a:rPr>
              <a:t>b)</a:t>
            </a:r>
          </a:p>
          <a:p>
            <a:pPr eaLnBrk="1" hangingPunct="1">
              <a:buFont typeface="Wingdings" panose="05000000000000000000" pitchFamily="2" charset="2"/>
              <a:buNone/>
              <a:defRPr/>
            </a:pPr>
            <a:endParaRPr lang="en-US" altLang="zh-CN" sz="2400" kern="0" dirty="0">
              <a:latin typeface="Times New Roman" panose="02020603050405020304" pitchFamily="18" charset="0"/>
            </a:endParaRPr>
          </a:p>
          <a:p>
            <a:pPr eaLnBrk="1" hangingPunct="1">
              <a:buFont typeface="Wingdings" panose="05000000000000000000" pitchFamily="2" charset="2"/>
              <a:buNone/>
              <a:defRPr/>
            </a:pPr>
            <a:r>
              <a:rPr lang="en-US" altLang="zh-CN" sz="2400" kern="0" dirty="0">
                <a:latin typeface="Times New Roman" panose="02020603050405020304" pitchFamily="18" charset="0"/>
              </a:rPr>
              <a:t>            X, X</a:t>
            </a:r>
            <a:r>
              <a:rPr lang="en-US" altLang="zh-CN" sz="2400" kern="0" baseline="-25000" dirty="0">
                <a:latin typeface="Times New Roman" panose="02020603050405020304" pitchFamily="18" charset="0"/>
              </a:rPr>
              <a:t>S</a:t>
            </a:r>
            <a:r>
              <a:rPr lang="en-US" altLang="zh-CN" sz="2400" kern="0" dirty="0"/>
              <a:t>≥0</a:t>
            </a:r>
          </a:p>
        </p:txBody>
      </p:sp>
      <p:sp>
        <p:nvSpPr>
          <p:cNvPr id="10" name="Rectangle 4">
            <a:extLst>
              <a:ext uri="{FF2B5EF4-FFF2-40B4-BE49-F238E27FC236}">
                <a16:creationId xmlns:a16="http://schemas.microsoft.com/office/drawing/2014/main" id="{BCF98BBB-5380-4845-B6E9-37463DBBEE8C}"/>
              </a:ext>
            </a:extLst>
          </p:cNvPr>
          <p:cNvSpPr>
            <a:spLocks noChangeArrowheads="1"/>
          </p:cNvSpPr>
          <p:nvPr/>
        </p:nvSpPr>
        <p:spPr bwMode="auto">
          <a:xfrm>
            <a:off x="4724400" y="1466850"/>
            <a:ext cx="3886200" cy="2590800"/>
          </a:xfrm>
          <a:prstGeom prst="rect">
            <a:avLst/>
          </a:prstGeom>
          <a:noFill/>
          <a:ln>
            <a:noFill/>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buSzPct val="65000"/>
              <a:buFont typeface="Wingdings" panose="05000000000000000000" pitchFamily="2" charset="2"/>
              <a:buNone/>
              <a:defRPr/>
            </a:pPr>
            <a:r>
              <a:rPr lang="en-US" altLang="zh-CN" sz="2400" b="1" dirty="0">
                <a:latin typeface="Times New Roman" panose="02020603050405020304" pitchFamily="18" charset="0"/>
              </a:rPr>
              <a:t>min   </a:t>
            </a:r>
            <a:r>
              <a:rPr lang="el-GR" altLang="zh-CN" sz="2400" b="1" dirty="0">
                <a:latin typeface="Times New Roman" panose="02020603050405020304" pitchFamily="18" charset="0"/>
                <a:cs typeface="Times New Roman" panose="02020603050405020304" pitchFamily="18" charset="0"/>
              </a:rPr>
              <a:t>ω</a:t>
            </a: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Yb</a:t>
            </a:r>
            <a:endParaRPr lang="en-US" altLang="zh-CN" sz="2400"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defRPr/>
            </a:pPr>
            <a:r>
              <a:rPr lang="en-US" altLang="zh-CN" sz="2400" dirty="0">
                <a:latin typeface="Times New Roman" panose="02020603050405020304" pitchFamily="18" charset="0"/>
              </a:rPr>
              <a:t>           </a:t>
            </a:r>
          </a:p>
          <a:p>
            <a:pPr eaLnBrk="1" hangingPunct="1">
              <a:spcBef>
                <a:spcPct val="20000"/>
              </a:spcBef>
              <a:buClr>
                <a:schemeClr val="accent1"/>
              </a:buClr>
              <a:buSzPct val="65000"/>
              <a:defRPr/>
            </a:pPr>
            <a:r>
              <a:rPr lang="en-US" altLang="zh-CN" sz="2400" b="1" dirty="0">
                <a:latin typeface="Times New Roman" panose="02020603050405020304" pitchFamily="18" charset="0"/>
              </a:rPr>
              <a:t>   YA≥C</a:t>
            </a:r>
            <a:r>
              <a:rPr lang="en-US" altLang="zh-CN" sz="2400" kern="0" dirty="0">
                <a:latin typeface="Times New Roman" panose="02020603050405020304" pitchFamily="18" charset="0"/>
              </a:rPr>
              <a:t> (</a:t>
            </a:r>
            <a:r>
              <a:rPr lang="zh-CN" altLang="en-US" sz="2400" kern="0" dirty="0">
                <a:latin typeface="Times New Roman" panose="02020603050405020304" pitchFamily="18" charset="0"/>
              </a:rPr>
              <a:t>或</a:t>
            </a:r>
            <a:r>
              <a:rPr lang="en-US" altLang="zh-CN" sz="2400" b="1" dirty="0">
                <a:latin typeface="Times New Roman" panose="02020603050405020304" pitchFamily="18" charset="0"/>
              </a:rPr>
              <a:t>YA-Y</a:t>
            </a:r>
            <a:r>
              <a:rPr lang="en-US" altLang="zh-CN" sz="2400" b="1" kern="0" baseline="-25000" dirty="0">
                <a:latin typeface="Times New Roman" panose="02020603050405020304" pitchFamily="18" charset="0"/>
              </a:rPr>
              <a:t>S</a:t>
            </a:r>
            <a:r>
              <a:rPr lang="en-US" altLang="zh-CN" sz="2400" b="1" dirty="0"/>
              <a:t>= </a:t>
            </a:r>
            <a:r>
              <a:rPr lang="en-US" altLang="zh-CN" sz="2400" b="1" dirty="0">
                <a:latin typeface="Times New Roman" panose="02020603050405020304" pitchFamily="18" charset="0"/>
              </a:rPr>
              <a:t>C</a:t>
            </a:r>
            <a:r>
              <a:rPr lang="en-US" altLang="zh-CN" sz="2400" kern="0" dirty="0">
                <a:latin typeface="Times New Roman" panose="02020603050405020304" pitchFamily="18" charset="0"/>
              </a:rPr>
              <a:t> )</a:t>
            </a:r>
            <a:endParaRPr lang="en-US" altLang="zh-CN" sz="2400" b="1"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defRPr/>
            </a:pPr>
            <a:endParaRPr lang="en-US" altLang="zh-CN" sz="2400" b="1" dirty="0">
              <a:latin typeface="Times New Roman" panose="02020603050405020304" pitchFamily="18" charset="0"/>
            </a:endParaRPr>
          </a:p>
          <a:p>
            <a:pPr eaLnBrk="1" hangingPunct="1">
              <a:spcBef>
                <a:spcPct val="20000"/>
              </a:spcBef>
              <a:buClr>
                <a:schemeClr val="accent1"/>
              </a:buClr>
              <a:buSzPct val="65000"/>
              <a:buFont typeface="Wingdings" panose="05000000000000000000" pitchFamily="2" charset="2"/>
              <a:buNone/>
              <a:defRPr/>
            </a:pPr>
            <a:r>
              <a:rPr lang="en-US" altLang="zh-CN" sz="2400" dirty="0">
                <a:latin typeface="Times New Roman" panose="02020603050405020304" pitchFamily="18" charset="0"/>
              </a:rPr>
              <a:t>            </a:t>
            </a:r>
            <a:r>
              <a:rPr lang="en-US" altLang="zh-CN" sz="2400" b="1" dirty="0">
                <a:latin typeface="Times New Roman" panose="02020603050405020304" pitchFamily="18" charset="0"/>
              </a:rPr>
              <a:t>Y</a:t>
            </a:r>
            <a:r>
              <a:rPr lang="en-US" altLang="zh-CN" sz="2400" b="1" kern="0" dirty="0">
                <a:latin typeface="Times New Roman" panose="02020603050405020304" pitchFamily="18" charset="0"/>
              </a:rPr>
              <a:t>, Y</a:t>
            </a:r>
            <a:r>
              <a:rPr lang="en-US" altLang="zh-CN" sz="2400" b="1" kern="0" baseline="-25000" dirty="0">
                <a:latin typeface="Times New Roman" panose="02020603050405020304" pitchFamily="18" charset="0"/>
              </a:rPr>
              <a:t>S </a:t>
            </a:r>
            <a:r>
              <a:rPr lang="en-US" altLang="zh-CN" sz="2400" b="1" dirty="0"/>
              <a:t>≥0</a:t>
            </a:r>
          </a:p>
        </p:txBody>
      </p:sp>
      <p:sp>
        <p:nvSpPr>
          <p:cNvPr id="53254" name="矩形 21">
            <a:extLst>
              <a:ext uri="{FF2B5EF4-FFF2-40B4-BE49-F238E27FC236}">
                <a16:creationId xmlns:a16="http://schemas.microsoft.com/office/drawing/2014/main" id="{81A66CD9-0098-4E24-A5C1-BEC885D7A09C}"/>
              </a:ext>
            </a:extLst>
          </p:cNvPr>
          <p:cNvSpPr>
            <a:spLocks noChangeArrowheads="1"/>
          </p:cNvSpPr>
          <p:nvPr/>
        </p:nvSpPr>
        <p:spPr bwMode="auto">
          <a:xfrm>
            <a:off x="1447800" y="1066800"/>
            <a:ext cx="1058863"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latin typeface="Times New Roman" panose="02020603050405020304" pitchFamily="18" charset="0"/>
                <a:cs typeface="Times New Roman" panose="02020603050405020304" pitchFamily="18" charset="0"/>
              </a:rPr>
              <a:t>原问题</a:t>
            </a:r>
            <a:endParaRPr lang="en-US" altLang="zh-CN" b="1">
              <a:latin typeface="Times New Roman" panose="02020603050405020304" pitchFamily="18" charset="0"/>
              <a:cs typeface="Times New Roman" panose="02020603050405020304" pitchFamily="18" charset="0"/>
            </a:endParaRPr>
          </a:p>
        </p:txBody>
      </p:sp>
      <p:sp>
        <p:nvSpPr>
          <p:cNvPr id="53255" name="矩形 21">
            <a:extLst>
              <a:ext uri="{FF2B5EF4-FFF2-40B4-BE49-F238E27FC236}">
                <a16:creationId xmlns:a16="http://schemas.microsoft.com/office/drawing/2014/main" id="{E004F75E-63E1-4C7A-A291-57596C389526}"/>
              </a:ext>
            </a:extLst>
          </p:cNvPr>
          <p:cNvSpPr>
            <a:spLocks noChangeArrowheads="1"/>
          </p:cNvSpPr>
          <p:nvPr/>
        </p:nvSpPr>
        <p:spPr bwMode="auto">
          <a:xfrm>
            <a:off x="5334000" y="1066800"/>
            <a:ext cx="1333500"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latin typeface="Times New Roman" panose="02020603050405020304" pitchFamily="18" charset="0"/>
                <a:cs typeface="Times New Roman" panose="02020603050405020304" pitchFamily="18" charset="0"/>
              </a:rPr>
              <a:t>对偶问题</a:t>
            </a:r>
            <a:endParaRPr lang="en-US" altLang="zh-CN" b="1">
              <a:latin typeface="Times New Roman" panose="02020603050405020304" pitchFamily="18" charset="0"/>
              <a:cs typeface="Times New Roman" panose="02020603050405020304" pitchFamily="18" charset="0"/>
            </a:endParaRPr>
          </a:p>
        </p:txBody>
      </p:sp>
      <p:grpSp>
        <p:nvGrpSpPr>
          <p:cNvPr id="48" name="组合 47">
            <a:extLst>
              <a:ext uri="{FF2B5EF4-FFF2-40B4-BE49-F238E27FC236}">
                <a16:creationId xmlns:a16="http://schemas.microsoft.com/office/drawing/2014/main" id="{10D713C6-7337-4EE2-80C6-1E7DCC6BA377}"/>
              </a:ext>
            </a:extLst>
          </p:cNvPr>
          <p:cNvGrpSpPr>
            <a:grpSpLocks/>
          </p:cNvGrpSpPr>
          <p:nvPr/>
        </p:nvGrpSpPr>
        <p:grpSpPr bwMode="auto">
          <a:xfrm>
            <a:off x="2686050" y="2435225"/>
            <a:ext cx="3314700" cy="1230313"/>
            <a:chOff x="2686050" y="2656452"/>
            <a:chExt cx="3314700" cy="1229748"/>
          </a:xfrm>
        </p:grpSpPr>
        <p:sp>
          <p:nvSpPr>
            <p:cNvPr id="35" name="椭圆 34">
              <a:extLst>
                <a:ext uri="{FF2B5EF4-FFF2-40B4-BE49-F238E27FC236}">
                  <a16:creationId xmlns:a16="http://schemas.microsoft.com/office/drawing/2014/main" id="{2F4DF4FE-04A7-46EE-B20C-AD0194CC0A24}"/>
                </a:ext>
              </a:extLst>
            </p:cNvPr>
            <p:cNvSpPr/>
            <p:nvPr/>
          </p:nvSpPr>
          <p:spPr bwMode="auto">
            <a:xfrm>
              <a:off x="5638800" y="3505375"/>
              <a:ext cx="361950" cy="380825"/>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37" name="直接连接符 36">
              <a:extLst>
                <a:ext uri="{FF2B5EF4-FFF2-40B4-BE49-F238E27FC236}">
                  <a16:creationId xmlns:a16="http://schemas.microsoft.com/office/drawing/2014/main" id="{48681363-72E3-490F-B79D-EA368F131784}"/>
                </a:ext>
              </a:extLst>
            </p:cNvPr>
            <p:cNvCxnSpPr>
              <a:stCxn id="42" idx="5"/>
              <a:endCxn id="35" idx="1"/>
            </p:cNvCxnSpPr>
            <p:nvPr/>
          </p:nvCxnSpPr>
          <p:spPr bwMode="auto">
            <a:xfrm>
              <a:off x="3060700" y="2981741"/>
              <a:ext cx="2630488" cy="579171"/>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2" name="椭圆 41">
              <a:extLst>
                <a:ext uri="{FF2B5EF4-FFF2-40B4-BE49-F238E27FC236}">
                  <a16:creationId xmlns:a16="http://schemas.microsoft.com/office/drawing/2014/main" id="{AFAF9661-34CE-4E46-943F-E6CD8FDB50B5}"/>
                </a:ext>
              </a:extLst>
            </p:cNvPr>
            <p:cNvSpPr/>
            <p:nvPr/>
          </p:nvSpPr>
          <p:spPr bwMode="auto">
            <a:xfrm>
              <a:off x="2686050" y="2656452"/>
              <a:ext cx="438150" cy="380825"/>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grpSp>
        <p:nvGrpSpPr>
          <p:cNvPr id="49" name="组合 48">
            <a:extLst>
              <a:ext uri="{FF2B5EF4-FFF2-40B4-BE49-F238E27FC236}">
                <a16:creationId xmlns:a16="http://schemas.microsoft.com/office/drawing/2014/main" id="{089F3FA1-53CA-4C9C-A4E6-37CFE9A371D8}"/>
              </a:ext>
            </a:extLst>
          </p:cNvPr>
          <p:cNvGrpSpPr>
            <a:grpSpLocks/>
          </p:cNvGrpSpPr>
          <p:nvPr/>
        </p:nvGrpSpPr>
        <p:grpSpPr bwMode="auto">
          <a:xfrm>
            <a:off x="1571625" y="2381250"/>
            <a:ext cx="5648325" cy="1339850"/>
            <a:chOff x="1571625" y="2601912"/>
            <a:chExt cx="5648325" cy="1340084"/>
          </a:xfrm>
        </p:grpSpPr>
        <p:sp>
          <p:nvSpPr>
            <p:cNvPr id="44" name="椭圆 43">
              <a:extLst>
                <a:ext uri="{FF2B5EF4-FFF2-40B4-BE49-F238E27FC236}">
                  <a16:creationId xmlns:a16="http://schemas.microsoft.com/office/drawing/2014/main" id="{52FF76A8-1F4F-464A-AB04-2FA9DDB693AC}"/>
                </a:ext>
              </a:extLst>
            </p:cNvPr>
            <p:cNvSpPr/>
            <p:nvPr/>
          </p:nvSpPr>
          <p:spPr bwMode="auto">
            <a:xfrm>
              <a:off x="1571625" y="3560929"/>
              <a:ext cx="361950" cy="381067"/>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5" name="椭圆 44">
              <a:extLst>
                <a:ext uri="{FF2B5EF4-FFF2-40B4-BE49-F238E27FC236}">
                  <a16:creationId xmlns:a16="http://schemas.microsoft.com/office/drawing/2014/main" id="{970EE0D0-E48C-4A71-920E-E914AFD081D7}"/>
                </a:ext>
              </a:extLst>
            </p:cNvPr>
            <p:cNvSpPr/>
            <p:nvPr/>
          </p:nvSpPr>
          <p:spPr bwMode="auto">
            <a:xfrm>
              <a:off x="6858000" y="2601912"/>
              <a:ext cx="361950" cy="381067"/>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46" name="直接连接符 45">
              <a:extLst>
                <a:ext uri="{FF2B5EF4-FFF2-40B4-BE49-F238E27FC236}">
                  <a16:creationId xmlns:a16="http://schemas.microsoft.com/office/drawing/2014/main" id="{3E059F78-6513-4140-A8E7-9A53891FBC44}"/>
                </a:ext>
              </a:extLst>
            </p:cNvPr>
            <p:cNvCxnSpPr>
              <a:stCxn id="45" idx="3"/>
              <a:endCxn id="44" idx="7"/>
            </p:cNvCxnSpPr>
            <p:nvPr/>
          </p:nvCxnSpPr>
          <p:spPr bwMode="auto">
            <a:xfrm flipH="1">
              <a:off x="1881188" y="2927407"/>
              <a:ext cx="5029200" cy="689095"/>
            </a:xfrm>
            <a:prstGeom prst="line">
              <a:avLst/>
            </a:prstGeom>
            <a:ln w="22225">
              <a:solidFill>
                <a:srgbClr val="FF00FF"/>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16" name="矩形 15">
            <a:extLst>
              <a:ext uri="{FF2B5EF4-FFF2-40B4-BE49-F238E27FC236}">
                <a16:creationId xmlns:a16="http://schemas.microsoft.com/office/drawing/2014/main" id="{C275501A-09F5-432F-836E-1B2EFE28A839}"/>
              </a:ext>
            </a:extLst>
          </p:cNvPr>
          <p:cNvSpPr>
            <a:spLocks noChangeArrowheads="1"/>
          </p:cNvSpPr>
          <p:nvPr/>
        </p:nvSpPr>
        <p:spPr bwMode="auto">
          <a:xfrm>
            <a:off x="630238" y="5418138"/>
            <a:ext cx="7848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400" b="1">
                <a:solidFill>
                  <a:srgbClr val="FF00FF"/>
                </a:solidFill>
              </a:rPr>
              <a:t>互补松弛性的本质：揭示了原问题（或对偶问题）约束关系式与对偶问题（或原问题）最优解的依赖关系！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9F4AC7-4644-4717-92F3-70B0B0DD4E2A}"/>
              </a:ext>
            </a:extLst>
          </p:cNvPr>
          <p:cNvSpPr>
            <a:spLocks noGrp="1"/>
          </p:cNvSpPr>
          <p:nvPr>
            <p:ph type="title"/>
          </p:nvPr>
        </p:nvSpPr>
        <p:spPr/>
        <p:txBody>
          <a:bodyPr/>
          <a:lstStyle/>
          <a:p>
            <a:r>
              <a:rPr lang="zh-CN" altLang="en-US" dirty="0"/>
              <a:t>例子</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FF81EB78-3053-4BDD-9F7B-60D39293D78F}"/>
                  </a:ext>
                </a:extLst>
              </p:cNvPr>
              <p:cNvSpPr txBox="1">
                <a:spLocks/>
              </p:cNvSpPr>
              <p:nvPr/>
            </p:nvSpPr>
            <p:spPr bwMode="auto">
              <a:xfrm>
                <a:off x="424081" y="1417638"/>
                <a:ext cx="4269945" cy="2286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a:rPr lang="en-US" altLang="zh-CN" b="0" i="1" kern="0" smtClean="0">
                            <a:latin typeface="Cambria Math" panose="02040503050406030204" pitchFamily="18" charset="0"/>
                          </a:rPr>
                          <m:t>𝑚𝑎𝑥</m:t>
                        </m:r>
                      </m:fName>
                      <m:e>
                        <m:r>
                          <a:rPr lang="en-US" altLang="zh-CN" b="0" i="1" kern="0" smtClean="0">
                            <a:latin typeface="Cambria Math" panose="02040503050406030204" pitchFamily="18" charset="0"/>
                          </a:rPr>
                          <m:t>𝑧</m:t>
                        </m:r>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2</m:t>
                                  </m:r>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1</m:t>
                                  </m:r>
                                </m:sub>
                              </m:sSub>
                              <m:r>
                                <m:rPr>
                                  <m:brk m:alnAt="7"/>
                                </m:rP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≤12</m:t>
                              </m:r>
                            </m:e>
                          </m:mr>
                          <m:mr>
                            <m:e>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1</m:t>
                                  </m:r>
                                </m:sub>
                              </m:sSub>
                              <m:r>
                                <m:rPr>
                                  <m:brk m:alnAt="7"/>
                                </m:rPr>
                                <a:rPr lang="en-US" altLang="zh-CN" i="1" kern="0">
                                  <a:latin typeface="Cambria Math" panose="02040503050406030204" pitchFamily="18" charset="0"/>
                                </a:rPr>
                                <m:t>+</m:t>
                              </m:r>
                              <m:r>
                                <a:rPr lang="en-US" altLang="zh-CN" i="1" kern="0">
                                  <a:latin typeface="Cambria Math" panose="02040503050406030204" pitchFamily="18" charset="0"/>
                                </a:rPr>
                                <m:t>2</m:t>
                              </m:r>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2</m:t>
                                  </m:r>
                                </m:sub>
                              </m:sSub>
                              <m:r>
                                <a:rPr lang="en-US" altLang="zh-CN" i="1" kern="0" smtClean="0">
                                  <a:latin typeface="Cambria Math" panose="02040503050406030204" pitchFamily="18" charset="0"/>
                                </a:rPr>
                                <m:t>≤</m:t>
                              </m:r>
                              <m:r>
                                <a:rPr lang="en-US" altLang="zh-CN" b="0" i="1" kern="0" smtClean="0">
                                  <a:latin typeface="Cambria Math" panose="02040503050406030204" pitchFamily="18" charset="0"/>
                                </a:rPr>
                                <m:t>9</m:t>
                              </m:r>
                            </m:e>
                          </m:m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 ≥0</m:t>
                              </m:r>
                            </m:e>
                          </m:mr>
                        </m:m>
                      </m:e>
                    </m:d>
                  </m:oMath>
                </a14:m>
                <a:endParaRPr lang="zh-CN" altLang="en-US" kern="0" dirty="0"/>
              </a:p>
            </p:txBody>
          </p:sp>
        </mc:Choice>
        <mc:Fallback xmlns="">
          <p:sp>
            <p:nvSpPr>
              <p:cNvPr id="6" name="内容占位符 2">
                <a:extLst>
                  <a:ext uri="{FF2B5EF4-FFF2-40B4-BE49-F238E27FC236}">
                    <a16:creationId xmlns:a16="http://schemas.microsoft.com/office/drawing/2014/main" id="{FF81EB78-3053-4BDD-9F7B-60D39293D78F}"/>
                  </a:ext>
                </a:extLst>
              </p:cNvPr>
              <p:cNvSpPr txBox="1">
                <a:spLocks noRot="1" noChangeAspect="1" noMove="1" noResize="1" noEditPoints="1" noAdjustHandles="1" noChangeArrowheads="1" noChangeShapeType="1" noTextEdit="1"/>
              </p:cNvSpPr>
              <p:nvPr/>
            </p:nvSpPr>
            <p:spPr bwMode="auto">
              <a:xfrm>
                <a:off x="424081" y="1417638"/>
                <a:ext cx="4269945" cy="2286000"/>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942F65C9-9606-488C-8771-591D4A5A01F7}"/>
                  </a:ext>
                </a:extLst>
              </p:cNvPr>
              <p:cNvSpPr txBox="1">
                <a:spLocks/>
              </p:cNvSpPr>
              <p:nvPr/>
            </p:nvSpPr>
            <p:spPr bwMode="auto">
              <a:xfrm>
                <a:off x="4727145" y="1417638"/>
                <a:ext cx="4269945" cy="30019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m:rPr>
                            <m:sty m:val="p"/>
                          </m:rPr>
                          <a:rPr lang="en-US" altLang="zh-CN" b="0" i="1" kern="0">
                            <a:latin typeface="Cambria Math" panose="02040503050406030204" pitchFamily="18" charset="0"/>
                          </a:rPr>
                          <m:t>min</m:t>
                        </m:r>
                      </m:fName>
                      <m:e>
                        <m:r>
                          <a:rPr lang="en-US" altLang="zh-CN" b="0" i="1" kern="0" smtClean="0">
                            <a:latin typeface="Cambria Math" panose="02040503050406030204" pitchFamily="18" charset="0"/>
                          </a:rPr>
                          <m:t>𝜔</m:t>
                        </m:r>
                        <m:r>
                          <a:rPr lang="en-US" altLang="zh-CN" b="0" i="1" kern="0" smtClean="0">
                            <a:latin typeface="Cambria Math" panose="02040503050406030204" pitchFamily="18" charset="0"/>
                          </a:rPr>
                          <m:t>=12</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9</m:t>
                            </m:r>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r>
                                <a:rPr lang="en-US" altLang="zh-CN" b="0" i="1" kern="0" smtClean="0">
                                  <a:latin typeface="Cambria Math" panose="02040503050406030204" pitchFamily="18" charset="0"/>
                                </a:rPr>
                                <m:t>2</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≥1</m:t>
                              </m:r>
                            </m:e>
                          </m:mr>
                          <m:mr>
                            <m:e>
                              <m:sSub>
                                <m:sSubPr>
                                  <m:ctrlPr>
                                    <a:rPr lang="en-US" altLang="zh-CN" b="0" i="1" kern="0">
                                      <a:latin typeface="Cambria Math" panose="02040503050406030204" pitchFamily="18" charset="0"/>
                                    </a:rPr>
                                  </m:ctrlPr>
                                </m:sSubPr>
                                <m:e>
                                  <m:r>
                                    <a:rPr lang="en-US" altLang="zh-CN" b="0" i="1" kern="0">
                                      <a:latin typeface="Cambria Math" panose="02040503050406030204" pitchFamily="18" charset="0"/>
                                    </a:rPr>
                                    <m:t>𝑦</m:t>
                                  </m:r>
                                </m:e>
                                <m:sub>
                                  <m:r>
                                    <a:rPr lang="en-US" altLang="zh-CN" b="0" i="1" kern="0">
                                      <a:latin typeface="Cambria Math" panose="02040503050406030204" pitchFamily="18" charset="0"/>
                                    </a:rPr>
                                    <m:t>1</m:t>
                                  </m:r>
                                </m:sub>
                              </m:sSub>
                              <m:r>
                                <a:rPr lang="en-US" altLang="zh-CN" b="0" i="1" kern="0">
                                  <a:latin typeface="Cambria Math" panose="02040503050406030204" pitchFamily="18" charset="0"/>
                                </a:rPr>
                                <m:t>+</m:t>
                              </m:r>
                              <m:sSub>
                                <m:sSubPr>
                                  <m:ctrlPr>
                                    <a:rPr lang="en-US" altLang="zh-CN" b="0" i="1" kern="0">
                                      <a:latin typeface="Cambria Math" panose="02040503050406030204" pitchFamily="18" charset="0"/>
                                    </a:rPr>
                                  </m:ctrlPr>
                                </m:sSubPr>
                                <m:e>
                                  <m:r>
                                    <a:rPr lang="en-US" altLang="zh-CN" b="0" i="1" kern="0" smtClean="0">
                                      <a:latin typeface="Cambria Math" panose="02040503050406030204" pitchFamily="18" charset="0"/>
                                    </a:rPr>
                                    <m:t>2</m:t>
                                  </m:r>
                                  <m:r>
                                    <a:rPr lang="en-US" altLang="zh-CN" b="0" i="1" kern="0">
                                      <a:latin typeface="Cambria Math" panose="02040503050406030204" pitchFamily="18" charset="0"/>
                                    </a:rPr>
                                    <m:t>𝑦</m:t>
                                  </m:r>
                                </m:e>
                                <m:sub>
                                  <m:r>
                                    <a:rPr lang="en-US" altLang="zh-CN" b="0" i="1" kern="0">
                                      <a:latin typeface="Cambria Math" panose="02040503050406030204" pitchFamily="18" charset="0"/>
                                    </a:rPr>
                                    <m:t>2</m:t>
                                  </m:r>
                                </m:sub>
                              </m:sSub>
                              <m:r>
                                <a:rPr lang="en-US" altLang="zh-CN" b="1" i="1" kern="0" smtClean="0">
                                  <a:latin typeface="Cambria Math" panose="02040503050406030204" pitchFamily="18" charset="0"/>
                                </a:rPr>
                                <m:t>≥</m:t>
                              </m:r>
                              <m:r>
                                <a:rPr lang="en-US" altLang="zh-CN" b="0" i="1" kern="0" smtClean="0">
                                  <a:latin typeface="Cambria Math" panose="02040503050406030204" pitchFamily="18" charset="0"/>
                                </a:rPr>
                                <m:t>1</m:t>
                              </m:r>
                            </m:e>
                          </m:mr>
                          <m:mr>
                            <m:e>
                              <m:eqArr>
                                <m:eqArrPr>
                                  <m:ctrlPr>
                                    <a:rPr lang="en-US" altLang="zh-CN" b="0" i="1" kern="0" smtClean="0">
                                      <a:latin typeface="Cambria Math" panose="02040503050406030204" pitchFamily="18" charset="0"/>
                                    </a:rPr>
                                  </m:ctrlPr>
                                </m:eqArrP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≥0</m:t>
                                  </m:r>
                                </m:e>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≥0</m:t>
                                  </m:r>
                                </m:e>
                              </m:eqArr>
                            </m:e>
                          </m:mr>
                        </m:m>
                      </m:e>
                    </m:d>
                  </m:oMath>
                </a14:m>
                <a:endParaRPr lang="zh-CN" altLang="en-US" kern="0" dirty="0"/>
              </a:p>
            </p:txBody>
          </p:sp>
        </mc:Choice>
        <mc:Fallback xmlns="">
          <p:sp>
            <p:nvSpPr>
              <p:cNvPr id="7" name="内容占位符 2">
                <a:extLst>
                  <a:ext uri="{FF2B5EF4-FFF2-40B4-BE49-F238E27FC236}">
                    <a16:creationId xmlns:a16="http://schemas.microsoft.com/office/drawing/2014/main" id="{942F65C9-9606-488C-8771-591D4A5A01F7}"/>
                  </a:ext>
                </a:extLst>
              </p:cNvPr>
              <p:cNvSpPr txBox="1">
                <a:spLocks noRot="1" noChangeAspect="1" noMove="1" noResize="1" noEditPoints="1" noAdjustHandles="1" noChangeArrowheads="1" noChangeShapeType="1" noTextEdit="1"/>
              </p:cNvSpPr>
              <p:nvPr/>
            </p:nvSpPr>
            <p:spPr bwMode="auto">
              <a:xfrm>
                <a:off x="4727145" y="1417638"/>
                <a:ext cx="4269945" cy="3001962"/>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4DFB266-DABA-4F38-8781-D4EBA13CC530}"/>
                  </a:ext>
                </a:extLst>
              </p:cNvPr>
              <p:cNvSpPr txBox="1"/>
              <p:nvPr/>
            </p:nvSpPr>
            <p:spPr>
              <a:xfrm>
                <a:off x="424081" y="4157990"/>
                <a:ext cx="6407267" cy="523220"/>
              </a:xfrm>
              <a:prstGeom prst="rect">
                <a:avLst/>
              </a:prstGeom>
              <a:noFill/>
            </p:spPr>
            <p:txBody>
              <a:bodyPr wrap="none" rtlCol="0">
                <a:spAutoFit/>
              </a:bodyPr>
              <a:lstStyle/>
              <a:p>
                <a:r>
                  <a:rPr lang="zh-CN" altLang="en-US" sz="2800" b="1" dirty="0"/>
                  <a:t>已知原问题在</a:t>
                </a:r>
                <a14:m>
                  <m:oMath xmlns:m="http://schemas.openxmlformats.org/officeDocument/2006/math">
                    <m:sSub>
                      <m:sSubPr>
                        <m:ctrlPr>
                          <a:rPr lang="en-US" altLang="zh-CN"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smtClean="0">
                            <a:latin typeface="Cambria Math" panose="02040503050406030204" pitchFamily="18" charset="0"/>
                          </a:rPr>
                          <m:t>𝟏</m:t>
                        </m:r>
                      </m:sub>
                    </m:sSub>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𝟓</m:t>
                    </m:r>
                    <m:r>
                      <a:rPr lang="en-US" altLang="zh-CN" sz="2800" b="1" i="1" dirty="0" smtClean="0">
                        <a:latin typeface="Cambria Math" panose="02040503050406030204" pitchFamily="18" charset="0"/>
                      </a:rPr>
                      <m:t>,</m:t>
                    </m:r>
                    <m:sSub>
                      <m:sSubPr>
                        <m:ctrlPr>
                          <a:rPr lang="en-US" altLang="zh-CN" sz="2800" b="1" i="1" dirty="0" smtClean="0">
                            <a:latin typeface="Cambria Math" panose="02040503050406030204" pitchFamily="18" charset="0"/>
                          </a:rPr>
                        </m:ctrlPr>
                      </m:sSubPr>
                      <m:e>
                        <m:r>
                          <a:rPr lang="en-US" altLang="zh-CN" sz="2800" b="1" i="1" dirty="0" smtClean="0">
                            <a:latin typeface="Cambria Math" panose="02040503050406030204" pitchFamily="18" charset="0"/>
                          </a:rPr>
                          <m:t>𝒙</m:t>
                        </m:r>
                      </m:e>
                      <m:sub>
                        <m:r>
                          <a:rPr lang="en-US" altLang="zh-CN" sz="2800" b="1" i="1" dirty="0" smtClean="0">
                            <a:latin typeface="Cambria Math" panose="02040503050406030204" pitchFamily="18" charset="0"/>
                          </a:rPr>
                          <m:t>𝟐</m:t>
                        </m:r>
                      </m:sub>
                    </m:sSub>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𝟐</m:t>
                    </m:r>
                  </m:oMath>
                </a14:m>
                <a:r>
                  <a:rPr lang="zh-CN" altLang="en-US" sz="2800" b="1" dirty="0"/>
                  <a:t>取得最优解</a:t>
                </a:r>
                <a:endParaRPr lang="en-US" altLang="zh-CN" sz="2800" b="1" dirty="0"/>
              </a:p>
            </p:txBody>
          </p:sp>
        </mc:Choice>
        <mc:Fallback xmlns="">
          <p:sp>
            <p:nvSpPr>
              <p:cNvPr id="8" name="文本框 7">
                <a:extLst>
                  <a:ext uri="{FF2B5EF4-FFF2-40B4-BE49-F238E27FC236}">
                    <a16:creationId xmlns:a16="http://schemas.microsoft.com/office/drawing/2014/main" id="{B4DFB266-DABA-4F38-8781-D4EBA13CC530}"/>
                  </a:ext>
                </a:extLst>
              </p:cNvPr>
              <p:cNvSpPr txBox="1">
                <a:spLocks noRot="1" noChangeAspect="1" noMove="1" noResize="1" noEditPoints="1" noAdjustHandles="1" noChangeArrowheads="1" noChangeShapeType="1" noTextEdit="1"/>
              </p:cNvSpPr>
              <p:nvPr/>
            </p:nvSpPr>
            <p:spPr>
              <a:xfrm>
                <a:off x="424081" y="4157990"/>
                <a:ext cx="6407267" cy="523220"/>
              </a:xfrm>
              <a:prstGeom prst="rect">
                <a:avLst/>
              </a:prstGeom>
              <a:blipFill>
                <a:blip r:embed="rId4"/>
                <a:stretch>
                  <a:fillRect l="-1998" t="-15116" r="-1237" b="-279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57F2787-6919-46E2-B36C-DFF961DD2C4E}"/>
                  </a:ext>
                </a:extLst>
              </p:cNvPr>
              <p:cNvSpPr/>
              <p:nvPr/>
            </p:nvSpPr>
            <p:spPr>
              <a:xfrm>
                <a:off x="5867400" y="4873952"/>
                <a:ext cx="2912720" cy="1076000"/>
              </a:xfrm>
              <a:prstGeom prst="rect">
                <a:avLst/>
              </a:prstGeom>
              <a:ln>
                <a:solidFill>
                  <a:schemeClr val="tx1"/>
                </a:solidFill>
              </a:ln>
            </p:spPr>
            <p:txBody>
              <a:bodyPr wrap="none">
                <a:spAutoFit/>
              </a:bodyPr>
              <a:lstStyle/>
              <a:p>
                <a:pPr/>
                <a14:m>
                  <m:oMathPara xmlns:m="http://schemas.openxmlformats.org/officeDocument/2006/math">
                    <m:oMathParaPr>
                      <m:jc m:val="centerGroup"/>
                    </m:oMathParaPr>
                    <m:oMath xmlns:m="http://schemas.openxmlformats.org/officeDocument/2006/math">
                      <m:eqArr>
                        <m:eqArrPr>
                          <m:ctrlPr>
                            <a:rPr lang="en-US" altLang="zh-CN" sz="2800" b="1" i="1">
                              <a:latin typeface="Cambria Math" panose="02040503050406030204" pitchFamily="18" charset="0"/>
                            </a:rPr>
                          </m:ctrlPr>
                        </m:eqArrPr>
                        <m:e>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𝒚</m:t>
                              </m:r>
                            </m:e>
                            <m:sup>
                              <m:r>
                                <a:rPr lang="en-US" altLang="zh-CN" sz="2800" b="1" i="1">
                                  <a:latin typeface="Cambria Math" panose="02040503050406030204" pitchFamily="18" charset="0"/>
                                </a:rPr>
                                <m:t>𝑻</m:t>
                              </m:r>
                            </m:sup>
                          </m:sSup>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𝑨𝒙</m:t>
                              </m:r>
                              <m:r>
                                <a:rPr lang="en-US" altLang="zh-CN" sz="2800" b="1" i="1">
                                  <a:latin typeface="Cambria Math" panose="02040503050406030204" pitchFamily="18" charset="0"/>
                                </a:rPr>
                                <m:t>−</m:t>
                              </m:r>
                              <m:r>
                                <a:rPr lang="en-US" altLang="zh-CN" sz="2800" b="1" i="1">
                                  <a:latin typeface="Cambria Math" panose="02040503050406030204" pitchFamily="18" charset="0"/>
                                </a:rPr>
                                <m:t>𝒃</m:t>
                              </m:r>
                            </m:e>
                          </m:d>
                          <m:r>
                            <a:rPr lang="en-US" altLang="zh-CN" sz="2800" b="1" i="1">
                              <a:latin typeface="Cambria Math" panose="02040503050406030204" pitchFamily="18" charset="0"/>
                            </a:rPr>
                            <m:t>=</m:t>
                          </m:r>
                          <m:r>
                            <a:rPr lang="en-US" altLang="zh-CN" sz="2800" b="1" i="1">
                              <a:latin typeface="Cambria Math" panose="02040503050406030204" pitchFamily="18" charset="0"/>
                            </a:rPr>
                            <m:t>𝟎</m:t>
                          </m:r>
                        </m:e>
                        <m:e>
                          <m:sSup>
                            <m:sSupPr>
                              <m:ctrlPr>
                                <a:rPr lang="en-US" altLang="zh-CN" sz="2800" i="1">
                                  <a:latin typeface="Cambria Math" panose="02040503050406030204" pitchFamily="18" charset="0"/>
                                </a:rPr>
                              </m:ctrlPr>
                            </m:sSupPr>
                            <m:e>
                              <m:r>
                                <a:rPr lang="en-US" altLang="zh-CN" sz="2800" b="1" i="1">
                                  <a:latin typeface="Cambria Math" panose="02040503050406030204" pitchFamily="18" charset="0"/>
                                </a:rPr>
                                <m:t>𝒙</m:t>
                              </m:r>
                            </m:e>
                            <m:sup>
                              <m:r>
                                <a:rPr lang="en-US" altLang="zh-CN" sz="2800" i="1">
                                  <a:latin typeface="Cambria Math" panose="02040503050406030204" pitchFamily="18" charset="0"/>
                                </a:rPr>
                                <m:t>𝑻</m:t>
                              </m:r>
                            </m:sup>
                          </m:sSup>
                          <m:d>
                            <m:dPr>
                              <m:ctrlPr>
                                <a:rPr lang="en-US" altLang="zh-CN" sz="2800" i="1">
                                  <a:latin typeface="Cambria Math" panose="02040503050406030204" pitchFamily="18" charset="0"/>
                                </a:rPr>
                              </m:ctrlPr>
                            </m:dPr>
                            <m:e>
                              <m:sSup>
                                <m:sSupPr>
                                  <m:ctrlPr>
                                    <a:rPr lang="en-US" altLang="zh-CN" sz="2800" b="1" i="1">
                                      <a:latin typeface="Cambria Math" panose="02040503050406030204" pitchFamily="18" charset="0"/>
                                    </a:rPr>
                                  </m:ctrlPr>
                                </m:sSupPr>
                                <m:e>
                                  <m:r>
                                    <a:rPr lang="en-US" altLang="zh-CN" sz="2800" i="1">
                                      <a:latin typeface="Cambria Math" panose="02040503050406030204" pitchFamily="18" charset="0"/>
                                    </a:rPr>
                                    <m:t>𝑨</m:t>
                                  </m:r>
                                </m:e>
                                <m:sup>
                                  <m:r>
                                    <a:rPr lang="en-US" altLang="zh-CN" sz="2800" b="1" i="1">
                                      <a:latin typeface="Cambria Math" panose="02040503050406030204" pitchFamily="18" charset="0"/>
                                    </a:rPr>
                                    <m:t>𝑻</m:t>
                                  </m:r>
                                </m:sup>
                              </m:sSup>
                              <m:r>
                                <a:rPr lang="en-US" altLang="zh-CN" sz="2800" b="1" i="1">
                                  <a:latin typeface="Cambria Math" panose="02040503050406030204" pitchFamily="18" charset="0"/>
                                </a:rPr>
                                <m:t>𝒚</m:t>
                              </m:r>
                              <m:r>
                                <a:rPr lang="en-US" altLang="zh-CN" sz="2800" i="1">
                                  <a:latin typeface="Cambria Math" panose="02040503050406030204" pitchFamily="18" charset="0"/>
                                </a:rPr>
                                <m:t>−</m:t>
                              </m:r>
                              <m:r>
                                <a:rPr lang="en-US" altLang="zh-CN" sz="2800" b="1" i="1">
                                  <a:latin typeface="Cambria Math" panose="02040503050406030204" pitchFamily="18" charset="0"/>
                                </a:rPr>
                                <m:t>𝒄</m:t>
                              </m:r>
                            </m:e>
                          </m:d>
                          <m:r>
                            <a:rPr lang="en-US" altLang="zh-CN" sz="2800" i="1">
                              <a:latin typeface="Cambria Math" panose="02040503050406030204" pitchFamily="18" charset="0"/>
                            </a:rPr>
                            <m:t>=</m:t>
                          </m:r>
                          <m:r>
                            <a:rPr lang="en-US" altLang="zh-CN" sz="2800" i="1">
                              <a:latin typeface="Cambria Math" panose="02040503050406030204" pitchFamily="18" charset="0"/>
                            </a:rPr>
                            <m:t>𝟎</m:t>
                          </m:r>
                        </m:e>
                      </m:eqArr>
                    </m:oMath>
                  </m:oMathPara>
                </a14:m>
                <a:endParaRPr lang="zh-CN" altLang="en-US" sz="2800" dirty="0"/>
              </a:p>
            </p:txBody>
          </p:sp>
        </mc:Choice>
        <mc:Fallback xmlns="">
          <p:sp>
            <p:nvSpPr>
              <p:cNvPr id="9" name="矩形 8">
                <a:extLst>
                  <a:ext uri="{FF2B5EF4-FFF2-40B4-BE49-F238E27FC236}">
                    <a16:creationId xmlns:a16="http://schemas.microsoft.com/office/drawing/2014/main" id="{757F2787-6919-46E2-B36C-DFF961DD2C4E}"/>
                  </a:ext>
                </a:extLst>
              </p:cNvPr>
              <p:cNvSpPr>
                <a:spLocks noRot="1" noChangeAspect="1" noMove="1" noResize="1" noEditPoints="1" noAdjustHandles="1" noChangeArrowheads="1" noChangeShapeType="1" noTextEdit="1"/>
              </p:cNvSpPr>
              <p:nvPr/>
            </p:nvSpPr>
            <p:spPr>
              <a:xfrm>
                <a:off x="5867400" y="4873952"/>
                <a:ext cx="2912720" cy="1076000"/>
              </a:xfrm>
              <a:prstGeom prst="rect">
                <a:avLst/>
              </a:prstGeom>
              <a:blipFill>
                <a:blip r:embed="rId5"/>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AC746D57-B00F-4AAF-B63D-87E381D03CC2}"/>
                  </a:ext>
                </a:extLst>
              </p:cNvPr>
              <p:cNvSpPr/>
              <p:nvPr/>
            </p:nvSpPr>
            <p:spPr>
              <a:xfrm>
                <a:off x="152400" y="4870104"/>
                <a:ext cx="5317802" cy="530915"/>
              </a:xfrm>
              <a:prstGeom prst="rect">
                <a:avLst/>
              </a:prstGeom>
            </p:spPr>
            <p:txBody>
              <a:bodyPr wrap="none">
                <a:spAutoFit/>
              </a:bodyPr>
              <a:lstStyle/>
              <a:p>
                <a14:m>
                  <m:oMath xmlns:m="http://schemas.openxmlformats.org/officeDocument/2006/math">
                    <m:sSup>
                      <m:sSupPr>
                        <m:ctrlPr>
                          <a:rPr lang="en-US" altLang="zh-CN" sz="2800" b="1" i="1" smtClean="0">
                            <a:latin typeface="Cambria Math" panose="02040503050406030204" pitchFamily="18" charset="0"/>
                          </a:rPr>
                        </m:ctrlPr>
                      </m:sSupPr>
                      <m:e>
                        <m:r>
                          <a:rPr lang="en-US" altLang="zh-CN" sz="2800" b="1" i="1">
                            <a:latin typeface="Cambria Math" panose="02040503050406030204" pitchFamily="18" charset="0"/>
                          </a:rPr>
                          <m:t>𝒚</m:t>
                        </m:r>
                      </m:e>
                      <m:sup>
                        <m:r>
                          <a:rPr lang="en-US" altLang="zh-CN" sz="2800" b="1" i="1">
                            <a:latin typeface="Cambria Math" panose="02040503050406030204" pitchFamily="18" charset="0"/>
                          </a:rPr>
                          <m:t>𝑻</m:t>
                        </m:r>
                      </m:sup>
                    </m:sSup>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𝑨𝒙</m:t>
                        </m:r>
                        <m:r>
                          <a:rPr lang="en-US" altLang="zh-CN" sz="2800" b="1" i="1">
                            <a:latin typeface="Cambria Math" panose="02040503050406030204" pitchFamily="18" charset="0"/>
                          </a:rPr>
                          <m:t>−</m:t>
                        </m:r>
                        <m:r>
                          <a:rPr lang="en-US" altLang="zh-CN" sz="2800" b="1" i="1">
                            <a:latin typeface="Cambria Math" panose="02040503050406030204" pitchFamily="18" charset="0"/>
                          </a:rPr>
                          <m:t>𝒃</m:t>
                        </m:r>
                      </m:e>
                    </m:d>
                    <m:r>
                      <a:rPr lang="en-US" altLang="zh-CN" sz="2800" b="1" i="1">
                        <a:latin typeface="Cambria Math" panose="02040503050406030204" pitchFamily="18" charset="0"/>
                      </a:rPr>
                      <m:t>=</m:t>
                    </m:r>
                    <m:r>
                      <a:rPr lang="en-US" altLang="zh-CN" sz="2800" b="1" i="1">
                        <a:latin typeface="Cambria Math" panose="02040503050406030204" pitchFamily="18" charset="0"/>
                      </a:rPr>
                      <m:t>𝟎</m:t>
                    </m:r>
                    <m:r>
                      <a:rPr lang="en-US" altLang="zh-CN" sz="2800" b="1" i="1" smtClean="0">
                        <a:latin typeface="Cambria Math" panose="02040503050406030204" pitchFamily="18" charset="0"/>
                      </a:rPr>
                      <m:t>  </m:t>
                    </m:r>
                    <m:r>
                      <a:rPr lang="zh-CN" altLang="en-US" sz="2800" b="1" i="1">
                        <a:latin typeface="Cambria Math" panose="02040503050406030204" pitchFamily="18" charset="0"/>
                      </a:rPr>
                      <m:t>得不到</m:t>
                    </m:r>
                  </m:oMath>
                </a14:m>
                <a:r>
                  <a:rPr lang="zh-CN" altLang="en-US" sz="2800" dirty="0"/>
                  <a:t>有效信息</a:t>
                </a:r>
              </a:p>
            </p:txBody>
          </p:sp>
        </mc:Choice>
        <mc:Fallback xmlns="">
          <p:sp>
            <p:nvSpPr>
              <p:cNvPr id="10" name="矩形 9">
                <a:extLst>
                  <a:ext uri="{FF2B5EF4-FFF2-40B4-BE49-F238E27FC236}">
                    <a16:creationId xmlns:a16="http://schemas.microsoft.com/office/drawing/2014/main" id="{AC746D57-B00F-4AAF-B63D-87E381D03CC2}"/>
                  </a:ext>
                </a:extLst>
              </p:cNvPr>
              <p:cNvSpPr>
                <a:spLocks noRot="1" noChangeAspect="1" noMove="1" noResize="1" noEditPoints="1" noAdjustHandles="1" noChangeArrowheads="1" noChangeShapeType="1" noTextEdit="1"/>
              </p:cNvSpPr>
              <p:nvPr/>
            </p:nvSpPr>
            <p:spPr>
              <a:xfrm>
                <a:off x="152400" y="4870104"/>
                <a:ext cx="5317802" cy="530915"/>
              </a:xfrm>
              <a:prstGeom prst="rect">
                <a:avLst/>
              </a:prstGeom>
              <a:blipFill>
                <a:blip r:embed="rId6"/>
                <a:stretch>
                  <a:fillRect t="-14943" r="-1261" b="-275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1BC8CCF6-C2A7-46E1-A1C9-0700E5FB4982}"/>
                  </a:ext>
                </a:extLst>
              </p:cNvPr>
              <p:cNvSpPr/>
              <p:nvPr/>
            </p:nvSpPr>
            <p:spPr>
              <a:xfrm>
                <a:off x="182401" y="5586066"/>
                <a:ext cx="5486400" cy="1009572"/>
              </a:xfrm>
              <a:prstGeom prst="rect">
                <a:avLst/>
              </a:prstGeom>
            </p:spPr>
            <p:txBody>
              <a:bodyPr wrap="square">
                <a:spAutoFit/>
              </a:bodyPr>
              <a:lstStyle/>
              <a:p>
                <a14:m>
                  <m:oMath xmlns:m="http://schemas.openxmlformats.org/officeDocument/2006/math">
                    <m:sSup>
                      <m:sSupPr>
                        <m:ctrlPr>
                          <a:rPr lang="en-US" altLang="zh-CN" sz="2800" i="1" smtClean="0">
                            <a:latin typeface="Cambria Math" panose="02040503050406030204" pitchFamily="18" charset="0"/>
                          </a:rPr>
                        </m:ctrlPr>
                      </m:sSupPr>
                      <m:e>
                        <m:r>
                          <a:rPr lang="en-US" altLang="zh-CN" sz="2800" b="1" i="1">
                            <a:latin typeface="Cambria Math" panose="02040503050406030204" pitchFamily="18" charset="0"/>
                          </a:rPr>
                          <m:t>𝒙</m:t>
                        </m:r>
                      </m:e>
                      <m:sup>
                        <m:r>
                          <a:rPr lang="en-US" altLang="zh-CN" sz="2800" i="1">
                            <a:latin typeface="Cambria Math" panose="02040503050406030204" pitchFamily="18" charset="0"/>
                          </a:rPr>
                          <m:t>𝑻</m:t>
                        </m:r>
                      </m:sup>
                    </m:sSup>
                    <m:d>
                      <m:dPr>
                        <m:ctrlPr>
                          <a:rPr lang="en-US" altLang="zh-CN" sz="2800" i="1">
                            <a:latin typeface="Cambria Math" panose="02040503050406030204" pitchFamily="18" charset="0"/>
                          </a:rPr>
                        </m:ctrlPr>
                      </m:dPr>
                      <m:e>
                        <m:sSup>
                          <m:sSupPr>
                            <m:ctrlPr>
                              <a:rPr lang="en-US" altLang="zh-CN" sz="2800" b="1" i="1">
                                <a:latin typeface="Cambria Math" panose="02040503050406030204" pitchFamily="18" charset="0"/>
                              </a:rPr>
                            </m:ctrlPr>
                          </m:sSupPr>
                          <m:e>
                            <m:r>
                              <a:rPr lang="en-US" altLang="zh-CN" sz="2800" i="1">
                                <a:latin typeface="Cambria Math" panose="02040503050406030204" pitchFamily="18" charset="0"/>
                              </a:rPr>
                              <m:t>𝑨</m:t>
                            </m:r>
                          </m:e>
                          <m:sup>
                            <m:r>
                              <a:rPr lang="en-US" altLang="zh-CN" sz="2800" b="1" i="1">
                                <a:latin typeface="Cambria Math" panose="02040503050406030204" pitchFamily="18" charset="0"/>
                              </a:rPr>
                              <m:t>𝑻</m:t>
                            </m:r>
                          </m:sup>
                        </m:sSup>
                        <m:r>
                          <a:rPr lang="en-US" altLang="zh-CN" sz="2800" b="1" i="1">
                            <a:latin typeface="Cambria Math" panose="02040503050406030204" pitchFamily="18" charset="0"/>
                          </a:rPr>
                          <m:t>𝒚</m:t>
                        </m:r>
                        <m:r>
                          <a:rPr lang="en-US" altLang="zh-CN" sz="2800" i="1">
                            <a:latin typeface="Cambria Math" panose="02040503050406030204" pitchFamily="18" charset="0"/>
                          </a:rPr>
                          <m:t>−</m:t>
                        </m:r>
                        <m:r>
                          <a:rPr lang="en-US" altLang="zh-CN" sz="2800" b="1" i="1">
                            <a:latin typeface="Cambria Math" panose="02040503050406030204" pitchFamily="18" charset="0"/>
                          </a:rPr>
                          <m:t>𝒄</m:t>
                        </m:r>
                      </m:e>
                    </m:d>
                    <m:r>
                      <a:rPr lang="en-US" altLang="zh-CN" sz="2800" b="1" i="1" smtClean="0">
                        <a:latin typeface="Cambria Math" panose="02040503050406030204" pitchFamily="18" charset="0"/>
                      </a:rPr>
                      <m:t>=</m:t>
                    </m:r>
                    <m:r>
                      <a:rPr lang="en-US" altLang="zh-CN" sz="2800" b="1" i="1">
                        <a:latin typeface="Cambria Math" panose="02040503050406030204" pitchFamily="18" charset="0"/>
                      </a:rPr>
                      <m:t>𝟎</m:t>
                    </m:r>
                    <m:r>
                      <a:rPr lang="en-US" altLang="zh-CN" sz="2800" b="1" i="1" smtClean="0">
                        <a:latin typeface="Cambria Math" panose="02040503050406030204" pitchFamily="18" charset="0"/>
                      </a:rPr>
                      <m:t>  </m:t>
                    </m:r>
                    <m:r>
                      <a:rPr lang="zh-CN" altLang="en-US" sz="2800" b="1" i="1">
                        <a:latin typeface="Cambria Math" panose="02040503050406030204" pitchFamily="18" charset="0"/>
                      </a:rPr>
                      <m:t>对偶</m:t>
                    </m:r>
                  </m:oMath>
                </a14:m>
                <a:r>
                  <a:rPr lang="zh-CN" altLang="en-US" sz="2800" dirty="0"/>
                  <a:t>问题两个不等式要取等号</a:t>
                </a:r>
              </a:p>
            </p:txBody>
          </p:sp>
        </mc:Choice>
        <mc:Fallback xmlns="">
          <p:sp>
            <p:nvSpPr>
              <p:cNvPr id="11" name="矩形 10">
                <a:extLst>
                  <a:ext uri="{FF2B5EF4-FFF2-40B4-BE49-F238E27FC236}">
                    <a16:creationId xmlns:a16="http://schemas.microsoft.com/office/drawing/2014/main" id="{1BC8CCF6-C2A7-46E1-A1C9-0700E5FB4982}"/>
                  </a:ext>
                </a:extLst>
              </p:cNvPr>
              <p:cNvSpPr>
                <a:spLocks noRot="1" noChangeAspect="1" noMove="1" noResize="1" noEditPoints="1" noAdjustHandles="1" noChangeArrowheads="1" noChangeShapeType="1" noTextEdit="1"/>
              </p:cNvSpPr>
              <p:nvPr/>
            </p:nvSpPr>
            <p:spPr>
              <a:xfrm>
                <a:off x="182401" y="5586066"/>
                <a:ext cx="5486400" cy="1009572"/>
              </a:xfrm>
              <a:prstGeom prst="rect">
                <a:avLst/>
              </a:prstGeom>
              <a:blipFill>
                <a:blip r:embed="rId7"/>
                <a:stretch>
                  <a:fillRect l="-2333" t="-6024" r="-1000" b="-138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931798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9F4AC7-4644-4717-92F3-70B0B0DD4E2A}"/>
              </a:ext>
            </a:extLst>
          </p:cNvPr>
          <p:cNvSpPr>
            <a:spLocks noGrp="1"/>
          </p:cNvSpPr>
          <p:nvPr>
            <p:ph type="title"/>
          </p:nvPr>
        </p:nvSpPr>
        <p:spPr/>
        <p:txBody>
          <a:bodyPr/>
          <a:lstStyle/>
          <a:p>
            <a:r>
              <a:rPr lang="zh-CN" altLang="en-US" dirty="0"/>
              <a:t>习题</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FF81EB78-3053-4BDD-9F7B-60D39293D78F}"/>
                  </a:ext>
                </a:extLst>
              </p:cNvPr>
              <p:cNvSpPr txBox="1">
                <a:spLocks/>
              </p:cNvSpPr>
              <p:nvPr/>
            </p:nvSpPr>
            <p:spPr bwMode="auto">
              <a:xfrm>
                <a:off x="424081" y="949672"/>
                <a:ext cx="4269945" cy="2286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a:rPr lang="en-US" altLang="zh-CN" b="0" i="1" kern="0" smtClean="0">
                            <a:latin typeface="Cambria Math" panose="02040503050406030204" pitchFamily="18" charset="0"/>
                          </a:rPr>
                          <m:t>𝑚𝑎𝑥</m:t>
                        </m:r>
                      </m:fName>
                      <m:e>
                        <m:r>
                          <a:rPr lang="en-US" altLang="zh-CN" b="0" i="1" kern="0" smtClean="0">
                            <a:latin typeface="Cambria Math" panose="02040503050406030204" pitchFamily="18" charset="0"/>
                          </a:rPr>
                          <m:t>𝑧</m:t>
                        </m:r>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2</m:t>
                            </m:r>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sSub>
                                <m:sSubPr>
                                  <m:ctrlPr>
                                    <a:rPr lang="en-US" altLang="zh-CN" b="0" i="1" kern="0" smtClean="0">
                                      <a:latin typeface="Cambria Math" panose="02040503050406030204" pitchFamily="18" charset="0"/>
                                    </a:rPr>
                                  </m:ctrlPr>
                                </m:sSubPr>
                                <m:e>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1</m:t>
                                  </m:r>
                                </m:sub>
                              </m:sSub>
                              <m:r>
                                <m:rPr>
                                  <m:brk m:alnAt="7"/>
                                </m:rP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m:rPr>
                                      <m:brk m:alnAt="7"/>
                                    </m:rPr>
                                    <a:rPr lang="en-US" altLang="zh-CN" b="0" i="1" kern="0" smtClean="0">
                                      <a:latin typeface="Cambria Math" panose="02040503050406030204" pitchFamily="18" charset="0"/>
                                    </a:rPr>
                                    <m:t>𝑥</m:t>
                                  </m:r>
                                </m:e>
                                <m:sub>
                                  <m:r>
                                    <m:rPr>
                                      <m:brk m:alnAt="7"/>
                                    </m:rP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≤6</m:t>
                              </m:r>
                            </m:e>
                          </m:mr>
                          <m:mr>
                            <m:e>
                              <m:eqArr>
                                <m:eqArrPr>
                                  <m:ctrlPr>
                                    <a:rPr lang="en-US" altLang="zh-CN" i="1" kern="0">
                                      <a:latin typeface="Cambria Math" panose="02040503050406030204" pitchFamily="18" charset="0"/>
                                    </a:rPr>
                                  </m:ctrlPr>
                                </m:eqArrPr>
                                <m:e>
                                  <m:sSub>
                                    <m:sSubPr>
                                      <m:ctrlPr>
                                        <a:rPr lang="en-US" altLang="zh-CN" i="1" kern="0">
                                          <a:latin typeface="Cambria Math" panose="02040503050406030204" pitchFamily="18" charset="0"/>
                                        </a:rPr>
                                      </m:ctrlPr>
                                    </m:sSubPr>
                                    <m:e>
                                      <m:r>
                                        <m:rPr>
                                          <m:brk m:alnAt="7"/>
                                        </m:rPr>
                                        <a:rPr lang="en-US" altLang="zh-CN" i="1" kern="0">
                                          <a:latin typeface="Cambria Math" panose="02040503050406030204" pitchFamily="18" charset="0"/>
                                        </a:rPr>
                                        <m:t>𝑥</m:t>
                                      </m:r>
                                    </m:e>
                                    <m:sub>
                                      <m:r>
                                        <m:rPr>
                                          <m:brk m:alnAt="7"/>
                                        </m:rPr>
                                        <a:rPr lang="en-US" altLang="zh-CN" i="1" kern="0">
                                          <a:latin typeface="Cambria Math" panose="02040503050406030204" pitchFamily="18" charset="0"/>
                                        </a:rPr>
                                        <m:t>1</m:t>
                                      </m:r>
                                    </m:sub>
                                  </m:sSub>
                                  <m:r>
                                    <a:rPr lang="en-US" altLang="zh-CN" i="1" kern="0" smtClean="0">
                                      <a:latin typeface="Cambria Math" panose="02040503050406030204" pitchFamily="18" charset="0"/>
                                    </a:rPr>
                                    <m:t>≤</m:t>
                                  </m:r>
                                  <m:r>
                                    <a:rPr lang="en-US" altLang="zh-CN" b="0" i="1" kern="0" smtClean="0">
                                      <a:latin typeface="Cambria Math" panose="02040503050406030204" pitchFamily="18" charset="0"/>
                                    </a:rPr>
                                    <m:t>4</m:t>
                                  </m:r>
                                </m:e>
                                <m:e>
                                  <m:sSub>
                                    <m:sSubPr>
                                      <m:ctrlPr>
                                        <a:rPr lang="en-US" altLang="zh-CN" b="0" i="1" kern="0">
                                          <a:latin typeface="Cambria Math" panose="02040503050406030204" pitchFamily="18" charset="0"/>
                                        </a:rPr>
                                      </m:ctrlPr>
                                    </m:sSubPr>
                                    <m:e>
                                      <m:r>
                                        <m:rPr>
                                          <m:sty m:val="p"/>
                                        </m:rPr>
                                        <a:rPr lang="en-US" altLang="zh-CN" b="0" i="1" kern="0">
                                          <a:latin typeface="Cambria Math" panose="02040503050406030204" pitchFamily="18" charset="0"/>
                                        </a:rPr>
                                        <m:t>x</m:t>
                                      </m:r>
                                    </m:e>
                                    <m:sub>
                                      <m:r>
                                        <a:rPr lang="en-US" altLang="zh-CN" b="0" i="1" kern="0">
                                          <a:latin typeface="Cambria Math" panose="02040503050406030204" pitchFamily="18" charset="0"/>
                                        </a:rPr>
                                        <m:t>2</m:t>
                                      </m:r>
                                    </m:sub>
                                  </m:sSub>
                                  <m:r>
                                    <a:rPr lang="en-US" altLang="zh-CN" b="0" i="1" kern="0" smtClean="0">
                                      <a:latin typeface="Cambria Math" panose="02040503050406030204" pitchFamily="18" charset="0"/>
                                    </a:rPr>
                                    <m:t>≤4</m:t>
                                  </m:r>
                                </m:e>
                              </m:eqArr>
                            </m:e>
                          </m:m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𝑥</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 ≥0</m:t>
                              </m:r>
                            </m:e>
                          </m:mr>
                        </m:m>
                      </m:e>
                    </m:d>
                  </m:oMath>
                </a14:m>
                <a:endParaRPr lang="zh-CN" altLang="en-US" kern="0" dirty="0"/>
              </a:p>
            </p:txBody>
          </p:sp>
        </mc:Choice>
        <mc:Fallback xmlns="">
          <p:sp>
            <p:nvSpPr>
              <p:cNvPr id="6" name="内容占位符 2">
                <a:extLst>
                  <a:ext uri="{FF2B5EF4-FFF2-40B4-BE49-F238E27FC236}">
                    <a16:creationId xmlns:a16="http://schemas.microsoft.com/office/drawing/2014/main" id="{FF81EB78-3053-4BDD-9F7B-60D39293D78F}"/>
                  </a:ext>
                </a:extLst>
              </p:cNvPr>
              <p:cNvSpPr txBox="1">
                <a:spLocks noRot="1" noChangeAspect="1" noMove="1" noResize="1" noEditPoints="1" noAdjustHandles="1" noChangeArrowheads="1" noChangeShapeType="1" noTextEdit="1"/>
              </p:cNvSpPr>
              <p:nvPr/>
            </p:nvSpPr>
            <p:spPr bwMode="auto">
              <a:xfrm>
                <a:off x="424081" y="949672"/>
                <a:ext cx="4269945" cy="2286000"/>
              </a:xfrm>
              <a:prstGeom prst="rect">
                <a:avLst/>
              </a:prstGeom>
              <a:blipFill>
                <a:blip r:embed="rId2"/>
                <a:stretch>
                  <a:fillRect b="-218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942F65C9-9606-488C-8771-591D4A5A01F7}"/>
                  </a:ext>
                </a:extLst>
              </p:cNvPr>
              <p:cNvSpPr txBox="1">
                <a:spLocks/>
              </p:cNvSpPr>
              <p:nvPr/>
            </p:nvSpPr>
            <p:spPr bwMode="auto">
              <a:xfrm>
                <a:off x="4727145" y="1417638"/>
                <a:ext cx="4269945" cy="30019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14:m>
                  <m:oMath xmlns:m="http://schemas.openxmlformats.org/officeDocument/2006/math">
                    <m:func>
                      <m:funcPr>
                        <m:ctrlPr>
                          <a:rPr lang="en-US" altLang="zh-CN" b="0" i="1" kern="0" smtClean="0">
                            <a:latin typeface="Cambria Math" panose="02040503050406030204" pitchFamily="18" charset="0"/>
                          </a:rPr>
                        </m:ctrlPr>
                      </m:funcPr>
                      <m:fName>
                        <m:r>
                          <m:rPr>
                            <m:sty m:val="p"/>
                          </m:rPr>
                          <a:rPr lang="en-US" altLang="zh-CN" b="0" i="1" kern="0">
                            <a:latin typeface="Cambria Math" panose="02040503050406030204" pitchFamily="18" charset="0"/>
                          </a:rPr>
                          <m:t>min</m:t>
                        </m:r>
                      </m:fName>
                      <m:e>
                        <m:r>
                          <a:rPr lang="en-US" altLang="zh-CN" b="0" i="1" kern="0" smtClean="0">
                            <a:latin typeface="Cambria Math" panose="02040503050406030204" pitchFamily="18" charset="0"/>
                          </a:rPr>
                          <m:t>𝜔</m:t>
                        </m:r>
                        <m:r>
                          <a:rPr lang="en-US" altLang="zh-CN" b="0" i="1" kern="0" smtClean="0">
                            <a:latin typeface="Cambria Math" panose="02040503050406030204" pitchFamily="18" charset="0"/>
                          </a:rPr>
                          <m:t>=6</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4</m:t>
                            </m:r>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+4</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3</m:t>
                            </m:r>
                          </m:sub>
                        </m:sSub>
                      </m:e>
                    </m:func>
                  </m:oMath>
                </a14:m>
                <a:endParaRPr lang="en-US" altLang="zh-CN" kern="0" dirty="0"/>
              </a:p>
              <a:p>
                <a14:m>
                  <m:oMath xmlns:m="http://schemas.openxmlformats.org/officeDocument/2006/math">
                    <m:r>
                      <a:rPr lang="en-US" altLang="zh-CN" b="0" i="1" kern="0" smtClean="0">
                        <a:latin typeface="Cambria Math" panose="02040503050406030204" pitchFamily="18" charset="0"/>
                      </a:rPr>
                      <m:t>𝑠</m:t>
                    </m:r>
                    <m:r>
                      <a:rPr lang="en-US" altLang="zh-CN" b="0" i="1" kern="0" smtClean="0">
                        <a:latin typeface="Cambria Math" panose="02040503050406030204" pitchFamily="18" charset="0"/>
                      </a:rPr>
                      <m:t>.</m:t>
                    </m:r>
                    <m:r>
                      <a:rPr lang="en-US" altLang="zh-CN" b="0" i="1" kern="0" smtClean="0">
                        <a:latin typeface="Cambria Math" panose="02040503050406030204" pitchFamily="18" charset="0"/>
                      </a:rPr>
                      <m:t>𝑡</m:t>
                    </m:r>
                    <m:r>
                      <a:rPr lang="en-US" altLang="zh-CN" b="0" i="1" kern="0" smtClean="0">
                        <a:latin typeface="Cambria Math" panose="02040503050406030204" pitchFamily="18" charset="0"/>
                      </a:rPr>
                      <m:t>. </m:t>
                    </m:r>
                    <m:d>
                      <m:dPr>
                        <m:begChr m:val="{"/>
                        <m:endChr m:val=""/>
                        <m:ctrlPr>
                          <a:rPr lang="en-US" altLang="zh-CN" b="0" i="1" kern="0" smtClean="0">
                            <a:latin typeface="Cambria Math" panose="02040503050406030204" pitchFamily="18" charset="0"/>
                          </a:rPr>
                        </m:ctrlPr>
                      </m:dPr>
                      <m:e>
                        <m:m>
                          <m:mPr>
                            <m:mcs>
                              <m:mc>
                                <m:mcPr>
                                  <m:count m:val="1"/>
                                  <m:mcJc m:val="center"/>
                                </m:mcPr>
                              </m:mc>
                            </m:mcs>
                            <m:ctrlPr>
                              <a:rPr lang="en-US" altLang="zh-CN" b="0" i="1" kern="0" smtClean="0">
                                <a:latin typeface="Cambria Math" panose="02040503050406030204" pitchFamily="18" charset="0"/>
                              </a:rPr>
                            </m:ctrlPr>
                          </m:mP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≥1</m:t>
                              </m:r>
                            </m:e>
                          </m:mr>
                          <m:mr>
                            <m:e>
                              <m:sSub>
                                <m:sSubPr>
                                  <m:ctrlPr>
                                    <a:rPr lang="en-US" altLang="zh-CN" b="0" i="1" kern="0">
                                      <a:latin typeface="Cambria Math" panose="02040503050406030204" pitchFamily="18" charset="0"/>
                                    </a:rPr>
                                  </m:ctrlPr>
                                </m:sSubPr>
                                <m:e>
                                  <m:r>
                                    <a:rPr lang="en-US" altLang="zh-CN" b="0" i="1" kern="0">
                                      <a:latin typeface="Cambria Math" panose="02040503050406030204" pitchFamily="18" charset="0"/>
                                    </a:rPr>
                                    <m:t>𝑦</m:t>
                                  </m:r>
                                </m:e>
                                <m:sub>
                                  <m:r>
                                    <a:rPr lang="en-US" altLang="zh-CN" b="0" i="1" kern="0">
                                      <a:latin typeface="Cambria Math" panose="02040503050406030204" pitchFamily="18" charset="0"/>
                                    </a:rPr>
                                    <m:t>1</m:t>
                                  </m:r>
                                </m:sub>
                              </m:sSub>
                              <m:r>
                                <a:rPr lang="en-US" altLang="zh-CN" b="0" i="1" kern="0">
                                  <a:latin typeface="Cambria Math" panose="02040503050406030204" pitchFamily="18" charset="0"/>
                                </a:rPr>
                                <m:t>+</m:t>
                              </m:r>
                              <m:sSub>
                                <m:sSubPr>
                                  <m:ctrlPr>
                                    <a:rPr lang="en-US" altLang="zh-CN" b="0" i="1" kern="0">
                                      <a:latin typeface="Cambria Math" panose="02040503050406030204" pitchFamily="18" charset="0"/>
                                    </a:rPr>
                                  </m:ctrlPr>
                                </m:sSubPr>
                                <m:e>
                                  <m:r>
                                    <a:rPr lang="en-US" altLang="zh-CN" b="0" i="1" kern="0">
                                      <a:latin typeface="Cambria Math" panose="02040503050406030204" pitchFamily="18" charset="0"/>
                                    </a:rPr>
                                    <m:t>𝑦</m:t>
                                  </m:r>
                                </m:e>
                                <m:sub>
                                  <m:r>
                                    <a:rPr lang="en-US" altLang="zh-CN" b="0" i="1" kern="0" smtClean="0">
                                      <a:latin typeface="Cambria Math" panose="02040503050406030204" pitchFamily="18" charset="0"/>
                                    </a:rPr>
                                    <m:t>3</m:t>
                                  </m:r>
                                </m:sub>
                              </m:sSub>
                              <m:r>
                                <a:rPr lang="en-US" altLang="zh-CN" b="1" i="1" kern="0" smtClean="0">
                                  <a:latin typeface="Cambria Math" panose="02040503050406030204" pitchFamily="18" charset="0"/>
                                </a:rPr>
                                <m:t>≥</m:t>
                              </m:r>
                              <m:r>
                                <a:rPr lang="en-US" altLang="zh-CN" b="0" i="1" kern="0" smtClean="0">
                                  <a:latin typeface="Cambria Math" panose="02040503050406030204" pitchFamily="18" charset="0"/>
                                </a:rPr>
                                <m:t>2</m:t>
                              </m:r>
                            </m:e>
                          </m:mr>
                          <m:mr>
                            <m:e>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1</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2</m:t>
                                  </m:r>
                                </m:sub>
                              </m:sSub>
                              <m:r>
                                <a:rPr lang="en-US" altLang="zh-CN" b="0" i="1" kern="0" smtClean="0">
                                  <a:latin typeface="Cambria Math" panose="02040503050406030204" pitchFamily="18" charset="0"/>
                                </a:rPr>
                                <m:t>,</m:t>
                              </m:r>
                              <m:sSub>
                                <m:sSubPr>
                                  <m:ctrlPr>
                                    <a:rPr lang="en-US" altLang="zh-CN" b="0" i="1" kern="0" smtClean="0">
                                      <a:latin typeface="Cambria Math" panose="02040503050406030204" pitchFamily="18" charset="0"/>
                                    </a:rPr>
                                  </m:ctrlPr>
                                </m:sSubPr>
                                <m:e>
                                  <m:r>
                                    <a:rPr lang="en-US" altLang="zh-CN" b="0" i="1" kern="0" smtClean="0">
                                      <a:latin typeface="Cambria Math" panose="02040503050406030204" pitchFamily="18" charset="0"/>
                                    </a:rPr>
                                    <m:t>𝑦</m:t>
                                  </m:r>
                                </m:e>
                                <m:sub>
                                  <m:r>
                                    <a:rPr lang="en-US" altLang="zh-CN" b="0" i="1" kern="0" smtClean="0">
                                      <a:latin typeface="Cambria Math" panose="02040503050406030204" pitchFamily="18" charset="0"/>
                                    </a:rPr>
                                    <m:t>3</m:t>
                                  </m:r>
                                </m:sub>
                              </m:sSub>
                              <m:r>
                                <a:rPr lang="en-US" altLang="zh-CN" b="0" i="1" kern="0" smtClean="0">
                                  <a:latin typeface="Cambria Math" panose="02040503050406030204" pitchFamily="18" charset="0"/>
                                </a:rPr>
                                <m:t>≥0</m:t>
                              </m:r>
                            </m:e>
                          </m:mr>
                        </m:m>
                      </m:e>
                    </m:d>
                  </m:oMath>
                </a14:m>
                <a:endParaRPr lang="zh-CN" altLang="en-US" kern="0" dirty="0"/>
              </a:p>
            </p:txBody>
          </p:sp>
        </mc:Choice>
        <mc:Fallback xmlns="">
          <p:sp>
            <p:nvSpPr>
              <p:cNvPr id="7" name="内容占位符 2">
                <a:extLst>
                  <a:ext uri="{FF2B5EF4-FFF2-40B4-BE49-F238E27FC236}">
                    <a16:creationId xmlns:a16="http://schemas.microsoft.com/office/drawing/2014/main" id="{942F65C9-9606-488C-8771-591D4A5A01F7}"/>
                  </a:ext>
                </a:extLst>
              </p:cNvPr>
              <p:cNvSpPr txBox="1">
                <a:spLocks noRot="1" noChangeAspect="1" noMove="1" noResize="1" noEditPoints="1" noAdjustHandles="1" noChangeArrowheads="1" noChangeShapeType="1" noTextEdit="1"/>
              </p:cNvSpPr>
              <p:nvPr/>
            </p:nvSpPr>
            <p:spPr bwMode="auto">
              <a:xfrm>
                <a:off x="4727145" y="1417638"/>
                <a:ext cx="4269945" cy="3001962"/>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4DFB266-DABA-4F38-8781-D4EBA13CC530}"/>
                  </a:ext>
                </a:extLst>
              </p:cNvPr>
              <p:cNvSpPr txBox="1"/>
              <p:nvPr/>
            </p:nvSpPr>
            <p:spPr>
              <a:xfrm>
                <a:off x="424081" y="4157990"/>
                <a:ext cx="6407267" cy="523220"/>
              </a:xfrm>
              <a:prstGeom prst="rect">
                <a:avLst/>
              </a:prstGeom>
              <a:noFill/>
            </p:spPr>
            <p:txBody>
              <a:bodyPr wrap="none" rtlCol="0">
                <a:spAutoFit/>
              </a:bodyPr>
              <a:lstStyle/>
              <a:p>
                <a:r>
                  <a:rPr lang="zh-CN" altLang="en-US" sz="2800" b="1" dirty="0"/>
                  <a:t>已知原问题在</a:t>
                </a:r>
                <a14:m>
                  <m:oMath xmlns:m="http://schemas.openxmlformats.org/officeDocument/2006/math">
                    <m:sSub>
                      <m:sSubPr>
                        <m:ctrlPr>
                          <a:rPr lang="en-US" altLang="zh-CN" sz="2800" b="1" i="1" dirty="0">
                            <a:latin typeface="Cambria Math" panose="02040503050406030204" pitchFamily="18" charset="0"/>
                          </a:rPr>
                        </m:ctrlPr>
                      </m:sSubPr>
                      <m:e>
                        <m:r>
                          <a:rPr lang="en-US" altLang="zh-CN" sz="2800" b="1" i="1" dirty="0">
                            <a:latin typeface="Cambria Math" panose="02040503050406030204" pitchFamily="18" charset="0"/>
                          </a:rPr>
                          <m:t>𝒙</m:t>
                        </m:r>
                      </m:e>
                      <m:sub>
                        <m:r>
                          <a:rPr lang="en-US" altLang="zh-CN" sz="2800" b="1" i="1" dirty="0" smtClean="0">
                            <a:latin typeface="Cambria Math" panose="02040503050406030204" pitchFamily="18" charset="0"/>
                          </a:rPr>
                          <m:t>𝟏</m:t>
                        </m:r>
                      </m:sub>
                    </m:sSub>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𝟐</m:t>
                    </m:r>
                    <m:r>
                      <a:rPr lang="en-US" altLang="zh-CN" sz="2800" b="1" i="1" dirty="0" smtClean="0">
                        <a:latin typeface="Cambria Math" panose="02040503050406030204" pitchFamily="18" charset="0"/>
                      </a:rPr>
                      <m:t>,</m:t>
                    </m:r>
                    <m:sSub>
                      <m:sSubPr>
                        <m:ctrlPr>
                          <a:rPr lang="en-US" altLang="zh-CN" sz="2800" b="1" i="1" dirty="0" smtClean="0">
                            <a:latin typeface="Cambria Math" panose="02040503050406030204" pitchFamily="18" charset="0"/>
                          </a:rPr>
                        </m:ctrlPr>
                      </m:sSubPr>
                      <m:e>
                        <m:r>
                          <a:rPr lang="en-US" altLang="zh-CN" sz="2800" b="1" i="1" dirty="0" smtClean="0">
                            <a:latin typeface="Cambria Math" panose="02040503050406030204" pitchFamily="18" charset="0"/>
                          </a:rPr>
                          <m:t>𝒙</m:t>
                        </m:r>
                      </m:e>
                      <m:sub>
                        <m:r>
                          <a:rPr lang="en-US" altLang="zh-CN" sz="2800" b="1" i="1" dirty="0" smtClean="0">
                            <a:latin typeface="Cambria Math" panose="02040503050406030204" pitchFamily="18" charset="0"/>
                          </a:rPr>
                          <m:t>𝟐</m:t>
                        </m:r>
                      </m:sub>
                    </m:sSub>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𝟒</m:t>
                    </m:r>
                  </m:oMath>
                </a14:m>
                <a:r>
                  <a:rPr lang="zh-CN" altLang="en-US" sz="2800" b="1" dirty="0"/>
                  <a:t>取得最优解</a:t>
                </a:r>
                <a:endParaRPr lang="en-US" altLang="zh-CN" sz="2800" b="1" dirty="0"/>
              </a:p>
            </p:txBody>
          </p:sp>
        </mc:Choice>
        <mc:Fallback xmlns="">
          <p:sp>
            <p:nvSpPr>
              <p:cNvPr id="8" name="文本框 7">
                <a:extLst>
                  <a:ext uri="{FF2B5EF4-FFF2-40B4-BE49-F238E27FC236}">
                    <a16:creationId xmlns:a16="http://schemas.microsoft.com/office/drawing/2014/main" id="{B4DFB266-DABA-4F38-8781-D4EBA13CC530}"/>
                  </a:ext>
                </a:extLst>
              </p:cNvPr>
              <p:cNvSpPr txBox="1">
                <a:spLocks noRot="1" noChangeAspect="1" noMove="1" noResize="1" noEditPoints="1" noAdjustHandles="1" noChangeArrowheads="1" noChangeShapeType="1" noTextEdit="1"/>
              </p:cNvSpPr>
              <p:nvPr/>
            </p:nvSpPr>
            <p:spPr>
              <a:xfrm>
                <a:off x="424081" y="4157990"/>
                <a:ext cx="6407267" cy="523220"/>
              </a:xfrm>
              <a:prstGeom prst="rect">
                <a:avLst/>
              </a:prstGeom>
              <a:blipFill>
                <a:blip r:embed="rId4"/>
                <a:stretch>
                  <a:fillRect l="-1998" t="-15116" r="-1237" b="-279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AA2EBD7A-AB2D-4A01-8B6C-D73B8B2B206C}"/>
                  </a:ext>
                </a:extLst>
              </p:cNvPr>
              <p:cNvSpPr/>
              <p:nvPr/>
            </p:nvSpPr>
            <p:spPr>
              <a:xfrm>
                <a:off x="5867400" y="4873952"/>
                <a:ext cx="2912720" cy="1076000"/>
              </a:xfrm>
              <a:prstGeom prst="rect">
                <a:avLst/>
              </a:prstGeom>
              <a:ln>
                <a:solidFill>
                  <a:schemeClr val="tx1"/>
                </a:solidFill>
              </a:ln>
            </p:spPr>
            <p:txBody>
              <a:bodyPr wrap="none">
                <a:spAutoFit/>
              </a:bodyPr>
              <a:lstStyle/>
              <a:p>
                <a:pPr/>
                <a14:m>
                  <m:oMathPara xmlns:m="http://schemas.openxmlformats.org/officeDocument/2006/math">
                    <m:oMathParaPr>
                      <m:jc m:val="centerGroup"/>
                    </m:oMathParaPr>
                    <m:oMath xmlns:m="http://schemas.openxmlformats.org/officeDocument/2006/math">
                      <m:eqArr>
                        <m:eqArrPr>
                          <m:ctrlPr>
                            <a:rPr lang="en-US" altLang="zh-CN" sz="2800" b="1" i="1">
                              <a:latin typeface="Cambria Math" panose="02040503050406030204" pitchFamily="18" charset="0"/>
                            </a:rPr>
                          </m:ctrlPr>
                        </m:eqArrPr>
                        <m:e>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𝒚</m:t>
                              </m:r>
                            </m:e>
                            <m:sup>
                              <m:r>
                                <a:rPr lang="en-US" altLang="zh-CN" sz="2800" b="1" i="1">
                                  <a:latin typeface="Cambria Math" panose="02040503050406030204" pitchFamily="18" charset="0"/>
                                </a:rPr>
                                <m:t>𝑻</m:t>
                              </m:r>
                            </m:sup>
                          </m:sSup>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𝑨𝒙</m:t>
                              </m:r>
                              <m:r>
                                <a:rPr lang="en-US" altLang="zh-CN" sz="2800" b="1" i="1">
                                  <a:latin typeface="Cambria Math" panose="02040503050406030204" pitchFamily="18" charset="0"/>
                                </a:rPr>
                                <m:t>−</m:t>
                              </m:r>
                              <m:r>
                                <a:rPr lang="en-US" altLang="zh-CN" sz="2800" b="1" i="1">
                                  <a:latin typeface="Cambria Math" panose="02040503050406030204" pitchFamily="18" charset="0"/>
                                </a:rPr>
                                <m:t>𝒃</m:t>
                              </m:r>
                            </m:e>
                          </m:d>
                          <m:r>
                            <a:rPr lang="en-US" altLang="zh-CN" sz="2800" b="1" i="1">
                              <a:latin typeface="Cambria Math" panose="02040503050406030204" pitchFamily="18" charset="0"/>
                            </a:rPr>
                            <m:t>=</m:t>
                          </m:r>
                          <m:r>
                            <a:rPr lang="en-US" altLang="zh-CN" sz="2800" b="1" i="1">
                              <a:latin typeface="Cambria Math" panose="02040503050406030204" pitchFamily="18" charset="0"/>
                            </a:rPr>
                            <m:t>𝟎</m:t>
                          </m:r>
                        </m:e>
                        <m:e>
                          <m:sSup>
                            <m:sSupPr>
                              <m:ctrlPr>
                                <a:rPr lang="en-US" altLang="zh-CN" sz="2800" i="1">
                                  <a:latin typeface="Cambria Math" panose="02040503050406030204" pitchFamily="18" charset="0"/>
                                </a:rPr>
                              </m:ctrlPr>
                            </m:sSupPr>
                            <m:e>
                              <m:r>
                                <a:rPr lang="en-US" altLang="zh-CN" sz="2800" b="1" i="1">
                                  <a:latin typeface="Cambria Math" panose="02040503050406030204" pitchFamily="18" charset="0"/>
                                </a:rPr>
                                <m:t>𝒙</m:t>
                              </m:r>
                            </m:e>
                            <m:sup>
                              <m:r>
                                <a:rPr lang="en-US" altLang="zh-CN" sz="2800" i="1">
                                  <a:latin typeface="Cambria Math" panose="02040503050406030204" pitchFamily="18" charset="0"/>
                                </a:rPr>
                                <m:t>𝑻</m:t>
                              </m:r>
                            </m:sup>
                          </m:sSup>
                          <m:d>
                            <m:dPr>
                              <m:ctrlPr>
                                <a:rPr lang="en-US" altLang="zh-CN" sz="2800" i="1">
                                  <a:latin typeface="Cambria Math" panose="02040503050406030204" pitchFamily="18" charset="0"/>
                                </a:rPr>
                              </m:ctrlPr>
                            </m:dPr>
                            <m:e>
                              <m:sSup>
                                <m:sSupPr>
                                  <m:ctrlPr>
                                    <a:rPr lang="en-US" altLang="zh-CN" sz="2800" b="1" i="1">
                                      <a:latin typeface="Cambria Math" panose="02040503050406030204" pitchFamily="18" charset="0"/>
                                    </a:rPr>
                                  </m:ctrlPr>
                                </m:sSupPr>
                                <m:e>
                                  <m:r>
                                    <a:rPr lang="en-US" altLang="zh-CN" sz="2800" i="1">
                                      <a:latin typeface="Cambria Math" panose="02040503050406030204" pitchFamily="18" charset="0"/>
                                    </a:rPr>
                                    <m:t>𝑨</m:t>
                                  </m:r>
                                </m:e>
                                <m:sup>
                                  <m:r>
                                    <a:rPr lang="en-US" altLang="zh-CN" sz="2800" b="1" i="1">
                                      <a:latin typeface="Cambria Math" panose="02040503050406030204" pitchFamily="18" charset="0"/>
                                    </a:rPr>
                                    <m:t>𝑻</m:t>
                                  </m:r>
                                </m:sup>
                              </m:sSup>
                              <m:r>
                                <a:rPr lang="en-US" altLang="zh-CN" sz="2800" b="1" i="1">
                                  <a:latin typeface="Cambria Math" panose="02040503050406030204" pitchFamily="18" charset="0"/>
                                </a:rPr>
                                <m:t>𝒚</m:t>
                              </m:r>
                              <m:r>
                                <a:rPr lang="en-US" altLang="zh-CN" sz="2800" i="1">
                                  <a:latin typeface="Cambria Math" panose="02040503050406030204" pitchFamily="18" charset="0"/>
                                </a:rPr>
                                <m:t>−</m:t>
                              </m:r>
                              <m:r>
                                <a:rPr lang="en-US" altLang="zh-CN" sz="2800" b="1" i="1">
                                  <a:latin typeface="Cambria Math" panose="02040503050406030204" pitchFamily="18" charset="0"/>
                                </a:rPr>
                                <m:t>𝒄</m:t>
                              </m:r>
                            </m:e>
                          </m:d>
                          <m:r>
                            <a:rPr lang="en-US" altLang="zh-CN" sz="2800" i="1">
                              <a:latin typeface="Cambria Math" panose="02040503050406030204" pitchFamily="18" charset="0"/>
                            </a:rPr>
                            <m:t>=</m:t>
                          </m:r>
                          <m:r>
                            <a:rPr lang="en-US" altLang="zh-CN" sz="2800" i="1">
                              <a:latin typeface="Cambria Math" panose="02040503050406030204" pitchFamily="18" charset="0"/>
                            </a:rPr>
                            <m:t>𝟎</m:t>
                          </m:r>
                        </m:e>
                      </m:eqArr>
                    </m:oMath>
                  </m:oMathPara>
                </a14:m>
                <a:endParaRPr lang="zh-CN" altLang="en-US" sz="2800" dirty="0"/>
              </a:p>
            </p:txBody>
          </p:sp>
        </mc:Choice>
        <mc:Fallback xmlns="">
          <p:sp>
            <p:nvSpPr>
              <p:cNvPr id="12" name="矩形 11">
                <a:extLst>
                  <a:ext uri="{FF2B5EF4-FFF2-40B4-BE49-F238E27FC236}">
                    <a16:creationId xmlns:a16="http://schemas.microsoft.com/office/drawing/2014/main" id="{AA2EBD7A-AB2D-4A01-8B6C-D73B8B2B206C}"/>
                  </a:ext>
                </a:extLst>
              </p:cNvPr>
              <p:cNvSpPr>
                <a:spLocks noRot="1" noChangeAspect="1" noMove="1" noResize="1" noEditPoints="1" noAdjustHandles="1" noChangeArrowheads="1" noChangeShapeType="1" noTextEdit="1"/>
              </p:cNvSpPr>
              <p:nvPr/>
            </p:nvSpPr>
            <p:spPr>
              <a:xfrm>
                <a:off x="5867400" y="4873952"/>
                <a:ext cx="2912720" cy="1076000"/>
              </a:xfrm>
              <a:prstGeom prst="rect">
                <a:avLst/>
              </a:prstGeom>
              <a:blipFill>
                <a:blip r:embed="rId5"/>
                <a:stretch>
                  <a:fillRect/>
                </a:stretch>
              </a:blipFill>
              <a:ln>
                <a:solidFill>
                  <a:schemeClr val="tx1"/>
                </a:solidFill>
              </a:ln>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29CB6859-E169-4E9A-989B-D5192752B051}"/>
              </a:ext>
            </a:extLst>
          </p:cNvPr>
          <p:cNvGrpSpPr/>
          <p:nvPr/>
        </p:nvGrpSpPr>
        <p:grpSpPr>
          <a:xfrm>
            <a:off x="152400" y="4870104"/>
            <a:ext cx="5516401" cy="1725534"/>
            <a:chOff x="152400" y="4870104"/>
            <a:chExt cx="5516401" cy="1725534"/>
          </a:xfrm>
        </p:grpSpPr>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F2097B9F-1144-495F-B69A-4797ECE2B241}"/>
                    </a:ext>
                  </a:extLst>
                </p:cNvPr>
                <p:cNvSpPr/>
                <p:nvPr/>
              </p:nvSpPr>
              <p:spPr>
                <a:xfrm>
                  <a:off x="152400" y="4870104"/>
                  <a:ext cx="4858959" cy="5309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mtClean="0">
                                <a:latin typeface="Cambria Math" panose="02040503050406030204" pitchFamily="18" charset="0"/>
                              </a:rPr>
                            </m:ctrlPr>
                          </m:sSupPr>
                          <m:e>
                            <m:r>
                              <a:rPr lang="en-US" altLang="zh-CN" sz="2800" b="1" i="1">
                                <a:latin typeface="Cambria Math" panose="02040503050406030204" pitchFamily="18" charset="0"/>
                              </a:rPr>
                              <m:t>𝒚</m:t>
                            </m:r>
                          </m:e>
                          <m:sup>
                            <m:r>
                              <a:rPr lang="en-US" altLang="zh-CN" sz="2800" b="1" i="1">
                                <a:latin typeface="Cambria Math" panose="02040503050406030204" pitchFamily="18" charset="0"/>
                              </a:rPr>
                              <m:t>𝑻</m:t>
                            </m:r>
                          </m:sup>
                        </m:sSup>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𝑨𝒙</m:t>
                            </m:r>
                            <m:r>
                              <a:rPr lang="en-US" altLang="zh-CN" sz="2800" b="1" i="1">
                                <a:latin typeface="Cambria Math" panose="02040503050406030204" pitchFamily="18" charset="0"/>
                              </a:rPr>
                              <m:t>−</m:t>
                            </m:r>
                            <m:r>
                              <a:rPr lang="en-US" altLang="zh-CN" sz="2800" b="1" i="1">
                                <a:latin typeface="Cambria Math" panose="02040503050406030204" pitchFamily="18" charset="0"/>
                              </a:rPr>
                              <m:t>𝒃</m:t>
                            </m:r>
                          </m:e>
                        </m:d>
                        <m:r>
                          <a:rPr lang="en-US" altLang="zh-CN" sz="2800" b="1" i="1">
                            <a:latin typeface="Cambria Math" panose="02040503050406030204" pitchFamily="18" charset="0"/>
                          </a:rPr>
                          <m:t>=</m:t>
                        </m:r>
                        <m:r>
                          <a:rPr lang="en-US" altLang="zh-CN" sz="2800" b="1" i="1">
                            <a:latin typeface="Cambria Math" panose="02040503050406030204" pitchFamily="18" charset="0"/>
                          </a:rPr>
                          <m:t>𝟎</m:t>
                        </m:r>
                        <m:r>
                          <a:rPr lang="en-US" altLang="zh-CN" sz="2800" b="1" i="1" smtClean="0">
                            <a:latin typeface="Cambria Math" panose="02040503050406030204" pitchFamily="18" charset="0"/>
                          </a:rPr>
                          <m:t>  </m:t>
                        </m:r>
                        <m:r>
                          <a:rPr lang="en-US" altLang="zh-CN" sz="2800" b="1" i="1" smtClean="0">
                            <a:latin typeface="Cambria Math" panose="02040503050406030204" pitchFamily="18" charset="0"/>
                          </a:rPr>
                          <m:t>𝒕𝒉𝒆𝒏</m:t>
                        </m:r>
                        <m:r>
                          <a:rPr lang="en-US" altLang="zh-CN" sz="2800" b="1" i="1" smtClean="0">
                            <a:latin typeface="Cambria Math" panose="02040503050406030204" pitchFamily="18" charset="0"/>
                          </a:rPr>
                          <m:t> </m:t>
                        </m:r>
                        <m:sSub>
                          <m:sSubPr>
                            <m:ctrlPr>
                              <a:rPr lang="en-US" altLang="zh-CN" sz="2800" b="1" i="1" smtClean="0">
                                <a:latin typeface="Cambria Math" panose="02040503050406030204" pitchFamily="18" charset="0"/>
                              </a:rPr>
                            </m:ctrlPr>
                          </m:sSubPr>
                          <m:e>
                            <m:r>
                              <a:rPr lang="en-US" altLang="zh-CN" sz="2800" b="1" i="1" smtClean="0">
                                <a:latin typeface="Cambria Math" panose="02040503050406030204" pitchFamily="18" charset="0"/>
                              </a:rPr>
                              <m:t>𝒚</m:t>
                            </m:r>
                          </m:e>
                          <m:sub>
                            <m:r>
                              <a:rPr lang="en-US" altLang="zh-CN" sz="2800" b="1" i="1" smtClean="0">
                                <a:latin typeface="Cambria Math" panose="02040503050406030204" pitchFamily="18" charset="0"/>
                              </a:rPr>
                              <m:t>𝟐</m:t>
                            </m:r>
                          </m:sub>
                        </m:sSub>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𝟎</m:t>
                        </m:r>
                      </m:oMath>
                    </m:oMathPara>
                  </a14:m>
                  <a:endParaRPr lang="zh-CN" altLang="en-US" sz="2800" dirty="0"/>
                </a:p>
              </p:txBody>
            </p:sp>
          </mc:Choice>
          <mc:Fallback xmlns="">
            <p:sp>
              <p:nvSpPr>
                <p:cNvPr id="13" name="矩形 12">
                  <a:extLst>
                    <a:ext uri="{FF2B5EF4-FFF2-40B4-BE49-F238E27FC236}">
                      <a16:creationId xmlns:a16="http://schemas.microsoft.com/office/drawing/2014/main" id="{F2097B9F-1144-495F-B69A-4797ECE2B241}"/>
                    </a:ext>
                  </a:extLst>
                </p:cNvPr>
                <p:cNvSpPr>
                  <a:spLocks noRot="1" noChangeAspect="1" noMove="1" noResize="1" noEditPoints="1" noAdjustHandles="1" noChangeArrowheads="1" noChangeShapeType="1" noTextEdit="1"/>
                </p:cNvSpPr>
                <p:nvPr/>
              </p:nvSpPr>
              <p:spPr>
                <a:xfrm>
                  <a:off x="152400" y="4870104"/>
                  <a:ext cx="4858959" cy="53091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C4134F3-1805-48CF-8CDD-820646965818}"/>
                    </a:ext>
                  </a:extLst>
                </p:cNvPr>
                <p:cNvSpPr/>
                <p:nvPr/>
              </p:nvSpPr>
              <p:spPr>
                <a:xfrm>
                  <a:off x="182401" y="5586066"/>
                  <a:ext cx="5486400" cy="1009572"/>
                </a:xfrm>
                <a:prstGeom prst="rect">
                  <a:avLst/>
                </a:prstGeom>
              </p:spPr>
              <p:txBody>
                <a:bodyPr wrap="square">
                  <a:spAutoFit/>
                </a:bodyPr>
                <a:lstStyle/>
                <a:p>
                  <a14:m>
                    <m:oMath xmlns:m="http://schemas.openxmlformats.org/officeDocument/2006/math">
                      <m:sSup>
                        <m:sSupPr>
                          <m:ctrlPr>
                            <a:rPr lang="en-US" altLang="zh-CN" sz="2800" i="1" smtClean="0">
                              <a:latin typeface="Cambria Math" panose="02040503050406030204" pitchFamily="18" charset="0"/>
                            </a:rPr>
                          </m:ctrlPr>
                        </m:sSupPr>
                        <m:e>
                          <m:r>
                            <a:rPr lang="en-US" altLang="zh-CN" sz="2800" b="1" i="1">
                              <a:latin typeface="Cambria Math" panose="02040503050406030204" pitchFamily="18" charset="0"/>
                            </a:rPr>
                            <m:t>𝒙</m:t>
                          </m:r>
                        </m:e>
                        <m:sup>
                          <m:r>
                            <a:rPr lang="en-US" altLang="zh-CN" sz="2800" i="1">
                              <a:latin typeface="Cambria Math" panose="02040503050406030204" pitchFamily="18" charset="0"/>
                            </a:rPr>
                            <m:t>𝑻</m:t>
                          </m:r>
                        </m:sup>
                      </m:sSup>
                      <m:d>
                        <m:dPr>
                          <m:ctrlPr>
                            <a:rPr lang="en-US" altLang="zh-CN" sz="2800" i="1">
                              <a:latin typeface="Cambria Math" panose="02040503050406030204" pitchFamily="18" charset="0"/>
                            </a:rPr>
                          </m:ctrlPr>
                        </m:dPr>
                        <m:e>
                          <m:sSup>
                            <m:sSupPr>
                              <m:ctrlPr>
                                <a:rPr lang="en-US" altLang="zh-CN" sz="2800" b="1" i="1">
                                  <a:latin typeface="Cambria Math" panose="02040503050406030204" pitchFamily="18" charset="0"/>
                                </a:rPr>
                              </m:ctrlPr>
                            </m:sSupPr>
                            <m:e>
                              <m:r>
                                <a:rPr lang="en-US" altLang="zh-CN" sz="2800" i="1">
                                  <a:latin typeface="Cambria Math" panose="02040503050406030204" pitchFamily="18" charset="0"/>
                                </a:rPr>
                                <m:t>𝑨</m:t>
                              </m:r>
                            </m:e>
                            <m:sup>
                              <m:r>
                                <a:rPr lang="en-US" altLang="zh-CN" sz="2800" b="1" i="1">
                                  <a:latin typeface="Cambria Math" panose="02040503050406030204" pitchFamily="18" charset="0"/>
                                </a:rPr>
                                <m:t>𝑻</m:t>
                              </m:r>
                            </m:sup>
                          </m:sSup>
                          <m:r>
                            <a:rPr lang="en-US" altLang="zh-CN" sz="2800" b="1" i="1">
                              <a:latin typeface="Cambria Math" panose="02040503050406030204" pitchFamily="18" charset="0"/>
                            </a:rPr>
                            <m:t>𝒚</m:t>
                          </m:r>
                          <m:r>
                            <a:rPr lang="en-US" altLang="zh-CN" sz="2800" i="1">
                              <a:latin typeface="Cambria Math" panose="02040503050406030204" pitchFamily="18" charset="0"/>
                            </a:rPr>
                            <m:t>−</m:t>
                          </m:r>
                          <m:r>
                            <a:rPr lang="en-US" altLang="zh-CN" sz="2800" b="1" i="1">
                              <a:latin typeface="Cambria Math" panose="02040503050406030204" pitchFamily="18" charset="0"/>
                            </a:rPr>
                            <m:t>𝒄</m:t>
                          </m:r>
                        </m:e>
                      </m:d>
                      <m:r>
                        <a:rPr lang="en-US" altLang="zh-CN" sz="2800" b="1" i="1" smtClean="0">
                          <a:latin typeface="Cambria Math" panose="02040503050406030204" pitchFamily="18" charset="0"/>
                        </a:rPr>
                        <m:t>=</m:t>
                      </m:r>
                      <m:r>
                        <a:rPr lang="en-US" altLang="zh-CN" sz="2800" b="1" i="1">
                          <a:latin typeface="Cambria Math" panose="02040503050406030204" pitchFamily="18" charset="0"/>
                        </a:rPr>
                        <m:t>𝟎</m:t>
                      </m:r>
                      <m:r>
                        <a:rPr lang="en-US" altLang="zh-CN" sz="2800" b="1" i="1" smtClean="0">
                          <a:latin typeface="Cambria Math" panose="02040503050406030204" pitchFamily="18" charset="0"/>
                        </a:rPr>
                        <m:t>  </m:t>
                      </m:r>
                      <m:r>
                        <a:rPr lang="zh-CN" altLang="en-US" sz="2800" b="1" i="1">
                          <a:latin typeface="Cambria Math" panose="02040503050406030204" pitchFamily="18" charset="0"/>
                        </a:rPr>
                        <m:t>对偶</m:t>
                      </m:r>
                    </m:oMath>
                  </a14:m>
                  <a:r>
                    <a:rPr lang="zh-CN" altLang="en-US" sz="2800" dirty="0"/>
                    <a:t>问题两个不等式要取等号</a:t>
                  </a:r>
                </a:p>
              </p:txBody>
            </p:sp>
          </mc:Choice>
          <mc:Fallback xmlns="">
            <p:sp>
              <p:nvSpPr>
                <p:cNvPr id="14" name="矩形 13">
                  <a:extLst>
                    <a:ext uri="{FF2B5EF4-FFF2-40B4-BE49-F238E27FC236}">
                      <a16:creationId xmlns:a16="http://schemas.microsoft.com/office/drawing/2014/main" id="{EC4134F3-1805-48CF-8CDD-820646965818}"/>
                    </a:ext>
                  </a:extLst>
                </p:cNvPr>
                <p:cNvSpPr>
                  <a:spLocks noRot="1" noChangeAspect="1" noMove="1" noResize="1" noEditPoints="1" noAdjustHandles="1" noChangeArrowheads="1" noChangeShapeType="1" noTextEdit="1"/>
                </p:cNvSpPr>
                <p:nvPr/>
              </p:nvSpPr>
              <p:spPr>
                <a:xfrm>
                  <a:off x="182401" y="5586066"/>
                  <a:ext cx="5486400" cy="1009572"/>
                </a:xfrm>
                <a:prstGeom prst="rect">
                  <a:avLst/>
                </a:prstGeom>
                <a:blipFill>
                  <a:blip r:embed="rId7"/>
                  <a:stretch>
                    <a:fillRect l="-2333" t="-6024" r="-1000" b="-13855"/>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2911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315" name="Picture 19" descr="图片2">
            <a:extLst>
              <a:ext uri="{FF2B5EF4-FFF2-40B4-BE49-F238E27FC236}">
                <a16:creationId xmlns:a16="http://schemas.microsoft.com/office/drawing/2014/main" id="{20D5A43C-3001-446F-B9CA-43238405D2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25" y="4125913"/>
            <a:ext cx="3522663" cy="189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16" name="Picture 20" descr="图片1">
            <a:extLst>
              <a:ext uri="{FF2B5EF4-FFF2-40B4-BE49-F238E27FC236}">
                <a16:creationId xmlns:a16="http://schemas.microsoft.com/office/drawing/2014/main" id="{46CF8AF1-8921-4BE8-9245-5491DB0035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25" y="4114800"/>
            <a:ext cx="344805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9">
            <a:extLst>
              <a:ext uri="{FF2B5EF4-FFF2-40B4-BE49-F238E27FC236}">
                <a16:creationId xmlns:a16="http://schemas.microsoft.com/office/drawing/2014/main" id="{903C44DA-3891-4AEF-BB00-37C1854052EC}"/>
              </a:ext>
            </a:extLst>
          </p:cNvPr>
          <p:cNvSpPr>
            <a:spLocks noChangeArrowheads="1"/>
          </p:cNvSpPr>
          <p:nvPr/>
        </p:nvSpPr>
        <p:spPr bwMode="auto">
          <a:xfrm>
            <a:off x="615950" y="444500"/>
            <a:ext cx="28590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800" b="1">
                <a:solidFill>
                  <a:srgbClr val="0000FF"/>
                </a:solidFill>
              </a:rPr>
              <a:t>“深度解剖”</a:t>
            </a:r>
            <a:endParaRPr lang="en-US" altLang="zh-CN" sz="2800" b="1">
              <a:solidFill>
                <a:srgbClr val="0000FF"/>
              </a:solidFill>
            </a:endParaRPr>
          </a:p>
        </p:txBody>
      </p:sp>
      <p:graphicFrame>
        <p:nvGraphicFramePr>
          <p:cNvPr id="54277" name="Object 6">
            <a:extLst>
              <a:ext uri="{FF2B5EF4-FFF2-40B4-BE49-F238E27FC236}">
                <a16:creationId xmlns:a16="http://schemas.microsoft.com/office/drawing/2014/main" id="{2C51843F-EA49-4B18-A5BD-2473C169DA41}"/>
              </a:ext>
            </a:extLst>
          </p:cNvPr>
          <p:cNvGraphicFramePr>
            <a:graphicFrameLocks noChangeAspect="1"/>
          </p:cNvGraphicFramePr>
          <p:nvPr/>
        </p:nvGraphicFramePr>
        <p:xfrm>
          <a:off x="914400" y="1219200"/>
          <a:ext cx="7634288" cy="912813"/>
        </p:xfrm>
        <a:graphic>
          <a:graphicData uri="http://schemas.openxmlformats.org/presentationml/2006/ole">
            <mc:AlternateContent xmlns:mc="http://schemas.openxmlformats.org/markup-compatibility/2006">
              <mc:Choice xmlns:v="urn:schemas-microsoft-com:vml" Requires="v">
                <p:oleObj spid="_x0000_s54421" name="Equation" r:id="rId6" imgW="3657600" imgH="482600" progId="Equation.DSMT4">
                  <p:embed/>
                </p:oleObj>
              </mc:Choice>
              <mc:Fallback>
                <p:oleObj name="Equation" r:id="rId6" imgW="3657600" imgH="4826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1219200"/>
                        <a:ext cx="7634288"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6">
            <a:extLst>
              <a:ext uri="{FF2B5EF4-FFF2-40B4-BE49-F238E27FC236}">
                <a16:creationId xmlns:a16="http://schemas.microsoft.com/office/drawing/2014/main" id="{C6779AC6-736D-4CEF-88C4-F3D32C3D2D87}"/>
              </a:ext>
            </a:extLst>
          </p:cNvPr>
          <p:cNvGraphicFramePr>
            <a:graphicFrameLocks noChangeAspect="1"/>
          </p:cNvGraphicFramePr>
          <p:nvPr/>
        </p:nvGraphicFramePr>
        <p:xfrm>
          <a:off x="811213" y="2101850"/>
          <a:ext cx="7951787" cy="842963"/>
        </p:xfrm>
        <a:graphic>
          <a:graphicData uri="http://schemas.openxmlformats.org/presentationml/2006/ole">
            <mc:AlternateContent xmlns:mc="http://schemas.openxmlformats.org/markup-compatibility/2006">
              <mc:Choice xmlns:v="urn:schemas-microsoft-com:vml" Requires="v">
                <p:oleObj spid="_x0000_s54422" name="Equation" r:id="rId8" imgW="3810000" imgH="444500" progId="Equation.DSMT4">
                  <p:embed/>
                </p:oleObj>
              </mc:Choice>
              <mc:Fallback>
                <p:oleObj name="Equation" r:id="rId8" imgW="3810000" imgH="4445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1213" y="2101850"/>
                        <a:ext cx="7951787" cy="842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6">
            <a:extLst>
              <a:ext uri="{FF2B5EF4-FFF2-40B4-BE49-F238E27FC236}">
                <a16:creationId xmlns:a16="http://schemas.microsoft.com/office/drawing/2014/main" id="{7718FADB-1902-4116-8656-CAB063142776}"/>
              </a:ext>
            </a:extLst>
          </p:cNvPr>
          <p:cNvGraphicFramePr>
            <a:graphicFrameLocks noChangeAspect="1"/>
          </p:cNvGraphicFramePr>
          <p:nvPr/>
        </p:nvGraphicFramePr>
        <p:xfrm>
          <a:off x="811213" y="2965450"/>
          <a:ext cx="7686675" cy="844550"/>
        </p:xfrm>
        <a:graphic>
          <a:graphicData uri="http://schemas.openxmlformats.org/presentationml/2006/ole">
            <mc:AlternateContent xmlns:mc="http://schemas.openxmlformats.org/markup-compatibility/2006">
              <mc:Choice xmlns:v="urn:schemas-microsoft-com:vml" Requires="v">
                <p:oleObj spid="_x0000_s54423" name="Equation" r:id="rId10" imgW="3683000" imgH="444500" progId="Equation.DSMT4">
                  <p:embed/>
                </p:oleObj>
              </mc:Choice>
              <mc:Fallback>
                <p:oleObj name="Equation" r:id="rId10" imgW="3683000" imgH="4445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1213" y="2965450"/>
                        <a:ext cx="7686675"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83315"/>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183316"/>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4" presetClass="entr" presetSubtype="1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randombar(horizontal)">
                                      <p:cBhvr>
                                        <p:cTn id="14" dur="500"/>
                                        <p:tgtEl>
                                          <p:spTgt spid="1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4" presetClass="entr" presetSubtype="1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randombar(horizontal)">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2" name="Object 6">
            <a:extLst>
              <a:ext uri="{FF2B5EF4-FFF2-40B4-BE49-F238E27FC236}">
                <a16:creationId xmlns:a16="http://schemas.microsoft.com/office/drawing/2014/main" id="{C3FB6B57-76A2-4827-876F-FFB5B9036000}"/>
              </a:ext>
            </a:extLst>
          </p:cNvPr>
          <p:cNvGraphicFramePr>
            <a:graphicFrameLocks noChangeAspect="1"/>
          </p:cNvGraphicFramePr>
          <p:nvPr/>
        </p:nvGraphicFramePr>
        <p:xfrm>
          <a:off x="815975" y="2792413"/>
          <a:ext cx="7686675" cy="844550"/>
        </p:xfrm>
        <a:graphic>
          <a:graphicData uri="http://schemas.openxmlformats.org/presentationml/2006/ole">
            <mc:AlternateContent xmlns:mc="http://schemas.openxmlformats.org/markup-compatibility/2006">
              <mc:Choice xmlns:v="urn:schemas-microsoft-com:vml" Requires="v">
                <p:oleObj spid="_x0000_s56809" name="Equation" r:id="rId4" imgW="3683000" imgH="444500" progId="Equation.DSMT4">
                  <p:embed/>
                </p:oleObj>
              </mc:Choice>
              <mc:Fallback>
                <p:oleObj name="Equation" r:id="rId4" imgW="3683000" imgH="4445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975" y="2792413"/>
                        <a:ext cx="7686675"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3" name="Object 6">
            <a:extLst>
              <a:ext uri="{FF2B5EF4-FFF2-40B4-BE49-F238E27FC236}">
                <a16:creationId xmlns:a16="http://schemas.microsoft.com/office/drawing/2014/main" id="{59FA7014-6678-4ADD-A012-206CCA7E9A7E}"/>
              </a:ext>
            </a:extLst>
          </p:cNvPr>
          <p:cNvGraphicFramePr>
            <a:graphicFrameLocks noChangeAspect="1"/>
          </p:cNvGraphicFramePr>
          <p:nvPr/>
        </p:nvGraphicFramePr>
        <p:xfrm>
          <a:off x="782638" y="2093913"/>
          <a:ext cx="7951787" cy="842962"/>
        </p:xfrm>
        <a:graphic>
          <a:graphicData uri="http://schemas.openxmlformats.org/presentationml/2006/ole">
            <mc:AlternateContent xmlns:mc="http://schemas.openxmlformats.org/markup-compatibility/2006">
              <mc:Choice xmlns:v="urn:schemas-microsoft-com:vml" Requires="v">
                <p:oleObj spid="_x0000_s56810" name="Equation" r:id="rId6" imgW="3810000" imgH="444500" progId="Equation.DSMT4">
                  <p:embed/>
                </p:oleObj>
              </mc:Choice>
              <mc:Fallback>
                <p:oleObj name="Equation" r:id="rId6" imgW="3810000" imgH="4445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638" y="2093913"/>
                        <a:ext cx="7951787" cy="84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4" name="Object 6">
            <a:extLst>
              <a:ext uri="{FF2B5EF4-FFF2-40B4-BE49-F238E27FC236}">
                <a16:creationId xmlns:a16="http://schemas.microsoft.com/office/drawing/2014/main" id="{255A0719-6EE5-435F-B400-9B3486EB6D8B}"/>
              </a:ext>
            </a:extLst>
          </p:cNvPr>
          <p:cNvGraphicFramePr>
            <a:graphicFrameLocks noChangeAspect="1"/>
          </p:cNvGraphicFramePr>
          <p:nvPr/>
        </p:nvGraphicFramePr>
        <p:xfrm>
          <a:off x="868363" y="1263650"/>
          <a:ext cx="7634287" cy="912813"/>
        </p:xfrm>
        <a:graphic>
          <a:graphicData uri="http://schemas.openxmlformats.org/presentationml/2006/ole">
            <mc:AlternateContent xmlns:mc="http://schemas.openxmlformats.org/markup-compatibility/2006">
              <mc:Choice xmlns:v="urn:schemas-microsoft-com:vml" Requires="v">
                <p:oleObj spid="_x0000_s56811" name="Equation" r:id="rId8" imgW="3657600" imgH="482600" progId="Equation.DSMT4">
                  <p:embed/>
                </p:oleObj>
              </mc:Choice>
              <mc:Fallback>
                <p:oleObj name="Equation" r:id="rId8" imgW="3657600" imgH="4826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8363" y="1263650"/>
                        <a:ext cx="7634287"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5" name="文本框 1">
            <a:extLst>
              <a:ext uri="{FF2B5EF4-FFF2-40B4-BE49-F238E27FC236}">
                <a16:creationId xmlns:a16="http://schemas.microsoft.com/office/drawing/2014/main" id="{5CB17C64-F37D-4303-B4C6-9ED9703505FF}"/>
              </a:ext>
            </a:extLst>
          </p:cNvPr>
          <p:cNvSpPr txBox="1">
            <a:spLocks noChangeArrowheads="1"/>
          </p:cNvSpPr>
          <p:nvPr/>
        </p:nvSpPr>
        <p:spPr bwMode="auto">
          <a:xfrm>
            <a:off x="457200" y="3754438"/>
            <a:ext cx="8686800" cy="26987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nvGrpSpPr>
          <p:cNvPr id="3" name="Group 35">
            <a:extLst>
              <a:ext uri="{FF2B5EF4-FFF2-40B4-BE49-F238E27FC236}">
                <a16:creationId xmlns:a16="http://schemas.microsoft.com/office/drawing/2014/main" id="{8AE22DCE-807F-4014-BE5F-52AD668FD94F}"/>
              </a:ext>
            </a:extLst>
          </p:cNvPr>
          <p:cNvGrpSpPr>
            <a:grpSpLocks/>
          </p:cNvGrpSpPr>
          <p:nvPr/>
        </p:nvGrpSpPr>
        <p:grpSpPr bwMode="auto">
          <a:xfrm>
            <a:off x="820738" y="1390650"/>
            <a:ext cx="7624762" cy="1905000"/>
            <a:chOff x="526" y="119"/>
            <a:chExt cx="4803" cy="1200"/>
          </a:xfrm>
        </p:grpSpPr>
        <p:pic>
          <p:nvPicPr>
            <p:cNvPr id="56337" name="Picture 10" descr="图片2">
              <a:extLst>
                <a:ext uri="{FF2B5EF4-FFF2-40B4-BE49-F238E27FC236}">
                  <a16:creationId xmlns:a16="http://schemas.microsoft.com/office/drawing/2014/main" id="{5C9BEF45-A39F-49DD-A8CC-CE48BE2DA2C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0" y="126"/>
              <a:ext cx="2219" cy="1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8" name="Picture 11" descr="图片1">
              <a:extLst>
                <a:ext uri="{FF2B5EF4-FFF2-40B4-BE49-F238E27FC236}">
                  <a16:creationId xmlns:a16="http://schemas.microsoft.com/office/drawing/2014/main" id="{7D684AE1-6C7E-4859-9E79-8174034E437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6" y="119"/>
              <a:ext cx="2172"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205841" name="Object 4">
            <a:extLst>
              <a:ext uri="{FF2B5EF4-FFF2-40B4-BE49-F238E27FC236}">
                <a16:creationId xmlns:a16="http://schemas.microsoft.com/office/drawing/2014/main" id="{AC16E287-8DD6-48F7-9487-880597AB0A8E}"/>
              </a:ext>
            </a:extLst>
          </p:cNvPr>
          <p:cNvGraphicFramePr>
            <a:graphicFrameLocks noChangeAspect="1"/>
          </p:cNvGraphicFramePr>
          <p:nvPr/>
        </p:nvGraphicFramePr>
        <p:xfrm>
          <a:off x="1268413" y="3860800"/>
          <a:ext cx="3587750" cy="889000"/>
        </p:xfrm>
        <a:graphic>
          <a:graphicData uri="http://schemas.openxmlformats.org/presentationml/2006/ole">
            <mc:AlternateContent xmlns:mc="http://schemas.openxmlformats.org/markup-compatibility/2006">
              <mc:Choice xmlns:v="urn:schemas-microsoft-com:vml" Requires="v">
                <p:oleObj spid="_x0000_s56812" name="Equation" r:id="rId12" imgW="1624895" imgH="444307" progId="Equation.DSMT4">
                  <p:embed/>
                </p:oleObj>
              </mc:Choice>
              <mc:Fallback>
                <p:oleObj name="Equation" r:id="rId12" imgW="1624895" imgH="444307" progId="Equation.DSMT4">
                  <p:embed/>
                  <p:pic>
                    <p:nvPicPr>
                      <p:cNvPr id="0" name="Object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68413" y="3860800"/>
                        <a:ext cx="358775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46" name="Object 5">
            <a:extLst>
              <a:ext uri="{FF2B5EF4-FFF2-40B4-BE49-F238E27FC236}">
                <a16:creationId xmlns:a16="http://schemas.microsoft.com/office/drawing/2014/main" id="{8C95E649-0843-438F-8ED6-9AB252B979D4}"/>
              </a:ext>
            </a:extLst>
          </p:cNvPr>
          <p:cNvGraphicFramePr>
            <a:graphicFrameLocks noChangeAspect="1"/>
          </p:cNvGraphicFramePr>
          <p:nvPr/>
        </p:nvGraphicFramePr>
        <p:xfrm>
          <a:off x="1284288" y="4700588"/>
          <a:ext cx="3506787" cy="889000"/>
        </p:xfrm>
        <a:graphic>
          <a:graphicData uri="http://schemas.openxmlformats.org/presentationml/2006/ole">
            <mc:AlternateContent xmlns:mc="http://schemas.openxmlformats.org/markup-compatibility/2006">
              <mc:Choice xmlns:v="urn:schemas-microsoft-com:vml" Requires="v">
                <p:oleObj spid="_x0000_s56813" name="Equation" r:id="rId14" imgW="1586811" imgH="444307" progId="Equation.DSMT4">
                  <p:embed/>
                </p:oleObj>
              </mc:Choice>
              <mc:Fallback>
                <p:oleObj name="Equation" r:id="rId14" imgW="1586811" imgH="444307" progId="Equation.DSMT4">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84288" y="4700588"/>
                        <a:ext cx="3506787"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49" name="Object 6">
            <a:extLst>
              <a:ext uri="{FF2B5EF4-FFF2-40B4-BE49-F238E27FC236}">
                <a16:creationId xmlns:a16="http://schemas.microsoft.com/office/drawing/2014/main" id="{3F8046BC-56EA-4C8C-8CF8-ED54002B2D91}"/>
              </a:ext>
            </a:extLst>
          </p:cNvPr>
          <p:cNvGraphicFramePr>
            <a:graphicFrameLocks noChangeAspect="1"/>
          </p:cNvGraphicFramePr>
          <p:nvPr/>
        </p:nvGraphicFramePr>
        <p:xfrm>
          <a:off x="1320800" y="5564188"/>
          <a:ext cx="2466975" cy="889000"/>
        </p:xfrm>
        <a:graphic>
          <a:graphicData uri="http://schemas.openxmlformats.org/presentationml/2006/ole">
            <mc:AlternateContent xmlns:mc="http://schemas.openxmlformats.org/markup-compatibility/2006">
              <mc:Choice xmlns:v="urn:schemas-microsoft-com:vml" Requires="v">
                <p:oleObj spid="_x0000_s56814" name="Equation" r:id="rId16" imgW="1117115" imgH="444307" progId="Equation.DSMT4">
                  <p:embed/>
                </p:oleObj>
              </mc:Choice>
              <mc:Fallback>
                <p:oleObj name="Equation" r:id="rId16" imgW="1117115" imgH="444307" progId="Equation.DSMT4">
                  <p:embed/>
                  <p:pic>
                    <p:nvPicPr>
                      <p:cNvPr id="0" name="Object 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20800" y="5564188"/>
                        <a:ext cx="246697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51" name="AutoShape 27">
            <a:extLst>
              <a:ext uri="{FF2B5EF4-FFF2-40B4-BE49-F238E27FC236}">
                <a16:creationId xmlns:a16="http://schemas.microsoft.com/office/drawing/2014/main" id="{97E8F1C2-B3EB-4419-9CC9-62171D3F8EB2}"/>
              </a:ext>
            </a:extLst>
          </p:cNvPr>
          <p:cNvSpPr>
            <a:spLocks/>
          </p:cNvSpPr>
          <p:nvPr/>
        </p:nvSpPr>
        <p:spPr bwMode="auto">
          <a:xfrm>
            <a:off x="4795838" y="4005263"/>
            <a:ext cx="349250" cy="2376487"/>
          </a:xfrm>
          <a:prstGeom prst="rightBrace">
            <a:avLst>
              <a:gd name="adj1" fmla="val 56705"/>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05852" name="Object 7">
            <a:extLst>
              <a:ext uri="{FF2B5EF4-FFF2-40B4-BE49-F238E27FC236}">
                <a16:creationId xmlns:a16="http://schemas.microsoft.com/office/drawing/2014/main" id="{BB2EA3D5-9A4E-4A3E-9D60-9CF5D3018850}"/>
              </a:ext>
            </a:extLst>
          </p:cNvPr>
          <p:cNvGraphicFramePr>
            <a:graphicFrameLocks noChangeAspect="1"/>
          </p:cNvGraphicFramePr>
          <p:nvPr/>
        </p:nvGraphicFramePr>
        <p:xfrm>
          <a:off x="5227638" y="4746625"/>
          <a:ext cx="3506787" cy="889000"/>
        </p:xfrm>
        <a:graphic>
          <a:graphicData uri="http://schemas.openxmlformats.org/presentationml/2006/ole">
            <mc:AlternateContent xmlns:mc="http://schemas.openxmlformats.org/markup-compatibility/2006">
              <mc:Choice xmlns:v="urn:schemas-microsoft-com:vml" Requires="v">
                <p:oleObj spid="_x0000_s56815" name="Equation" r:id="rId18" imgW="1586811" imgH="444307" progId="Equation.DSMT4">
                  <p:embed/>
                </p:oleObj>
              </mc:Choice>
              <mc:Fallback>
                <p:oleObj name="Equation" r:id="rId18" imgW="1586811" imgH="444307" progId="Equation.DSMT4">
                  <p:embed/>
                  <p:pic>
                    <p:nvPicPr>
                      <p:cNvPr id="0" name="Object 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27638" y="4746625"/>
                        <a:ext cx="3506787"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53" name="Object 8">
            <a:extLst>
              <a:ext uri="{FF2B5EF4-FFF2-40B4-BE49-F238E27FC236}">
                <a16:creationId xmlns:a16="http://schemas.microsoft.com/office/drawing/2014/main" id="{4013D0B3-373D-4160-A897-CD36334C06B5}"/>
              </a:ext>
            </a:extLst>
          </p:cNvPr>
          <p:cNvGraphicFramePr>
            <a:graphicFrameLocks noChangeAspect="1"/>
          </p:cNvGraphicFramePr>
          <p:nvPr/>
        </p:nvGraphicFramePr>
        <p:xfrm>
          <a:off x="5237163" y="4746625"/>
          <a:ext cx="3871912" cy="889000"/>
        </p:xfrm>
        <a:graphic>
          <a:graphicData uri="http://schemas.openxmlformats.org/presentationml/2006/ole">
            <mc:AlternateContent xmlns:mc="http://schemas.openxmlformats.org/markup-compatibility/2006">
              <mc:Choice xmlns:v="urn:schemas-microsoft-com:vml" Requires="v">
                <p:oleObj spid="_x0000_s56816" name="Equation" r:id="rId20" imgW="1752600" imgH="444500" progId="Equation.DSMT4">
                  <p:embed/>
                </p:oleObj>
              </mc:Choice>
              <mc:Fallback>
                <p:oleObj name="Equation" r:id="rId20" imgW="1752600" imgH="444500" progId="Equation.DSMT4">
                  <p:embed/>
                  <p:pic>
                    <p:nvPicPr>
                      <p:cNvPr id="0" name="Object 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37163" y="4746625"/>
                        <a:ext cx="3871912" cy="8890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55" name="Rectangle 31">
            <a:extLst>
              <a:ext uri="{FF2B5EF4-FFF2-40B4-BE49-F238E27FC236}">
                <a16:creationId xmlns:a16="http://schemas.microsoft.com/office/drawing/2014/main" id="{AB23F305-567A-4927-8BD4-2CA984EB7DA1}"/>
              </a:ext>
            </a:extLst>
          </p:cNvPr>
          <p:cNvSpPr>
            <a:spLocks noChangeArrowheads="1"/>
          </p:cNvSpPr>
          <p:nvPr/>
        </p:nvSpPr>
        <p:spPr bwMode="auto">
          <a:xfrm>
            <a:off x="5803900" y="4724400"/>
            <a:ext cx="1584325" cy="865188"/>
          </a:xfrm>
          <a:prstGeom prst="rect">
            <a:avLst/>
          </a:prstGeom>
          <a:noFill/>
          <a:ln w="222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5856" name="Rectangle 32">
            <a:extLst>
              <a:ext uri="{FF2B5EF4-FFF2-40B4-BE49-F238E27FC236}">
                <a16:creationId xmlns:a16="http://schemas.microsoft.com/office/drawing/2014/main" id="{2C3B9F49-2750-4034-9EB5-B5D0A659122D}"/>
              </a:ext>
            </a:extLst>
          </p:cNvPr>
          <p:cNvSpPr>
            <a:spLocks noChangeArrowheads="1"/>
          </p:cNvSpPr>
          <p:nvPr/>
        </p:nvSpPr>
        <p:spPr bwMode="auto">
          <a:xfrm>
            <a:off x="7524750" y="4894263"/>
            <a:ext cx="360363" cy="576262"/>
          </a:xfrm>
          <a:prstGeom prst="rect">
            <a:avLst/>
          </a:prstGeom>
          <a:noFill/>
          <a:ln w="25400" algn="ctr">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05857" name="Object 9">
            <a:extLst>
              <a:ext uri="{FF2B5EF4-FFF2-40B4-BE49-F238E27FC236}">
                <a16:creationId xmlns:a16="http://schemas.microsoft.com/office/drawing/2014/main" id="{ECEA1852-BF17-4D3B-9BC8-DC8AD7B116D9}"/>
              </a:ext>
            </a:extLst>
          </p:cNvPr>
          <p:cNvGraphicFramePr>
            <a:graphicFrameLocks noChangeAspect="1"/>
          </p:cNvGraphicFramePr>
          <p:nvPr/>
        </p:nvGraphicFramePr>
        <p:xfrm>
          <a:off x="6389688" y="5589588"/>
          <a:ext cx="349250" cy="381000"/>
        </p:xfrm>
        <a:graphic>
          <a:graphicData uri="http://schemas.openxmlformats.org/presentationml/2006/ole">
            <mc:AlternateContent xmlns:mc="http://schemas.openxmlformats.org/markup-compatibility/2006">
              <mc:Choice xmlns:v="urn:schemas-microsoft-com:vml" Requires="v">
                <p:oleObj spid="_x0000_s56817" name="Equation" r:id="rId22" imgW="126835" imgH="152202" progId="Equation.DSMT4">
                  <p:embed/>
                </p:oleObj>
              </mc:Choice>
              <mc:Fallback>
                <p:oleObj name="Equation" r:id="rId22" imgW="126835" imgH="152202" progId="Equation.DSMT4">
                  <p:embed/>
                  <p:pic>
                    <p:nvPicPr>
                      <p:cNvPr id="0" name="Object 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389688" y="5589588"/>
                        <a:ext cx="3492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858" name="Object 10">
            <a:extLst>
              <a:ext uri="{FF2B5EF4-FFF2-40B4-BE49-F238E27FC236}">
                <a16:creationId xmlns:a16="http://schemas.microsoft.com/office/drawing/2014/main" id="{1AD24524-29DF-48A9-A148-761F0FCD0E9B}"/>
              </a:ext>
            </a:extLst>
          </p:cNvPr>
          <p:cNvGraphicFramePr>
            <a:graphicFrameLocks noChangeAspect="1"/>
          </p:cNvGraphicFramePr>
          <p:nvPr/>
        </p:nvGraphicFramePr>
        <p:xfrm>
          <a:off x="7564438" y="5516563"/>
          <a:ext cx="349250" cy="381000"/>
        </p:xfrm>
        <a:graphic>
          <a:graphicData uri="http://schemas.openxmlformats.org/presentationml/2006/ole">
            <mc:AlternateContent xmlns:mc="http://schemas.openxmlformats.org/markup-compatibility/2006">
              <mc:Choice xmlns:v="urn:schemas-microsoft-com:vml" Requires="v">
                <p:oleObj spid="_x0000_s56818" name="Equation" r:id="rId24" imgW="126835" imgH="152202" progId="Equation.DSMT4">
                  <p:embed/>
                </p:oleObj>
              </mc:Choice>
              <mc:Fallback>
                <p:oleObj name="Equation" r:id="rId24" imgW="126835" imgH="152202" progId="Equation.DSMT4">
                  <p:embed/>
                  <p:pic>
                    <p:nvPicPr>
                      <p:cNvPr id="0" name="Object 1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564438" y="5516563"/>
                        <a:ext cx="3492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05841"/>
                                        </p:tgtEl>
                                        <p:attrNameLst>
                                          <p:attrName>style.visibility</p:attrName>
                                        </p:attrNameLst>
                                      </p:cBhvr>
                                      <p:to>
                                        <p:strVal val="visible"/>
                                      </p:to>
                                    </p:set>
                                    <p:animEffect transition="in" filter="wipe(left)">
                                      <p:cBhvr>
                                        <p:cTn id="13" dur="500"/>
                                        <p:tgtEl>
                                          <p:spTgt spid="20584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05846"/>
                                        </p:tgtEl>
                                        <p:attrNameLst>
                                          <p:attrName>style.visibility</p:attrName>
                                        </p:attrNameLst>
                                      </p:cBhvr>
                                      <p:to>
                                        <p:strVal val="visible"/>
                                      </p:to>
                                    </p:set>
                                    <p:animEffect transition="in" filter="wipe(left)">
                                      <p:cBhvr>
                                        <p:cTn id="18" dur="500"/>
                                        <p:tgtEl>
                                          <p:spTgt spid="20584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05849"/>
                                        </p:tgtEl>
                                        <p:attrNameLst>
                                          <p:attrName>style.visibility</p:attrName>
                                        </p:attrNameLst>
                                      </p:cBhvr>
                                      <p:to>
                                        <p:strVal val="visible"/>
                                      </p:to>
                                    </p:set>
                                    <p:animEffect transition="in" filter="wipe(left)">
                                      <p:cBhvr>
                                        <p:cTn id="23" dur="500"/>
                                        <p:tgtEl>
                                          <p:spTgt spid="20584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05851"/>
                                        </p:tgtEl>
                                        <p:attrNameLst>
                                          <p:attrName>style.visibility</p:attrName>
                                        </p:attrNameLst>
                                      </p:cBhvr>
                                      <p:to>
                                        <p:strVal val="visible"/>
                                      </p:to>
                                    </p:set>
                                    <p:animEffect transition="in" filter="wipe(left)">
                                      <p:cBhvr>
                                        <p:cTn id="28" dur="500"/>
                                        <p:tgtEl>
                                          <p:spTgt spid="20585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205852"/>
                                        </p:tgtEl>
                                        <p:attrNameLst>
                                          <p:attrName>style.visibility</p:attrName>
                                        </p:attrNameLst>
                                      </p:cBhvr>
                                      <p:to>
                                        <p:strVal val="visible"/>
                                      </p:to>
                                    </p:set>
                                    <p:animEffect transition="in" filter="wipe(left)">
                                      <p:cBhvr>
                                        <p:cTn id="33" dur="500"/>
                                        <p:tgtEl>
                                          <p:spTgt spid="20585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05853"/>
                                        </p:tgtEl>
                                        <p:attrNameLst>
                                          <p:attrName>style.visibility</p:attrName>
                                        </p:attrNameLst>
                                      </p:cBhvr>
                                      <p:to>
                                        <p:strVal val="visible"/>
                                      </p:to>
                                    </p:set>
                                    <p:animEffect transition="in" filter="wipe(left)">
                                      <p:cBhvr>
                                        <p:cTn id="38" dur="500"/>
                                        <p:tgtEl>
                                          <p:spTgt spid="20585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5855"/>
                                        </p:tgtEl>
                                        <p:attrNameLst>
                                          <p:attrName>style.visibility</p:attrName>
                                        </p:attrNameLst>
                                      </p:cBhvr>
                                      <p:to>
                                        <p:strVal val="visible"/>
                                      </p:to>
                                    </p:set>
                                  </p:childTnLst>
                                </p:cTn>
                              </p:par>
                            </p:childTnLst>
                          </p:cTn>
                        </p:par>
                        <p:par>
                          <p:cTn id="43" fill="hold" nodeType="afterGroup">
                            <p:stCondLst>
                              <p:cond delay="0"/>
                            </p:stCondLst>
                            <p:childTnLst>
                              <p:par>
                                <p:cTn id="44" presetID="15" presetClass="entr" presetSubtype="0" fill="hold" nodeType="afterEffect">
                                  <p:stCondLst>
                                    <p:cond delay="0"/>
                                  </p:stCondLst>
                                  <p:childTnLst>
                                    <p:set>
                                      <p:cBhvr>
                                        <p:cTn id="45" dur="1" fill="hold">
                                          <p:stCondLst>
                                            <p:cond delay="0"/>
                                          </p:stCondLst>
                                        </p:cTn>
                                        <p:tgtEl>
                                          <p:spTgt spid="205857"/>
                                        </p:tgtEl>
                                        <p:attrNameLst>
                                          <p:attrName>style.visibility</p:attrName>
                                        </p:attrNameLst>
                                      </p:cBhvr>
                                      <p:to>
                                        <p:strVal val="visible"/>
                                      </p:to>
                                    </p:set>
                                    <p:anim calcmode="lin" valueType="num">
                                      <p:cBhvr>
                                        <p:cTn id="46" dur="1000" fill="hold"/>
                                        <p:tgtEl>
                                          <p:spTgt spid="205857"/>
                                        </p:tgtEl>
                                        <p:attrNameLst>
                                          <p:attrName>ppt_w</p:attrName>
                                        </p:attrNameLst>
                                      </p:cBhvr>
                                      <p:tavLst>
                                        <p:tav tm="0">
                                          <p:val>
                                            <p:fltVal val="0"/>
                                          </p:val>
                                        </p:tav>
                                        <p:tav tm="100000">
                                          <p:val>
                                            <p:strVal val="#ppt_w"/>
                                          </p:val>
                                        </p:tav>
                                      </p:tavLst>
                                    </p:anim>
                                    <p:anim calcmode="lin" valueType="num">
                                      <p:cBhvr>
                                        <p:cTn id="47" dur="1000" fill="hold"/>
                                        <p:tgtEl>
                                          <p:spTgt spid="205857"/>
                                        </p:tgtEl>
                                        <p:attrNameLst>
                                          <p:attrName>ppt_h</p:attrName>
                                        </p:attrNameLst>
                                      </p:cBhvr>
                                      <p:tavLst>
                                        <p:tav tm="0">
                                          <p:val>
                                            <p:fltVal val="0"/>
                                          </p:val>
                                        </p:tav>
                                        <p:tav tm="100000">
                                          <p:val>
                                            <p:strVal val="#ppt_h"/>
                                          </p:val>
                                        </p:tav>
                                      </p:tavLst>
                                    </p:anim>
                                    <p:anim calcmode="lin" valueType="num">
                                      <p:cBhvr>
                                        <p:cTn id="48" dur="1000" fill="hold"/>
                                        <p:tgtEl>
                                          <p:spTgt spid="205857"/>
                                        </p:tgtEl>
                                        <p:attrNameLst>
                                          <p:attrName>ppt_x</p:attrName>
                                        </p:attrNameLst>
                                      </p:cBhvr>
                                      <p:tavLst>
                                        <p:tav tm="0" fmla="#ppt_x+(cos(-2*pi*(1-$))*-#ppt_x-sin(-2*pi*(1-$))*(1-#ppt_y))*(1-$)">
                                          <p:val>
                                            <p:fltVal val="0"/>
                                          </p:val>
                                        </p:tav>
                                        <p:tav tm="100000">
                                          <p:val>
                                            <p:fltVal val="1"/>
                                          </p:val>
                                        </p:tav>
                                      </p:tavLst>
                                    </p:anim>
                                    <p:anim calcmode="lin" valueType="num">
                                      <p:cBhvr>
                                        <p:cTn id="49" dur="1000" fill="hold"/>
                                        <p:tgtEl>
                                          <p:spTgt spid="20585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05856"/>
                                        </p:tgtEl>
                                        <p:attrNameLst>
                                          <p:attrName>style.visibility</p:attrName>
                                        </p:attrNameLst>
                                      </p:cBhvr>
                                      <p:to>
                                        <p:strVal val="visible"/>
                                      </p:to>
                                    </p:set>
                                  </p:childTnLst>
                                </p:cTn>
                              </p:par>
                            </p:childTnLst>
                          </p:cTn>
                        </p:par>
                        <p:par>
                          <p:cTn id="54" fill="hold" nodeType="afterGroup">
                            <p:stCondLst>
                              <p:cond delay="0"/>
                            </p:stCondLst>
                            <p:childTnLst>
                              <p:par>
                                <p:cTn id="55" presetID="15" presetClass="entr" presetSubtype="0" fill="hold" nodeType="afterEffect">
                                  <p:stCondLst>
                                    <p:cond delay="0"/>
                                  </p:stCondLst>
                                  <p:childTnLst>
                                    <p:set>
                                      <p:cBhvr>
                                        <p:cTn id="56" dur="1" fill="hold">
                                          <p:stCondLst>
                                            <p:cond delay="0"/>
                                          </p:stCondLst>
                                        </p:cTn>
                                        <p:tgtEl>
                                          <p:spTgt spid="205858"/>
                                        </p:tgtEl>
                                        <p:attrNameLst>
                                          <p:attrName>style.visibility</p:attrName>
                                        </p:attrNameLst>
                                      </p:cBhvr>
                                      <p:to>
                                        <p:strVal val="visible"/>
                                      </p:to>
                                    </p:set>
                                    <p:anim calcmode="lin" valueType="num">
                                      <p:cBhvr>
                                        <p:cTn id="57" dur="1000" fill="hold"/>
                                        <p:tgtEl>
                                          <p:spTgt spid="205858"/>
                                        </p:tgtEl>
                                        <p:attrNameLst>
                                          <p:attrName>ppt_w</p:attrName>
                                        </p:attrNameLst>
                                      </p:cBhvr>
                                      <p:tavLst>
                                        <p:tav tm="0">
                                          <p:val>
                                            <p:fltVal val="0"/>
                                          </p:val>
                                        </p:tav>
                                        <p:tav tm="100000">
                                          <p:val>
                                            <p:strVal val="#ppt_w"/>
                                          </p:val>
                                        </p:tav>
                                      </p:tavLst>
                                    </p:anim>
                                    <p:anim calcmode="lin" valueType="num">
                                      <p:cBhvr>
                                        <p:cTn id="58" dur="1000" fill="hold"/>
                                        <p:tgtEl>
                                          <p:spTgt spid="205858"/>
                                        </p:tgtEl>
                                        <p:attrNameLst>
                                          <p:attrName>ppt_h</p:attrName>
                                        </p:attrNameLst>
                                      </p:cBhvr>
                                      <p:tavLst>
                                        <p:tav tm="0">
                                          <p:val>
                                            <p:fltVal val="0"/>
                                          </p:val>
                                        </p:tav>
                                        <p:tav tm="100000">
                                          <p:val>
                                            <p:strVal val="#ppt_h"/>
                                          </p:val>
                                        </p:tav>
                                      </p:tavLst>
                                    </p:anim>
                                    <p:anim calcmode="lin" valueType="num">
                                      <p:cBhvr>
                                        <p:cTn id="59" dur="1000" fill="hold"/>
                                        <p:tgtEl>
                                          <p:spTgt spid="205858"/>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20585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51" grpId="0" animBg="1"/>
      <p:bldP spid="205855" grpId="0" animBg="1"/>
      <p:bldP spid="20585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951" name="Rectangle 55">
            <a:extLst>
              <a:ext uri="{FF2B5EF4-FFF2-40B4-BE49-F238E27FC236}">
                <a16:creationId xmlns:a16="http://schemas.microsoft.com/office/drawing/2014/main" id="{4FA2726B-FBAA-4247-B9EE-0084112B7F57}"/>
              </a:ext>
            </a:extLst>
          </p:cNvPr>
          <p:cNvSpPr>
            <a:spLocks noChangeArrowheads="1"/>
          </p:cNvSpPr>
          <p:nvPr/>
        </p:nvSpPr>
        <p:spPr bwMode="auto">
          <a:xfrm>
            <a:off x="827088" y="3716338"/>
            <a:ext cx="7777162" cy="1944687"/>
          </a:xfrm>
          <a:prstGeom prst="rect">
            <a:avLst/>
          </a:prstGeom>
          <a:solidFill>
            <a:srgbClr val="99CC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8371" name="Object 6">
            <a:extLst>
              <a:ext uri="{FF2B5EF4-FFF2-40B4-BE49-F238E27FC236}">
                <a16:creationId xmlns:a16="http://schemas.microsoft.com/office/drawing/2014/main" id="{4EE91E2E-09F6-474B-9DBD-783D6E1A7515}"/>
              </a:ext>
            </a:extLst>
          </p:cNvPr>
          <p:cNvGraphicFramePr>
            <a:graphicFrameLocks noChangeAspect="1"/>
          </p:cNvGraphicFramePr>
          <p:nvPr/>
        </p:nvGraphicFramePr>
        <p:xfrm>
          <a:off x="917575" y="2747963"/>
          <a:ext cx="7686675" cy="844550"/>
        </p:xfrm>
        <a:graphic>
          <a:graphicData uri="http://schemas.openxmlformats.org/presentationml/2006/ole">
            <mc:AlternateContent xmlns:mc="http://schemas.openxmlformats.org/markup-compatibility/2006">
              <mc:Choice xmlns:v="urn:schemas-microsoft-com:vml" Requires="v">
                <p:oleObj spid="_x0000_s58611" name="Equation" r:id="rId4" imgW="3683000" imgH="444500" progId="Equation.DSMT4">
                  <p:embed/>
                </p:oleObj>
              </mc:Choice>
              <mc:Fallback>
                <p:oleObj name="Equation" r:id="rId4" imgW="3683000" imgH="4445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575" y="2747963"/>
                        <a:ext cx="7686675"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2" name="Object 6">
            <a:extLst>
              <a:ext uri="{FF2B5EF4-FFF2-40B4-BE49-F238E27FC236}">
                <a16:creationId xmlns:a16="http://schemas.microsoft.com/office/drawing/2014/main" id="{717C5094-DB1B-4BF4-B528-40D53823D900}"/>
              </a:ext>
            </a:extLst>
          </p:cNvPr>
          <p:cNvGraphicFramePr>
            <a:graphicFrameLocks noChangeAspect="1"/>
          </p:cNvGraphicFramePr>
          <p:nvPr/>
        </p:nvGraphicFramePr>
        <p:xfrm>
          <a:off x="855663" y="2039938"/>
          <a:ext cx="7951787" cy="842962"/>
        </p:xfrm>
        <a:graphic>
          <a:graphicData uri="http://schemas.openxmlformats.org/presentationml/2006/ole">
            <mc:AlternateContent xmlns:mc="http://schemas.openxmlformats.org/markup-compatibility/2006">
              <mc:Choice xmlns:v="urn:schemas-microsoft-com:vml" Requires="v">
                <p:oleObj spid="_x0000_s58612" name="Equation" r:id="rId6" imgW="3810000" imgH="444500" progId="Equation.DSMT4">
                  <p:embed/>
                </p:oleObj>
              </mc:Choice>
              <mc:Fallback>
                <p:oleObj name="Equation" r:id="rId6" imgW="3810000" imgH="4445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5663" y="2039938"/>
                        <a:ext cx="7951787" cy="84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3" name="Object 6">
            <a:extLst>
              <a:ext uri="{FF2B5EF4-FFF2-40B4-BE49-F238E27FC236}">
                <a16:creationId xmlns:a16="http://schemas.microsoft.com/office/drawing/2014/main" id="{38F3A49F-70F7-48D2-AA9C-6447C38B2791}"/>
              </a:ext>
            </a:extLst>
          </p:cNvPr>
          <p:cNvGraphicFramePr>
            <a:graphicFrameLocks noChangeAspect="1"/>
          </p:cNvGraphicFramePr>
          <p:nvPr/>
        </p:nvGraphicFramePr>
        <p:xfrm>
          <a:off x="898525" y="1150938"/>
          <a:ext cx="7634288" cy="912812"/>
        </p:xfrm>
        <a:graphic>
          <a:graphicData uri="http://schemas.openxmlformats.org/presentationml/2006/ole">
            <mc:AlternateContent xmlns:mc="http://schemas.openxmlformats.org/markup-compatibility/2006">
              <mc:Choice xmlns:v="urn:schemas-microsoft-com:vml" Requires="v">
                <p:oleObj spid="_x0000_s58613" name="Equation" r:id="rId8" imgW="3657600" imgH="482600" progId="Equation.DSMT4">
                  <p:embed/>
                </p:oleObj>
              </mc:Choice>
              <mc:Fallback>
                <p:oleObj name="Equation" r:id="rId8" imgW="3657600" imgH="4826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8525" y="1150938"/>
                        <a:ext cx="7634288" cy="912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6">
            <a:extLst>
              <a:ext uri="{FF2B5EF4-FFF2-40B4-BE49-F238E27FC236}">
                <a16:creationId xmlns:a16="http://schemas.microsoft.com/office/drawing/2014/main" id="{B63A442E-5E03-4171-9DF1-489C15A5ECB2}"/>
              </a:ext>
            </a:extLst>
          </p:cNvPr>
          <p:cNvGraphicFramePr>
            <a:graphicFrameLocks noChangeAspect="1"/>
          </p:cNvGraphicFramePr>
          <p:nvPr/>
        </p:nvGraphicFramePr>
        <p:xfrm>
          <a:off x="1130300" y="3770313"/>
          <a:ext cx="7021513" cy="842962"/>
        </p:xfrm>
        <a:graphic>
          <a:graphicData uri="http://schemas.openxmlformats.org/presentationml/2006/ole">
            <mc:AlternateContent xmlns:mc="http://schemas.openxmlformats.org/markup-compatibility/2006">
              <mc:Choice xmlns:v="urn:schemas-microsoft-com:vml" Requires="v">
                <p:oleObj spid="_x0000_s58614" name="Equation" r:id="rId10" imgW="3365500" imgH="444500" progId="Equation.DSMT4">
                  <p:embed/>
                </p:oleObj>
              </mc:Choice>
              <mc:Fallback>
                <p:oleObj name="Equation" r:id="rId10" imgW="3365500" imgH="4445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30300" y="3770313"/>
                        <a:ext cx="7021513" cy="84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6">
            <a:extLst>
              <a:ext uri="{FF2B5EF4-FFF2-40B4-BE49-F238E27FC236}">
                <a16:creationId xmlns:a16="http://schemas.microsoft.com/office/drawing/2014/main" id="{7D82B7B6-85B7-4297-8845-BE31639DD783}"/>
              </a:ext>
            </a:extLst>
          </p:cNvPr>
          <p:cNvGraphicFramePr>
            <a:graphicFrameLocks noChangeAspect="1"/>
          </p:cNvGraphicFramePr>
          <p:nvPr/>
        </p:nvGraphicFramePr>
        <p:xfrm>
          <a:off x="1130300" y="4737100"/>
          <a:ext cx="7259638" cy="819150"/>
        </p:xfrm>
        <a:graphic>
          <a:graphicData uri="http://schemas.openxmlformats.org/presentationml/2006/ole">
            <mc:AlternateContent xmlns:mc="http://schemas.openxmlformats.org/markup-compatibility/2006">
              <mc:Choice xmlns:v="urn:schemas-microsoft-com:vml" Requires="v">
                <p:oleObj spid="_x0000_s58615" name="Equation" r:id="rId12" imgW="3479800" imgH="431800" progId="Equation.DSMT4">
                  <p:embed/>
                </p:oleObj>
              </mc:Choice>
              <mc:Fallback>
                <p:oleObj name="Equation" r:id="rId12" imgW="3479800" imgH="431800"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30300" y="4737100"/>
                        <a:ext cx="7259638"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8951"/>
                                        </p:tgtEl>
                                        <p:attrNameLst>
                                          <p:attrName>style.visibility</p:attrName>
                                        </p:attrNameLst>
                                      </p:cBhvr>
                                      <p:to>
                                        <p:strVal val="visible"/>
                                      </p:to>
                                    </p:set>
                                    <p:animEffect transition="in" filter="dissolve">
                                      <p:cBhvr>
                                        <p:cTn id="7" dur="500"/>
                                        <p:tgtEl>
                                          <p:spTgt spid="2089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randombar(horizontal)">
                                      <p:cBhvr>
                                        <p:cTn id="12" dur="500"/>
                                        <p:tgtEl>
                                          <p:spTgt spid="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randombar(horizontal)">
                                      <p:cBhvr>
                                        <p:cTn id="1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5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4DC265A1-94CA-46F1-99FB-2CC496353F12}"/>
              </a:ext>
            </a:extLst>
          </p:cNvPr>
          <p:cNvSpPr>
            <a:spLocks noGrp="1" noChangeArrowheads="1"/>
          </p:cNvSpPr>
          <p:nvPr>
            <p:ph/>
          </p:nvPr>
        </p:nvSpPr>
        <p:spPr>
          <a:xfrm>
            <a:off x="533400" y="914400"/>
            <a:ext cx="8077200" cy="5029200"/>
          </a:xfrm>
        </p:spPr>
        <p:txBody>
          <a:bodyPr/>
          <a:lstStyle/>
          <a:p>
            <a:pPr>
              <a:defRPr/>
            </a:pPr>
            <a:r>
              <a:rPr lang="zh-CN" altLang="en-US" sz="3200" dirty="0">
                <a:solidFill>
                  <a:srgbClr val="6C4783"/>
                </a:solidFill>
                <a:effectLst>
                  <a:outerShdw blurRad="38100" dist="38100" dir="2700000" algn="tl">
                    <a:srgbClr val="C0C0C0"/>
                  </a:outerShdw>
                </a:effectLst>
              </a:rPr>
              <a:t>互补松弛性质的应用：</a:t>
            </a:r>
            <a:endParaRPr lang="en-US" altLang="zh-CN" sz="3200" dirty="0">
              <a:solidFill>
                <a:srgbClr val="6C4783"/>
              </a:solidFill>
              <a:effectLst>
                <a:outerShdw blurRad="38100" dist="38100" dir="2700000" algn="tl">
                  <a:srgbClr val="C0C0C0"/>
                </a:outerShdw>
              </a:effectLst>
            </a:endParaRPr>
          </a:p>
          <a:p>
            <a:pPr>
              <a:defRPr/>
            </a:pPr>
            <a:endParaRPr lang="zh-CN" altLang="en-US" sz="3200" dirty="0">
              <a:solidFill>
                <a:srgbClr val="6C4783"/>
              </a:solidFill>
              <a:effectLst>
                <a:outerShdw blurRad="38100" dist="38100" dir="2700000" algn="tl">
                  <a:srgbClr val="C0C0C0"/>
                </a:outerShdw>
              </a:effectLst>
            </a:endParaRPr>
          </a:p>
          <a:p>
            <a:pPr lvl="1" algn="just">
              <a:defRPr/>
            </a:pPr>
            <a:r>
              <a:rPr lang="zh-CN" altLang="en-US" sz="3200" dirty="0">
                <a:solidFill>
                  <a:schemeClr val="tx1"/>
                </a:solidFill>
              </a:rPr>
              <a:t>（1）从已知的最优对偶解，求原问题最优解，反之亦然。即已知</a:t>
            </a:r>
            <a:r>
              <a:rPr lang="en-US" altLang="zh-CN" sz="3200" dirty="0">
                <a:solidFill>
                  <a:schemeClr val="tx1"/>
                </a:solidFill>
              </a:rPr>
              <a:t>Y</a:t>
            </a:r>
            <a:r>
              <a:rPr lang="zh-CN" altLang="en-US" sz="3200" baseline="30000" dirty="0">
                <a:solidFill>
                  <a:schemeClr val="tx1"/>
                </a:solidFill>
              </a:rPr>
              <a:t>＊</a:t>
            </a:r>
            <a:r>
              <a:rPr lang="zh-CN" altLang="en-US" sz="3200" dirty="0">
                <a:solidFill>
                  <a:schemeClr val="tx1"/>
                </a:solidFill>
              </a:rPr>
              <a:t>求</a:t>
            </a:r>
            <a:r>
              <a:rPr lang="en-US" altLang="zh-CN" sz="3200" dirty="0">
                <a:solidFill>
                  <a:schemeClr val="tx1"/>
                </a:solidFill>
              </a:rPr>
              <a:t>X</a:t>
            </a:r>
            <a:r>
              <a:rPr lang="en-US" altLang="en-US" sz="3200" baseline="30000" dirty="0">
                <a:solidFill>
                  <a:schemeClr val="tx1"/>
                </a:solidFill>
              </a:rPr>
              <a:t>＊</a:t>
            </a:r>
            <a:r>
              <a:rPr lang="zh-CN" altLang="en-US" sz="3200" dirty="0">
                <a:solidFill>
                  <a:schemeClr val="tx1"/>
                </a:solidFill>
              </a:rPr>
              <a:t>或已知</a:t>
            </a:r>
            <a:r>
              <a:rPr lang="en-US" altLang="zh-CN" sz="3200" dirty="0">
                <a:solidFill>
                  <a:schemeClr val="tx1"/>
                </a:solidFill>
              </a:rPr>
              <a:t>X</a:t>
            </a:r>
            <a:r>
              <a:rPr lang="en-US" altLang="en-US" sz="3200" baseline="30000" dirty="0">
                <a:solidFill>
                  <a:schemeClr val="tx1"/>
                </a:solidFill>
              </a:rPr>
              <a:t>＊</a:t>
            </a:r>
            <a:r>
              <a:rPr lang="zh-CN" altLang="en-US" sz="3200" dirty="0">
                <a:solidFill>
                  <a:schemeClr val="tx1"/>
                </a:solidFill>
              </a:rPr>
              <a:t>求</a:t>
            </a:r>
            <a:r>
              <a:rPr lang="en-US" altLang="zh-CN" sz="3200" dirty="0">
                <a:solidFill>
                  <a:schemeClr val="tx1"/>
                </a:solidFill>
              </a:rPr>
              <a:t>Y</a:t>
            </a:r>
            <a:r>
              <a:rPr lang="en-US" altLang="en-US" sz="3200" baseline="30000" dirty="0">
                <a:solidFill>
                  <a:schemeClr val="tx1"/>
                </a:solidFill>
              </a:rPr>
              <a:t>＊</a:t>
            </a:r>
            <a:r>
              <a:rPr lang="zh-CN" altLang="en-US" sz="3200" dirty="0">
                <a:solidFill>
                  <a:schemeClr val="tx1"/>
                </a:solidFill>
              </a:rPr>
              <a:t>。</a:t>
            </a:r>
            <a:endParaRPr lang="en-US" altLang="zh-CN" sz="3200" dirty="0">
              <a:solidFill>
                <a:schemeClr val="tx1"/>
              </a:solidFill>
            </a:endParaRPr>
          </a:p>
          <a:p>
            <a:pPr lvl="1" algn="just">
              <a:defRPr/>
            </a:pPr>
            <a:endParaRPr lang="zh-CN" altLang="en-US" sz="3200" dirty="0">
              <a:solidFill>
                <a:schemeClr val="tx1"/>
              </a:solidFill>
            </a:endParaRPr>
          </a:p>
          <a:p>
            <a:pPr lvl="1" algn="just">
              <a:defRPr/>
            </a:pPr>
            <a:r>
              <a:rPr lang="zh-CN" altLang="en-US" sz="3200" dirty="0">
                <a:solidFill>
                  <a:schemeClr val="tx1"/>
                </a:solidFill>
              </a:rPr>
              <a:t>（2）证实原问题可行解是否为最优解。</a:t>
            </a:r>
            <a:endParaRPr lang="en-US" altLang="zh-CN" sz="3200" dirty="0">
              <a:solidFill>
                <a:schemeClr val="tx1"/>
              </a:solidFill>
            </a:endParaRPr>
          </a:p>
          <a:p>
            <a:pPr lvl="1" algn="just">
              <a:defRPr/>
            </a:pPr>
            <a:endParaRPr lang="zh-CN" altLang="en-US" sz="3200" dirty="0">
              <a:solidFill>
                <a:schemeClr val="tx1"/>
              </a:solidFill>
            </a:endParaRPr>
          </a:p>
          <a:p>
            <a:pPr lvl="1" algn="just">
              <a:defRPr/>
            </a:pPr>
            <a:r>
              <a:rPr lang="zh-CN" altLang="en-US" sz="3200" dirty="0">
                <a:solidFill>
                  <a:schemeClr val="tx1"/>
                </a:solidFill>
              </a:rPr>
              <a:t>（3）从不同假设来进行试算，从而研究原始、对偶问题最优解的一般性质。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ox(out)">
                                      <p:cBhvr>
                                        <p:cTn id="7" dur="5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ox(out)">
                                      <p:cBhvr>
                                        <p:cTn id="12" dur="500"/>
                                        <p:tgtEl>
                                          <p:spTgt spid="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box(out)">
                                      <p:cBhvr>
                                        <p:cTn id="17" dur="500"/>
                                        <p:tgtEl>
                                          <p:spTgt spid="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box(out)">
                                      <p:cBhvr>
                                        <p:cTn id="2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2"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B4468C64-F293-44ED-A2DD-118B3E2B33AD}"/>
              </a:ext>
            </a:extLst>
          </p:cNvPr>
          <p:cNvSpPr>
            <a:spLocks noGrp="1" noChangeArrowheads="1"/>
          </p:cNvSpPr>
          <p:nvPr>
            <p:ph type="body" sz="half" idx="1"/>
          </p:nvPr>
        </p:nvSpPr>
        <p:spPr>
          <a:xfrm>
            <a:off x="457200" y="533400"/>
            <a:ext cx="8305800" cy="3429000"/>
          </a:xfrm>
        </p:spPr>
        <p:txBody>
          <a:bodyPr/>
          <a:lstStyle/>
          <a:p>
            <a:pPr marL="533400" indent="-533400" eaLnBrk="1" hangingPunct="1">
              <a:buFont typeface="Wingdings" panose="05000000000000000000" pitchFamily="2" charset="2"/>
              <a:buNone/>
            </a:pPr>
            <a:r>
              <a:rPr lang="zh-CN" altLang="en-US" sz="2400" dirty="0">
                <a:latin typeface="Times New Roman" panose="02020603050405020304" pitchFamily="18" charset="0"/>
              </a:rPr>
              <a:t>例子  已知线性规划问题</a:t>
            </a:r>
            <a:endParaRPr lang="en-US" altLang="zh-CN" sz="2400" dirty="0">
              <a:solidFill>
                <a:srgbClr val="FF0000"/>
              </a:solidFill>
              <a:latin typeface="Times New Roman" panose="02020603050405020304" pitchFamily="18" charset="0"/>
            </a:endParaRPr>
          </a:p>
          <a:p>
            <a:pPr marL="533400" indent="-533400" eaLnBrk="1" hangingPunct="1">
              <a:buFont typeface="Wingdings" panose="05000000000000000000" pitchFamily="2" charset="2"/>
              <a:buNone/>
            </a:pPr>
            <a:r>
              <a:rPr lang="en-US" altLang="zh-CN" sz="2400" dirty="0">
                <a:latin typeface="Times New Roman" panose="02020603050405020304" pitchFamily="18" charset="0"/>
              </a:rPr>
              <a:t>      </a:t>
            </a:r>
          </a:p>
          <a:p>
            <a:pPr marL="533400" indent="-533400" eaLnBrk="1" hangingPunct="1">
              <a:buFont typeface="Wingdings" panose="05000000000000000000" pitchFamily="2" charset="2"/>
              <a:buNone/>
            </a:pPr>
            <a:endParaRPr lang="en-US" altLang="zh-CN" sz="2400" dirty="0">
              <a:latin typeface="Times New Roman" panose="02020603050405020304" pitchFamily="18" charset="0"/>
            </a:endParaRPr>
          </a:p>
          <a:p>
            <a:pPr marL="533400" indent="-533400" eaLnBrk="1" hangingPunct="1">
              <a:buFont typeface="Wingdings" panose="05000000000000000000" pitchFamily="2" charset="2"/>
              <a:buNone/>
            </a:pPr>
            <a:endParaRPr lang="en-US" altLang="zh-CN" sz="2400" dirty="0">
              <a:latin typeface="Times New Roman" panose="02020603050405020304" pitchFamily="18" charset="0"/>
            </a:endParaRPr>
          </a:p>
          <a:p>
            <a:pPr marL="533400" indent="-533400" eaLnBrk="1" hangingPunct="1">
              <a:buFont typeface="Wingdings" panose="05000000000000000000" pitchFamily="2" charset="2"/>
              <a:buNone/>
            </a:pPr>
            <a:endParaRPr lang="en-US" altLang="zh-CN" sz="2400" dirty="0">
              <a:latin typeface="Times New Roman" panose="02020603050405020304" pitchFamily="18" charset="0"/>
            </a:endParaRPr>
          </a:p>
          <a:p>
            <a:pPr marL="533400" indent="-533400" eaLnBrk="1" hangingPunct="1">
              <a:buFont typeface="Wingdings" panose="05000000000000000000" pitchFamily="2" charset="2"/>
              <a:buNone/>
            </a:pPr>
            <a:r>
              <a:rPr lang="zh-CN" altLang="en-US" sz="2400" dirty="0">
                <a:latin typeface="Times New Roman" panose="02020603050405020304" pitchFamily="18" charset="0"/>
              </a:rPr>
              <a:t>已知其对偶问题的最优解为</a:t>
            </a:r>
            <a:endParaRPr lang="en-US" altLang="zh-CN" sz="2400" dirty="0">
              <a:latin typeface="Times New Roman" panose="02020603050405020304" pitchFamily="18" charset="0"/>
            </a:endParaRPr>
          </a:p>
          <a:p>
            <a:pPr marL="533400" indent="-533400" eaLnBrk="1" hangingPunct="1">
              <a:buFont typeface="Wingdings" panose="05000000000000000000" pitchFamily="2" charset="2"/>
              <a:buNone/>
            </a:pPr>
            <a:r>
              <a:rPr lang="zh-CN" altLang="en-US" sz="2400" dirty="0">
                <a:latin typeface="Times New Roman" panose="02020603050405020304" pitchFamily="18" charset="0"/>
              </a:rPr>
              <a:t>试用对偶理论找出原问题的最优解。</a:t>
            </a:r>
            <a:endParaRPr lang="zh-CN" altLang="el-GR" sz="2400" dirty="0"/>
          </a:p>
        </p:txBody>
      </p:sp>
      <p:graphicFrame>
        <p:nvGraphicFramePr>
          <p:cNvPr id="61443" name="对象 3">
            <a:extLst>
              <a:ext uri="{FF2B5EF4-FFF2-40B4-BE49-F238E27FC236}">
                <a16:creationId xmlns:a16="http://schemas.microsoft.com/office/drawing/2014/main" id="{104E0AFC-380F-4DC0-94A0-71C3BC9F63B8}"/>
              </a:ext>
            </a:extLst>
          </p:cNvPr>
          <p:cNvGraphicFramePr>
            <a:graphicFrameLocks noChangeAspect="1"/>
          </p:cNvGraphicFramePr>
          <p:nvPr/>
        </p:nvGraphicFramePr>
        <p:xfrm>
          <a:off x="762000" y="1020763"/>
          <a:ext cx="3556000" cy="1600200"/>
        </p:xfrm>
        <a:graphic>
          <a:graphicData uri="http://schemas.openxmlformats.org/presentationml/2006/ole">
            <mc:AlternateContent xmlns:mc="http://schemas.openxmlformats.org/markup-compatibility/2006">
              <mc:Choice xmlns:v="urn:schemas-microsoft-com:vml" Requires="v">
                <p:oleObj spid="_x0000_s61542" name="Equation" r:id="rId3" imgW="1524000" imgH="685800" progId="Equation.DSMT4">
                  <p:embed/>
                </p:oleObj>
              </mc:Choice>
              <mc:Fallback>
                <p:oleObj name="Equation" r:id="rId3" imgW="1524000" imgH="68580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020763"/>
                        <a:ext cx="3556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4" name="对象 7">
            <a:extLst>
              <a:ext uri="{FF2B5EF4-FFF2-40B4-BE49-F238E27FC236}">
                <a16:creationId xmlns:a16="http://schemas.microsoft.com/office/drawing/2014/main" id="{68ADBC98-81D7-440D-93CB-76D2163EC7DA}"/>
              </a:ext>
            </a:extLst>
          </p:cNvPr>
          <p:cNvGraphicFramePr>
            <a:graphicFrameLocks noChangeAspect="1"/>
          </p:cNvGraphicFramePr>
          <p:nvPr/>
        </p:nvGraphicFramePr>
        <p:xfrm>
          <a:off x="4343400" y="2757488"/>
          <a:ext cx="2697163" cy="442912"/>
        </p:xfrm>
        <a:graphic>
          <a:graphicData uri="http://schemas.openxmlformats.org/presentationml/2006/ole">
            <mc:AlternateContent xmlns:mc="http://schemas.openxmlformats.org/markup-compatibility/2006">
              <mc:Choice xmlns:v="urn:schemas-microsoft-com:vml" Requires="v">
                <p:oleObj spid="_x0000_s61543" name="Equation" r:id="rId5" imgW="1155700" imgH="190500" progId="Equation.DSMT4">
                  <p:embed/>
                </p:oleObj>
              </mc:Choice>
              <mc:Fallback>
                <p:oleObj name="Equation" r:id="rId5" imgW="1155700" imgH="190500" progId="Equation.DSMT4">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2757488"/>
                        <a:ext cx="26971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20">
            <a:extLst>
              <a:ext uri="{FF2B5EF4-FFF2-40B4-BE49-F238E27FC236}">
                <a16:creationId xmlns:a16="http://schemas.microsoft.com/office/drawing/2014/main" id="{137A35B1-CDDB-436F-B8B7-2FD9373222B3}"/>
              </a:ext>
            </a:extLst>
          </p:cNvPr>
          <p:cNvSpPr>
            <a:spLocks noChangeArrowheads="1"/>
          </p:cNvSpPr>
          <p:nvPr/>
        </p:nvSpPr>
        <p:spPr bwMode="auto">
          <a:xfrm>
            <a:off x="381000" y="3787775"/>
            <a:ext cx="8534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AutoNum type="arabicPeriod"/>
            </a:pPr>
            <a:r>
              <a:rPr lang="zh-CN" altLang="en-US" sz="2400">
                <a:solidFill>
                  <a:srgbClr val="FF00FF"/>
                </a:solidFill>
              </a:rPr>
              <a:t>写出对偶问题</a:t>
            </a:r>
            <a:endParaRPr lang="en-US" altLang="zh-CN" sz="2400">
              <a:solidFill>
                <a:srgbClr val="FF00FF"/>
              </a:solidFill>
            </a:endParaRPr>
          </a:p>
          <a:p>
            <a:pPr eaLnBrk="1" hangingPunct="1">
              <a:spcBef>
                <a:spcPct val="0"/>
              </a:spcBef>
              <a:buClrTx/>
              <a:buSzTx/>
              <a:buFontTx/>
              <a:buAutoNum type="arabicPeriod"/>
            </a:pPr>
            <a:r>
              <a:rPr lang="zh-CN" altLang="en-US" sz="2400">
                <a:solidFill>
                  <a:srgbClr val="FF00FF"/>
                </a:solidFill>
              </a:rPr>
              <a:t>将对偶问题最优解代入，得到对偶问题约束关系式</a:t>
            </a:r>
            <a:endParaRPr lang="en-US" altLang="zh-CN" sz="2400">
              <a:solidFill>
                <a:srgbClr val="FF00FF"/>
              </a:solidFill>
            </a:endParaRPr>
          </a:p>
          <a:p>
            <a:pPr eaLnBrk="1" hangingPunct="1">
              <a:spcBef>
                <a:spcPct val="0"/>
              </a:spcBef>
              <a:buClrTx/>
              <a:buSzTx/>
              <a:buFontTx/>
              <a:buAutoNum type="arabicPeriod"/>
            </a:pPr>
            <a:r>
              <a:rPr lang="zh-CN" altLang="en-US" sz="2400">
                <a:solidFill>
                  <a:srgbClr val="FF00FF"/>
                </a:solidFill>
              </a:rPr>
              <a:t>利用互补松弛性求解原问题的部分解，同时得到原问题的一组不等式</a:t>
            </a:r>
            <a:endParaRPr lang="en-US" altLang="zh-CN" sz="2400">
              <a:solidFill>
                <a:srgbClr val="FF00FF"/>
              </a:solidFill>
            </a:endParaRPr>
          </a:p>
          <a:p>
            <a:pPr eaLnBrk="1" hangingPunct="1">
              <a:spcBef>
                <a:spcPct val="0"/>
              </a:spcBef>
              <a:buClrTx/>
              <a:buSzTx/>
              <a:buFontTx/>
              <a:buAutoNum type="arabicPeriod"/>
            </a:pPr>
            <a:r>
              <a:rPr lang="zh-CN" altLang="en-US" sz="2400">
                <a:solidFill>
                  <a:srgbClr val="FF00FF"/>
                </a:solidFill>
              </a:rPr>
              <a:t>利用对偶变换规则建立原问题另一组不等式</a:t>
            </a:r>
            <a:endParaRPr lang="en-US" altLang="zh-CN" sz="2400">
              <a:solidFill>
                <a:srgbClr val="FF00FF"/>
              </a:solidFill>
            </a:endParaRPr>
          </a:p>
          <a:p>
            <a:pPr eaLnBrk="1" hangingPunct="1">
              <a:spcBef>
                <a:spcPct val="0"/>
              </a:spcBef>
              <a:buClrTx/>
              <a:buSzTx/>
              <a:buFontTx/>
              <a:buAutoNum type="arabicPeriod"/>
            </a:pPr>
            <a:r>
              <a:rPr lang="zh-CN" altLang="en-US" sz="2400">
                <a:solidFill>
                  <a:srgbClr val="FF00FF"/>
                </a:solidFill>
              </a:rPr>
              <a:t>联立两组不等式求解原问题最优解</a:t>
            </a:r>
          </a:p>
        </p:txBody>
      </p:sp>
      <p:sp>
        <p:nvSpPr>
          <p:cNvPr id="6" name="矩形 20">
            <a:extLst>
              <a:ext uri="{FF2B5EF4-FFF2-40B4-BE49-F238E27FC236}">
                <a16:creationId xmlns:a16="http://schemas.microsoft.com/office/drawing/2014/main" id="{859FCC12-DE04-400F-AD4A-8495A6CF35F2}"/>
              </a:ext>
            </a:extLst>
          </p:cNvPr>
          <p:cNvSpPr>
            <a:spLocks noChangeArrowheads="1"/>
          </p:cNvSpPr>
          <p:nvPr/>
        </p:nvSpPr>
        <p:spPr bwMode="auto">
          <a:xfrm>
            <a:off x="4564063" y="1263650"/>
            <a:ext cx="37814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zh-CN" altLang="en-US" sz="2400">
                <a:solidFill>
                  <a:srgbClr val="FF00FF"/>
                </a:solidFill>
              </a:rPr>
              <a:t>总体思路：</a:t>
            </a:r>
            <a:endParaRPr lang="en-US" altLang="zh-CN" sz="2400">
              <a:solidFill>
                <a:srgbClr val="FF00FF"/>
              </a:solidFill>
            </a:endParaRPr>
          </a:p>
          <a:p>
            <a:pPr algn="ctr" eaLnBrk="1" hangingPunct="1">
              <a:spcBef>
                <a:spcPct val="0"/>
              </a:spcBef>
              <a:buClrTx/>
              <a:buSzTx/>
              <a:buFont typeface="Wingdings" panose="05000000000000000000" pitchFamily="2" charset="2"/>
              <a:buNone/>
            </a:pPr>
            <a:r>
              <a:rPr lang="zh-CN" altLang="en-US" sz="2400">
                <a:solidFill>
                  <a:srgbClr val="FF00FF"/>
                </a:solidFill>
              </a:rPr>
              <a:t>利用对偶相关性质去找尽可能多的原问题的关系式！</a:t>
            </a:r>
          </a:p>
        </p:txBody>
      </p:sp>
      <p:pic>
        <p:nvPicPr>
          <p:cNvPr id="3" name="图片 2">
            <a:extLst>
              <a:ext uri="{FF2B5EF4-FFF2-40B4-BE49-F238E27FC236}">
                <a16:creationId xmlns:a16="http://schemas.microsoft.com/office/drawing/2014/main" id="{54AA320A-3EAD-4486-849B-33B196DABB5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22800" y="76200"/>
            <a:ext cx="4370388" cy="27209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7" dur="500"/>
                                        <p:tgtEl>
                                          <p:spTgt spid="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22" dur="500"/>
                                        <p:tgtEl>
                                          <p:spTgt spid="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7" dur="500"/>
                                        <p:tgtEl>
                                          <p:spTgt spid="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randombar(horizontal)">
                                      <p:cBhvr>
                                        <p:cTn id="32" dur="500"/>
                                        <p:tgtEl>
                                          <p:spTgt spid="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randombar(horizontal)">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B8689F30-A216-40A5-BFCB-A8C19BA6D75F}"/>
              </a:ext>
            </a:extLst>
          </p:cNvPr>
          <p:cNvSpPr>
            <a:spLocks noGrp="1" noChangeArrowheads="1"/>
          </p:cNvSpPr>
          <p:nvPr>
            <p:ph type="body" sz="half" idx="1"/>
          </p:nvPr>
        </p:nvSpPr>
        <p:spPr>
          <a:xfrm>
            <a:off x="457200" y="228600"/>
            <a:ext cx="8458200" cy="6324600"/>
          </a:xfrm>
        </p:spPr>
        <p:txBody>
          <a:bodyPr/>
          <a:lstStyle/>
          <a:p>
            <a:pPr marL="533400" indent="-533400" eaLnBrk="1" hangingPunct="1">
              <a:buFont typeface="Wingdings" panose="05000000000000000000" pitchFamily="2" charset="2"/>
              <a:buNone/>
            </a:pPr>
            <a:r>
              <a:rPr lang="zh-CN" altLang="en-US" sz="2400">
                <a:latin typeface="Times New Roman" panose="02020603050405020304" pitchFamily="18" charset="0"/>
              </a:rPr>
              <a:t>解  先写出它的对偶问题</a:t>
            </a:r>
            <a:endParaRPr lang="en-US" altLang="zh-CN" sz="2400">
              <a:solidFill>
                <a:srgbClr val="FF0000"/>
              </a:solidFill>
              <a:latin typeface="Times New Roman" panose="02020603050405020304" pitchFamily="18" charset="0"/>
            </a:endParaRPr>
          </a:p>
          <a:p>
            <a:pPr marL="533400" indent="-533400" eaLnBrk="1" hangingPunct="1">
              <a:buFont typeface="Wingdings" panose="05000000000000000000" pitchFamily="2" charset="2"/>
              <a:buNone/>
            </a:pPr>
            <a:r>
              <a:rPr lang="en-US" altLang="zh-CN" sz="2400">
                <a:latin typeface="Times New Roman" panose="02020603050405020304" pitchFamily="18" charset="0"/>
              </a:rPr>
              <a:t>      </a:t>
            </a:r>
          </a:p>
          <a:p>
            <a:pPr marL="533400" indent="-533400" eaLnBrk="1" hangingPunct="1">
              <a:buFont typeface="Wingdings" panose="05000000000000000000" pitchFamily="2" charset="2"/>
              <a:buNone/>
            </a:pP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r>
              <a:rPr lang="zh-CN" altLang="en-US" sz="2400">
                <a:latin typeface="Times New Roman" panose="02020603050405020304" pitchFamily="18" charset="0"/>
              </a:rPr>
              <a:t>将           的值带入约束条件，得</a:t>
            </a:r>
            <a:r>
              <a:rPr lang="en-US" altLang="zh-CN" sz="2400">
                <a:latin typeface="Times New Roman" panose="02020603050405020304" pitchFamily="18" charset="0"/>
              </a:rPr>
              <a:t>(2), (3), (4)</a:t>
            </a:r>
            <a:r>
              <a:rPr lang="zh-CN" altLang="en-US" sz="2400">
                <a:latin typeface="Times New Roman" panose="02020603050405020304" pitchFamily="18" charset="0"/>
              </a:rPr>
              <a:t>式为严格不等式；</a:t>
            </a: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r>
              <a:rPr lang="zh-CN" altLang="en-US" sz="2400">
                <a:latin typeface="Times New Roman" panose="02020603050405020304" pitchFamily="18" charset="0"/>
              </a:rPr>
              <a:t>由互补松弛性得</a:t>
            </a:r>
          </a:p>
          <a:p>
            <a:pPr marL="533400" indent="-533400" eaLnBrk="1" hangingPunct="1">
              <a:buFont typeface="Wingdings" panose="05000000000000000000" pitchFamily="2" charset="2"/>
              <a:buNone/>
            </a:pPr>
            <a:r>
              <a:rPr lang="zh-CN" altLang="en-US" sz="2400">
                <a:latin typeface="Times New Roman" panose="02020603050405020304" pitchFamily="18" charset="0"/>
              </a:rPr>
              <a:t>因为                   原问题的两个约束条件应取等式，故有</a:t>
            </a: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r>
              <a:rPr lang="zh-CN" altLang="en-US" sz="2400">
                <a:latin typeface="Times New Roman" panose="02020603050405020304" pitchFamily="18" charset="0"/>
              </a:rPr>
              <a:t>故原问题的最优解为</a:t>
            </a:r>
            <a:endParaRPr lang="zh-CN" altLang="el-GR" sz="2400"/>
          </a:p>
        </p:txBody>
      </p:sp>
      <p:graphicFrame>
        <p:nvGraphicFramePr>
          <p:cNvPr id="62467" name="对象 4">
            <a:extLst>
              <a:ext uri="{FF2B5EF4-FFF2-40B4-BE49-F238E27FC236}">
                <a16:creationId xmlns:a16="http://schemas.microsoft.com/office/drawing/2014/main" id="{83DF7D7A-9A58-47B6-9109-00AD29C9C9A3}"/>
              </a:ext>
            </a:extLst>
          </p:cNvPr>
          <p:cNvGraphicFramePr>
            <a:graphicFrameLocks noChangeAspect="1"/>
          </p:cNvGraphicFramePr>
          <p:nvPr/>
        </p:nvGraphicFramePr>
        <p:xfrm>
          <a:off x="2713038" y="3290888"/>
          <a:ext cx="1630362" cy="442912"/>
        </p:xfrm>
        <a:graphic>
          <a:graphicData uri="http://schemas.openxmlformats.org/presentationml/2006/ole">
            <mc:AlternateContent xmlns:mc="http://schemas.openxmlformats.org/markup-compatibility/2006">
              <mc:Choice xmlns:v="urn:schemas-microsoft-com:vml" Requires="v">
                <p:oleObj spid="_x0000_s63012" name="Equation" r:id="rId3" imgW="698500" imgH="190500" progId="Equation.DSMT4">
                  <p:embed/>
                </p:oleObj>
              </mc:Choice>
              <mc:Fallback>
                <p:oleObj name="Equation" r:id="rId3" imgW="698500" imgH="1905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3038" y="3290888"/>
                        <a:ext cx="1630362"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68" name="对象 5">
            <a:extLst>
              <a:ext uri="{FF2B5EF4-FFF2-40B4-BE49-F238E27FC236}">
                <a16:creationId xmlns:a16="http://schemas.microsoft.com/office/drawing/2014/main" id="{FDDD5E85-262C-40D8-95B9-AD29DBE1F13B}"/>
              </a:ext>
            </a:extLst>
          </p:cNvPr>
          <p:cNvGraphicFramePr>
            <a:graphicFrameLocks noChangeAspect="1"/>
          </p:cNvGraphicFramePr>
          <p:nvPr/>
        </p:nvGraphicFramePr>
        <p:xfrm>
          <a:off x="720725" y="693738"/>
          <a:ext cx="1870075" cy="2195512"/>
        </p:xfrm>
        <a:graphic>
          <a:graphicData uri="http://schemas.openxmlformats.org/presentationml/2006/ole">
            <mc:AlternateContent xmlns:mc="http://schemas.openxmlformats.org/markup-compatibility/2006">
              <mc:Choice xmlns:v="urn:schemas-microsoft-com:vml" Requires="v">
                <p:oleObj spid="_x0000_s63013" name="Equation" r:id="rId5" imgW="952087" imgH="1117115" progId="Equation.DSMT4">
                  <p:embed/>
                </p:oleObj>
              </mc:Choice>
              <mc:Fallback>
                <p:oleObj name="Equation" r:id="rId5" imgW="952087" imgH="1117115"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725" y="693738"/>
                        <a:ext cx="1870075"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69" name="对象 6">
            <a:extLst>
              <a:ext uri="{FF2B5EF4-FFF2-40B4-BE49-F238E27FC236}">
                <a16:creationId xmlns:a16="http://schemas.microsoft.com/office/drawing/2014/main" id="{8616B5D2-0BEF-4277-9A73-28699DF46E0F}"/>
              </a:ext>
            </a:extLst>
          </p:cNvPr>
          <p:cNvGraphicFramePr>
            <a:graphicFrameLocks noChangeAspect="1"/>
          </p:cNvGraphicFramePr>
          <p:nvPr/>
        </p:nvGraphicFramePr>
        <p:xfrm>
          <a:off x="855663" y="2868613"/>
          <a:ext cx="739775" cy="442912"/>
        </p:xfrm>
        <a:graphic>
          <a:graphicData uri="http://schemas.openxmlformats.org/presentationml/2006/ole">
            <mc:AlternateContent xmlns:mc="http://schemas.openxmlformats.org/markup-compatibility/2006">
              <mc:Choice xmlns:v="urn:schemas-microsoft-com:vml" Requires="v">
                <p:oleObj spid="_x0000_s63014" name="Equation" r:id="rId7" imgW="317225" imgH="190335" progId="Equation.DSMT4">
                  <p:embed/>
                </p:oleObj>
              </mc:Choice>
              <mc:Fallback>
                <p:oleObj name="Equation" r:id="rId7" imgW="317225" imgH="190335"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5663" y="2868613"/>
                        <a:ext cx="739775"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70" name="对象 12">
            <a:extLst>
              <a:ext uri="{FF2B5EF4-FFF2-40B4-BE49-F238E27FC236}">
                <a16:creationId xmlns:a16="http://schemas.microsoft.com/office/drawing/2014/main" id="{20CBF16F-1241-493B-90BE-ABE1E2915D9A}"/>
              </a:ext>
            </a:extLst>
          </p:cNvPr>
          <p:cNvGraphicFramePr>
            <a:graphicFrameLocks noChangeAspect="1"/>
          </p:cNvGraphicFramePr>
          <p:nvPr/>
        </p:nvGraphicFramePr>
        <p:xfrm>
          <a:off x="1211263" y="3762375"/>
          <a:ext cx="1154112" cy="444500"/>
        </p:xfrm>
        <a:graphic>
          <a:graphicData uri="http://schemas.openxmlformats.org/presentationml/2006/ole">
            <mc:AlternateContent xmlns:mc="http://schemas.openxmlformats.org/markup-compatibility/2006">
              <mc:Choice xmlns:v="urn:schemas-microsoft-com:vml" Requires="v">
                <p:oleObj spid="_x0000_s63015" name="Equation" r:id="rId9" imgW="495085" imgH="190417" progId="Equation.DSMT4">
                  <p:embed/>
                </p:oleObj>
              </mc:Choice>
              <mc:Fallback>
                <p:oleObj name="Equation" r:id="rId9" imgW="495085" imgH="190417" progId="Equation.DSMT4">
                  <p:embed/>
                  <p:pic>
                    <p:nvPicPr>
                      <p:cNvPr id="0"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1263" y="3762375"/>
                        <a:ext cx="1154112"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 name="组合 17">
            <a:extLst>
              <a:ext uri="{FF2B5EF4-FFF2-40B4-BE49-F238E27FC236}">
                <a16:creationId xmlns:a16="http://schemas.microsoft.com/office/drawing/2014/main" id="{62BA0750-EF76-4A0B-8A86-DEB7233CFC97}"/>
              </a:ext>
            </a:extLst>
          </p:cNvPr>
          <p:cNvGrpSpPr>
            <a:grpSpLocks/>
          </p:cNvGrpSpPr>
          <p:nvPr/>
        </p:nvGrpSpPr>
        <p:grpSpPr bwMode="auto">
          <a:xfrm>
            <a:off x="5889625" y="4278313"/>
            <a:ext cx="1574800" cy="698500"/>
            <a:chOff x="2765822" y="4278466"/>
            <a:chExt cx="1574403" cy="698500"/>
          </a:xfrm>
        </p:grpSpPr>
        <p:sp>
          <p:nvSpPr>
            <p:cNvPr id="15" name="箭头: 右 14">
              <a:extLst>
                <a:ext uri="{FF2B5EF4-FFF2-40B4-BE49-F238E27FC236}">
                  <a16:creationId xmlns:a16="http://schemas.microsoft.com/office/drawing/2014/main" id="{21FE1665-6A91-4883-B5C6-3D7F95D0633B}"/>
                </a:ext>
              </a:extLst>
            </p:cNvPr>
            <p:cNvSpPr/>
            <p:nvPr/>
          </p:nvSpPr>
          <p:spPr>
            <a:xfrm>
              <a:off x="2765822" y="4470553"/>
              <a:ext cx="549137" cy="292100"/>
            </a:xfrm>
            <a:prstGeom prst="rightArrow">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aphicFrame>
          <p:nvGraphicFramePr>
            <p:cNvPr id="62494" name="对象 15">
              <a:extLst>
                <a:ext uri="{FF2B5EF4-FFF2-40B4-BE49-F238E27FC236}">
                  <a16:creationId xmlns:a16="http://schemas.microsoft.com/office/drawing/2014/main" id="{1F4D8075-EE00-4C07-B62A-7793FB1564EF}"/>
                </a:ext>
              </a:extLst>
            </p:cNvPr>
            <p:cNvGraphicFramePr>
              <a:graphicFrameLocks noChangeAspect="1"/>
            </p:cNvGraphicFramePr>
            <p:nvPr/>
          </p:nvGraphicFramePr>
          <p:xfrm>
            <a:off x="3690938" y="4278466"/>
            <a:ext cx="649287" cy="698500"/>
          </p:xfrm>
          <a:graphic>
            <a:graphicData uri="http://schemas.openxmlformats.org/presentationml/2006/ole">
              <mc:AlternateContent xmlns:mc="http://schemas.openxmlformats.org/markup-compatibility/2006">
                <mc:Choice xmlns:v="urn:schemas-microsoft-com:vml" Requires="v">
                  <p:oleObj spid="_x0000_s63016" name="Equation" r:id="rId11" imgW="330057" imgH="355446" progId="Equation.DSMT4">
                    <p:embed/>
                  </p:oleObj>
                </mc:Choice>
                <mc:Fallback>
                  <p:oleObj name="Equation" r:id="rId11" imgW="330057" imgH="355446" progId="Equation.DSMT4">
                    <p:embed/>
                    <p:pic>
                      <p:nvPicPr>
                        <p:cNvPr id="0" name="对象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0938" y="4278466"/>
                          <a:ext cx="649287"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2472" name="对象 16">
            <a:extLst>
              <a:ext uri="{FF2B5EF4-FFF2-40B4-BE49-F238E27FC236}">
                <a16:creationId xmlns:a16="http://schemas.microsoft.com/office/drawing/2014/main" id="{97D8E363-C912-4BDA-B604-007EE0ACDEC5}"/>
              </a:ext>
            </a:extLst>
          </p:cNvPr>
          <p:cNvGraphicFramePr>
            <a:graphicFrameLocks noChangeAspect="1"/>
          </p:cNvGraphicFramePr>
          <p:nvPr/>
        </p:nvGraphicFramePr>
        <p:xfrm>
          <a:off x="546100" y="5635625"/>
          <a:ext cx="2371725" cy="400050"/>
        </p:xfrm>
        <a:graphic>
          <a:graphicData uri="http://schemas.openxmlformats.org/presentationml/2006/ole">
            <mc:AlternateContent xmlns:mc="http://schemas.openxmlformats.org/markup-compatibility/2006">
              <mc:Choice xmlns:v="urn:schemas-microsoft-com:vml" Requires="v">
                <p:oleObj spid="_x0000_s63017" name="Equation" r:id="rId13" imgW="1206500" imgH="203200" progId="Equation.DSMT4">
                  <p:embed/>
                </p:oleObj>
              </mc:Choice>
              <mc:Fallback>
                <p:oleObj name="Equation" r:id="rId13" imgW="1206500" imgH="203200" progId="Equation.DSMT4">
                  <p:embed/>
                  <p:pic>
                    <p:nvPicPr>
                      <p:cNvPr id="0" name="对象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6100" y="5635625"/>
                        <a:ext cx="2371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9" name="组合 28">
            <a:extLst>
              <a:ext uri="{FF2B5EF4-FFF2-40B4-BE49-F238E27FC236}">
                <a16:creationId xmlns:a16="http://schemas.microsoft.com/office/drawing/2014/main" id="{50CBCCB5-A1E4-4EFE-AEB4-11C12568670C}"/>
              </a:ext>
            </a:extLst>
          </p:cNvPr>
          <p:cNvGrpSpPr>
            <a:grpSpLocks/>
          </p:cNvGrpSpPr>
          <p:nvPr/>
        </p:nvGrpSpPr>
        <p:grpSpPr bwMode="auto">
          <a:xfrm>
            <a:off x="1539875" y="4189413"/>
            <a:ext cx="1925638" cy="831850"/>
            <a:chOff x="1540317" y="4189413"/>
            <a:chExt cx="1925196" cy="831850"/>
          </a:xfrm>
        </p:grpSpPr>
        <p:graphicFrame>
          <p:nvGraphicFramePr>
            <p:cNvPr id="62491" name="对象 18">
              <a:extLst>
                <a:ext uri="{FF2B5EF4-FFF2-40B4-BE49-F238E27FC236}">
                  <a16:creationId xmlns:a16="http://schemas.microsoft.com/office/drawing/2014/main" id="{F86C1E21-FB93-4108-A2E3-C481B9266491}"/>
                </a:ext>
              </a:extLst>
            </p:cNvPr>
            <p:cNvGraphicFramePr>
              <a:graphicFrameLocks noChangeAspect="1"/>
            </p:cNvGraphicFramePr>
            <p:nvPr/>
          </p:nvGraphicFramePr>
          <p:xfrm>
            <a:off x="2133600" y="4189413"/>
            <a:ext cx="1331913" cy="831850"/>
          </p:xfrm>
          <a:graphic>
            <a:graphicData uri="http://schemas.openxmlformats.org/presentationml/2006/ole">
              <mc:AlternateContent xmlns:mc="http://schemas.openxmlformats.org/markup-compatibility/2006">
                <mc:Choice xmlns:v="urn:schemas-microsoft-com:vml" Requires="v">
                  <p:oleObj spid="_x0000_s63018" name="Equation" r:id="rId15" imgW="571252" imgH="355446" progId="Equation.DSMT4">
                    <p:embed/>
                  </p:oleObj>
                </mc:Choice>
                <mc:Fallback>
                  <p:oleObj name="Equation" r:id="rId15" imgW="571252" imgH="355446" progId="Equation.DSMT4">
                    <p:embed/>
                    <p:pic>
                      <p:nvPicPr>
                        <p:cNvPr id="0" name="对象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33600" y="4189413"/>
                          <a:ext cx="13319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箭头: 直角上 19">
              <a:extLst>
                <a:ext uri="{FF2B5EF4-FFF2-40B4-BE49-F238E27FC236}">
                  <a16:creationId xmlns:a16="http://schemas.microsoft.com/office/drawing/2014/main" id="{238E5A9D-697B-4110-A5B9-70A19EA52FB9}"/>
                </a:ext>
              </a:extLst>
            </p:cNvPr>
            <p:cNvSpPr/>
            <p:nvPr/>
          </p:nvSpPr>
          <p:spPr>
            <a:xfrm rot="5400000">
              <a:off x="1490265" y="4258515"/>
              <a:ext cx="504825" cy="404720"/>
            </a:xfrm>
            <a:prstGeom prst="bentUpArrow">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27" name="组合 26">
            <a:extLst>
              <a:ext uri="{FF2B5EF4-FFF2-40B4-BE49-F238E27FC236}">
                <a16:creationId xmlns:a16="http://schemas.microsoft.com/office/drawing/2014/main" id="{127EAB90-7DFA-4352-BF6C-50E382A4B42B}"/>
              </a:ext>
            </a:extLst>
          </p:cNvPr>
          <p:cNvGrpSpPr>
            <a:grpSpLocks/>
          </p:cNvGrpSpPr>
          <p:nvPr/>
        </p:nvGrpSpPr>
        <p:grpSpPr bwMode="auto">
          <a:xfrm>
            <a:off x="4343400" y="1677988"/>
            <a:ext cx="3565525" cy="1833562"/>
            <a:chOff x="4343399" y="1677628"/>
            <a:chExt cx="3566090" cy="1834714"/>
          </a:xfrm>
        </p:grpSpPr>
        <p:graphicFrame>
          <p:nvGraphicFramePr>
            <p:cNvPr id="62488" name="对象 20">
              <a:extLst>
                <a:ext uri="{FF2B5EF4-FFF2-40B4-BE49-F238E27FC236}">
                  <a16:creationId xmlns:a16="http://schemas.microsoft.com/office/drawing/2014/main" id="{0F02C802-E31E-46DD-A7E0-7BCAFF991040}"/>
                </a:ext>
              </a:extLst>
            </p:cNvPr>
            <p:cNvGraphicFramePr>
              <a:graphicFrameLocks noChangeAspect="1"/>
            </p:cNvGraphicFramePr>
            <p:nvPr/>
          </p:nvGraphicFramePr>
          <p:xfrm>
            <a:off x="6575989" y="1677628"/>
            <a:ext cx="1333500" cy="830263"/>
          </p:xfrm>
          <a:graphic>
            <a:graphicData uri="http://schemas.openxmlformats.org/presentationml/2006/ole">
              <mc:AlternateContent xmlns:mc="http://schemas.openxmlformats.org/markup-compatibility/2006">
                <mc:Choice xmlns:v="urn:schemas-microsoft-com:vml" Requires="v">
                  <p:oleObj spid="_x0000_s63019" name="Equation" r:id="rId17" imgW="571252" imgH="355446" progId="Equation.DSMT4">
                    <p:embed/>
                  </p:oleObj>
                </mc:Choice>
                <mc:Fallback>
                  <p:oleObj name="Equation" r:id="rId17" imgW="571252" imgH="355446" progId="Equation.DSMT4">
                    <p:embed/>
                    <p:pic>
                      <p:nvPicPr>
                        <p:cNvPr id="0" name="对象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75989" y="1677628"/>
                          <a:ext cx="1333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2" name="直接连接符 21">
              <a:extLst>
                <a:ext uri="{FF2B5EF4-FFF2-40B4-BE49-F238E27FC236}">
                  <a16:creationId xmlns:a16="http://schemas.microsoft.com/office/drawing/2014/main" id="{3F615FCA-6339-4878-BBC3-9130ED8A506F}"/>
                </a:ext>
              </a:extLst>
            </p:cNvPr>
            <p:cNvCxnSpPr>
              <a:cxnSpLocks/>
            </p:cNvCxnSpPr>
            <p:nvPr/>
          </p:nvCxnSpPr>
          <p:spPr bwMode="auto">
            <a:xfrm flipH="1">
              <a:off x="4343399" y="2092225"/>
              <a:ext cx="2232379" cy="1420117"/>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2490" name="矩形 6">
              <a:extLst>
                <a:ext uri="{FF2B5EF4-FFF2-40B4-BE49-F238E27FC236}">
                  <a16:creationId xmlns:a16="http://schemas.microsoft.com/office/drawing/2014/main" id="{A8953078-8C94-4C3F-BFC7-EFED6981A265}"/>
                </a:ext>
              </a:extLst>
            </p:cNvPr>
            <p:cNvSpPr>
              <a:spLocks noChangeArrowheads="1"/>
            </p:cNvSpPr>
            <p:nvPr/>
          </p:nvSpPr>
          <p:spPr bwMode="auto">
            <a:xfrm rot="-1868335">
              <a:off x="5188793" y="2253946"/>
              <a:ext cx="1082348"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solidFill>
                    <a:srgbClr val="FF00FF"/>
                  </a:solidFill>
                  <a:latin typeface="Times New Roman" panose="02020603050405020304" pitchFamily="18" charset="0"/>
                </a:rPr>
                <a:t>代入原问题</a:t>
              </a:r>
              <a:endParaRPr lang="zh-CN" altLang="en-US" sz="1400">
                <a:solidFill>
                  <a:srgbClr val="FF00FF"/>
                </a:solidFill>
              </a:endParaRPr>
            </a:p>
          </p:txBody>
        </p:sp>
      </p:grpSp>
      <p:grpSp>
        <p:nvGrpSpPr>
          <p:cNvPr id="36" name="组合 35">
            <a:extLst>
              <a:ext uri="{FF2B5EF4-FFF2-40B4-BE49-F238E27FC236}">
                <a16:creationId xmlns:a16="http://schemas.microsoft.com/office/drawing/2014/main" id="{DFC8100F-1ACC-441A-A9EC-B9996C703C22}"/>
              </a:ext>
            </a:extLst>
          </p:cNvPr>
          <p:cNvGrpSpPr>
            <a:grpSpLocks/>
          </p:cNvGrpSpPr>
          <p:nvPr/>
        </p:nvGrpSpPr>
        <p:grpSpPr bwMode="auto">
          <a:xfrm>
            <a:off x="3527425" y="2508250"/>
            <a:ext cx="3714750" cy="2457450"/>
            <a:chOff x="3528218" y="2507891"/>
            <a:chExt cx="3714521" cy="2457809"/>
          </a:xfrm>
        </p:grpSpPr>
        <p:graphicFrame>
          <p:nvGraphicFramePr>
            <p:cNvPr id="62485" name="对象 13">
              <a:extLst>
                <a:ext uri="{FF2B5EF4-FFF2-40B4-BE49-F238E27FC236}">
                  <a16:creationId xmlns:a16="http://schemas.microsoft.com/office/drawing/2014/main" id="{3A70E03E-EB8D-4383-BE3F-E9C9BA06AAF6}"/>
                </a:ext>
              </a:extLst>
            </p:cNvPr>
            <p:cNvGraphicFramePr>
              <a:graphicFrameLocks noChangeAspect="1"/>
            </p:cNvGraphicFramePr>
            <p:nvPr/>
          </p:nvGraphicFramePr>
          <p:xfrm>
            <a:off x="4495800" y="4267200"/>
            <a:ext cx="1122363" cy="698500"/>
          </p:xfrm>
          <a:graphic>
            <a:graphicData uri="http://schemas.openxmlformats.org/presentationml/2006/ole">
              <mc:AlternateContent xmlns:mc="http://schemas.openxmlformats.org/markup-compatibility/2006">
                <mc:Choice xmlns:v="urn:schemas-microsoft-com:vml" Requires="v">
                  <p:oleObj spid="_x0000_s63020" name="Equation" r:id="rId19" imgW="571252" imgH="355446" progId="Equation.DSMT4">
                    <p:embed/>
                  </p:oleObj>
                </mc:Choice>
                <mc:Fallback>
                  <p:oleObj name="Equation" r:id="rId19" imgW="571252" imgH="355446" progId="Equation.DSMT4">
                    <p:embed/>
                    <p:pic>
                      <p:nvPicPr>
                        <p:cNvPr id="0" name="对象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95800" y="4267200"/>
                          <a:ext cx="1122363"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0" name="直接连接符 29">
              <a:extLst>
                <a:ext uri="{FF2B5EF4-FFF2-40B4-BE49-F238E27FC236}">
                  <a16:creationId xmlns:a16="http://schemas.microsoft.com/office/drawing/2014/main" id="{62E8C964-0365-4B9B-B1C4-839FA1BF49A0}"/>
                </a:ext>
              </a:extLst>
            </p:cNvPr>
            <p:cNvCxnSpPr/>
            <p:nvPr/>
          </p:nvCxnSpPr>
          <p:spPr bwMode="auto">
            <a:xfrm flipH="1">
              <a:off x="3528218" y="4587820"/>
              <a:ext cx="874659" cy="0"/>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16C03106-AA80-4E00-BBCB-346A17BCDD1D}"/>
                </a:ext>
              </a:extLst>
            </p:cNvPr>
            <p:cNvCxnSpPr/>
            <p:nvPr/>
          </p:nvCxnSpPr>
          <p:spPr bwMode="auto">
            <a:xfrm flipV="1">
              <a:off x="5260074" y="2507891"/>
              <a:ext cx="1982665" cy="1719514"/>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F47D7354-A34A-4171-9D4B-DB061A10B123}"/>
              </a:ext>
            </a:extLst>
          </p:cNvPr>
          <p:cNvGrpSpPr>
            <a:grpSpLocks/>
          </p:cNvGrpSpPr>
          <p:nvPr/>
        </p:nvGrpSpPr>
        <p:grpSpPr bwMode="auto">
          <a:xfrm>
            <a:off x="2673350" y="733425"/>
            <a:ext cx="2432050" cy="2144713"/>
            <a:chOff x="2672589" y="733425"/>
            <a:chExt cx="2432811" cy="2144713"/>
          </a:xfrm>
        </p:grpSpPr>
        <p:grpSp>
          <p:nvGrpSpPr>
            <p:cNvPr id="62481" name="组合 11">
              <a:extLst>
                <a:ext uri="{FF2B5EF4-FFF2-40B4-BE49-F238E27FC236}">
                  <a16:creationId xmlns:a16="http://schemas.microsoft.com/office/drawing/2014/main" id="{90396474-B422-4F76-8F75-951010722D1D}"/>
                </a:ext>
              </a:extLst>
            </p:cNvPr>
            <p:cNvGrpSpPr>
              <a:grpSpLocks/>
            </p:cNvGrpSpPr>
            <p:nvPr/>
          </p:nvGrpSpPr>
          <p:grpSpPr bwMode="auto">
            <a:xfrm>
              <a:off x="2672589" y="733425"/>
              <a:ext cx="2432811" cy="2144713"/>
              <a:chOff x="3548889" y="733425"/>
              <a:chExt cx="2432811" cy="2144713"/>
            </a:xfrm>
          </p:grpSpPr>
          <p:graphicFrame>
            <p:nvGraphicFramePr>
              <p:cNvPr id="62483" name="对象 8">
                <a:extLst>
                  <a:ext uri="{FF2B5EF4-FFF2-40B4-BE49-F238E27FC236}">
                    <a16:creationId xmlns:a16="http://schemas.microsoft.com/office/drawing/2014/main" id="{374309AE-FE33-4C2C-BC97-251155F5C87F}"/>
                  </a:ext>
                </a:extLst>
              </p:cNvPr>
              <p:cNvGraphicFramePr>
                <a:graphicFrameLocks noChangeAspect="1"/>
              </p:cNvGraphicFramePr>
              <p:nvPr/>
            </p:nvGraphicFramePr>
            <p:xfrm>
              <a:off x="4360862" y="733425"/>
              <a:ext cx="1620838" cy="2144713"/>
            </p:xfrm>
            <a:graphic>
              <a:graphicData uri="http://schemas.openxmlformats.org/presentationml/2006/ole">
                <mc:AlternateContent xmlns:mc="http://schemas.openxmlformats.org/markup-compatibility/2006">
                  <mc:Choice xmlns:v="urn:schemas-microsoft-com:vml" Requires="v">
                    <p:oleObj spid="_x0000_s63021" name="Equation" r:id="rId21" imgW="825500" imgH="1092200" progId="Equation.DSMT4">
                      <p:embed/>
                    </p:oleObj>
                  </mc:Choice>
                  <mc:Fallback>
                    <p:oleObj name="Equation" r:id="rId21" imgW="825500" imgH="1092200" progId="Equation.DSMT4">
                      <p:embed/>
                      <p:pic>
                        <p:nvPicPr>
                          <p:cNvPr id="0" name="对象 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60862" y="733425"/>
                            <a:ext cx="1620838"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箭头: 右 10">
                <a:extLst>
                  <a:ext uri="{FF2B5EF4-FFF2-40B4-BE49-F238E27FC236}">
                    <a16:creationId xmlns:a16="http://schemas.microsoft.com/office/drawing/2014/main" id="{AF578224-44F9-4516-93F3-3CA58BF97393}"/>
                  </a:ext>
                </a:extLst>
              </p:cNvPr>
              <p:cNvSpPr/>
              <p:nvPr/>
            </p:nvSpPr>
            <p:spPr>
              <a:xfrm>
                <a:off x="3548889" y="1677988"/>
                <a:ext cx="679663" cy="381000"/>
              </a:xfrm>
              <a:prstGeom prst="rightArrow">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graphicFrame>
          <p:nvGraphicFramePr>
            <p:cNvPr id="62482" name="对象 36">
              <a:extLst>
                <a:ext uri="{FF2B5EF4-FFF2-40B4-BE49-F238E27FC236}">
                  <a16:creationId xmlns:a16="http://schemas.microsoft.com/office/drawing/2014/main" id="{BEB7EF78-2BC5-4C29-B1F5-726EC459118D}"/>
                </a:ext>
              </a:extLst>
            </p:cNvPr>
            <p:cNvGraphicFramePr>
              <a:graphicFrameLocks noChangeAspect="1"/>
            </p:cNvGraphicFramePr>
            <p:nvPr/>
          </p:nvGraphicFramePr>
          <p:xfrm>
            <a:off x="2742661" y="1209822"/>
            <a:ext cx="583433" cy="467806"/>
          </p:xfrm>
          <a:graphic>
            <a:graphicData uri="http://schemas.openxmlformats.org/presentationml/2006/ole">
              <mc:AlternateContent xmlns:mc="http://schemas.openxmlformats.org/markup-compatibility/2006">
                <mc:Choice xmlns:v="urn:schemas-microsoft-com:vml" Requires="v">
                  <p:oleObj spid="_x0000_s63022" name="Equation" r:id="rId23" imgW="444114" imgH="355292" progId="Equation.DSMT4">
                    <p:embed/>
                  </p:oleObj>
                </mc:Choice>
                <mc:Fallback>
                  <p:oleObj name="Equation" r:id="rId23" imgW="444114" imgH="355292" progId="Equation.DSMT4">
                    <p:embed/>
                    <p:pic>
                      <p:nvPicPr>
                        <p:cNvPr id="0" name="对象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42661" y="1209822"/>
                          <a:ext cx="583433" cy="467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3" name="图片 2">
            <a:extLst>
              <a:ext uri="{FF2B5EF4-FFF2-40B4-BE49-F238E27FC236}">
                <a16:creationId xmlns:a16="http://schemas.microsoft.com/office/drawing/2014/main" id="{D25B4362-373D-4ECD-989A-763C1707BDEA}"/>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314950" y="101600"/>
            <a:ext cx="3768725"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组合 8">
            <a:extLst>
              <a:ext uri="{FF2B5EF4-FFF2-40B4-BE49-F238E27FC236}">
                <a16:creationId xmlns:a16="http://schemas.microsoft.com/office/drawing/2014/main" id="{B4C6670D-A795-4C6F-A29F-3979E606DEEA}"/>
              </a:ext>
            </a:extLst>
          </p:cNvPr>
          <p:cNvGrpSpPr>
            <a:grpSpLocks/>
          </p:cNvGrpSpPr>
          <p:nvPr/>
        </p:nvGrpSpPr>
        <p:grpSpPr bwMode="auto">
          <a:xfrm>
            <a:off x="363538" y="4175125"/>
            <a:ext cx="8551862" cy="1841500"/>
            <a:chOff x="363538" y="4175125"/>
            <a:chExt cx="8551862" cy="1841926"/>
          </a:xfrm>
        </p:grpSpPr>
        <p:sp>
          <p:nvSpPr>
            <p:cNvPr id="62479" name="矩形 6">
              <a:extLst>
                <a:ext uri="{FF2B5EF4-FFF2-40B4-BE49-F238E27FC236}">
                  <a16:creationId xmlns:a16="http://schemas.microsoft.com/office/drawing/2014/main" id="{6FB40A92-F19E-46D6-8175-EB616A17D634}"/>
                </a:ext>
              </a:extLst>
            </p:cNvPr>
            <p:cNvSpPr>
              <a:spLocks noChangeArrowheads="1"/>
            </p:cNvSpPr>
            <p:nvPr/>
          </p:nvSpPr>
          <p:spPr bwMode="auto">
            <a:xfrm>
              <a:off x="363538" y="4175125"/>
              <a:ext cx="108234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400">
                  <a:solidFill>
                    <a:srgbClr val="FF00FF"/>
                  </a:solidFill>
                  <a:latin typeface="Times New Roman" panose="02020603050405020304" pitchFamily="18" charset="0"/>
                </a:rPr>
                <a:t>对偶关系表</a:t>
              </a:r>
              <a:endParaRPr lang="en-US" altLang="zh-CN" sz="1400">
                <a:solidFill>
                  <a:srgbClr val="FF00FF"/>
                </a:solidFill>
                <a:latin typeface="Times New Roman" panose="02020603050405020304" pitchFamily="18" charset="0"/>
              </a:endParaRPr>
            </a:p>
            <a:p>
              <a:r>
                <a:rPr lang="en-US" altLang="zh-CN" sz="1400">
                  <a:solidFill>
                    <a:srgbClr val="FF00FF"/>
                  </a:solidFill>
                  <a:latin typeface="Times New Roman" panose="02020603050405020304" pitchFamily="18" charset="0"/>
                </a:rPr>
                <a:t> </a:t>
              </a:r>
              <a:r>
                <a:rPr lang="zh-CN" altLang="en-US" sz="1400">
                  <a:solidFill>
                    <a:srgbClr val="FF00FF"/>
                  </a:solidFill>
                  <a:latin typeface="Times New Roman" panose="02020603050405020304" pitchFamily="18" charset="0"/>
                </a:rPr>
                <a:t>书本</a:t>
              </a:r>
              <a:r>
                <a:rPr lang="en-US" altLang="zh-CN" sz="1400">
                  <a:solidFill>
                    <a:srgbClr val="FF00FF"/>
                  </a:solidFill>
                  <a:latin typeface="Times New Roman" panose="02020603050405020304" pitchFamily="18" charset="0"/>
                </a:rPr>
                <a:t>P67</a:t>
              </a:r>
            </a:p>
          </p:txBody>
        </p:sp>
        <p:pic>
          <p:nvPicPr>
            <p:cNvPr id="62480" name="图片 7">
              <a:extLst>
                <a:ext uri="{FF2B5EF4-FFF2-40B4-BE49-F238E27FC236}">
                  <a16:creationId xmlns:a16="http://schemas.microsoft.com/office/drawing/2014/main" id="{46DF1330-174B-4DD0-9492-170C719042B4}"/>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886200" y="5207426"/>
              <a:ext cx="50292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4"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4" presetClass="entr" presetSubtype="1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randombar(horizontal)">
                                      <p:cBhvr>
                                        <p:cTn id="24" dur="500"/>
                                        <p:tgtEl>
                                          <p:spTgt spid="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84C5750-54CC-4656-845D-972262D6C320}"/>
              </a:ext>
            </a:extLst>
          </p:cNvPr>
          <p:cNvSpPr>
            <a:spLocks noGrp="1" noChangeArrowheads="1"/>
          </p:cNvSpPr>
          <p:nvPr>
            <p:ph type="title"/>
          </p:nvPr>
        </p:nvSpPr>
        <p:spPr/>
        <p:txBody>
          <a:bodyPr/>
          <a:lstStyle/>
          <a:p>
            <a:pPr eaLnBrk="1" hangingPunct="1"/>
            <a:r>
              <a:rPr lang="zh-CN" altLang="en-US"/>
              <a:t>对偶问题基本性质</a:t>
            </a:r>
            <a:r>
              <a:rPr lang="en-US" altLang="zh-CN"/>
              <a:t>(8)</a:t>
            </a:r>
            <a:endParaRPr lang="zh-CN" altLang="en-US"/>
          </a:p>
        </p:txBody>
      </p:sp>
      <p:sp>
        <p:nvSpPr>
          <p:cNvPr id="111619" name="Rectangle 3">
            <a:extLst>
              <a:ext uri="{FF2B5EF4-FFF2-40B4-BE49-F238E27FC236}">
                <a16:creationId xmlns:a16="http://schemas.microsoft.com/office/drawing/2014/main" id="{B0421DDB-B2BC-4BE5-B6B3-E0943F4E4A86}"/>
              </a:ext>
            </a:extLst>
          </p:cNvPr>
          <p:cNvSpPr>
            <a:spLocks noGrp="1" noChangeArrowheads="1"/>
          </p:cNvSpPr>
          <p:nvPr>
            <p:ph type="body" sz="half" idx="1"/>
          </p:nvPr>
        </p:nvSpPr>
        <p:spPr>
          <a:xfrm>
            <a:off x="457200" y="1295400"/>
            <a:ext cx="8305800" cy="4830763"/>
          </a:xfrm>
        </p:spPr>
        <p:txBody>
          <a:bodyPr/>
          <a:lstStyle/>
          <a:p>
            <a:pPr marL="533400" indent="-533400" eaLnBrk="1" hangingPunct="1">
              <a:buFont typeface="Wingdings" panose="05000000000000000000" pitchFamily="2" charset="2"/>
              <a:buNone/>
            </a:pPr>
            <a:r>
              <a:rPr lang="en-US" altLang="zh-CN" sz="2400">
                <a:latin typeface="Times New Roman" panose="02020603050405020304" pitchFamily="18" charset="0"/>
              </a:rPr>
              <a:t>7.   </a:t>
            </a:r>
            <a:r>
              <a:rPr lang="zh-CN" altLang="en-US" sz="2400">
                <a:latin typeface="Times New Roman" panose="02020603050405020304" pitchFamily="18" charset="0"/>
              </a:rPr>
              <a:t>互补的基解</a:t>
            </a:r>
            <a:endParaRPr lang="en-US" altLang="zh-CN" sz="2400">
              <a:latin typeface="Times New Roman" panose="02020603050405020304" pitchFamily="18" charset="0"/>
            </a:endParaRPr>
          </a:p>
          <a:p>
            <a:pPr marL="533400" indent="-533400" eaLnBrk="1" hangingPunct="1">
              <a:buFont typeface="Wingdings" panose="05000000000000000000" pitchFamily="2" charset="2"/>
              <a:buNone/>
            </a:pPr>
            <a:r>
              <a:rPr lang="en-US" altLang="zh-CN" sz="2400">
                <a:latin typeface="Times New Roman" panose="02020603050405020304" pitchFamily="18" charset="0"/>
              </a:rPr>
              <a:t>      </a:t>
            </a:r>
            <a:r>
              <a:rPr lang="zh-CN" altLang="en-US" sz="2400">
                <a:latin typeface="Times New Roman" panose="02020603050405020304" pitchFamily="18" charset="0"/>
              </a:rPr>
              <a:t>设原问题是   </a:t>
            </a:r>
            <a:r>
              <a:rPr lang="en-US" altLang="zh-CN" sz="2400">
                <a:latin typeface="Times New Roman" panose="02020603050405020304" pitchFamily="18" charset="0"/>
              </a:rPr>
              <a:t>max </a:t>
            </a:r>
            <a:r>
              <a:rPr lang="en-US" altLang="zh-CN" sz="2400" b="0">
                <a:latin typeface="Times New Roman" panose="02020603050405020304" pitchFamily="18" charset="0"/>
              </a:rPr>
              <a:t>z</a:t>
            </a:r>
            <a:r>
              <a:rPr lang="en-US" altLang="zh-CN" sz="2400">
                <a:latin typeface="Times New Roman" panose="02020603050405020304" pitchFamily="18" charset="0"/>
              </a:rPr>
              <a:t>=CX; AX+X</a:t>
            </a:r>
            <a:r>
              <a:rPr lang="en-US" altLang="zh-CN" sz="2400" b="0" i="1" baseline="-25000">
                <a:latin typeface="Times New Roman" panose="02020603050405020304" pitchFamily="18" charset="0"/>
              </a:rPr>
              <a:t>s</a:t>
            </a:r>
            <a:r>
              <a:rPr lang="en-US" altLang="zh-CN" sz="2400">
                <a:latin typeface="Times New Roman" panose="02020603050405020304" pitchFamily="18" charset="0"/>
              </a:rPr>
              <a:t>=b;  X,X</a:t>
            </a:r>
            <a:r>
              <a:rPr lang="en-US" altLang="zh-CN" sz="2400" b="0" i="1" baseline="-25000">
                <a:latin typeface="Times New Roman" panose="02020603050405020304" pitchFamily="18" charset="0"/>
              </a:rPr>
              <a:t>s</a:t>
            </a:r>
            <a:r>
              <a:rPr lang="en-US" altLang="zh-CN" sz="2400"/>
              <a:t>≥0</a:t>
            </a:r>
            <a:r>
              <a:rPr lang="zh-CN" altLang="en-US" sz="2400"/>
              <a:t>；它的对偶问题是</a:t>
            </a:r>
            <a:r>
              <a:rPr lang="zh-CN" altLang="en-US" sz="2400">
                <a:latin typeface="Times New Roman" panose="02020603050405020304" pitchFamily="18" charset="0"/>
              </a:rPr>
              <a:t> </a:t>
            </a:r>
            <a:r>
              <a:rPr lang="en-US" altLang="zh-CN" sz="2400">
                <a:latin typeface="Times New Roman" panose="02020603050405020304" pitchFamily="18" charset="0"/>
              </a:rPr>
              <a:t>min </a:t>
            </a:r>
            <a:r>
              <a:rPr lang="el-GR" altLang="zh-CN" sz="2400" b="0">
                <a:latin typeface="Times New Roman" panose="02020603050405020304" pitchFamily="18" charset="0"/>
                <a:cs typeface="Times New Roman" panose="02020603050405020304" pitchFamily="18" charset="0"/>
              </a:rPr>
              <a:t>ω</a:t>
            </a:r>
            <a:r>
              <a:rPr lang="en-US" altLang="zh-CN" sz="2400">
                <a:latin typeface="Times New Roman" panose="02020603050405020304" pitchFamily="18" charset="0"/>
                <a:cs typeface="Times New Roman" panose="02020603050405020304" pitchFamily="18" charset="0"/>
              </a:rPr>
              <a:t>=Yb; YA-Y</a:t>
            </a:r>
            <a:r>
              <a:rPr lang="en-US" altLang="zh-CN" sz="2400" b="0" i="1" baseline="-25000">
                <a:latin typeface="Times New Roman" panose="02020603050405020304" pitchFamily="18" charset="0"/>
                <a:cs typeface="Times New Roman" panose="02020603050405020304" pitchFamily="18" charset="0"/>
              </a:rPr>
              <a:t>s</a:t>
            </a:r>
            <a:r>
              <a:rPr lang="en-US" altLang="zh-CN" sz="2400">
                <a:latin typeface="Times New Roman" panose="02020603050405020304" pitchFamily="18" charset="0"/>
                <a:cs typeface="Times New Roman" panose="02020603050405020304" pitchFamily="18" charset="0"/>
              </a:rPr>
              <a:t>=C; Y,Y</a:t>
            </a:r>
            <a:r>
              <a:rPr lang="en-US" altLang="zh-CN" sz="2400" b="0" i="1" baseline="-25000">
                <a:latin typeface="Times New Roman" panose="02020603050405020304" pitchFamily="18" charset="0"/>
                <a:cs typeface="Times New Roman" panose="02020603050405020304" pitchFamily="18" charset="0"/>
              </a:rPr>
              <a:t>s</a:t>
            </a:r>
            <a:r>
              <a:rPr lang="en-US" altLang="zh-CN" sz="2400">
                <a:latin typeface="Times New Roman" panose="02020603050405020304" pitchFamily="18" charset="0"/>
                <a:cs typeface="Times New Roman" panose="02020603050405020304" pitchFamily="18" charset="0"/>
              </a:rPr>
              <a:t> </a:t>
            </a:r>
            <a:r>
              <a:rPr lang="en-US" altLang="zh-CN" sz="2400"/>
              <a:t>≥0</a:t>
            </a:r>
            <a:r>
              <a:rPr lang="zh-CN" altLang="en-US" sz="2400"/>
              <a:t>。</a:t>
            </a:r>
            <a:br>
              <a:rPr lang="en-US" altLang="zh-CN" sz="2400"/>
            </a:br>
            <a:r>
              <a:rPr lang="zh-CN" altLang="en-US" sz="2400"/>
              <a:t>则</a:t>
            </a:r>
            <a:r>
              <a:rPr lang="zh-CN" altLang="en-US" sz="2400">
                <a:solidFill>
                  <a:srgbClr val="FF0000"/>
                </a:solidFill>
              </a:rPr>
              <a:t>原问题单纯形表的检验数行</a:t>
            </a:r>
            <a:r>
              <a:rPr lang="zh-CN" altLang="en-US" sz="2400">
                <a:solidFill>
                  <a:srgbClr val="0000FF"/>
                </a:solidFill>
              </a:rPr>
              <a:t>对应</a:t>
            </a:r>
            <a:r>
              <a:rPr lang="zh-CN" altLang="en-US" sz="2400">
                <a:solidFill>
                  <a:srgbClr val="FF0000"/>
                </a:solidFill>
              </a:rPr>
              <a:t>其对偶问题的一个基解</a:t>
            </a:r>
            <a:r>
              <a:rPr lang="zh-CN" altLang="en-US" sz="2400"/>
              <a:t>，对应关系如下：</a:t>
            </a:r>
            <a:endParaRPr lang="zh-CN" altLang="el-GR" sz="2400"/>
          </a:p>
        </p:txBody>
      </p:sp>
      <p:graphicFrame>
        <p:nvGraphicFramePr>
          <p:cNvPr id="111673" name="Group 57">
            <a:extLst>
              <a:ext uri="{FF2B5EF4-FFF2-40B4-BE49-F238E27FC236}">
                <a16:creationId xmlns:a16="http://schemas.microsoft.com/office/drawing/2014/main" id="{D333EB8C-D8E2-493D-9A37-D3EEE0CEDC6A}"/>
              </a:ext>
            </a:extLst>
          </p:cNvPr>
          <p:cNvGraphicFramePr>
            <a:graphicFrameLocks noGrp="1"/>
          </p:cNvGraphicFramePr>
          <p:nvPr>
            <p:ph sz="half" idx="2"/>
          </p:nvPr>
        </p:nvGraphicFramePr>
        <p:xfrm>
          <a:off x="762000" y="3998913"/>
          <a:ext cx="7086600" cy="1335088"/>
        </p:xfrm>
        <a:graphic>
          <a:graphicData uri="http://schemas.openxmlformats.org/drawingml/2006/table">
            <a:tbl>
              <a:tblPr/>
              <a:tblGrid>
                <a:gridCol w="144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457200">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原问题</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N</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r>
                        <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s</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9738">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检验数</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N </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C</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对偶问题</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s1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s2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a:t>
                      </a:r>
                      <a:endPar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 name="矩形 2">
            <a:extLst>
              <a:ext uri="{FF2B5EF4-FFF2-40B4-BE49-F238E27FC236}">
                <a16:creationId xmlns:a16="http://schemas.microsoft.com/office/drawing/2014/main" id="{99AD86F8-5737-476C-8DA6-1657ABAF1163}"/>
              </a:ext>
            </a:extLst>
          </p:cNvPr>
          <p:cNvSpPr>
            <a:spLocks noChangeArrowheads="1"/>
          </p:cNvSpPr>
          <p:nvPr/>
        </p:nvSpPr>
        <p:spPr bwMode="auto">
          <a:xfrm>
            <a:off x="1676400" y="5480050"/>
            <a:ext cx="5486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latin typeface="Times New Roman" panose="02020603050405020304" pitchFamily="18" charset="0"/>
              </a:rPr>
              <a:t>Y</a:t>
            </a:r>
            <a:r>
              <a:rPr lang="en-US" altLang="zh-CN" b="1" baseline="-25000">
                <a:latin typeface="Times New Roman" panose="02020603050405020304" pitchFamily="18" charset="0"/>
              </a:rPr>
              <a:t>s1</a:t>
            </a:r>
            <a:r>
              <a:rPr lang="zh-CN" altLang="en-US"/>
              <a:t>是对应原问题中基变量</a:t>
            </a:r>
            <a:r>
              <a:rPr lang="en-US" altLang="zh-CN" b="1">
                <a:latin typeface="Times New Roman" panose="02020603050405020304" pitchFamily="18" charset="0"/>
              </a:rPr>
              <a:t>X</a:t>
            </a:r>
            <a:r>
              <a:rPr lang="en-US" altLang="zh-CN" b="1" baseline="-25000">
                <a:latin typeface="Times New Roman" panose="02020603050405020304" pitchFamily="18" charset="0"/>
              </a:rPr>
              <a:t>B</a:t>
            </a:r>
            <a:r>
              <a:rPr lang="zh-CN" altLang="en-US"/>
              <a:t>的剩余变量；</a:t>
            </a:r>
            <a:endParaRPr lang="en-US" altLang="zh-CN"/>
          </a:p>
          <a:p>
            <a:r>
              <a:rPr lang="en-US" altLang="zh-CN" b="1">
                <a:latin typeface="Times New Roman" panose="02020603050405020304" pitchFamily="18" charset="0"/>
              </a:rPr>
              <a:t>Y</a:t>
            </a:r>
            <a:r>
              <a:rPr lang="en-US" altLang="zh-CN" b="1" baseline="-25000">
                <a:latin typeface="Times New Roman" panose="02020603050405020304" pitchFamily="18" charset="0"/>
              </a:rPr>
              <a:t>s2</a:t>
            </a:r>
            <a:r>
              <a:rPr lang="zh-CN" altLang="en-US"/>
              <a:t>是对应原问题中非基变量</a:t>
            </a:r>
            <a:r>
              <a:rPr lang="en-US" altLang="zh-CN" b="1">
                <a:latin typeface="Times New Roman" panose="02020603050405020304" pitchFamily="18" charset="0"/>
              </a:rPr>
              <a:t>X</a:t>
            </a:r>
            <a:r>
              <a:rPr lang="en-US" altLang="zh-CN" b="1" baseline="-25000">
                <a:latin typeface="Times New Roman" panose="02020603050405020304" pitchFamily="18" charset="0"/>
              </a:rPr>
              <a:t>N</a:t>
            </a:r>
            <a:r>
              <a:rPr lang="zh-CN" altLang="en-US"/>
              <a:t>的剩余变量。</a:t>
            </a:r>
          </a:p>
        </p:txBody>
      </p:sp>
      <p:grpSp>
        <p:nvGrpSpPr>
          <p:cNvPr id="4" name="组合 3">
            <a:extLst>
              <a:ext uri="{FF2B5EF4-FFF2-40B4-BE49-F238E27FC236}">
                <a16:creationId xmlns:a16="http://schemas.microsoft.com/office/drawing/2014/main" id="{8DEEFAA1-9442-477D-860E-12AFD929032E}"/>
              </a:ext>
            </a:extLst>
          </p:cNvPr>
          <p:cNvGrpSpPr>
            <a:grpSpLocks/>
          </p:cNvGrpSpPr>
          <p:nvPr/>
        </p:nvGrpSpPr>
        <p:grpSpPr bwMode="auto">
          <a:xfrm>
            <a:off x="2362200" y="3519488"/>
            <a:ext cx="6400800" cy="2211387"/>
            <a:chOff x="2362200" y="3519488"/>
            <a:chExt cx="6400800" cy="2210594"/>
          </a:xfrm>
        </p:grpSpPr>
        <p:grpSp>
          <p:nvGrpSpPr>
            <p:cNvPr id="63516" name="组合 1">
              <a:extLst>
                <a:ext uri="{FF2B5EF4-FFF2-40B4-BE49-F238E27FC236}">
                  <a16:creationId xmlns:a16="http://schemas.microsoft.com/office/drawing/2014/main" id="{787F045F-C557-4B2B-BCF3-A2CDA6020BC5}"/>
                </a:ext>
              </a:extLst>
            </p:cNvPr>
            <p:cNvGrpSpPr>
              <a:grpSpLocks/>
            </p:cNvGrpSpPr>
            <p:nvPr/>
          </p:nvGrpSpPr>
          <p:grpSpPr bwMode="auto">
            <a:xfrm>
              <a:off x="2362200" y="3519488"/>
              <a:ext cx="6400800" cy="376237"/>
              <a:chOff x="2362201" y="3519991"/>
              <a:chExt cx="6401718" cy="375456"/>
            </a:xfrm>
          </p:grpSpPr>
          <p:sp>
            <p:nvSpPr>
              <p:cNvPr id="63518" name="Rectangle 9">
                <a:extLst>
                  <a:ext uri="{FF2B5EF4-FFF2-40B4-BE49-F238E27FC236}">
                    <a16:creationId xmlns:a16="http://schemas.microsoft.com/office/drawing/2014/main" id="{B3F56B50-2E87-42EE-AD0D-61344FABFA3A}"/>
                  </a:ext>
                </a:extLst>
              </p:cNvPr>
              <p:cNvSpPr>
                <a:spLocks noChangeArrowheads="1"/>
              </p:cNvSpPr>
              <p:nvPr/>
            </p:nvSpPr>
            <p:spPr bwMode="auto">
              <a:xfrm>
                <a:off x="2362201" y="3526115"/>
                <a:ext cx="914399" cy="369332"/>
              </a:xfrm>
              <a:prstGeom prst="rect">
                <a:avLst/>
              </a:prstGeom>
              <a:noFill/>
              <a:ln w="952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a:solidFill>
                      <a:srgbClr val="FF00FF"/>
                    </a:solidFill>
                  </a:rPr>
                  <a:t>基变量</a:t>
                </a:r>
              </a:p>
            </p:txBody>
          </p:sp>
          <p:sp>
            <p:nvSpPr>
              <p:cNvPr id="63519" name="Rectangle 9">
                <a:extLst>
                  <a:ext uri="{FF2B5EF4-FFF2-40B4-BE49-F238E27FC236}">
                    <a16:creationId xmlns:a16="http://schemas.microsoft.com/office/drawing/2014/main" id="{543278D3-DE6B-46F4-B8A4-102DE38A07A6}"/>
                  </a:ext>
                </a:extLst>
              </p:cNvPr>
              <p:cNvSpPr>
                <a:spLocks noChangeArrowheads="1"/>
              </p:cNvSpPr>
              <p:nvPr/>
            </p:nvSpPr>
            <p:spPr bwMode="auto">
              <a:xfrm>
                <a:off x="3924300" y="3519991"/>
                <a:ext cx="1143000" cy="369332"/>
              </a:xfrm>
              <a:prstGeom prst="rect">
                <a:avLst/>
              </a:prstGeom>
              <a:noFill/>
              <a:ln w="952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a:solidFill>
                      <a:srgbClr val="FF00FF"/>
                    </a:solidFill>
                  </a:rPr>
                  <a:t>非基变量</a:t>
                </a:r>
              </a:p>
            </p:txBody>
          </p:sp>
          <p:sp>
            <p:nvSpPr>
              <p:cNvPr id="63520" name="Rectangle 9">
                <a:extLst>
                  <a:ext uri="{FF2B5EF4-FFF2-40B4-BE49-F238E27FC236}">
                    <a16:creationId xmlns:a16="http://schemas.microsoft.com/office/drawing/2014/main" id="{7D3C0142-FF39-4EA6-9596-6921A8FD66A5}"/>
                  </a:ext>
                </a:extLst>
              </p:cNvPr>
              <p:cNvSpPr>
                <a:spLocks noChangeArrowheads="1"/>
              </p:cNvSpPr>
              <p:nvPr/>
            </p:nvSpPr>
            <p:spPr bwMode="auto">
              <a:xfrm>
                <a:off x="5486849" y="3519991"/>
                <a:ext cx="3277070" cy="368433"/>
              </a:xfrm>
              <a:prstGeom prst="rect">
                <a:avLst/>
              </a:prstGeom>
              <a:noFill/>
              <a:ln w="952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a:solidFill>
                      <a:srgbClr val="FF00FF"/>
                    </a:solidFill>
                  </a:rPr>
                  <a:t>原问题</a:t>
                </a:r>
                <a:r>
                  <a:rPr lang="en-US" altLang="zh-CN" b="1">
                    <a:solidFill>
                      <a:srgbClr val="FF00FF"/>
                    </a:solidFill>
                  </a:rPr>
                  <a:t>AX</a:t>
                </a:r>
                <a:r>
                  <a:rPr lang="en-US" altLang="zh-CN">
                    <a:solidFill>
                      <a:srgbClr val="FF00FF"/>
                    </a:solidFill>
                  </a:rPr>
                  <a:t>+</a:t>
                </a:r>
                <a:r>
                  <a:rPr lang="en-US" altLang="zh-CN" b="1">
                    <a:solidFill>
                      <a:srgbClr val="FF00FF"/>
                    </a:solidFill>
                  </a:rPr>
                  <a:t>X</a:t>
                </a:r>
                <a:r>
                  <a:rPr lang="en-US" altLang="zh-CN" baseline="-25000">
                    <a:solidFill>
                      <a:srgbClr val="FF00FF"/>
                    </a:solidFill>
                  </a:rPr>
                  <a:t>S</a:t>
                </a:r>
                <a:r>
                  <a:rPr lang="en-US" altLang="zh-CN">
                    <a:solidFill>
                      <a:srgbClr val="FF00FF"/>
                    </a:solidFill>
                  </a:rPr>
                  <a:t>=</a:t>
                </a:r>
                <a:r>
                  <a:rPr lang="en-US" altLang="zh-CN" b="1">
                    <a:solidFill>
                      <a:srgbClr val="FF00FF"/>
                    </a:solidFill>
                  </a:rPr>
                  <a:t>b</a:t>
                </a:r>
                <a:r>
                  <a:rPr lang="zh-CN" altLang="en-US">
                    <a:solidFill>
                      <a:srgbClr val="FF00FF"/>
                    </a:solidFill>
                  </a:rPr>
                  <a:t>中的松弛变量</a:t>
                </a:r>
              </a:p>
            </p:txBody>
          </p:sp>
        </p:grpSp>
        <p:sp>
          <p:nvSpPr>
            <p:cNvPr id="63517" name="Rectangle 9">
              <a:extLst>
                <a:ext uri="{FF2B5EF4-FFF2-40B4-BE49-F238E27FC236}">
                  <a16:creationId xmlns:a16="http://schemas.microsoft.com/office/drawing/2014/main" id="{279F2DC0-C129-4F6F-B54F-E58F0576933E}"/>
                </a:ext>
              </a:extLst>
            </p:cNvPr>
            <p:cNvSpPr>
              <a:spLocks noChangeArrowheads="1"/>
            </p:cNvSpPr>
            <p:nvPr/>
          </p:nvSpPr>
          <p:spPr bwMode="auto">
            <a:xfrm>
              <a:off x="6057900" y="5360750"/>
              <a:ext cx="1905000" cy="369332"/>
            </a:xfrm>
            <a:prstGeom prst="rect">
              <a:avLst/>
            </a:prstGeom>
            <a:noFill/>
            <a:ln w="952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a:solidFill>
                    <a:srgbClr val="FF00FF"/>
                  </a:solidFill>
                </a:rPr>
                <a:t>对偶问题的变量</a:t>
              </a:r>
            </a:p>
          </p:txBody>
        </p:sp>
      </p:grpSp>
      <p:sp>
        <p:nvSpPr>
          <p:cNvPr id="2" name="矩形 1">
            <a:extLst>
              <a:ext uri="{FF2B5EF4-FFF2-40B4-BE49-F238E27FC236}">
                <a16:creationId xmlns:a16="http://schemas.microsoft.com/office/drawing/2014/main" id="{45ABACF0-3F02-44A5-A3F8-8D3D6EE4E0CA}"/>
              </a:ext>
            </a:extLst>
          </p:cNvPr>
          <p:cNvSpPr>
            <a:spLocks noChangeArrowheads="1"/>
          </p:cNvSpPr>
          <p:nvPr/>
        </p:nvSpPr>
        <p:spPr bwMode="auto">
          <a:xfrm>
            <a:off x="762000" y="6140450"/>
            <a:ext cx="4514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rPr>
              <a:t>对偶单纯形法的理论基础之一</a:t>
            </a:r>
            <a:r>
              <a:rPr lang="en-US" altLang="zh-CN" sz="2400" b="1">
                <a:solidFill>
                  <a:srgbClr val="FF0000"/>
                </a:solidFill>
              </a:rPr>
              <a:t>!!!</a:t>
            </a:r>
            <a:endParaRPr lang="zh-CN" altLang="en-US" sz="2400" b="1">
              <a:solidFill>
                <a:srgbClr val="FF0000"/>
              </a:solidFill>
            </a:endParaRPr>
          </a:p>
        </p:txBody>
      </p:sp>
      <p:sp>
        <p:nvSpPr>
          <p:cNvPr id="13" name="矩形 12">
            <a:extLst>
              <a:ext uri="{FF2B5EF4-FFF2-40B4-BE49-F238E27FC236}">
                <a16:creationId xmlns:a16="http://schemas.microsoft.com/office/drawing/2014/main" id="{FE5D2A56-653F-4AB2-BD93-707A102F4216}"/>
              </a:ext>
            </a:extLst>
          </p:cNvPr>
          <p:cNvSpPr>
            <a:spLocks noChangeArrowheads="1"/>
          </p:cNvSpPr>
          <p:nvPr/>
        </p:nvSpPr>
        <p:spPr bwMode="auto">
          <a:xfrm>
            <a:off x="7026275" y="4879975"/>
            <a:ext cx="1730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rPr>
              <a:t>影子价格</a:t>
            </a:r>
            <a:r>
              <a:rPr lang="en-US" altLang="zh-CN" sz="2400" b="1">
                <a:solidFill>
                  <a:srgbClr val="FF0000"/>
                </a:solidFill>
              </a:rPr>
              <a:t>!!!</a:t>
            </a:r>
            <a:endParaRPr lang="zh-CN" altLang="en-US" sz="24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blinds(horizontal)">
                                      <p:cBhvr>
                                        <p:cTn id="7" dur="500"/>
                                        <p:tgtEl>
                                          <p:spTgt spid="111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1619">
                                            <p:txEl>
                                              <p:pRg st="1" end="1"/>
                                            </p:txEl>
                                          </p:spTgt>
                                        </p:tgtEl>
                                        <p:attrNameLst>
                                          <p:attrName>style.visibility</p:attrName>
                                        </p:attrNameLst>
                                      </p:cBhvr>
                                      <p:to>
                                        <p:strVal val="visible"/>
                                      </p:to>
                                    </p:set>
                                    <p:animEffect transition="in" filter="blinds(horizontal)">
                                      <p:cBhvr>
                                        <p:cTn id="12" dur="500"/>
                                        <p:tgtEl>
                                          <p:spTgt spid="1116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167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4" presetClass="entr" presetSubtype="10" fill="hold" nodeType="clickEffect">
                                  <p:stCondLst>
                                    <p:cond delay="0"/>
                                  </p:stCondLst>
                                  <p:childTnLst>
                                    <p:set>
                                      <p:cBhvr>
                                        <p:cTn id="28"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9" dur="500"/>
                                        <p:tgtEl>
                                          <p:spTgt spid="2">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4" presetClass="entr" presetSubtype="10" fill="hold" nodeType="clickEffect">
                                  <p:stCondLst>
                                    <p:cond delay="0"/>
                                  </p:stCondLst>
                                  <p:childTnLst>
                                    <p:set>
                                      <p:cBhvr>
                                        <p:cTn id="33"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34"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Text Box 2">
            <a:extLst>
              <a:ext uri="{FF2B5EF4-FFF2-40B4-BE49-F238E27FC236}">
                <a16:creationId xmlns:a16="http://schemas.microsoft.com/office/drawing/2014/main" id="{ED61FDB7-FDA3-4C5A-B3BE-CFE199CCCDC2}"/>
              </a:ext>
            </a:extLst>
          </p:cNvPr>
          <p:cNvSpPr txBox="1">
            <a:spLocks noChangeArrowheads="1"/>
          </p:cNvSpPr>
          <p:nvPr/>
        </p:nvSpPr>
        <p:spPr bwMode="auto">
          <a:xfrm>
            <a:off x="425450" y="230188"/>
            <a:ext cx="4343400" cy="647700"/>
          </a:xfrm>
          <a:prstGeom prst="rect">
            <a:avLst/>
          </a:prstGeom>
          <a:noFill/>
          <a:ln w="28575" algn="ctr">
            <a:noFill/>
            <a:miter lim="800000"/>
            <a:headEnd/>
            <a:tailEnd/>
          </a:ln>
          <a:effectLst/>
        </p:spPr>
        <p:txBody>
          <a:bodyPr>
            <a:spAutoFit/>
          </a:bodyPr>
          <a:lstStyle/>
          <a:p>
            <a:pPr eaLnBrk="1" hangingPunct="1">
              <a:defRPr/>
            </a:pPr>
            <a:r>
              <a:rPr lang="zh-CN" altLang="en-US" sz="3600" b="1" dirty="0">
                <a:solidFill>
                  <a:srgbClr val="FF00FF"/>
                </a:solidFill>
                <a:latin typeface="Times New Roman" panose="02020603050405020304" pitchFamily="18" charset="0"/>
              </a:rPr>
              <a:t>互补</a:t>
            </a:r>
            <a:r>
              <a:rPr lang="zh-CN" altLang="en-US" sz="3600" b="1" dirty="0">
                <a:latin typeface="Times New Roman" panose="02020603050405020304" pitchFamily="18" charset="0"/>
              </a:rPr>
              <a:t>的基解的</a:t>
            </a:r>
            <a:r>
              <a:rPr lang="zh-CN" altLang="en-US" sz="3600" b="1" dirty="0">
                <a:effectLst>
                  <a:outerShdw blurRad="38100" dist="38100" dir="2700000" algn="tl">
                    <a:srgbClr val="C0C0C0"/>
                  </a:outerShdw>
                </a:effectLst>
                <a:latin typeface="Arial" charset="0"/>
              </a:rPr>
              <a:t>解释</a:t>
            </a:r>
            <a:endParaRPr lang="en-US" altLang="zh-CN" sz="3600" b="1" dirty="0">
              <a:effectLst>
                <a:outerShdw blurRad="38100" dist="38100" dir="2700000" algn="tl">
                  <a:srgbClr val="C0C0C0"/>
                </a:outerShdw>
              </a:effectLst>
              <a:latin typeface="Arial" charset="0"/>
            </a:endParaRPr>
          </a:p>
        </p:txBody>
      </p:sp>
      <p:sp>
        <p:nvSpPr>
          <p:cNvPr id="232451" name="Text Box 3">
            <a:extLst>
              <a:ext uri="{FF2B5EF4-FFF2-40B4-BE49-F238E27FC236}">
                <a16:creationId xmlns:a16="http://schemas.microsoft.com/office/drawing/2014/main" id="{25E4A5A2-B1A2-4155-A67A-9C46BCA7B624}"/>
              </a:ext>
            </a:extLst>
          </p:cNvPr>
          <p:cNvSpPr txBox="1">
            <a:spLocks noChangeArrowheads="1"/>
          </p:cNvSpPr>
          <p:nvPr/>
        </p:nvSpPr>
        <p:spPr bwMode="auto">
          <a:xfrm>
            <a:off x="457200" y="871538"/>
            <a:ext cx="8367713" cy="1754187"/>
          </a:xfrm>
          <a:prstGeom prst="rect">
            <a:avLst/>
          </a:prstGeom>
          <a:noFill/>
          <a:ln w="9525" algn="ctr">
            <a:noFill/>
            <a:miter lim="800000"/>
            <a:headEnd/>
            <a:tailEnd/>
          </a:ln>
          <a:effectLst/>
        </p:spPr>
        <p:txBody>
          <a:bodyPr>
            <a:spAutoFit/>
          </a:bodyPr>
          <a:lstStyle/>
          <a:p>
            <a:pPr eaLnBrk="1" hangingPunct="1">
              <a:defRPr/>
            </a:pPr>
            <a:r>
              <a:rPr lang="zh-CN" altLang="en-US" dirty="0">
                <a:effectLst>
                  <a:outerShdw blurRad="38100" dist="38100" dir="2700000" algn="tl">
                    <a:srgbClr val="FFFFFF"/>
                  </a:outerShdw>
                </a:effectLst>
                <a:latin typeface="+mn-ea"/>
                <a:ea typeface="+mn-ea"/>
              </a:rPr>
              <a:t>线性规划的原问题及其对偶问题之间：</a:t>
            </a:r>
          </a:p>
          <a:p>
            <a:pPr eaLnBrk="1" hangingPunct="1">
              <a:defRPr/>
            </a:pPr>
            <a:r>
              <a:rPr lang="zh-CN" altLang="en-US" dirty="0">
                <a:effectLst>
                  <a:outerShdw blurRad="38100" dist="38100" dir="2700000" algn="tl">
                    <a:srgbClr val="FFFFFF"/>
                  </a:outerShdw>
                </a:effectLst>
                <a:latin typeface="+mn-ea"/>
                <a:ea typeface="+mn-ea"/>
              </a:rPr>
              <a:t>①存在一对互补的基解</a:t>
            </a:r>
            <a:r>
              <a:rPr lang="en-US" altLang="zh-CN" dirty="0">
                <a:effectLst>
                  <a:outerShdw blurRad="38100" dist="38100" dir="2700000" algn="tl">
                    <a:srgbClr val="FFFFFF"/>
                  </a:outerShdw>
                </a:effectLst>
                <a:latin typeface="+mn-ea"/>
                <a:ea typeface="+mn-ea"/>
              </a:rPr>
              <a:t>, </a:t>
            </a:r>
            <a:r>
              <a:rPr lang="zh-CN" altLang="en-US" dirty="0">
                <a:effectLst>
                  <a:outerShdw blurRad="38100" dist="38100" dir="2700000" algn="tl">
                    <a:srgbClr val="FFFFFF"/>
                  </a:outerShdw>
                </a:effectLst>
                <a:latin typeface="+mn-ea"/>
                <a:ea typeface="+mn-ea"/>
              </a:rPr>
              <a:t>其中原问题的</a:t>
            </a:r>
            <a:r>
              <a:rPr lang="zh-CN" altLang="en-US" dirty="0">
                <a:solidFill>
                  <a:srgbClr val="FF00FF"/>
                </a:solidFill>
                <a:effectLst>
                  <a:outerShdw blurRad="38100" dist="38100" dir="2700000" algn="tl">
                    <a:srgbClr val="FFFFFF"/>
                  </a:outerShdw>
                </a:effectLst>
                <a:latin typeface="+mn-ea"/>
                <a:ea typeface="+mn-ea"/>
              </a:rPr>
              <a:t>松弛变量</a:t>
            </a:r>
            <a:r>
              <a:rPr lang="zh-CN" altLang="en-US" dirty="0">
                <a:effectLst>
                  <a:outerShdw blurRad="38100" dist="38100" dir="2700000" algn="tl">
                    <a:srgbClr val="FFFFFF"/>
                  </a:outerShdw>
                </a:effectLst>
                <a:latin typeface="+mn-ea"/>
                <a:ea typeface="+mn-ea"/>
              </a:rPr>
              <a:t>对应对偶问题的</a:t>
            </a:r>
            <a:r>
              <a:rPr lang="zh-CN" altLang="en-US" dirty="0">
                <a:solidFill>
                  <a:srgbClr val="FF00FF"/>
                </a:solidFill>
                <a:effectLst>
                  <a:outerShdw blurRad="38100" dist="38100" dir="2700000" algn="tl">
                    <a:srgbClr val="FFFFFF"/>
                  </a:outerShdw>
                </a:effectLst>
                <a:latin typeface="+mn-ea"/>
                <a:ea typeface="+mn-ea"/>
              </a:rPr>
              <a:t>变量</a:t>
            </a:r>
            <a:r>
              <a:rPr lang="en-US" altLang="zh-CN" dirty="0">
                <a:effectLst>
                  <a:outerShdw blurRad="38100" dist="38100" dir="2700000" algn="tl">
                    <a:srgbClr val="FFFFFF"/>
                  </a:outerShdw>
                </a:effectLst>
                <a:latin typeface="+mn-ea"/>
                <a:ea typeface="+mn-ea"/>
              </a:rPr>
              <a:t>, </a:t>
            </a:r>
            <a:r>
              <a:rPr lang="zh-CN" altLang="en-US" dirty="0">
                <a:effectLst>
                  <a:outerShdw blurRad="38100" dist="38100" dir="2700000" algn="tl">
                    <a:srgbClr val="FFFFFF"/>
                  </a:outerShdw>
                </a:effectLst>
                <a:latin typeface="+mn-ea"/>
                <a:ea typeface="+mn-ea"/>
              </a:rPr>
              <a:t>对偶问题的</a:t>
            </a:r>
            <a:r>
              <a:rPr lang="zh-CN" altLang="en-US" dirty="0">
                <a:solidFill>
                  <a:srgbClr val="FF00FF"/>
                </a:solidFill>
                <a:effectLst>
                  <a:outerShdw blurRad="38100" dist="38100" dir="2700000" algn="tl">
                    <a:srgbClr val="FFFFFF"/>
                  </a:outerShdw>
                </a:effectLst>
                <a:latin typeface="+mn-ea"/>
                <a:ea typeface="+mn-ea"/>
              </a:rPr>
              <a:t>剩余变量</a:t>
            </a:r>
            <a:r>
              <a:rPr lang="zh-CN" altLang="en-US" dirty="0">
                <a:effectLst>
                  <a:outerShdw blurRad="38100" dist="38100" dir="2700000" algn="tl">
                    <a:srgbClr val="FFFFFF"/>
                  </a:outerShdw>
                </a:effectLst>
                <a:latin typeface="+mn-ea"/>
                <a:ea typeface="+mn-ea"/>
              </a:rPr>
              <a:t>对应原问题的</a:t>
            </a:r>
            <a:r>
              <a:rPr lang="zh-CN" altLang="en-US" dirty="0">
                <a:solidFill>
                  <a:srgbClr val="FF00FF"/>
                </a:solidFill>
                <a:effectLst>
                  <a:outerShdw blurRad="38100" dist="38100" dir="2700000" algn="tl">
                    <a:srgbClr val="FFFFFF"/>
                  </a:outerShdw>
                </a:effectLst>
                <a:latin typeface="+mn-ea"/>
                <a:ea typeface="+mn-ea"/>
              </a:rPr>
              <a:t>变量</a:t>
            </a:r>
            <a:r>
              <a:rPr lang="zh-CN" altLang="en-US" dirty="0">
                <a:effectLst>
                  <a:outerShdw blurRad="38100" dist="38100" dir="2700000" algn="tl">
                    <a:srgbClr val="FFFFFF"/>
                  </a:outerShdw>
                </a:effectLst>
                <a:latin typeface="+mn-ea"/>
                <a:ea typeface="+mn-ea"/>
              </a:rPr>
              <a:t>；</a:t>
            </a:r>
          </a:p>
          <a:p>
            <a:pPr eaLnBrk="1" hangingPunct="1">
              <a:defRPr/>
            </a:pPr>
            <a:r>
              <a:rPr lang="zh-CN" altLang="en-US" dirty="0">
                <a:effectLst>
                  <a:outerShdw blurRad="38100" dist="38100" dir="2700000" algn="tl">
                    <a:srgbClr val="FFFFFF"/>
                  </a:outerShdw>
                </a:effectLst>
                <a:latin typeface="+mn-ea"/>
                <a:ea typeface="+mn-ea"/>
              </a:rPr>
              <a:t>②这些互相对应的变量如果在一个问题的解中是</a:t>
            </a:r>
            <a:r>
              <a:rPr lang="zh-CN" altLang="en-US" dirty="0">
                <a:solidFill>
                  <a:srgbClr val="FF00FF"/>
                </a:solidFill>
                <a:effectLst>
                  <a:outerShdw blurRad="38100" dist="38100" dir="2700000" algn="tl">
                    <a:srgbClr val="FFFFFF"/>
                  </a:outerShdw>
                </a:effectLst>
                <a:latin typeface="+mn-ea"/>
                <a:ea typeface="+mn-ea"/>
              </a:rPr>
              <a:t>基变量</a:t>
            </a:r>
            <a:r>
              <a:rPr lang="en-US" altLang="zh-CN" dirty="0">
                <a:effectLst>
                  <a:outerShdw blurRad="38100" dist="38100" dir="2700000" algn="tl">
                    <a:srgbClr val="FFFFFF"/>
                  </a:outerShdw>
                </a:effectLst>
                <a:latin typeface="+mn-ea"/>
                <a:ea typeface="+mn-ea"/>
              </a:rPr>
              <a:t>, </a:t>
            </a:r>
            <a:r>
              <a:rPr lang="zh-CN" altLang="en-US" dirty="0">
                <a:effectLst>
                  <a:outerShdw blurRad="38100" dist="38100" dir="2700000" algn="tl">
                    <a:srgbClr val="FFFFFF"/>
                  </a:outerShdw>
                </a:effectLst>
                <a:latin typeface="+mn-ea"/>
                <a:ea typeface="+mn-ea"/>
              </a:rPr>
              <a:t>则在另一问题的解中是</a:t>
            </a:r>
            <a:r>
              <a:rPr lang="zh-CN" altLang="en-US" dirty="0">
                <a:solidFill>
                  <a:srgbClr val="FF00FF"/>
                </a:solidFill>
                <a:effectLst>
                  <a:outerShdw blurRad="38100" dist="38100" dir="2700000" algn="tl">
                    <a:srgbClr val="FFFFFF"/>
                  </a:outerShdw>
                </a:effectLst>
                <a:latin typeface="+mn-ea"/>
                <a:ea typeface="+mn-ea"/>
              </a:rPr>
              <a:t>非基变量</a:t>
            </a:r>
            <a:r>
              <a:rPr lang="zh-CN" altLang="en-US" dirty="0">
                <a:effectLst>
                  <a:outerShdw blurRad="38100" dist="38100" dir="2700000" algn="tl">
                    <a:srgbClr val="FFFFFF"/>
                  </a:outerShdw>
                </a:effectLst>
                <a:latin typeface="+mn-ea"/>
                <a:ea typeface="+mn-ea"/>
              </a:rPr>
              <a:t>；</a:t>
            </a:r>
          </a:p>
          <a:p>
            <a:pPr eaLnBrk="1" hangingPunct="1">
              <a:defRPr/>
            </a:pPr>
            <a:r>
              <a:rPr lang="zh-CN" altLang="en-US" dirty="0">
                <a:effectLst>
                  <a:outerShdw blurRad="38100" dist="38100" dir="2700000" algn="tl">
                    <a:srgbClr val="FFFFFF"/>
                  </a:outerShdw>
                </a:effectLst>
                <a:latin typeface="+mn-ea"/>
                <a:ea typeface="+mn-ea"/>
              </a:rPr>
              <a:t>③将这对互补的基解分别代入对偶问题的目标函数有</a:t>
            </a:r>
            <a:r>
              <a:rPr lang="en-US" altLang="zh-CN" dirty="0">
                <a:solidFill>
                  <a:srgbClr val="FF00FF"/>
                </a:solidFill>
                <a:effectLst>
                  <a:outerShdw blurRad="38100" dist="38100" dir="2700000" algn="tl">
                    <a:srgbClr val="FFFFFF"/>
                  </a:outerShdw>
                </a:effectLst>
                <a:latin typeface="+mn-ea"/>
                <a:ea typeface="+mn-ea"/>
              </a:rPr>
              <a:t>z=</a:t>
            </a:r>
            <a:r>
              <a:rPr lang="el-GR" altLang="zh-CN" dirty="0">
                <a:solidFill>
                  <a:srgbClr val="FF00FF"/>
                </a:solidFill>
                <a:effectLst>
                  <a:outerShdw blurRad="38100" dist="38100" dir="2700000" algn="tl">
                    <a:srgbClr val="FFFFFF"/>
                  </a:outerShdw>
                </a:effectLst>
                <a:latin typeface="+mn-ea"/>
                <a:ea typeface="+mn-ea"/>
              </a:rPr>
              <a:t>ω</a:t>
            </a:r>
            <a:r>
              <a:rPr lang="en-US" altLang="zh-CN" dirty="0">
                <a:effectLst>
                  <a:outerShdw blurRad="38100" dist="38100" dir="2700000" algn="tl">
                    <a:srgbClr val="FFFFFF"/>
                  </a:outerShdw>
                </a:effectLst>
                <a:latin typeface="+mn-ea"/>
                <a:ea typeface="+mn-ea"/>
              </a:rPr>
              <a:t>.</a:t>
            </a:r>
          </a:p>
        </p:txBody>
      </p:sp>
      <p:pic>
        <p:nvPicPr>
          <p:cNvPr id="64516" name="Picture 3">
            <a:extLst>
              <a:ext uri="{FF2B5EF4-FFF2-40B4-BE49-F238E27FC236}">
                <a16:creationId xmlns:a16="http://schemas.microsoft.com/office/drawing/2014/main" id="{1B449DF3-DDE7-4E3B-A33F-FA29656F9C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022725"/>
            <a:ext cx="836771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组合 11">
            <a:extLst>
              <a:ext uri="{FF2B5EF4-FFF2-40B4-BE49-F238E27FC236}">
                <a16:creationId xmlns:a16="http://schemas.microsoft.com/office/drawing/2014/main" id="{F769338B-6936-40F0-AE1E-0AB87FBEB4F8}"/>
              </a:ext>
            </a:extLst>
          </p:cNvPr>
          <p:cNvGrpSpPr>
            <a:grpSpLocks/>
          </p:cNvGrpSpPr>
          <p:nvPr/>
        </p:nvGrpSpPr>
        <p:grpSpPr bwMode="auto">
          <a:xfrm>
            <a:off x="4783138" y="5775325"/>
            <a:ext cx="2701925" cy="333375"/>
            <a:chOff x="4783049" y="6143625"/>
            <a:chExt cx="2702014" cy="333375"/>
          </a:xfrm>
        </p:grpSpPr>
        <p:graphicFrame>
          <p:nvGraphicFramePr>
            <p:cNvPr id="64531" name="对象 1">
              <a:extLst>
                <a:ext uri="{FF2B5EF4-FFF2-40B4-BE49-F238E27FC236}">
                  <a16:creationId xmlns:a16="http://schemas.microsoft.com/office/drawing/2014/main" id="{E446AAE9-09F2-46A0-A7FE-0EB972766726}"/>
                </a:ext>
              </a:extLst>
            </p:cNvPr>
            <p:cNvGraphicFramePr>
              <a:graphicFrameLocks noChangeAspect="1"/>
            </p:cNvGraphicFramePr>
            <p:nvPr/>
          </p:nvGraphicFramePr>
          <p:xfrm>
            <a:off x="4783049" y="6157295"/>
            <a:ext cx="703351" cy="319705"/>
          </p:xfrm>
          <a:graphic>
            <a:graphicData uri="http://schemas.openxmlformats.org/presentationml/2006/ole">
              <mc:AlternateContent xmlns:mc="http://schemas.openxmlformats.org/markup-compatibility/2006">
                <mc:Choice xmlns:v="urn:schemas-microsoft-com:vml" Requires="v">
                  <p:oleObj spid="_x0000_s65098" name="Equation" r:id="rId4" imgW="419100" imgH="190500" progId="Equation.DSMT4">
                    <p:embed/>
                  </p:oleObj>
                </mc:Choice>
                <mc:Fallback>
                  <p:oleObj name="Equation" r:id="rId4" imgW="419100" imgH="190500" progId="Equation.DSMT4">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3049" y="6157295"/>
                          <a:ext cx="703351" cy="319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32" name="对象 8">
              <a:extLst>
                <a:ext uri="{FF2B5EF4-FFF2-40B4-BE49-F238E27FC236}">
                  <a16:creationId xmlns:a16="http://schemas.microsoft.com/office/drawing/2014/main" id="{0D061E99-1A66-4DD9-9B47-259D60961E16}"/>
                </a:ext>
              </a:extLst>
            </p:cNvPr>
            <p:cNvGraphicFramePr>
              <a:graphicFrameLocks noChangeAspect="1"/>
            </p:cNvGraphicFramePr>
            <p:nvPr/>
          </p:nvGraphicFramePr>
          <p:xfrm>
            <a:off x="5811838" y="6157295"/>
            <a:ext cx="660400" cy="319088"/>
          </p:xfrm>
          <a:graphic>
            <a:graphicData uri="http://schemas.openxmlformats.org/presentationml/2006/ole">
              <mc:AlternateContent xmlns:mc="http://schemas.openxmlformats.org/markup-compatibility/2006">
                <mc:Choice xmlns:v="urn:schemas-microsoft-com:vml" Requires="v">
                  <p:oleObj spid="_x0000_s65099" name="Equation" r:id="rId6" imgW="393529" imgH="190417" progId="Equation.DSMT4">
                    <p:embed/>
                  </p:oleObj>
                </mc:Choice>
                <mc:Fallback>
                  <p:oleObj name="Equation" r:id="rId6" imgW="393529" imgH="190417" progId="Equation.DSMT4">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11838" y="6157295"/>
                          <a:ext cx="66040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33" name="对象 9">
              <a:extLst>
                <a:ext uri="{FF2B5EF4-FFF2-40B4-BE49-F238E27FC236}">
                  <a16:creationId xmlns:a16="http://schemas.microsoft.com/office/drawing/2014/main" id="{45AD0701-3C27-4C50-9824-317555256F42}"/>
                </a:ext>
              </a:extLst>
            </p:cNvPr>
            <p:cNvGraphicFramePr>
              <a:graphicFrameLocks noChangeAspect="1"/>
            </p:cNvGraphicFramePr>
            <p:nvPr/>
          </p:nvGraphicFramePr>
          <p:xfrm>
            <a:off x="6886575" y="6143625"/>
            <a:ext cx="598488" cy="319088"/>
          </p:xfrm>
          <a:graphic>
            <a:graphicData uri="http://schemas.openxmlformats.org/presentationml/2006/ole">
              <mc:AlternateContent xmlns:mc="http://schemas.openxmlformats.org/markup-compatibility/2006">
                <mc:Choice xmlns:v="urn:schemas-microsoft-com:vml" Requires="v">
                  <p:oleObj spid="_x0000_s65100" name="Equation" r:id="rId8" imgW="355446" imgH="190417" progId="Equation.DSMT4">
                    <p:embed/>
                  </p:oleObj>
                </mc:Choice>
                <mc:Fallback>
                  <p:oleObj name="Equation" r:id="rId8" imgW="355446" imgH="190417" progId="Equation.DSMT4">
                    <p:embed/>
                    <p:pic>
                      <p:nvPicPr>
                        <p:cNvPr id="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86575" y="6143625"/>
                          <a:ext cx="598488"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4518" name="对象 2">
            <a:extLst>
              <a:ext uri="{FF2B5EF4-FFF2-40B4-BE49-F238E27FC236}">
                <a16:creationId xmlns:a16="http://schemas.microsoft.com/office/drawing/2014/main" id="{24A8D9EA-68A1-4CB5-B184-BD723326DE58}"/>
              </a:ext>
            </a:extLst>
          </p:cNvPr>
          <p:cNvGraphicFramePr>
            <a:graphicFrameLocks noChangeAspect="1"/>
          </p:cNvGraphicFramePr>
          <p:nvPr/>
        </p:nvGraphicFramePr>
        <p:xfrm>
          <a:off x="990600" y="2651125"/>
          <a:ext cx="2538413" cy="1365250"/>
        </p:xfrm>
        <a:graphic>
          <a:graphicData uri="http://schemas.openxmlformats.org/presentationml/2006/ole">
            <mc:AlternateContent xmlns:mc="http://schemas.openxmlformats.org/markup-compatibility/2006">
              <mc:Choice xmlns:v="urn:schemas-microsoft-com:vml" Requires="v">
                <p:oleObj spid="_x0000_s65101" name="Equation" r:id="rId10" imgW="1511300" imgH="812800" progId="Equation.DSMT4">
                  <p:embed/>
                </p:oleObj>
              </mc:Choice>
              <mc:Fallback>
                <p:oleObj name="Equation" r:id="rId10" imgW="1511300" imgH="812800" progId="Equation.DSMT4">
                  <p:embed/>
                  <p:pic>
                    <p:nvPicPr>
                      <p:cNvPr id="0" name="对象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2651125"/>
                        <a:ext cx="2538413"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9" name="对象 17">
            <a:extLst>
              <a:ext uri="{FF2B5EF4-FFF2-40B4-BE49-F238E27FC236}">
                <a16:creationId xmlns:a16="http://schemas.microsoft.com/office/drawing/2014/main" id="{C0ED148A-0CD9-4CF5-87D9-EA53F1B7F8A5}"/>
              </a:ext>
            </a:extLst>
          </p:cNvPr>
          <p:cNvGraphicFramePr>
            <a:graphicFrameLocks noChangeAspect="1"/>
          </p:cNvGraphicFramePr>
          <p:nvPr/>
        </p:nvGraphicFramePr>
        <p:xfrm>
          <a:off x="5248275" y="2760663"/>
          <a:ext cx="2752725" cy="1109662"/>
        </p:xfrm>
        <a:graphic>
          <a:graphicData uri="http://schemas.openxmlformats.org/presentationml/2006/ole">
            <mc:AlternateContent xmlns:mc="http://schemas.openxmlformats.org/markup-compatibility/2006">
              <mc:Choice xmlns:v="urn:schemas-microsoft-com:vml" Requires="v">
                <p:oleObj spid="_x0000_s65102" name="Equation" r:id="rId12" imgW="1638300" imgH="660400" progId="Equation.DSMT4">
                  <p:embed/>
                </p:oleObj>
              </mc:Choice>
              <mc:Fallback>
                <p:oleObj name="Equation" r:id="rId12" imgW="1638300" imgH="660400" progId="Equation.DSMT4">
                  <p:embed/>
                  <p:pic>
                    <p:nvPicPr>
                      <p:cNvPr id="0" name="对象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48275" y="2760663"/>
                        <a:ext cx="2752725"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2" name="组合 21">
            <a:extLst>
              <a:ext uri="{FF2B5EF4-FFF2-40B4-BE49-F238E27FC236}">
                <a16:creationId xmlns:a16="http://schemas.microsoft.com/office/drawing/2014/main" id="{028DD41A-79AA-4C52-A23E-05B539599B3E}"/>
              </a:ext>
            </a:extLst>
          </p:cNvPr>
          <p:cNvGrpSpPr>
            <a:grpSpLocks/>
          </p:cNvGrpSpPr>
          <p:nvPr/>
        </p:nvGrpSpPr>
        <p:grpSpPr bwMode="auto">
          <a:xfrm>
            <a:off x="2787650" y="5789613"/>
            <a:ext cx="1606550" cy="320675"/>
            <a:chOff x="2787650" y="6157913"/>
            <a:chExt cx="1606550" cy="320675"/>
          </a:xfrm>
        </p:grpSpPr>
        <p:graphicFrame>
          <p:nvGraphicFramePr>
            <p:cNvPr id="64529" name="对象 18">
              <a:extLst>
                <a:ext uri="{FF2B5EF4-FFF2-40B4-BE49-F238E27FC236}">
                  <a16:creationId xmlns:a16="http://schemas.microsoft.com/office/drawing/2014/main" id="{5311D703-4FCA-459D-AEDE-BBB7096FAF30}"/>
                </a:ext>
              </a:extLst>
            </p:cNvPr>
            <p:cNvGraphicFramePr>
              <a:graphicFrameLocks noChangeAspect="1"/>
            </p:cNvGraphicFramePr>
            <p:nvPr/>
          </p:nvGraphicFramePr>
          <p:xfrm>
            <a:off x="2787650" y="6157913"/>
            <a:ext cx="596900" cy="319087"/>
          </p:xfrm>
          <a:graphic>
            <a:graphicData uri="http://schemas.openxmlformats.org/presentationml/2006/ole">
              <mc:AlternateContent xmlns:mc="http://schemas.openxmlformats.org/markup-compatibility/2006">
                <mc:Choice xmlns:v="urn:schemas-microsoft-com:vml" Requires="v">
                  <p:oleObj spid="_x0000_s65103" name="Equation" r:id="rId14" imgW="355446" imgH="190417" progId="Equation.DSMT4">
                    <p:embed/>
                  </p:oleObj>
                </mc:Choice>
                <mc:Fallback>
                  <p:oleObj name="Equation" r:id="rId14" imgW="355446" imgH="190417" progId="Equation.DSMT4">
                    <p:embed/>
                    <p:pic>
                      <p:nvPicPr>
                        <p:cNvPr id="0" name="对象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87650" y="6157913"/>
                          <a:ext cx="59690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30" name="对象 19">
              <a:extLst>
                <a:ext uri="{FF2B5EF4-FFF2-40B4-BE49-F238E27FC236}">
                  <a16:creationId xmlns:a16="http://schemas.microsoft.com/office/drawing/2014/main" id="{9CB42E3D-7522-45B7-AE73-1FF115F846BB}"/>
                </a:ext>
              </a:extLst>
            </p:cNvPr>
            <p:cNvGraphicFramePr>
              <a:graphicFrameLocks noChangeAspect="1"/>
            </p:cNvGraphicFramePr>
            <p:nvPr/>
          </p:nvGraphicFramePr>
          <p:xfrm>
            <a:off x="3797300" y="6159500"/>
            <a:ext cx="596900" cy="319088"/>
          </p:xfrm>
          <a:graphic>
            <a:graphicData uri="http://schemas.openxmlformats.org/presentationml/2006/ole">
              <mc:AlternateContent xmlns:mc="http://schemas.openxmlformats.org/markup-compatibility/2006">
                <mc:Choice xmlns:v="urn:schemas-microsoft-com:vml" Requires="v">
                  <p:oleObj spid="_x0000_s65104" name="Equation" r:id="rId16" imgW="355446" imgH="190417" progId="Equation.DSMT4">
                    <p:embed/>
                  </p:oleObj>
                </mc:Choice>
                <mc:Fallback>
                  <p:oleObj name="Equation" r:id="rId16" imgW="355446" imgH="190417" progId="Equation.DSMT4">
                    <p:embed/>
                    <p:pic>
                      <p:nvPicPr>
                        <p:cNvPr id="0" name="对象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97300" y="6159500"/>
                          <a:ext cx="59690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4521" name="Text Box 31">
            <a:extLst>
              <a:ext uri="{FF2B5EF4-FFF2-40B4-BE49-F238E27FC236}">
                <a16:creationId xmlns:a16="http://schemas.microsoft.com/office/drawing/2014/main" id="{EBDF3736-FF7C-4932-9445-8651131405AA}"/>
              </a:ext>
            </a:extLst>
          </p:cNvPr>
          <p:cNvSpPr txBox="1">
            <a:spLocks noChangeArrowheads="1"/>
          </p:cNvSpPr>
          <p:nvPr/>
        </p:nvSpPr>
        <p:spPr bwMode="auto">
          <a:xfrm>
            <a:off x="3608388" y="2760663"/>
            <a:ext cx="1630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3366"/>
                </a:solidFill>
              </a:rPr>
              <a:t>    对偶问题</a:t>
            </a:r>
            <a:endParaRPr lang="en-US" altLang="zh-CN">
              <a:solidFill>
                <a:srgbClr val="003366"/>
              </a:solidFill>
            </a:endParaRPr>
          </a:p>
        </p:txBody>
      </p:sp>
      <p:sp>
        <p:nvSpPr>
          <p:cNvPr id="8" name="箭头: 左右 7">
            <a:extLst>
              <a:ext uri="{FF2B5EF4-FFF2-40B4-BE49-F238E27FC236}">
                <a16:creationId xmlns:a16="http://schemas.microsoft.com/office/drawing/2014/main" id="{8BC676DB-2F51-4DF9-9CE0-0BFC9F365C25}"/>
              </a:ext>
            </a:extLst>
          </p:cNvPr>
          <p:cNvSpPr/>
          <p:nvPr/>
        </p:nvSpPr>
        <p:spPr>
          <a:xfrm>
            <a:off x="3849688" y="3065463"/>
            <a:ext cx="1227137" cy="2651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3" name="组合 22">
            <a:extLst>
              <a:ext uri="{FF2B5EF4-FFF2-40B4-BE49-F238E27FC236}">
                <a16:creationId xmlns:a16="http://schemas.microsoft.com/office/drawing/2014/main" id="{40473DF5-39A3-4F5D-9569-5C220E9876A0}"/>
              </a:ext>
            </a:extLst>
          </p:cNvPr>
          <p:cNvGrpSpPr>
            <a:grpSpLocks/>
          </p:cNvGrpSpPr>
          <p:nvPr/>
        </p:nvGrpSpPr>
        <p:grpSpPr bwMode="auto">
          <a:xfrm>
            <a:off x="2841625" y="6223000"/>
            <a:ext cx="4587875" cy="330200"/>
            <a:chOff x="2841625" y="6162675"/>
            <a:chExt cx="4587875" cy="330200"/>
          </a:xfrm>
        </p:grpSpPr>
        <p:graphicFrame>
          <p:nvGraphicFramePr>
            <p:cNvPr id="64524" name="对象 24">
              <a:extLst>
                <a:ext uri="{FF2B5EF4-FFF2-40B4-BE49-F238E27FC236}">
                  <a16:creationId xmlns:a16="http://schemas.microsoft.com/office/drawing/2014/main" id="{7DC6AC95-6B7A-4D95-87C7-C099FAD0B4D9}"/>
                </a:ext>
              </a:extLst>
            </p:cNvPr>
            <p:cNvGraphicFramePr>
              <a:graphicFrameLocks noChangeAspect="1"/>
            </p:cNvGraphicFramePr>
            <p:nvPr/>
          </p:nvGraphicFramePr>
          <p:xfrm>
            <a:off x="2841625" y="6164263"/>
            <a:ext cx="488950" cy="319087"/>
          </p:xfrm>
          <a:graphic>
            <a:graphicData uri="http://schemas.openxmlformats.org/presentationml/2006/ole">
              <mc:AlternateContent xmlns:mc="http://schemas.openxmlformats.org/markup-compatibility/2006">
                <mc:Choice xmlns:v="urn:schemas-microsoft-com:vml" Requires="v">
                  <p:oleObj spid="_x0000_s65105" name="Equation" r:id="rId18" imgW="291973" imgH="190417" progId="Equation.DSMT4">
                    <p:embed/>
                  </p:oleObj>
                </mc:Choice>
                <mc:Fallback>
                  <p:oleObj name="Equation" r:id="rId18" imgW="291973" imgH="190417" progId="Equation.DSMT4">
                    <p:embed/>
                    <p:pic>
                      <p:nvPicPr>
                        <p:cNvPr id="0" name="对象 2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841625" y="6164263"/>
                          <a:ext cx="48895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5" name="对象 25">
              <a:extLst>
                <a:ext uri="{FF2B5EF4-FFF2-40B4-BE49-F238E27FC236}">
                  <a16:creationId xmlns:a16="http://schemas.microsoft.com/office/drawing/2014/main" id="{22536EE8-D08F-4A2C-908D-50EE0C5721E4}"/>
                </a:ext>
              </a:extLst>
            </p:cNvPr>
            <p:cNvGraphicFramePr>
              <a:graphicFrameLocks noChangeAspect="1"/>
            </p:cNvGraphicFramePr>
            <p:nvPr/>
          </p:nvGraphicFramePr>
          <p:xfrm>
            <a:off x="3848100" y="6164263"/>
            <a:ext cx="492125" cy="319087"/>
          </p:xfrm>
          <a:graphic>
            <a:graphicData uri="http://schemas.openxmlformats.org/presentationml/2006/ole">
              <mc:AlternateContent xmlns:mc="http://schemas.openxmlformats.org/markup-compatibility/2006">
                <mc:Choice xmlns:v="urn:schemas-microsoft-com:vml" Requires="v">
                  <p:oleObj spid="_x0000_s65106" name="Equation" r:id="rId20" imgW="291973" imgH="190417" progId="Equation.DSMT4">
                    <p:embed/>
                  </p:oleObj>
                </mc:Choice>
                <mc:Fallback>
                  <p:oleObj name="Equation" r:id="rId20" imgW="291973" imgH="190417" progId="Equation.DSMT4">
                    <p:embed/>
                    <p:pic>
                      <p:nvPicPr>
                        <p:cNvPr id="0" name="对象 2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48100" y="6164263"/>
                          <a:ext cx="4921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6" name="对象 26">
              <a:extLst>
                <a:ext uri="{FF2B5EF4-FFF2-40B4-BE49-F238E27FC236}">
                  <a16:creationId xmlns:a16="http://schemas.microsoft.com/office/drawing/2014/main" id="{64CF185C-B5D2-403F-878F-81E1901FE06B}"/>
                </a:ext>
              </a:extLst>
            </p:cNvPr>
            <p:cNvGraphicFramePr>
              <a:graphicFrameLocks noChangeAspect="1"/>
            </p:cNvGraphicFramePr>
            <p:nvPr/>
          </p:nvGraphicFramePr>
          <p:xfrm>
            <a:off x="4911725" y="6167438"/>
            <a:ext cx="490538" cy="319087"/>
          </p:xfrm>
          <a:graphic>
            <a:graphicData uri="http://schemas.openxmlformats.org/presentationml/2006/ole">
              <mc:AlternateContent xmlns:mc="http://schemas.openxmlformats.org/markup-compatibility/2006">
                <mc:Choice xmlns:v="urn:schemas-microsoft-com:vml" Requires="v">
                  <p:oleObj spid="_x0000_s65107" name="Equation" r:id="rId22" imgW="291973" imgH="190417" progId="Equation.DSMT4">
                    <p:embed/>
                  </p:oleObj>
                </mc:Choice>
                <mc:Fallback>
                  <p:oleObj name="Equation" r:id="rId22" imgW="291973" imgH="190417" progId="Equation.DSMT4">
                    <p:embed/>
                    <p:pic>
                      <p:nvPicPr>
                        <p:cNvPr id="0" name="对象 2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911725" y="6167438"/>
                          <a:ext cx="490538"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7" name="对象 27">
              <a:extLst>
                <a:ext uri="{FF2B5EF4-FFF2-40B4-BE49-F238E27FC236}">
                  <a16:creationId xmlns:a16="http://schemas.microsoft.com/office/drawing/2014/main" id="{608F40D8-009E-46FF-816F-29B3039E3CFB}"/>
                </a:ext>
              </a:extLst>
            </p:cNvPr>
            <p:cNvGraphicFramePr>
              <a:graphicFrameLocks noChangeAspect="1"/>
            </p:cNvGraphicFramePr>
            <p:nvPr/>
          </p:nvGraphicFramePr>
          <p:xfrm>
            <a:off x="5864225" y="6173788"/>
            <a:ext cx="490538" cy="319087"/>
          </p:xfrm>
          <a:graphic>
            <a:graphicData uri="http://schemas.openxmlformats.org/presentationml/2006/ole">
              <mc:AlternateContent xmlns:mc="http://schemas.openxmlformats.org/markup-compatibility/2006">
                <mc:Choice xmlns:v="urn:schemas-microsoft-com:vml" Requires="v">
                  <p:oleObj spid="_x0000_s65108" name="Equation" r:id="rId24" imgW="291973" imgH="190417" progId="Equation.DSMT4">
                    <p:embed/>
                  </p:oleObj>
                </mc:Choice>
                <mc:Fallback>
                  <p:oleObj name="Equation" r:id="rId24" imgW="291973" imgH="190417" progId="Equation.DSMT4">
                    <p:embed/>
                    <p:pic>
                      <p:nvPicPr>
                        <p:cNvPr id="0" name="对象 2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864225" y="6173788"/>
                          <a:ext cx="490538"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28" name="对象 28">
              <a:extLst>
                <a:ext uri="{FF2B5EF4-FFF2-40B4-BE49-F238E27FC236}">
                  <a16:creationId xmlns:a16="http://schemas.microsoft.com/office/drawing/2014/main" id="{70F11BBB-3BF1-4830-87F4-A3794AA7A131}"/>
                </a:ext>
              </a:extLst>
            </p:cNvPr>
            <p:cNvGraphicFramePr>
              <a:graphicFrameLocks noChangeAspect="1"/>
            </p:cNvGraphicFramePr>
            <p:nvPr/>
          </p:nvGraphicFramePr>
          <p:xfrm>
            <a:off x="6937375" y="6162675"/>
            <a:ext cx="492125" cy="319088"/>
          </p:xfrm>
          <a:graphic>
            <a:graphicData uri="http://schemas.openxmlformats.org/presentationml/2006/ole">
              <mc:AlternateContent xmlns:mc="http://schemas.openxmlformats.org/markup-compatibility/2006">
                <mc:Choice xmlns:v="urn:schemas-microsoft-com:vml" Requires="v">
                  <p:oleObj spid="_x0000_s65109" name="Equation" r:id="rId26" imgW="291973" imgH="190417" progId="Equation.DSMT4">
                    <p:embed/>
                  </p:oleObj>
                </mc:Choice>
                <mc:Fallback>
                  <p:oleObj name="Equation" r:id="rId26" imgW="291973" imgH="190417" progId="Equation.DSMT4">
                    <p:embed/>
                    <p:pic>
                      <p:nvPicPr>
                        <p:cNvPr id="0" name="对象 2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937375" y="6162675"/>
                          <a:ext cx="4921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a:extLst>
              <a:ext uri="{FF2B5EF4-FFF2-40B4-BE49-F238E27FC236}">
                <a16:creationId xmlns:a16="http://schemas.microsoft.com/office/drawing/2014/main" id="{94747C3F-A54F-476E-8F57-EF3E33D86DCB}"/>
              </a:ext>
            </a:extLst>
          </p:cNvPr>
          <p:cNvSpPr>
            <a:spLocks noGrp="1" noChangeArrowheads="1"/>
          </p:cNvSpPr>
          <p:nvPr>
            <p:ph type="ctrTitle"/>
          </p:nvPr>
        </p:nvSpPr>
        <p:spPr/>
        <p:txBody>
          <a:bodyPr/>
          <a:lstStyle/>
          <a:p>
            <a:pPr eaLnBrk="1" hangingPunct="1"/>
            <a:r>
              <a:rPr lang="zh-CN" altLang="en-US"/>
              <a:t>第 </a:t>
            </a:r>
            <a:r>
              <a:rPr lang="en-US" altLang="zh-CN"/>
              <a:t>5 </a:t>
            </a:r>
            <a:r>
              <a:rPr lang="zh-CN" altLang="en-US"/>
              <a:t>节</a:t>
            </a:r>
          </a:p>
        </p:txBody>
      </p:sp>
      <p:sp>
        <p:nvSpPr>
          <p:cNvPr id="65539" name="Rectangle 5">
            <a:extLst>
              <a:ext uri="{FF2B5EF4-FFF2-40B4-BE49-F238E27FC236}">
                <a16:creationId xmlns:a16="http://schemas.microsoft.com/office/drawing/2014/main" id="{82FE081C-0D30-46A7-ABFE-6BB0C79A1DD7}"/>
              </a:ext>
            </a:extLst>
          </p:cNvPr>
          <p:cNvSpPr>
            <a:spLocks noGrp="1" noChangeArrowheads="1"/>
          </p:cNvSpPr>
          <p:nvPr>
            <p:ph type="subTitle" idx="1"/>
          </p:nvPr>
        </p:nvSpPr>
        <p:spPr/>
        <p:txBody>
          <a:bodyPr/>
          <a:lstStyle/>
          <a:p>
            <a:pPr eaLnBrk="1" hangingPunct="1"/>
            <a:r>
              <a:rPr lang="zh-CN" altLang="en-US"/>
              <a:t>对偶问题的经济解释－影子价格</a:t>
            </a:r>
          </a:p>
        </p:txBody>
      </p:sp>
      <p:sp>
        <p:nvSpPr>
          <p:cNvPr id="4" name="Rectangle 9">
            <a:extLst>
              <a:ext uri="{FF2B5EF4-FFF2-40B4-BE49-F238E27FC236}">
                <a16:creationId xmlns:a16="http://schemas.microsoft.com/office/drawing/2014/main" id="{CDFAE5F5-12FA-4039-9926-D5DA7B9D3286}"/>
              </a:ext>
            </a:extLst>
          </p:cNvPr>
          <p:cNvSpPr>
            <a:spLocks noChangeArrowheads="1"/>
          </p:cNvSpPr>
          <p:nvPr/>
        </p:nvSpPr>
        <p:spPr bwMode="auto">
          <a:xfrm>
            <a:off x="3962400" y="5029200"/>
            <a:ext cx="2895600" cy="954088"/>
          </a:xfrm>
          <a:prstGeom prst="rect">
            <a:avLst/>
          </a:prstGeom>
          <a:noFill/>
          <a:ln w="952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800">
                <a:solidFill>
                  <a:srgbClr val="FF00FF"/>
                </a:solidFill>
              </a:rPr>
              <a:t>对偶变量</a:t>
            </a:r>
            <a:r>
              <a:rPr lang="en-US" altLang="zh-CN" sz="2800">
                <a:solidFill>
                  <a:srgbClr val="FF00FF"/>
                </a:solidFill>
              </a:rPr>
              <a:t>y</a:t>
            </a:r>
            <a:r>
              <a:rPr lang="en-US" altLang="zh-CN" sz="2800" baseline="-25000">
                <a:solidFill>
                  <a:srgbClr val="FF00FF"/>
                </a:solidFill>
              </a:rPr>
              <a:t>i</a:t>
            </a:r>
            <a:r>
              <a:rPr lang="en-US" altLang="zh-CN" sz="2800">
                <a:solidFill>
                  <a:srgbClr val="FF00FF"/>
                </a:solidFill>
              </a:rPr>
              <a:t>*</a:t>
            </a:r>
            <a:r>
              <a:rPr lang="zh-CN" altLang="en-US" sz="2800">
                <a:solidFill>
                  <a:srgbClr val="FF00FF"/>
                </a:solidFill>
              </a:rPr>
              <a:t>的物理经济学解释！</a:t>
            </a:r>
          </a:p>
        </p:txBody>
      </p:sp>
      <p:pic>
        <p:nvPicPr>
          <p:cNvPr id="2" name="图片 1">
            <a:extLst>
              <a:ext uri="{FF2B5EF4-FFF2-40B4-BE49-F238E27FC236}">
                <a16:creationId xmlns:a16="http://schemas.microsoft.com/office/drawing/2014/main" id="{CFDA5CC4-5017-43FF-AF86-9C33534171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14300"/>
            <a:ext cx="37338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circle(in)">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descr="Large confetti">
            <a:extLst>
              <a:ext uri="{FF2B5EF4-FFF2-40B4-BE49-F238E27FC236}">
                <a16:creationId xmlns:a16="http://schemas.microsoft.com/office/drawing/2014/main" id="{1ECC1B8D-7F9A-48D6-AF06-E83E5C5E7B81}"/>
              </a:ext>
            </a:extLst>
          </p:cNvPr>
          <p:cNvSpPr>
            <a:spLocks noGrp="1" noChangeArrowheads="1"/>
          </p:cNvSpPr>
          <p:nvPr>
            <p:ph type="title"/>
          </p:nvPr>
        </p:nvSpPr>
        <p:spPr/>
        <p:txBody>
          <a:bodyPr/>
          <a:lstStyle/>
          <a:p>
            <a:pPr eaLnBrk="1" hangingPunct="1"/>
            <a:r>
              <a:rPr lang="zh-CN" altLang="en-US"/>
              <a:t>影子价格的定义</a:t>
            </a:r>
          </a:p>
        </p:txBody>
      </p:sp>
      <p:sp>
        <p:nvSpPr>
          <p:cNvPr id="66563" name="Text Box 9">
            <a:extLst>
              <a:ext uri="{FF2B5EF4-FFF2-40B4-BE49-F238E27FC236}">
                <a16:creationId xmlns:a16="http://schemas.microsoft.com/office/drawing/2014/main" id="{C93F7F06-9EE8-4803-A0E1-C42E19D4A133}"/>
              </a:ext>
            </a:extLst>
          </p:cNvPr>
          <p:cNvSpPr txBox="1">
            <a:spLocks noChangeArrowheads="1"/>
          </p:cNvSpPr>
          <p:nvPr/>
        </p:nvSpPr>
        <p:spPr bwMode="auto">
          <a:xfrm>
            <a:off x="533400" y="3597275"/>
            <a:ext cx="7127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由对偶问题的基本性质可得：</a:t>
            </a:r>
          </a:p>
        </p:txBody>
      </p:sp>
      <p:graphicFrame>
        <p:nvGraphicFramePr>
          <p:cNvPr id="66564" name="对象 1">
            <a:extLst>
              <a:ext uri="{FF2B5EF4-FFF2-40B4-BE49-F238E27FC236}">
                <a16:creationId xmlns:a16="http://schemas.microsoft.com/office/drawing/2014/main" id="{000FF364-986F-4D0E-922C-BA99AB9BCF1A}"/>
              </a:ext>
            </a:extLst>
          </p:cNvPr>
          <p:cNvGraphicFramePr>
            <a:graphicFrameLocks noChangeAspect="1"/>
          </p:cNvGraphicFramePr>
          <p:nvPr/>
        </p:nvGraphicFramePr>
        <p:xfrm>
          <a:off x="4521200" y="1587500"/>
          <a:ext cx="101600" cy="139700"/>
        </p:xfrm>
        <a:graphic>
          <a:graphicData uri="http://schemas.openxmlformats.org/presentationml/2006/ole">
            <mc:AlternateContent xmlns:mc="http://schemas.openxmlformats.org/markup-compatibility/2006">
              <mc:Choice xmlns:v="urn:schemas-microsoft-com:vml" Requires="v">
                <p:oleObj spid="_x0000_s66710" name="Equation" r:id="rId3" imgW="101556" imgH="139639" progId="Equation.DSMT4">
                  <p:embed/>
                </p:oleObj>
              </mc:Choice>
              <mc:Fallback>
                <p:oleObj name="Equation" r:id="rId3" imgW="101556" imgH="139639"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1587500"/>
                        <a:ext cx="101600" cy="13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5" name="对象 2">
            <a:extLst>
              <a:ext uri="{FF2B5EF4-FFF2-40B4-BE49-F238E27FC236}">
                <a16:creationId xmlns:a16="http://schemas.microsoft.com/office/drawing/2014/main" id="{B401196B-AF7F-4E9A-8E28-293E43EACFC4}"/>
              </a:ext>
            </a:extLst>
          </p:cNvPr>
          <p:cNvGraphicFramePr>
            <a:graphicFrameLocks noChangeAspect="1"/>
          </p:cNvGraphicFramePr>
          <p:nvPr/>
        </p:nvGraphicFramePr>
        <p:xfrm>
          <a:off x="1528763" y="1600200"/>
          <a:ext cx="5538787" cy="1822450"/>
        </p:xfrm>
        <a:graphic>
          <a:graphicData uri="http://schemas.openxmlformats.org/presentationml/2006/ole">
            <mc:AlternateContent xmlns:mc="http://schemas.openxmlformats.org/markup-compatibility/2006">
              <mc:Choice xmlns:v="urn:schemas-microsoft-com:vml" Requires="v">
                <p:oleObj spid="_x0000_s66711" name="Equation" r:id="rId5" imgW="1930400" imgH="635000" progId="Equation.DSMT4">
                  <p:embed/>
                </p:oleObj>
              </mc:Choice>
              <mc:Fallback>
                <p:oleObj name="Equation" r:id="rId5" imgW="1930400" imgH="635000" progId="Equation.DSMT4">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8763" y="1600200"/>
                        <a:ext cx="5538787"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6" name="对象 18">
            <a:extLst>
              <a:ext uri="{FF2B5EF4-FFF2-40B4-BE49-F238E27FC236}">
                <a16:creationId xmlns:a16="http://schemas.microsoft.com/office/drawing/2014/main" id="{46C18085-2467-4202-88F5-C9C1BC8189CC}"/>
              </a:ext>
            </a:extLst>
          </p:cNvPr>
          <p:cNvGraphicFramePr>
            <a:graphicFrameLocks noChangeAspect="1"/>
          </p:cNvGraphicFramePr>
          <p:nvPr/>
        </p:nvGraphicFramePr>
        <p:xfrm>
          <a:off x="2743200" y="4267200"/>
          <a:ext cx="2982913" cy="1066800"/>
        </p:xfrm>
        <a:graphic>
          <a:graphicData uri="http://schemas.openxmlformats.org/presentationml/2006/ole">
            <mc:AlternateContent xmlns:mc="http://schemas.openxmlformats.org/markup-compatibility/2006">
              <mc:Choice xmlns:v="urn:schemas-microsoft-com:vml" Requires="v">
                <p:oleObj spid="_x0000_s66712" name="Equation" r:id="rId7" imgW="888614" imgH="317362" progId="Equation.DSMT4">
                  <p:embed/>
                </p:oleObj>
              </mc:Choice>
              <mc:Fallback>
                <p:oleObj name="Equation" r:id="rId7" imgW="888614" imgH="317362" progId="Equation.DSMT4">
                  <p:embed/>
                  <p:pic>
                    <p:nvPicPr>
                      <p:cNvPr id="0" name="对象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4267200"/>
                        <a:ext cx="29829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67" name="矩形 21">
            <a:extLst>
              <a:ext uri="{FF2B5EF4-FFF2-40B4-BE49-F238E27FC236}">
                <a16:creationId xmlns:a16="http://schemas.microsoft.com/office/drawing/2014/main" id="{F036CB25-A83E-4DDE-B3AA-534CE88F3622}"/>
              </a:ext>
            </a:extLst>
          </p:cNvPr>
          <p:cNvSpPr>
            <a:spLocks noChangeArrowheads="1"/>
          </p:cNvSpPr>
          <p:nvPr/>
        </p:nvSpPr>
        <p:spPr bwMode="auto">
          <a:xfrm>
            <a:off x="2324100" y="1239838"/>
            <a:ext cx="838200" cy="369887"/>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FF00FF"/>
                </a:solidFill>
                <a:latin typeface="Times New Roman" panose="02020603050405020304" pitchFamily="18" charset="0"/>
                <a:cs typeface="Times New Roman" panose="02020603050405020304" pitchFamily="18" charset="0"/>
              </a:rPr>
              <a:t>Primal</a:t>
            </a:r>
          </a:p>
        </p:txBody>
      </p:sp>
      <p:sp>
        <p:nvSpPr>
          <p:cNvPr id="66568" name="矩形 21">
            <a:extLst>
              <a:ext uri="{FF2B5EF4-FFF2-40B4-BE49-F238E27FC236}">
                <a16:creationId xmlns:a16="http://schemas.microsoft.com/office/drawing/2014/main" id="{FCBD7083-F21D-43A6-8393-72035B12ED49}"/>
              </a:ext>
            </a:extLst>
          </p:cNvPr>
          <p:cNvSpPr>
            <a:spLocks noChangeArrowheads="1"/>
          </p:cNvSpPr>
          <p:nvPr/>
        </p:nvSpPr>
        <p:spPr bwMode="auto">
          <a:xfrm>
            <a:off x="5726113" y="1217613"/>
            <a:ext cx="762000" cy="369887"/>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FF00FF"/>
                </a:solidFill>
                <a:latin typeface="Times New Roman" panose="02020603050405020304" pitchFamily="18" charset="0"/>
                <a:cs typeface="Times New Roman" panose="02020603050405020304" pitchFamily="18" charset="0"/>
              </a:rPr>
              <a:t>Dual</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descr="Large confetti">
            <a:extLst>
              <a:ext uri="{FF2B5EF4-FFF2-40B4-BE49-F238E27FC236}">
                <a16:creationId xmlns:a16="http://schemas.microsoft.com/office/drawing/2014/main" id="{4FA82284-959B-40F4-92A6-D0E84207DE79}"/>
              </a:ext>
            </a:extLst>
          </p:cNvPr>
          <p:cNvSpPr>
            <a:spLocks noGrp="1" noChangeArrowheads="1"/>
          </p:cNvSpPr>
          <p:nvPr>
            <p:ph type="title"/>
          </p:nvPr>
        </p:nvSpPr>
        <p:spPr/>
        <p:txBody>
          <a:bodyPr/>
          <a:lstStyle/>
          <a:p>
            <a:pPr eaLnBrk="1" hangingPunct="1"/>
            <a:r>
              <a:rPr lang="zh-CN" altLang="en-US"/>
              <a:t>影子价格的定义</a:t>
            </a:r>
          </a:p>
        </p:txBody>
      </p:sp>
      <p:sp>
        <p:nvSpPr>
          <p:cNvPr id="60419" name="Rectangle 3">
            <a:extLst>
              <a:ext uri="{FF2B5EF4-FFF2-40B4-BE49-F238E27FC236}">
                <a16:creationId xmlns:a16="http://schemas.microsoft.com/office/drawing/2014/main" id="{DCF0C466-956F-4D7D-968B-15C4640A9DA5}"/>
              </a:ext>
            </a:extLst>
          </p:cNvPr>
          <p:cNvSpPr>
            <a:spLocks noGrp="1" noChangeArrowheads="1"/>
          </p:cNvSpPr>
          <p:nvPr>
            <p:ph type="body" idx="1"/>
          </p:nvPr>
        </p:nvSpPr>
        <p:spPr>
          <a:xfrm>
            <a:off x="685800" y="3792538"/>
            <a:ext cx="8135938" cy="1573212"/>
          </a:xfrm>
        </p:spPr>
        <p:txBody>
          <a:bodyPr/>
          <a:lstStyle/>
          <a:p>
            <a:pPr marL="0" indent="0" defTabSz="449263" eaLnBrk="1" hangingPunct="1">
              <a:buFont typeface="Wingdings" panose="05000000000000000000" pitchFamily="2" charset="2"/>
              <a:buNone/>
            </a:pPr>
            <a:r>
              <a:rPr lang="zh-CN" altLang="en-US"/>
              <a:t>在其它条件不变的情况下，</a:t>
            </a:r>
            <a:r>
              <a:rPr lang="zh-CN" altLang="en-US">
                <a:solidFill>
                  <a:srgbClr val="FF0000"/>
                </a:solidFill>
              </a:rPr>
              <a:t>单位</a:t>
            </a:r>
            <a:r>
              <a:rPr lang="zh-CN" altLang="en-US"/>
              <a:t>资源数量的变化所引起的目标函数最优值的变化量，就是第 </a:t>
            </a:r>
            <a:r>
              <a:rPr lang="en-US" altLang="zh-CN"/>
              <a:t>i </a:t>
            </a:r>
            <a:r>
              <a:rPr lang="zh-CN" altLang="en-US"/>
              <a:t>种资源的影子价格，其值等于对偶变量</a:t>
            </a:r>
            <a:r>
              <a:rPr lang="en-US" altLang="zh-CN"/>
              <a:t>y</a:t>
            </a:r>
            <a:r>
              <a:rPr lang="en-US" altLang="zh-CN" baseline="-25000"/>
              <a:t>i </a:t>
            </a:r>
            <a:r>
              <a:rPr lang="zh-CN" altLang="en-US"/>
              <a:t>* 。</a:t>
            </a:r>
          </a:p>
        </p:txBody>
      </p:sp>
      <p:graphicFrame>
        <p:nvGraphicFramePr>
          <p:cNvPr id="67588" name="对象 5">
            <a:extLst>
              <a:ext uri="{FF2B5EF4-FFF2-40B4-BE49-F238E27FC236}">
                <a16:creationId xmlns:a16="http://schemas.microsoft.com/office/drawing/2014/main" id="{CEECB171-8C73-447D-B537-81CC26B6633A}"/>
              </a:ext>
            </a:extLst>
          </p:cNvPr>
          <p:cNvGraphicFramePr>
            <a:graphicFrameLocks noChangeAspect="1"/>
          </p:cNvGraphicFramePr>
          <p:nvPr/>
        </p:nvGraphicFramePr>
        <p:xfrm>
          <a:off x="2819400" y="1658938"/>
          <a:ext cx="3068638" cy="1109662"/>
        </p:xfrm>
        <a:graphic>
          <a:graphicData uri="http://schemas.openxmlformats.org/presentationml/2006/ole">
            <mc:AlternateContent xmlns:mc="http://schemas.openxmlformats.org/markup-compatibility/2006">
              <mc:Choice xmlns:v="urn:schemas-microsoft-com:vml" Requires="v">
                <p:oleObj spid="_x0000_s67645" name="Equation" r:id="rId3" imgW="914400" imgH="330200" progId="Equation.DSMT4">
                  <p:embed/>
                </p:oleObj>
              </mc:Choice>
              <mc:Fallback>
                <p:oleObj name="Equation" r:id="rId3" imgW="914400" imgH="330200" progId="Equation.DSMT4">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658938"/>
                        <a:ext cx="3068638"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组合 10">
            <a:extLst>
              <a:ext uri="{FF2B5EF4-FFF2-40B4-BE49-F238E27FC236}">
                <a16:creationId xmlns:a16="http://schemas.microsoft.com/office/drawing/2014/main" id="{0B9926B7-A27C-4359-896C-907507C57A90}"/>
              </a:ext>
            </a:extLst>
          </p:cNvPr>
          <p:cNvGrpSpPr>
            <a:grpSpLocks/>
          </p:cNvGrpSpPr>
          <p:nvPr/>
        </p:nvGrpSpPr>
        <p:grpSpPr bwMode="auto">
          <a:xfrm>
            <a:off x="2286000" y="1144588"/>
            <a:ext cx="1905000" cy="684212"/>
            <a:chOff x="2209800" y="1144546"/>
            <a:chExt cx="1905000" cy="684254"/>
          </a:xfrm>
        </p:grpSpPr>
        <p:sp>
          <p:nvSpPr>
            <p:cNvPr id="67596" name="矩形 21">
              <a:extLst>
                <a:ext uri="{FF2B5EF4-FFF2-40B4-BE49-F238E27FC236}">
                  <a16:creationId xmlns:a16="http://schemas.microsoft.com/office/drawing/2014/main" id="{3ACAFC2A-A057-4798-A55B-ECE1D29642A0}"/>
                </a:ext>
              </a:extLst>
            </p:cNvPr>
            <p:cNvSpPr>
              <a:spLocks noChangeArrowheads="1"/>
            </p:cNvSpPr>
            <p:nvPr/>
          </p:nvSpPr>
          <p:spPr bwMode="auto">
            <a:xfrm>
              <a:off x="2209800" y="1144546"/>
              <a:ext cx="1905000" cy="36933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00FF"/>
                  </a:solidFill>
                  <a:latin typeface="Times New Roman" panose="02020603050405020304" pitchFamily="18" charset="0"/>
                  <a:cs typeface="Times New Roman" panose="02020603050405020304" pitchFamily="18" charset="0"/>
                </a:rPr>
                <a:t>目标函数最优值</a:t>
              </a:r>
              <a:endParaRPr lang="en-US" altLang="zh-CN">
                <a:solidFill>
                  <a:srgbClr val="FF00FF"/>
                </a:solidFill>
                <a:latin typeface="Times New Roman" panose="02020603050405020304" pitchFamily="18" charset="0"/>
                <a:cs typeface="Times New Roman" panose="02020603050405020304" pitchFamily="18" charset="0"/>
              </a:endParaRPr>
            </a:p>
          </p:txBody>
        </p:sp>
        <p:cxnSp>
          <p:nvCxnSpPr>
            <p:cNvPr id="9" name="直接连接符 8">
              <a:extLst>
                <a:ext uri="{FF2B5EF4-FFF2-40B4-BE49-F238E27FC236}">
                  <a16:creationId xmlns:a16="http://schemas.microsoft.com/office/drawing/2014/main" id="{CB4A3E99-A7F6-40FE-84F6-72B5CE391397}"/>
                </a:ext>
              </a:extLst>
            </p:cNvPr>
            <p:cNvCxnSpPr/>
            <p:nvPr/>
          </p:nvCxnSpPr>
          <p:spPr bwMode="auto">
            <a:xfrm flipH="1">
              <a:off x="3124200" y="1563672"/>
              <a:ext cx="12700" cy="265128"/>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CDA05418-B7F1-4B60-8A25-FC7001FA4CE1}"/>
              </a:ext>
            </a:extLst>
          </p:cNvPr>
          <p:cNvGrpSpPr>
            <a:grpSpLocks/>
          </p:cNvGrpSpPr>
          <p:nvPr/>
        </p:nvGrpSpPr>
        <p:grpSpPr bwMode="auto">
          <a:xfrm>
            <a:off x="2057400" y="2589213"/>
            <a:ext cx="2209800" cy="592137"/>
            <a:chOff x="2057400" y="2589417"/>
            <a:chExt cx="2209800" cy="591545"/>
          </a:xfrm>
        </p:grpSpPr>
        <p:sp>
          <p:nvSpPr>
            <p:cNvPr id="67594" name="矩形 21">
              <a:extLst>
                <a:ext uri="{FF2B5EF4-FFF2-40B4-BE49-F238E27FC236}">
                  <a16:creationId xmlns:a16="http://schemas.microsoft.com/office/drawing/2014/main" id="{11676872-EAF8-4187-B83D-9990C6085873}"/>
                </a:ext>
              </a:extLst>
            </p:cNvPr>
            <p:cNvSpPr>
              <a:spLocks noChangeArrowheads="1"/>
            </p:cNvSpPr>
            <p:nvPr/>
          </p:nvSpPr>
          <p:spPr bwMode="auto">
            <a:xfrm>
              <a:off x="2057400" y="2811630"/>
              <a:ext cx="2209800" cy="36933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00FF"/>
                  </a:solidFill>
                  <a:latin typeface="Times New Roman" panose="02020603050405020304" pitchFamily="18" charset="0"/>
                  <a:cs typeface="Times New Roman" panose="02020603050405020304" pitchFamily="18" charset="0"/>
                </a:rPr>
                <a:t>第</a:t>
              </a:r>
              <a:r>
                <a:rPr lang="en-US" altLang="zh-CN">
                  <a:solidFill>
                    <a:srgbClr val="FF00FF"/>
                  </a:solidFill>
                  <a:latin typeface="Times New Roman" panose="02020603050405020304" pitchFamily="18" charset="0"/>
                  <a:cs typeface="Times New Roman" panose="02020603050405020304" pitchFamily="18" charset="0"/>
                </a:rPr>
                <a:t>i</a:t>
              </a:r>
              <a:r>
                <a:rPr lang="zh-CN" altLang="en-US">
                  <a:solidFill>
                    <a:srgbClr val="FF00FF"/>
                  </a:solidFill>
                  <a:latin typeface="Times New Roman" panose="02020603050405020304" pitchFamily="18" charset="0"/>
                  <a:cs typeface="Times New Roman" panose="02020603050405020304" pitchFamily="18" charset="0"/>
                </a:rPr>
                <a:t>种资源的拥有量</a:t>
              </a:r>
              <a:endParaRPr lang="en-US" altLang="zh-CN">
                <a:solidFill>
                  <a:srgbClr val="FF00FF"/>
                </a:solidFill>
                <a:latin typeface="Times New Roman" panose="02020603050405020304" pitchFamily="18" charset="0"/>
                <a:cs typeface="Times New Roman" panose="02020603050405020304" pitchFamily="18" charset="0"/>
              </a:endParaRPr>
            </a:p>
          </p:txBody>
        </p:sp>
        <p:cxnSp>
          <p:nvCxnSpPr>
            <p:cNvPr id="12" name="直接连接符 11">
              <a:extLst>
                <a:ext uri="{FF2B5EF4-FFF2-40B4-BE49-F238E27FC236}">
                  <a16:creationId xmlns:a16="http://schemas.microsoft.com/office/drawing/2014/main" id="{FD2340B2-0109-4BDE-ACAA-B5351CC39290}"/>
                </a:ext>
              </a:extLst>
            </p:cNvPr>
            <p:cNvCxnSpPr>
              <a:stCxn id="67594" idx="0"/>
            </p:cNvCxnSpPr>
            <p:nvPr/>
          </p:nvCxnSpPr>
          <p:spPr bwMode="auto">
            <a:xfrm flipV="1">
              <a:off x="3162300" y="2589417"/>
              <a:ext cx="0" cy="222028"/>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B69F7E32-3750-47EB-A8EA-99A534714BBB}"/>
              </a:ext>
            </a:extLst>
          </p:cNvPr>
          <p:cNvGrpSpPr>
            <a:grpSpLocks/>
          </p:cNvGrpSpPr>
          <p:nvPr/>
        </p:nvGrpSpPr>
        <p:grpSpPr bwMode="auto">
          <a:xfrm>
            <a:off x="6096000" y="2011363"/>
            <a:ext cx="2209800" cy="369887"/>
            <a:chOff x="6096000" y="2011897"/>
            <a:chExt cx="2209800" cy="369332"/>
          </a:xfrm>
        </p:grpSpPr>
        <p:sp>
          <p:nvSpPr>
            <p:cNvPr id="67592" name="矩形 21">
              <a:extLst>
                <a:ext uri="{FF2B5EF4-FFF2-40B4-BE49-F238E27FC236}">
                  <a16:creationId xmlns:a16="http://schemas.microsoft.com/office/drawing/2014/main" id="{4824C8B2-ADE3-425B-B3B4-9C47542E769E}"/>
                </a:ext>
              </a:extLst>
            </p:cNvPr>
            <p:cNvSpPr>
              <a:spLocks noChangeArrowheads="1"/>
            </p:cNvSpPr>
            <p:nvPr/>
          </p:nvSpPr>
          <p:spPr bwMode="auto">
            <a:xfrm>
              <a:off x="6934200" y="2011897"/>
              <a:ext cx="1371600" cy="36933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FF00FF"/>
                  </a:solidFill>
                  <a:latin typeface="Times New Roman" panose="02020603050405020304" pitchFamily="18" charset="0"/>
                  <a:cs typeface="Times New Roman" panose="02020603050405020304" pitchFamily="18" charset="0"/>
                </a:rPr>
                <a:t>影子价格</a:t>
              </a:r>
              <a:endParaRPr lang="en-US" altLang="zh-CN">
                <a:solidFill>
                  <a:srgbClr val="FF00FF"/>
                </a:solidFill>
                <a:latin typeface="Times New Roman" panose="02020603050405020304" pitchFamily="18" charset="0"/>
                <a:cs typeface="Times New Roman" panose="02020603050405020304" pitchFamily="18" charset="0"/>
              </a:endParaRPr>
            </a:p>
          </p:txBody>
        </p:sp>
        <p:sp>
          <p:nvSpPr>
            <p:cNvPr id="16" name="右箭头 3">
              <a:extLst>
                <a:ext uri="{FF2B5EF4-FFF2-40B4-BE49-F238E27FC236}">
                  <a16:creationId xmlns:a16="http://schemas.microsoft.com/office/drawing/2014/main" id="{7BAE6D0C-8001-4A9D-922C-57191D78DDE8}"/>
                </a:ext>
              </a:extLst>
            </p:cNvPr>
            <p:cNvSpPr/>
            <p:nvPr/>
          </p:nvSpPr>
          <p:spPr bwMode="auto">
            <a:xfrm>
              <a:off x="6096000" y="2099078"/>
              <a:ext cx="762000" cy="228257"/>
            </a:xfrm>
            <a:prstGeom prst="rightArrow">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descr="Large confetti">
            <a:extLst>
              <a:ext uri="{FF2B5EF4-FFF2-40B4-BE49-F238E27FC236}">
                <a16:creationId xmlns:a16="http://schemas.microsoft.com/office/drawing/2014/main" id="{AFCF4778-F975-4091-9633-321618B0FD4C}"/>
              </a:ext>
            </a:extLst>
          </p:cNvPr>
          <p:cNvSpPr>
            <a:spLocks noGrp="1" noChangeArrowheads="1"/>
          </p:cNvSpPr>
          <p:nvPr>
            <p:ph type="title"/>
          </p:nvPr>
        </p:nvSpPr>
        <p:spPr/>
        <p:txBody>
          <a:bodyPr/>
          <a:lstStyle/>
          <a:p>
            <a:pPr eaLnBrk="1" hangingPunct="1"/>
            <a:r>
              <a:rPr lang="zh-CN" altLang="en-US"/>
              <a:t>影子价格的经济意义</a:t>
            </a:r>
          </a:p>
        </p:txBody>
      </p:sp>
      <p:sp>
        <p:nvSpPr>
          <p:cNvPr id="60419" name="Rectangle 3">
            <a:extLst>
              <a:ext uri="{FF2B5EF4-FFF2-40B4-BE49-F238E27FC236}">
                <a16:creationId xmlns:a16="http://schemas.microsoft.com/office/drawing/2014/main" id="{40C2953B-AD26-43E4-9A18-E294B6701EBB}"/>
              </a:ext>
            </a:extLst>
          </p:cNvPr>
          <p:cNvSpPr>
            <a:spLocks noGrp="1" noChangeArrowheads="1"/>
          </p:cNvSpPr>
          <p:nvPr>
            <p:ph type="body" idx="1"/>
          </p:nvPr>
        </p:nvSpPr>
        <p:spPr>
          <a:xfrm>
            <a:off x="198438" y="1143000"/>
            <a:ext cx="8512175" cy="1752600"/>
          </a:xfrm>
        </p:spPr>
        <p:txBody>
          <a:bodyPr/>
          <a:lstStyle/>
          <a:p>
            <a:pPr defTabSz="449263" eaLnBrk="1" hangingPunct="1">
              <a:defRPr/>
            </a:pPr>
            <a:r>
              <a:rPr lang="en-US" altLang="zh-CN" sz="3200" dirty="0"/>
              <a:t>1. </a:t>
            </a:r>
            <a:r>
              <a:rPr lang="zh-CN" altLang="en-US" sz="3200" dirty="0">
                <a:solidFill>
                  <a:srgbClr val="FF00FF"/>
                </a:solidFill>
              </a:rPr>
              <a:t>（影子价格</a:t>
            </a:r>
            <a:r>
              <a:rPr lang="en-US" altLang="zh-CN" sz="3200" dirty="0" err="1">
                <a:solidFill>
                  <a:srgbClr val="FF00FF"/>
                </a:solidFill>
              </a:rPr>
              <a:t>y</a:t>
            </a:r>
            <a:r>
              <a:rPr lang="en-US" altLang="zh-CN" sz="3200" baseline="-25000" dirty="0" err="1">
                <a:solidFill>
                  <a:srgbClr val="FF00FF"/>
                </a:solidFill>
              </a:rPr>
              <a:t>i</a:t>
            </a:r>
            <a:r>
              <a:rPr lang="en-US" altLang="zh-CN" sz="3200" dirty="0">
                <a:solidFill>
                  <a:srgbClr val="FF00FF"/>
                </a:solidFill>
              </a:rPr>
              <a:t>*</a:t>
            </a:r>
            <a:r>
              <a:rPr lang="zh-CN" altLang="en-US" sz="3200" dirty="0">
                <a:solidFill>
                  <a:srgbClr val="FF00FF"/>
                </a:solidFill>
              </a:rPr>
              <a:t>与目标函数</a:t>
            </a:r>
            <a:r>
              <a:rPr lang="en-US" altLang="zh-CN" sz="3200" dirty="0">
                <a:solidFill>
                  <a:srgbClr val="FF00FF"/>
                </a:solidFill>
              </a:rPr>
              <a:t>z</a:t>
            </a:r>
            <a:r>
              <a:rPr lang="zh-CN" altLang="en-US" sz="3200" dirty="0">
                <a:solidFill>
                  <a:srgbClr val="FF00FF"/>
                </a:solidFill>
              </a:rPr>
              <a:t>的关系）</a:t>
            </a:r>
            <a:endParaRPr lang="en-US" altLang="zh-CN" sz="3200" dirty="0">
              <a:solidFill>
                <a:srgbClr val="FF00FF"/>
              </a:solidFill>
            </a:endParaRPr>
          </a:p>
          <a:p>
            <a:pPr marL="0" indent="0" defTabSz="449263" eaLnBrk="1" hangingPunct="1">
              <a:buFont typeface="Wingdings" panose="05000000000000000000" pitchFamily="2" charset="2"/>
              <a:buNone/>
              <a:defRPr/>
            </a:pPr>
            <a:r>
              <a:rPr lang="zh-CN" altLang="en-US" sz="3200" dirty="0"/>
              <a:t>影子价格反映资源对目标函数的边际贡献，即资源转换成经济效益的效率。</a:t>
            </a:r>
          </a:p>
        </p:txBody>
      </p:sp>
      <p:sp>
        <p:nvSpPr>
          <p:cNvPr id="6" name="Rectangle 3">
            <a:extLst>
              <a:ext uri="{FF2B5EF4-FFF2-40B4-BE49-F238E27FC236}">
                <a16:creationId xmlns:a16="http://schemas.microsoft.com/office/drawing/2014/main" id="{3EAC6EDB-FFDA-4022-A538-28C6FFC5DC21}"/>
              </a:ext>
            </a:extLst>
          </p:cNvPr>
          <p:cNvSpPr txBox="1">
            <a:spLocks noChangeArrowheads="1"/>
          </p:cNvSpPr>
          <p:nvPr/>
        </p:nvSpPr>
        <p:spPr bwMode="auto">
          <a:xfrm>
            <a:off x="381000" y="2989263"/>
            <a:ext cx="7924800" cy="3335337"/>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0" eaLnBrk="1" hangingPunct="1">
              <a:lnSpc>
                <a:spcPct val="90000"/>
              </a:lnSpc>
              <a:buFont typeface="Wingdings" panose="05000000000000000000" pitchFamily="2" charset="2"/>
              <a:buNone/>
              <a:defRPr/>
            </a:pPr>
            <a:r>
              <a:rPr lang="zh-CN" altLang="en-US" sz="2000" kern="0" dirty="0"/>
              <a:t>例  某工厂安排生产 </a:t>
            </a:r>
            <a:r>
              <a:rPr lang="en-US" altLang="zh-CN" sz="2000" kern="0" dirty="0">
                <a:latin typeface="Times New Roman" panose="02020603050405020304" pitchFamily="18" charset="0"/>
              </a:rPr>
              <a:t>I</a:t>
            </a:r>
            <a:r>
              <a:rPr lang="zh-CN" altLang="en-US" sz="2000" kern="0" dirty="0"/>
              <a:t>，</a:t>
            </a:r>
            <a:r>
              <a:rPr lang="en-US" altLang="zh-CN" sz="2000" kern="0" dirty="0">
                <a:latin typeface="Times New Roman" panose="02020603050405020304" pitchFamily="18" charset="0"/>
              </a:rPr>
              <a:t>II</a:t>
            </a:r>
            <a:r>
              <a:rPr lang="zh-CN" altLang="en-US" sz="2000" kern="0" dirty="0">
                <a:latin typeface="Times New Roman" panose="02020603050405020304" pitchFamily="18" charset="0"/>
              </a:rPr>
              <a:t>两种产品，</a:t>
            </a:r>
            <a:r>
              <a:rPr lang="zh-CN" altLang="en-US" sz="2000" kern="0" dirty="0"/>
              <a:t>已知生产单位产品所需的设备台时及</a:t>
            </a:r>
            <a:r>
              <a:rPr lang="en-US" altLang="zh-CN" sz="2000" kern="0" dirty="0"/>
              <a:t>A</a:t>
            </a:r>
            <a:r>
              <a:rPr lang="zh-CN" altLang="en-US" sz="2000" kern="0" dirty="0"/>
              <a:t>、</a:t>
            </a:r>
            <a:r>
              <a:rPr lang="en-US" altLang="zh-CN" sz="2000" kern="0" dirty="0"/>
              <a:t>B</a:t>
            </a:r>
            <a:r>
              <a:rPr lang="zh-CN" altLang="en-US" sz="2000" kern="0" dirty="0"/>
              <a:t>两种原材料的消耗以及资源的限制，如下表：</a:t>
            </a:r>
          </a:p>
          <a:p>
            <a:pPr marL="0" indent="0" eaLnBrk="1" hangingPunct="1">
              <a:lnSpc>
                <a:spcPct val="90000"/>
              </a:lnSpc>
              <a:buFont typeface="Wingdings" panose="05000000000000000000" pitchFamily="2" charset="2"/>
              <a:buNone/>
              <a:defRPr/>
            </a:pPr>
            <a:endParaRPr lang="zh-CN" altLang="en-US" sz="2000" kern="0" dirty="0"/>
          </a:p>
          <a:p>
            <a:pPr marL="0" indent="0" eaLnBrk="1" hangingPunct="1">
              <a:lnSpc>
                <a:spcPct val="90000"/>
              </a:lnSpc>
              <a:buFont typeface="Wingdings" panose="05000000000000000000" pitchFamily="2" charset="2"/>
              <a:buNone/>
              <a:defRPr/>
            </a:pPr>
            <a:endParaRPr lang="zh-CN" altLang="en-US" sz="2000" kern="0" dirty="0"/>
          </a:p>
          <a:p>
            <a:pPr marL="0" indent="0" eaLnBrk="1" hangingPunct="1">
              <a:lnSpc>
                <a:spcPct val="90000"/>
              </a:lnSpc>
              <a:buFont typeface="Wingdings" panose="05000000000000000000" pitchFamily="2" charset="2"/>
              <a:buNone/>
              <a:defRPr/>
            </a:pPr>
            <a:endParaRPr lang="zh-CN" altLang="en-US" sz="2000" kern="0" dirty="0"/>
          </a:p>
          <a:p>
            <a:pPr marL="0" indent="0" eaLnBrk="1" hangingPunct="1">
              <a:lnSpc>
                <a:spcPct val="90000"/>
              </a:lnSpc>
              <a:defRPr/>
            </a:pPr>
            <a:endParaRPr lang="zh-CN" altLang="en-US" sz="2000" kern="0" dirty="0"/>
          </a:p>
          <a:p>
            <a:pPr marL="0" indent="0" eaLnBrk="1" hangingPunct="1">
              <a:lnSpc>
                <a:spcPct val="90000"/>
              </a:lnSpc>
              <a:buFont typeface="Wingdings" panose="05000000000000000000" pitchFamily="2" charset="2"/>
              <a:buNone/>
              <a:defRPr/>
            </a:pPr>
            <a:r>
              <a:rPr lang="zh-CN" altLang="en-US" sz="2000" kern="0" dirty="0"/>
              <a:t>    </a:t>
            </a:r>
          </a:p>
          <a:p>
            <a:pPr marL="0" indent="0" eaLnBrk="1" hangingPunct="1">
              <a:lnSpc>
                <a:spcPct val="90000"/>
              </a:lnSpc>
              <a:buFont typeface="Wingdings" panose="05000000000000000000" pitchFamily="2" charset="2"/>
              <a:buNone/>
              <a:defRPr/>
            </a:pPr>
            <a:r>
              <a:rPr lang="zh-CN" altLang="en-US" sz="2000" kern="0" dirty="0"/>
              <a:t>问该如何安排生产，使该工厂获利最多？</a:t>
            </a:r>
          </a:p>
        </p:txBody>
      </p:sp>
      <p:graphicFrame>
        <p:nvGraphicFramePr>
          <p:cNvPr id="7" name="Group 50">
            <a:extLst>
              <a:ext uri="{FF2B5EF4-FFF2-40B4-BE49-F238E27FC236}">
                <a16:creationId xmlns:a16="http://schemas.microsoft.com/office/drawing/2014/main" id="{85A1F7EA-5FD3-4644-9F56-02BFFC8687A3}"/>
              </a:ext>
            </a:extLst>
          </p:cNvPr>
          <p:cNvGraphicFramePr>
            <a:graphicFrameLocks/>
          </p:cNvGraphicFramePr>
          <p:nvPr/>
        </p:nvGraphicFramePr>
        <p:xfrm>
          <a:off x="762000" y="3675063"/>
          <a:ext cx="3581400" cy="1524000"/>
        </p:xfrm>
        <a:graphic>
          <a:graphicData uri="http://schemas.openxmlformats.org/drawingml/2006/table">
            <a:tbl>
              <a:tblPr/>
              <a:tblGrid>
                <a:gridCol w="1371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II</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资源限制</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设备</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台时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180975">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利润（元</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4"/>
                  </a:ext>
                </a:extLst>
              </a:tr>
            </a:tbl>
          </a:graphicData>
        </a:graphic>
      </p:graphicFrame>
      <p:graphicFrame>
        <p:nvGraphicFramePr>
          <p:cNvPr id="68645" name="对象 3">
            <a:extLst>
              <a:ext uri="{FF2B5EF4-FFF2-40B4-BE49-F238E27FC236}">
                <a16:creationId xmlns:a16="http://schemas.microsoft.com/office/drawing/2014/main" id="{5A45EF51-917F-40B8-BA8C-54DD180B4ACB}"/>
              </a:ext>
            </a:extLst>
          </p:cNvPr>
          <p:cNvGraphicFramePr>
            <a:graphicFrameLocks noChangeAspect="1"/>
          </p:cNvGraphicFramePr>
          <p:nvPr/>
        </p:nvGraphicFramePr>
        <p:xfrm>
          <a:off x="5867400" y="3751263"/>
          <a:ext cx="1752600" cy="1809750"/>
        </p:xfrm>
        <a:graphic>
          <a:graphicData uri="http://schemas.openxmlformats.org/presentationml/2006/ole">
            <mc:AlternateContent xmlns:mc="http://schemas.openxmlformats.org/markup-compatibility/2006">
              <mc:Choice xmlns:v="urn:schemas-microsoft-com:vml" Requires="v">
                <p:oleObj spid="_x0000_s68693" name="Equation" r:id="rId3" imgW="787058" imgH="812447" progId="Equation.DSMT4">
                  <p:embed/>
                </p:oleObj>
              </mc:Choice>
              <mc:Fallback>
                <p:oleObj name="Equation" r:id="rId3" imgW="787058" imgH="812447"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751263"/>
                        <a:ext cx="17526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332D53D-BF79-4B6F-BEF2-A929EC5D6887}"/>
              </a:ext>
            </a:extLst>
          </p:cNvPr>
          <p:cNvSpPr>
            <a:spLocks noGrp="1" noChangeArrowheads="1"/>
          </p:cNvSpPr>
          <p:nvPr>
            <p:ph type="title"/>
          </p:nvPr>
        </p:nvSpPr>
        <p:spPr>
          <a:xfrm>
            <a:off x="457200" y="277813"/>
            <a:ext cx="8229600" cy="712787"/>
          </a:xfrm>
        </p:spPr>
        <p:txBody>
          <a:bodyPr/>
          <a:lstStyle/>
          <a:p>
            <a:pPr eaLnBrk="1" hangingPunct="1"/>
            <a:r>
              <a:rPr lang="zh-CN" altLang="en-US"/>
              <a:t>影子价格的经济意义</a:t>
            </a:r>
          </a:p>
        </p:txBody>
      </p:sp>
      <p:pic>
        <p:nvPicPr>
          <p:cNvPr id="69635" name="Picture 3">
            <a:extLst>
              <a:ext uri="{FF2B5EF4-FFF2-40B4-BE49-F238E27FC236}">
                <a16:creationId xmlns:a16="http://schemas.microsoft.com/office/drawing/2014/main" id="{3EEE2E95-78B2-4820-A9D2-CCBBABE10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124200"/>
            <a:ext cx="836771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2" name="图片 18">
            <a:extLst>
              <a:ext uri="{FF2B5EF4-FFF2-40B4-BE49-F238E27FC236}">
                <a16:creationId xmlns:a16="http://schemas.microsoft.com/office/drawing/2014/main" id="{D063AEB3-57C1-4B8F-ADF4-D3AE4C816A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1" y="1014413"/>
            <a:ext cx="3163887"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9637" name="对象 33">
            <a:extLst>
              <a:ext uri="{FF2B5EF4-FFF2-40B4-BE49-F238E27FC236}">
                <a16:creationId xmlns:a16="http://schemas.microsoft.com/office/drawing/2014/main" id="{E4C106CD-8319-44BF-8795-BE9FE70A7066}"/>
              </a:ext>
            </a:extLst>
          </p:cNvPr>
          <p:cNvGraphicFramePr>
            <a:graphicFrameLocks noChangeAspect="1"/>
          </p:cNvGraphicFramePr>
          <p:nvPr/>
        </p:nvGraphicFramePr>
        <p:xfrm>
          <a:off x="438150" y="1173163"/>
          <a:ext cx="3143250" cy="1690687"/>
        </p:xfrm>
        <a:graphic>
          <a:graphicData uri="http://schemas.openxmlformats.org/presentationml/2006/ole">
            <mc:AlternateContent xmlns:mc="http://schemas.openxmlformats.org/markup-compatibility/2006">
              <mc:Choice xmlns:v="urn:schemas-microsoft-com:vml" Requires="v">
                <p:oleObj spid="_x0000_s69692" name="Equation" r:id="rId5" imgW="1511300" imgH="812800" progId="Equation.DSMT4">
                  <p:embed/>
                </p:oleObj>
              </mc:Choice>
              <mc:Fallback>
                <p:oleObj name="Equation" r:id="rId5" imgW="1511300" imgH="812800" progId="Equation.DSMT4">
                  <p:embed/>
                  <p:pic>
                    <p:nvPicPr>
                      <p:cNvPr id="0" name="对象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150" y="1173163"/>
                        <a:ext cx="3143250"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39" name="矩形 21">
            <a:extLst>
              <a:ext uri="{FF2B5EF4-FFF2-40B4-BE49-F238E27FC236}">
                <a16:creationId xmlns:a16="http://schemas.microsoft.com/office/drawing/2014/main" id="{00A36EEB-EBAE-4686-AABB-CF5AE67E9D42}"/>
              </a:ext>
            </a:extLst>
          </p:cNvPr>
          <p:cNvSpPr>
            <a:spLocks noChangeArrowheads="1"/>
          </p:cNvSpPr>
          <p:nvPr/>
        </p:nvSpPr>
        <p:spPr bwMode="auto">
          <a:xfrm>
            <a:off x="3228975" y="1522413"/>
            <a:ext cx="7048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台时</a:t>
            </a:r>
            <a:endParaRPr lang="en-US" altLang="zh-CN" sz="1400">
              <a:solidFill>
                <a:srgbClr val="FF00FF"/>
              </a:solidFill>
              <a:latin typeface="Times New Roman" panose="02020603050405020304" pitchFamily="18" charset="0"/>
              <a:cs typeface="Times New Roman" panose="02020603050405020304" pitchFamily="18" charset="0"/>
            </a:endParaRPr>
          </a:p>
        </p:txBody>
      </p:sp>
      <p:sp>
        <p:nvSpPr>
          <p:cNvPr id="69640" name="矩形 21">
            <a:extLst>
              <a:ext uri="{FF2B5EF4-FFF2-40B4-BE49-F238E27FC236}">
                <a16:creationId xmlns:a16="http://schemas.microsoft.com/office/drawing/2014/main" id="{15EAE730-A3B3-4B93-AF2A-1626F52CB300}"/>
              </a:ext>
            </a:extLst>
          </p:cNvPr>
          <p:cNvSpPr>
            <a:spLocks noChangeArrowheads="1"/>
          </p:cNvSpPr>
          <p:nvPr/>
        </p:nvSpPr>
        <p:spPr bwMode="auto">
          <a:xfrm>
            <a:off x="3213100" y="1822450"/>
            <a:ext cx="10668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原材料</a:t>
            </a:r>
            <a:r>
              <a:rPr lang="en-US" altLang="zh-CN" sz="1400">
                <a:solidFill>
                  <a:srgbClr val="FF00FF"/>
                </a:solidFill>
                <a:latin typeface="Times New Roman" panose="02020603050405020304" pitchFamily="18" charset="0"/>
                <a:cs typeface="Times New Roman" panose="02020603050405020304" pitchFamily="18" charset="0"/>
              </a:rPr>
              <a:t>A</a:t>
            </a:r>
          </a:p>
        </p:txBody>
      </p:sp>
      <p:sp>
        <p:nvSpPr>
          <p:cNvPr id="69641" name="矩形 23">
            <a:extLst>
              <a:ext uri="{FF2B5EF4-FFF2-40B4-BE49-F238E27FC236}">
                <a16:creationId xmlns:a16="http://schemas.microsoft.com/office/drawing/2014/main" id="{0F002143-0A06-4BD3-B888-8A9CE8D73980}"/>
              </a:ext>
            </a:extLst>
          </p:cNvPr>
          <p:cNvSpPr>
            <a:spLocks noChangeArrowheads="1"/>
          </p:cNvSpPr>
          <p:nvPr/>
        </p:nvSpPr>
        <p:spPr bwMode="auto">
          <a:xfrm>
            <a:off x="3213100" y="2157413"/>
            <a:ext cx="10668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原材料</a:t>
            </a:r>
            <a:r>
              <a:rPr lang="en-US" altLang="zh-CN" sz="1400">
                <a:solidFill>
                  <a:srgbClr val="FF00FF"/>
                </a:solidFill>
                <a:latin typeface="Times New Roman" panose="02020603050405020304" pitchFamily="18" charset="0"/>
                <a:cs typeface="Times New Roman" panose="02020603050405020304" pitchFamily="18" charset="0"/>
              </a:rPr>
              <a:t>B</a:t>
            </a:r>
          </a:p>
        </p:txBody>
      </p:sp>
      <p:sp>
        <p:nvSpPr>
          <p:cNvPr id="3" name="文本框 2">
            <a:extLst>
              <a:ext uri="{FF2B5EF4-FFF2-40B4-BE49-F238E27FC236}">
                <a16:creationId xmlns:a16="http://schemas.microsoft.com/office/drawing/2014/main" id="{3855C231-2B5E-41AF-8D3E-40F297F50DA6}"/>
              </a:ext>
            </a:extLst>
          </p:cNvPr>
          <p:cNvSpPr txBox="1"/>
          <p:nvPr/>
        </p:nvSpPr>
        <p:spPr>
          <a:xfrm>
            <a:off x="1295400" y="5334000"/>
            <a:ext cx="6186309" cy="646331"/>
          </a:xfrm>
          <a:prstGeom prst="rect">
            <a:avLst/>
          </a:prstGeom>
          <a:noFill/>
        </p:spPr>
        <p:txBody>
          <a:bodyPr wrap="none" rtlCol="0">
            <a:spAutoFit/>
          </a:bodyPr>
          <a:lstStyle/>
          <a:p>
            <a:r>
              <a:rPr lang="zh-CN" altLang="en-US" dirty="0"/>
              <a:t>问题：希望工厂获利增加，应该增加那种原材料或者台时？</a:t>
            </a:r>
            <a:endParaRPr lang="en-US" altLang="zh-CN" dirty="0"/>
          </a:p>
          <a:p>
            <a:r>
              <a:rPr lang="zh-CN" altLang="en-US" dirty="0">
                <a:highlight>
                  <a:srgbClr val="FFFF00"/>
                </a:highlight>
              </a:rPr>
              <a:t>需要分析工厂获利与台时以及原材料供应的关系</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descr="Large confetti">
            <a:extLst>
              <a:ext uri="{FF2B5EF4-FFF2-40B4-BE49-F238E27FC236}">
                <a16:creationId xmlns:a16="http://schemas.microsoft.com/office/drawing/2014/main" id="{11978856-9A87-4607-BDB5-01DA74A5F33F}"/>
              </a:ext>
            </a:extLst>
          </p:cNvPr>
          <p:cNvSpPr>
            <a:spLocks noGrp="1" noChangeArrowheads="1"/>
          </p:cNvSpPr>
          <p:nvPr>
            <p:ph type="title"/>
          </p:nvPr>
        </p:nvSpPr>
        <p:spPr/>
        <p:txBody>
          <a:bodyPr/>
          <a:lstStyle/>
          <a:p>
            <a:pPr eaLnBrk="1" hangingPunct="1"/>
            <a:r>
              <a:rPr lang="zh-CN" altLang="en-US"/>
              <a:t>影子价格的经济意义</a:t>
            </a:r>
          </a:p>
        </p:txBody>
      </p:sp>
      <p:sp>
        <p:nvSpPr>
          <p:cNvPr id="60419" name="Rectangle 3">
            <a:extLst>
              <a:ext uri="{FF2B5EF4-FFF2-40B4-BE49-F238E27FC236}">
                <a16:creationId xmlns:a16="http://schemas.microsoft.com/office/drawing/2014/main" id="{A31E19D8-8699-4FA2-AB4D-F2F0707208E1}"/>
              </a:ext>
            </a:extLst>
          </p:cNvPr>
          <p:cNvSpPr>
            <a:spLocks noGrp="1" noChangeArrowheads="1"/>
          </p:cNvSpPr>
          <p:nvPr>
            <p:ph type="body" idx="1"/>
          </p:nvPr>
        </p:nvSpPr>
        <p:spPr>
          <a:xfrm>
            <a:off x="206375" y="928688"/>
            <a:ext cx="8512175" cy="1035050"/>
          </a:xfrm>
        </p:spPr>
        <p:txBody>
          <a:bodyPr/>
          <a:lstStyle/>
          <a:p>
            <a:pPr defTabSz="449263" eaLnBrk="1" hangingPunct="1">
              <a:defRPr/>
            </a:pPr>
            <a:r>
              <a:rPr lang="en-US" altLang="zh-CN" sz="2400" dirty="0"/>
              <a:t>2. </a:t>
            </a:r>
            <a:r>
              <a:rPr lang="zh-CN" altLang="en-US" sz="2400" dirty="0">
                <a:solidFill>
                  <a:srgbClr val="FF00FF"/>
                </a:solidFill>
              </a:rPr>
              <a:t>（影子价格</a:t>
            </a:r>
            <a:r>
              <a:rPr lang="en-US" altLang="zh-CN" sz="2400" dirty="0" err="1">
                <a:solidFill>
                  <a:srgbClr val="FF00FF"/>
                </a:solidFill>
              </a:rPr>
              <a:t>y</a:t>
            </a:r>
            <a:r>
              <a:rPr lang="en-US" altLang="zh-CN" sz="2400" baseline="-25000" dirty="0" err="1">
                <a:solidFill>
                  <a:srgbClr val="FF00FF"/>
                </a:solidFill>
              </a:rPr>
              <a:t>i</a:t>
            </a:r>
            <a:r>
              <a:rPr lang="en-US" altLang="zh-CN" sz="2400" dirty="0">
                <a:solidFill>
                  <a:srgbClr val="FF00FF"/>
                </a:solidFill>
              </a:rPr>
              <a:t>*</a:t>
            </a:r>
            <a:r>
              <a:rPr lang="zh-CN" altLang="en-US" sz="2400" dirty="0">
                <a:solidFill>
                  <a:srgbClr val="FF00FF"/>
                </a:solidFill>
              </a:rPr>
              <a:t>与资源供给</a:t>
            </a:r>
            <a:r>
              <a:rPr lang="en-US" altLang="zh-CN" sz="2400" dirty="0">
                <a:solidFill>
                  <a:srgbClr val="FF00FF"/>
                </a:solidFill>
              </a:rPr>
              <a:t>b</a:t>
            </a:r>
            <a:r>
              <a:rPr lang="zh-CN" altLang="en-US" sz="2400" dirty="0">
                <a:solidFill>
                  <a:srgbClr val="FF00FF"/>
                </a:solidFill>
              </a:rPr>
              <a:t>的关系）</a:t>
            </a:r>
            <a:endParaRPr lang="en-US" altLang="zh-CN" sz="2400" dirty="0">
              <a:solidFill>
                <a:srgbClr val="FF00FF"/>
              </a:solidFill>
            </a:endParaRPr>
          </a:p>
          <a:p>
            <a:pPr marL="0" indent="0" defTabSz="449263" eaLnBrk="1" hangingPunct="1">
              <a:buFont typeface="Wingdings" panose="05000000000000000000" pitchFamily="2" charset="2"/>
              <a:buNone/>
              <a:defRPr/>
            </a:pPr>
            <a:r>
              <a:rPr lang="zh-CN" altLang="en-US" sz="2400" dirty="0"/>
              <a:t>          影子价格反映了资源的稀缺程度</a:t>
            </a:r>
          </a:p>
        </p:txBody>
      </p:sp>
      <p:pic>
        <p:nvPicPr>
          <p:cNvPr id="70660" name="Picture 3">
            <a:extLst>
              <a:ext uri="{FF2B5EF4-FFF2-40B4-BE49-F238E27FC236}">
                <a16:creationId xmlns:a16="http://schemas.microsoft.com/office/drawing/2014/main" id="{41B33176-A94F-4C9D-8F00-9EF2A3C33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913" y="3287713"/>
            <a:ext cx="7148512"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0661" name="组合 8">
            <a:extLst>
              <a:ext uri="{FF2B5EF4-FFF2-40B4-BE49-F238E27FC236}">
                <a16:creationId xmlns:a16="http://schemas.microsoft.com/office/drawing/2014/main" id="{B769A28B-8917-4CF6-B231-2F84377BE3BE}"/>
              </a:ext>
            </a:extLst>
          </p:cNvPr>
          <p:cNvGrpSpPr>
            <a:grpSpLocks/>
          </p:cNvGrpSpPr>
          <p:nvPr/>
        </p:nvGrpSpPr>
        <p:grpSpPr bwMode="auto">
          <a:xfrm>
            <a:off x="4800600" y="4733925"/>
            <a:ext cx="2362200" cy="333375"/>
            <a:chOff x="4506054" y="6143625"/>
            <a:chExt cx="2362200" cy="333375"/>
          </a:xfrm>
        </p:grpSpPr>
        <p:graphicFrame>
          <p:nvGraphicFramePr>
            <p:cNvPr id="70686" name="对象 9">
              <a:extLst>
                <a:ext uri="{FF2B5EF4-FFF2-40B4-BE49-F238E27FC236}">
                  <a16:creationId xmlns:a16="http://schemas.microsoft.com/office/drawing/2014/main" id="{ADD77606-9A73-4907-BDEC-6D4D53E56935}"/>
                </a:ext>
              </a:extLst>
            </p:cNvPr>
            <p:cNvGraphicFramePr>
              <a:graphicFrameLocks noChangeAspect="1"/>
            </p:cNvGraphicFramePr>
            <p:nvPr/>
          </p:nvGraphicFramePr>
          <p:xfrm>
            <a:off x="4506054" y="6157295"/>
            <a:ext cx="703351" cy="319705"/>
          </p:xfrm>
          <a:graphic>
            <a:graphicData uri="http://schemas.openxmlformats.org/presentationml/2006/ole">
              <mc:AlternateContent xmlns:mc="http://schemas.openxmlformats.org/markup-compatibility/2006">
                <mc:Choice xmlns:v="urn:schemas-microsoft-com:vml" Requires="v">
                  <p:oleObj spid="_x0000_s71253" name="Equation" r:id="rId4" imgW="419100" imgH="190500" progId="Equation.DSMT4">
                    <p:embed/>
                  </p:oleObj>
                </mc:Choice>
                <mc:Fallback>
                  <p:oleObj name="Equation" r:id="rId4" imgW="419100" imgH="190500" progId="Equation.DSMT4">
                    <p:embed/>
                    <p:pic>
                      <p:nvPicPr>
                        <p:cNvPr id="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054" y="6157295"/>
                          <a:ext cx="703351" cy="319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87" name="对象 10">
              <a:extLst>
                <a:ext uri="{FF2B5EF4-FFF2-40B4-BE49-F238E27FC236}">
                  <a16:creationId xmlns:a16="http://schemas.microsoft.com/office/drawing/2014/main" id="{2475C256-ADAF-4965-9692-058390DF0D7E}"/>
                </a:ext>
              </a:extLst>
            </p:cNvPr>
            <p:cNvGraphicFramePr>
              <a:graphicFrameLocks noChangeAspect="1"/>
            </p:cNvGraphicFramePr>
            <p:nvPr/>
          </p:nvGraphicFramePr>
          <p:xfrm>
            <a:off x="5369654" y="6157295"/>
            <a:ext cx="660400" cy="319088"/>
          </p:xfrm>
          <a:graphic>
            <a:graphicData uri="http://schemas.openxmlformats.org/presentationml/2006/ole">
              <mc:AlternateContent xmlns:mc="http://schemas.openxmlformats.org/markup-compatibility/2006">
                <mc:Choice xmlns:v="urn:schemas-microsoft-com:vml" Requires="v">
                  <p:oleObj spid="_x0000_s71254" name="Equation" r:id="rId6" imgW="393529" imgH="190417" progId="Equation.DSMT4">
                    <p:embed/>
                  </p:oleObj>
                </mc:Choice>
                <mc:Fallback>
                  <p:oleObj name="Equation" r:id="rId6" imgW="393529" imgH="190417" progId="Equation.DSMT4">
                    <p:embed/>
                    <p:pic>
                      <p:nvPicPr>
                        <p:cNvPr id="0"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9654" y="6157295"/>
                          <a:ext cx="66040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88" name="对象 11">
              <a:extLst>
                <a:ext uri="{FF2B5EF4-FFF2-40B4-BE49-F238E27FC236}">
                  <a16:creationId xmlns:a16="http://schemas.microsoft.com/office/drawing/2014/main" id="{2C3EA12C-3CBC-43CA-982E-1DB38BADE65E}"/>
                </a:ext>
              </a:extLst>
            </p:cNvPr>
            <p:cNvGraphicFramePr>
              <a:graphicFrameLocks noChangeAspect="1"/>
            </p:cNvGraphicFramePr>
            <p:nvPr/>
          </p:nvGraphicFramePr>
          <p:xfrm>
            <a:off x="6269766" y="6143625"/>
            <a:ext cx="598488" cy="319088"/>
          </p:xfrm>
          <a:graphic>
            <a:graphicData uri="http://schemas.openxmlformats.org/presentationml/2006/ole">
              <mc:AlternateContent xmlns:mc="http://schemas.openxmlformats.org/markup-compatibility/2006">
                <mc:Choice xmlns:v="urn:schemas-microsoft-com:vml" Requires="v">
                  <p:oleObj spid="_x0000_s71255" name="Equation" r:id="rId8" imgW="355446" imgH="190417" progId="Equation.DSMT4">
                    <p:embed/>
                  </p:oleObj>
                </mc:Choice>
                <mc:Fallback>
                  <p:oleObj name="Equation" r:id="rId8" imgW="355446" imgH="190417" progId="Equation.DSMT4">
                    <p:embed/>
                    <p:pic>
                      <p:nvPicPr>
                        <p:cNvPr id="0" name="对象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69766" y="6143625"/>
                          <a:ext cx="598488"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 name="矩形 12">
            <a:extLst>
              <a:ext uri="{FF2B5EF4-FFF2-40B4-BE49-F238E27FC236}">
                <a16:creationId xmlns:a16="http://schemas.microsoft.com/office/drawing/2014/main" id="{7E00E262-8A23-4AB1-9F7B-A635186D6179}"/>
              </a:ext>
            </a:extLst>
          </p:cNvPr>
          <p:cNvSpPr/>
          <p:nvPr/>
        </p:nvSpPr>
        <p:spPr>
          <a:xfrm>
            <a:off x="946150" y="5432425"/>
            <a:ext cx="6946900" cy="646113"/>
          </a:xfrm>
          <a:prstGeom prst="rect">
            <a:avLst/>
          </a:prstGeom>
          <a:ln>
            <a:solidFill>
              <a:srgbClr val="FF0000"/>
            </a:solidFill>
          </a:ln>
        </p:spPr>
        <p:txBody>
          <a:bodyPr>
            <a:spAutoFit/>
          </a:bodyPr>
          <a:lstStyle/>
          <a:p>
            <a:pPr>
              <a:defRPr/>
            </a:pPr>
            <a:r>
              <a:rPr lang="zh-CN" altLang="en-US" dirty="0">
                <a:solidFill>
                  <a:srgbClr val="FF3300"/>
                </a:solidFill>
                <a:latin typeface="+mn-ea"/>
                <a:ea typeface="+mn-ea"/>
              </a:rPr>
              <a:t>当某种资源的</a:t>
            </a:r>
            <a:r>
              <a:rPr lang="zh-CN" altLang="en-US" dirty="0">
                <a:solidFill>
                  <a:srgbClr val="FF3300"/>
                </a:solidFill>
                <a:latin typeface="+mn-ea"/>
              </a:rPr>
              <a:t>影子价格</a:t>
            </a:r>
            <a:r>
              <a:rPr lang="en-US" altLang="zh-CN" dirty="0" err="1">
                <a:solidFill>
                  <a:srgbClr val="FF3300"/>
                </a:solidFill>
                <a:latin typeface="+mn-ea"/>
              </a:rPr>
              <a:t>y</a:t>
            </a:r>
            <a:r>
              <a:rPr lang="en-US" altLang="zh-CN" baseline="-25000" dirty="0" err="1">
                <a:solidFill>
                  <a:srgbClr val="FF3300"/>
                </a:solidFill>
                <a:latin typeface="+mn-ea"/>
              </a:rPr>
              <a:t>i</a:t>
            </a:r>
            <a:r>
              <a:rPr lang="en-US" altLang="zh-CN" baseline="30000" dirty="0">
                <a:solidFill>
                  <a:srgbClr val="FF3300"/>
                </a:solidFill>
                <a:latin typeface="+mn-ea"/>
              </a:rPr>
              <a:t>*</a:t>
            </a:r>
            <a:r>
              <a:rPr lang="en-US" altLang="zh-CN" dirty="0">
                <a:solidFill>
                  <a:srgbClr val="FF3300"/>
                </a:solidFill>
                <a:latin typeface="+mn-ea"/>
              </a:rPr>
              <a:t>&gt;0,</a:t>
            </a:r>
            <a:r>
              <a:rPr lang="zh-CN" altLang="en-US" dirty="0">
                <a:solidFill>
                  <a:srgbClr val="FF3300"/>
                </a:solidFill>
                <a:latin typeface="+mn-ea"/>
              </a:rPr>
              <a:t>表示这种资源短缺</a:t>
            </a:r>
            <a:r>
              <a:rPr lang="en-US" altLang="zh-CN" dirty="0">
                <a:solidFill>
                  <a:srgbClr val="FF3300"/>
                </a:solidFill>
                <a:latin typeface="+mn-ea"/>
              </a:rPr>
              <a:t>(</a:t>
            </a:r>
            <a:r>
              <a:rPr lang="zh-CN" altLang="en-US" dirty="0">
                <a:solidFill>
                  <a:srgbClr val="FF3300"/>
                </a:solidFill>
                <a:latin typeface="+mn-ea"/>
              </a:rPr>
              <a:t>已耗费完</a:t>
            </a:r>
            <a:r>
              <a:rPr lang="en-US" altLang="zh-CN" dirty="0">
                <a:solidFill>
                  <a:srgbClr val="FF3300"/>
                </a:solidFill>
                <a:latin typeface="+mn-ea"/>
              </a:rPr>
              <a:t>)</a:t>
            </a:r>
            <a:r>
              <a:rPr lang="zh-CN" altLang="en-US" dirty="0">
                <a:solidFill>
                  <a:srgbClr val="FF3300"/>
                </a:solidFill>
                <a:latin typeface="+mn-ea"/>
              </a:rPr>
              <a:t>；</a:t>
            </a:r>
            <a:endParaRPr lang="en-US" altLang="zh-CN" dirty="0">
              <a:solidFill>
                <a:srgbClr val="FF3300"/>
              </a:solidFill>
              <a:latin typeface="+mn-ea"/>
            </a:endParaRPr>
          </a:p>
          <a:p>
            <a:pPr>
              <a:defRPr/>
            </a:pPr>
            <a:r>
              <a:rPr lang="zh-CN" altLang="en-US" dirty="0">
                <a:solidFill>
                  <a:srgbClr val="FF3300"/>
                </a:solidFill>
                <a:latin typeface="+mn-ea"/>
                <a:ea typeface="+mn-ea"/>
              </a:rPr>
              <a:t>当某种资源的</a:t>
            </a:r>
            <a:r>
              <a:rPr lang="zh-CN" altLang="en-US" dirty="0">
                <a:solidFill>
                  <a:srgbClr val="FF3300"/>
                </a:solidFill>
                <a:latin typeface="+mn-ea"/>
              </a:rPr>
              <a:t>影子价格</a:t>
            </a:r>
            <a:r>
              <a:rPr lang="en-US" altLang="zh-CN" dirty="0" err="1">
                <a:solidFill>
                  <a:srgbClr val="FF3300"/>
                </a:solidFill>
                <a:latin typeface="+mn-ea"/>
              </a:rPr>
              <a:t>y</a:t>
            </a:r>
            <a:r>
              <a:rPr lang="en-US" altLang="zh-CN" baseline="-25000" dirty="0" err="1">
                <a:solidFill>
                  <a:srgbClr val="FF3300"/>
                </a:solidFill>
                <a:latin typeface="+mn-ea"/>
              </a:rPr>
              <a:t>i</a:t>
            </a:r>
            <a:r>
              <a:rPr lang="en-US" altLang="zh-CN" baseline="30000" dirty="0">
                <a:solidFill>
                  <a:srgbClr val="FF3300"/>
                </a:solidFill>
                <a:latin typeface="+mn-ea"/>
              </a:rPr>
              <a:t>*</a:t>
            </a:r>
            <a:r>
              <a:rPr lang="en-US" altLang="zh-CN" dirty="0">
                <a:solidFill>
                  <a:srgbClr val="FF3300"/>
                </a:solidFill>
                <a:latin typeface="+mn-ea"/>
              </a:rPr>
              <a:t>=0,</a:t>
            </a:r>
            <a:r>
              <a:rPr lang="zh-CN" altLang="en-US" dirty="0">
                <a:solidFill>
                  <a:srgbClr val="FF3300"/>
                </a:solidFill>
                <a:latin typeface="+mn-ea"/>
              </a:rPr>
              <a:t>表示这种资源有剩余，不短缺。</a:t>
            </a:r>
            <a:endParaRPr lang="en-US" altLang="zh-CN" dirty="0">
              <a:solidFill>
                <a:srgbClr val="FF3300"/>
              </a:solidFill>
              <a:latin typeface="+mn-ea"/>
              <a:ea typeface="+mn-ea"/>
            </a:endParaRPr>
          </a:p>
        </p:txBody>
      </p:sp>
      <p:grpSp>
        <p:nvGrpSpPr>
          <p:cNvPr id="70663" name="组合 13">
            <a:extLst>
              <a:ext uri="{FF2B5EF4-FFF2-40B4-BE49-F238E27FC236}">
                <a16:creationId xmlns:a16="http://schemas.microsoft.com/office/drawing/2014/main" id="{75DF1505-E5BF-4553-BF8A-B84127CF693D}"/>
              </a:ext>
            </a:extLst>
          </p:cNvPr>
          <p:cNvGrpSpPr>
            <a:grpSpLocks/>
          </p:cNvGrpSpPr>
          <p:nvPr/>
        </p:nvGrpSpPr>
        <p:grpSpPr bwMode="auto">
          <a:xfrm>
            <a:off x="3082925" y="4784725"/>
            <a:ext cx="1400175" cy="320675"/>
            <a:chOff x="2787650" y="6157913"/>
            <a:chExt cx="1400904" cy="320675"/>
          </a:xfrm>
        </p:grpSpPr>
        <p:graphicFrame>
          <p:nvGraphicFramePr>
            <p:cNvPr id="70684" name="对象 14">
              <a:extLst>
                <a:ext uri="{FF2B5EF4-FFF2-40B4-BE49-F238E27FC236}">
                  <a16:creationId xmlns:a16="http://schemas.microsoft.com/office/drawing/2014/main" id="{9D9715C7-A90E-4643-9596-7A6936C0EBD8}"/>
                </a:ext>
              </a:extLst>
            </p:cNvPr>
            <p:cNvGraphicFramePr>
              <a:graphicFrameLocks noChangeAspect="1"/>
            </p:cNvGraphicFramePr>
            <p:nvPr/>
          </p:nvGraphicFramePr>
          <p:xfrm>
            <a:off x="2787650" y="6157913"/>
            <a:ext cx="596900" cy="319087"/>
          </p:xfrm>
          <a:graphic>
            <a:graphicData uri="http://schemas.openxmlformats.org/presentationml/2006/ole">
              <mc:AlternateContent xmlns:mc="http://schemas.openxmlformats.org/markup-compatibility/2006">
                <mc:Choice xmlns:v="urn:schemas-microsoft-com:vml" Requires="v">
                  <p:oleObj spid="_x0000_s71256" name="Equation" r:id="rId10" imgW="355446" imgH="190417" progId="Equation.DSMT4">
                    <p:embed/>
                  </p:oleObj>
                </mc:Choice>
                <mc:Fallback>
                  <p:oleObj name="Equation" r:id="rId10" imgW="355446" imgH="190417" progId="Equation.DSMT4">
                    <p:embed/>
                    <p:pic>
                      <p:nvPicPr>
                        <p:cNvPr id="0" name="对象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87650" y="6157913"/>
                          <a:ext cx="59690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85" name="对象 15">
              <a:extLst>
                <a:ext uri="{FF2B5EF4-FFF2-40B4-BE49-F238E27FC236}">
                  <a16:creationId xmlns:a16="http://schemas.microsoft.com/office/drawing/2014/main" id="{1A6FAB9A-1D12-45E0-B27E-997001074ED9}"/>
                </a:ext>
              </a:extLst>
            </p:cNvPr>
            <p:cNvGraphicFramePr>
              <a:graphicFrameLocks noChangeAspect="1"/>
            </p:cNvGraphicFramePr>
            <p:nvPr/>
          </p:nvGraphicFramePr>
          <p:xfrm>
            <a:off x="3591654" y="6159500"/>
            <a:ext cx="596900" cy="319088"/>
          </p:xfrm>
          <a:graphic>
            <a:graphicData uri="http://schemas.openxmlformats.org/presentationml/2006/ole">
              <mc:AlternateContent xmlns:mc="http://schemas.openxmlformats.org/markup-compatibility/2006">
                <mc:Choice xmlns:v="urn:schemas-microsoft-com:vml" Requires="v">
                  <p:oleObj spid="_x0000_s71257" name="Equation" r:id="rId12" imgW="355446" imgH="190417" progId="Equation.DSMT4">
                    <p:embed/>
                  </p:oleObj>
                </mc:Choice>
                <mc:Fallback>
                  <p:oleObj name="Equation" r:id="rId12" imgW="355446" imgH="190417" progId="Equation.DSMT4">
                    <p:embed/>
                    <p:pic>
                      <p:nvPicPr>
                        <p:cNvPr id="0" name="对象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91654" y="6159500"/>
                          <a:ext cx="59690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64" name="矩形 21">
            <a:extLst>
              <a:ext uri="{FF2B5EF4-FFF2-40B4-BE49-F238E27FC236}">
                <a16:creationId xmlns:a16="http://schemas.microsoft.com/office/drawing/2014/main" id="{040BECCF-A3CC-48AC-ACEA-E835DA6FA3F1}"/>
              </a:ext>
            </a:extLst>
          </p:cNvPr>
          <p:cNvSpPr>
            <a:spLocks noChangeArrowheads="1"/>
          </p:cNvSpPr>
          <p:nvPr/>
        </p:nvSpPr>
        <p:spPr bwMode="auto">
          <a:xfrm>
            <a:off x="2971800" y="2206625"/>
            <a:ext cx="784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台时</a:t>
            </a:r>
            <a:endParaRPr lang="en-US" altLang="zh-CN" sz="1400">
              <a:solidFill>
                <a:srgbClr val="FF00FF"/>
              </a:solidFill>
              <a:latin typeface="Times New Roman" panose="02020603050405020304" pitchFamily="18" charset="0"/>
              <a:cs typeface="Times New Roman" panose="02020603050405020304" pitchFamily="18" charset="0"/>
            </a:endParaRPr>
          </a:p>
        </p:txBody>
      </p:sp>
      <p:sp>
        <p:nvSpPr>
          <p:cNvPr id="70665" name="矩形 21">
            <a:extLst>
              <a:ext uri="{FF2B5EF4-FFF2-40B4-BE49-F238E27FC236}">
                <a16:creationId xmlns:a16="http://schemas.microsoft.com/office/drawing/2014/main" id="{2EBF5E87-D705-4CDB-B55F-0C9B58E82E67}"/>
              </a:ext>
            </a:extLst>
          </p:cNvPr>
          <p:cNvSpPr>
            <a:spLocks noChangeArrowheads="1"/>
          </p:cNvSpPr>
          <p:nvPr/>
        </p:nvSpPr>
        <p:spPr bwMode="auto">
          <a:xfrm>
            <a:off x="2994025" y="2435225"/>
            <a:ext cx="1066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原材料</a:t>
            </a:r>
            <a:r>
              <a:rPr lang="en-US" altLang="zh-CN" sz="1400">
                <a:solidFill>
                  <a:srgbClr val="FF00FF"/>
                </a:solidFill>
                <a:latin typeface="Times New Roman" panose="02020603050405020304" pitchFamily="18" charset="0"/>
                <a:cs typeface="Times New Roman" panose="02020603050405020304" pitchFamily="18" charset="0"/>
              </a:rPr>
              <a:t>A</a:t>
            </a:r>
          </a:p>
        </p:txBody>
      </p:sp>
      <p:sp>
        <p:nvSpPr>
          <p:cNvPr id="70666" name="矩形 21">
            <a:extLst>
              <a:ext uri="{FF2B5EF4-FFF2-40B4-BE49-F238E27FC236}">
                <a16:creationId xmlns:a16="http://schemas.microsoft.com/office/drawing/2014/main" id="{33615742-9365-43BF-A13D-238C034BC7F5}"/>
              </a:ext>
            </a:extLst>
          </p:cNvPr>
          <p:cNvSpPr>
            <a:spLocks noChangeArrowheads="1"/>
          </p:cNvSpPr>
          <p:nvPr/>
        </p:nvSpPr>
        <p:spPr bwMode="auto">
          <a:xfrm>
            <a:off x="2994025" y="2663825"/>
            <a:ext cx="1066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原材料</a:t>
            </a:r>
            <a:r>
              <a:rPr lang="en-US" altLang="zh-CN" sz="1400">
                <a:solidFill>
                  <a:srgbClr val="FF00FF"/>
                </a:solidFill>
                <a:latin typeface="Times New Roman" panose="02020603050405020304" pitchFamily="18" charset="0"/>
                <a:cs typeface="Times New Roman" panose="02020603050405020304" pitchFamily="18" charset="0"/>
              </a:rPr>
              <a:t>B</a:t>
            </a:r>
          </a:p>
        </p:txBody>
      </p:sp>
      <p:grpSp>
        <p:nvGrpSpPr>
          <p:cNvPr id="70667" name="组合 1">
            <a:extLst>
              <a:ext uri="{FF2B5EF4-FFF2-40B4-BE49-F238E27FC236}">
                <a16:creationId xmlns:a16="http://schemas.microsoft.com/office/drawing/2014/main" id="{0ED9062C-D7AB-4EEF-B2DA-53CE091BD884}"/>
              </a:ext>
            </a:extLst>
          </p:cNvPr>
          <p:cNvGrpSpPr>
            <a:grpSpLocks/>
          </p:cNvGrpSpPr>
          <p:nvPr/>
        </p:nvGrpSpPr>
        <p:grpSpPr bwMode="auto">
          <a:xfrm>
            <a:off x="5559425" y="1443038"/>
            <a:ext cx="2667000" cy="306387"/>
            <a:chOff x="4705632" y="4593223"/>
            <a:chExt cx="2667000" cy="307777"/>
          </a:xfrm>
        </p:grpSpPr>
        <p:sp>
          <p:nvSpPr>
            <p:cNvPr id="70681" name="矩形 21">
              <a:extLst>
                <a:ext uri="{FF2B5EF4-FFF2-40B4-BE49-F238E27FC236}">
                  <a16:creationId xmlns:a16="http://schemas.microsoft.com/office/drawing/2014/main" id="{4C54C379-1451-4FEC-8305-A6622F9E23AE}"/>
                </a:ext>
              </a:extLst>
            </p:cNvPr>
            <p:cNvSpPr>
              <a:spLocks noChangeArrowheads="1"/>
            </p:cNvSpPr>
            <p:nvPr/>
          </p:nvSpPr>
          <p:spPr bwMode="auto">
            <a:xfrm>
              <a:off x="4705632" y="4593223"/>
              <a:ext cx="7045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台时</a:t>
              </a:r>
              <a:endParaRPr lang="en-US" altLang="zh-CN" sz="1400">
                <a:solidFill>
                  <a:srgbClr val="FF00FF"/>
                </a:solidFill>
                <a:latin typeface="Times New Roman" panose="02020603050405020304" pitchFamily="18" charset="0"/>
                <a:cs typeface="Times New Roman" panose="02020603050405020304" pitchFamily="18" charset="0"/>
              </a:endParaRPr>
            </a:p>
          </p:txBody>
        </p:sp>
        <p:sp>
          <p:nvSpPr>
            <p:cNvPr id="70682" name="矩形 21">
              <a:extLst>
                <a:ext uri="{FF2B5EF4-FFF2-40B4-BE49-F238E27FC236}">
                  <a16:creationId xmlns:a16="http://schemas.microsoft.com/office/drawing/2014/main" id="{3894020A-C9C0-4319-ADF9-DAF238C4EAC4}"/>
                </a:ext>
              </a:extLst>
            </p:cNvPr>
            <p:cNvSpPr>
              <a:spLocks noChangeArrowheads="1"/>
            </p:cNvSpPr>
            <p:nvPr/>
          </p:nvSpPr>
          <p:spPr bwMode="auto">
            <a:xfrm>
              <a:off x="5391432" y="4593223"/>
              <a:ext cx="1066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原材料</a:t>
              </a:r>
              <a:r>
                <a:rPr lang="en-US" altLang="zh-CN" sz="1400">
                  <a:solidFill>
                    <a:srgbClr val="FF00FF"/>
                  </a:solidFill>
                  <a:latin typeface="Times New Roman" panose="02020603050405020304" pitchFamily="18" charset="0"/>
                  <a:cs typeface="Times New Roman" panose="02020603050405020304" pitchFamily="18" charset="0"/>
                </a:rPr>
                <a:t>A</a:t>
              </a:r>
            </a:p>
          </p:txBody>
        </p:sp>
        <p:sp>
          <p:nvSpPr>
            <p:cNvPr id="70683" name="矩形 23">
              <a:extLst>
                <a:ext uri="{FF2B5EF4-FFF2-40B4-BE49-F238E27FC236}">
                  <a16:creationId xmlns:a16="http://schemas.microsoft.com/office/drawing/2014/main" id="{D3CF6814-3449-4405-B645-F2FFE97E595F}"/>
                </a:ext>
              </a:extLst>
            </p:cNvPr>
            <p:cNvSpPr>
              <a:spLocks noChangeArrowheads="1"/>
            </p:cNvSpPr>
            <p:nvPr/>
          </p:nvSpPr>
          <p:spPr bwMode="auto">
            <a:xfrm>
              <a:off x="6305832" y="4593223"/>
              <a:ext cx="1066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FF00FF"/>
                  </a:solidFill>
                  <a:latin typeface="Times New Roman" panose="02020603050405020304" pitchFamily="18" charset="0"/>
                  <a:cs typeface="Times New Roman" panose="02020603050405020304" pitchFamily="18" charset="0"/>
                </a:rPr>
                <a:t>原材料</a:t>
              </a:r>
              <a:r>
                <a:rPr lang="en-US" altLang="zh-CN" sz="1400">
                  <a:solidFill>
                    <a:srgbClr val="FF00FF"/>
                  </a:solidFill>
                  <a:latin typeface="Times New Roman" panose="02020603050405020304" pitchFamily="18" charset="0"/>
                  <a:cs typeface="Times New Roman" panose="02020603050405020304" pitchFamily="18" charset="0"/>
                </a:rPr>
                <a:t>B</a:t>
              </a:r>
            </a:p>
          </p:txBody>
        </p:sp>
      </p:grpSp>
      <p:grpSp>
        <p:nvGrpSpPr>
          <p:cNvPr id="28" name="组合 27">
            <a:extLst>
              <a:ext uri="{FF2B5EF4-FFF2-40B4-BE49-F238E27FC236}">
                <a16:creationId xmlns:a16="http://schemas.microsoft.com/office/drawing/2014/main" id="{67DB736A-5D06-45D2-8BC3-D1EB976B6CC2}"/>
              </a:ext>
            </a:extLst>
          </p:cNvPr>
          <p:cNvGrpSpPr>
            <a:grpSpLocks/>
          </p:cNvGrpSpPr>
          <p:nvPr/>
        </p:nvGrpSpPr>
        <p:grpSpPr bwMode="auto">
          <a:xfrm>
            <a:off x="3100388" y="5029200"/>
            <a:ext cx="3986212" cy="330200"/>
            <a:chOff x="2841625" y="6162675"/>
            <a:chExt cx="3985891" cy="330200"/>
          </a:xfrm>
        </p:grpSpPr>
        <p:graphicFrame>
          <p:nvGraphicFramePr>
            <p:cNvPr id="70676" name="对象 28">
              <a:extLst>
                <a:ext uri="{FF2B5EF4-FFF2-40B4-BE49-F238E27FC236}">
                  <a16:creationId xmlns:a16="http://schemas.microsoft.com/office/drawing/2014/main" id="{21E5B854-8614-4DF4-ABDC-6676D44F2AAD}"/>
                </a:ext>
              </a:extLst>
            </p:cNvPr>
            <p:cNvGraphicFramePr>
              <a:graphicFrameLocks noChangeAspect="1"/>
            </p:cNvGraphicFramePr>
            <p:nvPr/>
          </p:nvGraphicFramePr>
          <p:xfrm>
            <a:off x="2841625" y="6164263"/>
            <a:ext cx="488950" cy="319087"/>
          </p:xfrm>
          <a:graphic>
            <a:graphicData uri="http://schemas.openxmlformats.org/presentationml/2006/ole">
              <mc:AlternateContent xmlns:mc="http://schemas.openxmlformats.org/markup-compatibility/2006">
                <mc:Choice xmlns:v="urn:schemas-microsoft-com:vml" Requires="v">
                  <p:oleObj spid="_x0000_s71258" name="Equation" r:id="rId14" imgW="291973" imgH="190417" progId="Equation.DSMT4">
                    <p:embed/>
                  </p:oleObj>
                </mc:Choice>
                <mc:Fallback>
                  <p:oleObj name="Equation" r:id="rId14" imgW="291973" imgH="190417" progId="Equation.DSMT4">
                    <p:embed/>
                    <p:pic>
                      <p:nvPicPr>
                        <p:cNvPr id="0" name="对象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41625" y="6164263"/>
                          <a:ext cx="48895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7" name="对象 29">
              <a:extLst>
                <a:ext uri="{FF2B5EF4-FFF2-40B4-BE49-F238E27FC236}">
                  <a16:creationId xmlns:a16="http://schemas.microsoft.com/office/drawing/2014/main" id="{2C755E48-AD09-43FC-BCCA-70D3E870212B}"/>
                </a:ext>
              </a:extLst>
            </p:cNvPr>
            <p:cNvGraphicFramePr>
              <a:graphicFrameLocks noChangeAspect="1"/>
            </p:cNvGraphicFramePr>
            <p:nvPr/>
          </p:nvGraphicFramePr>
          <p:xfrm>
            <a:off x="3668391" y="6164263"/>
            <a:ext cx="492125" cy="319087"/>
          </p:xfrm>
          <a:graphic>
            <a:graphicData uri="http://schemas.openxmlformats.org/presentationml/2006/ole">
              <mc:AlternateContent xmlns:mc="http://schemas.openxmlformats.org/markup-compatibility/2006">
                <mc:Choice xmlns:v="urn:schemas-microsoft-com:vml" Requires="v">
                  <p:oleObj spid="_x0000_s71259" name="Equation" r:id="rId16" imgW="291973" imgH="190417" progId="Equation.DSMT4">
                    <p:embed/>
                  </p:oleObj>
                </mc:Choice>
                <mc:Fallback>
                  <p:oleObj name="Equation" r:id="rId16" imgW="291973" imgH="190417" progId="Equation.DSMT4">
                    <p:embed/>
                    <p:pic>
                      <p:nvPicPr>
                        <p:cNvPr id="0" name="对象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68391" y="6164263"/>
                          <a:ext cx="4921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8" name="对象 30">
              <a:extLst>
                <a:ext uri="{FF2B5EF4-FFF2-40B4-BE49-F238E27FC236}">
                  <a16:creationId xmlns:a16="http://schemas.microsoft.com/office/drawing/2014/main" id="{05BC2E31-029F-45A1-B5D6-FC0FAE8E5EE8}"/>
                </a:ext>
              </a:extLst>
            </p:cNvPr>
            <p:cNvGraphicFramePr>
              <a:graphicFrameLocks noChangeAspect="1"/>
            </p:cNvGraphicFramePr>
            <p:nvPr/>
          </p:nvGraphicFramePr>
          <p:xfrm>
            <a:off x="4660578" y="6167438"/>
            <a:ext cx="490538" cy="319087"/>
          </p:xfrm>
          <a:graphic>
            <a:graphicData uri="http://schemas.openxmlformats.org/presentationml/2006/ole">
              <mc:AlternateContent xmlns:mc="http://schemas.openxmlformats.org/markup-compatibility/2006">
                <mc:Choice xmlns:v="urn:schemas-microsoft-com:vml" Requires="v">
                  <p:oleObj spid="_x0000_s71260" name="Equation" r:id="rId18" imgW="291973" imgH="190417" progId="Equation.DSMT4">
                    <p:embed/>
                  </p:oleObj>
                </mc:Choice>
                <mc:Fallback>
                  <p:oleObj name="Equation" r:id="rId18" imgW="291973" imgH="190417" progId="Equation.DSMT4">
                    <p:embed/>
                    <p:pic>
                      <p:nvPicPr>
                        <p:cNvPr id="0" name="对象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60578" y="6167438"/>
                          <a:ext cx="490538"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9" name="对象 31">
              <a:extLst>
                <a:ext uri="{FF2B5EF4-FFF2-40B4-BE49-F238E27FC236}">
                  <a16:creationId xmlns:a16="http://schemas.microsoft.com/office/drawing/2014/main" id="{66C12180-3228-4E73-9F94-EAB90580BF7D}"/>
                </a:ext>
              </a:extLst>
            </p:cNvPr>
            <p:cNvGraphicFramePr>
              <a:graphicFrameLocks noChangeAspect="1"/>
            </p:cNvGraphicFramePr>
            <p:nvPr/>
          </p:nvGraphicFramePr>
          <p:xfrm>
            <a:off x="5532116" y="6173788"/>
            <a:ext cx="490538" cy="319087"/>
          </p:xfrm>
          <a:graphic>
            <a:graphicData uri="http://schemas.openxmlformats.org/presentationml/2006/ole">
              <mc:AlternateContent xmlns:mc="http://schemas.openxmlformats.org/markup-compatibility/2006">
                <mc:Choice xmlns:v="urn:schemas-microsoft-com:vml" Requires="v">
                  <p:oleObj spid="_x0000_s71261" name="Equation" r:id="rId20" imgW="291973" imgH="190417" progId="Equation.DSMT4">
                    <p:embed/>
                  </p:oleObj>
                </mc:Choice>
                <mc:Fallback>
                  <p:oleObj name="Equation" r:id="rId20" imgW="291973" imgH="190417" progId="Equation.DSMT4">
                    <p:embed/>
                    <p:pic>
                      <p:nvPicPr>
                        <p:cNvPr id="0" name="对象 3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32116" y="6173788"/>
                          <a:ext cx="490538"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80" name="对象 32">
              <a:extLst>
                <a:ext uri="{FF2B5EF4-FFF2-40B4-BE49-F238E27FC236}">
                  <a16:creationId xmlns:a16="http://schemas.microsoft.com/office/drawing/2014/main" id="{507DD0F9-1EB6-4AAC-BA22-26221D0DB04C}"/>
                </a:ext>
              </a:extLst>
            </p:cNvPr>
            <p:cNvGraphicFramePr>
              <a:graphicFrameLocks noChangeAspect="1"/>
            </p:cNvGraphicFramePr>
            <p:nvPr/>
          </p:nvGraphicFramePr>
          <p:xfrm>
            <a:off x="6335391" y="6162675"/>
            <a:ext cx="492125" cy="319088"/>
          </p:xfrm>
          <a:graphic>
            <a:graphicData uri="http://schemas.openxmlformats.org/presentationml/2006/ole">
              <mc:AlternateContent xmlns:mc="http://schemas.openxmlformats.org/markup-compatibility/2006">
                <mc:Choice xmlns:v="urn:schemas-microsoft-com:vml" Requires="v">
                  <p:oleObj spid="_x0000_s71262" name="Equation" r:id="rId22" imgW="291973" imgH="190417" progId="Equation.DSMT4">
                    <p:embed/>
                  </p:oleObj>
                </mc:Choice>
                <mc:Fallback>
                  <p:oleObj name="Equation" r:id="rId22" imgW="291973" imgH="190417" progId="Equation.DSMT4">
                    <p:embed/>
                    <p:pic>
                      <p:nvPicPr>
                        <p:cNvPr id="0" name="对象 3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335391" y="6162675"/>
                          <a:ext cx="4921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0669" name="对象 33">
            <a:extLst>
              <a:ext uri="{FF2B5EF4-FFF2-40B4-BE49-F238E27FC236}">
                <a16:creationId xmlns:a16="http://schemas.microsoft.com/office/drawing/2014/main" id="{35D7BFA8-51BD-4075-81B8-6170CAAAF2FB}"/>
              </a:ext>
            </a:extLst>
          </p:cNvPr>
          <p:cNvGraphicFramePr>
            <a:graphicFrameLocks noChangeAspect="1"/>
          </p:cNvGraphicFramePr>
          <p:nvPr/>
        </p:nvGraphicFramePr>
        <p:xfrm>
          <a:off x="762000" y="1905000"/>
          <a:ext cx="2538413" cy="1365250"/>
        </p:xfrm>
        <a:graphic>
          <a:graphicData uri="http://schemas.openxmlformats.org/presentationml/2006/ole">
            <mc:AlternateContent xmlns:mc="http://schemas.openxmlformats.org/markup-compatibility/2006">
              <mc:Choice xmlns:v="urn:schemas-microsoft-com:vml" Requires="v">
                <p:oleObj spid="_x0000_s71263" name="Equation" r:id="rId24" imgW="1511300" imgH="812800" progId="Equation.DSMT4">
                  <p:embed/>
                </p:oleObj>
              </mc:Choice>
              <mc:Fallback>
                <p:oleObj name="Equation" r:id="rId24" imgW="1511300" imgH="812800" progId="Equation.DSMT4">
                  <p:embed/>
                  <p:pic>
                    <p:nvPicPr>
                      <p:cNvPr id="0" name="对象 3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62000" y="1905000"/>
                        <a:ext cx="2538413"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0" name="对象 34">
            <a:extLst>
              <a:ext uri="{FF2B5EF4-FFF2-40B4-BE49-F238E27FC236}">
                <a16:creationId xmlns:a16="http://schemas.microsoft.com/office/drawing/2014/main" id="{A504C681-7079-48EA-94F9-326CF3DDC9ED}"/>
              </a:ext>
            </a:extLst>
          </p:cNvPr>
          <p:cNvGraphicFramePr>
            <a:graphicFrameLocks noChangeAspect="1"/>
          </p:cNvGraphicFramePr>
          <p:nvPr/>
        </p:nvGraphicFramePr>
        <p:xfrm>
          <a:off x="5476875" y="2014538"/>
          <a:ext cx="2752725" cy="1109662"/>
        </p:xfrm>
        <a:graphic>
          <a:graphicData uri="http://schemas.openxmlformats.org/presentationml/2006/ole">
            <mc:AlternateContent xmlns:mc="http://schemas.openxmlformats.org/markup-compatibility/2006">
              <mc:Choice xmlns:v="urn:schemas-microsoft-com:vml" Requires="v">
                <p:oleObj spid="_x0000_s71264" name="Equation" r:id="rId26" imgW="1638300" imgH="660400" progId="Equation.DSMT4">
                  <p:embed/>
                </p:oleObj>
              </mc:Choice>
              <mc:Fallback>
                <p:oleObj name="Equation" r:id="rId26" imgW="1638300" imgH="660400" progId="Equation.DSMT4">
                  <p:embed/>
                  <p:pic>
                    <p:nvPicPr>
                      <p:cNvPr id="0" name="对象 3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476875" y="2014538"/>
                        <a:ext cx="2752725" cy="110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71" name="Text Box 31">
            <a:extLst>
              <a:ext uri="{FF2B5EF4-FFF2-40B4-BE49-F238E27FC236}">
                <a16:creationId xmlns:a16="http://schemas.microsoft.com/office/drawing/2014/main" id="{AE5A51FC-F7EC-4383-A55C-D4CCB5ADB2D9}"/>
              </a:ext>
            </a:extLst>
          </p:cNvPr>
          <p:cNvSpPr txBox="1">
            <a:spLocks noChangeArrowheads="1"/>
          </p:cNvSpPr>
          <p:nvPr/>
        </p:nvSpPr>
        <p:spPr bwMode="auto">
          <a:xfrm>
            <a:off x="3836988" y="2014538"/>
            <a:ext cx="1630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3366"/>
                </a:solidFill>
              </a:rPr>
              <a:t>    对偶问题</a:t>
            </a:r>
            <a:endParaRPr lang="en-US" altLang="zh-CN">
              <a:solidFill>
                <a:srgbClr val="003366"/>
              </a:solidFill>
            </a:endParaRPr>
          </a:p>
        </p:txBody>
      </p:sp>
      <p:sp>
        <p:nvSpPr>
          <p:cNvPr id="37" name="箭头: 左右 36">
            <a:extLst>
              <a:ext uri="{FF2B5EF4-FFF2-40B4-BE49-F238E27FC236}">
                <a16:creationId xmlns:a16="http://schemas.microsoft.com/office/drawing/2014/main" id="{32810CBD-55D9-430B-95AC-09BD1A31C2F3}"/>
              </a:ext>
            </a:extLst>
          </p:cNvPr>
          <p:cNvSpPr/>
          <p:nvPr/>
        </p:nvSpPr>
        <p:spPr>
          <a:xfrm>
            <a:off x="4078288" y="2319338"/>
            <a:ext cx="1227137" cy="26511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8" name="直接连接符 37">
            <a:extLst>
              <a:ext uri="{FF2B5EF4-FFF2-40B4-BE49-F238E27FC236}">
                <a16:creationId xmlns:a16="http://schemas.microsoft.com/office/drawing/2014/main" id="{674CB73E-25DA-436E-92E6-111AAC5DCE32}"/>
              </a:ext>
            </a:extLst>
          </p:cNvPr>
          <p:cNvCxnSpPr/>
          <p:nvPr/>
        </p:nvCxnSpPr>
        <p:spPr bwMode="auto">
          <a:xfrm>
            <a:off x="6030913" y="1711325"/>
            <a:ext cx="369887" cy="409575"/>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EA861287-F325-4BA3-B9B8-FDB532D668E8}"/>
              </a:ext>
            </a:extLst>
          </p:cNvPr>
          <p:cNvCxnSpPr/>
          <p:nvPr/>
        </p:nvCxnSpPr>
        <p:spPr bwMode="auto">
          <a:xfrm>
            <a:off x="6750050" y="1708150"/>
            <a:ext cx="103188" cy="427038"/>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E96875C-AFBB-4996-8FA3-0A54411E4C15}"/>
              </a:ext>
            </a:extLst>
          </p:cNvPr>
          <p:cNvCxnSpPr/>
          <p:nvPr/>
        </p:nvCxnSpPr>
        <p:spPr bwMode="auto">
          <a:xfrm flipH="1">
            <a:off x="7280275" y="1739900"/>
            <a:ext cx="381000" cy="381000"/>
          </a:xfrm>
          <a:prstGeom prst="line">
            <a:avLst/>
          </a:prstGeom>
          <a:ln w="22225">
            <a:solidFill>
              <a:srgbClr val="FF00FF"/>
            </a:solidFill>
            <a:headEnd type="triangl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descr="Large confetti">
            <a:extLst>
              <a:ext uri="{FF2B5EF4-FFF2-40B4-BE49-F238E27FC236}">
                <a16:creationId xmlns:a16="http://schemas.microsoft.com/office/drawing/2014/main" id="{840514C8-57C4-4C33-B360-859F7EC35F15}"/>
              </a:ext>
            </a:extLst>
          </p:cNvPr>
          <p:cNvSpPr>
            <a:spLocks noGrp="1" noChangeArrowheads="1"/>
          </p:cNvSpPr>
          <p:nvPr>
            <p:ph type="title"/>
          </p:nvPr>
        </p:nvSpPr>
        <p:spPr/>
        <p:txBody>
          <a:bodyPr/>
          <a:lstStyle/>
          <a:p>
            <a:pPr eaLnBrk="1" hangingPunct="1"/>
            <a:r>
              <a:rPr lang="zh-CN" altLang="en-US"/>
              <a:t>影子价格</a:t>
            </a:r>
          </a:p>
        </p:txBody>
      </p:sp>
      <p:sp>
        <p:nvSpPr>
          <p:cNvPr id="71683" name="Rectangle 3">
            <a:extLst>
              <a:ext uri="{FF2B5EF4-FFF2-40B4-BE49-F238E27FC236}">
                <a16:creationId xmlns:a16="http://schemas.microsoft.com/office/drawing/2014/main" id="{2AF8DACE-6A2B-41BF-9175-A19FB38449FF}"/>
              </a:ext>
            </a:extLst>
          </p:cNvPr>
          <p:cNvSpPr>
            <a:spLocks noGrp="1" noChangeArrowheads="1"/>
          </p:cNvSpPr>
          <p:nvPr>
            <p:ph type="body" idx="1"/>
          </p:nvPr>
        </p:nvSpPr>
        <p:spPr>
          <a:xfrm>
            <a:off x="381000" y="1066800"/>
            <a:ext cx="8229600" cy="533400"/>
          </a:xfrm>
        </p:spPr>
        <p:txBody>
          <a:bodyPr/>
          <a:lstStyle/>
          <a:p>
            <a:pPr eaLnBrk="1" hangingPunct="1">
              <a:spcBef>
                <a:spcPct val="0"/>
              </a:spcBef>
              <a:buSzTx/>
              <a:buFont typeface="Wingdings" panose="05000000000000000000" pitchFamily="2" charset="2"/>
              <a:buNone/>
            </a:pPr>
            <a:r>
              <a:rPr lang="en-US" altLang="zh-CN"/>
              <a:t>3. </a:t>
            </a:r>
            <a:r>
              <a:rPr lang="en-US" altLang="zh-CN">
                <a:solidFill>
                  <a:srgbClr val="FF00FF"/>
                </a:solidFill>
              </a:rPr>
              <a:t>(</a:t>
            </a:r>
            <a:r>
              <a:rPr lang="zh-CN" altLang="en-US">
                <a:solidFill>
                  <a:srgbClr val="FF00FF"/>
                </a:solidFill>
              </a:rPr>
              <a:t>影子价格</a:t>
            </a:r>
            <a:r>
              <a:rPr lang="en-US" altLang="zh-CN">
                <a:solidFill>
                  <a:srgbClr val="FF00FF"/>
                </a:solidFill>
              </a:rPr>
              <a:t>y</a:t>
            </a:r>
            <a:r>
              <a:rPr lang="en-US" altLang="zh-CN" baseline="-25000">
                <a:solidFill>
                  <a:srgbClr val="FF00FF"/>
                </a:solidFill>
              </a:rPr>
              <a:t>i</a:t>
            </a:r>
            <a:r>
              <a:rPr lang="en-US" altLang="zh-CN">
                <a:solidFill>
                  <a:srgbClr val="FF00FF"/>
                </a:solidFill>
              </a:rPr>
              <a:t>*</a:t>
            </a:r>
            <a:r>
              <a:rPr lang="zh-CN" altLang="en-US">
                <a:solidFill>
                  <a:srgbClr val="FF00FF"/>
                </a:solidFill>
              </a:rPr>
              <a:t>与价值系数</a:t>
            </a:r>
            <a:r>
              <a:rPr lang="en-US" altLang="zh-CN">
                <a:solidFill>
                  <a:srgbClr val="FF00FF"/>
                </a:solidFill>
              </a:rPr>
              <a:t>c</a:t>
            </a:r>
            <a:r>
              <a:rPr lang="en-US" altLang="zh-CN" baseline="-25000">
                <a:solidFill>
                  <a:srgbClr val="FF00FF"/>
                </a:solidFill>
              </a:rPr>
              <a:t>j</a:t>
            </a:r>
            <a:r>
              <a:rPr lang="zh-CN" altLang="en-US">
                <a:solidFill>
                  <a:srgbClr val="FF00FF"/>
                </a:solidFill>
              </a:rPr>
              <a:t>的关系</a:t>
            </a:r>
            <a:r>
              <a:rPr lang="en-US" altLang="zh-CN">
                <a:solidFill>
                  <a:srgbClr val="FF00FF"/>
                </a:solidFill>
              </a:rPr>
              <a:t>)</a:t>
            </a:r>
          </a:p>
          <a:p>
            <a:pPr eaLnBrk="1" hangingPunct="1">
              <a:spcBef>
                <a:spcPct val="0"/>
              </a:spcBef>
              <a:buSzTx/>
              <a:buFont typeface="Wingdings" panose="05000000000000000000" pitchFamily="2" charset="2"/>
              <a:buNone/>
            </a:pPr>
            <a:r>
              <a:rPr lang="zh-CN" altLang="en-US"/>
              <a:t>影子价格对单纯形表计算的解释</a:t>
            </a:r>
          </a:p>
          <a:p>
            <a:pPr eaLnBrk="1" hangingPunct="1"/>
            <a:endParaRPr lang="en-US" altLang="zh-CN"/>
          </a:p>
        </p:txBody>
      </p:sp>
      <p:sp>
        <p:nvSpPr>
          <p:cNvPr id="71684" name="Text Box 4">
            <a:extLst>
              <a:ext uri="{FF2B5EF4-FFF2-40B4-BE49-F238E27FC236}">
                <a16:creationId xmlns:a16="http://schemas.microsoft.com/office/drawing/2014/main" id="{9037F3AF-50CA-4927-A494-F73C53C7AB9A}"/>
              </a:ext>
            </a:extLst>
          </p:cNvPr>
          <p:cNvSpPr txBox="1">
            <a:spLocks noChangeArrowheads="1"/>
          </p:cNvSpPr>
          <p:nvPr/>
        </p:nvSpPr>
        <p:spPr bwMode="auto">
          <a:xfrm>
            <a:off x="323850" y="2133600"/>
            <a:ext cx="50403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单纯形表中的检验数</a:t>
            </a:r>
          </a:p>
        </p:txBody>
      </p:sp>
      <p:graphicFrame>
        <p:nvGraphicFramePr>
          <p:cNvPr id="71685" name="Object 5">
            <a:extLst>
              <a:ext uri="{FF2B5EF4-FFF2-40B4-BE49-F238E27FC236}">
                <a16:creationId xmlns:a16="http://schemas.microsoft.com/office/drawing/2014/main" id="{057F07A3-59C8-4FB3-9612-833B63A39C55}"/>
              </a:ext>
            </a:extLst>
          </p:cNvPr>
          <p:cNvGraphicFramePr>
            <a:graphicFrameLocks noChangeAspect="1"/>
          </p:cNvGraphicFramePr>
          <p:nvPr/>
        </p:nvGraphicFramePr>
        <p:xfrm>
          <a:off x="1919288" y="2514600"/>
          <a:ext cx="4381500" cy="868363"/>
        </p:xfrm>
        <a:graphic>
          <a:graphicData uri="http://schemas.openxmlformats.org/presentationml/2006/ole">
            <mc:AlternateContent xmlns:mc="http://schemas.openxmlformats.org/markup-compatibility/2006">
              <mc:Choice xmlns:v="urn:schemas-microsoft-com:vml" Requires="v">
                <p:oleObj spid="_x0000_s71881" name="公式" r:id="rId3" imgW="1726451" imgH="342751" progId="Equation.3">
                  <p:embed/>
                </p:oleObj>
              </mc:Choice>
              <mc:Fallback>
                <p:oleObj name="公式" r:id="rId3" imgW="1726451" imgH="342751"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8" y="2514600"/>
                        <a:ext cx="4381500"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6" name="Text Box 7">
            <a:extLst>
              <a:ext uri="{FF2B5EF4-FFF2-40B4-BE49-F238E27FC236}">
                <a16:creationId xmlns:a16="http://schemas.microsoft.com/office/drawing/2014/main" id="{233C160E-B1E4-4682-B08B-14191209F133}"/>
              </a:ext>
            </a:extLst>
          </p:cNvPr>
          <p:cNvSpPr txBox="1">
            <a:spLocks noChangeArrowheads="1"/>
          </p:cNvSpPr>
          <p:nvPr/>
        </p:nvSpPr>
        <p:spPr bwMode="auto">
          <a:xfrm>
            <a:off x="395288" y="3394075"/>
            <a:ext cx="799147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pPr>
            <a:r>
              <a:rPr lang="zh-CN" altLang="en-US">
                <a:solidFill>
                  <a:srgbClr val="000000"/>
                </a:solidFill>
                <a:latin typeface="华文细黑" panose="02010600040101010101" pitchFamily="2" charset="-122"/>
              </a:rPr>
              <a:t>其中</a:t>
            </a:r>
            <a:r>
              <a:rPr lang="en-US" altLang="zh-CN">
                <a:solidFill>
                  <a:srgbClr val="000000"/>
                </a:solidFill>
                <a:latin typeface="Times New Roman" panose="02020603050405020304" pitchFamily="18" charset="0"/>
                <a:cs typeface="Times New Roman" panose="02020603050405020304" pitchFamily="18" charset="0"/>
              </a:rPr>
              <a:t>c</a:t>
            </a:r>
            <a:r>
              <a:rPr lang="en-US" altLang="zh-CN" baseline="-25000">
                <a:solidFill>
                  <a:srgbClr val="000000"/>
                </a:solidFill>
                <a:latin typeface="华文细黑" panose="02010600040101010101" pitchFamily="2" charset="-122"/>
              </a:rPr>
              <a:t>j</a:t>
            </a:r>
            <a:r>
              <a:rPr lang="zh-CN" altLang="en-US">
                <a:solidFill>
                  <a:srgbClr val="000000"/>
                </a:solidFill>
                <a:latin typeface="华文细黑" panose="02010600040101010101" pitchFamily="2" charset="-122"/>
              </a:rPr>
              <a:t>表示第</a:t>
            </a:r>
            <a:r>
              <a:rPr lang="en-US" altLang="zh-CN">
                <a:solidFill>
                  <a:srgbClr val="000000"/>
                </a:solidFill>
                <a:latin typeface="华文细黑" panose="02010600040101010101" pitchFamily="2" charset="-122"/>
              </a:rPr>
              <a:t>j</a:t>
            </a:r>
            <a:r>
              <a:rPr lang="zh-CN" altLang="en-US">
                <a:solidFill>
                  <a:srgbClr val="000000"/>
                </a:solidFill>
                <a:latin typeface="华文细黑" panose="02010600040101010101" pitchFamily="2" charset="-122"/>
              </a:rPr>
              <a:t>种</a:t>
            </a:r>
            <a:r>
              <a:rPr lang="zh-CN" altLang="en-US">
                <a:solidFill>
                  <a:srgbClr val="FF00FF"/>
                </a:solidFill>
                <a:latin typeface="华文细黑" panose="02010600040101010101" pitchFamily="2" charset="-122"/>
              </a:rPr>
              <a:t>产品的价格</a:t>
            </a:r>
            <a:r>
              <a:rPr lang="en-US" altLang="zh-CN">
                <a:solidFill>
                  <a:srgbClr val="000000"/>
                </a:solidFill>
                <a:latin typeface="华文细黑" panose="02010600040101010101" pitchFamily="2" charset="-122"/>
              </a:rPr>
              <a:t>;               </a:t>
            </a:r>
            <a:r>
              <a:rPr lang="zh-CN" altLang="en-US">
                <a:solidFill>
                  <a:srgbClr val="000000"/>
                </a:solidFill>
                <a:latin typeface="华文细黑" panose="02010600040101010101" pitchFamily="2" charset="-122"/>
              </a:rPr>
              <a:t>表示生产该种产品所消耗的各项资源的影子价格的总和</a:t>
            </a:r>
            <a:r>
              <a:rPr lang="en-US" altLang="zh-CN">
                <a:solidFill>
                  <a:srgbClr val="000000"/>
                </a:solidFill>
                <a:latin typeface="华文细黑" panose="02010600040101010101" pitchFamily="2" charset="-122"/>
              </a:rPr>
              <a:t>,</a:t>
            </a:r>
            <a:r>
              <a:rPr lang="zh-CN" altLang="en-US">
                <a:solidFill>
                  <a:srgbClr val="000000"/>
                </a:solidFill>
                <a:latin typeface="华文细黑" panose="02010600040101010101" pitchFamily="2" charset="-122"/>
              </a:rPr>
              <a:t>即产品的</a:t>
            </a:r>
            <a:r>
              <a:rPr lang="zh-CN" altLang="en-US">
                <a:solidFill>
                  <a:srgbClr val="FF00FF"/>
                </a:solidFill>
                <a:latin typeface="华文细黑" panose="02010600040101010101" pitchFamily="2" charset="-122"/>
              </a:rPr>
              <a:t>隐含成本</a:t>
            </a:r>
            <a:r>
              <a:rPr lang="zh-CN" altLang="en-US">
                <a:solidFill>
                  <a:srgbClr val="000000"/>
                </a:solidFill>
                <a:latin typeface="华文细黑" panose="02010600040101010101" pitchFamily="2" charset="-122"/>
              </a:rPr>
              <a:t>。</a:t>
            </a:r>
          </a:p>
        </p:txBody>
      </p:sp>
      <p:graphicFrame>
        <p:nvGraphicFramePr>
          <p:cNvPr id="71687" name="Object 13">
            <a:extLst>
              <a:ext uri="{FF2B5EF4-FFF2-40B4-BE49-F238E27FC236}">
                <a16:creationId xmlns:a16="http://schemas.microsoft.com/office/drawing/2014/main" id="{9DF53C1F-501C-4742-B56F-98099BDCCAED}"/>
              </a:ext>
            </a:extLst>
          </p:cNvPr>
          <p:cNvGraphicFramePr>
            <a:graphicFrameLocks noChangeAspect="1"/>
          </p:cNvGraphicFramePr>
          <p:nvPr/>
        </p:nvGraphicFramePr>
        <p:xfrm>
          <a:off x="3429000" y="3352800"/>
          <a:ext cx="668338" cy="542925"/>
        </p:xfrm>
        <a:graphic>
          <a:graphicData uri="http://schemas.openxmlformats.org/presentationml/2006/ole">
            <mc:AlternateContent xmlns:mc="http://schemas.openxmlformats.org/markup-compatibility/2006">
              <mc:Choice xmlns:v="urn:schemas-microsoft-com:vml" Requires="v">
                <p:oleObj spid="_x0000_s71882" name="Equation" r:id="rId5" imgW="469696" imgH="380835" progId="Equation.3">
                  <p:embed/>
                </p:oleObj>
              </mc:Choice>
              <mc:Fallback>
                <p:oleObj name="Equation" r:id="rId5" imgW="469696" imgH="380835"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3352800"/>
                        <a:ext cx="668338"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A5002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88" name="Rectangle 19">
            <a:extLst>
              <a:ext uri="{FF2B5EF4-FFF2-40B4-BE49-F238E27FC236}">
                <a16:creationId xmlns:a16="http://schemas.microsoft.com/office/drawing/2014/main" id="{6240062E-4159-4945-9EC6-BDB63539028D}"/>
              </a:ext>
            </a:extLst>
          </p:cNvPr>
          <p:cNvSpPr>
            <a:spLocks noChangeArrowheads="1"/>
          </p:cNvSpPr>
          <p:nvPr/>
        </p:nvSpPr>
        <p:spPr bwMode="auto">
          <a:xfrm>
            <a:off x="395288" y="4508500"/>
            <a:ext cx="79930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6763">
              <a:defRPr>
                <a:solidFill>
                  <a:schemeClr val="tx1"/>
                </a:solidFill>
                <a:latin typeface="Arial" panose="020B0604020202020204" pitchFamily="34" charset="0"/>
                <a:ea typeface="宋体" panose="02010600030101010101" pitchFamily="2" charset="-122"/>
              </a:defRPr>
            </a:lvl1pPr>
            <a:lvl2pPr marL="742950" indent="-285750" defTabSz="766763">
              <a:defRPr>
                <a:solidFill>
                  <a:schemeClr val="tx1"/>
                </a:solidFill>
                <a:latin typeface="Arial" panose="020B0604020202020204" pitchFamily="34" charset="0"/>
                <a:ea typeface="宋体" panose="02010600030101010101" pitchFamily="2" charset="-122"/>
              </a:defRPr>
            </a:lvl2pPr>
            <a:lvl3pPr marL="1143000" indent="-228600" defTabSz="766763">
              <a:defRPr>
                <a:solidFill>
                  <a:schemeClr val="tx1"/>
                </a:solidFill>
                <a:latin typeface="Arial" panose="020B0604020202020204" pitchFamily="34" charset="0"/>
                <a:ea typeface="宋体" panose="02010600030101010101" pitchFamily="2" charset="-122"/>
              </a:defRPr>
            </a:lvl3pPr>
            <a:lvl4pPr marL="1600200" indent="-228600" defTabSz="766763">
              <a:defRPr>
                <a:solidFill>
                  <a:schemeClr val="tx1"/>
                </a:solidFill>
                <a:latin typeface="Arial" panose="020B0604020202020204" pitchFamily="34" charset="0"/>
                <a:ea typeface="宋体" panose="02010600030101010101" pitchFamily="2" charset="-122"/>
              </a:defRPr>
            </a:lvl4pPr>
            <a:lvl5pPr marL="2057400" indent="-228600" defTabSz="766763">
              <a:defRPr>
                <a:solidFill>
                  <a:schemeClr val="tx1"/>
                </a:solidFill>
                <a:latin typeface="Arial" panose="020B0604020202020204" pitchFamily="34" charset="0"/>
                <a:ea typeface="宋体" panose="02010600030101010101" pitchFamily="2" charset="-122"/>
              </a:defRPr>
            </a:lvl5pPr>
            <a:lvl6pPr marL="2514600" indent="-228600" defTabSz="7667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7667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7667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76676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a:solidFill>
                  <a:srgbClr val="000000"/>
                </a:solidFill>
                <a:latin typeface="华文细黑" panose="02010600040101010101" pitchFamily="2" charset="-122"/>
              </a:rPr>
              <a:t>当产值大于隐含成本时，即           ，表明生产该项产品有利，可在计划中安排；否则           ，用这些资源生产别的产品更有利，不宜在生产中安排该产品。</a:t>
            </a:r>
          </a:p>
        </p:txBody>
      </p:sp>
      <p:graphicFrame>
        <p:nvGraphicFramePr>
          <p:cNvPr id="71689" name="Object 20">
            <a:extLst>
              <a:ext uri="{FF2B5EF4-FFF2-40B4-BE49-F238E27FC236}">
                <a16:creationId xmlns:a16="http://schemas.microsoft.com/office/drawing/2014/main" id="{3D3FB06C-9DD2-4FFC-964C-3BF8A9A794F3}"/>
              </a:ext>
            </a:extLst>
          </p:cNvPr>
          <p:cNvGraphicFramePr>
            <a:graphicFrameLocks noChangeAspect="1"/>
          </p:cNvGraphicFramePr>
          <p:nvPr/>
        </p:nvGraphicFramePr>
        <p:xfrm>
          <a:off x="3200400" y="4511675"/>
          <a:ext cx="609600" cy="336550"/>
        </p:xfrm>
        <a:graphic>
          <a:graphicData uri="http://schemas.openxmlformats.org/presentationml/2006/ole">
            <mc:AlternateContent xmlns:mc="http://schemas.openxmlformats.org/markup-compatibility/2006">
              <mc:Choice xmlns:v="urn:schemas-microsoft-com:vml" Requires="v">
                <p:oleObj spid="_x0000_s71883" name="Equation" r:id="rId7" imgW="393359" imgH="215713" progId="Equation.3">
                  <p:embed/>
                </p:oleObj>
              </mc:Choice>
              <mc:Fallback>
                <p:oleObj name="Equation" r:id="rId7" imgW="393359" imgH="215713"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4511675"/>
                        <a:ext cx="609600" cy="336550"/>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rgbClr val="A5002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90" name="Object 21">
            <a:extLst>
              <a:ext uri="{FF2B5EF4-FFF2-40B4-BE49-F238E27FC236}">
                <a16:creationId xmlns:a16="http://schemas.microsoft.com/office/drawing/2014/main" id="{E818D9C1-0BF6-492A-B647-6E6CFFD121D3}"/>
              </a:ext>
            </a:extLst>
          </p:cNvPr>
          <p:cNvGraphicFramePr>
            <a:graphicFrameLocks noChangeAspect="1"/>
          </p:cNvGraphicFramePr>
          <p:nvPr/>
        </p:nvGraphicFramePr>
        <p:xfrm>
          <a:off x="914400" y="4851400"/>
          <a:ext cx="598488" cy="330200"/>
        </p:xfrm>
        <a:graphic>
          <a:graphicData uri="http://schemas.openxmlformats.org/presentationml/2006/ole">
            <mc:AlternateContent xmlns:mc="http://schemas.openxmlformats.org/markup-compatibility/2006">
              <mc:Choice xmlns:v="urn:schemas-microsoft-com:vml" Requires="v">
                <p:oleObj spid="_x0000_s71884" name="Equation" r:id="rId9" imgW="393359" imgH="215713" progId="Equation.3">
                  <p:embed/>
                </p:oleObj>
              </mc:Choice>
              <mc:Fallback>
                <p:oleObj name="Equation" r:id="rId9" imgW="393359" imgH="215713"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4851400"/>
                        <a:ext cx="598488" cy="330200"/>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rgbClr val="A5002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a:extLst>
              <a:ext uri="{FF2B5EF4-FFF2-40B4-BE49-F238E27FC236}">
                <a16:creationId xmlns:a16="http://schemas.microsoft.com/office/drawing/2014/main" id="{30C671C2-F26C-459A-A396-75BD713DCB90}"/>
              </a:ext>
            </a:extLst>
          </p:cNvPr>
          <p:cNvSpPr>
            <a:spLocks noChangeArrowheads="1"/>
          </p:cNvSpPr>
          <p:nvPr/>
        </p:nvSpPr>
        <p:spPr bwMode="auto">
          <a:xfrm>
            <a:off x="555625" y="5486400"/>
            <a:ext cx="7831138" cy="6461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a:solidFill>
                  <a:srgbClr val="FF3300"/>
                </a:solidFill>
              </a:rPr>
              <a:t>影子价格是在资源最优利用条件下对单位资源的估价，这种估价不是资源实际的市场价格。因此，从另一个角度说，它是一种机会成本。</a:t>
            </a:r>
          </a:p>
        </p:txBody>
      </p:sp>
      <p:pic>
        <p:nvPicPr>
          <p:cNvPr id="5" name="图片 4">
            <a:extLst>
              <a:ext uri="{FF2B5EF4-FFF2-40B4-BE49-F238E27FC236}">
                <a16:creationId xmlns:a16="http://schemas.microsoft.com/office/drawing/2014/main" id="{1938DC67-9FEB-4924-9B4E-1F9EA118116C}"/>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6324600" y="1339850"/>
            <a:ext cx="267652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16D131D-17B3-4F0A-9F9F-075BDD2B2031}"/>
              </a:ext>
            </a:extLst>
          </p:cNvPr>
          <p:cNvSpPr>
            <a:spLocks noGrp="1" noChangeArrowheads="1"/>
          </p:cNvSpPr>
          <p:nvPr>
            <p:ph type="title"/>
          </p:nvPr>
        </p:nvSpPr>
        <p:spPr>
          <a:xfrm>
            <a:off x="222250" y="228600"/>
            <a:ext cx="7016750" cy="838200"/>
          </a:xfrm>
        </p:spPr>
        <p:txBody>
          <a:bodyPr/>
          <a:lstStyle/>
          <a:p>
            <a:pPr algn="ctr" eaLnBrk="1" hangingPunct="1"/>
            <a:r>
              <a:rPr lang="zh-CN" altLang="en-US"/>
              <a:t>利用</a:t>
            </a:r>
            <a:r>
              <a:rPr lang="en-US" altLang="zh-CN"/>
              <a:t>Lingo</a:t>
            </a:r>
            <a:r>
              <a:rPr lang="zh-CN" altLang="en-US"/>
              <a:t>显示影子价格</a:t>
            </a:r>
          </a:p>
        </p:txBody>
      </p:sp>
      <p:sp>
        <p:nvSpPr>
          <p:cNvPr id="72707" name="Rectangle 2">
            <a:extLst>
              <a:ext uri="{FF2B5EF4-FFF2-40B4-BE49-F238E27FC236}">
                <a16:creationId xmlns:a16="http://schemas.microsoft.com/office/drawing/2014/main" id="{6461E40B-75AC-49DC-A947-A3A862AF70CE}"/>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72708" name="对象 17">
            <a:extLst>
              <a:ext uri="{FF2B5EF4-FFF2-40B4-BE49-F238E27FC236}">
                <a16:creationId xmlns:a16="http://schemas.microsoft.com/office/drawing/2014/main" id="{FE302C11-B3E6-4048-8C69-FDC5EB5A7263}"/>
              </a:ext>
            </a:extLst>
          </p:cNvPr>
          <p:cNvGraphicFramePr>
            <a:graphicFrameLocks noChangeAspect="1"/>
          </p:cNvGraphicFramePr>
          <p:nvPr/>
        </p:nvGraphicFramePr>
        <p:xfrm>
          <a:off x="246063" y="2457450"/>
          <a:ext cx="3930650" cy="2057400"/>
        </p:xfrm>
        <a:graphic>
          <a:graphicData uri="http://schemas.openxmlformats.org/presentationml/2006/ole">
            <mc:AlternateContent xmlns:mc="http://schemas.openxmlformats.org/markup-compatibility/2006">
              <mc:Choice xmlns:v="urn:schemas-microsoft-com:vml" Requires="v">
                <p:oleObj spid="_x0000_s72758" name="Equation" r:id="rId3" imgW="2235200" imgH="1168400" progId="Equation.DSMT4">
                  <p:embed/>
                </p:oleObj>
              </mc:Choice>
              <mc:Fallback>
                <p:oleObj name="Equation" r:id="rId3" imgW="2235200" imgH="1168400" progId="Equation.DSMT4">
                  <p:embed/>
                  <p:pic>
                    <p:nvPicPr>
                      <p:cNvPr id="0" name="对象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2457450"/>
                        <a:ext cx="39306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矩形 18">
            <a:extLst>
              <a:ext uri="{FF2B5EF4-FFF2-40B4-BE49-F238E27FC236}">
                <a16:creationId xmlns:a16="http://schemas.microsoft.com/office/drawing/2014/main" id="{95AB86C2-DF8C-4F8C-A3C2-C9F7AA658AFD}"/>
              </a:ext>
            </a:extLst>
          </p:cNvPr>
          <p:cNvSpPr/>
          <p:nvPr/>
        </p:nvSpPr>
        <p:spPr bwMode="auto">
          <a:xfrm>
            <a:off x="4197350" y="2386013"/>
            <a:ext cx="4724400" cy="3786187"/>
          </a:xfrm>
          <a:prstGeom prst="rect">
            <a:avLst/>
          </a:prstGeom>
          <a:ln>
            <a:solidFill>
              <a:srgbClr val="FF0000"/>
            </a:solidFill>
          </a:ln>
        </p:spPr>
        <p:txBody>
          <a:bodyPr>
            <a:spAutoFit/>
          </a:bodyPr>
          <a:lstStyle/>
          <a:p>
            <a:pPr algn="just">
              <a:spcAft>
                <a:spcPts val="0"/>
              </a:spcAft>
              <a:defRPr/>
            </a:pPr>
            <a:r>
              <a:rPr lang="en-US" altLang="zh-CN" sz="2000" b="1" kern="100" dirty="0">
                <a:latin typeface="Calibri" panose="020F0502020204030204" pitchFamily="34" charset="0"/>
                <a:cs typeface="Times New Roman" panose="02020603050405020304" pitchFamily="18" charset="0"/>
              </a:rPr>
              <a:t>Lingo</a:t>
            </a:r>
            <a:r>
              <a:rPr lang="zh-CN" altLang="zh-CN" sz="2000" b="1" kern="100" dirty="0">
                <a:latin typeface="Calibri" panose="020F0502020204030204" pitchFamily="34" charset="0"/>
                <a:cs typeface="Times New Roman" panose="02020603050405020304" pitchFamily="18" charset="0"/>
              </a:rPr>
              <a:t>源代码 </a:t>
            </a:r>
            <a:r>
              <a:rPr lang="en-US" altLang="zh-CN" sz="2000" b="1" kern="100" dirty="0">
                <a:latin typeface="Calibri" panose="020F0502020204030204" pitchFamily="34" charset="0"/>
                <a:cs typeface="Times New Roman" panose="02020603050405020304" pitchFamily="18" charset="0"/>
              </a:rPr>
              <a:t>	</a:t>
            </a:r>
            <a:endParaRPr lang="zh-CN" altLang="zh-CN" sz="2000" kern="100" dirty="0">
              <a:latin typeface="Calibri" panose="020F0502020204030204" pitchFamily="34" charset="0"/>
              <a:cs typeface="Times New Roman" panose="02020603050405020304" pitchFamily="18" charset="0"/>
            </a:endParaRPr>
          </a:p>
          <a:p>
            <a:pPr indent="2667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model</a:t>
            </a:r>
            <a:r>
              <a:rPr lang="en-US" altLang="zh-CN" dirty="0">
                <a:solidFill>
                  <a:srgbClr val="000000"/>
                </a:solidFill>
                <a:latin typeface="Courier New" panose="02070309020205020404" pitchFamily="49" charset="0"/>
                <a:cs typeface="Courier New" panose="02070309020205020404" pitchFamily="49" charset="0"/>
              </a:rPr>
              <a:t>:</a:t>
            </a:r>
            <a:endParaRPr lang="en-US" altLang="zh-CN" sz="800" dirty="0"/>
          </a:p>
          <a:p>
            <a:pPr indent="2540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max</a:t>
            </a:r>
            <a:r>
              <a:rPr lang="en-US" altLang="zh-CN" dirty="0">
                <a:solidFill>
                  <a:srgbClr val="000000"/>
                </a:solidFill>
                <a:latin typeface="Courier New" panose="02070309020205020404" pitchFamily="49" charset="0"/>
                <a:cs typeface="Courier New" panose="02070309020205020404" pitchFamily="49" charset="0"/>
              </a:rPr>
              <a:t> =2*x1+3*x2+0*x3+0*x4+0*x5;</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x1+2*x2+x3=8;</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4*x1+x4=16;</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4*x2+x5=12;</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x1&gt;=0;	</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x2&gt;=0;</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x3&gt;=0;</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x4&gt;=0;</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x5&gt;=0;</a:t>
            </a:r>
            <a:endParaRPr lang="en-US" altLang="zh-CN" sz="800" dirty="0"/>
          </a:p>
          <a:p>
            <a:pPr indent="2540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end</a:t>
            </a:r>
            <a:endParaRPr lang="en-US" altLang="zh-CN" sz="4000" dirty="0"/>
          </a:p>
        </p:txBody>
      </p:sp>
      <p:sp>
        <p:nvSpPr>
          <p:cNvPr id="72710" name="矩形 25">
            <a:extLst>
              <a:ext uri="{FF2B5EF4-FFF2-40B4-BE49-F238E27FC236}">
                <a16:creationId xmlns:a16="http://schemas.microsoft.com/office/drawing/2014/main" id="{F09E5ED7-6B49-4A8A-B603-00E6A2078D8C}"/>
              </a:ext>
            </a:extLst>
          </p:cNvPr>
          <p:cNvSpPr>
            <a:spLocks noChangeArrowheads="1"/>
          </p:cNvSpPr>
          <p:nvPr/>
        </p:nvSpPr>
        <p:spPr bwMode="auto">
          <a:xfrm>
            <a:off x="838200" y="4895850"/>
            <a:ext cx="2438400" cy="4619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latin typeface="Calibri" panose="020F0502020204030204" pitchFamily="34" charset="0"/>
                <a:cs typeface="Times New Roman" panose="02020603050405020304" pitchFamily="18" charset="0"/>
              </a:rPr>
              <a:t>【1】lingo.avi</a:t>
            </a:r>
            <a:endParaRPr lang="zh-CN" altLang="en-US" sz="2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图片 4">
            <a:extLst>
              <a:ext uri="{FF2B5EF4-FFF2-40B4-BE49-F238E27FC236}">
                <a16:creationId xmlns:a16="http://schemas.microsoft.com/office/drawing/2014/main" id="{EA584FC7-B36C-4149-89BB-0BF2367F3A4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700" y="3467100"/>
            <a:ext cx="4587875" cy="13033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3731" name="Rectangle 2">
            <a:extLst>
              <a:ext uri="{FF2B5EF4-FFF2-40B4-BE49-F238E27FC236}">
                <a16:creationId xmlns:a16="http://schemas.microsoft.com/office/drawing/2014/main" id="{B7341520-001F-43C6-9958-BB6D875CB0B7}"/>
              </a:ext>
            </a:extLst>
          </p:cNvPr>
          <p:cNvSpPr>
            <a:spLocks noGrp="1" noChangeArrowheads="1"/>
          </p:cNvSpPr>
          <p:nvPr>
            <p:ph type="title"/>
          </p:nvPr>
        </p:nvSpPr>
        <p:spPr>
          <a:xfrm>
            <a:off x="304800" y="304800"/>
            <a:ext cx="7620000" cy="838200"/>
          </a:xfrm>
        </p:spPr>
        <p:txBody>
          <a:bodyPr/>
          <a:lstStyle/>
          <a:p>
            <a:pPr algn="ctr" eaLnBrk="1" hangingPunct="1"/>
            <a:r>
              <a:rPr lang="zh-CN" altLang="en-US"/>
              <a:t>利用</a:t>
            </a:r>
            <a:r>
              <a:rPr lang="en-US" altLang="zh-CN"/>
              <a:t>Lingo</a:t>
            </a:r>
            <a:r>
              <a:rPr lang="zh-CN" altLang="en-US"/>
              <a:t>显示影子价格</a:t>
            </a:r>
          </a:p>
        </p:txBody>
      </p:sp>
      <p:sp>
        <p:nvSpPr>
          <p:cNvPr id="73732" name="Rectangle 2">
            <a:extLst>
              <a:ext uri="{FF2B5EF4-FFF2-40B4-BE49-F238E27FC236}">
                <a16:creationId xmlns:a16="http://schemas.microsoft.com/office/drawing/2014/main" id="{8558628A-65CC-4682-9812-B57D97A089B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 name="矩形 1">
            <a:extLst>
              <a:ext uri="{FF2B5EF4-FFF2-40B4-BE49-F238E27FC236}">
                <a16:creationId xmlns:a16="http://schemas.microsoft.com/office/drawing/2014/main" id="{4A5A5843-A7F0-4F3E-9E3E-941E4AF725EB}"/>
              </a:ext>
            </a:extLst>
          </p:cNvPr>
          <p:cNvSpPr/>
          <p:nvPr/>
        </p:nvSpPr>
        <p:spPr>
          <a:xfrm>
            <a:off x="2286000" y="3186113"/>
            <a:ext cx="877888" cy="368300"/>
          </a:xfrm>
          <a:prstGeom prst="rect">
            <a:avLst/>
          </a:prstGeom>
        </p:spPr>
        <p:txBody>
          <a:bodyPr wrap="none">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最优解</a:t>
            </a:r>
            <a:endParaRPr lang="zh-CN" altLang="en-US" dirty="0"/>
          </a:p>
        </p:txBody>
      </p:sp>
      <p:grpSp>
        <p:nvGrpSpPr>
          <p:cNvPr id="9" name="组合 8">
            <a:extLst>
              <a:ext uri="{FF2B5EF4-FFF2-40B4-BE49-F238E27FC236}">
                <a16:creationId xmlns:a16="http://schemas.microsoft.com/office/drawing/2014/main" id="{AED236C5-BF8E-48BB-8CE2-FF581233DC87}"/>
              </a:ext>
            </a:extLst>
          </p:cNvPr>
          <p:cNvGrpSpPr>
            <a:grpSpLocks/>
          </p:cNvGrpSpPr>
          <p:nvPr/>
        </p:nvGrpSpPr>
        <p:grpSpPr bwMode="auto">
          <a:xfrm>
            <a:off x="4340225" y="1276350"/>
            <a:ext cx="4556125" cy="2298700"/>
            <a:chOff x="4883403" y="1113849"/>
            <a:chExt cx="4557499" cy="2298114"/>
          </a:xfrm>
        </p:grpSpPr>
        <p:sp>
          <p:nvSpPr>
            <p:cNvPr id="14" name="矩形 13">
              <a:extLst>
                <a:ext uri="{FF2B5EF4-FFF2-40B4-BE49-F238E27FC236}">
                  <a16:creationId xmlns:a16="http://schemas.microsoft.com/office/drawing/2014/main" id="{D94D9CFE-2D54-4B3A-BDD4-43953BE46F91}"/>
                </a:ext>
              </a:extLst>
            </p:cNvPr>
            <p:cNvSpPr/>
            <p:nvPr/>
          </p:nvSpPr>
          <p:spPr>
            <a:xfrm>
              <a:off x="5964817" y="1113849"/>
              <a:ext cx="3476085" cy="1199844"/>
            </a:xfrm>
            <a:prstGeom prst="rect">
              <a:avLst/>
            </a:prstGeom>
            <a:ln>
              <a:solidFill>
                <a:srgbClr val="FF00FF"/>
              </a:solidFill>
            </a:ln>
          </p:spPr>
          <p:txBody>
            <a:bodyPr>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差额成本：最优单纯形表中判别数所在行的变量的系数，表示当变量有微小变动时</a:t>
              </a:r>
              <a:r>
                <a:rPr lang="en-US" altLang="zh-CN" b="1" kern="0" dirty="0">
                  <a:solidFill>
                    <a:srgbClr val="FF00FF"/>
                  </a:solidFill>
                  <a:latin typeface="华文楷体" panose="02010600040101010101" pitchFamily="2" charset="-122"/>
                  <a:ea typeface="华文楷体" panose="02010600040101010101" pitchFamily="2" charset="-122"/>
                </a:rPr>
                <a:t>, </a:t>
              </a:r>
              <a:r>
                <a:rPr lang="zh-CN" altLang="en-US" b="1" kern="0" dirty="0">
                  <a:solidFill>
                    <a:srgbClr val="FF00FF"/>
                  </a:solidFill>
                  <a:latin typeface="华文楷体" panose="02010600040101010101" pitchFamily="2" charset="-122"/>
                  <a:ea typeface="华文楷体" panose="02010600040101010101" pitchFamily="2" charset="-122"/>
                </a:rPr>
                <a:t>目标函数的变化率。</a:t>
              </a:r>
              <a:endParaRPr lang="zh-CN" altLang="en-US" dirty="0"/>
            </a:p>
          </p:txBody>
        </p:sp>
        <p:cxnSp>
          <p:nvCxnSpPr>
            <p:cNvPr id="7" name="直接箭头连接符 6">
              <a:extLst>
                <a:ext uri="{FF2B5EF4-FFF2-40B4-BE49-F238E27FC236}">
                  <a16:creationId xmlns:a16="http://schemas.microsoft.com/office/drawing/2014/main" id="{A17FA76E-1763-41BE-A1FF-EBAFCE0E848F}"/>
                </a:ext>
              </a:extLst>
            </p:cNvPr>
            <p:cNvCxnSpPr>
              <a:cxnSpLocks/>
              <a:endCxn id="14" idx="1"/>
            </p:cNvCxnSpPr>
            <p:nvPr/>
          </p:nvCxnSpPr>
          <p:spPr>
            <a:xfrm flipV="1">
              <a:off x="4883403" y="1713771"/>
              <a:ext cx="1081414" cy="1698192"/>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pic>
        <p:nvPicPr>
          <p:cNvPr id="73735" name="图片 8">
            <a:extLst>
              <a:ext uri="{FF2B5EF4-FFF2-40B4-BE49-F238E27FC236}">
                <a16:creationId xmlns:a16="http://schemas.microsoft.com/office/drawing/2014/main" id="{C18B274D-9BE0-4767-A14C-6037C7A3EA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2649"/>
          <a:stretch>
            <a:fillRect/>
          </a:stretch>
        </p:blipFill>
        <p:spPr bwMode="auto">
          <a:xfrm>
            <a:off x="76200" y="990600"/>
            <a:ext cx="5105400" cy="9525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0" name="矩形 59">
            <a:extLst>
              <a:ext uri="{FF2B5EF4-FFF2-40B4-BE49-F238E27FC236}">
                <a16:creationId xmlns:a16="http://schemas.microsoft.com/office/drawing/2014/main" id="{193A56D3-20AB-46B9-9E4A-E81DFCF1BB0B}"/>
              </a:ext>
            </a:extLst>
          </p:cNvPr>
          <p:cNvSpPr/>
          <p:nvPr/>
        </p:nvSpPr>
        <p:spPr>
          <a:xfrm>
            <a:off x="1295400" y="1147763"/>
            <a:ext cx="1800225" cy="368300"/>
          </a:xfrm>
          <a:prstGeom prst="rect">
            <a:avLst/>
          </a:prstGeom>
        </p:spPr>
        <p:txBody>
          <a:bodyPr wrap="none">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最优目标函数值</a:t>
            </a:r>
            <a:endParaRPr lang="zh-CN" altLang="en-US" dirty="0"/>
          </a:p>
        </p:txBody>
      </p:sp>
      <p:grpSp>
        <p:nvGrpSpPr>
          <p:cNvPr id="22" name="组合 21">
            <a:extLst>
              <a:ext uri="{FF2B5EF4-FFF2-40B4-BE49-F238E27FC236}">
                <a16:creationId xmlns:a16="http://schemas.microsoft.com/office/drawing/2014/main" id="{98C4D1D0-D612-4BB7-8A68-D3E5254B01C9}"/>
              </a:ext>
            </a:extLst>
          </p:cNvPr>
          <p:cNvGrpSpPr>
            <a:grpSpLocks/>
          </p:cNvGrpSpPr>
          <p:nvPr/>
        </p:nvGrpSpPr>
        <p:grpSpPr bwMode="auto">
          <a:xfrm>
            <a:off x="493713" y="1466850"/>
            <a:ext cx="3468687" cy="1752600"/>
            <a:chOff x="494452" y="1466564"/>
            <a:chExt cx="3467948" cy="1752201"/>
          </a:xfrm>
        </p:grpSpPr>
        <p:sp>
          <p:nvSpPr>
            <p:cNvPr id="61" name="矩形 60">
              <a:extLst>
                <a:ext uri="{FF2B5EF4-FFF2-40B4-BE49-F238E27FC236}">
                  <a16:creationId xmlns:a16="http://schemas.microsoft.com/office/drawing/2014/main" id="{95B0947E-7A43-4E76-8343-6FE0B25B9102}"/>
                </a:ext>
              </a:extLst>
            </p:cNvPr>
            <p:cNvSpPr/>
            <p:nvPr/>
          </p:nvSpPr>
          <p:spPr>
            <a:xfrm>
              <a:off x="494452" y="2095071"/>
              <a:ext cx="3467948" cy="923715"/>
            </a:xfrm>
            <a:prstGeom prst="rect">
              <a:avLst/>
            </a:prstGeom>
            <a:ln>
              <a:solidFill>
                <a:srgbClr val="FF00FF"/>
              </a:solidFill>
            </a:ln>
          </p:spPr>
          <p:txBody>
            <a:bodyPr>
              <a:spAutoFit/>
            </a:bodyPr>
            <a:lstStyle/>
            <a:p>
              <a:pPr algn="just">
                <a:defRPr/>
              </a:pPr>
              <a:r>
                <a:rPr lang="zh-CN" altLang="en-US" b="1" kern="0" dirty="0">
                  <a:solidFill>
                    <a:srgbClr val="FF00FF"/>
                  </a:solidFill>
                  <a:latin typeface="华文楷体" panose="02010600040101010101" pitchFamily="2" charset="-122"/>
                  <a:ea typeface="华文楷体" panose="02010600040101010101" pitchFamily="2" charset="-122"/>
                </a:rPr>
                <a:t>最优解为</a:t>
              </a:r>
              <a:r>
                <a:rPr lang="en-US" altLang="zh-CN" b="1" kern="0" dirty="0">
                  <a:solidFill>
                    <a:srgbClr val="FF00FF"/>
                  </a:solidFill>
                  <a:latin typeface="华文楷体" panose="02010600040101010101" pitchFamily="2" charset="-122"/>
                  <a:ea typeface="华文楷体" panose="02010600040101010101" pitchFamily="2" charset="-122"/>
                </a:rPr>
                <a:t>x1=4</a:t>
              </a:r>
              <a:r>
                <a:rPr lang="zh-CN" altLang="en-US" b="1" kern="0" dirty="0">
                  <a:solidFill>
                    <a:srgbClr val="FF00FF"/>
                  </a:solidFill>
                  <a:latin typeface="华文楷体" panose="02010600040101010101" pitchFamily="2" charset="-122"/>
                  <a:ea typeface="华文楷体" panose="02010600040101010101" pitchFamily="2" charset="-122"/>
                </a:rPr>
                <a:t>，</a:t>
              </a:r>
              <a:r>
                <a:rPr lang="en-US" altLang="zh-CN" b="1" kern="0" dirty="0">
                  <a:solidFill>
                    <a:srgbClr val="FF00FF"/>
                  </a:solidFill>
                  <a:latin typeface="华文楷体" panose="02010600040101010101" pitchFamily="2" charset="-122"/>
                  <a:ea typeface="华文楷体" panose="02010600040101010101" pitchFamily="2" charset="-122"/>
                </a:rPr>
                <a:t>x2=2</a:t>
              </a:r>
              <a:r>
                <a:rPr lang="zh-CN" altLang="en-US" b="1" kern="0" dirty="0">
                  <a:solidFill>
                    <a:srgbClr val="FF00FF"/>
                  </a:solidFill>
                  <a:latin typeface="华文楷体" panose="02010600040101010101" pitchFamily="2" charset="-122"/>
                  <a:ea typeface="华文楷体" panose="02010600040101010101" pitchFamily="2" charset="-122"/>
                </a:rPr>
                <a:t>，最优值为</a:t>
              </a:r>
              <a:r>
                <a:rPr lang="en-US" altLang="zh-CN" b="1" kern="0" dirty="0">
                  <a:solidFill>
                    <a:srgbClr val="FF00FF"/>
                  </a:solidFill>
                  <a:latin typeface="华文楷体" panose="02010600040101010101" pitchFamily="2" charset="-122"/>
                  <a:ea typeface="华文楷体" panose="02010600040101010101" pitchFamily="2" charset="-122"/>
                </a:rPr>
                <a:t>z=14</a:t>
              </a:r>
              <a:r>
                <a:rPr lang="zh-CN" altLang="en-US" b="1" kern="0" dirty="0">
                  <a:solidFill>
                    <a:srgbClr val="FF00FF"/>
                  </a:solidFill>
                  <a:latin typeface="华文楷体" panose="02010600040101010101" pitchFamily="2" charset="-122"/>
                  <a:ea typeface="华文楷体" panose="02010600040101010101" pitchFamily="2" charset="-122"/>
                </a:rPr>
                <a:t>，即生产</a:t>
              </a:r>
              <a:r>
                <a:rPr lang="en-US" altLang="zh-CN" b="1" kern="0" dirty="0">
                  <a:solidFill>
                    <a:srgbClr val="FF00FF"/>
                  </a:solidFill>
                  <a:latin typeface="华文楷体" panose="02010600040101010101" pitchFamily="2" charset="-122"/>
                  <a:ea typeface="华文楷体" panose="02010600040101010101" pitchFamily="2" charset="-122"/>
                </a:rPr>
                <a:t>4</a:t>
              </a:r>
              <a:r>
                <a:rPr lang="zh-CN" altLang="en-US" b="1" kern="0" dirty="0">
                  <a:solidFill>
                    <a:srgbClr val="FF00FF"/>
                  </a:solidFill>
                  <a:latin typeface="华文楷体" panose="02010600040101010101" pitchFamily="2" charset="-122"/>
                  <a:ea typeface="华文楷体" panose="02010600040101010101" pitchFamily="2" charset="-122"/>
                </a:rPr>
                <a:t>件产品</a:t>
              </a:r>
              <a:r>
                <a:rPr lang="en-US" altLang="zh-CN" b="1" kern="0" dirty="0">
                  <a:solidFill>
                    <a:srgbClr val="FF00FF"/>
                  </a:solidFill>
                  <a:latin typeface="华文楷体" panose="02010600040101010101" pitchFamily="2" charset="-122"/>
                  <a:ea typeface="华文楷体" panose="02010600040101010101" pitchFamily="2" charset="-122"/>
                </a:rPr>
                <a:t>I,</a:t>
              </a:r>
              <a:r>
                <a:rPr lang="zh-CN" altLang="en-US" b="1" kern="0" dirty="0">
                  <a:solidFill>
                    <a:srgbClr val="FF00FF"/>
                  </a:solidFill>
                  <a:latin typeface="华文楷体" panose="02010600040101010101" pitchFamily="2" charset="-122"/>
                  <a:ea typeface="华文楷体" panose="02010600040101010101" pitchFamily="2" charset="-122"/>
                </a:rPr>
                <a:t>生产</a:t>
              </a:r>
              <a:r>
                <a:rPr lang="en-US" altLang="zh-CN" b="1" kern="0" dirty="0">
                  <a:solidFill>
                    <a:srgbClr val="FF00FF"/>
                  </a:solidFill>
                  <a:latin typeface="华文楷体" panose="02010600040101010101" pitchFamily="2" charset="-122"/>
                  <a:ea typeface="华文楷体" panose="02010600040101010101" pitchFamily="2" charset="-122"/>
                </a:rPr>
                <a:t>2</a:t>
              </a:r>
              <a:r>
                <a:rPr lang="zh-CN" altLang="en-US" b="1" kern="0" dirty="0">
                  <a:solidFill>
                    <a:srgbClr val="FF00FF"/>
                  </a:solidFill>
                  <a:latin typeface="华文楷体" panose="02010600040101010101" pitchFamily="2" charset="-122"/>
                  <a:ea typeface="华文楷体" panose="02010600040101010101" pitchFamily="2" charset="-122"/>
                </a:rPr>
                <a:t>件产品</a:t>
              </a:r>
              <a:r>
                <a:rPr lang="en-US" altLang="zh-CN" b="1" kern="0" dirty="0">
                  <a:solidFill>
                    <a:srgbClr val="FF00FF"/>
                  </a:solidFill>
                  <a:latin typeface="华文楷体" panose="02010600040101010101" pitchFamily="2" charset="-122"/>
                  <a:ea typeface="华文楷体" panose="02010600040101010101" pitchFamily="2" charset="-122"/>
                </a:rPr>
                <a:t>II</a:t>
              </a:r>
              <a:r>
                <a:rPr lang="zh-CN" altLang="en-US" b="1" kern="0" dirty="0">
                  <a:solidFill>
                    <a:srgbClr val="FF00FF"/>
                  </a:solidFill>
                  <a:latin typeface="华文楷体" panose="02010600040101010101" pitchFamily="2" charset="-122"/>
                  <a:ea typeface="华文楷体" panose="02010600040101010101" pitchFamily="2" charset="-122"/>
                </a:rPr>
                <a:t>，可获最大利润</a:t>
              </a:r>
              <a:r>
                <a:rPr lang="en-US" altLang="zh-CN" b="1" kern="0" dirty="0">
                  <a:solidFill>
                    <a:srgbClr val="FF00FF"/>
                  </a:solidFill>
                  <a:latin typeface="华文楷体" panose="02010600040101010101" pitchFamily="2" charset="-122"/>
                  <a:ea typeface="华文楷体" panose="02010600040101010101" pitchFamily="2" charset="-122"/>
                </a:rPr>
                <a:t>14</a:t>
              </a:r>
              <a:r>
                <a:rPr lang="zh-CN" altLang="en-US" b="1" kern="0" dirty="0">
                  <a:solidFill>
                    <a:srgbClr val="FF00FF"/>
                  </a:solidFill>
                  <a:latin typeface="华文楷体" panose="02010600040101010101" pitchFamily="2" charset="-122"/>
                  <a:ea typeface="华文楷体" panose="02010600040101010101" pitchFamily="2" charset="-122"/>
                </a:rPr>
                <a:t>元。</a:t>
              </a:r>
            </a:p>
          </p:txBody>
        </p:sp>
        <p:cxnSp>
          <p:nvCxnSpPr>
            <p:cNvPr id="64" name="直接箭头连接符 63">
              <a:extLst>
                <a:ext uri="{FF2B5EF4-FFF2-40B4-BE49-F238E27FC236}">
                  <a16:creationId xmlns:a16="http://schemas.microsoft.com/office/drawing/2014/main" id="{98D97F30-6419-41E8-A29B-987ED8AD1E18}"/>
                </a:ext>
              </a:extLst>
            </p:cNvPr>
            <p:cNvCxnSpPr>
              <a:cxnSpLocks/>
            </p:cNvCxnSpPr>
            <p:nvPr/>
          </p:nvCxnSpPr>
          <p:spPr>
            <a:xfrm>
              <a:off x="2819644" y="1466564"/>
              <a:ext cx="0" cy="628507"/>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480CA522-8E10-40C4-ABB6-00C4CD16A9E0}"/>
                </a:ext>
              </a:extLst>
            </p:cNvPr>
            <p:cNvCxnSpPr>
              <a:cxnSpLocks/>
            </p:cNvCxnSpPr>
            <p:nvPr/>
          </p:nvCxnSpPr>
          <p:spPr>
            <a:xfrm flipV="1">
              <a:off x="2819644" y="3018786"/>
              <a:ext cx="0" cy="199979"/>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pic>
        <p:nvPicPr>
          <p:cNvPr id="73738" name="Picture 3">
            <a:extLst>
              <a:ext uri="{FF2B5EF4-FFF2-40B4-BE49-F238E27FC236}">
                <a16:creationId xmlns:a16="http://schemas.microsoft.com/office/drawing/2014/main" id="{B2B1A2AA-1854-42AC-A458-C1A6CB7261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8" y="4781550"/>
            <a:ext cx="854392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组合 25">
            <a:extLst>
              <a:ext uri="{FF2B5EF4-FFF2-40B4-BE49-F238E27FC236}">
                <a16:creationId xmlns:a16="http://schemas.microsoft.com/office/drawing/2014/main" id="{3502904A-9513-4DDD-96A5-1F1E4C0419D2}"/>
              </a:ext>
            </a:extLst>
          </p:cNvPr>
          <p:cNvGrpSpPr>
            <a:grpSpLocks/>
          </p:cNvGrpSpPr>
          <p:nvPr/>
        </p:nvGrpSpPr>
        <p:grpSpPr bwMode="auto">
          <a:xfrm>
            <a:off x="561975" y="3135313"/>
            <a:ext cx="877888" cy="1597025"/>
            <a:chOff x="562378" y="3135868"/>
            <a:chExt cx="877163" cy="1596195"/>
          </a:xfrm>
        </p:grpSpPr>
        <p:grpSp>
          <p:nvGrpSpPr>
            <p:cNvPr id="73759" name="组合 2">
              <a:extLst>
                <a:ext uri="{FF2B5EF4-FFF2-40B4-BE49-F238E27FC236}">
                  <a16:creationId xmlns:a16="http://schemas.microsoft.com/office/drawing/2014/main" id="{0A835354-E2D2-4A87-A646-0D1C86556174}"/>
                </a:ext>
              </a:extLst>
            </p:cNvPr>
            <p:cNvGrpSpPr>
              <a:grpSpLocks/>
            </p:cNvGrpSpPr>
            <p:nvPr/>
          </p:nvGrpSpPr>
          <p:grpSpPr bwMode="auto">
            <a:xfrm>
              <a:off x="562378" y="3135868"/>
              <a:ext cx="877163" cy="978932"/>
              <a:chOff x="3085237" y="2369481"/>
              <a:chExt cx="877163" cy="978932"/>
            </a:xfrm>
          </p:grpSpPr>
          <p:sp>
            <p:nvSpPr>
              <p:cNvPr id="11" name="椭圆 10">
                <a:extLst>
                  <a:ext uri="{FF2B5EF4-FFF2-40B4-BE49-F238E27FC236}">
                    <a16:creationId xmlns:a16="http://schemas.microsoft.com/office/drawing/2014/main" id="{AB1E8C72-105F-4668-A76F-F5590B3988B9}"/>
                  </a:ext>
                </a:extLst>
              </p:cNvPr>
              <p:cNvSpPr/>
              <p:nvPr/>
            </p:nvSpPr>
            <p:spPr>
              <a:xfrm>
                <a:off x="3513508" y="2978764"/>
                <a:ext cx="333100" cy="3696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sp>
            <p:nvSpPr>
              <p:cNvPr id="13" name="矩形 12">
                <a:extLst>
                  <a:ext uri="{FF2B5EF4-FFF2-40B4-BE49-F238E27FC236}">
                    <a16:creationId xmlns:a16="http://schemas.microsoft.com/office/drawing/2014/main" id="{22BDF850-BBAB-461F-8F2D-9E3C1600EF5C}"/>
                  </a:ext>
                </a:extLst>
              </p:cNvPr>
              <p:cNvSpPr/>
              <p:nvPr/>
            </p:nvSpPr>
            <p:spPr>
              <a:xfrm>
                <a:off x="3085237" y="2369481"/>
                <a:ext cx="877163" cy="369695"/>
              </a:xfrm>
              <a:prstGeom prst="rect">
                <a:avLst/>
              </a:prstGeom>
            </p:spPr>
            <p:txBody>
              <a:bodyPr wrap="none">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基变量</a:t>
                </a:r>
                <a:endParaRPr lang="zh-CN" altLang="en-US" dirty="0"/>
              </a:p>
            </p:txBody>
          </p:sp>
        </p:grpSp>
        <p:sp>
          <p:nvSpPr>
            <p:cNvPr id="23" name="椭圆 22">
              <a:extLst>
                <a:ext uri="{FF2B5EF4-FFF2-40B4-BE49-F238E27FC236}">
                  <a16:creationId xmlns:a16="http://schemas.microsoft.com/office/drawing/2014/main" id="{B22AF6B8-E3A0-43A2-A270-17AC3DA2526F}"/>
                </a:ext>
              </a:extLst>
            </p:cNvPr>
            <p:cNvSpPr/>
            <p:nvPr/>
          </p:nvSpPr>
          <p:spPr>
            <a:xfrm>
              <a:off x="1009683" y="4543248"/>
              <a:ext cx="333100" cy="1888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grpSp>
      <p:grpSp>
        <p:nvGrpSpPr>
          <p:cNvPr id="27" name="组合 26">
            <a:extLst>
              <a:ext uri="{FF2B5EF4-FFF2-40B4-BE49-F238E27FC236}">
                <a16:creationId xmlns:a16="http://schemas.microsoft.com/office/drawing/2014/main" id="{B6D1D674-FEC6-4E11-A1B1-A47453A0E878}"/>
              </a:ext>
            </a:extLst>
          </p:cNvPr>
          <p:cNvGrpSpPr>
            <a:grpSpLocks/>
          </p:cNvGrpSpPr>
          <p:nvPr/>
        </p:nvGrpSpPr>
        <p:grpSpPr bwMode="auto">
          <a:xfrm>
            <a:off x="4841875" y="2922588"/>
            <a:ext cx="3019425" cy="1704975"/>
            <a:chOff x="4841413" y="2923148"/>
            <a:chExt cx="3019275" cy="1705014"/>
          </a:xfrm>
        </p:grpSpPr>
        <p:grpSp>
          <p:nvGrpSpPr>
            <p:cNvPr id="73754" name="组合 19">
              <a:extLst>
                <a:ext uri="{FF2B5EF4-FFF2-40B4-BE49-F238E27FC236}">
                  <a16:creationId xmlns:a16="http://schemas.microsoft.com/office/drawing/2014/main" id="{5BECA61B-EC5F-4445-9AE2-A9397D4DAA7A}"/>
                </a:ext>
              </a:extLst>
            </p:cNvPr>
            <p:cNvGrpSpPr>
              <a:grpSpLocks/>
            </p:cNvGrpSpPr>
            <p:nvPr/>
          </p:nvGrpSpPr>
          <p:grpSpPr bwMode="auto">
            <a:xfrm>
              <a:off x="4876800" y="2923148"/>
              <a:ext cx="2983888" cy="886852"/>
              <a:chOff x="5256152" y="3227862"/>
              <a:chExt cx="2983888" cy="886852"/>
            </a:xfrm>
          </p:grpSpPr>
          <p:sp>
            <p:nvSpPr>
              <p:cNvPr id="15" name="矩形 14">
                <a:extLst>
                  <a:ext uri="{FF2B5EF4-FFF2-40B4-BE49-F238E27FC236}">
                    <a16:creationId xmlns:a16="http://schemas.microsoft.com/office/drawing/2014/main" id="{6ECC475A-E55E-4B08-B84B-1BFDCA0ABDB0}"/>
                  </a:ext>
                </a:extLst>
              </p:cNvPr>
              <p:cNvSpPr/>
              <p:nvPr/>
            </p:nvSpPr>
            <p:spPr>
              <a:xfrm>
                <a:off x="5687467" y="3227862"/>
                <a:ext cx="2552573" cy="369895"/>
              </a:xfrm>
              <a:prstGeom prst="rect">
                <a:avLst/>
              </a:prstGeom>
              <a:ln>
                <a:solidFill>
                  <a:srgbClr val="FF00FF"/>
                </a:solidFill>
              </a:ln>
            </p:spPr>
            <p:txBody>
              <a:bodyPr>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基变量的差额成本为</a:t>
                </a:r>
                <a:r>
                  <a:rPr lang="en-US" altLang="zh-CN" b="1" kern="0" dirty="0">
                    <a:solidFill>
                      <a:srgbClr val="FF00FF"/>
                    </a:solidFill>
                    <a:latin typeface="华文楷体" panose="02010600040101010101" pitchFamily="2" charset="-122"/>
                    <a:ea typeface="华文楷体" panose="02010600040101010101" pitchFamily="2" charset="-122"/>
                  </a:rPr>
                  <a:t>0</a:t>
                </a:r>
                <a:endParaRPr lang="zh-CN" altLang="en-US" dirty="0"/>
              </a:p>
            </p:txBody>
          </p:sp>
          <p:cxnSp>
            <p:nvCxnSpPr>
              <p:cNvPr id="25" name="直接箭头连接符 24">
                <a:extLst>
                  <a:ext uri="{FF2B5EF4-FFF2-40B4-BE49-F238E27FC236}">
                    <a16:creationId xmlns:a16="http://schemas.microsoft.com/office/drawing/2014/main" id="{BA930CD4-57F8-4112-8C4A-EDA23B92F70D}"/>
                  </a:ext>
                </a:extLst>
              </p:cNvPr>
              <p:cNvCxnSpPr>
                <a:cxnSpLocks/>
                <a:endCxn id="15" idx="1"/>
              </p:cNvCxnSpPr>
              <p:nvPr/>
            </p:nvCxnSpPr>
            <p:spPr>
              <a:xfrm flipV="1">
                <a:off x="5255688" y="3412016"/>
                <a:ext cx="431779" cy="703278"/>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直接箭头连接符 27">
              <a:extLst>
                <a:ext uri="{FF2B5EF4-FFF2-40B4-BE49-F238E27FC236}">
                  <a16:creationId xmlns:a16="http://schemas.microsoft.com/office/drawing/2014/main" id="{42F9E119-45CF-4793-9FF1-3B5A8478E070}"/>
                </a:ext>
              </a:extLst>
            </p:cNvPr>
            <p:cNvCxnSpPr>
              <a:cxnSpLocks/>
              <a:endCxn id="15" idx="1"/>
            </p:cNvCxnSpPr>
            <p:nvPr/>
          </p:nvCxnSpPr>
          <p:spPr>
            <a:xfrm flipV="1">
              <a:off x="4841413" y="3107302"/>
              <a:ext cx="466702" cy="950934"/>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6EE598EF-6687-4EAE-A24D-DE6F28781299}"/>
                </a:ext>
              </a:extLst>
            </p:cNvPr>
            <p:cNvCxnSpPr>
              <a:cxnSpLocks/>
              <a:endCxn id="15" idx="1"/>
            </p:cNvCxnSpPr>
            <p:nvPr/>
          </p:nvCxnSpPr>
          <p:spPr>
            <a:xfrm flipV="1">
              <a:off x="4858875" y="3107302"/>
              <a:ext cx="449240" cy="1520860"/>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5C1AEDFA-4560-44CA-9D14-4241BBC1B52A}"/>
              </a:ext>
            </a:extLst>
          </p:cNvPr>
          <p:cNvGrpSpPr>
            <a:grpSpLocks/>
          </p:cNvGrpSpPr>
          <p:nvPr/>
        </p:nvGrpSpPr>
        <p:grpSpPr bwMode="auto">
          <a:xfrm>
            <a:off x="4841875" y="3849688"/>
            <a:ext cx="3997325" cy="646112"/>
            <a:chOff x="4841413" y="3849469"/>
            <a:chExt cx="3997787" cy="646331"/>
          </a:xfrm>
        </p:grpSpPr>
        <p:sp>
          <p:nvSpPr>
            <p:cNvPr id="33" name="矩形 32">
              <a:extLst>
                <a:ext uri="{FF2B5EF4-FFF2-40B4-BE49-F238E27FC236}">
                  <a16:creationId xmlns:a16="http://schemas.microsoft.com/office/drawing/2014/main" id="{EE13545F-108F-47B6-8073-07B06B9BD4F4}"/>
                </a:ext>
              </a:extLst>
            </p:cNvPr>
            <p:cNvSpPr/>
            <p:nvPr/>
          </p:nvSpPr>
          <p:spPr>
            <a:xfrm>
              <a:off x="5427269" y="3849469"/>
              <a:ext cx="3411931" cy="646331"/>
            </a:xfrm>
            <a:prstGeom prst="rect">
              <a:avLst/>
            </a:prstGeom>
            <a:ln>
              <a:solidFill>
                <a:srgbClr val="FF00FF"/>
              </a:solidFill>
            </a:ln>
          </p:spPr>
          <p:txBody>
            <a:bodyPr>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非基变量取值增加</a:t>
              </a:r>
              <a:r>
                <a:rPr lang="en-US" altLang="zh-CN" b="1" kern="0" dirty="0">
                  <a:solidFill>
                    <a:srgbClr val="FF00FF"/>
                  </a:solidFill>
                  <a:latin typeface="华文楷体" panose="02010600040101010101" pitchFamily="2" charset="-122"/>
                  <a:ea typeface="华文楷体" panose="02010600040101010101" pitchFamily="2" charset="-122"/>
                </a:rPr>
                <a:t>1</a:t>
              </a:r>
              <a:r>
                <a:rPr lang="zh-CN" altLang="en-US" b="1" kern="0" dirty="0">
                  <a:solidFill>
                    <a:srgbClr val="FF00FF"/>
                  </a:solidFill>
                  <a:latin typeface="华文楷体" panose="02010600040101010101" pitchFamily="2" charset="-122"/>
                  <a:ea typeface="华文楷体" panose="02010600040101010101" pitchFamily="2" charset="-122"/>
                </a:rPr>
                <a:t>个单位时，目标函数值的减少量</a:t>
              </a:r>
              <a:endParaRPr lang="zh-CN" altLang="en-US" dirty="0"/>
            </a:p>
          </p:txBody>
        </p:sp>
        <p:cxnSp>
          <p:nvCxnSpPr>
            <p:cNvPr id="34" name="直接箭头连接符 33">
              <a:extLst>
                <a:ext uri="{FF2B5EF4-FFF2-40B4-BE49-F238E27FC236}">
                  <a16:creationId xmlns:a16="http://schemas.microsoft.com/office/drawing/2014/main" id="{9D6A9093-7040-4620-8371-A9276A5CCCCC}"/>
                </a:ext>
              </a:extLst>
            </p:cNvPr>
            <p:cNvCxnSpPr>
              <a:cxnSpLocks/>
              <a:endCxn id="33" idx="1"/>
            </p:cNvCxnSpPr>
            <p:nvPr/>
          </p:nvCxnSpPr>
          <p:spPr>
            <a:xfrm>
              <a:off x="4841413" y="4173429"/>
              <a:ext cx="585856" cy="0"/>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88C17577-9308-4F78-BAF5-06A4AF8FE6E4}"/>
                </a:ext>
              </a:extLst>
            </p:cNvPr>
            <p:cNvCxnSpPr>
              <a:cxnSpLocks/>
              <a:endCxn id="33" idx="1"/>
            </p:cNvCxnSpPr>
            <p:nvPr/>
          </p:nvCxnSpPr>
          <p:spPr>
            <a:xfrm flipV="1">
              <a:off x="4876342" y="4173429"/>
              <a:ext cx="550927" cy="246145"/>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组合 38">
            <a:extLst>
              <a:ext uri="{FF2B5EF4-FFF2-40B4-BE49-F238E27FC236}">
                <a16:creationId xmlns:a16="http://schemas.microsoft.com/office/drawing/2014/main" id="{590B069C-5DDB-4A33-B161-FAEF269D628F}"/>
              </a:ext>
            </a:extLst>
          </p:cNvPr>
          <p:cNvGrpSpPr>
            <a:grpSpLocks/>
          </p:cNvGrpSpPr>
          <p:nvPr/>
        </p:nvGrpSpPr>
        <p:grpSpPr bwMode="auto">
          <a:xfrm>
            <a:off x="849313" y="4730750"/>
            <a:ext cx="333375" cy="1600200"/>
            <a:chOff x="849703" y="4730646"/>
            <a:chExt cx="333778" cy="1599580"/>
          </a:xfrm>
        </p:grpSpPr>
        <p:sp>
          <p:nvSpPr>
            <p:cNvPr id="44" name="椭圆 43">
              <a:extLst>
                <a:ext uri="{FF2B5EF4-FFF2-40B4-BE49-F238E27FC236}">
                  <a16:creationId xmlns:a16="http://schemas.microsoft.com/office/drawing/2014/main" id="{91D70FAE-DBB9-461B-BF64-0E585314BF66}"/>
                </a:ext>
              </a:extLst>
            </p:cNvPr>
            <p:cNvSpPr/>
            <p:nvPr/>
          </p:nvSpPr>
          <p:spPr>
            <a:xfrm>
              <a:off x="849703" y="5484417"/>
              <a:ext cx="333778" cy="84580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cxnSp>
          <p:nvCxnSpPr>
            <p:cNvPr id="46" name="直接箭头连接符 45">
              <a:extLst>
                <a:ext uri="{FF2B5EF4-FFF2-40B4-BE49-F238E27FC236}">
                  <a16:creationId xmlns:a16="http://schemas.microsoft.com/office/drawing/2014/main" id="{DF508A32-3DAD-4126-B48D-FB3767A5CE4B}"/>
                </a:ext>
              </a:extLst>
            </p:cNvPr>
            <p:cNvCxnSpPr>
              <a:cxnSpLocks/>
            </p:cNvCxnSpPr>
            <p:nvPr/>
          </p:nvCxnSpPr>
          <p:spPr>
            <a:xfrm flipH="1">
              <a:off x="1067453" y="4730646"/>
              <a:ext cx="108080" cy="742662"/>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 name="组合 39">
            <a:extLst>
              <a:ext uri="{FF2B5EF4-FFF2-40B4-BE49-F238E27FC236}">
                <a16:creationId xmlns:a16="http://schemas.microsoft.com/office/drawing/2014/main" id="{1D05D91C-1617-4236-B083-80092EDEBD84}"/>
              </a:ext>
            </a:extLst>
          </p:cNvPr>
          <p:cNvGrpSpPr>
            <a:grpSpLocks/>
          </p:cNvGrpSpPr>
          <p:nvPr/>
        </p:nvGrpSpPr>
        <p:grpSpPr bwMode="auto">
          <a:xfrm>
            <a:off x="1752600" y="4681538"/>
            <a:ext cx="533400" cy="1614487"/>
            <a:chOff x="1752600" y="4681372"/>
            <a:chExt cx="533380" cy="1614115"/>
          </a:xfrm>
        </p:grpSpPr>
        <p:sp>
          <p:nvSpPr>
            <p:cNvPr id="45" name="椭圆 44">
              <a:extLst>
                <a:ext uri="{FF2B5EF4-FFF2-40B4-BE49-F238E27FC236}">
                  <a16:creationId xmlns:a16="http://schemas.microsoft.com/office/drawing/2014/main" id="{0F53E641-B9C3-4B44-AE79-D441408BD23D}"/>
                </a:ext>
              </a:extLst>
            </p:cNvPr>
            <p:cNvSpPr/>
            <p:nvPr/>
          </p:nvSpPr>
          <p:spPr>
            <a:xfrm>
              <a:off x="1752600" y="5449545"/>
              <a:ext cx="333363" cy="8459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cxnSp>
          <p:nvCxnSpPr>
            <p:cNvPr id="49" name="直接箭头连接符 48">
              <a:extLst>
                <a:ext uri="{FF2B5EF4-FFF2-40B4-BE49-F238E27FC236}">
                  <a16:creationId xmlns:a16="http://schemas.microsoft.com/office/drawing/2014/main" id="{32A63B28-D036-4F66-B4CD-FBF0789A58CC}"/>
                </a:ext>
              </a:extLst>
            </p:cNvPr>
            <p:cNvCxnSpPr>
              <a:cxnSpLocks/>
            </p:cNvCxnSpPr>
            <p:nvPr/>
          </p:nvCxnSpPr>
          <p:spPr>
            <a:xfrm flipH="1">
              <a:off x="1958967" y="4681372"/>
              <a:ext cx="327013" cy="768173"/>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组合 40">
            <a:extLst>
              <a:ext uri="{FF2B5EF4-FFF2-40B4-BE49-F238E27FC236}">
                <a16:creationId xmlns:a16="http://schemas.microsoft.com/office/drawing/2014/main" id="{92702D30-8FBA-4591-8250-0CCDFE8277E9}"/>
              </a:ext>
            </a:extLst>
          </p:cNvPr>
          <p:cNvGrpSpPr>
            <a:grpSpLocks/>
          </p:cNvGrpSpPr>
          <p:nvPr/>
        </p:nvGrpSpPr>
        <p:grpSpPr bwMode="auto">
          <a:xfrm>
            <a:off x="2514600" y="4727575"/>
            <a:ext cx="5029200" cy="1906588"/>
            <a:chOff x="2514600" y="4727692"/>
            <a:chExt cx="5029200" cy="1906831"/>
          </a:xfrm>
        </p:grpSpPr>
        <p:sp>
          <p:nvSpPr>
            <p:cNvPr id="43" name="椭圆 42">
              <a:extLst>
                <a:ext uri="{FF2B5EF4-FFF2-40B4-BE49-F238E27FC236}">
                  <a16:creationId xmlns:a16="http://schemas.microsoft.com/office/drawing/2014/main" id="{0EECC2CF-DDD4-4DDD-8DF3-B1763609B7C3}"/>
                </a:ext>
              </a:extLst>
            </p:cNvPr>
            <p:cNvSpPr/>
            <p:nvPr/>
          </p:nvSpPr>
          <p:spPr>
            <a:xfrm>
              <a:off x="2514600" y="6264588"/>
              <a:ext cx="5029200" cy="3699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cxnSp>
          <p:nvCxnSpPr>
            <p:cNvPr id="51" name="直接箭头连接符 50">
              <a:extLst>
                <a:ext uri="{FF2B5EF4-FFF2-40B4-BE49-F238E27FC236}">
                  <a16:creationId xmlns:a16="http://schemas.microsoft.com/office/drawing/2014/main" id="{BCBF416C-2A38-45A0-8E36-88471D66B70A}"/>
                </a:ext>
              </a:extLst>
            </p:cNvPr>
            <p:cNvCxnSpPr>
              <a:cxnSpLocks/>
            </p:cNvCxnSpPr>
            <p:nvPr/>
          </p:nvCxnSpPr>
          <p:spPr>
            <a:xfrm>
              <a:off x="4441825" y="4727692"/>
              <a:ext cx="282575" cy="1522607"/>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randombar(horizontal)">
                                      <p:cBhvr>
                                        <p:cTn id="7" dur="500"/>
                                        <p:tgtEl>
                                          <p:spTgt spid="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randombar(horizontal)">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randombar(horizontal)">
                                      <p:cBhvr>
                                        <p:cTn id="22" dur="500"/>
                                        <p:tgtEl>
                                          <p:spTgt spid="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randombar(horizontal)">
                                      <p:cBhvr>
                                        <p:cTn id="32" dur="500"/>
                                        <p:tgtEl>
                                          <p:spTgt spid="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randombar(horizontal)">
                                      <p:cBhvr>
                                        <p:cTn id="37" dur="500"/>
                                        <p:tgtEl>
                                          <p:spTgt spid="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10"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randombar(horizontal)">
                                      <p:cBhvr>
                                        <p:cTn id="42" dur="500"/>
                                        <p:tgtEl>
                                          <p:spTgt spid="3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1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randombar(horizontal)">
                                      <p:cBhvr>
                                        <p:cTn id="47" dur="500"/>
                                        <p:tgtEl>
                                          <p:spTgt spid="4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10"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randombar(horizontal)">
                                      <p:cBhvr>
                                        <p:cTn id="5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3BA9FE9A-83B2-4D39-B888-6149DCC6A7D5}"/>
              </a:ext>
            </a:extLst>
          </p:cNvPr>
          <p:cNvSpPr>
            <a:spLocks noGrp="1" noChangeArrowheads="1"/>
          </p:cNvSpPr>
          <p:nvPr>
            <p:ph type="title"/>
          </p:nvPr>
        </p:nvSpPr>
        <p:spPr>
          <a:xfrm>
            <a:off x="304800" y="304800"/>
            <a:ext cx="7620000" cy="838200"/>
          </a:xfrm>
        </p:spPr>
        <p:txBody>
          <a:bodyPr/>
          <a:lstStyle/>
          <a:p>
            <a:pPr algn="ctr" eaLnBrk="1" hangingPunct="1"/>
            <a:r>
              <a:rPr lang="zh-CN" altLang="en-US"/>
              <a:t>利用</a:t>
            </a:r>
            <a:r>
              <a:rPr lang="en-US" altLang="zh-CN"/>
              <a:t>Lingo</a:t>
            </a:r>
            <a:r>
              <a:rPr lang="zh-CN" altLang="en-US"/>
              <a:t>显示影子价格</a:t>
            </a:r>
          </a:p>
        </p:txBody>
      </p:sp>
      <p:sp>
        <p:nvSpPr>
          <p:cNvPr id="74755" name="Rectangle 2">
            <a:extLst>
              <a:ext uri="{FF2B5EF4-FFF2-40B4-BE49-F238E27FC236}">
                <a16:creationId xmlns:a16="http://schemas.microsoft.com/office/drawing/2014/main" id="{4ED6B7BE-3A8C-4EB4-A392-BF4F332F50FE}"/>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74756" name="Picture 3">
            <a:extLst>
              <a:ext uri="{FF2B5EF4-FFF2-40B4-BE49-F238E27FC236}">
                <a16:creationId xmlns:a16="http://schemas.microsoft.com/office/drawing/2014/main" id="{0582CC95-33B9-47C1-B15D-8FCFA0DCF8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5" y="4495800"/>
            <a:ext cx="854392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图片 5">
            <a:extLst>
              <a:ext uri="{FF2B5EF4-FFF2-40B4-BE49-F238E27FC236}">
                <a16:creationId xmlns:a16="http://schemas.microsoft.com/office/drawing/2014/main" id="{E4E24D6E-8A78-443D-A4BE-B7F50EFB3F1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828800"/>
            <a:ext cx="5238750" cy="26193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74758" name="对象 17">
            <a:extLst>
              <a:ext uri="{FF2B5EF4-FFF2-40B4-BE49-F238E27FC236}">
                <a16:creationId xmlns:a16="http://schemas.microsoft.com/office/drawing/2014/main" id="{FD14F6DC-ACE7-4F05-948C-BA6F1A4AA3E5}"/>
              </a:ext>
            </a:extLst>
          </p:cNvPr>
          <p:cNvGraphicFramePr>
            <a:graphicFrameLocks noChangeAspect="1"/>
          </p:cNvGraphicFramePr>
          <p:nvPr/>
        </p:nvGraphicFramePr>
        <p:xfrm>
          <a:off x="6134100" y="15875"/>
          <a:ext cx="2705100" cy="1416050"/>
        </p:xfrm>
        <a:graphic>
          <a:graphicData uri="http://schemas.openxmlformats.org/presentationml/2006/ole">
            <mc:AlternateContent xmlns:mc="http://schemas.openxmlformats.org/markup-compatibility/2006">
              <mc:Choice xmlns:v="urn:schemas-microsoft-com:vml" Requires="v">
                <p:oleObj spid="_x0000_s75310" name="Equation" r:id="rId5" imgW="2235200" imgH="1168400" progId="Equation.DSMT4">
                  <p:embed/>
                </p:oleObj>
              </mc:Choice>
              <mc:Fallback>
                <p:oleObj name="Equation" r:id="rId5" imgW="2235200" imgH="1168400" progId="Equation.DSMT4">
                  <p:embed/>
                  <p:pic>
                    <p:nvPicPr>
                      <p:cNvPr id="0" name="对象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4100" y="15875"/>
                        <a:ext cx="2705100" cy="141605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4759" name="组合 21">
            <a:extLst>
              <a:ext uri="{FF2B5EF4-FFF2-40B4-BE49-F238E27FC236}">
                <a16:creationId xmlns:a16="http://schemas.microsoft.com/office/drawing/2014/main" id="{267A15AD-EE84-4FC0-9EC6-F4E54D7813FC}"/>
              </a:ext>
            </a:extLst>
          </p:cNvPr>
          <p:cNvGrpSpPr>
            <a:grpSpLocks/>
          </p:cNvGrpSpPr>
          <p:nvPr/>
        </p:nvGrpSpPr>
        <p:grpSpPr bwMode="auto">
          <a:xfrm>
            <a:off x="4613275" y="6276975"/>
            <a:ext cx="2701925" cy="333375"/>
            <a:chOff x="4783049" y="6143625"/>
            <a:chExt cx="2702014" cy="333375"/>
          </a:xfrm>
        </p:grpSpPr>
        <p:graphicFrame>
          <p:nvGraphicFramePr>
            <p:cNvPr id="74790" name="对象 22">
              <a:extLst>
                <a:ext uri="{FF2B5EF4-FFF2-40B4-BE49-F238E27FC236}">
                  <a16:creationId xmlns:a16="http://schemas.microsoft.com/office/drawing/2014/main" id="{3E6BB2BB-0171-4B43-A77D-23C8CC04C384}"/>
                </a:ext>
              </a:extLst>
            </p:cNvPr>
            <p:cNvGraphicFramePr>
              <a:graphicFrameLocks noChangeAspect="1"/>
            </p:cNvGraphicFramePr>
            <p:nvPr/>
          </p:nvGraphicFramePr>
          <p:xfrm>
            <a:off x="4783049" y="6157295"/>
            <a:ext cx="703351" cy="319705"/>
          </p:xfrm>
          <a:graphic>
            <a:graphicData uri="http://schemas.openxmlformats.org/presentationml/2006/ole">
              <mc:AlternateContent xmlns:mc="http://schemas.openxmlformats.org/markup-compatibility/2006">
                <mc:Choice xmlns:v="urn:schemas-microsoft-com:vml" Requires="v">
                  <p:oleObj spid="_x0000_s75311" name="Equation" r:id="rId7" imgW="419100" imgH="190500" progId="Equation.DSMT4">
                    <p:embed/>
                  </p:oleObj>
                </mc:Choice>
                <mc:Fallback>
                  <p:oleObj name="Equation" r:id="rId7" imgW="419100" imgH="190500" progId="Equation.DSMT4">
                    <p:embed/>
                    <p:pic>
                      <p:nvPicPr>
                        <p:cNvPr id="0" name="对象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3049" y="6157295"/>
                          <a:ext cx="703351" cy="319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91" name="对象 23">
              <a:extLst>
                <a:ext uri="{FF2B5EF4-FFF2-40B4-BE49-F238E27FC236}">
                  <a16:creationId xmlns:a16="http://schemas.microsoft.com/office/drawing/2014/main" id="{FEF6AAEF-6973-4168-A6B8-D1E67E1653F2}"/>
                </a:ext>
              </a:extLst>
            </p:cNvPr>
            <p:cNvGraphicFramePr>
              <a:graphicFrameLocks noChangeAspect="1"/>
            </p:cNvGraphicFramePr>
            <p:nvPr/>
          </p:nvGraphicFramePr>
          <p:xfrm>
            <a:off x="5811838" y="6157295"/>
            <a:ext cx="660400" cy="319088"/>
          </p:xfrm>
          <a:graphic>
            <a:graphicData uri="http://schemas.openxmlformats.org/presentationml/2006/ole">
              <mc:AlternateContent xmlns:mc="http://schemas.openxmlformats.org/markup-compatibility/2006">
                <mc:Choice xmlns:v="urn:schemas-microsoft-com:vml" Requires="v">
                  <p:oleObj spid="_x0000_s75312" name="Equation" r:id="rId9" imgW="393529" imgH="190417" progId="Equation.DSMT4">
                    <p:embed/>
                  </p:oleObj>
                </mc:Choice>
                <mc:Fallback>
                  <p:oleObj name="Equation" r:id="rId9" imgW="393529" imgH="190417" progId="Equation.DSMT4">
                    <p:embed/>
                    <p:pic>
                      <p:nvPicPr>
                        <p:cNvPr id="0" name="对象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11838" y="6157295"/>
                          <a:ext cx="66040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92" name="对象 24">
              <a:extLst>
                <a:ext uri="{FF2B5EF4-FFF2-40B4-BE49-F238E27FC236}">
                  <a16:creationId xmlns:a16="http://schemas.microsoft.com/office/drawing/2014/main" id="{1451D31A-5D12-4721-AD4C-F1BF13C86B19}"/>
                </a:ext>
              </a:extLst>
            </p:cNvPr>
            <p:cNvGraphicFramePr>
              <a:graphicFrameLocks noChangeAspect="1"/>
            </p:cNvGraphicFramePr>
            <p:nvPr/>
          </p:nvGraphicFramePr>
          <p:xfrm>
            <a:off x="6886575" y="6143625"/>
            <a:ext cx="598488" cy="319088"/>
          </p:xfrm>
          <a:graphic>
            <a:graphicData uri="http://schemas.openxmlformats.org/presentationml/2006/ole">
              <mc:AlternateContent xmlns:mc="http://schemas.openxmlformats.org/markup-compatibility/2006">
                <mc:Choice xmlns:v="urn:schemas-microsoft-com:vml" Requires="v">
                  <p:oleObj spid="_x0000_s75313" name="Equation" r:id="rId11" imgW="355446" imgH="190417" progId="Equation.DSMT4">
                    <p:embed/>
                  </p:oleObj>
                </mc:Choice>
                <mc:Fallback>
                  <p:oleObj name="Equation" r:id="rId11" imgW="355446" imgH="190417" progId="Equation.DSMT4">
                    <p:embed/>
                    <p:pic>
                      <p:nvPicPr>
                        <p:cNvPr id="0" name="对象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86575" y="6143625"/>
                          <a:ext cx="598488"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4760" name="组合 29">
            <a:extLst>
              <a:ext uri="{FF2B5EF4-FFF2-40B4-BE49-F238E27FC236}">
                <a16:creationId xmlns:a16="http://schemas.microsoft.com/office/drawing/2014/main" id="{CEEC3383-606B-401D-9701-BE24A710F8C9}"/>
              </a:ext>
            </a:extLst>
          </p:cNvPr>
          <p:cNvGrpSpPr>
            <a:grpSpLocks/>
          </p:cNvGrpSpPr>
          <p:nvPr/>
        </p:nvGrpSpPr>
        <p:grpSpPr bwMode="auto">
          <a:xfrm>
            <a:off x="2773363" y="6289675"/>
            <a:ext cx="1400175" cy="320675"/>
            <a:chOff x="2787650" y="6157913"/>
            <a:chExt cx="1400904" cy="320675"/>
          </a:xfrm>
        </p:grpSpPr>
        <p:graphicFrame>
          <p:nvGraphicFramePr>
            <p:cNvPr id="74788" name="对象 30">
              <a:extLst>
                <a:ext uri="{FF2B5EF4-FFF2-40B4-BE49-F238E27FC236}">
                  <a16:creationId xmlns:a16="http://schemas.microsoft.com/office/drawing/2014/main" id="{629CC70A-80DC-4978-943C-31220C94169F}"/>
                </a:ext>
              </a:extLst>
            </p:cNvPr>
            <p:cNvGraphicFramePr>
              <a:graphicFrameLocks noChangeAspect="1"/>
            </p:cNvGraphicFramePr>
            <p:nvPr/>
          </p:nvGraphicFramePr>
          <p:xfrm>
            <a:off x="2787650" y="6157913"/>
            <a:ext cx="596900" cy="319087"/>
          </p:xfrm>
          <a:graphic>
            <a:graphicData uri="http://schemas.openxmlformats.org/presentationml/2006/ole">
              <mc:AlternateContent xmlns:mc="http://schemas.openxmlformats.org/markup-compatibility/2006">
                <mc:Choice xmlns:v="urn:schemas-microsoft-com:vml" Requires="v">
                  <p:oleObj spid="_x0000_s75314" name="Equation" r:id="rId13" imgW="355446" imgH="190417" progId="Equation.DSMT4">
                    <p:embed/>
                  </p:oleObj>
                </mc:Choice>
                <mc:Fallback>
                  <p:oleObj name="Equation" r:id="rId13" imgW="355446" imgH="190417" progId="Equation.DSMT4">
                    <p:embed/>
                    <p:pic>
                      <p:nvPicPr>
                        <p:cNvPr id="0" name="对象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87650" y="6157913"/>
                          <a:ext cx="59690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89" name="对象 31">
              <a:extLst>
                <a:ext uri="{FF2B5EF4-FFF2-40B4-BE49-F238E27FC236}">
                  <a16:creationId xmlns:a16="http://schemas.microsoft.com/office/drawing/2014/main" id="{908C6EA2-166A-4CFC-9D05-017008DA72B6}"/>
                </a:ext>
              </a:extLst>
            </p:cNvPr>
            <p:cNvGraphicFramePr>
              <a:graphicFrameLocks noChangeAspect="1"/>
            </p:cNvGraphicFramePr>
            <p:nvPr/>
          </p:nvGraphicFramePr>
          <p:xfrm>
            <a:off x="3591654" y="6159500"/>
            <a:ext cx="596900" cy="319088"/>
          </p:xfrm>
          <a:graphic>
            <a:graphicData uri="http://schemas.openxmlformats.org/presentationml/2006/ole">
              <mc:AlternateContent xmlns:mc="http://schemas.openxmlformats.org/markup-compatibility/2006">
                <mc:Choice xmlns:v="urn:schemas-microsoft-com:vml" Requires="v">
                  <p:oleObj spid="_x0000_s75315" name="Equation" r:id="rId15" imgW="355446" imgH="190417" progId="Equation.DSMT4">
                    <p:embed/>
                  </p:oleObj>
                </mc:Choice>
                <mc:Fallback>
                  <p:oleObj name="Equation" r:id="rId15" imgW="355446" imgH="190417" progId="Equation.DSMT4">
                    <p:embed/>
                    <p:pic>
                      <p:nvPicPr>
                        <p:cNvPr id="0" name="对象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91654" y="6159500"/>
                          <a:ext cx="59690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7" name="组合 16">
            <a:extLst>
              <a:ext uri="{FF2B5EF4-FFF2-40B4-BE49-F238E27FC236}">
                <a16:creationId xmlns:a16="http://schemas.microsoft.com/office/drawing/2014/main" id="{E9DE189F-5FFF-4C99-B08C-CD3F64D624B8}"/>
              </a:ext>
            </a:extLst>
          </p:cNvPr>
          <p:cNvGrpSpPr>
            <a:grpSpLocks/>
          </p:cNvGrpSpPr>
          <p:nvPr/>
        </p:nvGrpSpPr>
        <p:grpSpPr bwMode="auto">
          <a:xfrm>
            <a:off x="4032250" y="2365375"/>
            <a:ext cx="241300" cy="1292225"/>
            <a:chOff x="4032250" y="2365375"/>
            <a:chExt cx="241300" cy="1292225"/>
          </a:xfrm>
        </p:grpSpPr>
        <p:graphicFrame>
          <p:nvGraphicFramePr>
            <p:cNvPr id="74783" name="对象 22">
              <a:extLst>
                <a:ext uri="{FF2B5EF4-FFF2-40B4-BE49-F238E27FC236}">
                  <a16:creationId xmlns:a16="http://schemas.microsoft.com/office/drawing/2014/main" id="{AEE71E4E-A4F2-41FC-A72A-34160DA06B03}"/>
                </a:ext>
              </a:extLst>
            </p:cNvPr>
            <p:cNvGraphicFramePr>
              <a:graphicFrameLocks noChangeAspect="1"/>
            </p:cNvGraphicFramePr>
            <p:nvPr/>
          </p:nvGraphicFramePr>
          <p:xfrm>
            <a:off x="4032250" y="2365375"/>
            <a:ext cx="234950" cy="320675"/>
          </p:xfrm>
          <a:graphic>
            <a:graphicData uri="http://schemas.openxmlformats.org/presentationml/2006/ole">
              <mc:AlternateContent xmlns:mc="http://schemas.openxmlformats.org/markup-compatibility/2006">
                <mc:Choice xmlns:v="urn:schemas-microsoft-com:vml" Requires="v">
                  <p:oleObj spid="_x0000_s75316" name="Equation" r:id="rId17" imgW="139639" imgH="190417" progId="Equation.DSMT4">
                    <p:embed/>
                  </p:oleObj>
                </mc:Choice>
                <mc:Fallback>
                  <p:oleObj name="Equation" r:id="rId17" imgW="139639" imgH="190417" progId="Equation.DSMT4">
                    <p:embed/>
                    <p:pic>
                      <p:nvPicPr>
                        <p:cNvPr id="0" name="对象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32250" y="2365375"/>
                          <a:ext cx="234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84" name="对象 23">
              <a:extLst>
                <a:ext uri="{FF2B5EF4-FFF2-40B4-BE49-F238E27FC236}">
                  <a16:creationId xmlns:a16="http://schemas.microsoft.com/office/drawing/2014/main" id="{BC3025D9-38DA-4BF8-AAD3-8648E9D3B216}"/>
                </a:ext>
              </a:extLst>
            </p:cNvPr>
            <p:cNvGraphicFramePr>
              <a:graphicFrameLocks noChangeAspect="1"/>
            </p:cNvGraphicFramePr>
            <p:nvPr/>
          </p:nvGraphicFramePr>
          <p:xfrm>
            <a:off x="4033837" y="2608263"/>
            <a:ext cx="233363" cy="319087"/>
          </p:xfrm>
          <a:graphic>
            <a:graphicData uri="http://schemas.openxmlformats.org/presentationml/2006/ole">
              <mc:AlternateContent xmlns:mc="http://schemas.openxmlformats.org/markup-compatibility/2006">
                <mc:Choice xmlns:v="urn:schemas-microsoft-com:vml" Requires="v">
                  <p:oleObj spid="_x0000_s75317" name="Equation" r:id="rId19" imgW="139639" imgH="190417" progId="Equation.DSMT4">
                    <p:embed/>
                  </p:oleObj>
                </mc:Choice>
                <mc:Fallback>
                  <p:oleObj name="Equation" r:id="rId19" imgW="139639" imgH="190417" progId="Equation.DSMT4">
                    <p:embed/>
                    <p:pic>
                      <p:nvPicPr>
                        <p:cNvPr id="0" name="对象 2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33837" y="2608263"/>
                          <a:ext cx="233363"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85" name="对象 24">
              <a:extLst>
                <a:ext uri="{FF2B5EF4-FFF2-40B4-BE49-F238E27FC236}">
                  <a16:creationId xmlns:a16="http://schemas.microsoft.com/office/drawing/2014/main" id="{CDA4F75C-B793-4E1E-A469-8F94D109AAF4}"/>
                </a:ext>
              </a:extLst>
            </p:cNvPr>
            <p:cNvGraphicFramePr>
              <a:graphicFrameLocks noChangeAspect="1"/>
            </p:cNvGraphicFramePr>
            <p:nvPr/>
          </p:nvGraphicFramePr>
          <p:xfrm>
            <a:off x="4032250" y="2840038"/>
            <a:ext cx="234950" cy="319087"/>
          </p:xfrm>
          <a:graphic>
            <a:graphicData uri="http://schemas.openxmlformats.org/presentationml/2006/ole">
              <mc:AlternateContent xmlns:mc="http://schemas.openxmlformats.org/markup-compatibility/2006">
                <mc:Choice xmlns:v="urn:schemas-microsoft-com:vml" Requires="v">
                  <p:oleObj spid="_x0000_s75318" name="Equation" r:id="rId21" imgW="139639" imgH="190417" progId="Equation.DSMT4">
                    <p:embed/>
                  </p:oleObj>
                </mc:Choice>
                <mc:Fallback>
                  <p:oleObj name="Equation" r:id="rId21" imgW="139639" imgH="190417" progId="Equation.DSMT4">
                    <p:embed/>
                    <p:pic>
                      <p:nvPicPr>
                        <p:cNvPr id="0" name="对象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32250" y="2840038"/>
                          <a:ext cx="23495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86" name="对象 30">
              <a:extLst>
                <a:ext uri="{FF2B5EF4-FFF2-40B4-BE49-F238E27FC236}">
                  <a16:creationId xmlns:a16="http://schemas.microsoft.com/office/drawing/2014/main" id="{4DA85D9D-FB6A-4853-B562-B7C0C24C51EA}"/>
                </a:ext>
              </a:extLst>
            </p:cNvPr>
            <p:cNvGraphicFramePr>
              <a:graphicFrameLocks noChangeAspect="1"/>
            </p:cNvGraphicFramePr>
            <p:nvPr/>
          </p:nvGraphicFramePr>
          <p:xfrm>
            <a:off x="4038600" y="3109912"/>
            <a:ext cx="234950" cy="319088"/>
          </p:xfrm>
          <a:graphic>
            <a:graphicData uri="http://schemas.openxmlformats.org/presentationml/2006/ole">
              <mc:AlternateContent xmlns:mc="http://schemas.openxmlformats.org/markup-compatibility/2006">
                <mc:Choice xmlns:v="urn:schemas-microsoft-com:vml" Requires="v">
                  <p:oleObj spid="_x0000_s75319" name="Equation" r:id="rId23" imgW="139639" imgH="190417" progId="Equation.DSMT4">
                    <p:embed/>
                  </p:oleObj>
                </mc:Choice>
                <mc:Fallback>
                  <p:oleObj name="Equation" r:id="rId23" imgW="139639" imgH="190417" progId="Equation.DSMT4">
                    <p:embed/>
                    <p:pic>
                      <p:nvPicPr>
                        <p:cNvPr id="0" name="对象 3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38600" y="3109912"/>
                          <a:ext cx="234950"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87" name="对象 31">
              <a:extLst>
                <a:ext uri="{FF2B5EF4-FFF2-40B4-BE49-F238E27FC236}">
                  <a16:creationId xmlns:a16="http://schemas.microsoft.com/office/drawing/2014/main" id="{4F58B362-0D76-44A5-9B77-EB884C902040}"/>
                </a:ext>
              </a:extLst>
            </p:cNvPr>
            <p:cNvGraphicFramePr>
              <a:graphicFrameLocks noChangeAspect="1"/>
            </p:cNvGraphicFramePr>
            <p:nvPr/>
          </p:nvGraphicFramePr>
          <p:xfrm>
            <a:off x="4038600" y="3338513"/>
            <a:ext cx="234950" cy="319087"/>
          </p:xfrm>
          <a:graphic>
            <a:graphicData uri="http://schemas.openxmlformats.org/presentationml/2006/ole">
              <mc:AlternateContent xmlns:mc="http://schemas.openxmlformats.org/markup-compatibility/2006">
                <mc:Choice xmlns:v="urn:schemas-microsoft-com:vml" Requires="v">
                  <p:oleObj spid="_x0000_s75320" name="Equation" r:id="rId25" imgW="139639" imgH="190417" progId="Equation.DSMT4">
                    <p:embed/>
                  </p:oleObj>
                </mc:Choice>
                <mc:Fallback>
                  <p:oleObj name="Equation" r:id="rId25" imgW="139639" imgH="190417" progId="Equation.DSMT4">
                    <p:embed/>
                    <p:pic>
                      <p:nvPicPr>
                        <p:cNvPr id="0" name="对象 3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038600" y="3338513"/>
                          <a:ext cx="23495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8" name="组合 47">
            <a:extLst>
              <a:ext uri="{FF2B5EF4-FFF2-40B4-BE49-F238E27FC236}">
                <a16:creationId xmlns:a16="http://schemas.microsoft.com/office/drawing/2014/main" id="{B5CB16E1-43A2-49C6-923C-90B56251C31E}"/>
              </a:ext>
            </a:extLst>
          </p:cNvPr>
          <p:cNvGrpSpPr>
            <a:grpSpLocks/>
          </p:cNvGrpSpPr>
          <p:nvPr/>
        </p:nvGrpSpPr>
        <p:grpSpPr bwMode="auto">
          <a:xfrm>
            <a:off x="5410200" y="1600200"/>
            <a:ext cx="3505200" cy="1477963"/>
            <a:chOff x="5257802" y="3648670"/>
            <a:chExt cx="3505198" cy="1477328"/>
          </a:xfrm>
        </p:grpSpPr>
        <p:sp>
          <p:nvSpPr>
            <p:cNvPr id="49" name="矩形 48">
              <a:extLst>
                <a:ext uri="{FF2B5EF4-FFF2-40B4-BE49-F238E27FC236}">
                  <a16:creationId xmlns:a16="http://schemas.microsoft.com/office/drawing/2014/main" id="{F965F0B7-B0DE-48A1-8187-9CBC4E408BC4}"/>
                </a:ext>
              </a:extLst>
            </p:cNvPr>
            <p:cNvSpPr/>
            <p:nvPr/>
          </p:nvSpPr>
          <p:spPr>
            <a:xfrm>
              <a:off x="5573715" y="3648670"/>
              <a:ext cx="3189285" cy="1477328"/>
            </a:xfrm>
            <a:prstGeom prst="rect">
              <a:avLst/>
            </a:prstGeom>
            <a:ln>
              <a:solidFill>
                <a:srgbClr val="FF00FF"/>
              </a:solidFill>
            </a:ln>
          </p:spPr>
          <p:txBody>
            <a:bodyPr>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影子价格：表示当约束条件的右端常数有微小变动时</a:t>
              </a:r>
              <a:r>
                <a:rPr lang="en-US" altLang="zh-CN" b="1" kern="0" dirty="0">
                  <a:solidFill>
                    <a:srgbClr val="FF00FF"/>
                  </a:solidFill>
                  <a:latin typeface="华文楷体" panose="02010600040101010101" pitchFamily="2" charset="-122"/>
                  <a:ea typeface="华文楷体" panose="02010600040101010101" pitchFamily="2" charset="-122"/>
                </a:rPr>
                <a:t>, </a:t>
              </a:r>
              <a:r>
                <a:rPr lang="zh-CN" altLang="en-US" b="1" kern="0" dirty="0">
                  <a:solidFill>
                    <a:srgbClr val="FF00FF"/>
                  </a:solidFill>
                  <a:latin typeface="华文楷体" panose="02010600040101010101" pitchFamily="2" charset="-122"/>
                  <a:ea typeface="华文楷体" panose="02010600040101010101" pitchFamily="2" charset="-122"/>
                </a:rPr>
                <a:t>目标函数的变化率。（相应约束条件的右端常数增加</a:t>
              </a:r>
              <a:r>
                <a:rPr lang="en-US" altLang="zh-CN" b="1" kern="0" dirty="0">
                  <a:solidFill>
                    <a:srgbClr val="FF00FF"/>
                  </a:solidFill>
                  <a:latin typeface="华文楷体" panose="02010600040101010101" pitchFamily="2" charset="-122"/>
                  <a:ea typeface="华文楷体" panose="02010600040101010101" pitchFamily="2" charset="-122"/>
                </a:rPr>
                <a:t>1</a:t>
              </a:r>
              <a:r>
                <a:rPr lang="zh-CN" altLang="en-US" b="1" kern="0" dirty="0">
                  <a:solidFill>
                    <a:srgbClr val="FF00FF"/>
                  </a:solidFill>
                  <a:latin typeface="华文楷体" panose="02010600040101010101" pitchFamily="2" charset="-122"/>
                  <a:ea typeface="华文楷体" panose="02010600040101010101" pitchFamily="2" charset="-122"/>
                </a:rPr>
                <a:t>个单位时，最优目标函数值的增加量）</a:t>
              </a:r>
              <a:endParaRPr lang="zh-CN" altLang="en-US" dirty="0"/>
            </a:p>
          </p:txBody>
        </p:sp>
        <p:cxnSp>
          <p:nvCxnSpPr>
            <p:cNvPr id="50" name="直接箭头连接符 49">
              <a:extLst>
                <a:ext uri="{FF2B5EF4-FFF2-40B4-BE49-F238E27FC236}">
                  <a16:creationId xmlns:a16="http://schemas.microsoft.com/office/drawing/2014/main" id="{82C23371-6DAF-448D-A7AB-49BC969DDE8E}"/>
                </a:ext>
              </a:extLst>
            </p:cNvPr>
            <p:cNvCxnSpPr>
              <a:cxnSpLocks/>
            </p:cNvCxnSpPr>
            <p:nvPr/>
          </p:nvCxnSpPr>
          <p:spPr>
            <a:xfrm>
              <a:off x="5257802" y="4134236"/>
              <a:ext cx="261938" cy="0"/>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E5BD03CD-2A76-4455-9D9A-FD660FB52C45}"/>
              </a:ext>
            </a:extLst>
          </p:cNvPr>
          <p:cNvGrpSpPr>
            <a:grpSpLocks/>
          </p:cNvGrpSpPr>
          <p:nvPr/>
        </p:nvGrpSpPr>
        <p:grpSpPr bwMode="auto">
          <a:xfrm>
            <a:off x="4700588" y="2608263"/>
            <a:ext cx="4191000" cy="1582737"/>
            <a:chOff x="4576460" y="2865114"/>
            <a:chExt cx="4191017" cy="1582737"/>
          </a:xfrm>
        </p:grpSpPr>
        <p:sp>
          <p:nvSpPr>
            <p:cNvPr id="52" name="矩形 51">
              <a:extLst>
                <a:ext uri="{FF2B5EF4-FFF2-40B4-BE49-F238E27FC236}">
                  <a16:creationId xmlns:a16="http://schemas.microsoft.com/office/drawing/2014/main" id="{50CB2D2C-6E86-45B2-95C4-58C8499E367F}"/>
                </a:ext>
              </a:extLst>
            </p:cNvPr>
            <p:cNvSpPr/>
            <p:nvPr/>
          </p:nvSpPr>
          <p:spPr>
            <a:xfrm>
              <a:off x="5578176" y="3523926"/>
              <a:ext cx="3189301" cy="923925"/>
            </a:xfrm>
            <a:prstGeom prst="rect">
              <a:avLst/>
            </a:prstGeom>
            <a:ln>
              <a:solidFill>
                <a:srgbClr val="FF00FF"/>
              </a:solidFill>
            </a:ln>
          </p:spPr>
          <p:txBody>
            <a:bodyPr>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设备增加</a:t>
              </a:r>
              <a:r>
                <a:rPr lang="en-US" altLang="zh-CN" b="1" kern="0" dirty="0">
                  <a:solidFill>
                    <a:srgbClr val="FF00FF"/>
                  </a:solidFill>
                  <a:latin typeface="华文楷体" panose="02010600040101010101" pitchFamily="2" charset="-122"/>
                  <a:ea typeface="华文楷体" panose="02010600040101010101" pitchFamily="2" charset="-122"/>
                </a:rPr>
                <a:t>1</a:t>
              </a:r>
              <a:r>
                <a:rPr lang="zh-CN" altLang="en-US" b="1" kern="0" dirty="0">
                  <a:solidFill>
                    <a:srgbClr val="FF00FF"/>
                  </a:solidFill>
                  <a:latin typeface="华文楷体" panose="02010600040101010101" pitchFamily="2" charset="-122"/>
                  <a:ea typeface="华文楷体" panose="02010600040101010101" pitchFamily="2" charset="-122"/>
                </a:rPr>
                <a:t>台时</a:t>
              </a:r>
              <a:r>
                <a:rPr lang="en-US" altLang="zh-CN" b="1" kern="0" dirty="0">
                  <a:solidFill>
                    <a:srgbClr val="FF00FF"/>
                  </a:solidFill>
                  <a:latin typeface="华文楷体" panose="02010600040101010101" pitchFamily="2" charset="-122"/>
                  <a:ea typeface="华文楷体" panose="02010600040101010101" pitchFamily="2" charset="-122"/>
                </a:rPr>
                <a:t>, </a:t>
              </a:r>
              <a:r>
                <a:rPr lang="zh-CN" altLang="en-US" b="1" kern="0" dirty="0">
                  <a:solidFill>
                    <a:srgbClr val="FF00FF"/>
                  </a:solidFill>
                  <a:latin typeface="华文楷体" panose="02010600040101010101" pitchFamily="2" charset="-122"/>
                  <a:ea typeface="华文楷体" panose="02010600040101010101" pitchFamily="2" charset="-122"/>
                </a:rPr>
                <a:t>该厂按最优计划安排生产可多获利</a:t>
              </a:r>
              <a:r>
                <a:rPr lang="en-US" altLang="zh-CN" b="1" kern="0" dirty="0">
                  <a:solidFill>
                    <a:srgbClr val="FF00FF"/>
                  </a:solidFill>
                  <a:latin typeface="华文楷体" panose="02010600040101010101" pitchFamily="2" charset="-122"/>
                  <a:ea typeface="华文楷体" panose="02010600040101010101" pitchFamily="2" charset="-122"/>
                </a:rPr>
                <a:t>1.5 </a:t>
              </a:r>
              <a:r>
                <a:rPr lang="zh-CN" altLang="en-US" b="1" kern="0" dirty="0">
                  <a:solidFill>
                    <a:srgbClr val="FF00FF"/>
                  </a:solidFill>
                  <a:latin typeface="华文楷体" panose="02010600040101010101" pitchFamily="2" charset="-122"/>
                  <a:ea typeface="华文楷体" panose="02010600040101010101" pitchFamily="2" charset="-122"/>
                </a:rPr>
                <a:t>元。（台时短缺）</a:t>
              </a:r>
              <a:endParaRPr lang="zh-CN" altLang="en-US" dirty="0"/>
            </a:p>
          </p:txBody>
        </p:sp>
        <p:cxnSp>
          <p:nvCxnSpPr>
            <p:cNvPr id="53" name="直接箭头连接符 52">
              <a:extLst>
                <a:ext uri="{FF2B5EF4-FFF2-40B4-BE49-F238E27FC236}">
                  <a16:creationId xmlns:a16="http://schemas.microsoft.com/office/drawing/2014/main" id="{72932F39-70EF-4E6A-8140-FFFC0080D6F0}"/>
                </a:ext>
              </a:extLst>
            </p:cNvPr>
            <p:cNvCxnSpPr>
              <a:cxnSpLocks/>
            </p:cNvCxnSpPr>
            <p:nvPr/>
          </p:nvCxnSpPr>
          <p:spPr>
            <a:xfrm>
              <a:off x="4576460" y="2865114"/>
              <a:ext cx="1001716" cy="671512"/>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A24E2FA8-6FC9-48FA-A1F6-0226AC273F97}"/>
              </a:ext>
            </a:extLst>
          </p:cNvPr>
          <p:cNvGrpSpPr>
            <a:grpSpLocks/>
          </p:cNvGrpSpPr>
          <p:nvPr/>
        </p:nvGrpSpPr>
        <p:grpSpPr bwMode="auto">
          <a:xfrm>
            <a:off x="84138" y="954088"/>
            <a:ext cx="3344862" cy="1560512"/>
            <a:chOff x="183834" y="2447205"/>
            <a:chExt cx="3344441" cy="1560733"/>
          </a:xfrm>
        </p:grpSpPr>
        <p:sp>
          <p:nvSpPr>
            <p:cNvPr id="55" name="矩形 54">
              <a:extLst>
                <a:ext uri="{FF2B5EF4-FFF2-40B4-BE49-F238E27FC236}">
                  <a16:creationId xmlns:a16="http://schemas.microsoft.com/office/drawing/2014/main" id="{488A1A4E-4D45-47E4-80F0-B8DEE9E77913}"/>
                </a:ext>
              </a:extLst>
            </p:cNvPr>
            <p:cNvSpPr/>
            <p:nvPr/>
          </p:nvSpPr>
          <p:spPr>
            <a:xfrm>
              <a:off x="183834" y="2447205"/>
              <a:ext cx="3344441" cy="646204"/>
            </a:xfrm>
            <a:prstGeom prst="rect">
              <a:avLst/>
            </a:prstGeom>
            <a:ln>
              <a:solidFill>
                <a:srgbClr val="FF00FF"/>
              </a:solidFill>
            </a:ln>
          </p:spPr>
          <p:txBody>
            <a:bodyPr>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生产甲产品</a:t>
              </a:r>
              <a:r>
                <a:rPr lang="en-US" altLang="zh-CN" b="1" kern="0" dirty="0">
                  <a:solidFill>
                    <a:srgbClr val="FF00FF"/>
                  </a:solidFill>
                  <a:latin typeface="华文楷体" panose="02010600040101010101" pitchFamily="2" charset="-122"/>
                  <a:ea typeface="华文楷体" panose="02010600040101010101" pitchFamily="2" charset="-122"/>
                </a:rPr>
                <a:t>4</a:t>
              </a:r>
              <a:r>
                <a:rPr lang="zh-CN" altLang="en-US" b="1" kern="0" dirty="0">
                  <a:solidFill>
                    <a:srgbClr val="FF00FF"/>
                  </a:solidFill>
                  <a:latin typeface="华文楷体" panose="02010600040101010101" pitchFamily="2" charset="-122"/>
                  <a:ea typeface="华文楷体" panose="02010600040101010101" pitchFamily="2" charset="-122"/>
                </a:rPr>
                <a:t>单位，乙产品</a:t>
              </a:r>
              <a:r>
                <a:rPr lang="en-US" altLang="zh-CN" b="1" kern="0" dirty="0">
                  <a:solidFill>
                    <a:srgbClr val="FF00FF"/>
                  </a:solidFill>
                  <a:latin typeface="华文楷体" panose="02010600040101010101" pitchFamily="2" charset="-122"/>
                  <a:ea typeface="华文楷体" panose="02010600040101010101" pitchFamily="2" charset="-122"/>
                </a:rPr>
                <a:t>2</a:t>
              </a:r>
              <a:r>
                <a:rPr lang="zh-CN" altLang="en-US" b="1" kern="0" dirty="0">
                  <a:solidFill>
                    <a:srgbClr val="FF00FF"/>
                  </a:solidFill>
                  <a:latin typeface="华文楷体" panose="02010600040101010101" pitchFamily="2" charset="-122"/>
                  <a:ea typeface="华文楷体" panose="02010600040101010101" pitchFamily="2" charset="-122"/>
                </a:rPr>
                <a:t>单位，所需设备</a:t>
              </a:r>
              <a:r>
                <a:rPr lang="en-US" altLang="zh-CN" b="1" kern="0" dirty="0">
                  <a:solidFill>
                    <a:srgbClr val="FF00FF"/>
                  </a:solidFill>
                  <a:latin typeface="华文楷体" panose="02010600040101010101" pitchFamily="2" charset="-122"/>
                  <a:ea typeface="华文楷体" panose="02010600040101010101" pitchFamily="2" charset="-122"/>
                </a:rPr>
                <a:t>8</a:t>
              </a:r>
              <a:r>
                <a:rPr lang="zh-CN" altLang="en-US" b="1" kern="0" dirty="0">
                  <a:solidFill>
                    <a:srgbClr val="FF00FF"/>
                  </a:solidFill>
                  <a:latin typeface="华文楷体" panose="02010600040101010101" pitchFamily="2" charset="-122"/>
                  <a:ea typeface="华文楷体" panose="02010600040101010101" pitchFamily="2" charset="-122"/>
                </a:rPr>
                <a:t>台时已经饱和。</a:t>
              </a:r>
              <a:endParaRPr lang="zh-CN" altLang="en-US" dirty="0"/>
            </a:p>
          </p:txBody>
        </p:sp>
        <p:cxnSp>
          <p:nvCxnSpPr>
            <p:cNvPr id="56" name="直接箭头连接符 55">
              <a:extLst>
                <a:ext uri="{FF2B5EF4-FFF2-40B4-BE49-F238E27FC236}">
                  <a16:creationId xmlns:a16="http://schemas.microsoft.com/office/drawing/2014/main" id="{38A7DE76-90FE-49B9-AFB4-6647440B5816}"/>
                </a:ext>
              </a:extLst>
            </p:cNvPr>
            <p:cNvCxnSpPr>
              <a:cxnSpLocks/>
              <a:endCxn id="55" idx="2"/>
            </p:cNvCxnSpPr>
            <p:nvPr/>
          </p:nvCxnSpPr>
          <p:spPr>
            <a:xfrm flipH="1" flipV="1">
              <a:off x="1856848" y="3093409"/>
              <a:ext cx="299999" cy="914529"/>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F366789C-48B2-4908-BFEE-6049608224B3}"/>
              </a:ext>
            </a:extLst>
          </p:cNvPr>
          <p:cNvGrpSpPr>
            <a:grpSpLocks/>
          </p:cNvGrpSpPr>
          <p:nvPr/>
        </p:nvGrpSpPr>
        <p:grpSpPr bwMode="auto">
          <a:xfrm>
            <a:off x="533400" y="1644650"/>
            <a:ext cx="3448050" cy="2012950"/>
            <a:chOff x="533400" y="1644134"/>
            <a:chExt cx="3448839" cy="2013466"/>
          </a:xfrm>
        </p:grpSpPr>
        <p:sp>
          <p:nvSpPr>
            <p:cNvPr id="47" name="矩形 46">
              <a:extLst>
                <a:ext uri="{FF2B5EF4-FFF2-40B4-BE49-F238E27FC236}">
                  <a16:creationId xmlns:a16="http://schemas.microsoft.com/office/drawing/2014/main" id="{84D7CC5A-934D-44B6-AB03-ABC4BBB2A50F}"/>
                </a:ext>
              </a:extLst>
            </p:cNvPr>
            <p:cNvSpPr/>
            <p:nvPr/>
          </p:nvSpPr>
          <p:spPr>
            <a:xfrm>
              <a:off x="1143139" y="1644134"/>
              <a:ext cx="2839100" cy="369983"/>
            </a:xfrm>
            <a:prstGeom prst="rect">
              <a:avLst/>
            </a:prstGeom>
          </p:spPr>
          <p:txBody>
            <a:bodyPr wrap="none">
              <a:spAutoFit/>
            </a:bodyPr>
            <a:lstStyle/>
            <a:p>
              <a:pPr>
                <a:defRPr/>
              </a:pPr>
              <a:r>
                <a:rPr lang="zh-CN" altLang="en-US" b="1" kern="0" dirty="0">
                  <a:solidFill>
                    <a:srgbClr val="FF00FF"/>
                  </a:solidFill>
                  <a:latin typeface="华文楷体" panose="02010600040101010101" pitchFamily="2" charset="-122"/>
                  <a:ea typeface="华文楷体" panose="02010600040101010101" pitchFamily="2" charset="-122"/>
                </a:rPr>
                <a:t>各行的松弛</a:t>
              </a:r>
              <a:r>
                <a:rPr lang="en-US" altLang="zh-CN" b="1" kern="0" dirty="0">
                  <a:solidFill>
                    <a:srgbClr val="FF00FF"/>
                  </a:solidFill>
                  <a:latin typeface="华文楷体" panose="02010600040101010101" pitchFamily="2" charset="-122"/>
                  <a:ea typeface="华文楷体" panose="02010600040101010101" pitchFamily="2" charset="-122"/>
                </a:rPr>
                <a:t>/</a:t>
              </a:r>
              <a:r>
                <a:rPr lang="zh-CN" altLang="en-US" b="1" kern="0" dirty="0">
                  <a:solidFill>
                    <a:srgbClr val="FF00FF"/>
                  </a:solidFill>
                  <a:latin typeface="华文楷体" panose="02010600040101010101" pitchFamily="2" charset="-122"/>
                  <a:ea typeface="华文楷体" panose="02010600040101010101" pitchFamily="2" charset="-122"/>
                </a:rPr>
                <a:t>剩余变量取值</a:t>
              </a:r>
              <a:endParaRPr lang="zh-CN" altLang="en-US" dirty="0"/>
            </a:p>
          </p:txBody>
        </p:sp>
        <p:grpSp>
          <p:nvGrpSpPr>
            <p:cNvPr id="74770" name="组合 11">
              <a:extLst>
                <a:ext uri="{FF2B5EF4-FFF2-40B4-BE49-F238E27FC236}">
                  <a16:creationId xmlns:a16="http://schemas.microsoft.com/office/drawing/2014/main" id="{998B8EBF-E894-47D9-A7C8-4119E6BC3273}"/>
                </a:ext>
              </a:extLst>
            </p:cNvPr>
            <p:cNvGrpSpPr>
              <a:grpSpLocks/>
            </p:cNvGrpSpPr>
            <p:nvPr/>
          </p:nvGrpSpPr>
          <p:grpSpPr bwMode="auto">
            <a:xfrm>
              <a:off x="533400" y="2380967"/>
              <a:ext cx="487761" cy="1276633"/>
              <a:chOff x="533400" y="2380967"/>
              <a:chExt cx="487761" cy="1276633"/>
            </a:xfrm>
          </p:grpSpPr>
          <p:grpSp>
            <p:nvGrpSpPr>
              <p:cNvPr id="74771" name="组合 56">
                <a:extLst>
                  <a:ext uri="{FF2B5EF4-FFF2-40B4-BE49-F238E27FC236}">
                    <a16:creationId xmlns:a16="http://schemas.microsoft.com/office/drawing/2014/main" id="{93523DF6-0C55-4BA6-810F-AC24C42998DD}"/>
                  </a:ext>
                </a:extLst>
              </p:cNvPr>
              <p:cNvGrpSpPr>
                <a:grpSpLocks/>
              </p:cNvGrpSpPr>
              <p:nvPr/>
            </p:nvGrpSpPr>
            <p:grpSpPr bwMode="auto">
              <a:xfrm>
                <a:off x="547200" y="2380967"/>
                <a:ext cx="473961" cy="820957"/>
                <a:chOff x="646475" y="3874303"/>
                <a:chExt cx="473961" cy="820957"/>
              </a:xfrm>
            </p:grpSpPr>
            <p:sp>
              <p:nvSpPr>
                <p:cNvPr id="58" name="矩形 57">
                  <a:extLst>
                    <a:ext uri="{FF2B5EF4-FFF2-40B4-BE49-F238E27FC236}">
                      <a16:creationId xmlns:a16="http://schemas.microsoft.com/office/drawing/2014/main" id="{5B4582C1-58AD-4F3D-B299-0B6C648CE125}"/>
                    </a:ext>
                  </a:extLst>
                </p:cNvPr>
                <p:cNvSpPr/>
                <p:nvPr/>
              </p:nvSpPr>
              <p:spPr>
                <a:xfrm>
                  <a:off x="666020" y="3874259"/>
                  <a:ext cx="454129" cy="369983"/>
                </a:xfrm>
                <a:prstGeom prst="rect">
                  <a:avLst/>
                </a:prstGeom>
              </p:spPr>
              <p:txBody>
                <a:bodyPr wrap="none">
                  <a:spAutoFit/>
                </a:bodyPr>
                <a:lstStyle/>
                <a:p>
                  <a:pPr>
                    <a:defRPr/>
                  </a:pPr>
                  <a:r>
                    <a:rPr lang="en-US" altLang="zh-CN" b="1" kern="0" dirty="0">
                      <a:solidFill>
                        <a:srgbClr val="FF00FF"/>
                      </a:solidFill>
                      <a:latin typeface="华文楷体" panose="02010600040101010101" pitchFamily="2" charset="-122"/>
                      <a:ea typeface="华文楷体" panose="02010600040101010101" pitchFamily="2" charset="-122"/>
                    </a:rPr>
                    <a:t>X3</a:t>
                  </a:r>
                  <a:endParaRPr lang="zh-CN" altLang="en-US" dirty="0"/>
                </a:p>
              </p:txBody>
            </p:sp>
            <p:sp>
              <p:nvSpPr>
                <p:cNvPr id="62" name="矩形 61">
                  <a:extLst>
                    <a:ext uri="{FF2B5EF4-FFF2-40B4-BE49-F238E27FC236}">
                      <a16:creationId xmlns:a16="http://schemas.microsoft.com/office/drawing/2014/main" id="{607AE2FC-18E6-41A5-9ED7-E11E82157809}"/>
                    </a:ext>
                  </a:extLst>
                </p:cNvPr>
                <p:cNvSpPr/>
                <p:nvPr/>
              </p:nvSpPr>
              <p:spPr>
                <a:xfrm>
                  <a:off x="646966" y="4101330"/>
                  <a:ext cx="454129" cy="369982"/>
                </a:xfrm>
                <a:prstGeom prst="rect">
                  <a:avLst/>
                </a:prstGeom>
              </p:spPr>
              <p:txBody>
                <a:bodyPr wrap="none">
                  <a:spAutoFit/>
                </a:bodyPr>
                <a:lstStyle/>
                <a:p>
                  <a:pPr>
                    <a:defRPr/>
                  </a:pPr>
                  <a:r>
                    <a:rPr lang="en-US" altLang="zh-CN" b="1" kern="0" dirty="0">
                      <a:solidFill>
                        <a:srgbClr val="FF00FF"/>
                      </a:solidFill>
                      <a:latin typeface="华文楷体" panose="02010600040101010101" pitchFamily="2" charset="-122"/>
                      <a:ea typeface="华文楷体" panose="02010600040101010101" pitchFamily="2" charset="-122"/>
                    </a:rPr>
                    <a:t>X4</a:t>
                  </a:r>
                  <a:endParaRPr lang="zh-CN" altLang="en-US" dirty="0"/>
                </a:p>
              </p:txBody>
            </p:sp>
            <p:sp>
              <p:nvSpPr>
                <p:cNvPr id="63" name="矩形 62">
                  <a:extLst>
                    <a:ext uri="{FF2B5EF4-FFF2-40B4-BE49-F238E27FC236}">
                      <a16:creationId xmlns:a16="http://schemas.microsoft.com/office/drawing/2014/main" id="{EC5A01B9-01DE-4673-899F-3F3F262084D2}"/>
                    </a:ext>
                  </a:extLst>
                </p:cNvPr>
                <p:cNvSpPr/>
                <p:nvPr/>
              </p:nvSpPr>
              <p:spPr>
                <a:xfrm>
                  <a:off x="654905" y="4325224"/>
                  <a:ext cx="455718" cy="369983"/>
                </a:xfrm>
                <a:prstGeom prst="rect">
                  <a:avLst/>
                </a:prstGeom>
              </p:spPr>
              <p:txBody>
                <a:bodyPr wrap="none">
                  <a:spAutoFit/>
                </a:bodyPr>
                <a:lstStyle/>
                <a:p>
                  <a:pPr>
                    <a:defRPr/>
                  </a:pPr>
                  <a:r>
                    <a:rPr lang="en-US" altLang="zh-CN" b="1" kern="0" dirty="0">
                      <a:solidFill>
                        <a:srgbClr val="FF00FF"/>
                      </a:solidFill>
                      <a:latin typeface="华文楷体" panose="02010600040101010101" pitchFamily="2" charset="-122"/>
                      <a:ea typeface="华文楷体" panose="02010600040101010101" pitchFamily="2" charset="-122"/>
                    </a:rPr>
                    <a:t>X5</a:t>
                  </a:r>
                  <a:endParaRPr lang="zh-CN" altLang="en-US" dirty="0"/>
                </a:p>
              </p:txBody>
            </p:sp>
          </p:grpSp>
          <p:sp>
            <p:nvSpPr>
              <p:cNvPr id="65" name="矩形 64">
                <a:extLst>
                  <a:ext uri="{FF2B5EF4-FFF2-40B4-BE49-F238E27FC236}">
                    <a16:creationId xmlns:a16="http://schemas.microsoft.com/office/drawing/2014/main" id="{1BF2315F-A2FE-4FFB-B928-A3711A6905E0}"/>
                  </a:ext>
                </a:extLst>
              </p:cNvPr>
              <p:cNvSpPr/>
              <p:nvPr/>
            </p:nvSpPr>
            <p:spPr>
              <a:xfrm>
                <a:off x="533400" y="3047844"/>
                <a:ext cx="455718" cy="369983"/>
              </a:xfrm>
              <a:prstGeom prst="rect">
                <a:avLst/>
              </a:prstGeom>
            </p:spPr>
            <p:txBody>
              <a:bodyPr wrap="none">
                <a:spAutoFit/>
              </a:bodyPr>
              <a:lstStyle/>
              <a:p>
                <a:pPr>
                  <a:defRPr/>
                </a:pPr>
                <a:r>
                  <a:rPr lang="en-US" altLang="zh-CN" b="1" kern="0" dirty="0">
                    <a:solidFill>
                      <a:srgbClr val="FF00FF"/>
                    </a:solidFill>
                    <a:latin typeface="华文楷体" panose="02010600040101010101" pitchFamily="2" charset="-122"/>
                    <a:ea typeface="华文楷体" panose="02010600040101010101" pitchFamily="2" charset="-122"/>
                  </a:rPr>
                  <a:t>X1</a:t>
                </a:r>
                <a:endParaRPr lang="zh-CN" altLang="en-US" dirty="0"/>
              </a:p>
            </p:txBody>
          </p:sp>
          <p:sp>
            <p:nvSpPr>
              <p:cNvPr id="66" name="矩形 65">
                <a:extLst>
                  <a:ext uri="{FF2B5EF4-FFF2-40B4-BE49-F238E27FC236}">
                    <a16:creationId xmlns:a16="http://schemas.microsoft.com/office/drawing/2014/main" id="{7D09F8E3-A18F-48F1-A239-944673F5DE62}"/>
                  </a:ext>
                </a:extLst>
              </p:cNvPr>
              <p:cNvSpPr/>
              <p:nvPr/>
            </p:nvSpPr>
            <p:spPr>
              <a:xfrm>
                <a:off x="533400" y="3287618"/>
                <a:ext cx="455718" cy="369982"/>
              </a:xfrm>
              <a:prstGeom prst="rect">
                <a:avLst/>
              </a:prstGeom>
            </p:spPr>
            <p:txBody>
              <a:bodyPr wrap="none">
                <a:spAutoFit/>
              </a:bodyPr>
              <a:lstStyle/>
              <a:p>
                <a:pPr>
                  <a:defRPr/>
                </a:pPr>
                <a:r>
                  <a:rPr lang="en-US" altLang="zh-CN" b="1" kern="0" dirty="0">
                    <a:solidFill>
                      <a:srgbClr val="FF00FF"/>
                    </a:solidFill>
                    <a:latin typeface="华文楷体" panose="02010600040101010101" pitchFamily="2" charset="-122"/>
                    <a:ea typeface="华文楷体" panose="02010600040101010101" pitchFamily="2" charset="-122"/>
                  </a:rPr>
                  <a:t>X2</a:t>
                </a:r>
                <a:endParaRPr lang="zh-CN" altLang="en-US" dirty="0"/>
              </a:p>
            </p:txBody>
          </p:sp>
        </p:grpSp>
      </p:grpSp>
      <p:grpSp>
        <p:nvGrpSpPr>
          <p:cNvPr id="21" name="组合 20">
            <a:extLst>
              <a:ext uri="{FF2B5EF4-FFF2-40B4-BE49-F238E27FC236}">
                <a16:creationId xmlns:a16="http://schemas.microsoft.com/office/drawing/2014/main" id="{01D66F35-A8C9-4716-B3F7-8B9EFD752496}"/>
              </a:ext>
            </a:extLst>
          </p:cNvPr>
          <p:cNvGrpSpPr>
            <a:grpSpLocks/>
          </p:cNvGrpSpPr>
          <p:nvPr/>
        </p:nvGrpSpPr>
        <p:grpSpPr bwMode="auto">
          <a:xfrm>
            <a:off x="2514600" y="3698875"/>
            <a:ext cx="5029200" cy="3027363"/>
            <a:chOff x="2514600" y="3698874"/>
            <a:chExt cx="5029200" cy="3027201"/>
          </a:xfrm>
        </p:grpSpPr>
        <p:sp>
          <p:nvSpPr>
            <p:cNvPr id="68" name="椭圆 67">
              <a:extLst>
                <a:ext uri="{FF2B5EF4-FFF2-40B4-BE49-F238E27FC236}">
                  <a16:creationId xmlns:a16="http://schemas.microsoft.com/office/drawing/2014/main" id="{771A5170-6F07-4549-B2C2-9DE769A7DBB5}"/>
                </a:ext>
              </a:extLst>
            </p:cNvPr>
            <p:cNvSpPr/>
            <p:nvPr/>
          </p:nvSpPr>
          <p:spPr>
            <a:xfrm>
              <a:off x="2514600" y="6213339"/>
              <a:ext cx="5029200" cy="512736"/>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a:p>
          </p:txBody>
        </p:sp>
        <p:cxnSp>
          <p:nvCxnSpPr>
            <p:cNvPr id="69" name="直接箭头连接符 68">
              <a:extLst>
                <a:ext uri="{FF2B5EF4-FFF2-40B4-BE49-F238E27FC236}">
                  <a16:creationId xmlns:a16="http://schemas.microsoft.com/office/drawing/2014/main" id="{C9B3FC7C-B535-4430-97DC-4C74157018EC}"/>
                </a:ext>
              </a:extLst>
            </p:cNvPr>
            <p:cNvCxnSpPr>
              <a:cxnSpLocks/>
              <a:endCxn id="68" idx="0"/>
            </p:cNvCxnSpPr>
            <p:nvPr/>
          </p:nvCxnSpPr>
          <p:spPr>
            <a:xfrm>
              <a:off x="4156075" y="3698874"/>
              <a:ext cx="873125" cy="2514465"/>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randombar(horizontal)">
                                      <p:cBhvr>
                                        <p:cTn id="12" dur="500"/>
                                        <p:tgtEl>
                                          <p:spTgt spid="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randombar(horizontal)">
                                      <p:cBhvr>
                                        <p:cTn id="17" dur="500"/>
                                        <p:tgtEl>
                                          <p:spTgt spid="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randombar(horizontal)">
                                      <p:cBhvr>
                                        <p:cTn id="22" dur="500"/>
                                        <p:tgtEl>
                                          <p:spTgt spid="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randombar(horizontal)">
                                      <p:cBhvr>
                                        <p:cTn id="27" dur="500"/>
                                        <p:tgtEl>
                                          <p:spTgt spid="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randombar(horizontal)">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
            <a:extLst>
              <a:ext uri="{FF2B5EF4-FFF2-40B4-BE49-F238E27FC236}">
                <a16:creationId xmlns:a16="http://schemas.microsoft.com/office/drawing/2014/main" id="{943280A0-8370-41EC-80AB-061FC7F36E65}"/>
              </a:ext>
            </a:extLst>
          </p:cNvPr>
          <p:cNvSpPr>
            <a:spLocks noGrp="1" noChangeArrowheads="1"/>
          </p:cNvSpPr>
          <p:nvPr>
            <p:ph type="ctrTitle"/>
          </p:nvPr>
        </p:nvSpPr>
        <p:spPr/>
        <p:txBody>
          <a:bodyPr/>
          <a:lstStyle/>
          <a:p>
            <a:pPr eaLnBrk="1" hangingPunct="1"/>
            <a:r>
              <a:rPr lang="zh-CN" altLang="en-US"/>
              <a:t>第 </a:t>
            </a:r>
            <a:r>
              <a:rPr lang="en-US" altLang="zh-CN"/>
              <a:t>6 </a:t>
            </a:r>
            <a:r>
              <a:rPr lang="zh-CN" altLang="en-US"/>
              <a:t>节</a:t>
            </a:r>
          </a:p>
        </p:txBody>
      </p:sp>
      <p:sp>
        <p:nvSpPr>
          <p:cNvPr id="75779" name="Rectangle 5">
            <a:extLst>
              <a:ext uri="{FF2B5EF4-FFF2-40B4-BE49-F238E27FC236}">
                <a16:creationId xmlns:a16="http://schemas.microsoft.com/office/drawing/2014/main" id="{F2C2E0E5-9806-4083-B28F-DA177744B86F}"/>
              </a:ext>
            </a:extLst>
          </p:cNvPr>
          <p:cNvSpPr>
            <a:spLocks noGrp="1" noChangeArrowheads="1"/>
          </p:cNvSpPr>
          <p:nvPr>
            <p:ph type="subTitle" idx="1"/>
          </p:nvPr>
        </p:nvSpPr>
        <p:spPr/>
        <p:txBody>
          <a:bodyPr/>
          <a:lstStyle/>
          <a:p>
            <a:pPr eaLnBrk="1" hangingPunct="1"/>
            <a:r>
              <a:rPr lang="zh-CN" altLang="en-US"/>
              <a:t>对偶单纯形法</a:t>
            </a:r>
          </a:p>
        </p:txBody>
      </p:sp>
      <p:sp>
        <p:nvSpPr>
          <p:cNvPr id="4" name="矩形 3">
            <a:extLst>
              <a:ext uri="{FF2B5EF4-FFF2-40B4-BE49-F238E27FC236}">
                <a16:creationId xmlns:a16="http://schemas.microsoft.com/office/drawing/2014/main" id="{B78CF751-3DE1-4B5E-9982-51B7F7088561}"/>
              </a:ext>
            </a:extLst>
          </p:cNvPr>
          <p:cNvSpPr/>
          <p:nvPr/>
        </p:nvSpPr>
        <p:spPr>
          <a:xfrm>
            <a:off x="2019300" y="4572000"/>
            <a:ext cx="6477000" cy="1323975"/>
          </a:xfrm>
          <a:prstGeom prst="rect">
            <a:avLst/>
          </a:prstGeom>
          <a:ln>
            <a:solidFill>
              <a:srgbClr val="FF00FF"/>
            </a:solidFill>
          </a:ln>
        </p:spPr>
        <p:txBody>
          <a:bodyPr>
            <a:spAutoFit/>
          </a:bodyPr>
          <a:lstStyle/>
          <a:p>
            <a:pPr algn="just">
              <a:defRPr/>
            </a:pPr>
            <a:r>
              <a:rPr lang="zh-CN" altLang="en-US" sz="2000" dirty="0">
                <a:latin typeface="+mn-ea"/>
                <a:ea typeface="+mn-ea"/>
              </a:rPr>
              <a:t>对偶单纯形法是求解线性规划的另一种基本方法。它是根据对偶原理和单纯形法原理而设计出来的，因此称为</a:t>
            </a:r>
            <a:r>
              <a:rPr lang="zh-CN" altLang="en-US" sz="2000" dirty="0">
                <a:solidFill>
                  <a:srgbClr val="FF3300"/>
                </a:solidFill>
                <a:latin typeface="+mn-ea"/>
                <a:ea typeface="+mn-ea"/>
              </a:rPr>
              <a:t>对偶单纯形法</a:t>
            </a:r>
            <a:r>
              <a:rPr lang="zh-CN" altLang="en-US" sz="2000" dirty="0">
                <a:latin typeface="+mn-ea"/>
                <a:ea typeface="+mn-ea"/>
              </a:rPr>
              <a:t>。</a:t>
            </a:r>
            <a:r>
              <a:rPr lang="zh-CN" altLang="en-US" sz="2000" dirty="0">
                <a:highlight>
                  <a:srgbClr val="FFFF00"/>
                </a:highlight>
                <a:latin typeface="+mn-ea"/>
                <a:ea typeface="+mn-ea"/>
              </a:rPr>
              <a:t>不要简单理解为是求解对偶问题的单纯形法</a:t>
            </a:r>
            <a:r>
              <a:rPr lang="zh-CN" altLang="en-US" sz="2000" dirty="0">
                <a:latin typeface="+mn-ea"/>
                <a:ea typeface="+mn-ea"/>
              </a:rPr>
              <a:t>。</a:t>
            </a:r>
            <a:endParaRPr lang="en-US" altLang="zh-CN"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7004B183-1C3E-40F9-830C-57F1A5C09F9A}"/>
              </a:ext>
            </a:extLst>
          </p:cNvPr>
          <p:cNvSpPr>
            <a:spLocks noGrp="1" noChangeArrowheads="1"/>
          </p:cNvSpPr>
          <p:nvPr>
            <p:ph type="title"/>
          </p:nvPr>
        </p:nvSpPr>
        <p:spPr/>
        <p:txBody>
          <a:bodyPr/>
          <a:lstStyle/>
          <a:p>
            <a:pPr eaLnBrk="1" hangingPunct="1"/>
            <a:r>
              <a:rPr lang="zh-CN" altLang="en-US"/>
              <a:t>理论基础</a:t>
            </a:r>
          </a:p>
        </p:txBody>
      </p:sp>
      <p:sp>
        <p:nvSpPr>
          <p:cNvPr id="123907" name="Rectangle 3">
            <a:extLst>
              <a:ext uri="{FF2B5EF4-FFF2-40B4-BE49-F238E27FC236}">
                <a16:creationId xmlns:a16="http://schemas.microsoft.com/office/drawing/2014/main" id="{BEC9AC1B-80F4-4F02-840C-265667B649FD}"/>
              </a:ext>
            </a:extLst>
          </p:cNvPr>
          <p:cNvSpPr>
            <a:spLocks noGrp="1" noChangeArrowheads="1"/>
          </p:cNvSpPr>
          <p:nvPr>
            <p:ph type="body" idx="1"/>
          </p:nvPr>
        </p:nvSpPr>
        <p:spPr>
          <a:xfrm>
            <a:off x="457200" y="1143000"/>
            <a:ext cx="8229600" cy="4800600"/>
          </a:xfrm>
        </p:spPr>
        <p:txBody>
          <a:bodyPr/>
          <a:lstStyle/>
          <a:p>
            <a:pPr eaLnBrk="1" hangingPunct="1"/>
            <a:endParaRPr kumimoji="1" lang="en-US" altLang="zh-CN"/>
          </a:p>
          <a:p>
            <a:pPr algn="just" eaLnBrk="1" hangingPunct="1"/>
            <a:r>
              <a:rPr kumimoji="1" lang="zh-CN" altLang="en-US"/>
              <a:t>在单纯形表的解题的迭代过程中，</a:t>
            </a:r>
            <a:r>
              <a:rPr kumimoji="1" lang="en-US" altLang="zh-CN"/>
              <a:t>b</a:t>
            </a:r>
            <a:r>
              <a:rPr kumimoji="1" lang="zh-CN" altLang="en-US"/>
              <a:t>列得到的是原问题的</a:t>
            </a:r>
            <a:r>
              <a:rPr kumimoji="1" lang="zh-CN" altLang="en-US">
                <a:solidFill>
                  <a:srgbClr val="FF3300"/>
                </a:solidFill>
              </a:rPr>
              <a:t>基可行解</a:t>
            </a:r>
            <a:r>
              <a:rPr kumimoji="1" lang="zh-CN" altLang="en-US"/>
              <a:t>，而检验数行得到的是对偶问题的</a:t>
            </a:r>
            <a:r>
              <a:rPr kumimoji="1" lang="zh-CN" altLang="en-US">
                <a:solidFill>
                  <a:srgbClr val="FF3300"/>
                </a:solidFill>
              </a:rPr>
              <a:t>基解</a:t>
            </a:r>
            <a:r>
              <a:rPr kumimoji="1" lang="zh-CN" altLang="en-US"/>
              <a:t>。（性质</a:t>
            </a:r>
            <a:r>
              <a:rPr kumimoji="1" lang="en-US" altLang="zh-CN"/>
              <a:t>7</a:t>
            </a:r>
            <a:r>
              <a:rPr kumimoji="1" lang="zh-CN" altLang="en-US"/>
              <a:t>：互补的基解）</a:t>
            </a:r>
          </a:p>
          <a:p>
            <a:pPr eaLnBrk="1" hangingPunct="1"/>
            <a:r>
              <a:rPr kumimoji="1" lang="zh-CN" altLang="en-US"/>
              <a:t>若</a:t>
            </a:r>
            <a:r>
              <a:rPr kumimoji="1" lang="en-US" altLang="zh-CN"/>
              <a:t>Y=</a:t>
            </a:r>
            <a:r>
              <a:rPr kumimoji="1" lang="en-US" altLang="zh-CN" b="0">
                <a:latin typeface="Times New Roman" panose="02020603050405020304" pitchFamily="18" charset="0"/>
              </a:rPr>
              <a:t> </a:t>
            </a:r>
            <a:r>
              <a:rPr kumimoji="1" lang="en-US" altLang="zh-CN">
                <a:latin typeface="Times New Roman" panose="02020603050405020304" pitchFamily="18" charset="0"/>
              </a:rPr>
              <a:t>C</a:t>
            </a:r>
            <a:r>
              <a:rPr kumimoji="1" lang="en-US" altLang="zh-CN" baseline="-25000">
                <a:latin typeface="Times New Roman" panose="02020603050405020304" pitchFamily="18" charset="0"/>
              </a:rPr>
              <a:t>B</a:t>
            </a:r>
            <a:r>
              <a:rPr kumimoji="1" lang="en-US" altLang="zh-CN">
                <a:latin typeface="Times New Roman" panose="02020603050405020304" pitchFamily="18" charset="0"/>
              </a:rPr>
              <a:t>B</a:t>
            </a:r>
            <a:r>
              <a:rPr kumimoji="1" lang="en-US" altLang="zh-CN" baseline="30000">
                <a:latin typeface="Times New Roman" panose="02020603050405020304" pitchFamily="18" charset="0"/>
              </a:rPr>
              <a:t>-1 </a:t>
            </a:r>
            <a:r>
              <a:rPr kumimoji="1" lang="zh-CN" altLang="en-US">
                <a:latin typeface="Times New Roman" panose="02020603050405020304" pitchFamily="18" charset="0"/>
              </a:rPr>
              <a:t>，则</a:t>
            </a:r>
            <a:r>
              <a:rPr kumimoji="1" lang="en-US" altLang="zh-CN">
                <a:latin typeface="Times New Roman" panose="02020603050405020304" pitchFamily="18" charset="0"/>
              </a:rPr>
              <a:t>σ=C- C</a:t>
            </a:r>
            <a:r>
              <a:rPr kumimoji="1" lang="en-US" altLang="zh-CN" baseline="-25000">
                <a:latin typeface="Times New Roman" panose="02020603050405020304" pitchFamily="18" charset="0"/>
              </a:rPr>
              <a:t>B</a:t>
            </a:r>
            <a:r>
              <a:rPr kumimoji="1" lang="en-US" altLang="zh-CN">
                <a:latin typeface="Times New Roman" panose="02020603050405020304" pitchFamily="18" charset="0"/>
              </a:rPr>
              <a:t>B</a:t>
            </a:r>
            <a:r>
              <a:rPr kumimoji="1" lang="en-US" altLang="zh-CN" baseline="30000">
                <a:latin typeface="Times New Roman" panose="02020603050405020304" pitchFamily="18" charset="0"/>
              </a:rPr>
              <a:t>-1</a:t>
            </a:r>
            <a:r>
              <a:rPr kumimoji="1" lang="en-US" altLang="zh-CN">
                <a:latin typeface="Times New Roman" panose="02020603050405020304" pitchFamily="18" charset="0"/>
              </a:rPr>
              <a:t>A</a:t>
            </a:r>
            <a:r>
              <a:rPr kumimoji="1" lang="en-US" altLang="en-US"/>
              <a:t>≤</a:t>
            </a:r>
            <a:r>
              <a:rPr kumimoji="1" lang="en-US" altLang="zh-CN">
                <a:latin typeface="Times New Roman" panose="02020603050405020304" pitchFamily="18" charset="0"/>
              </a:rPr>
              <a:t>0 </a:t>
            </a:r>
            <a:r>
              <a:rPr kumimoji="1" lang="zh-CN" altLang="en-US">
                <a:latin typeface="Times New Roman" panose="02020603050405020304" pitchFamily="18" charset="0"/>
              </a:rPr>
              <a:t>即</a:t>
            </a:r>
            <a:r>
              <a:rPr kumimoji="1" lang="en-US" altLang="zh-CN">
                <a:latin typeface="Times New Roman" panose="02020603050405020304" pitchFamily="18" charset="0"/>
              </a:rPr>
              <a:t>C</a:t>
            </a:r>
            <a:r>
              <a:rPr kumimoji="1" lang="en-US" altLang="zh-CN" b="0">
                <a:latin typeface="Times New Roman" panose="02020603050405020304" pitchFamily="18" charset="0"/>
              </a:rPr>
              <a:t> </a:t>
            </a:r>
            <a:r>
              <a:rPr kumimoji="1" lang="en-US" altLang="zh-CN">
                <a:latin typeface="Times New Roman" panose="02020603050405020304" pitchFamily="18" charset="0"/>
              </a:rPr>
              <a:t>- YA</a:t>
            </a:r>
            <a:r>
              <a:rPr kumimoji="1" lang="en-US" altLang="en-US"/>
              <a:t>≤</a:t>
            </a:r>
            <a:r>
              <a:rPr kumimoji="1" lang="en-US" altLang="zh-CN">
                <a:latin typeface="Times New Roman" panose="02020603050405020304" pitchFamily="18" charset="0"/>
              </a:rPr>
              <a:t>0</a:t>
            </a:r>
            <a:r>
              <a:rPr kumimoji="1" lang="zh-CN" altLang="en-US">
                <a:latin typeface="Times New Roman" panose="02020603050405020304" pitchFamily="18" charset="0"/>
              </a:rPr>
              <a:t> ，</a:t>
            </a:r>
            <a:r>
              <a:rPr kumimoji="1" lang="zh-CN" altLang="en-US"/>
              <a:t>则从检验数行也得到了对偶问题</a:t>
            </a:r>
            <a:r>
              <a:rPr kumimoji="1" lang="zh-CN" altLang="en-US">
                <a:solidFill>
                  <a:srgbClr val="FF0000"/>
                </a:solidFill>
              </a:rPr>
              <a:t>基可行解</a:t>
            </a:r>
            <a:r>
              <a:rPr kumimoji="1" lang="zh-CN" altLang="en-US"/>
              <a:t>，根据对偶问题</a:t>
            </a:r>
            <a:r>
              <a:rPr lang="zh-CN" altLang="en-US">
                <a:solidFill>
                  <a:srgbClr val="FF0000"/>
                </a:solidFill>
              </a:rPr>
              <a:t>最优性定理</a:t>
            </a:r>
            <a:r>
              <a:rPr kumimoji="1" lang="zh-CN" altLang="en-US"/>
              <a:t>，已得到最优解，即原问题和对偶问题都是最优解。（性质</a:t>
            </a:r>
            <a:r>
              <a:rPr kumimoji="1" lang="en-US" altLang="zh-CN"/>
              <a:t>4</a:t>
            </a:r>
            <a:r>
              <a:rPr kumimoji="1" lang="zh-CN" altLang="en-US"/>
              <a:t>：最优性定理）</a:t>
            </a:r>
          </a:p>
          <a:p>
            <a:pPr eaLnBrk="1" hangingPunct="1"/>
            <a:endParaRPr kumimoji="1" lang="zh-CN" altLang="en-US"/>
          </a:p>
          <a:p>
            <a:pPr eaLnBrk="1" hangingPunct="1"/>
            <a:endParaRPr kumimoji="1" lang="en-US" altLang="zh-CN"/>
          </a:p>
        </p:txBody>
      </p:sp>
      <p:graphicFrame>
        <p:nvGraphicFramePr>
          <p:cNvPr id="9" name="Group 57">
            <a:extLst>
              <a:ext uri="{FF2B5EF4-FFF2-40B4-BE49-F238E27FC236}">
                <a16:creationId xmlns:a16="http://schemas.microsoft.com/office/drawing/2014/main" id="{AF26902B-8D0B-4FCA-AF40-47C0BC93655A}"/>
              </a:ext>
            </a:extLst>
          </p:cNvPr>
          <p:cNvGraphicFramePr>
            <a:graphicFrameLocks/>
          </p:cNvGraphicFramePr>
          <p:nvPr/>
        </p:nvGraphicFramePr>
        <p:xfrm>
          <a:off x="914400" y="188913"/>
          <a:ext cx="7086600" cy="1335088"/>
        </p:xfrm>
        <a:graphic>
          <a:graphicData uri="http://schemas.openxmlformats.org/drawingml/2006/table">
            <a:tbl>
              <a:tblPr/>
              <a:tblGrid>
                <a:gridCol w="144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457200">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原问题</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N</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r>
                        <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s</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r h="439738">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检验数</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N </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C</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1"/>
                  </a:ext>
                </a:extLst>
              </a:tr>
              <a:tr h="438150">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对偶问题</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s1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a:t>
                      </a:r>
                      <a:r>
                        <a:rPr kumimoji="0" lang="en-US" altLang="zh-CN" sz="20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s2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a:t>
                      </a:r>
                      <a:endParaRPr kumimoji="0"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bl>
          </a:graphicData>
        </a:graphic>
      </p:graphicFrame>
      <p:grpSp>
        <p:nvGrpSpPr>
          <p:cNvPr id="6" name="组合 5">
            <a:extLst>
              <a:ext uri="{FF2B5EF4-FFF2-40B4-BE49-F238E27FC236}">
                <a16:creationId xmlns:a16="http://schemas.microsoft.com/office/drawing/2014/main" id="{E300D064-441C-41C8-ADA7-2C70020406DC}"/>
              </a:ext>
            </a:extLst>
          </p:cNvPr>
          <p:cNvGrpSpPr/>
          <p:nvPr/>
        </p:nvGrpSpPr>
        <p:grpSpPr>
          <a:xfrm>
            <a:off x="457200" y="4876800"/>
            <a:ext cx="8229600" cy="1447800"/>
            <a:chOff x="457200" y="4876800"/>
            <a:chExt cx="8229600" cy="1447800"/>
          </a:xfrm>
          <a:solidFill>
            <a:srgbClr val="FFC000"/>
          </a:solidFill>
        </p:grpSpPr>
        <p:sp>
          <p:nvSpPr>
            <p:cNvPr id="11" name="Rectangle 3">
              <a:extLst>
                <a:ext uri="{FF2B5EF4-FFF2-40B4-BE49-F238E27FC236}">
                  <a16:creationId xmlns:a16="http://schemas.microsoft.com/office/drawing/2014/main" id="{A7B4970B-7913-496A-864C-C88E2C89484E}"/>
                </a:ext>
              </a:extLst>
            </p:cNvPr>
            <p:cNvSpPr txBox="1">
              <a:spLocks noChangeArrowheads="1"/>
            </p:cNvSpPr>
            <p:nvPr/>
          </p:nvSpPr>
          <p:spPr bwMode="auto">
            <a:xfrm>
              <a:off x="457200" y="4876800"/>
              <a:ext cx="8229600" cy="1447800"/>
            </a:xfrm>
            <a:prstGeom prst="rect">
              <a:avLst/>
            </a:prstGeom>
            <a:grp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533400" indent="-533400" eaLnBrk="1" hangingPunct="1">
                <a:buFont typeface="Wingdings" panose="05000000000000000000" pitchFamily="2" charset="2"/>
                <a:buNone/>
                <a:defRPr/>
              </a:pPr>
              <a:r>
                <a:rPr lang="en-US" altLang="zh-CN" sz="2400" kern="0" dirty="0">
                  <a:latin typeface="Times New Roman" panose="02020603050405020304" pitchFamily="18" charset="0"/>
                </a:rPr>
                <a:t>4.    </a:t>
              </a:r>
              <a:r>
                <a:rPr lang="zh-CN" altLang="en-US" sz="2400" kern="0" dirty="0">
                  <a:solidFill>
                    <a:srgbClr val="FF0000"/>
                  </a:solidFill>
                </a:rPr>
                <a:t>最优性定理</a:t>
              </a:r>
              <a:r>
                <a:rPr lang="zh-CN" altLang="en-US" sz="2400" kern="0" dirty="0"/>
                <a:t>：（</a:t>
              </a:r>
              <a:r>
                <a:rPr lang="zh-CN" altLang="en-US" sz="2400" kern="0" dirty="0">
                  <a:latin typeface="Times New Roman" panose="02020603050405020304" pitchFamily="18" charset="0"/>
                </a:rPr>
                <a:t>可行解是最优解时的性质）设   是原问题的可行解，  是对偶问题的可行解，当             时，     </a:t>
              </a:r>
              <a:endParaRPr lang="en-US" altLang="zh-CN" sz="2400" kern="0" dirty="0">
                <a:latin typeface="Times New Roman" panose="02020603050405020304" pitchFamily="18" charset="0"/>
              </a:endParaRPr>
            </a:p>
            <a:p>
              <a:pPr marL="533400" indent="-533400" eaLnBrk="1" hangingPunct="1">
                <a:buFont typeface="Wingdings" panose="05000000000000000000" pitchFamily="2" charset="2"/>
                <a:buNone/>
                <a:defRPr/>
              </a:pPr>
              <a:r>
                <a:rPr lang="zh-CN" altLang="en-US" sz="2400" kern="0" dirty="0">
                  <a:latin typeface="Times New Roman" panose="02020603050405020304" pitchFamily="18" charset="0"/>
                </a:rPr>
                <a:t>           </a:t>
              </a:r>
              <a:r>
                <a:rPr lang="en-US" altLang="zh-CN" sz="2400" kern="0" dirty="0">
                  <a:latin typeface="Times New Roman" panose="02020603050405020304" pitchFamily="18" charset="0"/>
                </a:rPr>
                <a:t>,</a:t>
              </a:r>
              <a:r>
                <a:rPr lang="zh-CN" altLang="en-US" sz="2400" kern="0" dirty="0">
                  <a:latin typeface="Times New Roman" panose="02020603050405020304" pitchFamily="18" charset="0"/>
                </a:rPr>
                <a:t>    是最优解（最优解一般记为</a:t>
              </a:r>
              <a:r>
                <a:rPr lang="en-US" altLang="zh-CN" sz="2400" kern="0" dirty="0">
                  <a:latin typeface="Times New Roman" panose="02020603050405020304" pitchFamily="18" charset="0"/>
                </a:rPr>
                <a:t>X</a:t>
              </a:r>
              <a:r>
                <a:rPr lang="zh-CN" altLang="en-US" sz="2400" kern="0" baseline="30000" dirty="0">
                  <a:latin typeface="Times New Roman" panose="02020603050405020304" pitchFamily="18" charset="0"/>
                </a:rPr>
                <a:t>*</a:t>
              </a:r>
              <a:r>
                <a:rPr lang="zh-CN" altLang="en-US" sz="2400" kern="0" dirty="0">
                  <a:latin typeface="Times New Roman" panose="02020603050405020304" pitchFamily="18" charset="0"/>
                </a:rPr>
                <a:t>，</a:t>
              </a:r>
              <a:r>
                <a:rPr lang="en-US" altLang="zh-CN" sz="2400" kern="0" dirty="0">
                  <a:latin typeface="Times New Roman" panose="02020603050405020304" pitchFamily="18" charset="0"/>
                </a:rPr>
                <a:t>Y</a:t>
              </a:r>
              <a:r>
                <a:rPr lang="zh-CN" altLang="en-US" sz="2400" kern="0" baseline="30000" dirty="0">
                  <a:latin typeface="Times New Roman" panose="02020603050405020304" pitchFamily="18" charset="0"/>
                </a:rPr>
                <a:t>*</a:t>
              </a:r>
              <a:r>
                <a:rPr lang="zh-CN" altLang="en-US" sz="2400" kern="0" dirty="0">
                  <a:latin typeface="Times New Roman" panose="02020603050405020304" pitchFamily="18" charset="0"/>
                </a:rPr>
                <a:t>） （</a:t>
              </a:r>
              <a:r>
                <a:rPr lang="en-US" altLang="zh-CN" sz="2400" kern="0" dirty="0">
                  <a:latin typeface="Times New Roman" panose="02020603050405020304" pitchFamily="18" charset="0"/>
                </a:rPr>
                <a:t>P69</a:t>
              </a:r>
              <a:r>
                <a:rPr lang="zh-CN" altLang="en-US" sz="2400" kern="0" dirty="0">
                  <a:latin typeface="Times New Roman" panose="02020603050405020304" pitchFamily="18" charset="0"/>
                </a:rPr>
                <a:t>）</a:t>
              </a:r>
            </a:p>
          </p:txBody>
        </p:sp>
        <p:grpSp>
          <p:nvGrpSpPr>
            <p:cNvPr id="12" name="组合 11">
              <a:extLst>
                <a:ext uri="{FF2B5EF4-FFF2-40B4-BE49-F238E27FC236}">
                  <a16:creationId xmlns:a16="http://schemas.microsoft.com/office/drawing/2014/main" id="{256E5FA8-E177-4ADF-B440-90429024F523}"/>
                </a:ext>
              </a:extLst>
            </p:cNvPr>
            <p:cNvGrpSpPr/>
            <p:nvPr/>
          </p:nvGrpSpPr>
          <p:grpSpPr>
            <a:xfrm>
              <a:off x="1066800" y="4876800"/>
              <a:ext cx="6408738" cy="1219200"/>
              <a:chOff x="1066800" y="1352412"/>
              <a:chExt cx="6408738" cy="1219200"/>
            </a:xfrm>
            <a:grpFill/>
          </p:grpSpPr>
          <p:graphicFrame>
            <p:nvGraphicFramePr>
              <p:cNvPr id="13" name="对象 12">
                <a:extLst>
                  <a:ext uri="{FF2B5EF4-FFF2-40B4-BE49-F238E27FC236}">
                    <a16:creationId xmlns:a16="http://schemas.microsoft.com/office/drawing/2014/main" id="{E3E13E4B-B6FE-42F2-A222-72525A16ADC8}"/>
                  </a:ext>
                </a:extLst>
              </p:cNvPr>
              <p:cNvGraphicFramePr>
                <a:graphicFrameLocks noChangeAspect="1"/>
              </p:cNvGraphicFramePr>
              <p:nvPr/>
            </p:nvGraphicFramePr>
            <p:xfrm>
              <a:off x="7162800" y="1352412"/>
              <a:ext cx="312738" cy="376238"/>
            </p:xfrm>
            <a:graphic>
              <a:graphicData uri="http://schemas.openxmlformats.org/presentationml/2006/ole">
                <mc:AlternateContent xmlns:mc="http://schemas.openxmlformats.org/markup-compatibility/2006">
                  <mc:Choice xmlns:v="urn:schemas-microsoft-com:vml" Requires="v">
                    <p:oleObj spid="_x0000_s77060" name="Equation" r:id="rId3" imgW="126720" imgH="152280" progId="Equation.DSMT4">
                      <p:embed/>
                    </p:oleObj>
                  </mc:Choice>
                  <mc:Fallback>
                    <p:oleObj name="Equation" r:id="rId3" imgW="126720" imgH="152280" progId="Equation.DSMT4">
                      <p:embed/>
                      <p:pic>
                        <p:nvPicPr>
                          <p:cNvPr id="13" name="对象 12">
                            <a:extLst>
                              <a:ext uri="{FF2B5EF4-FFF2-40B4-BE49-F238E27FC236}">
                                <a16:creationId xmlns:a16="http://schemas.microsoft.com/office/drawing/2014/main" id="{E3E13E4B-B6FE-42F2-A222-72525A16ADC8}"/>
                              </a:ext>
                            </a:extLst>
                          </p:cNvPr>
                          <p:cNvPicPr>
                            <a:picLocks noChangeAspect="1" noChangeArrowheads="1"/>
                          </p:cNvPicPr>
                          <p:nvPr/>
                        </p:nvPicPr>
                        <p:blipFill>
                          <a:blip r:embed="rId4"/>
                          <a:srcRect/>
                          <a:stretch>
                            <a:fillRect/>
                          </a:stretch>
                        </p:blipFill>
                        <p:spPr bwMode="auto">
                          <a:xfrm>
                            <a:off x="7162800" y="1352412"/>
                            <a:ext cx="312738" cy="376238"/>
                          </a:xfrm>
                          <a:prstGeom prst="rect">
                            <a:avLst/>
                          </a:prstGeom>
                          <a:noFill/>
                          <a:ln>
                            <a:noFill/>
                          </a:ln>
                        </p:spPr>
                      </p:pic>
                    </p:oleObj>
                  </mc:Fallback>
                </mc:AlternateContent>
              </a:graphicData>
            </a:graphic>
          </p:graphicFrame>
          <p:graphicFrame>
            <p:nvGraphicFramePr>
              <p:cNvPr id="14" name="对象 13">
                <a:extLst>
                  <a:ext uri="{FF2B5EF4-FFF2-40B4-BE49-F238E27FC236}">
                    <a16:creationId xmlns:a16="http://schemas.microsoft.com/office/drawing/2014/main" id="{7289CECE-28BA-4B90-9D5F-B3155ED479DD}"/>
                  </a:ext>
                </a:extLst>
              </p:cNvPr>
              <p:cNvGraphicFramePr>
                <a:graphicFrameLocks noChangeAspect="1"/>
              </p:cNvGraphicFramePr>
              <p:nvPr/>
            </p:nvGraphicFramePr>
            <p:xfrm>
              <a:off x="2763741" y="1733412"/>
              <a:ext cx="312738" cy="376237"/>
            </p:xfrm>
            <a:graphic>
              <a:graphicData uri="http://schemas.openxmlformats.org/presentationml/2006/ole">
                <mc:AlternateContent xmlns:mc="http://schemas.openxmlformats.org/markup-compatibility/2006">
                  <mc:Choice xmlns:v="urn:schemas-microsoft-com:vml" Requires="v">
                    <p:oleObj spid="_x0000_s77061" name="Equation" r:id="rId5" imgW="126720" imgH="152280" progId="Equation.DSMT4">
                      <p:embed/>
                    </p:oleObj>
                  </mc:Choice>
                  <mc:Fallback>
                    <p:oleObj name="Equation" r:id="rId5" imgW="126720" imgH="152280" progId="Equation.DSMT4">
                      <p:embed/>
                      <p:pic>
                        <p:nvPicPr>
                          <p:cNvPr id="14" name="对象 13">
                            <a:extLst>
                              <a:ext uri="{FF2B5EF4-FFF2-40B4-BE49-F238E27FC236}">
                                <a16:creationId xmlns:a16="http://schemas.microsoft.com/office/drawing/2014/main" id="{7289CECE-28BA-4B90-9D5F-B3155ED479DD}"/>
                              </a:ext>
                            </a:extLst>
                          </p:cNvPr>
                          <p:cNvPicPr>
                            <a:picLocks noChangeAspect="1" noChangeArrowheads="1"/>
                          </p:cNvPicPr>
                          <p:nvPr/>
                        </p:nvPicPr>
                        <p:blipFill>
                          <a:blip r:embed="rId6"/>
                          <a:srcRect/>
                          <a:stretch>
                            <a:fillRect/>
                          </a:stretch>
                        </p:blipFill>
                        <p:spPr bwMode="auto">
                          <a:xfrm>
                            <a:off x="2763741" y="1733412"/>
                            <a:ext cx="312738" cy="376237"/>
                          </a:xfrm>
                          <a:prstGeom prst="rect">
                            <a:avLst/>
                          </a:prstGeom>
                          <a:noFill/>
                          <a:ln>
                            <a:noFill/>
                          </a:ln>
                        </p:spPr>
                      </p:pic>
                    </p:oleObj>
                  </mc:Fallback>
                </mc:AlternateContent>
              </a:graphicData>
            </a:graphic>
          </p:graphicFrame>
          <p:graphicFrame>
            <p:nvGraphicFramePr>
              <p:cNvPr id="15" name="对象 14">
                <a:extLst>
                  <a:ext uri="{FF2B5EF4-FFF2-40B4-BE49-F238E27FC236}">
                    <a16:creationId xmlns:a16="http://schemas.microsoft.com/office/drawing/2014/main" id="{1FB62537-9A47-48BA-B5B1-747A826ADEEF}"/>
                  </a:ext>
                </a:extLst>
              </p:cNvPr>
              <p:cNvGraphicFramePr>
                <a:graphicFrameLocks noChangeAspect="1"/>
              </p:cNvGraphicFramePr>
              <p:nvPr/>
            </p:nvGraphicFramePr>
            <p:xfrm>
              <a:off x="6477000" y="1733412"/>
              <a:ext cx="938212" cy="407988"/>
            </p:xfrm>
            <a:graphic>
              <a:graphicData uri="http://schemas.openxmlformats.org/presentationml/2006/ole">
                <mc:AlternateContent xmlns:mc="http://schemas.openxmlformats.org/markup-compatibility/2006">
                  <mc:Choice xmlns:v="urn:schemas-microsoft-com:vml" Requires="v">
                    <p:oleObj spid="_x0000_s77062" name="Equation" r:id="rId7" imgW="380880" imgH="164880" progId="Equation.DSMT4">
                      <p:embed/>
                    </p:oleObj>
                  </mc:Choice>
                  <mc:Fallback>
                    <p:oleObj name="Equation" r:id="rId7" imgW="380880" imgH="164880" progId="Equation.DSMT4">
                      <p:embed/>
                      <p:pic>
                        <p:nvPicPr>
                          <p:cNvPr id="15" name="对象 14">
                            <a:extLst>
                              <a:ext uri="{FF2B5EF4-FFF2-40B4-BE49-F238E27FC236}">
                                <a16:creationId xmlns:a16="http://schemas.microsoft.com/office/drawing/2014/main" id="{1FB62537-9A47-48BA-B5B1-747A826ADEEF}"/>
                              </a:ext>
                            </a:extLst>
                          </p:cNvPr>
                          <p:cNvPicPr>
                            <a:picLocks noChangeAspect="1" noChangeArrowheads="1"/>
                          </p:cNvPicPr>
                          <p:nvPr/>
                        </p:nvPicPr>
                        <p:blipFill>
                          <a:blip r:embed="rId8"/>
                          <a:srcRect/>
                          <a:stretch>
                            <a:fillRect/>
                          </a:stretch>
                        </p:blipFill>
                        <p:spPr bwMode="auto">
                          <a:xfrm>
                            <a:off x="6477000" y="1733412"/>
                            <a:ext cx="938212" cy="407988"/>
                          </a:xfrm>
                          <a:prstGeom prst="rect">
                            <a:avLst/>
                          </a:prstGeom>
                          <a:noFill/>
                          <a:ln>
                            <a:noFill/>
                          </a:ln>
                        </p:spPr>
                      </p:pic>
                    </p:oleObj>
                  </mc:Fallback>
                </mc:AlternateContent>
              </a:graphicData>
            </a:graphic>
          </p:graphicFrame>
          <p:graphicFrame>
            <p:nvGraphicFramePr>
              <p:cNvPr id="16" name="对象 15">
                <a:extLst>
                  <a:ext uri="{FF2B5EF4-FFF2-40B4-BE49-F238E27FC236}">
                    <a16:creationId xmlns:a16="http://schemas.microsoft.com/office/drawing/2014/main" id="{58D11272-147A-45B7-A092-47E67577E999}"/>
                  </a:ext>
                </a:extLst>
              </p:cNvPr>
              <p:cNvGraphicFramePr>
                <a:graphicFrameLocks noChangeAspect="1"/>
              </p:cNvGraphicFramePr>
              <p:nvPr/>
            </p:nvGraphicFramePr>
            <p:xfrm>
              <a:off x="1066800" y="2190612"/>
              <a:ext cx="312738" cy="376238"/>
            </p:xfrm>
            <a:graphic>
              <a:graphicData uri="http://schemas.openxmlformats.org/presentationml/2006/ole">
                <mc:AlternateContent xmlns:mc="http://schemas.openxmlformats.org/markup-compatibility/2006">
                  <mc:Choice xmlns:v="urn:schemas-microsoft-com:vml" Requires="v">
                    <p:oleObj spid="_x0000_s77063" name="Equation" r:id="rId9" imgW="126720" imgH="152280" progId="Equation.DSMT4">
                      <p:embed/>
                    </p:oleObj>
                  </mc:Choice>
                  <mc:Fallback>
                    <p:oleObj name="Equation" r:id="rId9" imgW="126720" imgH="152280" progId="Equation.DSMT4">
                      <p:embed/>
                      <p:pic>
                        <p:nvPicPr>
                          <p:cNvPr id="16" name="对象 15">
                            <a:extLst>
                              <a:ext uri="{FF2B5EF4-FFF2-40B4-BE49-F238E27FC236}">
                                <a16:creationId xmlns:a16="http://schemas.microsoft.com/office/drawing/2014/main" id="{58D11272-147A-45B7-A092-47E67577E999}"/>
                              </a:ext>
                            </a:extLst>
                          </p:cNvPr>
                          <p:cNvPicPr>
                            <a:picLocks noChangeAspect="1" noChangeArrowheads="1"/>
                          </p:cNvPicPr>
                          <p:nvPr/>
                        </p:nvPicPr>
                        <p:blipFill>
                          <a:blip r:embed="rId4"/>
                          <a:srcRect/>
                          <a:stretch>
                            <a:fillRect/>
                          </a:stretch>
                        </p:blipFill>
                        <p:spPr bwMode="auto">
                          <a:xfrm>
                            <a:off x="1066800" y="2190612"/>
                            <a:ext cx="312738" cy="376238"/>
                          </a:xfrm>
                          <a:prstGeom prst="rect">
                            <a:avLst/>
                          </a:prstGeom>
                          <a:solidFill>
                            <a:srgbClr val="FFC000"/>
                          </a:solidFill>
                          <a:ln>
                            <a:noFill/>
                          </a:ln>
                        </p:spPr>
                      </p:pic>
                    </p:oleObj>
                  </mc:Fallback>
                </mc:AlternateContent>
              </a:graphicData>
            </a:graphic>
          </p:graphicFrame>
          <p:graphicFrame>
            <p:nvGraphicFramePr>
              <p:cNvPr id="17" name="对象 16">
                <a:extLst>
                  <a:ext uri="{FF2B5EF4-FFF2-40B4-BE49-F238E27FC236}">
                    <a16:creationId xmlns:a16="http://schemas.microsoft.com/office/drawing/2014/main" id="{9FE54917-95D1-46EA-8CE8-E31663C9262F}"/>
                  </a:ext>
                </a:extLst>
              </p:cNvPr>
              <p:cNvGraphicFramePr>
                <a:graphicFrameLocks noChangeAspect="1"/>
              </p:cNvGraphicFramePr>
              <p:nvPr/>
            </p:nvGraphicFramePr>
            <p:xfrm>
              <a:off x="1447800" y="2195375"/>
              <a:ext cx="312738" cy="376237"/>
            </p:xfrm>
            <a:graphic>
              <a:graphicData uri="http://schemas.openxmlformats.org/presentationml/2006/ole">
                <mc:AlternateContent xmlns:mc="http://schemas.openxmlformats.org/markup-compatibility/2006">
                  <mc:Choice xmlns:v="urn:schemas-microsoft-com:vml" Requires="v">
                    <p:oleObj spid="_x0000_s77064" name="Equation" r:id="rId10" imgW="126720" imgH="152280" progId="Equation.DSMT4">
                      <p:embed/>
                    </p:oleObj>
                  </mc:Choice>
                  <mc:Fallback>
                    <p:oleObj name="Equation" r:id="rId10" imgW="126720" imgH="152280" progId="Equation.DSMT4">
                      <p:embed/>
                      <p:pic>
                        <p:nvPicPr>
                          <p:cNvPr id="17" name="对象 16">
                            <a:extLst>
                              <a:ext uri="{FF2B5EF4-FFF2-40B4-BE49-F238E27FC236}">
                                <a16:creationId xmlns:a16="http://schemas.microsoft.com/office/drawing/2014/main" id="{9FE54917-95D1-46EA-8CE8-E31663C9262F}"/>
                              </a:ext>
                            </a:extLst>
                          </p:cNvPr>
                          <p:cNvPicPr>
                            <a:picLocks noChangeAspect="1" noChangeArrowheads="1"/>
                          </p:cNvPicPr>
                          <p:nvPr/>
                        </p:nvPicPr>
                        <p:blipFill>
                          <a:blip r:embed="rId6"/>
                          <a:srcRect/>
                          <a:stretch>
                            <a:fillRect/>
                          </a:stretch>
                        </p:blipFill>
                        <p:spPr bwMode="auto">
                          <a:xfrm>
                            <a:off x="1447800" y="2195375"/>
                            <a:ext cx="312738" cy="376237"/>
                          </a:xfrm>
                          <a:prstGeom prst="rect">
                            <a:avLst/>
                          </a:prstGeom>
                          <a:noFill/>
                          <a:ln>
                            <a:noFill/>
                          </a:ln>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3907">
                                            <p:txEl>
                                              <p:pRg st="2" end="2"/>
                                            </p:txEl>
                                          </p:spTgt>
                                        </p:tgtEl>
                                        <p:attrNameLst>
                                          <p:attrName>style.visibility</p:attrName>
                                        </p:attrNameLst>
                                      </p:cBhvr>
                                      <p:to>
                                        <p:strVal val="visible"/>
                                      </p:to>
                                    </p:set>
                                    <p:animEffect transition="in" filter="blinds(horizontal)">
                                      <p:cBhvr>
                                        <p:cTn id="12" dur="500"/>
                                        <p:tgtEl>
                                          <p:spTgt spid="1239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0E3B14D7-DCE7-46BE-BEB9-DFEF7FBCA596}"/>
              </a:ext>
            </a:extLst>
          </p:cNvPr>
          <p:cNvSpPr>
            <a:spLocks noGrp="1" noChangeArrowheads="1"/>
          </p:cNvSpPr>
          <p:nvPr>
            <p:ph type="title"/>
          </p:nvPr>
        </p:nvSpPr>
        <p:spPr/>
        <p:txBody>
          <a:bodyPr/>
          <a:lstStyle/>
          <a:p>
            <a:pPr eaLnBrk="1" hangingPunct="1"/>
            <a:r>
              <a:rPr lang="zh-CN" altLang="en-US"/>
              <a:t>单纯形法与对偶单纯形法</a:t>
            </a:r>
          </a:p>
        </p:txBody>
      </p:sp>
      <p:sp>
        <p:nvSpPr>
          <p:cNvPr id="123907" name="Rectangle 3">
            <a:extLst>
              <a:ext uri="{FF2B5EF4-FFF2-40B4-BE49-F238E27FC236}">
                <a16:creationId xmlns:a16="http://schemas.microsoft.com/office/drawing/2014/main" id="{A6E537A6-D7AD-4EBA-B22F-817628CDCC8D}"/>
              </a:ext>
            </a:extLst>
          </p:cNvPr>
          <p:cNvSpPr>
            <a:spLocks noGrp="1" noChangeArrowheads="1"/>
          </p:cNvSpPr>
          <p:nvPr>
            <p:ph type="body" idx="1"/>
          </p:nvPr>
        </p:nvSpPr>
        <p:spPr>
          <a:xfrm>
            <a:off x="457200" y="914400"/>
            <a:ext cx="8229600" cy="1676400"/>
          </a:xfrm>
        </p:spPr>
        <p:txBody>
          <a:bodyPr/>
          <a:lstStyle/>
          <a:p>
            <a:pPr algn="just" eaLnBrk="1" hangingPunct="1">
              <a:defRPr/>
            </a:pPr>
            <a:r>
              <a:rPr kumimoji="1" lang="zh-CN" altLang="en-US" dirty="0"/>
              <a:t>单纯形法：</a:t>
            </a:r>
            <a:endParaRPr kumimoji="1" lang="en-US" altLang="zh-CN" dirty="0"/>
          </a:p>
          <a:p>
            <a:pPr marL="0" indent="0" algn="just" eaLnBrk="1" hangingPunct="1">
              <a:buFont typeface="Wingdings" panose="05000000000000000000" pitchFamily="2" charset="2"/>
              <a:buNone/>
              <a:defRPr/>
            </a:pPr>
            <a:r>
              <a:rPr kumimoji="1" lang="en-US" altLang="zh-CN" dirty="0"/>
              <a:t>    </a:t>
            </a:r>
            <a:r>
              <a:rPr kumimoji="1" lang="zh-CN" altLang="en-US" dirty="0"/>
              <a:t>保持</a:t>
            </a:r>
            <a:r>
              <a:rPr kumimoji="1" lang="zh-CN" altLang="en-US" dirty="0">
                <a:solidFill>
                  <a:srgbClr val="FF0000"/>
                </a:solidFill>
              </a:rPr>
              <a:t>基变量的值非负</a:t>
            </a:r>
            <a:r>
              <a:rPr kumimoji="1" lang="zh-CN" altLang="en-US" dirty="0"/>
              <a:t>的前提下，通过迭代，当其检验数都为</a:t>
            </a:r>
            <a:r>
              <a:rPr kumimoji="1" lang="zh-CN" altLang="en-US" dirty="0">
                <a:solidFill>
                  <a:srgbClr val="FF0000"/>
                </a:solidFill>
              </a:rPr>
              <a:t>非正</a:t>
            </a:r>
            <a:r>
              <a:rPr kumimoji="1" lang="zh-CN" altLang="en-US" dirty="0"/>
              <a:t>数时，就达到了目标函数的最优值。</a:t>
            </a:r>
          </a:p>
        </p:txBody>
      </p:sp>
      <p:graphicFrame>
        <p:nvGraphicFramePr>
          <p:cNvPr id="69" name="Group 719">
            <a:extLst>
              <a:ext uri="{FF2B5EF4-FFF2-40B4-BE49-F238E27FC236}">
                <a16:creationId xmlns:a16="http://schemas.microsoft.com/office/drawing/2014/main" id="{37BB056B-10A7-4182-ABBC-C9360CA69025}"/>
              </a:ext>
            </a:extLst>
          </p:cNvPr>
          <p:cNvGraphicFramePr>
            <a:graphicFrameLocks noGrp="1"/>
          </p:cNvGraphicFramePr>
          <p:nvPr/>
        </p:nvGraphicFramePr>
        <p:xfrm>
          <a:off x="76200" y="2855913"/>
          <a:ext cx="4419600" cy="2706689"/>
        </p:xfrm>
        <a:graphic>
          <a:graphicData uri="http://schemas.openxmlformats.org/drawingml/2006/table">
            <a:tbl>
              <a:tblPr/>
              <a:tblGrid>
                <a:gridCol w="533400">
                  <a:extLst>
                    <a:ext uri="{9D8B030D-6E8A-4147-A177-3AD203B41FA5}">
                      <a16:colId xmlns:a16="http://schemas.microsoft.com/office/drawing/2014/main" val="20000"/>
                    </a:ext>
                  </a:extLst>
                </a:gridCol>
                <a:gridCol w="553387">
                  <a:extLst>
                    <a:ext uri="{9D8B030D-6E8A-4147-A177-3AD203B41FA5}">
                      <a16:colId xmlns:a16="http://schemas.microsoft.com/office/drawing/2014/main" val="20001"/>
                    </a:ext>
                  </a:extLst>
                </a:gridCol>
                <a:gridCol w="507167">
                  <a:extLst>
                    <a:ext uri="{9D8B030D-6E8A-4147-A177-3AD203B41FA5}">
                      <a16:colId xmlns:a16="http://schemas.microsoft.com/office/drawing/2014/main" val="20002"/>
                    </a:ext>
                  </a:extLst>
                </a:gridCol>
                <a:gridCol w="434715">
                  <a:extLst>
                    <a:ext uri="{9D8B030D-6E8A-4147-A177-3AD203B41FA5}">
                      <a16:colId xmlns:a16="http://schemas.microsoft.com/office/drawing/2014/main" val="20003"/>
                    </a:ext>
                  </a:extLst>
                </a:gridCol>
                <a:gridCol w="434715">
                  <a:extLst>
                    <a:ext uri="{9D8B030D-6E8A-4147-A177-3AD203B41FA5}">
                      <a16:colId xmlns:a16="http://schemas.microsoft.com/office/drawing/2014/main" val="20004"/>
                    </a:ext>
                  </a:extLst>
                </a:gridCol>
                <a:gridCol w="507167">
                  <a:extLst>
                    <a:ext uri="{9D8B030D-6E8A-4147-A177-3AD203B41FA5}">
                      <a16:colId xmlns:a16="http://schemas.microsoft.com/office/drawing/2014/main" val="20005"/>
                    </a:ext>
                  </a:extLst>
                </a:gridCol>
                <a:gridCol w="434715">
                  <a:extLst>
                    <a:ext uri="{9D8B030D-6E8A-4147-A177-3AD203B41FA5}">
                      <a16:colId xmlns:a16="http://schemas.microsoft.com/office/drawing/2014/main" val="20006"/>
                    </a:ext>
                  </a:extLst>
                </a:gridCol>
                <a:gridCol w="507167">
                  <a:extLst>
                    <a:ext uri="{9D8B030D-6E8A-4147-A177-3AD203B41FA5}">
                      <a16:colId xmlns:a16="http://schemas.microsoft.com/office/drawing/2014/main" val="20007"/>
                    </a:ext>
                  </a:extLst>
                </a:gridCol>
                <a:gridCol w="507167">
                  <a:extLst>
                    <a:ext uri="{9D8B030D-6E8A-4147-A177-3AD203B41FA5}">
                      <a16:colId xmlns:a16="http://schemas.microsoft.com/office/drawing/2014/main" val="20008"/>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8</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00B050"/>
                          </a:solidFill>
                          <a:effectLst/>
                          <a:latin typeface="Times New Roman" panose="02020603050405020304" pitchFamily="18" charset="0"/>
                          <a:ea typeface="华文细黑" panose="02010600040101010101" pitchFamily="2" charset="-122"/>
                        </a:rPr>
                        <a:t>4</a:t>
                      </a:r>
                      <a:endParaRPr kumimoji="1" lang="zh-CN" altLang="zh-CN" sz="2000" b="1" i="0" u="none" strike="noStrike" cap="none" normalizeH="0" baseline="0" dirty="0">
                        <a:ln>
                          <a:noFill/>
                        </a:ln>
                        <a:solidFill>
                          <a:srgbClr val="00B050"/>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16</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4</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00B050"/>
                          </a:solidFill>
                          <a:effectLst/>
                          <a:latin typeface="Times New Roman" panose="02020603050405020304" pitchFamily="18" charset="0"/>
                          <a:ea typeface="华文细黑" panose="02010600040101010101" pitchFamily="2" charset="-122"/>
                        </a:rPr>
                        <a:t>-</a:t>
                      </a:r>
                      <a:endParaRPr kumimoji="1" lang="zh-CN" altLang="zh-CN" sz="2000" b="1" i="0" u="none" strike="noStrike" cap="none" normalizeH="0" baseline="0" dirty="0">
                        <a:ln>
                          <a:noFill/>
                        </a:ln>
                        <a:solidFill>
                          <a:srgbClr val="00B050"/>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12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00B050"/>
                          </a:solidFill>
                          <a:effectLst/>
                          <a:latin typeface="Times New Roman" panose="02020603050405020304" pitchFamily="18" charset="0"/>
                          <a:ea typeface="华文细黑" panose="02010600040101010101" pitchFamily="2" charset="-122"/>
                        </a:rPr>
                        <a:t>3</a:t>
                      </a:r>
                      <a:endParaRPr kumimoji="1" lang="zh-CN" altLang="zh-CN" sz="2000" b="1" i="0" u="none" strike="noStrike" cap="none" normalizeH="0" baseline="0" dirty="0">
                        <a:ln>
                          <a:noFill/>
                        </a:ln>
                        <a:solidFill>
                          <a:srgbClr val="00B050"/>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5"/>
                  </a:ext>
                </a:extLst>
              </a:tr>
            </a:tbl>
          </a:graphicData>
        </a:graphic>
      </p:graphicFrame>
      <p:graphicFrame>
        <p:nvGraphicFramePr>
          <p:cNvPr id="70" name="Group 719">
            <a:extLst>
              <a:ext uri="{FF2B5EF4-FFF2-40B4-BE49-F238E27FC236}">
                <a16:creationId xmlns:a16="http://schemas.microsoft.com/office/drawing/2014/main" id="{1978FC66-84AC-4B7C-AA60-8C7A1BC3EA3F}"/>
              </a:ext>
            </a:extLst>
          </p:cNvPr>
          <p:cNvGraphicFramePr>
            <a:graphicFrameLocks noGrp="1"/>
          </p:cNvGraphicFramePr>
          <p:nvPr/>
        </p:nvGraphicFramePr>
        <p:xfrm>
          <a:off x="4648200" y="2855913"/>
          <a:ext cx="4419600" cy="2706689"/>
        </p:xfrm>
        <a:graphic>
          <a:graphicData uri="http://schemas.openxmlformats.org/drawingml/2006/table">
            <a:tbl>
              <a:tblPr/>
              <a:tblGrid>
                <a:gridCol w="602544">
                  <a:extLst>
                    <a:ext uri="{9D8B030D-6E8A-4147-A177-3AD203B41FA5}">
                      <a16:colId xmlns:a16="http://schemas.microsoft.com/office/drawing/2014/main" val="20000"/>
                    </a:ext>
                  </a:extLst>
                </a:gridCol>
                <a:gridCol w="625122">
                  <a:extLst>
                    <a:ext uri="{9D8B030D-6E8A-4147-A177-3AD203B41FA5}">
                      <a16:colId xmlns:a16="http://schemas.microsoft.com/office/drawing/2014/main" val="20001"/>
                    </a:ext>
                  </a:extLst>
                </a:gridCol>
                <a:gridCol w="572911">
                  <a:extLst>
                    <a:ext uri="{9D8B030D-6E8A-4147-A177-3AD203B41FA5}">
                      <a16:colId xmlns:a16="http://schemas.microsoft.com/office/drawing/2014/main" val="20002"/>
                    </a:ext>
                  </a:extLst>
                </a:gridCol>
                <a:gridCol w="491067">
                  <a:extLst>
                    <a:ext uri="{9D8B030D-6E8A-4147-A177-3AD203B41FA5}">
                      <a16:colId xmlns:a16="http://schemas.microsoft.com/office/drawing/2014/main" val="20003"/>
                    </a:ext>
                  </a:extLst>
                </a:gridCol>
                <a:gridCol w="491067">
                  <a:extLst>
                    <a:ext uri="{9D8B030D-6E8A-4147-A177-3AD203B41FA5}">
                      <a16:colId xmlns:a16="http://schemas.microsoft.com/office/drawing/2014/main" val="20004"/>
                    </a:ext>
                  </a:extLst>
                </a:gridCol>
                <a:gridCol w="572911">
                  <a:extLst>
                    <a:ext uri="{9D8B030D-6E8A-4147-A177-3AD203B41FA5}">
                      <a16:colId xmlns:a16="http://schemas.microsoft.com/office/drawing/2014/main" val="20005"/>
                    </a:ext>
                  </a:extLst>
                </a:gridCol>
                <a:gridCol w="606778">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-1/8</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-1/8</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5"/>
                  </a:ext>
                </a:extLst>
              </a:tr>
            </a:tbl>
          </a:graphicData>
        </a:graphic>
      </p:graphicFrame>
      <p:grpSp>
        <p:nvGrpSpPr>
          <p:cNvPr id="3" name="组合 2">
            <a:extLst>
              <a:ext uri="{FF2B5EF4-FFF2-40B4-BE49-F238E27FC236}">
                <a16:creationId xmlns:a16="http://schemas.microsoft.com/office/drawing/2014/main" id="{4FDB939F-C35D-4EAC-BEEC-6CA7FB1A9FED}"/>
              </a:ext>
            </a:extLst>
          </p:cNvPr>
          <p:cNvGrpSpPr>
            <a:grpSpLocks/>
          </p:cNvGrpSpPr>
          <p:nvPr/>
        </p:nvGrpSpPr>
        <p:grpSpPr bwMode="auto">
          <a:xfrm>
            <a:off x="2019300" y="5581650"/>
            <a:ext cx="6210300" cy="895350"/>
            <a:chOff x="2019300" y="5582065"/>
            <a:chExt cx="6210300" cy="894935"/>
          </a:xfrm>
        </p:grpSpPr>
        <p:sp>
          <p:nvSpPr>
            <p:cNvPr id="72" name="箭头: 上弧形 71">
              <a:extLst>
                <a:ext uri="{FF2B5EF4-FFF2-40B4-BE49-F238E27FC236}">
                  <a16:creationId xmlns:a16="http://schemas.microsoft.com/office/drawing/2014/main" id="{E4870DA0-A732-43EE-B2EE-0C2FFDC8778D}"/>
                </a:ext>
              </a:extLst>
            </p:cNvPr>
            <p:cNvSpPr/>
            <p:nvPr/>
          </p:nvSpPr>
          <p:spPr bwMode="auto">
            <a:xfrm rot="10800000" flipH="1">
              <a:off x="2019300" y="5582065"/>
              <a:ext cx="6210300" cy="894935"/>
            </a:xfrm>
            <a:prstGeom prst="curvedDownArrow">
              <a:avLst/>
            </a:prstGeom>
            <a:solidFill>
              <a:srgbClr val="FF33CC"/>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FF33CC"/>
                </a:solidFill>
              </a:endParaRPr>
            </a:p>
          </p:txBody>
        </p:sp>
        <p:sp>
          <p:nvSpPr>
            <p:cNvPr id="73" name="矩形 72">
              <a:extLst>
                <a:ext uri="{FF2B5EF4-FFF2-40B4-BE49-F238E27FC236}">
                  <a16:creationId xmlns:a16="http://schemas.microsoft.com/office/drawing/2014/main" id="{614CD46B-0BCE-4726-9A57-737293819FF9}"/>
                </a:ext>
              </a:extLst>
            </p:cNvPr>
            <p:cNvSpPr/>
            <p:nvPr/>
          </p:nvSpPr>
          <p:spPr bwMode="auto">
            <a:xfrm>
              <a:off x="4800600" y="6102524"/>
              <a:ext cx="647700" cy="368129"/>
            </a:xfrm>
            <a:prstGeom prst="rect">
              <a:avLst/>
            </a:prstGeom>
            <a:ln>
              <a:solidFill>
                <a:srgbClr val="FF0000"/>
              </a:solidFill>
            </a:ln>
          </p:spPr>
          <p:txBody>
            <a:bodyPr wrap="none">
              <a:spAutoFit/>
            </a:bodyPr>
            <a:lstStyle/>
            <a:p>
              <a:pPr>
                <a:defRPr/>
              </a:pPr>
              <a:r>
                <a:rPr lang="zh-CN" altLang="en-US" b="1" dirty="0">
                  <a:solidFill>
                    <a:srgbClr val="FF0000"/>
                  </a:solidFill>
                  <a:latin typeface="Times New Roman" panose="02020603050405020304" pitchFamily="18" charset="0"/>
                  <a:ea typeface="+mn-ea"/>
                  <a:cs typeface="Times New Roman" panose="02020603050405020304" pitchFamily="18" charset="0"/>
                </a:rPr>
                <a:t>变化</a:t>
              </a:r>
            </a:p>
          </p:txBody>
        </p:sp>
      </p:grpSp>
      <p:grpSp>
        <p:nvGrpSpPr>
          <p:cNvPr id="2" name="组合 1">
            <a:extLst>
              <a:ext uri="{FF2B5EF4-FFF2-40B4-BE49-F238E27FC236}">
                <a16:creationId xmlns:a16="http://schemas.microsoft.com/office/drawing/2014/main" id="{7F0F2BD1-1437-47F2-9BAC-4D8820701BD9}"/>
              </a:ext>
            </a:extLst>
          </p:cNvPr>
          <p:cNvGrpSpPr>
            <a:grpSpLocks/>
          </p:cNvGrpSpPr>
          <p:nvPr/>
        </p:nvGrpSpPr>
        <p:grpSpPr bwMode="auto">
          <a:xfrm>
            <a:off x="1295400" y="2438400"/>
            <a:ext cx="5105400" cy="838200"/>
            <a:chOff x="1295400" y="2438400"/>
            <a:chExt cx="5105400" cy="838199"/>
          </a:xfrm>
        </p:grpSpPr>
        <p:sp>
          <p:nvSpPr>
            <p:cNvPr id="71" name="箭头: 上弧形 70">
              <a:extLst>
                <a:ext uri="{FF2B5EF4-FFF2-40B4-BE49-F238E27FC236}">
                  <a16:creationId xmlns:a16="http://schemas.microsoft.com/office/drawing/2014/main" id="{F8C4F255-DC3F-4710-9B70-E7753F1F3752}"/>
                </a:ext>
              </a:extLst>
            </p:cNvPr>
            <p:cNvSpPr/>
            <p:nvPr/>
          </p:nvSpPr>
          <p:spPr bwMode="auto">
            <a:xfrm rot="10800000" flipH="1" flipV="1">
              <a:off x="1295400" y="2438400"/>
              <a:ext cx="5105400" cy="838199"/>
            </a:xfrm>
            <a:prstGeom prst="curvedDownArrow">
              <a:avLst/>
            </a:prstGeom>
            <a:solidFill>
              <a:srgbClr val="FF33CC"/>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FF33CC"/>
                </a:solidFill>
              </a:endParaRPr>
            </a:p>
          </p:txBody>
        </p:sp>
        <p:sp>
          <p:nvSpPr>
            <p:cNvPr id="74" name="矩形 73">
              <a:extLst>
                <a:ext uri="{FF2B5EF4-FFF2-40B4-BE49-F238E27FC236}">
                  <a16:creationId xmlns:a16="http://schemas.microsoft.com/office/drawing/2014/main" id="{DF6F3630-B863-4874-9DEF-A77D1AEF3EED}"/>
                </a:ext>
              </a:extLst>
            </p:cNvPr>
            <p:cNvSpPr/>
            <p:nvPr/>
          </p:nvSpPr>
          <p:spPr bwMode="auto">
            <a:xfrm>
              <a:off x="3505200" y="2449513"/>
              <a:ext cx="646113" cy="369887"/>
            </a:xfrm>
            <a:prstGeom prst="rect">
              <a:avLst/>
            </a:prstGeom>
            <a:ln>
              <a:solidFill>
                <a:srgbClr val="FF0000"/>
              </a:solidFill>
            </a:ln>
          </p:spPr>
          <p:txBody>
            <a:bodyPr wrap="none">
              <a:spAutoFit/>
            </a:bodyPr>
            <a:lstStyle/>
            <a:p>
              <a:pPr>
                <a:defRPr/>
              </a:pPr>
              <a:r>
                <a:rPr lang="zh-CN" altLang="en-US" b="1" dirty="0">
                  <a:solidFill>
                    <a:srgbClr val="FF0000"/>
                  </a:solidFill>
                  <a:latin typeface="Times New Roman" panose="02020603050405020304" pitchFamily="18" charset="0"/>
                  <a:ea typeface="+mn-ea"/>
                  <a:cs typeface="Times New Roman" panose="02020603050405020304" pitchFamily="18" charset="0"/>
                </a:rPr>
                <a:t>保持</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randombar(horizontal)">
                                      <p:cBhvr>
                                        <p:cTn id="7" dur="500"/>
                                        <p:tgtEl>
                                          <p:spTgt spid="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randombar(horizontal)">
                                      <p:cBhvr>
                                        <p:cTn id="12" dur="500"/>
                                        <p:tgtEl>
                                          <p:spTgt spid="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0F57701-A2E0-4058-AB17-07D83A677DD8}"/>
              </a:ext>
            </a:extLst>
          </p:cNvPr>
          <p:cNvSpPr>
            <a:spLocks noGrp="1" noChangeArrowheads="1"/>
          </p:cNvSpPr>
          <p:nvPr>
            <p:ph type="title"/>
          </p:nvPr>
        </p:nvSpPr>
        <p:spPr/>
        <p:txBody>
          <a:bodyPr/>
          <a:lstStyle/>
          <a:p>
            <a:pPr eaLnBrk="1" hangingPunct="1"/>
            <a:r>
              <a:rPr lang="zh-CN" altLang="en-US"/>
              <a:t>单纯形法与对偶单纯形法</a:t>
            </a:r>
          </a:p>
        </p:txBody>
      </p:sp>
      <p:sp>
        <p:nvSpPr>
          <p:cNvPr id="123907" name="Rectangle 3">
            <a:extLst>
              <a:ext uri="{FF2B5EF4-FFF2-40B4-BE49-F238E27FC236}">
                <a16:creationId xmlns:a16="http://schemas.microsoft.com/office/drawing/2014/main" id="{E080CDB8-163D-4508-B693-E074BC4DAEB6}"/>
              </a:ext>
            </a:extLst>
          </p:cNvPr>
          <p:cNvSpPr>
            <a:spLocks noGrp="1" noChangeArrowheads="1"/>
          </p:cNvSpPr>
          <p:nvPr>
            <p:ph type="body" idx="1"/>
          </p:nvPr>
        </p:nvSpPr>
        <p:spPr>
          <a:xfrm>
            <a:off x="304800" y="838200"/>
            <a:ext cx="8382000" cy="1905000"/>
          </a:xfrm>
        </p:spPr>
        <p:txBody>
          <a:bodyPr/>
          <a:lstStyle/>
          <a:p>
            <a:pPr eaLnBrk="1" hangingPunct="1">
              <a:defRPr/>
            </a:pPr>
            <a:r>
              <a:rPr kumimoji="1" lang="zh-CN" altLang="en-US" dirty="0"/>
              <a:t>对偶单纯形法</a:t>
            </a:r>
            <a:endParaRPr kumimoji="1" lang="en-US" altLang="zh-CN" dirty="0"/>
          </a:p>
          <a:p>
            <a:pPr marL="0" indent="0" eaLnBrk="1" hangingPunct="1">
              <a:buFont typeface="Wingdings" panose="05000000000000000000" pitchFamily="2" charset="2"/>
              <a:buNone/>
              <a:defRPr/>
            </a:pPr>
            <a:r>
              <a:rPr kumimoji="1" lang="en-US" altLang="zh-CN" dirty="0"/>
              <a:t>   </a:t>
            </a:r>
            <a:r>
              <a:rPr kumimoji="1" lang="zh-CN" altLang="en-US" dirty="0"/>
              <a:t>由一个已知</a:t>
            </a:r>
            <a:r>
              <a:rPr kumimoji="1" lang="zh-CN" altLang="en-US" dirty="0">
                <a:solidFill>
                  <a:srgbClr val="FF0000"/>
                </a:solidFill>
              </a:rPr>
              <a:t>对偶可行基</a:t>
            </a:r>
            <a:r>
              <a:rPr kumimoji="1" lang="zh-CN" altLang="en-US" dirty="0"/>
              <a:t>开始，每次迭代总保证检验数</a:t>
            </a:r>
            <a:r>
              <a:rPr kumimoji="1" lang="zh-CN" altLang="en-US" dirty="0">
                <a:solidFill>
                  <a:srgbClr val="FF0000"/>
                </a:solidFill>
              </a:rPr>
              <a:t>非正</a:t>
            </a:r>
            <a:r>
              <a:rPr kumimoji="1" lang="zh-CN" altLang="en-US" dirty="0"/>
              <a:t>，最终使基变量值都为非负数，即得到了目标函数的最优值。</a:t>
            </a:r>
            <a:endParaRPr kumimoji="1" lang="en-US" altLang="zh-CN" dirty="0"/>
          </a:p>
        </p:txBody>
      </p:sp>
      <p:graphicFrame>
        <p:nvGraphicFramePr>
          <p:cNvPr id="6" name="Group 719">
            <a:extLst>
              <a:ext uri="{FF2B5EF4-FFF2-40B4-BE49-F238E27FC236}">
                <a16:creationId xmlns:a16="http://schemas.microsoft.com/office/drawing/2014/main" id="{B1847DE8-383B-4324-9855-59B9BD966E4D}"/>
              </a:ext>
            </a:extLst>
          </p:cNvPr>
          <p:cNvGraphicFramePr>
            <a:graphicFrameLocks noGrp="1"/>
          </p:cNvGraphicFramePr>
          <p:nvPr/>
        </p:nvGraphicFramePr>
        <p:xfrm>
          <a:off x="76200" y="3255963"/>
          <a:ext cx="4419600" cy="2249488"/>
        </p:xfrm>
        <a:graphic>
          <a:graphicData uri="http://schemas.openxmlformats.org/drawingml/2006/table">
            <a:tbl>
              <a:tblPr/>
              <a:tblGrid>
                <a:gridCol w="533400">
                  <a:extLst>
                    <a:ext uri="{9D8B030D-6E8A-4147-A177-3AD203B41FA5}">
                      <a16:colId xmlns:a16="http://schemas.microsoft.com/office/drawing/2014/main" val="20000"/>
                    </a:ext>
                  </a:extLst>
                </a:gridCol>
                <a:gridCol w="553387">
                  <a:extLst>
                    <a:ext uri="{9D8B030D-6E8A-4147-A177-3AD203B41FA5}">
                      <a16:colId xmlns:a16="http://schemas.microsoft.com/office/drawing/2014/main" val="20001"/>
                    </a:ext>
                  </a:extLst>
                </a:gridCol>
                <a:gridCol w="507167">
                  <a:extLst>
                    <a:ext uri="{9D8B030D-6E8A-4147-A177-3AD203B41FA5}">
                      <a16:colId xmlns:a16="http://schemas.microsoft.com/office/drawing/2014/main" val="20002"/>
                    </a:ext>
                  </a:extLst>
                </a:gridCol>
                <a:gridCol w="434715">
                  <a:extLst>
                    <a:ext uri="{9D8B030D-6E8A-4147-A177-3AD203B41FA5}">
                      <a16:colId xmlns:a16="http://schemas.microsoft.com/office/drawing/2014/main" val="20003"/>
                    </a:ext>
                  </a:extLst>
                </a:gridCol>
                <a:gridCol w="434715">
                  <a:extLst>
                    <a:ext uri="{9D8B030D-6E8A-4147-A177-3AD203B41FA5}">
                      <a16:colId xmlns:a16="http://schemas.microsoft.com/office/drawing/2014/main" val="20004"/>
                    </a:ext>
                  </a:extLst>
                </a:gridCol>
                <a:gridCol w="507167">
                  <a:extLst>
                    <a:ext uri="{9D8B030D-6E8A-4147-A177-3AD203B41FA5}">
                      <a16:colId xmlns:a16="http://schemas.microsoft.com/office/drawing/2014/main" val="20005"/>
                    </a:ext>
                  </a:extLst>
                </a:gridCol>
                <a:gridCol w="434715">
                  <a:extLst>
                    <a:ext uri="{9D8B030D-6E8A-4147-A177-3AD203B41FA5}">
                      <a16:colId xmlns:a16="http://schemas.microsoft.com/office/drawing/2014/main" val="20006"/>
                    </a:ext>
                  </a:extLst>
                </a:gridCol>
                <a:gridCol w="507167">
                  <a:extLst>
                    <a:ext uri="{9D8B030D-6E8A-4147-A177-3AD203B41FA5}">
                      <a16:colId xmlns:a16="http://schemas.microsoft.com/office/drawing/2014/main" val="20007"/>
                    </a:ext>
                  </a:extLst>
                </a:gridCol>
                <a:gridCol w="507167">
                  <a:extLst>
                    <a:ext uri="{9D8B030D-6E8A-4147-A177-3AD203B41FA5}">
                      <a16:colId xmlns:a16="http://schemas.microsoft.com/office/drawing/2014/main" val="20008"/>
                    </a:ext>
                  </a:extLst>
                </a:gridCol>
              </a:tblGrid>
              <a:tr h="457213">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16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-4</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0636">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6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6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6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1"/>
                  </a:ext>
                </a:extLst>
              </a:tr>
              <a:tr h="457213">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endPar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600" b="1" i="0" u="none" strike="noStrike" cap="none" normalizeH="0" baseline="0" dirty="0">
                        <a:ln>
                          <a:noFill/>
                        </a:ln>
                        <a:solidFill>
                          <a:srgbClr val="00B050"/>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3">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600" b="1" i="0" u="none" strike="noStrike" cap="none" normalizeH="0" baseline="0" dirty="0">
                        <a:ln>
                          <a:noFill/>
                        </a:ln>
                        <a:solidFill>
                          <a:srgbClr val="00B050"/>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3">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600" b="1" dirty="0">
                          <a:latin typeface="Times New Roman" panose="02020603050405020304" pitchFamily="18" charset="0"/>
                        </a:rPr>
                        <a:t>σ</a:t>
                      </a:r>
                      <a:r>
                        <a:rPr lang="en-US" altLang="zh-CN" sz="1600" b="1" i="1" baseline="-25000" dirty="0">
                          <a:latin typeface="Times New Roman" panose="02020603050405020304" pitchFamily="18" charset="0"/>
                        </a:rPr>
                        <a:t>j</a:t>
                      </a:r>
                      <a:r>
                        <a:rPr lang="en-US" altLang="zh-CN" sz="1600" b="1" dirty="0">
                          <a:latin typeface="Times New Roman" panose="02020603050405020304" pitchFamily="18" charset="0"/>
                        </a:rPr>
                        <a:t>=</a:t>
                      </a:r>
                      <a:r>
                        <a:rPr lang="en-US" altLang="zh-CN" sz="1600" b="1" dirty="0" err="1">
                          <a:latin typeface="Times New Roman" panose="02020603050405020304" pitchFamily="18" charset="0"/>
                        </a:rPr>
                        <a:t>c</a:t>
                      </a:r>
                      <a:r>
                        <a:rPr lang="en-US" altLang="zh-CN" sz="1600" b="1" i="1" baseline="-25000" dirty="0" err="1">
                          <a:latin typeface="Times New Roman" panose="02020603050405020304" pitchFamily="18" charset="0"/>
                        </a:rPr>
                        <a:t>j</a:t>
                      </a:r>
                      <a:r>
                        <a:rPr lang="en-US" altLang="zh-CN" sz="1600" b="1" dirty="0" err="1">
                          <a:latin typeface="Times New Roman" panose="02020603050405020304" pitchFamily="18" charset="0"/>
                        </a:rPr>
                        <a:t>-z</a:t>
                      </a:r>
                      <a:r>
                        <a:rPr lang="en-US" altLang="zh-CN" sz="1600" b="1" i="1" baseline="-25000" dirty="0" err="1">
                          <a:latin typeface="Times New Roman" panose="02020603050405020304" pitchFamily="18" charset="0"/>
                        </a:rPr>
                        <a:t>j</a:t>
                      </a:r>
                      <a:endParaRPr lang="en-US" altLang="zh-CN" sz="16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bl>
          </a:graphicData>
        </a:graphic>
      </p:graphicFrame>
      <p:graphicFrame>
        <p:nvGraphicFramePr>
          <p:cNvPr id="7" name="Group 719">
            <a:extLst>
              <a:ext uri="{FF2B5EF4-FFF2-40B4-BE49-F238E27FC236}">
                <a16:creationId xmlns:a16="http://schemas.microsoft.com/office/drawing/2014/main" id="{9A144285-82DB-44DB-B86C-D4F095D4EBD1}"/>
              </a:ext>
            </a:extLst>
          </p:cNvPr>
          <p:cNvGraphicFramePr>
            <a:graphicFrameLocks noGrp="1"/>
          </p:cNvGraphicFramePr>
          <p:nvPr/>
        </p:nvGraphicFramePr>
        <p:xfrm>
          <a:off x="4648200" y="3255963"/>
          <a:ext cx="4419600" cy="2249488"/>
        </p:xfrm>
        <a:graphic>
          <a:graphicData uri="http://schemas.openxmlformats.org/drawingml/2006/table">
            <a:tbl>
              <a:tblPr/>
              <a:tblGrid>
                <a:gridCol w="509546">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557254">
                  <a:extLst>
                    <a:ext uri="{9D8B030D-6E8A-4147-A177-3AD203B41FA5}">
                      <a16:colId xmlns:a16="http://schemas.microsoft.com/office/drawing/2014/main" val="20007"/>
                    </a:ext>
                  </a:extLst>
                </a:gridCol>
              </a:tblGrid>
              <a:tr h="457213">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16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0636">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6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6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6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57213">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endPar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2/5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3">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bg1"/>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rgbClr val="FFFF00"/>
                          </a:solidFill>
                          <a:effectLst/>
                          <a:latin typeface="Times New Roman" panose="02020603050405020304" pitchFamily="18" charset="0"/>
                          <a:ea typeface="华文细黑" panose="02010600040101010101" pitchFamily="2" charset="-122"/>
                        </a:rPr>
                        <a:t>11/5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chemeClr val="folHlink"/>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7/5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3">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600" b="1" dirty="0">
                          <a:latin typeface="Times New Roman" panose="02020603050405020304" pitchFamily="18" charset="0"/>
                        </a:rPr>
                        <a:t>σ</a:t>
                      </a:r>
                      <a:r>
                        <a:rPr lang="en-US" altLang="zh-CN" sz="1600" b="1" i="1" baseline="-25000" dirty="0">
                          <a:latin typeface="Times New Roman" panose="02020603050405020304" pitchFamily="18" charset="0"/>
                        </a:rPr>
                        <a:t>j</a:t>
                      </a:r>
                      <a:r>
                        <a:rPr lang="en-US" altLang="zh-CN" sz="1600" b="1" dirty="0">
                          <a:latin typeface="Times New Roman" panose="02020603050405020304" pitchFamily="18" charset="0"/>
                        </a:rPr>
                        <a:t>=</a:t>
                      </a:r>
                      <a:r>
                        <a:rPr lang="en-US" altLang="zh-CN" sz="1600" b="1" dirty="0" err="1">
                          <a:latin typeface="Times New Roman" panose="02020603050405020304" pitchFamily="18" charset="0"/>
                        </a:rPr>
                        <a:t>c</a:t>
                      </a:r>
                      <a:r>
                        <a:rPr lang="en-US" altLang="zh-CN" sz="1600" b="1" i="1" baseline="-25000" dirty="0" err="1">
                          <a:latin typeface="Times New Roman" panose="02020603050405020304" pitchFamily="18" charset="0"/>
                        </a:rPr>
                        <a:t>j</a:t>
                      </a:r>
                      <a:r>
                        <a:rPr lang="en-US" altLang="zh-CN" sz="1600" b="1" dirty="0" err="1">
                          <a:latin typeface="Times New Roman" panose="02020603050405020304" pitchFamily="18" charset="0"/>
                        </a:rPr>
                        <a:t>-z</a:t>
                      </a:r>
                      <a:r>
                        <a:rPr lang="en-US" altLang="zh-CN" sz="1600" b="1" i="1" baseline="-25000" dirty="0" err="1">
                          <a:latin typeface="Times New Roman" panose="02020603050405020304" pitchFamily="18" charset="0"/>
                        </a:rPr>
                        <a:t>j</a:t>
                      </a:r>
                      <a:endParaRPr lang="en-US" altLang="zh-CN" sz="16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6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-9/5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-8/5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bl>
          </a:graphicData>
        </a:graphic>
      </p:graphicFrame>
      <p:grpSp>
        <p:nvGrpSpPr>
          <p:cNvPr id="9" name="组合 8">
            <a:extLst>
              <a:ext uri="{FF2B5EF4-FFF2-40B4-BE49-F238E27FC236}">
                <a16:creationId xmlns:a16="http://schemas.microsoft.com/office/drawing/2014/main" id="{DD7A6BDF-AF8C-41A9-B7E6-C5EB237A1A47}"/>
              </a:ext>
            </a:extLst>
          </p:cNvPr>
          <p:cNvGrpSpPr>
            <a:grpSpLocks/>
          </p:cNvGrpSpPr>
          <p:nvPr/>
        </p:nvGrpSpPr>
        <p:grpSpPr bwMode="auto">
          <a:xfrm>
            <a:off x="2171700" y="5581650"/>
            <a:ext cx="6210300" cy="895350"/>
            <a:chOff x="2019300" y="5582065"/>
            <a:chExt cx="6210300" cy="894935"/>
          </a:xfrm>
        </p:grpSpPr>
        <p:sp>
          <p:nvSpPr>
            <p:cNvPr id="10" name="箭头: 上弧形 9">
              <a:extLst>
                <a:ext uri="{FF2B5EF4-FFF2-40B4-BE49-F238E27FC236}">
                  <a16:creationId xmlns:a16="http://schemas.microsoft.com/office/drawing/2014/main" id="{E2ABBF1E-BBD5-40FB-8A2F-2F17590773F1}"/>
                </a:ext>
              </a:extLst>
            </p:cNvPr>
            <p:cNvSpPr/>
            <p:nvPr/>
          </p:nvSpPr>
          <p:spPr bwMode="auto">
            <a:xfrm rot="10800000" flipH="1">
              <a:off x="2019300" y="5582065"/>
              <a:ext cx="6210300" cy="894935"/>
            </a:xfrm>
            <a:prstGeom prst="curvedDownArrow">
              <a:avLst/>
            </a:prstGeom>
            <a:solidFill>
              <a:srgbClr val="FF33CC"/>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FF33CC"/>
                </a:solidFill>
              </a:endParaRPr>
            </a:p>
          </p:txBody>
        </p:sp>
        <p:sp>
          <p:nvSpPr>
            <p:cNvPr id="78968" name="矩形 10">
              <a:extLst>
                <a:ext uri="{FF2B5EF4-FFF2-40B4-BE49-F238E27FC236}">
                  <a16:creationId xmlns:a16="http://schemas.microsoft.com/office/drawing/2014/main" id="{3EDD2A6A-3C99-4803-9E02-ADD50EF1C4FE}"/>
                </a:ext>
              </a:extLst>
            </p:cNvPr>
            <p:cNvSpPr>
              <a:spLocks noChangeArrowheads="1"/>
            </p:cNvSpPr>
            <p:nvPr/>
          </p:nvSpPr>
          <p:spPr bwMode="auto">
            <a:xfrm>
              <a:off x="4801283" y="6101955"/>
              <a:ext cx="649537"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solidFill>
                    <a:srgbClr val="FF0000"/>
                  </a:solidFill>
                  <a:latin typeface="Times New Roman" panose="02020603050405020304" pitchFamily="18" charset="0"/>
                  <a:cs typeface="Times New Roman" panose="02020603050405020304" pitchFamily="18" charset="0"/>
                </a:rPr>
                <a:t>保持</a:t>
              </a:r>
            </a:p>
          </p:txBody>
        </p:sp>
      </p:grpSp>
      <p:grpSp>
        <p:nvGrpSpPr>
          <p:cNvPr id="12" name="组合 11">
            <a:extLst>
              <a:ext uri="{FF2B5EF4-FFF2-40B4-BE49-F238E27FC236}">
                <a16:creationId xmlns:a16="http://schemas.microsoft.com/office/drawing/2014/main" id="{A4A3FBC4-3171-44E4-931E-D30BFD920336}"/>
              </a:ext>
            </a:extLst>
          </p:cNvPr>
          <p:cNvGrpSpPr>
            <a:grpSpLocks/>
          </p:cNvGrpSpPr>
          <p:nvPr/>
        </p:nvGrpSpPr>
        <p:grpSpPr bwMode="auto">
          <a:xfrm>
            <a:off x="1219200" y="2819400"/>
            <a:ext cx="5105400" cy="838200"/>
            <a:chOff x="1295400" y="2438400"/>
            <a:chExt cx="5105400" cy="838199"/>
          </a:xfrm>
        </p:grpSpPr>
        <p:sp>
          <p:nvSpPr>
            <p:cNvPr id="13" name="箭头: 上弧形 12">
              <a:extLst>
                <a:ext uri="{FF2B5EF4-FFF2-40B4-BE49-F238E27FC236}">
                  <a16:creationId xmlns:a16="http://schemas.microsoft.com/office/drawing/2014/main" id="{AA384019-F43E-40EF-8CE5-3CC38928F887}"/>
                </a:ext>
              </a:extLst>
            </p:cNvPr>
            <p:cNvSpPr/>
            <p:nvPr/>
          </p:nvSpPr>
          <p:spPr bwMode="auto">
            <a:xfrm rot="10800000" flipH="1" flipV="1">
              <a:off x="1295400" y="2438400"/>
              <a:ext cx="5105400" cy="838199"/>
            </a:xfrm>
            <a:prstGeom prst="curvedDownArrow">
              <a:avLst/>
            </a:prstGeom>
            <a:solidFill>
              <a:srgbClr val="FF33CC"/>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FF33CC"/>
                </a:solidFill>
              </a:endParaRPr>
            </a:p>
          </p:txBody>
        </p:sp>
        <p:sp>
          <p:nvSpPr>
            <p:cNvPr id="78966" name="矩形 13">
              <a:extLst>
                <a:ext uri="{FF2B5EF4-FFF2-40B4-BE49-F238E27FC236}">
                  <a16:creationId xmlns:a16="http://schemas.microsoft.com/office/drawing/2014/main" id="{008C194D-4523-460A-BD7D-B17F13CB654F}"/>
                </a:ext>
              </a:extLst>
            </p:cNvPr>
            <p:cNvSpPr>
              <a:spLocks noChangeArrowheads="1"/>
            </p:cNvSpPr>
            <p:nvPr/>
          </p:nvSpPr>
          <p:spPr bwMode="auto">
            <a:xfrm>
              <a:off x="3505200" y="2450068"/>
              <a:ext cx="649537" cy="36933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solidFill>
                    <a:srgbClr val="FF0000"/>
                  </a:solidFill>
                  <a:latin typeface="Times New Roman" panose="02020603050405020304" pitchFamily="18" charset="0"/>
                  <a:cs typeface="Times New Roman" panose="02020603050405020304" pitchFamily="18" charset="0"/>
                </a:rPr>
                <a:t>变化</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randombar(horizontal)">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E462A826-C9FA-4C74-90D5-1A50165A503C}"/>
              </a:ext>
            </a:extLst>
          </p:cNvPr>
          <p:cNvSpPr>
            <a:spLocks noGrp="1" noChangeArrowheads="1"/>
          </p:cNvSpPr>
          <p:nvPr>
            <p:ph type="title"/>
          </p:nvPr>
        </p:nvSpPr>
        <p:spPr>
          <a:xfrm>
            <a:off x="457200" y="277813"/>
            <a:ext cx="8229600" cy="1139825"/>
          </a:xfrm>
        </p:spPr>
        <p:txBody>
          <a:bodyPr/>
          <a:lstStyle/>
          <a:p>
            <a:pPr eaLnBrk="1" hangingPunct="1"/>
            <a:r>
              <a:rPr lang="zh-CN" altLang="en-US" dirty="0"/>
              <a:t>对偶单纯形法</a:t>
            </a:r>
          </a:p>
        </p:txBody>
      </p:sp>
      <p:sp>
        <p:nvSpPr>
          <p:cNvPr id="4" name="矩形 3">
            <a:extLst>
              <a:ext uri="{FF2B5EF4-FFF2-40B4-BE49-F238E27FC236}">
                <a16:creationId xmlns:a16="http://schemas.microsoft.com/office/drawing/2014/main" id="{6216F4BE-4730-46FB-BEF6-E264A1D38207}"/>
              </a:ext>
            </a:extLst>
          </p:cNvPr>
          <p:cNvSpPr/>
          <p:nvPr/>
        </p:nvSpPr>
        <p:spPr>
          <a:xfrm>
            <a:off x="1549400" y="1744228"/>
            <a:ext cx="45720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2E1F6AF-F49C-4C27-9B7C-F72FA2B00E32}"/>
                  </a:ext>
                </a:extLst>
              </p:cNvPr>
              <p:cNvSpPr txBox="1"/>
              <p:nvPr/>
            </p:nvSpPr>
            <p:spPr>
              <a:xfrm>
                <a:off x="1549400" y="1744228"/>
                <a:ext cx="1143711" cy="5329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𝑩</m:t>
                          </m:r>
                        </m:e>
                        <m:sup>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p>
                      </m:sSup>
                      <m:r>
                        <a:rPr lang="en-US" altLang="zh-CN" sz="2800" b="1" i="1" smtClean="0">
                          <a:latin typeface="Cambria Math" panose="02040503050406030204" pitchFamily="18" charset="0"/>
                        </a:rPr>
                        <m:t>𝑨</m:t>
                      </m:r>
                    </m:oMath>
                  </m:oMathPara>
                </a14:m>
                <a:endParaRPr lang="zh-CN" altLang="en-US" sz="2800" b="1" dirty="0"/>
              </a:p>
            </p:txBody>
          </p:sp>
        </mc:Choice>
        <mc:Fallback xmlns="">
          <p:sp>
            <p:nvSpPr>
              <p:cNvPr id="5" name="文本框 4">
                <a:extLst>
                  <a:ext uri="{FF2B5EF4-FFF2-40B4-BE49-F238E27FC236}">
                    <a16:creationId xmlns:a16="http://schemas.microsoft.com/office/drawing/2014/main" id="{02E1F6AF-F49C-4C27-9B7C-F72FA2B00E32}"/>
                  </a:ext>
                </a:extLst>
              </p:cNvPr>
              <p:cNvSpPr txBox="1">
                <a:spLocks noRot="1" noChangeAspect="1" noMove="1" noResize="1" noEditPoints="1" noAdjustHandles="1" noChangeArrowheads="1" noChangeShapeType="1" noTextEdit="1"/>
              </p:cNvSpPr>
              <p:nvPr/>
            </p:nvSpPr>
            <p:spPr>
              <a:xfrm>
                <a:off x="1549400" y="1744228"/>
                <a:ext cx="1143711" cy="532966"/>
              </a:xfrm>
              <a:prstGeom prst="rect">
                <a:avLst/>
              </a:prstGeom>
              <a:blipFill>
                <a:blip r:embed="rId2"/>
                <a:stretch>
                  <a:fillRect/>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35F74520-584D-4315-9808-624DA3419187}"/>
              </a:ext>
            </a:extLst>
          </p:cNvPr>
          <p:cNvSpPr/>
          <p:nvPr/>
        </p:nvSpPr>
        <p:spPr>
          <a:xfrm>
            <a:off x="634644" y="1744228"/>
            <a:ext cx="6858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436FDC7-F5CA-4707-8948-F977E2738513}"/>
                  </a:ext>
                </a:extLst>
              </p:cNvPr>
              <p:cNvSpPr txBox="1"/>
              <p:nvPr/>
            </p:nvSpPr>
            <p:spPr>
              <a:xfrm>
                <a:off x="405689" y="1676400"/>
                <a:ext cx="1143711" cy="5329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𝑩</m:t>
                          </m:r>
                        </m:e>
                        <m:sup>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p>
                      </m:sSup>
                      <m:r>
                        <a:rPr lang="en-US" altLang="zh-CN" sz="2800" b="1" i="1" smtClean="0">
                          <a:latin typeface="Cambria Math" panose="02040503050406030204" pitchFamily="18" charset="0"/>
                        </a:rPr>
                        <m:t>𝒃</m:t>
                      </m:r>
                    </m:oMath>
                  </m:oMathPara>
                </a14:m>
                <a:endParaRPr lang="zh-CN" altLang="en-US" sz="2800" b="1" dirty="0"/>
              </a:p>
            </p:txBody>
          </p:sp>
        </mc:Choice>
        <mc:Fallback xmlns="">
          <p:sp>
            <p:nvSpPr>
              <p:cNvPr id="8" name="文本框 7">
                <a:extLst>
                  <a:ext uri="{FF2B5EF4-FFF2-40B4-BE49-F238E27FC236}">
                    <a16:creationId xmlns:a16="http://schemas.microsoft.com/office/drawing/2014/main" id="{F436FDC7-F5CA-4707-8948-F977E2738513}"/>
                  </a:ext>
                </a:extLst>
              </p:cNvPr>
              <p:cNvSpPr txBox="1">
                <a:spLocks noRot="1" noChangeAspect="1" noMove="1" noResize="1" noEditPoints="1" noAdjustHandles="1" noChangeArrowheads="1" noChangeShapeType="1" noTextEdit="1"/>
              </p:cNvSpPr>
              <p:nvPr/>
            </p:nvSpPr>
            <p:spPr>
              <a:xfrm>
                <a:off x="405689" y="1676400"/>
                <a:ext cx="1143711" cy="532966"/>
              </a:xfrm>
              <a:prstGeom prst="rect">
                <a:avLst/>
              </a:prstGeom>
              <a:blipFill>
                <a:blip r:embed="rId3"/>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C08031EE-9E9F-48AF-804C-457008B93E44}"/>
              </a:ext>
            </a:extLst>
          </p:cNvPr>
          <p:cNvSpPr/>
          <p:nvPr/>
        </p:nvSpPr>
        <p:spPr>
          <a:xfrm>
            <a:off x="1549400" y="4621646"/>
            <a:ext cx="4572000" cy="545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5BB7BAE-BBAA-4839-B8F9-9ED6D26AB14B}"/>
                  </a:ext>
                </a:extLst>
              </p:cNvPr>
              <p:cNvSpPr txBox="1"/>
              <p:nvPr/>
            </p:nvSpPr>
            <p:spPr>
              <a:xfrm>
                <a:off x="2335983" y="4634346"/>
                <a:ext cx="2998834" cy="5469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𝝈</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𝑪</m:t>
                      </m:r>
                      <m:r>
                        <a:rPr lang="en-US" altLang="zh-CN" sz="2800" b="1" i="1" smtClean="0">
                          <a:latin typeface="Cambria Math" panose="02040503050406030204" pitchFamily="18" charset="0"/>
                        </a:rPr>
                        <m:t> −</m:t>
                      </m:r>
                      <m:sSubSup>
                        <m:sSubSupPr>
                          <m:ctrlPr>
                            <a:rPr lang="en-US" altLang="zh-CN" sz="2800" b="1" i="1" smtClean="0">
                              <a:latin typeface="Cambria Math" panose="02040503050406030204" pitchFamily="18" charset="0"/>
                            </a:rPr>
                          </m:ctrlPr>
                        </m:sSubSupPr>
                        <m:e>
                          <m:r>
                            <a:rPr lang="en-US" altLang="zh-CN" sz="2800" b="1" i="1" smtClean="0">
                              <a:latin typeface="Cambria Math" panose="02040503050406030204" pitchFamily="18" charset="0"/>
                            </a:rPr>
                            <m:t>𝑪</m:t>
                          </m:r>
                        </m:e>
                        <m:sub>
                          <m:r>
                            <a:rPr lang="en-US" altLang="zh-CN" sz="2800" b="1" i="1" smtClean="0">
                              <a:latin typeface="Cambria Math" panose="02040503050406030204" pitchFamily="18" charset="0"/>
                            </a:rPr>
                            <m:t>𝑩</m:t>
                          </m:r>
                        </m:sub>
                        <m:sup>
                          <m:r>
                            <a:rPr lang="en-US" altLang="zh-CN" sz="2800" b="1" i="1" smtClean="0">
                              <a:latin typeface="Cambria Math" panose="02040503050406030204" pitchFamily="18" charset="0"/>
                            </a:rPr>
                            <m:t>𝑻</m:t>
                          </m:r>
                        </m:sup>
                      </m:sSubSup>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𝑩</m:t>
                          </m:r>
                        </m:e>
                        <m:sup>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p>
                      </m:sSup>
                      <m:r>
                        <a:rPr lang="en-US" altLang="zh-CN" sz="2800" b="1" i="1" smtClean="0">
                          <a:latin typeface="Cambria Math" panose="02040503050406030204" pitchFamily="18" charset="0"/>
                        </a:rPr>
                        <m:t>𝑨</m:t>
                      </m:r>
                    </m:oMath>
                  </m:oMathPara>
                </a14:m>
                <a:endParaRPr lang="zh-CN" altLang="en-US" sz="2800" b="1" dirty="0"/>
              </a:p>
            </p:txBody>
          </p:sp>
        </mc:Choice>
        <mc:Fallback xmlns="">
          <p:sp>
            <p:nvSpPr>
              <p:cNvPr id="11" name="文本框 10">
                <a:extLst>
                  <a:ext uri="{FF2B5EF4-FFF2-40B4-BE49-F238E27FC236}">
                    <a16:creationId xmlns:a16="http://schemas.microsoft.com/office/drawing/2014/main" id="{E5BB7BAE-BBAA-4839-B8F9-9ED6D26AB14B}"/>
                  </a:ext>
                </a:extLst>
              </p:cNvPr>
              <p:cNvSpPr txBox="1">
                <a:spLocks noRot="1" noChangeAspect="1" noMove="1" noResize="1" noEditPoints="1" noAdjustHandles="1" noChangeArrowheads="1" noChangeShapeType="1" noTextEdit="1"/>
              </p:cNvSpPr>
              <p:nvPr/>
            </p:nvSpPr>
            <p:spPr>
              <a:xfrm>
                <a:off x="2335983" y="4634346"/>
                <a:ext cx="2998834" cy="54694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F9A1F53-0015-40C1-A8C1-FC62FF8933A7}"/>
                  </a:ext>
                </a:extLst>
              </p:cNvPr>
              <p:cNvSpPr txBox="1"/>
              <p:nvPr/>
            </p:nvSpPr>
            <p:spPr>
              <a:xfrm>
                <a:off x="1549400" y="5193991"/>
                <a:ext cx="4572000" cy="954107"/>
              </a:xfrm>
              <a:prstGeom prst="rect">
                <a:avLst/>
              </a:prstGeom>
              <a:noFill/>
            </p:spPr>
            <p:txBody>
              <a:bodyPr wrap="square" rtlCol="0">
                <a:spAutoFit/>
              </a:bodyPr>
              <a:lstStyle/>
              <a:p>
                <a:r>
                  <a:rPr lang="zh-CN" altLang="en-US" sz="2800" b="1" dirty="0"/>
                  <a:t>这部分对应最优解条件了</a:t>
                </a:r>
                <a:endParaRPr lang="en-US" altLang="zh-CN" sz="2800" b="1"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𝝈</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𝟎</m:t>
                      </m:r>
                    </m:oMath>
                  </m:oMathPara>
                </a14:m>
                <a:endParaRPr lang="zh-CN" altLang="en-US" sz="2800" b="1" dirty="0"/>
              </a:p>
            </p:txBody>
          </p:sp>
        </mc:Choice>
        <mc:Fallback xmlns="">
          <p:sp>
            <p:nvSpPr>
              <p:cNvPr id="12" name="文本框 11">
                <a:extLst>
                  <a:ext uri="{FF2B5EF4-FFF2-40B4-BE49-F238E27FC236}">
                    <a16:creationId xmlns:a16="http://schemas.microsoft.com/office/drawing/2014/main" id="{2F9A1F53-0015-40C1-A8C1-FC62FF8933A7}"/>
                  </a:ext>
                </a:extLst>
              </p:cNvPr>
              <p:cNvSpPr txBox="1">
                <a:spLocks noRot="1" noChangeAspect="1" noMove="1" noResize="1" noEditPoints="1" noAdjustHandles="1" noChangeArrowheads="1" noChangeShapeType="1" noTextEdit="1"/>
              </p:cNvSpPr>
              <p:nvPr/>
            </p:nvSpPr>
            <p:spPr>
              <a:xfrm>
                <a:off x="1549400" y="5193991"/>
                <a:ext cx="4572000" cy="954107"/>
              </a:xfrm>
              <a:prstGeom prst="rect">
                <a:avLst/>
              </a:prstGeom>
              <a:blipFill>
                <a:blip r:embed="rId5"/>
                <a:stretch>
                  <a:fillRect l="-2667" t="-82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84E3B55-DA6B-4B19-AD2B-558981058A5F}"/>
                  </a:ext>
                </a:extLst>
              </p:cNvPr>
              <p:cNvSpPr txBox="1"/>
              <p:nvPr/>
            </p:nvSpPr>
            <p:spPr>
              <a:xfrm>
                <a:off x="0" y="2468128"/>
                <a:ext cx="2057045" cy="1825628"/>
              </a:xfrm>
              <a:prstGeom prst="rect">
                <a:avLst/>
              </a:prstGeom>
              <a:noFill/>
            </p:spPr>
            <p:txBody>
              <a:bodyPr wrap="square" rtlCol="0">
                <a:spAutoFit/>
              </a:bodyPr>
              <a:lstStyle/>
              <a:p>
                <a:r>
                  <a:rPr lang="zh-CN" altLang="en-US" sz="2800" b="1" dirty="0"/>
                  <a:t>这部分不满足条件</a:t>
                </a:r>
                <a:endParaRPr lang="en-US" altLang="zh-CN" sz="2800" b="1" dirty="0"/>
              </a:p>
              <a:p>
                <a14:m>
                  <m:oMath xmlns:m="http://schemas.openxmlformats.org/officeDocument/2006/math">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𝑩</m:t>
                        </m:r>
                      </m:e>
                      <m:sup>
                        <m:r>
                          <a:rPr lang="en-US" altLang="zh-CN" sz="2800" b="1" i="1">
                            <a:latin typeface="Cambria Math" panose="02040503050406030204" pitchFamily="18" charset="0"/>
                          </a:rPr>
                          <m:t>−</m:t>
                        </m:r>
                        <m:r>
                          <a:rPr lang="en-US" altLang="zh-CN" sz="2800" b="1" i="1">
                            <a:latin typeface="Cambria Math" panose="02040503050406030204" pitchFamily="18" charset="0"/>
                          </a:rPr>
                          <m:t>𝟏</m:t>
                        </m:r>
                      </m:sup>
                    </m:sSup>
                    <m:r>
                      <a:rPr lang="en-US" altLang="zh-CN" sz="2800" b="1" i="1">
                        <a:latin typeface="Cambria Math" panose="02040503050406030204" pitchFamily="18" charset="0"/>
                      </a:rPr>
                      <m:t>𝒃</m:t>
                    </m:r>
                  </m:oMath>
                </a14:m>
                <a:r>
                  <a:rPr lang="zh-CN" altLang="en-US" sz="2800" b="1" dirty="0"/>
                  <a:t>某元素小于</a:t>
                </a:r>
                <a:r>
                  <a:rPr lang="en-US" altLang="zh-CN" sz="2800" b="1" dirty="0"/>
                  <a:t>0</a:t>
                </a:r>
                <a:endParaRPr lang="zh-CN" altLang="en-US" sz="2800" b="1" dirty="0"/>
              </a:p>
            </p:txBody>
          </p:sp>
        </mc:Choice>
        <mc:Fallback xmlns="">
          <p:sp>
            <p:nvSpPr>
              <p:cNvPr id="15" name="文本框 14">
                <a:extLst>
                  <a:ext uri="{FF2B5EF4-FFF2-40B4-BE49-F238E27FC236}">
                    <a16:creationId xmlns:a16="http://schemas.microsoft.com/office/drawing/2014/main" id="{784E3B55-DA6B-4B19-AD2B-558981058A5F}"/>
                  </a:ext>
                </a:extLst>
              </p:cNvPr>
              <p:cNvSpPr txBox="1">
                <a:spLocks noRot="1" noChangeAspect="1" noMove="1" noResize="1" noEditPoints="1" noAdjustHandles="1" noChangeArrowheads="1" noChangeShapeType="1" noTextEdit="1"/>
              </p:cNvSpPr>
              <p:nvPr/>
            </p:nvSpPr>
            <p:spPr>
              <a:xfrm>
                <a:off x="0" y="2468128"/>
                <a:ext cx="2057045" cy="1825628"/>
              </a:xfrm>
              <a:prstGeom prst="rect">
                <a:avLst/>
              </a:prstGeom>
              <a:blipFill>
                <a:blip r:embed="rId6"/>
                <a:stretch>
                  <a:fillRect l="-5935" t="-3679" r="-2374"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385DD5B-5E82-427E-8CD6-A1463E866B20}"/>
                  </a:ext>
                </a:extLst>
              </p:cNvPr>
              <p:cNvSpPr txBox="1"/>
              <p:nvPr/>
            </p:nvSpPr>
            <p:spPr>
              <a:xfrm>
                <a:off x="6350356" y="1600200"/>
                <a:ext cx="2573655" cy="4154984"/>
              </a:xfrm>
              <a:prstGeom prst="rect">
                <a:avLst/>
              </a:prstGeom>
              <a:noFill/>
              <a:ln>
                <a:solidFill>
                  <a:schemeClr val="tx1"/>
                </a:solidFill>
              </a:ln>
            </p:spPr>
            <p:txBody>
              <a:bodyPr wrap="square" rtlCol="0">
                <a:spAutoFit/>
              </a:bodyPr>
              <a:lstStyle/>
              <a:p>
                <a:r>
                  <a:rPr lang="zh-CN" altLang="en-US" sz="2400" dirty="0"/>
                  <a:t>为什么会有这种情形？</a:t>
                </a:r>
                <a:endParaRPr lang="en-US" altLang="zh-CN" sz="2400" dirty="0"/>
              </a:p>
              <a:p>
                <a:r>
                  <a:rPr lang="zh-CN" altLang="en-US" sz="2400" dirty="0"/>
                  <a:t>有的时候某一线性规划问题已求得最优解。但是后来某些条件（例如生产原料供应</a:t>
                </a:r>
                <a14:m>
                  <m:oMath xmlns:m="http://schemas.openxmlformats.org/officeDocument/2006/math">
                    <m:r>
                      <a:rPr lang="en-US" altLang="zh-CN" sz="2400" b="0" i="1" smtClean="0">
                        <a:latin typeface="Cambria Math" panose="02040503050406030204" pitchFamily="18" charset="0"/>
                      </a:rPr>
                      <m:t>𝑏</m:t>
                    </m:r>
                  </m:oMath>
                </a14:m>
                <a:r>
                  <a:rPr lang="zh-CN" altLang="en-US" sz="2400" dirty="0"/>
                  <a:t>发生了改变），需要基于之前的最优解求出新的解。</a:t>
                </a:r>
              </a:p>
            </p:txBody>
          </p:sp>
        </mc:Choice>
        <mc:Fallback xmlns="">
          <p:sp>
            <p:nvSpPr>
              <p:cNvPr id="13" name="文本框 12">
                <a:extLst>
                  <a:ext uri="{FF2B5EF4-FFF2-40B4-BE49-F238E27FC236}">
                    <a16:creationId xmlns:a16="http://schemas.microsoft.com/office/drawing/2014/main" id="{E385DD5B-5E82-427E-8CD6-A1463E866B20}"/>
                  </a:ext>
                </a:extLst>
              </p:cNvPr>
              <p:cNvSpPr txBox="1">
                <a:spLocks noRot="1" noChangeAspect="1" noMove="1" noResize="1" noEditPoints="1" noAdjustHandles="1" noChangeArrowheads="1" noChangeShapeType="1" noTextEdit="1"/>
              </p:cNvSpPr>
              <p:nvPr/>
            </p:nvSpPr>
            <p:spPr>
              <a:xfrm>
                <a:off x="6350356" y="1600200"/>
                <a:ext cx="2573655" cy="4154984"/>
              </a:xfrm>
              <a:prstGeom prst="rect">
                <a:avLst/>
              </a:prstGeom>
              <a:blipFill>
                <a:blip r:embed="rId7"/>
                <a:stretch>
                  <a:fillRect l="-3538" t="-1025" b="-1757"/>
                </a:stretch>
              </a:blipFill>
              <a:ln>
                <a:solidFill>
                  <a:schemeClr val="tx1"/>
                </a:solidFill>
              </a:ln>
            </p:spPr>
            <p:txBody>
              <a:bodyPr/>
              <a:lstStyle/>
              <a:p>
                <a:r>
                  <a:rPr lang="zh-CN" altLang="en-US">
                    <a:noFill/>
                  </a:rPr>
                  <a:t> </a:t>
                </a:r>
              </a:p>
            </p:txBody>
          </p:sp>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E462A826-C9FA-4C74-90D5-1A50165A503C}"/>
              </a:ext>
            </a:extLst>
          </p:cNvPr>
          <p:cNvSpPr>
            <a:spLocks noGrp="1" noChangeArrowheads="1"/>
          </p:cNvSpPr>
          <p:nvPr>
            <p:ph type="title"/>
          </p:nvPr>
        </p:nvSpPr>
        <p:spPr>
          <a:xfrm>
            <a:off x="457200" y="277813"/>
            <a:ext cx="8229600" cy="1139825"/>
          </a:xfrm>
        </p:spPr>
        <p:txBody>
          <a:bodyPr/>
          <a:lstStyle/>
          <a:p>
            <a:pPr eaLnBrk="1" hangingPunct="1"/>
            <a:r>
              <a:rPr lang="zh-CN" altLang="en-US" dirty="0"/>
              <a:t>基本思路</a:t>
            </a:r>
          </a:p>
        </p:txBody>
      </p:sp>
      <p:sp>
        <p:nvSpPr>
          <p:cNvPr id="4" name="矩形 3">
            <a:extLst>
              <a:ext uri="{FF2B5EF4-FFF2-40B4-BE49-F238E27FC236}">
                <a16:creationId xmlns:a16="http://schemas.microsoft.com/office/drawing/2014/main" id="{6216F4BE-4730-46FB-BEF6-E264A1D38207}"/>
              </a:ext>
            </a:extLst>
          </p:cNvPr>
          <p:cNvSpPr/>
          <p:nvPr/>
        </p:nvSpPr>
        <p:spPr>
          <a:xfrm>
            <a:off x="1315545" y="1642125"/>
            <a:ext cx="45720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2E1F6AF-F49C-4C27-9B7C-F72FA2B00E32}"/>
                  </a:ext>
                </a:extLst>
              </p:cNvPr>
              <p:cNvSpPr txBox="1"/>
              <p:nvPr/>
            </p:nvSpPr>
            <p:spPr>
              <a:xfrm>
                <a:off x="1315545" y="1642125"/>
                <a:ext cx="1143711" cy="5329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𝑩</m:t>
                          </m:r>
                        </m:e>
                        <m:sup>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p>
                      </m:sSup>
                      <m:r>
                        <a:rPr lang="en-US" altLang="zh-CN" sz="2800" b="1" i="1" smtClean="0">
                          <a:latin typeface="Cambria Math" panose="02040503050406030204" pitchFamily="18" charset="0"/>
                        </a:rPr>
                        <m:t>𝑨</m:t>
                      </m:r>
                    </m:oMath>
                  </m:oMathPara>
                </a14:m>
                <a:endParaRPr lang="zh-CN" altLang="en-US" sz="2800" b="1" dirty="0"/>
              </a:p>
            </p:txBody>
          </p:sp>
        </mc:Choice>
        <mc:Fallback xmlns="">
          <p:sp>
            <p:nvSpPr>
              <p:cNvPr id="5" name="文本框 4">
                <a:extLst>
                  <a:ext uri="{FF2B5EF4-FFF2-40B4-BE49-F238E27FC236}">
                    <a16:creationId xmlns:a16="http://schemas.microsoft.com/office/drawing/2014/main" id="{02E1F6AF-F49C-4C27-9B7C-F72FA2B00E32}"/>
                  </a:ext>
                </a:extLst>
              </p:cNvPr>
              <p:cNvSpPr txBox="1">
                <a:spLocks noRot="1" noChangeAspect="1" noMove="1" noResize="1" noEditPoints="1" noAdjustHandles="1" noChangeArrowheads="1" noChangeShapeType="1" noTextEdit="1"/>
              </p:cNvSpPr>
              <p:nvPr/>
            </p:nvSpPr>
            <p:spPr>
              <a:xfrm>
                <a:off x="1315545" y="1642125"/>
                <a:ext cx="1143711" cy="532966"/>
              </a:xfrm>
              <a:prstGeom prst="rect">
                <a:avLst/>
              </a:prstGeom>
              <a:blipFill>
                <a:blip r:embed="rId2"/>
                <a:stretch>
                  <a:fillRect/>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35F74520-584D-4315-9808-624DA3419187}"/>
              </a:ext>
            </a:extLst>
          </p:cNvPr>
          <p:cNvSpPr/>
          <p:nvPr/>
        </p:nvSpPr>
        <p:spPr>
          <a:xfrm>
            <a:off x="400789" y="1642125"/>
            <a:ext cx="6858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436FDC7-F5CA-4707-8948-F977E2738513}"/>
                  </a:ext>
                </a:extLst>
              </p:cNvPr>
              <p:cNvSpPr txBox="1"/>
              <p:nvPr/>
            </p:nvSpPr>
            <p:spPr>
              <a:xfrm>
                <a:off x="171834" y="1574297"/>
                <a:ext cx="1143711" cy="5329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𝑩</m:t>
                          </m:r>
                        </m:e>
                        <m:sup>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p>
                      </m:sSup>
                      <m:r>
                        <a:rPr lang="en-US" altLang="zh-CN" sz="2800" b="1" i="1" smtClean="0">
                          <a:latin typeface="Cambria Math" panose="02040503050406030204" pitchFamily="18" charset="0"/>
                        </a:rPr>
                        <m:t>𝒃</m:t>
                      </m:r>
                    </m:oMath>
                  </m:oMathPara>
                </a14:m>
                <a:endParaRPr lang="zh-CN" altLang="en-US" sz="2800" b="1" dirty="0"/>
              </a:p>
            </p:txBody>
          </p:sp>
        </mc:Choice>
        <mc:Fallback xmlns="">
          <p:sp>
            <p:nvSpPr>
              <p:cNvPr id="8" name="文本框 7">
                <a:extLst>
                  <a:ext uri="{FF2B5EF4-FFF2-40B4-BE49-F238E27FC236}">
                    <a16:creationId xmlns:a16="http://schemas.microsoft.com/office/drawing/2014/main" id="{F436FDC7-F5CA-4707-8948-F977E2738513}"/>
                  </a:ext>
                </a:extLst>
              </p:cNvPr>
              <p:cNvSpPr txBox="1">
                <a:spLocks noRot="1" noChangeAspect="1" noMove="1" noResize="1" noEditPoints="1" noAdjustHandles="1" noChangeArrowheads="1" noChangeShapeType="1" noTextEdit="1"/>
              </p:cNvSpPr>
              <p:nvPr/>
            </p:nvSpPr>
            <p:spPr>
              <a:xfrm>
                <a:off x="171834" y="1574297"/>
                <a:ext cx="1143711" cy="532966"/>
              </a:xfrm>
              <a:prstGeom prst="rect">
                <a:avLst/>
              </a:prstGeom>
              <a:blipFill>
                <a:blip r:embed="rId3"/>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C08031EE-9E9F-48AF-804C-457008B93E44}"/>
              </a:ext>
            </a:extLst>
          </p:cNvPr>
          <p:cNvSpPr/>
          <p:nvPr/>
        </p:nvSpPr>
        <p:spPr>
          <a:xfrm>
            <a:off x="1315545" y="4519543"/>
            <a:ext cx="4572000" cy="545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5BB7BAE-BBAA-4839-B8F9-9ED6D26AB14B}"/>
                  </a:ext>
                </a:extLst>
              </p:cNvPr>
              <p:cNvSpPr txBox="1"/>
              <p:nvPr/>
            </p:nvSpPr>
            <p:spPr>
              <a:xfrm>
                <a:off x="2102128" y="4532243"/>
                <a:ext cx="2998834" cy="5469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𝝈</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𝑪</m:t>
                      </m:r>
                      <m:r>
                        <a:rPr lang="en-US" altLang="zh-CN" sz="2800" b="1" i="1" smtClean="0">
                          <a:latin typeface="Cambria Math" panose="02040503050406030204" pitchFamily="18" charset="0"/>
                        </a:rPr>
                        <m:t> −</m:t>
                      </m:r>
                      <m:sSubSup>
                        <m:sSubSupPr>
                          <m:ctrlPr>
                            <a:rPr lang="en-US" altLang="zh-CN" sz="2800" b="1" i="1" smtClean="0">
                              <a:latin typeface="Cambria Math" panose="02040503050406030204" pitchFamily="18" charset="0"/>
                            </a:rPr>
                          </m:ctrlPr>
                        </m:sSubSupPr>
                        <m:e>
                          <m:r>
                            <a:rPr lang="en-US" altLang="zh-CN" sz="2800" b="1" i="1" smtClean="0">
                              <a:latin typeface="Cambria Math" panose="02040503050406030204" pitchFamily="18" charset="0"/>
                            </a:rPr>
                            <m:t>𝑪</m:t>
                          </m:r>
                        </m:e>
                        <m:sub>
                          <m:r>
                            <a:rPr lang="en-US" altLang="zh-CN" sz="2800" b="1" i="1" smtClean="0">
                              <a:latin typeface="Cambria Math" panose="02040503050406030204" pitchFamily="18" charset="0"/>
                            </a:rPr>
                            <m:t>𝑩</m:t>
                          </m:r>
                        </m:sub>
                        <m:sup>
                          <m:r>
                            <a:rPr lang="en-US" altLang="zh-CN" sz="2800" b="1" i="1" smtClean="0">
                              <a:latin typeface="Cambria Math" panose="02040503050406030204" pitchFamily="18" charset="0"/>
                            </a:rPr>
                            <m:t>𝑻</m:t>
                          </m:r>
                        </m:sup>
                      </m:sSubSup>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𝑩</m:t>
                          </m:r>
                        </m:e>
                        <m:sup>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p>
                      </m:sSup>
                      <m:r>
                        <a:rPr lang="en-US" altLang="zh-CN" sz="2800" b="1" i="1" smtClean="0">
                          <a:latin typeface="Cambria Math" panose="02040503050406030204" pitchFamily="18" charset="0"/>
                        </a:rPr>
                        <m:t>𝑨</m:t>
                      </m:r>
                    </m:oMath>
                  </m:oMathPara>
                </a14:m>
                <a:endParaRPr lang="zh-CN" altLang="en-US" sz="2800" b="1" dirty="0"/>
              </a:p>
            </p:txBody>
          </p:sp>
        </mc:Choice>
        <mc:Fallback xmlns="">
          <p:sp>
            <p:nvSpPr>
              <p:cNvPr id="11" name="文本框 10">
                <a:extLst>
                  <a:ext uri="{FF2B5EF4-FFF2-40B4-BE49-F238E27FC236}">
                    <a16:creationId xmlns:a16="http://schemas.microsoft.com/office/drawing/2014/main" id="{E5BB7BAE-BBAA-4839-B8F9-9ED6D26AB14B}"/>
                  </a:ext>
                </a:extLst>
              </p:cNvPr>
              <p:cNvSpPr txBox="1">
                <a:spLocks noRot="1" noChangeAspect="1" noMove="1" noResize="1" noEditPoints="1" noAdjustHandles="1" noChangeArrowheads="1" noChangeShapeType="1" noTextEdit="1"/>
              </p:cNvSpPr>
              <p:nvPr/>
            </p:nvSpPr>
            <p:spPr>
              <a:xfrm>
                <a:off x="2102128" y="4532243"/>
                <a:ext cx="2998834" cy="54694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F9A1F53-0015-40C1-A8C1-FC62FF8933A7}"/>
                  </a:ext>
                </a:extLst>
              </p:cNvPr>
              <p:cNvSpPr txBox="1"/>
              <p:nvPr/>
            </p:nvSpPr>
            <p:spPr>
              <a:xfrm>
                <a:off x="1315545" y="5091888"/>
                <a:ext cx="4572000" cy="954107"/>
              </a:xfrm>
              <a:prstGeom prst="rect">
                <a:avLst/>
              </a:prstGeom>
              <a:noFill/>
            </p:spPr>
            <p:txBody>
              <a:bodyPr wrap="square" rtlCol="0">
                <a:spAutoFit/>
              </a:bodyPr>
              <a:lstStyle/>
              <a:p>
                <a:r>
                  <a:rPr lang="zh-CN" altLang="en-US" sz="2800" b="1" dirty="0"/>
                  <a:t>这部分对应最优解条件了</a:t>
                </a:r>
                <a:endParaRPr lang="en-US" altLang="zh-CN" sz="2800" b="1"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𝝈</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𝟎</m:t>
                      </m:r>
                    </m:oMath>
                  </m:oMathPara>
                </a14:m>
                <a:endParaRPr lang="zh-CN" altLang="en-US" sz="2800" b="1" dirty="0"/>
              </a:p>
            </p:txBody>
          </p:sp>
        </mc:Choice>
        <mc:Fallback xmlns="">
          <p:sp>
            <p:nvSpPr>
              <p:cNvPr id="12" name="文本框 11">
                <a:extLst>
                  <a:ext uri="{FF2B5EF4-FFF2-40B4-BE49-F238E27FC236}">
                    <a16:creationId xmlns:a16="http://schemas.microsoft.com/office/drawing/2014/main" id="{2F9A1F53-0015-40C1-A8C1-FC62FF8933A7}"/>
                  </a:ext>
                </a:extLst>
              </p:cNvPr>
              <p:cNvSpPr txBox="1">
                <a:spLocks noRot="1" noChangeAspect="1" noMove="1" noResize="1" noEditPoints="1" noAdjustHandles="1" noChangeArrowheads="1" noChangeShapeType="1" noTextEdit="1"/>
              </p:cNvSpPr>
              <p:nvPr/>
            </p:nvSpPr>
            <p:spPr>
              <a:xfrm>
                <a:off x="1315545" y="5091888"/>
                <a:ext cx="4572000" cy="954107"/>
              </a:xfrm>
              <a:prstGeom prst="rect">
                <a:avLst/>
              </a:prstGeom>
              <a:blipFill>
                <a:blip r:embed="rId5"/>
                <a:stretch>
                  <a:fillRect l="-2800" t="-8280"/>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69C0A390-C802-4FD3-9757-3A3EB1CC871D}"/>
              </a:ext>
            </a:extLst>
          </p:cNvPr>
          <p:cNvSpPr/>
          <p:nvPr/>
        </p:nvSpPr>
        <p:spPr>
          <a:xfrm>
            <a:off x="400789" y="2564897"/>
            <a:ext cx="685800" cy="532966"/>
          </a:xfrm>
          <a:prstGeom prst="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73127DA-3459-4399-8C0A-C73BFA1B03BB}"/>
                  </a:ext>
                </a:extLst>
              </p:cNvPr>
              <p:cNvSpPr txBox="1"/>
              <p:nvPr/>
            </p:nvSpPr>
            <p:spPr>
              <a:xfrm>
                <a:off x="-5255" y="2638990"/>
                <a:ext cx="3044423" cy="658514"/>
              </a:xfrm>
              <a:prstGeom prst="rect">
                <a:avLst/>
              </a:prstGeom>
              <a:noFill/>
            </p:spPr>
            <p:txBody>
              <a:bodyPr wrap="none" rtlCol="0">
                <a:spAutoFit/>
              </a:bodyPr>
              <a:lstStyle/>
              <a:p>
                <a:r>
                  <a:rPr lang="zh-CN" altLang="en-US" b="1" dirty="0"/>
                  <a:t>第</a:t>
                </a:r>
                <a:r>
                  <a:rPr lang="en-US" altLang="zh-CN" b="1" dirty="0"/>
                  <a:t>k</a:t>
                </a:r>
                <a:r>
                  <a:rPr lang="zh-CN" altLang="en-US" b="1" dirty="0"/>
                  <a:t>个元素（</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𝑩</m:t>
                        </m:r>
                        <m:r>
                          <a:rPr lang="en-US" altLang="zh-CN" b="1" i="1" smtClean="0">
                            <a:latin typeface="Cambria Math" panose="02040503050406030204" pitchFamily="18" charset="0"/>
                          </a:rPr>
                          <m:t>,</m:t>
                        </m:r>
                        <m:r>
                          <a:rPr lang="en-US" altLang="zh-CN" b="1" i="1" smtClean="0">
                            <a:latin typeface="Cambria Math" panose="02040503050406030204" pitchFamily="18" charset="0"/>
                          </a:rPr>
                          <m:t>𝒌</m:t>
                        </m:r>
                      </m:sub>
                    </m:sSub>
                  </m:oMath>
                </a14:m>
                <a:r>
                  <a:rPr lang="zh-CN" altLang="en-US" b="1" dirty="0"/>
                  <a:t>）小于零</a:t>
                </a:r>
                <a:endParaRPr lang="en-US" altLang="zh-CN" b="1" dirty="0"/>
              </a:p>
              <a:p>
                <a:r>
                  <a:rPr lang="zh-CN" altLang="en-US" b="1" dirty="0"/>
                  <a:t>需要换出，要找换入变量</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𝒍</m:t>
                        </m:r>
                      </m:sub>
                    </m:sSub>
                  </m:oMath>
                </a14:m>
                <a:endParaRPr lang="zh-CN" altLang="en-US" b="1" dirty="0"/>
              </a:p>
            </p:txBody>
          </p:sp>
        </mc:Choice>
        <mc:Fallback xmlns="">
          <p:sp>
            <p:nvSpPr>
              <p:cNvPr id="3" name="文本框 2">
                <a:extLst>
                  <a:ext uri="{FF2B5EF4-FFF2-40B4-BE49-F238E27FC236}">
                    <a16:creationId xmlns:a16="http://schemas.microsoft.com/office/drawing/2014/main" id="{373127DA-3459-4399-8C0A-C73BFA1B03BB}"/>
                  </a:ext>
                </a:extLst>
              </p:cNvPr>
              <p:cNvSpPr txBox="1">
                <a:spLocks noRot="1" noChangeAspect="1" noMove="1" noResize="1" noEditPoints="1" noAdjustHandles="1" noChangeArrowheads="1" noChangeShapeType="1" noTextEdit="1"/>
              </p:cNvSpPr>
              <p:nvPr/>
            </p:nvSpPr>
            <p:spPr>
              <a:xfrm>
                <a:off x="-5255" y="2638990"/>
                <a:ext cx="3044423" cy="658514"/>
              </a:xfrm>
              <a:prstGeom prst="rect">
                <a:avLst/>
              </a:prstGeom>
              <a:blipFill>
                <a:blip r:embed="rId6"/>
                <a:stretch>
                  <a:fillRect l="-1600" t="-8333" b="-120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A6960DB-C0EF-4DE8-9AB6-B53C78C8F6F3}"/>
                  </a:ext>
                </a:extLst>
              </p:cNvPr>
              <p:cNvSpPr txBox="1"/>
              <p:nvPr/>
            </p:nvSpPr>
            <p:spPr>
              <a:xfrm>
                <a:off x="6116501" y="1066800"/>
                <a:ext cx="2667000" cy="2246769"/>
              </a:xfrm>
              <a:prstGeom prst="rect">
                <a:avLst/>
              </a:prstGeom>
              <a:noFill/>
            </p:spPr>
            <p:txBody>
              <a:bodyPr wrap="square" rtlCol="0">
                <a:spAutoFit/>
              </a:bodyPr>
              <a:lstStyle/>
              <a:p>
                <a:r>
                  <a:rPr lang="zh-CN" altLang="en-US" sz="2800" b="1" dirty="0"/>
                  <a:t>目标是将</a:t>
                </a:r>
                <a14:m>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𝒍</m:t>
                        </m:r>
                      </m:sub>
                    </m:sSub>
                    <m:r>
                      <a:rPr lang="zh-CN" altLang="en-US" sz="2800" b="1" i="1" smtClean="0">
                        <a:latin typeface="Cambria Math" panose="02040503050406030204" pitchFamily="18" charset="0"/>
                      </a:rPr>
                      <m:t>换入后</m:t>
                    </m:r>
                  </m:oMath>
                </a14:m>
                <a:r>
                  <a:rPr lang="en-US" altLang="zh-CN" sz="2800" b="1" dirty="0"/>
                  <a:t>:</a:t>
                </a:r>
              </a:p>
              <a:p>
                <a:pPr marL="514350" indent="-514350">
                  <a:buAutoNum type="arabicPeriod"/>
                </a:pPr>
                <a14:m>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𝒍</m:t>
                        </m:r>
                      </m:sub>
                    </m:sSub>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𝟎</m:t>
                    </m:r>
                  </m:oMath>
                </a14:m>
                <a:endParaRPr lang="en-US" altLang="zh-CN" sz="2800" b="1" dirty="0"/>
              </a:p>
              <a:p>
                <a:pPr marL="514350" indent="-514350">
                  <a:buAutoNum type="arabicPeriod"/>
                </a:pPr>
                <a:r>
                  <a:rPr lang="zh-CN" altLang="en-US" sz="2800" b="1" dirty="0"/>
                  <a:t>仍满足</a:t>
                </a:r>
                <a14:m>
                  <m:oMath xmlns:m="http://schemas.openxmlformats.org/officeDocument/2006/math">
                    <m:r>
                      <a:rPr lang="en-US" altLang="zh-CN" sz="2800" b="1" i="1">
                        <a:latin typeface="Cambria Math" panose="02040503050406030204" pitchFamily="18" charset="0"/>
                      </a:rPr>
                      <m:t>𝝈</m:t>
                    </m:r>
                    <m:r>
                      <a:rPr lang="en-US" altLang="zh-CN" sz="2800" b="1" i="1">
                        <a:latin typeface="Cambria Math" panose="02040503050406030204" pitchFamily="18" charset="0"/>
                      </a:rPr>
                      <m:t>≤</m:t>
                    </m:r>
                    <m:r>
                      <a:rPr lang="en-US" altLang="zh-CN" sz="2800" b="1" i="1">
                        <a:latin typeface="Cambria Math" panose="02040503050406030204" pitchFamily="18" charset="0"/>
                      </a:rPr>
                      <m:t>𝟎</m:t>
                    </m:r>
                    <m:r>
                      <a:rPr lang="zh-CN" altLang="en-US" sz="2800" b="1" i="1" smtClean="0">
                        <a:latin typeface="Cambria Math" panose="02040503050406030204" pitchFamily="18" charset="0"/>
                      </a:rPr>
                      <m:t>！</m:t>
                    </m:r>
                  </m:oMath>
                </a14:m>
                <a:endParaRPr lang="zh-CN" altLang="en-US" sz="2800" b="1" dirty="0"/>
              </a:p>
            </p:txBody>
          </p:sp>
        </mc:Choice>
        <mc:Fallback xmlns="">
          <p:sp>
            <p:nvSpPr>
              <p:cNvPr id="14" name="文本框 13">
                <a:extLst>
                  <a:ext uri="{FF2B5EF4-FFF2-40B4-BE49-F238E27FC236}">
                    <a16:creationId xmlns:a16="http://schemas.microsoft.com/office/drawing/2014/main" id="{0A6960DB-C0EF-4DE8-9AB6-B53C78C8F6F3}"/>
                  </a:ext>
                </a:extLst>
              </p:cNvPr>
              <p:cNvSpPr txBox="1">
                <a:spLocks noRot="1" noChangeAspect="1" noMove="1" noResize="1" noEditPoints="1" noAdjustHandles="1" noChangeArrowheads="1" noChangeShapeType="1" noTextEdit="1"/>
              </p:cNvSpPr>
              <p:nvPr/>
            </p:nvSpPr>
            <p:spPr>
              <a:xfrm>
                <a:off x="6116501" y="1066800"/>
                <a:ext cx="2667000" cy="2246769"/>
              </a:xfrm>
              <a:prstGeom prst="rect">
                <a:avLst/>
              </a:prstGeom>
              <a:blipFill>
                <a:blip r:embed="rId7"/>
                <a:stretch>
                  <a:fillRect l="-4566" t="-32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5EFE431C-E848-48D2-A650-7E38984C5FCF}"/>
                  </a:ext>
                </a:extLst>
              </p:cNvPr>
              <p:cNvSpPr txBox="1"/>
              <p:nvPr/>
            </p:nvSpPr>
            <p:spPr>
              <a:xfrm>
                <a:off x="6116500" y="3599163"/>
                <a:ext cx="2798899" cy="1840760"/>
              </a:xfrm>
              <a:prstGeom prst="rect">
                <a:avLst/>
              </a:prstGeom>
              <a:noFill/>
            </p:spPr>
            <p:txBody>
              <a:bodyPr wrap="square" rtlCol="0">
                <a:spAutoFit/>
              </a:bodyPr>
              <a:lstStyle/>
              <a:p>
                <a:r>
                  <a:rPr lang="zh-CN" altLang="en-US" sz="2800" b="1" dirty="0"/>
                  <a:t>需要分析将</a:t>
                </a:r>
                <a14:m>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𝒍</m:t>
                        </m:r>
                      </m:sub>
                    </m:sSub>
                    <m:r>
                      <a:rPr lang="zh-CN" altLang="en-US" sz="2800" b="1" i="1">
                        <a:latin typeface="Cambria Math" panose="02040503050406030204" pitchFamily="18" charset="0"/>
                      </a:rPr>
                      <m:t>换入</m:t>
                    </m:r>
                    <m:r>
                      <a:rPr lang="zh-CN" altLang="en-US" sz="2800" b="1" i="1" smtClean="0">
                        <a:latin typeface="Cambria Math" panose="02040503050406030204" pitchFamily="18" charset="0"/>
                      </a:rPr>
                      <m:t>、</m:t>
                    </m:r>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𝑩</m:t>
                        </m:r>
                        <m:r>
                          <a:rPr lang="en-US" altLang="zh-CN" sz="2800" b="1" i="1">
                            <a:latin typeface="Cambria Math" panose="02040503050406030204" pitchFamily="18" charset="0"/>
                          </a:rPr>
                          <m:t>,</m:t>
                        </m:r>
                        <m:r>
                          <a:rPr lang="en-US" altLang="zh-CN" sz="2800" b="1" i="1">
                            <a:latin typeface="Cambria Math" panose="02040503050406030204" pitchFamily="18" charset="0"/>
                          </a:rPr>
                          <m:t>𝒌</m:t>
                        </m:r>
                      </m:sub>
                    </m:sSub>
                  </m:oMath>
                </a14:m>
                <a:r>
                  <a:rPr lang="zh-CN" altLang="en-US" sz="2800" b="1" dirty="0"/>
                  <a:t>换出，</a:t>
                </a:r>
                <a:r>
                  <a:rPr lang="en-US" altLang="zh-CN" sz="2800" b="1" dirty="0"/>
                  <a:t> </a:t>
                </a:r>
                <a14:m>
                  <m:oMath xmlns:m="http://schemas.openxmlformats.org/officeDocument/2006/math">
                    <m:r>
                      <a:rPr lang="en-US" altLang="zh-CN" sz="2800" b="1" i="1">
                        <a:latin typeface="Cambria Math" panose="02040503050406030204" pitchFamily="18" charset="0"/>
                      </a:rPr>
                      <m:t>𝝈</m:t>
                    </m:r>
                  </m:oMath>
                </a14:m>
                <a:r>
                  <a:rPr lang="zh-CN" altLang="en-US" sz="2800" b="1" dirty="0"/>
                  <a:t>的变化情况</a:t>
                </a:r>
                <a:endParaRPr lang="en-US" altLang="zh-CN" sz="2800" b="1" dirty="0"/>
              </a:p>
              <a:p>
                <a:endParaRPr lang="en-US" altLang="zh-CN" sz="2800" b="1" dirty="0"/>
              </a:p>
            </p:txBody>
          </p:sp>
        </mc:Choice>
        <mc:Fallback xmlns="">
          <p:sp>
            <p:nvSpPr>
              <p:cNvPr id="17" name="文本框 16">
                <a:extLst>
                  <a:ext uri="{FF2B5EF4-FFF2-40B4-BE49-F238E27FC236}">
                    <a16:creationId xmlns:a16="http://schemas.microsoft.com/office/drawing/2014/main" id="{5EFE431C-E848-48D2-A650-7E38984C5FCF}"/>
                  </a:ext>
                </a:extLst>
              </p:cNvPr>
              <p:cNvSpPr txBox="1">
                <a:spLocks noRot="1" noChangeAspect="1" noMove="1" noResize="1" noEditPoints="1" noAdjustHandles="1" noChangeArrowheads="1" noChangeShapeType="1" noTextEdit="1"/>
              </p:cNvSpPr>
              <p:nvPr/>
            </p:nvSpPr>
            <p:spPr>
              <a:xfrm>
                <a:off x="6116500" y="3599163"/>
                <a:ext cx="2798899" cy="1840760"/>
              </a:xfrm>
              <a:prstGeom prst="rect">
                <a:avLst/>
              </a:prstGeom>
              <a:blipFill>
                <a:blip r:embed="rId8"/>
                <a:stretch>
                  <a:fillRect l="-4357" t="-39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39347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B4515-69FC-4532-B90B-23956186AA59}"/>
              </a:ext>
            </a:extLst>
          </p:cNvPr>
          <p:cNvSpPr>
            <a:spLocks noGrp="1"/>
          </p:cNvSpPr>
          <p:nvPr>
            <p:ph type="title"/>
          </p:nvPr>
        </p:nvSpPr>
        <p:spPr/>
        <p:txBody>
          <a:bodyPr/>
          <a:lstStyle/>
          <a:p>
            <a:r>
              <a:rPr lang="zh-CN" altLang="en-US" dirty="0"/>
              <a:t>与单纯型法比较</a:t>
            </a:r>
          </a:p>
        </p:txBody>
      </p:sp>
      <mc:AlternateContent xmlns:mc="http://schemas.openxmlformats.org/markup-compatibility/2006" xmlns:a14="http://schemas.microsoft.com/office/drawing/2010/main">
        <mc:Choice Requires="a14">
          <p:sp>
            <p:nvSpPr>
              <p:cNvPr id="8" name="内容占位符 7">
                <a:extLst>
                  <a:ext uri="{FF2B5EF4-FFF2-40B4-BE49-F238E27FC236}">
                    <a16:creationId xmlns:a16="http://schemas.microsoft.com/office/drawing/2014/main" id="{866AD5BD-54AA-42FA-9C3A-3CFB0118D2C9}"/>
                  </a:ext>
                </a:extLst>
              </p:cNvPr>
              <p:cNvSpPr>
                <a:spLocks noGrp="1"/>
              </p:cNvSpPr>
              <p:nvPr>
                <p:ph sz="half" idx="1"/>
              </p:nvPr>
            </p:nvSpPr>
            <p:spPr/>
            <p:txBody>
              <a:bodyPr/>
              <a:lstStyle/>
              <a:p>
                <a:r>
                  <a:rPr lang="zh-CN" altLang="en-US" dirty="0"/>
                  <a:t>对偶单纯形</a:t>
                </a:r>
                <a:endParaRPr lang="en-US" altLang="zh-CN" dirty="0"/>
              </a:p>
              <a:p>
                <a:r>
                  <a:rPr lang="zh-CN" altLang="en-US" dirty="0"/>
                  <a:t>通过</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rPr>
                      <m:t>𝒃</m:t>
                    </m:r>
                  </m:oMath>
                </a14:m>
                <a:r>
                  <a:rPr lang="zh-CN" altLang="en-US" dirty="0"/>
                  <a:t>确定换</a:t>
                </a:r>
                <a:r>
                  <a:rPr lang="zh-CN" altLang="en-US" dirty="0">
                    <a:highlight>
                      <a:srgbClr val="FFFF00"/>
                    </a:highlight>
                  </a:rPr>
                  <a:t>出</a:t>
                </a:r>
                <a:r>
                  <a:rPr lang="zh-CN" altLang="en-US" dirty="0"/>
                  <a:t>变量</a:t>
                </a:r>
                <a:endParaRPr lang="en-US" altLang="zh-CN" dirty="0"/>
              </a:p>
              <a:p>
                <a:r>
                  <a:rPr lang="zh-CN" altLang="en-US" dirty="0"/>
                  <a:t>通过保证</a:t>
                </a:r>
                <a14:m>
                  <m:oMath xmlns:m="http://schemas.openxmlformats.org/officeDocument/2006/math">
                    <m:r>
                      <a:rPr lang="en-US" altLang="zh-CN" i="1">
                        <a:latin typeface="Cambria Math" panose="02040503050406030204" pitchFamily="18" charset="0"/>
                      </a:rPr>
                      <m:t>𝝈</m:t>
                    </m:r>
                    <m:r>
                      <a:rPr lang="en-US" altLang="zh-CN" i="1">
                        <a:latin typeface="Cambria Math" panose="02040503050406030204" pitchFamily="18" charset="0"/>
                      </a:rPr>
                      <m:t>≤</m:t>
                    </m:r>
                    <m:r>
                      <a:rPr lang="en-US" altLang="zh-CN" i="1">
                        <a:latin typeface="Cambria Math" panose="02040503050406030204" pitchFamily="18" charset="0"/>
                      </a:rPr>
                      <m:t>𝟎</m:t>
                    </m:r>
                  </m:oMath>
                </a14:m>
                <a:r>
                  <a:rPr lang="zh-CN" altLang="en-US" dirty="0"/>
                  <a:t>找换</a:t>
                </a:r>
                <a:r>
                  <a:rPr lang="zh-CN" altLang="en-US" dirty="0">
                    <a:highlight>
                      <a:srgbClr val="FFFF00"/>
                    </a:highlight>
                  </a:rPr>
                  <a:t>入</a:t>
                </a:r>
                <a:r>
                  <a:rPr lang="zh-CN" altLang="en-US" dirty="0"/>
                  <a:t>变量</a:t>
                </a:r>
              </a:p>
            </p:txBody>
          </p:sp>
        </mc:Choice>
        <mc:Fallback xmlns="">
          <p:sp>
            <p:nvSpPr>
              <p:cNvPr id="8" name="内容占位符 7">
                <a:extLst>
                  <a:ext uri="{FF2B5EF4-FFF2-40B4-BE49-F238E27FC236}">
                    <a16:creationId xmlns:a16="http://schemas.microsoft.com/office/drawing/2014/main" id="{866AD5BD-54AA-42FA-9C3A-3CFB0118D2C9}"/>
                  </a:ext>
                </a:extLst>
              </p:cNvPr>
              <p:cNvSpPr>
                <a:spLocks noGrp="1" noRot="1" noChangeAspect="1" noMove="1" noResize="1" noEditPoints="1" noAdjustHandles="1" noChangeArrowheads="1" noChangeShapeType="1" noTextEdit="1"/>
              </p:cNvSpPr>
              <p:nvPr>
                <p:ph sz="half" idx="1"/>
              </p:nvPr>
            </p:nvSpPr>
            <p:spPr>
              <a:blipFill>
                <a:blip r:embed="rId2"/>
                <a:stretch>
                  <a:fillRect l="-905" t="-1884" r="-6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内容占位符 8">
                <a:extLst>
                  <a:ext uri="{FF2B5EF4-FFF2-40B4-BE49-F238E27FC236}">
                    <a16:creationId xmlns:a16="http://schemas.microsoft.com/office/drawing/2014/main" id="{416C6AE1-0975-4714-B553-A95B20172336}"/>
                  </a:ext>
                </a:extLst>
              </p:cNvPr>
              <p:cNvSpPr>
                <a:spLocks noGrp="1"/>
              </p:cNvSpPr>
              <p:nvPr>
                <p:ph sz="half" idx="2"/>
              </p:nvPr>
            </p:nvSpPr>
            <p:spPr/>
            <p:txBody>
              <a:bodyPr/>
              <a:lstStyle/>
              <a:p>
                <a:r>
                  <a:rPr lang="zh-CN" altLang="en-US" dirty="0"/>
                  <a:t>单纯形</a:t>
                </a:r>
                <a:endParaRPr lang="en-US" altLang="zh-CN" dirty="0"/>
              </a:p>
              <a:p>
                <a:r>
                  <a:rPr lang="zh-CN" altLang="en-US" dirty="0"/>
                  <a:t>通过</a:t>
                </a:r>
                <a14:m>
                  <m:oMath xmlns:m="http://schemas.openxmlformats.org/officeDocument/2006/math">
                    <m:r>
                      <a:rPr lang="en-US" altLang="zh-CN" i="1">
                        <a:latin typeface="Cambria Math" panose="02040503050406030204" pitchFamily="18" charset="0"/>
                      </a:rPr>
                      <m:t>𝝈</m:t>
                    </m:r>
                  </m:oMath>
                </a14:m>
                <a:r>
                  <a:rPr lang="zh-CN" altLang="en-US" dirty="0"/>
                  <a:t>确定换</a:t>
                </a:r>
                <a:r>
                  <a:rPr lang="zh-CN" altLang="en-US" dirty="0">
                    <a:highlight>
                      <a:srgbClr val="FFFF00"/>
                    </a:highlight>
                  </a:rPr>
                  <a:t>入</a:t>
                </a:r>
                <a:r>
                  <a:rPr lang="zh-CN" altLang="en-US" dirty="0"/>
                  <a:t>变量</a:t>
                </a:r>
                <a:endParaRPr lang="en-US" altLang="zh-CN" dirty="0"/>
              </a:p>
              <a:p>
                <a:r>
                  <a:rPr lang="zh-CN" altLang="en-US" dirty="0"/>
                  <a:t>通过保证</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rPr>
                      <m:t>𝒃</m:t>
                    </m:r>
                    <m:r>
                      <a:rPr lang="en-US" altLang="zh-CN" b="1" i="1" smtClean="0">
                        <a:latin typeface="Cambria Math" panose="02040503050406030204" pitchFamily="18" charset="0"/>
                      </a:rPr>
                      <m:t>≥</m:t>
                    </m:r>
                    <m:r>
                      <a:rPr lang="en-US" altLang="zh-CN" i="1">
                        <a:latin typeface="Cambria Math" panose="02040503050406030204" pitchFamily="18" charset="0"/>
                      </a:rPr>
                      <m:t>𝟎</m:t>
                    </m:r>
                  </m:oMath>
                </a14:m>
                <a:r>
                  <a:rPr lang="zh-CN" altLang="en-US" dirty="0"/>
                  <a:t>找换</a:t>
                </a:r>
                <a:r>
                  <a:rPr lang="zh-CN" altLang="en-US" dirty="0">
                    <a:highlight>
                      <a:srgbClr val="FFFF00"/>
                    </a:highlight>
                  </a:rPr>
                  <a:t>出</a:t>
                </a:r>
                <a:r>
                  <a:rPr lang="zh-CN" altLang="en-US" dirty="0"/>
                  <a:t>变量</a:t>
                </a:r>
              </a:p>
              <a:p>
                <a:endParaRPr lang="zh-CN" altLang="en-US" dirty="0"/>
              </a:p>
            </p:txBody>
          </p:sp>
        </mc:Choice>
        <mc:Fallback>
          <p:sp>
            <p:nvSpPr>
              <p:cNvPr id="9" name="内容占位符 8">
                <a:extLst>
                  <a:ext uri="{FF2B5EF4-FFF2-40B4-BE49-F238E27FC236}">
                    <a16:creationId xmlns:a16="http://schemas.microsoft.com/office/drawing/2014/main" id="{416C6AE1-0975-4714-B553-A95B20172336}"/>
                  </a:ext>
                </a:extLst>
              </p:cNvPr>
              <p:cNvSpPr>
                <a:spLocks noGrp="1" noRot="1" noChangeAspect="1" noMove="1" noResize="1" noEditPoints="1" noAdjustHandles="1" noChangeArrowheads="1" noChangeShapeType="1" noTextEdit="1"/>
              </p:cNvSpPr>
              <p:nvPr>
                <p:ph sz="half" idx="2"/>
              </p:nvPr>
            </p:nvSpPr>
            <p:spPr>
              <a:blipFill>
                <a:blip r:embed="rId3"/>
                <a:stretch>
                  <a:fillRect l="-1057" t="-18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186878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标题 4">
                <a:extLst>
                  <a:ext uri="{FF2B5EF4-FFF2-40B4-BE49-F238E27FC236}">
                    <a16:creationId xmlns:a16="http://schemas.microsoft.com/office/drawing/2014/main" id="{349FCFC6-0C80-4EA2-8BCC-3D3869996F41}"/>
                  </a:ext>
                </a:extLst>
              </p:cNvPr>
              <p:cNvSpPr>
                <a:spLocks noGrp="1"/>
              </p:cNvSpPr>
              <p:nvPr>
                <p:ph type="title"/>
              </p:nvPr>
            </p:nvSpPr>
            <p:spPr/>
            <p:txBody>
              <a:bodyPr/>
              <a:lstStyle/>
              <a:p>
                <a14:m>
                  <m:oMath xmlns:m="http://schemas.openxmlformats.org/officeDocument/2006/math">
                    <m:sSub>
                      <m:sSubPr>
                        <m:ctrlPr>
                          <a:rPr lang="en-US" altLang="zh-CN" sz="4400" i="1" smtClean="0">
                            <a:latin typeface="Cambria Math" panose="02040503050406030204" pitchFamily="18" charset="0"/>
                          </a:rPr>
                        </m:ctrlPr>
                      </m:sSubPr>
                      <m:e>
                        <m:r>
                          <a:rPr lang="en-US" altLang="zh-CN" sz="4400" i="1">
                            <a:latin typeface="Cambria Math" panose="02040503050406030204" pitchFamily="18" charset="0"/>
                          </a:rPr>
                          <m:t>𝒙</m:t>
                        </m:r>
                      </m:e>
                      <m:sub>
                        <m:r>
                          <a:rPr lang="en-US" altLang="zh-CN" sz="4400" i="1">
                            <a:latin typeface="Cambria Math" panose="02040503050406030204" pitchFamily="18" charset="0"/>
                          </a:rPr>
                          <m:t>𝒍</m:t>
                        </m:r>
                      </m:sub>
                    </m:sSub>
                    <m:r>
                      <a:rPr lang="en-US" altLang="zh-CN" sz="4400" i="1">
                        <a:latin typeface="Cambria Math" panose="02040503050406030204" pitchFamily="18" charset="0"/>
                      </a:rPr>
                      <m:t>≥</m:t>
                    </m:r>
                    <m:r>
                      <a:rPr lang="en-US" altLang="zh-CN" sz="4400" i="1">
                        <a:latin typeface="Cambria Math" panose="02040503050406030204" pitchFamily="18" charset="0"/>
                      </a:rPr>
                      <m:t>𝟎</m:t>
                    </m:r>
                    <m:r>
                      <a:rPr lang="zh-CN" altLang="en-US" sz="4400" i="1" smtClean="0">
                        <a:latin typeface="Cambria Math" panose="02040503050406030204" pitchFamily="18" charset="0"/>
                      </a:rPr>
                      <m:t>怎么</m:t>
                    </m:r>
                  </m:oMath>
                </a14:m>
                <a:r>
                  <a:rPr lang="zh-CN" altLang="en-US" dirty="0"/>
                  <a:t>保证？</a:t>
                </a:r>
              </a:p>
            </p:txBody>
          </p:sp>
        </mc:Choice>
        <mc:Fallback xmlns="">
          <p:sp>
            <p:nvSpPr>
              <p:cNvPr id="5" name="标题 4">
                <a:extLst>
                  <a:ext uri="{FF2B5EF4-FFF2-40B4-BE49-F238E27FC236}">
                    <a16:creationId xmlns:a16="http://schemas.microsoft.com/office/drawing/2014/main" id="{349FCFC6-0C80-4EA2-8BCC-3D3869996F41}"/>
                  </a:ext>
                </a:extLst>
              </p:cNvPr>
              <p:cNvSpPr>
                <a:spLocks noGrp="1" noRot="1" noChangeAspect="1" noMove="1" noResize="1" noEditPoints="1" noAdjustHandles="1" noChangeArrowheads="1" noChangeShapeType="1" noTextEdit="1"/>
              </p:cNvSpPr>
              <p:nvPr>
                <p:ph type="title"/>
              </p:nvPr>
            </p:nvSpPr>
            <p:spPr>
              <a:blipFill>
                <a:blip r:embed="rId2"/>
                <a:stretch>
                  <a:fillRect t="-13904"/>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6B85FF53-E170-419C-BA47-1527DA5B3FA6}"/>
              </a:ext>
            </a:extLst>
          </p:cNvPr>
          <p:cNvSpPr/>
          <p:nvPr/>
        </p:nvSpPr>
        <p:spPr>
          <a:xfrm>
            <a:off x="2514600" y="2095500"/>
            <a:ext cx="45720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BD619838-D089-4135-9C6E-EFADAC04EF8E}"/>
              </a:ext>
            </a:extLst>
          </p:cNvPr>
          <p:cNvSpPr/>
          <p:nvPr/>
        </p:nvSpPr>
        <p:spPr>
          <a:xfrm>
            <a:off x="1599844" y="2095500"/>
            <a:ext cx="6858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B619EEC8-0194-442B-B7C1-CEDBA024EA5C}"/>
              </a:ext>
            </a:extLst>
          </p:cNvPr>
          <p:cNvSpPr/>
          <p:nvPr/>
        </p:nvSpPr>
        <p:spPr>
          <a:xfrm>
            <a:off x="2514600" y="4972918"/>
            <a:ext cx="4572000" cy="545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3FCD27AC-19BC-4107-A207-FC6E6B20EAC6}"/>
              </a:ext>
            </a:extLst>
          </p:cNvPr>
          <p:cNvSpPr/>
          <p:nvPr/>
        </p:nvSpPr>
        <p:spPr>
          <a:xfrm>
            <a:off x="1599844" y="3048000"/>
            <a:ext cx="5486756" cy="381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579D4AC2-400E-45CE-BBD4-554D7A94928C}"/>
              </a:ext>
            </a:extLst>
          </p:cNvPr>
          <p:cNvSpPr/>
          <p:nvPr/>
        </p:nvSpPr>
        <p:spPr>
          <a:xfrm rot="5400000">
            <a:off x="2827760" y="3246862"/>
            <a:ext cx="2667001" cy="36427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50BB5FEF-1E98-4367-B330-89BB52A862C2}"/>
                  </a:ext>
                </a:extLst>
              </p:cNvPr>
              <p:cNvSpPr/>
              <p:nvPr/>
            </p:nvSpPr>
            <p:spPr>
              <a:xfrm>
                <a:off x="3570168" y="3017317"/>
                <a:ext cx="1182183" cy="4423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d>
                            <m:dPr>
                              <m:ctrlPr>
                                <a:rPr lang="en-US" altLang="zh-CN" b="1" i="1" smtClean="0">
                                  <a:latin typeface="Cambria Math" panose="02040503050406030204" pitchFamily="18" charset="0"/>
                                </a:rPr>
                              </m:ctrlPr>
                            </m:dPr>
                            <m:e>
                              <m:sSup>
                                <m:sSupPr>
                                  <m:ctrlPr>
                                    <a:rPr lang="en-US" altLang="zh-CN" b="1" i="1" smtClean="0">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a:rPr lang="en-US" altLang="zh-CN" b="1" i="1">
                                  <a:latin typeface="Cambria Math" panose="02040503050406030204" pitchFamily="18" charset="0"/>
                                </a:rPr>
                                <m:t>𝑨</m:t>
                              </m:r>
                            </m:e>
                          </m:d>
                        </m:e>
                        <m:sub>
                          <m:r>
                            <a:rPr lang="en-US" altLang="zh-CN" b="1" i="1" smtClean="0">
                              <a:latin typeface="Cambria Math" panose="02040503050406030204" pitchFamily="18" charset="0"/>
                            </a:rPr>
                            <m:t>𝒌𝒍</m:t>
                          </m:r>
                        </m:sub>
                      </m:sSub>
                    </m:oMath>
                  </m:oMathPara>
                </a14:m>
                <a:endParaRPr lang="zh-CN" altLang="en-US" dirty="0"/>
              </a:p>
            </p:txBody>
          </p:sp>
        </mc:Choice>
        <mc:Fallback xmlns="">
          <p:sp>
            <p:nvSpPr>
              <p:cNvPr id="13" name="矩形 12">
                <a:extLst>
                  <a:ext uri="{FF2B5EF4-FFF2-40B4-BE49-F238E27FC236}">
                    <a16:creationId xmlns:a16="http://schemas.microsoft.com/office/drawing/2014/main" id="{50BB5FEF-1E98-4367-B330-89BB52A862C2}"/>
                  </a:ext>
                </a:extLst>
              </p:cNvPr>
              <p:cNvSpPr>
                <a:spLocks noRot="1" noChangeAspect="1" noMove="1" noResize="1" noEditPoints="1" noAdjustHandles="1" noChangeArrowheads="1" noChangeShapeType="1" noTextEdit="1"/>
              </p:cNvSpPr>
              <p:nvPr/>
            </p:nvSpPr>
            <p:spPr>
              <a:xfrm>
                <a:off x="3570168" y="3017317"/>
                <a:ext cx="1182183" cy="442365"/>
              </a:xfrm>
              <a:prstGeom prst="rect">
                <a:avLst/>
              </a:prstGeom>
              <a:blipFill>
                <a:blip r:embed="rId3"/>
                <a:stretch>
                  <a:fillRect b="-27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0E92EF4-8458-4249-B79C-95CFBE5EDA5F}"/>
                  </a:ext>
                </a:extLst>
              </p:cNvPr>
              <p:cNvSpPr txBox="1"/>
              <p:nvPr/>
            </p:nvSpPr>
            <p:spPr>
              <a:xfrm>
                <a:off x="4703613" y="3014331"/>
                <a:ext cx="2503058" cy="442365"/>
              </a:xfrm>
              <a:prstGeom prst="rect">
                <a:avLst/>
              </a:prstGeom>
              <a:noFill/>
            </p:spPr>
            <p:txBody>
              <a:bodyPr wrap="none" rtlCol="0">
                <a:spAutoFit/>
              </a:bodyPr>
              <a:lstStyle/>
              <a:p>
                <a:r>
                  <a:rPr lang="zh-CN" altLang="en-US" dirty="0"/>
                  <a:t>这一行要除以</a:t>
                </a:r>
                <a14:m>
                  <m:oMath xmlns:m="http://schemas.openxmlformats.org/officeDocument/2006/math">
                    <m:sSub>
                      <m:sSubPr>
                        <m:ctrlPr>
                          <a:rPr lang="en-US" altLang="zh-CN" b="1" i="1">
                            <a:latin typeface="Cambria Math" panose="02040503050406030204" pitchFamily="18" charset="0"/>
                          </a:rPr>
                        </m:ctrlPr>
                      </m:sSubPr>
                      <m:e>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a:rPr lang="en-US" altLang="zh-CN" b="1" i="1">
                                <a:latin typeface="Cambria Math" panose="02040503050406030204" pitchFamily="18" charset="0"/>
                              </a:rPr>
                              <m:t>𝑨</m:t>
                            </m:r>
                          </m:e>
                        </m:d>
                      </m:e>
                      <m:sub>
                        <m:r>
                          <a:rPr lang="en-US" altLang="zh-CN" b="1" i="1">
                            <a:latin typeface="Cambria Math" panose="02040503050406030204" pitchFamily="18" charset="0"/>
                          </a:rPr>
                          <m:t>𝒌𝒍</m:t>
                        </m:r>
                      </m:sub>
                    </m:sSub>
                  </m:oMath>
                </a14:m>
                <a:endParaRPr lang="zh-CN" altLang="en-US" dirty="0"/>
              </a:p>
            </p:txBody>
          </p:sp>
        </mc:Choice>
        <mc:Fallback xmlns="">
          <p:sp>
            <p:nvSpPr>
              <p:cNvPr id="15" name="文本框 14">
                <a:extLst>
                  <a:ext uri="{FF2B5EF4-FFF2-40B4-BE49-F238E27FC236}">
                    <a16:creationId xmlns:a16="http://schemas.microsoft.com/office/drawing/2014/main" id="{E0E92EF4-8458-4249-B79C-95CFBE5EDA5F}"/>
                  </a:ext>
                </a:extLst>
              </p:cNvPr>
              <p:cNvSpPr txBox="1">
                <a:spLocks noRot="1" noChangeAspect="1" noMove="1" noResize="1" noEditPoints="1" noAdjustHandles="1" noChangeArrowheads="1" noChangeShapeType="1" noTextEdit="1"/>
              </p:cNvSpPr>
              <p:nvPr/>
            </p:nvSpPr>
            <p:spPr>
              <a:xfrm>
                <a:off x="4703613" y="3014331"/>
                <a:ext cx="2503058" cy="442365"/>
              </a:xfrm>
              <a:prstGeom prst="rect">
                <a:avLst/>
              </a:prstGeom>
              <a:blipFill>
                <a:blip r:embed="rId4"/>
                <a:stretch>
                  <a:fillRect l="-2195" t="-6849" b="-41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D1C8E63-FB9B-41AB-8356-4F4C05F20EE8}"/>
                  </a:ext>
                </a:extLst>
              </p:cNvPr>
              <p:cNvSpPr txBox="1"/>
              <p:nvPr/>
            </p:nvSpPr>
            <p:spPr>
              <a:xfrm>
                <a:off x="115364" y="2401156"/>
                <a:ext cx="2292935" cy="646844"/>
              </a:xfrm>
              <a:prstGeom prst="rect">
                <a:avLst/>
              </a:prstGeom>
              <a:noFill/>
            </p:spPr>
            <p:txBody>
              <a:bodyPr wrap="none" rtlCol="0">
                <a:spAutoFit/>
              </a:bodyPr>
              <a:lstStyle/>
              <a:p>
                <a:r>
                  <a:rPr lang="zh-CN" altLang="en-US" dirty="0"/>
                  <a:t>这个值变成了</a:t>
                </a:r>
                <a14:m>
                  <m:oMath xmlns:m="http://schemas.openxmlformats.org/officeDocument/2006/math">
                    <m:f>
                      <m:fPr>
                        <m:ctrlPr>
                          <a:rPr lang="en-US" altLang="zh-CN" b="0" i="1" smtClean="0">
                            <a:latin typeface="Cambria Math" panose="02040503050406030204" pitchFamily="18" charset="0"/>
                          </a:rPr>
                        </m:ctrlPr>
                      </m:fPr>
                      <m:num>
                        <m:sSub>
                          <m:sSubPr>
                            <m:ctrlPr>
                              <a:rPr lang="en-US" altLang="zh-CN" b="1" i="1">
                                <a:latin typeface="Cambria Math" panose="02040503050406030204" pitchFamily="18" charset="0"/>
                              </a:rPr>
                            </m:ctrlPr>
                          </m:sSubPr>
                          <m:e>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m:rPr>
                                    <m:sty m:val="p"/>
                                  </m:rPr>
                                  <a:rPr lang="en-US" altLang="zh-CN" b="1" i="1">
                                    <a:latin typeface="Cambria Math" panose="02040503050406030204" pitchFamily="18" charset="0"/>
                                  </a:rPr>
                                  <m:t>b</m:t>
                                </m:r>
                              </m:e>
                            </m:d>
                          </m:e>
                          <m:sub>
                            <m:r>
                              <m:rPr>
                                <m:sty m:val="p"/>
                              </m:rPr>
                              <a:rPr lang="en-US" altLang="zh-CN" b="1" i="1">
                                <a:latin typeface="Cambria Math" panose="02040503050406030204" pitchFamily="18" charset="0"/>
                              </a:rPr>
                              <m:t>k</m:t>
                            </m:r>
                          </m:sub>
                        </m:sSub>
                      </m:num>
                      <m:den>
                        <m:sSub>
                          <m:sSubPr>
                            <m:ctrlPr>
                              <a:rPr lang="en-US" altLang="zh-CN" b="1" i="1">
                                <a:latin typeface="Cambria Math" panose="02040503050406030204" pitchFamily="18" charset="0"/>
                              </a:rPr>
                            </m:ctrlPr>
                          </m:sSubPr>
                          <m:e>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a:rPr lang="en-US" altLang="zh-CN" b="1" i="1">
                                    <a:latin typeface="Cambria Math" panose="02040503050406030204" pitchFamily="18" charset="0"/>
                                  </a:rPr>
                                  <m:t>𝑨</m:t>
                                </m:r>
                              </m:e>
                            </m:d>
                          </m:e>
                          <m:sub>
                            <m:r>
                              <a:rPr lang="en-US" altLang="zh-CN" b="1" i="1">
                                <a:latin typeface="Cambria Math" panose="02040503050406030204" pitchFamily="18" charset="0"/>
                              </a:rPr>
                              <m:t>𝒌𝒍</m:t>
                            </m:r>
                          </m:sub>
                        </m:sSub>
                      </m:den>
                    </m:f>
                  </m:oMath>
                </a14:m>
                <a:endParaRPr lang="zh-CN" altLang="en-US" dirty="0"/>
              </a:p>
            </p:txBody>
          </p:sp>
        </mc:Choice>
        <mc:Fallback xmlns="">
          <p:sp>
            <p:nvSpPr>
              <p:cNvPr id="16" name="文本框 15">
                <a:extLst>
                  <a:ext uri="{FF2B5EF4-FFF2-40B4-BE49-F238E27FC236}">
                    <a16:creationId xmlns:a16="http://schemas.microsoft.com/office/drawing/2014/main" id="{AD1C8E63-FB9B-41AB-8356-4F4C05F20EE8}"/>
                  </a:ext>
                </a:extLst>
              </p:cNvPr>
              <p:cNvSpPr txBox="1">
                <a:spLocks noRot="1" noChangeAspect="1" noMove="1" noResize="1" noEditPoints="1" noAdjustHandles="1" noChangeArrowheads="1" noChangeShapeType="1" noTextEdit="1"/>
              </p:cNvSpPr>
              <p:nvPr/>
            </p:nvSpPr>
            <p:spPr>
              <a:xfrm>
                <a:off x="115364" y="2401156"/>
                <a:ext cx="2292935" cy="646844"/>
              </a:xfrm>
              <a:prstGeom prst="rect">
                <a:avLst/>
              </a:prstGeom>
              <a:blipFill>
                <a:blip r:embed="rId5"/>
                <a:stretch>
                  <a:fillRect l="-23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1D7B71AE-C99A-4A4E-A3A6-CF4FEA56CECE}"/>
                  </a:ext>
                </a:extLst>
              </p:cNvPr>
              <p:cNvSpPr/>
              <p:nvPr/>
            </p:nvSpPr>
            <p:spPr>
              <a:xfrm>
                <a:off x="1466308" y="3017317"/>
                <a:ext cx="1090811" cy="4410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d>
                            <m:dPr>
                              <m:ctrlPr>
                                <a:rPr lang="en-US" altLang="zh-CN" b="1" i="1" smtClean="0">
                                  <a:latin typeface="Cambria Math" panose="02040503050406030204" pitchFamily="18" charset="0"/>
                                </a:rPr>
                              </m:ctrlPr>
                            </m:dPr>
                            <m:e>
                              <m:sSup>
                                <m:sSupPr>
                                  <m:ctrlPr>
                                    <a:rPr lang="en-US" altLang="zh-CN" b="1" i="1" smtClean="0">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m:rPr>
                                  <m:sty m:val="p"/>
                                </m:rPr>
                                <a:rPr lang="en-US" altLang="zh-CN" b="1" i="1" smtClean="0">
                                  <a:latin typeface="Cambria Math" panose="02040503050406030204" pitchFamily="18" charset="0"/>
                                </a:rPr>
                                <m:t>b</m:t>
                              </m:r>
                            </m:e>
                          </m:d>
                        </m:e>
                        <m:sub>
                          <m:r>
                            <m:rPr>
                              <m:sty m:val="p"/>
                            </m:rPr>
                            <a:rPr lang="en-US" altLang="zh-CN" b="1" i="1">
                              <a:latin typeface="Cambria Math" panose="02040503050406030204" pitchFamily="18" charset="0"/>
                            </a:rPr>
                            <m:t>k</m:t>
                          </m:r>
                        </m:sub>
                      </m:sSub>
                    </m:oMath>
                  </m:oMathPara>
                </a14:m>
                <a:endParaRPr lang="zh-CN" altLang="en-US" dirty="0"/>
              </a:p>
            </p:txBody>
          </p:sp>
        </mc:Choice>
        <mc:Fallback xmlns="">
          <p:sp>
            <p:nvSpPr>
              <p:cNvPr id="17" name="矩形 16">
                <a:extLst>
                  <a:ext uri="{FF2B5EF4-FFF2-40B4-BE49-F238E27FC236}">
                    <a16:creationId xmlns:a16="http://schemas.microsoft.com/office/drawing/2014/main" id="{1D7B71AE-C99A-4A4E-A3A6-CF4FEA56CECE}"/>
                  </a:ext>
                </a:extLst>
              </p:cNvPr>
              <p:cNvSpPr>
                <a:spLocks noRot="1" noChangeAspect="1" noMove="1" noResize="1" noEditPoints="1" noAdjustHandles="1" noChangeArrowheads="1" noChangeShapeType="1" noTextEdit="1"/>
              </p:cNvSpPr>
              <p:nvPr/>
            </p:nvSpPr>
            <p:spPr>
              <a:xfrm>
                <a:off x="1466308" y="3017317"/>
                <a:ext cx="1090811" cy="441083"/>
              </a:xfrm>
              <a:prstGeom prst="rect">
                <a:avLst/>
              </a:prstGeom>
              <a:blipFill>
                <a:blip r:embed="rId6"/>
                <a:stretch>
                  <a:fillRect b="-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403D9FC-058F-465B-A2F7-257C04D58FAB}"/>
                  </a:ext>
                </a:extLst>
              </p:cNvPr>
              <p:cNvSpPr txBox="1"/>
              <p:nvPr/>
            </p:nvSpPr>
            <p:spPr>
              <a:xfrm>
                <a:off x="533400" y="4206436"/>
                <a:ext cx="3085508" cy="1068113"/>
              </a:xfrm>
              <a:prstGeom prst="rect">
                <a:avLst/>
              </a:prstGeom>
              <a:noFill/>
            </p:spPr>
            <p:txBody>
              <a:bodyPr wrap="square" rtlCol="0">
                <a:spAutoFit/>
              </a:bodyPr>
              <a:lstStyle/>
              <a:p>
                <a:r>
                  <a:rPr lang="zh-CN" altLang="en-US" dirty="0"/>
                  <a:t>原来</a:t>
                </a:r>
                <a14:m>
                  <m:oMath xmlns:m="http://schemas.openxmlformats.org/officeDocument/2006/math">
                    <m:sSub>
                      <m:sSubPr>
                        <m:ctrlPr>
                          <a:rPr lang="en-US" altLang="zh-CN" b="1" i="1">
                            <a:latin typeface="Cambria Math" panose="02040503050406030204" pitchFamily="18" charset="0"/>
                          </a:rPr>
                        </m:ctrlPr>
                      </m:sSubPr>
                      <m:e>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m:rPr>
                                <m:sty m:val="p"/>
                              </m:rPr>
                              <a:rPr lang="en-US" altLang="zh-CN" b="1" i="1">
                                <a:latin typeface="Cambria Math" panose="02040503050406030204" pitchFamily="18" charset="0"/>
                              </a:rPr>
                              <m:t>b</m:t>
                            </m:r>
                          </m:e>
                        </m:d>
                      </m:e>
                      <m:sub>
                        <m:r>
                          <m:rPr>
                            <m:sty m:val="p"/>
                          </m:rPr>
                          <a:rPr lang="en-US" altLang="zh-CN" b="1" i="1">
                            <a:latin typeface="Cambria Math" panose="02040503050406030204" pitchFamily="18" charset="0"/>
                          </a:rPr>
                          <m:t>k</m:t>
                        </m:r>
                      </m:sub>
                    </m:sSub>
                  </m:oMath>
                </a14:m>
                <a:r>
                  <a:rPr lang="zh-CN" altLang="en-US" dirty="0"/>
                  <a:t>是个负数，所以要求</a:t>
                </a:r>
                <a14:m>
                  <m:oMath xmlns:m="http://schemas.openxmlformats.org/officeDocument/2006/math">
                    <m:sSub>
                      <m:sSubPr>
                        <m:ctrlPr>
                          <a:rPr lang="en-US" altLang="zh-CN" b="1" i="1">
                            <a:latin typeface="Cambria Math" panose="02040503050406030204" pitchFamily="18" charset="0"/>
                          </a:rPr>
                        </m:ctrlPr>
                      </m:sSubPr>
                      <m:e>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a:rPr lang="en-US" altLang="zh-CN" b="1" i="1">
                                <a:latin typeface="Cambria Math" panose="02040503050406030204" pitchFamily="18" charset="0"/>
                              </a:rPr>
                              <m:t>𝑨</m:t>
                            </m:r>
                          </m:e>
                        </m:d>
                      </m:e>
                      <m:sub>
                        <m:r>
                          <a:rPr lang="en-US" altLang="zh-CN" b="1" i="1">
                            <a:latin typeface="Cambria Math" panose="02040503050406030204" pitchFamily="18" charset="0"/>
                          </a:rPr>
                          <m:t>𝒌𝒍</m:t>
                        </m:r>
                      </m:sub>
                    </m:sSub>
                  </m:oMath>
                </a14:m>
                <a:r>
                  <a:rPr lang="zh-CN" altLang="en-US" dirty="0"/>
                  <a:t>也是负数，这样商才是个正数</a:t>
                </a:r>
              </a:p>
            </p:txBody>
          </p:sp>
        </mc:Choice>
        <mc:Fallback xmlns="">
          <p:sp>
            <p:nvSpPr>
              <p:cNvPr id="18" name="文本框 17">
                <a:extLst>
                  <a:ext uri="{FF2B5EF4-FFF2-40B4-BE49-F238E27FC236}">
                    <a16:creationId xmlns:a16="http://schemas.microsoft.com/office/drawing/2014/main" id="{9403D9FC-058F-465B-A2F7-257C04D58FAB}"/>
                  </a:ext>
                </a:extLst>
              </p:cNvPr>
              <p:cNvSpPr txBox="1">
                <a:spLocks noRot="1" noChangeAspect="1" noMove="1" noResize="1" noEditPoints="1" noAdjustHandles="1" noChangeArrowheads="1" noChangeShapeType="1" noTextEdit="1"/>
              </p:cNvSpPr>
              <p:nvPr/>
            </p:nvSpPr>
            <p:spPr>
              <a:xfrm>
                <a:off x="533400" y="4206436"/>
                <a:ext cx="3085508" cy="1068113"/>
              </a:xfrm>
              <a:prstGeom prst="rect">
                <a:avLst/>
              </a:prstGeom>
              <a:blipFill>
                <a:blip r:embed="rId7"/>
                <a:stretch>
                  <a:fillRect l="-1779" t="-2857" r="-1581" b="-68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19497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标题 4">
                <a:extLst>
                  <a:ext uri="{FF2B5EF4-FFF2-40B4-BE49-F238E27FC236}">
                    <a16:creationId xmlns:a16="http://schemas.microsoft.com/office/drawing/2014/main" id="{79BCF759-BA12-40CB-9C3B-9E81CA69B61F}"/>
                  </a:ext>
                </a:extLst>
              </p:cNvPr>
              <p:cNvSpPr>
                <a:spLocks noGrp="1"/>
              </p:cNvSpPr>
              <p:nvPr>
                <p:ph type="title"/>
              </p:nvPr>
            </p:nvSpPr>
            <p:spPr/>
            <p:txBody>
              <a:bodyPr/>
              <a:lstStyle/>
              <a:p>
                <a14:m>
                  <m:oMath xmlns:m="http://schemas.openxmlformats.org/officeDocument/2006/math">
                    <m:r>
                      <a:rPr lang="en-US" altLang="zh-CN" sz="4400" i="1">
                        <a:latin typeface="Cambria Math" panose="02040503050406030204" pitchFamily="18" charset="0"/>
                      </a:rPr>
                      <m:t>𝝈</m:t>
                    </m:r>
                    <m:r>
                      <a:rPr lang="en-US" altLang="zh-CN" sz="4400" i="1">
                        <a:latin typeface="Cambria Math" panose="02040503050406030204" pitchFamily="18" charset="0"/>
                      </a:rPr>
                      <m:t>≤</m:t>
                    </m:r>
                    <m:r>
                      <a:rPr lang="en-US" altLang="zh-CN" sz="4400" i="1">
                        <a:latin typeface="Cambria Math" panose="02040503050406030204" pitchFamily="18" charset="0"/>
                      </a:rPr>
                      <m:t>𝟎</m:t>
                    </m:r>
                  </m:oMath>
                </a14:m>
                <a:r>
                  <a:rPr lang="zh-CN" altLang="en-US" dirty="0"/>
                  <a:t>怎么保证？</a:t>
                </a:r>
              </a:p>
            </p:txBody>
          </p:sp>
        </mc:Choice>
        <mc:Fallback xmlns="">
          <p:sp>
            <p:nvSpPr>
              <p:cNvPr id="5" name="标题 4">
                <a:extLst>
                  <a:ext uri="{FF2B5EF4-FFF2-40B4-BE49-F238E27FC236}">
                    <a16:creationId xmlns:a16="http://schemas.microsoft.com/office/drawing/2014/main" id="{79BCF759-BA12-40CB-9C3B-9E81CA69B61F}"/>
                  </a:ext>
                </a:extLst>
              </p:cNvPr>
              <p:cNvSpPr>
                <a:spLocks noGrp="1" noRot="1" noChangeAspect="1" noMove="1" noResize="1" noEditPoints="1" noAdjustHandles="1" noChangeArrowheads="1" noChangeShapeType="1" noTextEdit="1"/>
              </p:cNvSpPr>
              <p:nvPr>
                <p:ph type="title"/>
              </p:nvPr>
            </p:nvSpPr>
            <p:spPr>
              <a:blipFill>
                <a:blip r:embed="rId2"/>
                <a:stretch>
                  <a:fillRect t="-149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内容占位符 6">
                <a:extLst>
                  <a:ext uri="{FF2B5EF4-FFF2-40B4-BE49-F238E27FC236}">
                    <a16:creationId xmlns:a16="http://schemas.microsoft.com/office/drawing/2014/main" id="{7D938192-B272-4B63-9ECA-945623F497B8}"/>
                  </a:ext>
                </a:extLst>
              </p:cNvPr>
              <p:cNvSpPr txBox="1">
                <a:spLocks noGrp="1"/>
              </p:cNvSpPr>
              <p:nvPr>
                <p:ph idx="1"/>
              </p:nvPr>
            </p:nvSpPr>
            <p:spPr>
              <a:xfrm>
                <a:off x="457200" y="1600200"/>
                <a:ext cx="8229600" cy="3921651"/>
              </a:xfrm>
              <a:prstGeom prst="rect">
                <a:avLst/>
              </a:prstGeom>
              <a:noFill/>
            </p:spPr>
            <p:txBody>
              <a:bodyPr wrap="square" rtlCol="0">
                <a:spAutoFit/>
              </a:bodyPr>
              <a:lstStyle/>
              <a:p>
                <a:r>
                  <a:rPr lang="zh-CN" altLang="en-US" sz="2800" b="1" dirty="0"/>
                  <a:t>将</a:t>
                </a:r>
                <a14:m>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𝒍</m:t>
                        </m:r>
                      </m:sub>
                    </m:sSub>
                    <m:r>
                      <a:rPr lang="zh-CN" altLang="en-US" sz="2800" b="1" i="1">
                        <a:latin typeface="Cambria Math" panose="02040503050406030204" pitchFamily="18" charset="0"/>
                      </a:rPr>
                      <m:t>换入</m:t>
                    </m:r>
                    <m:r>
                      <a:rPr lang="zh-CN" altLang="en-US" sz="2800" b="1" i="1" smtClean="0">
                        <a:latin typeface="Cambria Math" panose="02040503050406030204" pitchFamily="18" charset="0"/>
                      </a:rPr>
                      <m:t>、</m:t>
                    </m:r>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𝒙</m:t>
                        </m:r>
                      </m:e>
                      <m:sub>
                        <m:r>
                          <a:rPr lang="en-US" altLang="zh-CN" sz="2800" b="1" i="1">
                            <a:latin typeface="Cambria Math" panose="02040503050406030204" pitchFamily="18" charset="0"/>
                          </a:rPr>
                          <m:t>𝑩</m:t>
                        </m:r>
                        <m:r>
                          <a:rPr lang="en-US" altLang="zh-CN" sz="2800" b="1" i="1">
                            <a:latin typeface="Cambria Math" panose="02040503050406030204" pitchFamily="18" charset="0"/>
                          </a:rPr>
                          <m:t>,</m:t>
                        </m:r>
                        <m:r>
                          <a:rPr lang="en-US" altLang="zh-CN" sz="2800" b="1" i="1">
                            <a:latin typeface="Cambria Math" panose="02040503050406030204" pitchFamily="18" charset="0"/>
                          </a:rPr>
                          <m:t>𝒌</m:t>
                        </m:r>
                      </m:sub>
                    </m:sSub>
                  </m:oMath>
                </a14:m>
                <a:r>
                  <a:rPr lang="zh-CN" altLang="en-US" sz="2800" b="1" dirty="0"/>
                  <a:t>换出后，</a:t>
                </a:r>
                <a:r>
                  <a:rPr lang="en-US" altLang="zh-CN" sz="2800" b="1" dirty="0"/>
                  <a:t> </a:t>
                </a:r>
                <a14:m>
                  <m:oMath xmlns:m="http://schemas.openxmlformats.org/officeDocument/2006/math">
                    <m:r>
                      <a:rPr lang="en-US" altLang="zh-CN" sz="2800" b="1" i="1">
                        <a:latin typeface="Cambria Math" panose="02040503050406030204" pitchFamily="18" charset="0"/>
                      </a:rPr>
                      <m:t>𝝈</m:t>
                    </m:r>
                  </m:oMath>
                </a14:m>
                <a:r>
                  <a:rPr lang="zh-CN" altLang="en-US" sz="2800" b="1" dirty="0"/>
                  <a:t>的变化情况为</a:t>
                </a:r>
                <a:endParaRPr lang="en-US" altLang="zh-CN" sz="2800" b="1" dirty="0"/>
              </a:p>
              <a:p>
                <a14:m>
                  <m:oMath xmlns:m="http://schemas.openxmlformats.org/officeDocument/2006/math">
                    <m:sSubSup>
                      <m:sSubSupPr>
                        <m:ctrlPr>
                          <a:rPr lang="en-US" altLang="zh-CN" sz="2800" b="1" i="1" smtClean="0">
                            <a:latin typeface="Cambria Math" panose="02040503050406030204" pitchFamily="18" charset="0"/>
                          </a:rPr>
                        </m:ctrlPr>
                      </m:sSubSupPr>
                      <m:e>
                        <m:r>
                          <a:rPr lang="en-US" altLang="zh-CN" sz="2800" b="1" i="1" smtClean="0">
                            <a:latin typeface="Cambria Math" panose="02040503050406030204" pitchFamily="18" charset="0"/>
                          </a:rPr>
                          <m:t>𝝈</m:t>
                        </m:r>
                      </m:e>
                      <m:sub>
                        <m:r>
                          <a:rPr lang="en-US" altLang="zh-CN" sz="2800" b="1" i="1" smtClean="0">
                            <a:latin typeface="Cambria Math" panose="02040503050406030204" pitchFamily="18" charset="0"/>
                          </a:rPr>
                          <m:t>𝒊</m:t>
                        </m:r>
                      </m:sub>
                      <m:sup>
                        <m:r>
                          <a:rPr lang="en-US" altLang="zh-CN" sz="2800" b="1" i="1" smtClean="0">
                            <a:latin typeface="Cambria Math" panose="02040503050406030204" pitchFamily="18" charset="0"/>
                          </a:rPr>
                          <m:t>′</m:t>
                        </m:r>
                      </m:sup>
                    </m:sSubSup>
                    <m:r>
                      <a:rPr lang="en-US" altLang="zh-CN" sz="2800" b="1" i="1" smtClean="0">
                        <a:latin typeface="Cambria Math" panose="02040503050406030204" pitchFamily="18" charset="0"/>
                      </a:rPr>
                      <m:t>=</m:t>
                    </m:r>
                    <m:sSub>
                      <m:sSubPr>
                        <m:ctrlPr>
                          <a:rPr lang="en-US" altLang="zh-CN" sz="2800" b="1" i="1" smtClean="0">
                            <a:latin typeface="Cambria Math" panose="02040503050406030204" pitchFamily="18" charset="0"/>
                          </a:rPr>
                        </m:ctrlPr>
                      </m:sSubPr>
                      <m:e>
                        <m:r>
                          <a:rPr lang="en-US" altLang="zh-CN" sz="2800" b="1" i="1" smtClean="0">
                            <a:latin typeface="Cambria Math" panose="02040503050406030204" pitchFamily="18" charset="0"/>
                          </a:rPr>
                          <m:t>𝝈</m:t>
                        </m:r>
                      </m:e>
                      <m:sub>
                        <m:r>
                          <a:rPr lang="en-US" altLang="zh-CN" sz="2800" b="1" i="1" smtClean="0">
                            <a:latin typeface="Cambria Math" panose="02040503050406030204" pitchFamily="18" charset="0"/>
                          </a:rPr>
                          <m:t>𝒊</m:t>
                        </m:r>
                      </m:sub>
                    </m:sSub>
                    <m:r>
                      <a:rPr lang="en-US" altLang="zh-CN" sz="2800" b="1" i="1" smtClean="0">
                        <a:latin typeface="Cambria Math" panose="02040503050406030204" pitchFamily="18" charset="0"/>
                      </a:rPr>
                      <m:t>−</m:t>
                    </m:r>
                    <m:f>
                      <m:fPr>
                        <m:ctrlPr>
                          <a:rPr lang="en-US" altLang="zh-CN" sz="2800" b="1" i="1" smtClean="0">
                            <a:latin typeface="Cambria Math" panose="02040503050406030204" pitchFamily="18" charset="0"/>
                          </a:rPr>
                        </m:ctrlPr>
                      </m:fPr>
                      <m:num>
                        <m:sSub>
                          <m:sSubPr>
                            <m:ctrlPr>
                              <a:rPr lang="en-US" altLang="zh-CN" sz="2800" b="1" i="1" smtClean="0">
                                <a:latin typeface="Cambria Math" panose="02040503050406030204" pitchFamily="18" charset="0"/>
                              </a:rPr>
                            </m:ctrlPr>
                          </m:sSubPr>
                          <m:e>
                            <m:d>
                              <m:dPr>
                                <m:ctrlPr>
                                  <a:rPr lang="en-US" altLang="zh-CN" sz="2800" b="1" i="1" smtClean="0">
                                    <a:latin typeface="Cambria Math" panose="02040503050406030204" pitchFamily="18" charset="0"/>
                                  </a:rPr>
                                </m:ctrlPr>
                              </m:dPr>
                              <m:e>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𝑩</m:t>
                                    </m:r>
                                  </m:e>
                                  <m:sup>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sup>
                                </m:sSup>
                                <m:r>
                                  <a:rPr lang="en-US" altLang="zh-CN" sz="2800" b="1" i="1" smtClean="0">
                                    <a:latin typeface="Cambria Math" panose="02040503050406030204" pitchFamily="18" charset="0"/>
                                  </a:rPr>
                                  <m:t>𝑨</m:t>
                                </m:r>
                              </m:e>
                            </m:d>
                          </m:e>
                          <m:sub>
                            <m:r>
                              <a:rPr lang="en-US" altLang="zh-CN" sz="2800" b="1" i="1" smtClean="0">
                                <a:latin typeface="Cambria Math" panose="02040503050406030204" pitchFamily="18" charset="0"/>
                              </a:rPr>
                              <m:t>𝒌</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𝒊</m:t>
                            </m:r>
                          </m:sub>
                        </m:sSub>
                      </m:num>
                      <m:den>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rPr>
                                  <m:t>𝑨</m:t>
                                </m:r>
                              </m:e>
                            </m:d>
                          </m:e>
                          <m:sub>
                            <m:r>
                              <a:rPr lang="en-US" altLang="zh-CN" i="1">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𝒍</m:t>
                            </m:r>
                          </m:sub>
                        </m:sSub>
                      </m:den>
                    </m:f>
                    <m:r>
                      <a:rPr lang="en-US" altLang="zh-CN" sz="2800" b="1" i="1" smtClean="0">
                        <a:latin typeface="Cambria Math" panose="02040503050406030204" pitchFamily="18" charset="0"/>
                      </a:rPr>
                      <m:t>×</m:t>
                    </m:r>
                    <m:sSub>
                      <m:sSubPr>
                        <m:ctrlPr>
                          <a:rPr lang="en-US" altLang="zh-CN" sz="2800" b="1" i="1" smtClean="0">
                            <a:latin typeface="Cambria Math" panose="02040503050406030204" pitchFamily="18" charset="0"/>
                          </a:rPr>
                        </m:ctrlPr>
                      </m:sSubPr>
                      <m:e>
                        <m:r>
                          <a:rPr lang="en-US" altLang="zh-CN" sz="2800" b="1" i="1" smtClean="0">
                            <a:latin typeface="Cambria Math" panose="02040503050406030204" pitchFamily="18" charset="0"/>
                          </a:rPr>
                          <m:t>𝝈</m:t>
                        </m:r>
                      </m:e>
                      <m:sub>
                        <m:r>
                          <a:rPr lang="en-US" altLang="zh-CN" sz="2800" b="1" i="1" smtClean="0">
                            <a:latin typeface="Cambria Math" panose="02040503050406030204" pitchFamily="18" charset="0"/>
                          </a:rPr>
                          <m:t>𝒍</m:t>
                        </m:r>
                      </m:sub>
                    </m:sSub>
                  </m:oMath>
                </a14:m>
                <a:r>
                  <a:rPr lang="en-US" altLang="zh-CN" sz="2800" b="1" dirty="0"/>
                  <a:t>, </a:t>
                </a:r>
                <a14:m>
                  <m:oMath xmlns:m="http://schemas.openxmlformats.org/officeDocument/2006/math">
                    <m:r>
                      <a:rPr lang="en-US" altLang="zh-CN" sz="2800" b="1" i="1" smtClean="0">
                        <a:latin typeface="Cambria Math" panose="02040503050406030204" pitchFamily="18" charset="0"/>
                      </a:rPr>
                      <m:t>𝒊</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𝟏</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𝟐</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𝒏</m:t>
                    </m:r>
                  </m:oMath>
                </a14:m>
                <a:endParaRPr lang="en-US" altLang="zh-CN" sz="2800" b="1" dirty="0"/>
              </a:p>
              <a:p>
                <a14:m>
                  <m:oMath xmlns:m="http://schemas.openxmlformats.org/officeDocument/2006/math">
                    <m:sSup>
                      <m:sSupPr>
                        <m:ctrlPr>
                          <a:rPr lang="en-US" altLang="zh-CN" b="1" i="1" smtClean="0">
                            <a:latin typeface="Cambria Math" panose="02040503050406030204" pitchFamily="18" charset="0"/>
                          </a:rPr>
                        </m:ctrlPr>
                      </m:sSupPr>
                      <m:e>
                        <m:acc>
                          <m:accPr>
                            <m:chr m:val="⃗"/>
                            <m:ctrlPr>
                              <a:rPr lang="en-US" altLang="zh-CN" b="1" i="1" smtClean="0">
                                <a:latin typeface="Cambria Math" panose="02040503050406030204" pitchFamily="18" charset="0"/>
                              </a:rPr>
                            </m:ctrlPr>
                          </m:accPr>
                          <m:e>
                            <m:r>
                              <a:rPr lang="en-US" altLang="zh-CN" b="1" i="1" smtClean="0">
                                <a:latin typeface="Cambria Math" panose="02040503050406030204" pitchFamily="18" charset="0"/>
                              </a:rPr>
                              <m:t>𝝈</m:t>
                            </m:r>
                          </m:e>
                        </m:acc>
                      </m:e>
                      <m:sup>
                        <m:r>
                          <a:rPr lang="en-US" altLang="zh-CN" sz="2800" b="1" i="1" dirty="0" smtClean="0">
                            <a:latin typeface="Cambria Math" panose="02040503050406030204" pitchFamily="18" charset="0"/>
                          </a:rPr>
                          <m:t>′</m:t>
                        </m:r>
                      </m:sup>
                    </m:sSup>
                    <m:r>
                      <a:rPr lang="en-US" altLang="zh-CN" i="1">
                        <a:latin typeface="Cambria Math" panose="02040503050406030204" pitchFamily="18" charset="0"/>
                      </a:rPr>
                      <m:t>=</m:t>
                    </m:r>
                    <m:acc>
                      <m:accPr>
                        <m:chr m:val="⃗"/>
                        <m:ctrlPr>
                          <a:rPr lang="en-US" altLang="zh-CN" sz="2800" b="1" i="1" dirty="0" smtClean="0">
                            <a:latin typeface="Cambria Math" panose="02040503050406030204" pitchFamily="18" charset="0"/>
                          </a:rPr>
                        </m:ctrlPr>
                      </m:accPr>
                      <m:e>
                        <m:r>
                          <a:rPr lang="en-US" altLang="zh-CN" b="1" i="1" smtClean="0">
                            <a:latin typeface="Cambria Math" panose="02040503050406030204" pitchFamily="18" charset="0"/>
                          </a:rPr>
                          <m:t>𝝈</m:t>
                        </m:r>
                      </m:e>
                    </m:acc>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𝝈</m:t>
                            </m:r>
                          </m:e>
                          <m:sub>
                            <m:r>
                              <a:rPr lang="en-US" altLang="zh-CN" i="1">
                                <a:latin typeface="Cambria Math" panose="02040503050406030204" pitchFamily="18" charset="0"/>
                              </a:rPr>
                              <m:t>𝒍</m:t>
                            </m:r>
                          </m:sub>
                        </m:sSub>
                      </m:num>
                      <m:den>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𝑸</m:t>
                            </m:r>
                          </m:e>
                          <m:sub>
                            <m:r>
                              <a:rPr lang="en-US" altLang="zh-CN" b="1" i="1" smtClean="0">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𝒍</m:t>
                            </m:r>
                          </m:sub>
                        </m:sSub>
                      </m:den>
                    </m:f>
                    <m:r>
                      <a:rPr lang="en-US" altLang="zh-CN" i="1">
                        <a:latin typeface="Cambria Math" panose="02040503050406030204" pitchFamily="18" charset="0"/>
                      </a:rPr>
                      <m:t>×</m:t>
                    </m:r>
                  </m:oMath>
                </a14:m>
                <a:r>
                  <a:rPr lang="en-US" altLang="zh-CN" dirty="0"/>
                  <a:t> </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𝒒</m:t>
                            </m:r>
                          </m:e>
                        </m:acc>
                      </m:e>
                      <m:sub>
                        <m:r>
                          <a:rPr lang="en-US" altLang="zh-CN" i="1" dirty="0">
                            <a:latin typeface="Cambria Math" panose="02040503050406030204" pitchFamily="18" charset="0"/>
                          </a:rPr>
                          <m:t>𝒌</m:t>
                        </m:r>
                      </m:sub>
                    </m:sSub>
                  </m:oMath>
                </a14:m>
                <a:endParaRPr lang="en-US" altLang="zh-CN" i="1" dirty="0">
                  <a:latin typeface="Cambria Math" panose="02040503050406030204" pitchFamily="18" charset="0"/>
                </a:endParaRPr>
              </a:p>
              <a:p>
                <a:pPr lvl="1"/>
                <a14:m>
                  <m:oMath xmlns:m="http://schemas.openxmlformats.org/officeDocument/2006/math">
                    <m:r>
                      <a:rPr lang="en-US" altLang="zh-CN" i="1">
                        <a:latin typeface="Cambria Math" panose="02040503050406030204" pitchFamily="18" charset="0"/>
                      </a:rPr>
                      <m:t>𝑸</m:t>
                    </m:r>
                    <m:r>
                      <a:rPr lang="en-US" altLang="zh-CN" b="0" i="1" smtClean="0">
                        <a:latin typeface="Cambria Math" panose="02040503050406030204" pitchFamily="18" charset="0"/>
                      </a:rPr>
                      <m:t>=</m:t>
                    </m:r>
                  </m:oMath>
                </a14:m>
                <a:r>
                  <a:rPr lang="en-US" altLang="zh-CN" b="1" dirty="0"/>
                  <a:t> </a:t>
                </a:r>
                <a14:m>
                  <m:oMath xmlns:m="http://schemas.openxmlformats.org/officeDocument/2006/math">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a:rPr lang="en-US" altLang="zh-CN" b="1" i="1">
                        <a:latin typeface="Cambria Math" panose="02040503050406030204" pitchFamily="18" charset="0"/>
                      </a:rPr>
                      <m:t>𝑨</m:t>
                    </m:r>
                  </m:oMath>
                </a14:m>
                <a:r>
                  <a:rPr lang="en-US" altLang="zh-CN" dirty="0"/>
                  <a:t>, </a:t>
                </a:r>
                <a14:m>
                  <m:oMath xmlns:m="http://schemas.openxmlformats.org/officeDocument/2006/math">
                    <m:sSub>
                      <m:sSubPr>
                        <m:ctrlPr>
                          <a:rPr lang="en-US" altLang="zh-CN" b="1" i="1" dirty="0">
                            <a:latin typeface="Cambria Math" panose="02040503050406030204" pitchFamily="18" charset="0"/>
                          </a:rPr>
                        </m:ctrlPr>
                      </m:sSub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𝒒</m:t>
                            </m:r>
                          </m:e>
                        </m:acc>
                      </m:e>
                      <m:sub>
                        <m:r>
                          <a:rPr lang="en-US" altLang="zh-CN" b="1" i="1" dirty="0">
                            <a:latin typeface="Cambria Math" panose="02040503050406030204" pitchFamily="18" charset="0"/>
                          </a:rPr>
                          <m:t>𝒌</m:t>
                        </m:r>
                      </m:sub>
                    </m:sSub>
                    <m:r>
                      <a:rPr lang="zh-CN" altLang="en-US" b="1" i="1" dirty="0" smtClean="0">
                        <a:latin typeface="Cambria Math" panose="02040503050406030204" pitchFamily="18" charset="0"/>
                      </a:rPr>
                      <m:t>是</m:t>
                    </m:r>
                    <m:r>
                      <a:rPr lang="en-US" altLang="zh-CN" i="1">
                        <a:latin typeface="Cambria Math" panose="02040503050406030204" pitchFamily="18" charset="0"/>
                      </a:rPr>
                      <m:t>𝑸</m:t>
                    </m:r>
                  </m:oMath>
                </a14:m>
                <a:r>
                  <a:rPr lang="zh-CN" altLang="en-US" dirty="0"/>
                  <a:t>第</a:t>
                </a:r>
                <a:r>
                  <a:rPr lang="en-US" altLang="zh-CN" dirty="0"/>
                  <a:t>k</a:t>
                </a:r>
                <a:r>
                  <a:rPr lang="zh-CN" altLang="en-US" dirty="0"/>
                  <a:t>行构成的向量</a:t>
                </a:r>
                <a:endParaRPr lang="en-US" altLang="zh-CN" dirty="0"/>
              </a:p>
              <a:p>
                <a:endParaRPr lang="en-US" altLang="zh-CN" sz="2800" b="1" dirty="0"/>
              </a:p>
              <a:p>
                <a:endParaRPr lang="en-US" altLang="zh-CN" sz="2800" b="1" dirty="0"/>
              </a:p>
            </p:txBody>
          </p:sp>
        </mc:Choice>
        <mc:Fallback xmlns="">
          <p:sp>
            <p:nvSpPr>
              <p:cNvPr id="7" name="内容占位符 6">
                <a:extLst>
                  <a:ext uri="{FF2B5EF4-FFF2-40B4-BE49-F238E27FC236}">
                    <a16:creationId xmlns:a16="http://schemas.microsoft.com/office/drawing/2014/main" id="{7D938192-B272-4B63-9ECA-945623F497B8}"/>
                  </a:ext>
                </a:extLst>
              </p:cNvPr>
              <p:cNvSpPr txBox="1">
                <a:spLocks noGrp="1" noRot="1" noChangeAspect="1" noMove="1" noResize="1" noEditPoints="1" noAdjustHandles="1" noChangeArrowheads="1" noChangeShapeType="1" noTextEdit="1"/>
              </p:cNvSpPr>
              <p:nvPr>
                <p:ph idx="1"/>
              </p:nvPr>
            </p:nvSpPr>
            <p:spPr>
              <a:xfrm>
                <a:off x="457200" y="1600200"/>
                <a:ext cx="8229600" cy="3921651"/>
              </a:xfrm>
              <a:prstGeom prst="rect">
                <a:avLst/>
              </a:prstGeom>
              <a:blipFill>
                <a:blip r:embed="rId3"/>
                <a:stretch>
                  <a:fillRect l="-444" t="-21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44810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B1A31F-A676-4CE1-8563-5BA48E35B7F4}"/>
              </a:ext>
            </a:extLst>
          </p:cNvPr>
          <p:cNvSpPr>
            <a:spLocks noGrp="1"/>
          </p:cNvSpPr>
          <p:nvPr>
            <p:ph type="title"/>
          </p:nvPr>
        </p:nvSpPr>
        <p:spPr/>
        <p:txBody>
          <a:bodyPr/>
          <a:lstStyle/>
          <a:p>
            <a:r>
              <a:rPr lang="zh-CN" altLang="en-US" dirty="0"/>
              <a:t>例子</a:t>
            </a: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CBC7F85C-0ECD-40FD-9CBE-6BCBD9C93097}"/>
                  </a:ext>
                </a:extLst>
              </p:cNvPr>
              <p:cNvGraphicFramePr>
                <a:graphicFrameLocks noGrp="1"/>
              </p:cNvGraphicFramePr>
              <p:nvPr>
                <p:extLst>
                  <p:ext uri="{D42A27DB-BD31-4B8C-83A1-F6EECF244321}">
                    <p14:modId xmlns:p14="http://schemas.microsoft.com/office/powerpoint/2010/main" val="3440057536"/>
                  </p:ext>
                </p:extLst>
              </p:nvPr>
            </p:nvGraphicFramePr>
            <p:xfrm>
              <a:off x="355745" y="1444909"/>
              <a:ext cx="6096000" cy="2101914"/>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smtClean="0">
                                        <a:solidFill>
                                          <a:sysClr val="windowText" lastClr="000000"/>
                                        </a:solidFill>
                                        <a:latin typeface="Cambria Math" panose="02040503050406030204" pitchFamily="18" charset="0"/>
                                      </a:rPr>
                                    </m:ctrlPr>
                                  </m:sSupPr>
                                  <m:e>
                                    <m:r>
                                      <a:rPr lang="en-US" altLang="zh-CN" sz="2400" b="1" i="1" smtClean="0">
                                        <a:solidFill>
                                          <a:sysClr val="windowText" lastClr="000000"/>
                                        </a:solidFill>
                                        <a:latin typeface="Cambria Math" panose="02040503050406030204" pitchFamily="18" charset="0"/>
                                      </a:rPr>
                                      <m:t>𝑩</m:t>
                                    </m:r>
                                  </m:e>
                                  <m:sup>
                                    <m:r>
                                      <a:rPr lang="en-US" altLang="zh-CN" sz="2400" b="1" i="1" smtClean="0">
                                        <a:solidFill>
                                          <a:sysClr val="windowText" lastClr="000000"/>
                                        </a:solidFill>
                                        <a:latin typeface="Cambria Math" panose="02040503050406030204" pitchFamily="18" charset="0"/>
                                      </a:rPr>
                                      <m:t>−</m:t>
                                    </m:r>
                                    <m:r>
                                      <a:rPr lang="en-US" altLang="zh-CN" sz="2400" b="1" i="1" smtClean="0">
                                        <a:solidFill>
                                          <a:sysClr val="windowText" lastClr="000000"/>
                                        </a:solidFill>
                                        <a:latin typeface="Cambria Math" panose="02040503050406030204" pitchFamily="18" charset="0"/>
                                      </a:rPr>
                                      <m:t>𝟏</m:t>
                                    </m:r>
                                  </m:sup>
                                </m:sSup>
                                <m:acc>
                                  <m:accPr>
                                    <m:chr m:val="⃗"/>
                                    <m:ctrlPr>
                                      <a:rPr lang="en-US" altLang="zh-CN" sz="2400" b="1" i="1">
                                        <a:solidFill>
                                          <a:sysClr val="windowText" lastClr="000000"/>
                                        </a:solidFill>
                                        <a:latin typeface="Cambria Math" panose="02040503050406030204" pitchFamily="18" charset="0"/>
                                      </a:rPr>
                                    </m:ctrlPr>
                                  </m:accPr>
                                  <m:e>
                                    <m:r>
                                      <a:rPr lang="en-US" altLang="zh-CN" sz="2400" b="1" i="1" smtClean="0">
                                        <a:solidFill>
                                          <a:sysClr val="windowText" lastClr="000000"/>
                                        </a:solidFill>
                                        <a:latin typeface="Cambria Math" panose="02040503050406030204" pitchFamily="18" charset="0"/>
                                      </a:rPr>
                                      <m:t>𝒃</m:t>
                                    </m:r>
                                  </m:e>
                                </m:acc>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𝟑</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highlight>
                                <a:srgbClr val="FFFF00"/>
                              </a:highlight>
                            </a:rPr>
                            <a:t>2</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0</a:t>
                          </a:r>
                          <a:endParaRPr lang="zh-CN" altLang="en-US" sz="2000" b="1" dirty="0">
                            <a:highlight>
                              <a:srgbClr val="FFFF00"/>
                            </a:highlight>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𝟒</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6" name="表格 5">
                <a:extLst>
                  <a:ext uri="{FF2B5EF4-FFF2-40B4-BE49-F238E27FC236}">
                    <a16:creationId xmlns:a16="http://schemas.microsoft.com/office/drawing/2014/main" id="{CBC7F85C-0ECD-40FD-9CBE-6BCBD9C93097}"/>
                  </a:ext>
                </a:extLst>
              </p:cNvPr>
              <p:cNvGraphicFramePr>
                <a:graphicFrameLocks noGrp="1"/>
              </p:cNvGraphicFramePr>
              <p:nvPr>
                <p:extLst>
                  <p:ext uri="{D42A27DB-BD31-4B8C-83A1-F6EECF244321}">
                    <p14:modId xmlns:p14="http://schemas.microsoft.com/office/powerpoint/2010/main" val="3440057536"/>
                  </p:ext>
                </p:extLst>
              </p:nvPr>
            </p:nvGraphicFramePr>
            <p:xfrm>
              <a:off x="355745" y="1444909"/>
              <a:ext cx="6096000" cy="2101914"/>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endParaRPr lang="zh-CN"/>
                        </a:p>
                      </a:txBody>
                      <a:tcPr anchor="ctr">
                        <a:blipFill>
                          <a:blip r:embed="rId3"/>
                          <a:stretch>
                            <a:fillRect l="-75050" t="-3030" r="-25749" b="-451515"/>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511493">
                    <a:tc>
                      <a:txBody>
                        <a:bodyPr/>
                        <a:lstStyle/>
                        <a:p>
                          <a:endParaRPr lang="zh-CN"/>
                        </a:p>
                      </a:txBody>
                      <a:tcPr anchor="ctr">
                        <a:blipFill>
                          <a:blip r:embed="rId3"/>
                          <a:stretch>
                            <a:fillRect l="-800" t="-80952" r="-704000" b="-254762"/>
                          </a:stretch>
                        </a:blipFill>
                      </a:tcPr>
                    </a:tc>
                    <a:tc>
                      <a:txBody>
                        <a:bodyPr/>
                        <a:lstStyle/>
                        <a:p>
                          <a:endParaRPr lang="zh-CN"/>
                        </a:p>
                      </a:txBody>
                      <a:tcPr anchor="ctr">
                        <a:blipFill>
                          <a:blip r:embed="rId3"/>
                          <a:stretch>
                            <a:fillRect l="-100800" t="-80952" r="-604000" b="-254762"/>
                          </a:stretch>
                        </a:blipFill>
                      </a:tcPr>
                    </a:tc>
                    <a:tc>
                      <a:txBody>
                        <a:bodyPr/>
                        <a:lstStyle/>
                        <a:p>
                          <a:endParaRPr lang="zh-CN"/>
                        </a:p>
                      </a:txBody>
                      <a:tcPr anchor="ctr">
                        <a:blipFill>
                          <a:blip r:embed="rId3"/>
                          <a:stretch>
                            <a:fillRect l="-200800" t="-80952" r="-504000" b="-254762"/>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3"/>
                          <a:stretch>
                            <a:fillRect l="-701600" t="-80952" r="-3200" b="-254762"/>
                          </a:stretch>
                        </a:blipFill>
                      </a:tcPr>
                    </a:tc>
                    <a:extLst>
                      <a:ext uri="{0D108BD9-81ED-4DB2-BD59-A6C34878D82A}">
                        <a16:rowId xmlns:a16="http://schemas.microsoft.com/office/drawing/2014/main" val="2237396716"/>
                      </a:ext>
                    </a:extLst>
                  </a:tr>
                  <a:tr h="396240">
                    <a:tc>
                      <a:txBody>
                        <a:bodyPr/>
                        <a:lstStyle/>
                        <a:p>
                          <a:endParaRPr lang="zh-CN"/>
                        </a:p>
                      </a:txBody>
                      <a:tcPr anchor="ctr">
                        <a:blipFill>
                          <a:blip r:embed="rId3"/>
                          <a:stretch>
                            <a:fillRect l="-800" t="-233846" r="-704000" b="-229231"/>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12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highlight>
                                <a:srgbClr val="FFFF00"/>
                              </a:highlight>
                            </a:rPr>
                            <a:t>2</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0</a:t>
                          </a:r>
                          <a:endParaRPr lang="zh-CN" altLang="en-US" sz="2000" b="1" dirty="0">
                            <a:highlight>
                              <a:srgbClr val="FFFF00"/>
                            </a:highlight>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highlight>
                                <a:srgbClr val="FFFF00"/>
                              </a:highlight>
                            </a:rPr>
                            <a:t>6</a:t>
                          </a:r>
                          <a:endParaRPr lang="zh-CN" altLang="en-US" sz="2000" b="1" dirty="0">
                            <a:highlight>
                              <a:srgbClr val="FFFF00"/>
                            </a:highligh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6240">
                    <a:tc>
                      <a:txBody>
                        <a:bodyPr/>
                        <a:lstStyle/>
                        <a:p>
                          <a:endParaRPr lang="zh-CN"/>
                        </a:p>
                      </a:txBody>
                      <a:tcPr anchor="ctr">
                        <a:blipFill>
                          <a:blip r:embed="rId3"/>
                          <a:stretch>
                            <a:fillRect l="-800" t="-333846" r="-704000" b="-129231"/>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9</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2000" b="1" dirty="0"/>
                            <a:t>1</a:t>
                          </a:r>
                          <a:endParaRPr lang="zh-CN" altLang="en-US" sz="2000" b="1" dirty="0"/>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9</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3"/>
                          <a:stretch>
                            <a:fillRect l="-267" t="-433846" r="-168000" b="-29231"/>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highlight>
                                <a:srgbClr val="FFFF00"/>
                              </a:highlight>
                            </a:rPr>
                            <a:t>1</a:t>
                          </a:r>
                          <a:endParaRPr lang="zh-CN" altLang="en-US" sz="2000" b="1" dirty="0">
                            <a:highlight>
                              <a:srgbClr val="FFFF00"/>
                            </a:highlight>
                          </a:endParaRP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C7B2313-BB1D-414D-99DC-6C0366C7E294}"/>
                  </a:ext>
                </a:extLst>
              </p:cNvPr>
              <p:cNvSpPr txBox="1"/>
              <p:nvPr/>
            </p:nvSpPr>
            <p:spPr>
              <a:xfrm>
                <a:off x="6685385" y="2267994"/>
                <a:ext cx="1853071" cy="369332"/>
              </a:xfrm>
              <a:prstGeom prst="rect">
                <a:avLst/>
              </a:prstGeom>
              <a:noFill/>
            </p:spPr>
            <p:txBody>
              <a:bodyPr wrap="none" rtlCol="0">
                <a:spAutoFit/>
              </a:bodyPr>
              <a:lstStyle/>
              <a:p>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1</m:t>
                        </m:r>
                      </m:sub>
                    </m:sSub>
                    <m:r>
                      <a:rPr lang="zh-CN" altLang="en-US" i="1">
                        <a:latin typeface="Cambria Math" panose="02040503050406030204" pitchFamily="18" charset="0"/>
                      </a:rPr>
                      <m:t>换入</m:t>
                    </m:r>
                  </m:oMath>
                </a14:m>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i="1">
                            <a:latin typeface="Cambria Math" panose="02040503050406030204" pitchFamily="18" charset="0"/>
                          </a:rPr>
                          <m:t>3</m:t>
                        </m:r>
                      </m:sub>
                    </m:sSub>
                    <m:r>
                      <a:rPr lang="zh-CN" altLang="en-US" i="1">
                        <a:latin typeface="Cambria Math" panose="02040503050406030204" pitchFamily="18" charset="0"/>
                      </a:rPr>
                      <m:t>换出</m:t>
                    </m:r>
                  </m:oMath>
                </a14:m>
                <a:endParaRPr lang="zh-CN" altLang="en-US" dirty="0"/>
              </a:p>
            </p:txBody>
          </p:sp>
        </mc:Choice>
        <mc:Fallback xmlns="">
          <p:sp>
            <p:nvSpPr>
              <p:cNvPr id="7" name="文本框 6">
                <a:extLst>
                  <a:ext uri="{FF2B5EF4-FFF2-40B4-BE49-F238E27FC236}">
                    <a16:creationId xmlns:a16="http://schemas.microsoft.com/office/drawing/2014/main" id="{0C7B2313-BB1D-414D-99DC-6C0366C7E294}"/>
                  </a:ext>
                </a:extLst>
              </p:cNvPr>
              <p:cNvSpPr txBox="1">
                <a:spLocks noRot="1" noChangeAspect="1" noMove="1" noResize="1" noEditPoints="1" noAdjustHandles="1" noChangeArrowheads="1" noChangeShapeType="1" noTextEdit="1"/>
              </p:cNvSpPr>
              <p:nvPr/>
            </p:nvSpPr>
            <p:spPr>
              <a:xfrm>
                <a:off x="6685385" y="2267994"/>
                <a:ext cx="1853071" cy="369332"/>
              </a:xfrm>
              <a:prstGeom prst="rect">
                <a:avLst/>
              </a:prstGeom>
              <a:blipFill>
                <a:blip r:embed="rId4"/>
                <a:stretch>
                  <a:fillRect t="-19672" r="-329" b="-2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4C6CAAA-91AC-4E2C-91FE-78F55FC9E31C}"/>
                  </a:ext>
                </a:extLst>
              </p:cNvPr>
              <p:cNvSpPr txBox="1"/>
              <p:nvPr/>
            </p:nvSpPr>
            <p:spPr>
              <a:xfrm>
                <a:off x="457200" y="3733800"/>
                <a:ext cx="15516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𝑘</m:t>
                      </m:r>
                      <m:r>
                        <a:rPr lang="en-US" altLang="zh-CN" i="1" dirty="0" smtClean="0">
                          <a:latin typeface="Cambria Math" panose="02040503050406030204" pitchFamily="18" charset="0"/>
                        </a:rPr>
                        <m:t>=1</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𝑙</m:t>
                      </m:r>
                      <m:r>
                        <a:rPr lang="en-US" altLang="zh-CN" i="1" dirty="0" smtClean="0">
                          <a:latin typeface="Cambria Math" panose="02040503050406030204" pitchFamily="18" charset="0"/>
                        </a:rPr>
                        <m:t>=1</m:t>
                      </m:r>
                    </m:oMath>
                  </m:oMathPara>
                </a14:m>
                <a:endParaRPr lang="zh-CN" altLang="en-US" dirty="0"/>
              </a:p>
            </p:txBody>
          </p:sp>
        </mc:Choice>
        <mc:Fallback xmlns="">
          <p:sp>
            <p:nvSpPr>
              <p:cNvPr id="8" name="文本框 7">
                <a:extLst>
                  <a:ext uri="{FF2B5EF4-FFF2-40B4-BE49-F238E27FC236}">
                    <a16:creationId xmlns:a16="http://schemas.microsoft.com/office/drawing/2014/main" id="{F4C6CAAA-91AC-4E2C-91FE-78F55FC9E31C}"/>
                  </a:ext>
                </a:extLst>
              </p:cNvPr>
              <p:cNvSpPr txBox="1">
                <a:spLocks noRot="1" noChangeAspect="1" noMove="1" noResize="1" noEditPoints="1" noAdjustHandles="1" noChangeArrowheads="1" noChangeShapeType="1" noTextEdit="1"/>
              </p:cNvSpPr>
              <p:nvPr/>
            </p:nvSpPr>
            <p:spPr>
              <a:xfrm>
                <a:off x="457200" y="3733800"/>
                <a:ext cx="1551643"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B73B48D1-A1AC-45DD-8F87-D3485C1FAAD2}"/>
                  </a:ext>
                </a:extLst>
              </p:cNvPr>
              <p:cNvSpPr/>
              <p:nvPr/>
            </p:nvSpPr>
            <p:spPr>
              <a:xfrm>
                <a:off x="2286000" y="3686575"/>
                <a:ext cx="1656672" cy="4637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rPr>
                                <m:t>𝑨</m:t>
                              </m:r>
                            </m:e>
                          </m:d>
                        </m:e>
                        <m:sub>
                          <m:r>
                            <a:rPr lang="en-US" altLang="zh-CN" i="1">
                              <a:latin typeface="Cambria Math" panose="02040503050406030204" pitchFamily="18" charset="0"/>
                            </a:rPr>
                            <m:t>𝒌</m:t>
                          </m:r>
                          <m:r>
                            <a:rPr lang="en-US" altLang="zh-CN" b="1" i="1">
                              <a:latin typeface="Cambria Math" panose="02040503050406030204" pitchFamily="18" charset="0"/>
                            </a:rPr>
                            <m:t>,</m:t>
                          </m:r>
                          <m:r>
                            <a:rPr lang="en-US" altLang="zh-CN" b="1" i="1">
                              <a:latin typeface="Cambria Math" panose="02040503050406030204" pitchFamily="18" charset="0"/>
                            </a:rPr>
                            <m:t>𝒍</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𝟐</m:t>
                      </m:r>
                    </m:oMath>
                  </m:oMathPara>
                </a14:m>
                <a:endParaRPr lang="zh-CN" altLang="en-US" dirty="0"/>
              </a:p>
            </p:txBody>
          </p:sp>
        </mc:Choice>
        <mc:Fallback xmlns="">
          <p:sp>
            <p:nvSpPr>
              <p:cNvPr id="9" name="矩形 8">
                <a:extLst>
                  <a:ext uri="{FF2B5EF4-FFF2-40B4-BE49-F238E27FC236}">
                    <a16:creationId xmlns:a16="http://schemas.microsoft.com/office/drawing/2014/main" id="{B73B48D1-A1AC-45DD-8F87-D3485C1FAAD2}"/>
                  </a:ext>
                </a:extLst>
              </p:cNvPr>
              <p:cNvSpPr>
                <a:spLocks noRot="1" noChangeAspect="1" noMove="1" noResize="1" noEditPoints="1" noAdjustHandles="1" noChangeArrowheads="1" noChangeShapeType="1" noTextEdit="1"/>
              </p:cNvSpPr>
              <p:nvPr/>
            </p:nvSpPr>
            <p:spPr>
              <a:xfrm>
                <a:off x="2286000" y="3686575"/>
                <a:ext cx="1656672" cy="46378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507241D0-6618-455A-9EEC-F36B9D069BD7}"/>
                  </a:ext>
                </a:extLst>
              </p:cNvPr>
              <p:cNvSpPr/>
              <p:nvPr/>
            </p:nvSpPr>
            <p:spPr>
              <a:xfrm>
                <a:off x="4102862" y="3686575"/>
                <a:ext cx="9059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𝒍</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𝟏</m:t>
                      </m:r>
                    </m:oMath>
                  </m:oMathPara>
                </a14:m>
                <a:endParaRPr lang="zh-CN" altLang="en-US" dirty="0"/>
              </a:p>
            </p:txBody>
          </p:sp>
        </mc:Choice>
        <mc:Fallback xmlns="">
          <p:sp>
            <p:nvSpPr>
              <p:cNvPr id="10" name="矩形 9">
                <a:extLst>
                  <a:ext uri="{FF2B5EF4-FFF2-40B4-BE49-F238E27FC236}">
                    <a16:creationId xmlns:a16="http://schemas.microsoft.com/office/drawing/2014/main" id="{507241D0-6618-455A-9EEC-F36B9D069BD7}"/>
                  </a:ext>
                </a:extLst>
              </p:cNvPr>
              <p:cNvSpPr>
                <a:spLocks noRot="1" noChangeAspect="1" noMove="1" noResize="1" noEditPoints="1" noAdjustHandles="1" noChangeArrowheads="1" noChangeShapeType="1" noTextEdit="1"/>
              </p:cNvSpPr>
              <p:nvPr/>
            </p:nvSpPr>
            <p:spPr>
              <a:xfrm>
                <a:off x="4102862" y="3686575"/>
                <a:ext cx="905954" cy="369332"/>
              </a:xfrm>
              <a:prstGeom prst="rect">
                <a:avLst/>
              </a:prstGeom>
              <a:blipFill>
                <a:blip r:embed="rId7"/>
                <a:stretch>
                  <a:fillRect b="-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41B77250-340A-4884-BBFE-72B0211E3817}"/>
                  </a:ext>
                </a:extLst>
              </p:cNvPr>
              <p:cNvSpPr/>
              <p:nvPr/>
            </p:nvSpPr>
            <p:spPr>
              <a:xfrm>
                <a:off x="355745" y="4290108"/>
                <a:ext cx="2439899"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a:latin typeface="Cambria Math" panose="02040503050406030204" pitchFamily="18" charset="0"/>
                            </a:rPr>
                            <m:t>𝝈</m:t>
                          </m:r>
                        </m:e>
                        <m:sub>
                          <m:r>
                            <a:rPr lang="en-US" altLang="zh-CN" b="1" i="1" smtClean="0">
                              <a:latin typeface="Cambria Math" panose="02040503050406030204" pitchFamily="18" charset="0"/>
                            </a:rPr>
                            <m:t>𝟏</m:t>
                          </m:r>
                        </m:sub>
                        <m:sup>
                          <m:r>
                            <a:rPr lang="en-US" altLang="zh-CN" b="1" i="1">
                              <a:latin typeface="Cambria Math" panose="02040503050406030204" pitchFamily="18" charset="0"/>
                            </a:rPr>
                            <m:t>′</m:t>
                          </m:r>
                        </m:sup>
                      </m:sSubSup>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smtClean="0">
                              <a:latin typeface="Cambria Math" panose="02040503050406030204" pitchFamily="18" charset="0"/>
                            </a:rPr>
                            <m:t>𝟏</m:t>
                          </m:r>
                        </m:sub>
                      </m:sSub>
                      <m:r>
                        <a:rPr lang="en-US" altLang="zh-CN" b="1" i="1">
                          <a:latin typeface="Cambria Math" panose="02040503050406030204" pitchFamily="18" charset="0"/>
                        </a:rPr>
                        <m:t>−</m:t>
                      </m:r>
                      <m:f>
                        <m:fPr>
                          <m:ctrlPr>
                            <a:rPr lang="en-US" altLang="zh-CN" b="1" i="1">
                              <a:latin typeface="Cambria Math" panose="02040503050406030204" pitchFamily="18" charset="0"/>
                            </a:rPr>
                          </m:ctrlPr>
                        </m:fPr>
                        <m:num>
                          <m:r>
                            <a:rPr lang="en-US" altLang="zh-CN" b="1" i="1" smtClean="0">
                              <a:latin typeface="Cambria Math" panose="02040503050406030204" pitchFamily="18" charset="0"/>
                            </a:rPr>
                            <m:t>𝟐</m:t>
                          </m:r>
                        </m:num>
                        <m:den>
                          <m:r>
                            <a:rPr lang="en-US" altLang="zh-CN" i="1" smtClean="0">
                              <a:latin typeface="Cambria Math" panose="02040503050406030204" pitchFamily="18" charset="0"/>
                            </a:rPr>
                            <m:t>2</m:t>
                          </m:r>
                        </m:den>
                      </m:f>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𝟎</m:t>
                      </m:r>
                    </m:oMath>
                  </m:oMathPara>
                </a14:m>
                <a:endParaRPr lang="zh-CN" altLang="en-US" dirty="0"/>
              </a:p>
            </p:txBody>
          </p:sp>
        </mc:Choice>
        <mc:Fallback xmlns="">
          <p:sp>
            <p:nvSpPr>
              <p:cNvPr id="12" name="矩形 11">
                <a:extLst>
                  <a:ext uri="{FF2B5EF4-FFF2-40B4-BE49-F238E27FC236}">
                    <a16:creationId xmlns:a16="http://schemas.microsoft.com/office/drawing/2014/main" id="{41B77250-340A-4884-BBFE-72B0211E3817}"/>
                  </a:ext>
                </a:extLst>
              </p:cNvPr>
              <p:cNvSpPr>
                <a:spLocks noRot="1" noChangeAspect="1" noMove="1" noResize="1" noEditPoints="1" noAdjustHandles="1" noChangeArrowheads="1" noChangeShapeType="1" noTextEdit="1"/>
              </p:cNvSpPr>
              <p:nvPr/>
            </p:nvSpPr>
            <p:spPr>
              <a:xfrm>
                <a:off x="355745" y="4290108"/>
                <a:ext cx="2439899" cy="61093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74E5E77A-9AA0-41CA-902D-970EA1CF25C9}"/>
                  </a:ext>
                </a:extLst>
              </p:cNvPr>
              <p:cNvSpPr/>
              <p:nvPr/>
            </p:nvSpPr>
            <p:spPr>
              <a:xfrm>
                <a:off x="355745" y="4936786"/>
                <a:ext cx="2439899"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a:latin typeface="Cambria Math" panose="02040503050406030204" pitchFamily="18" charset="0"/>
                            </a:rPr>
                            <m:t>𝝈</m:t>
                          </m:r>
                        </m:e>
                        <m:sub>
                          <m:r>
                            <a:rPr lang="en-US" altLang="zh-CN" b="1" i="1" smtClean="0">
                              <a:latin typeface="Cambria Math" panose="02040503050406030204" pitchFamily="18" charset="0"/>
                            </a:rPr>
                            <m:t>𝟐</m:t>
                          </m:r>
                        </m:sub>
                        <m:sup>
                          <m:r>
                            <a:rPr lang="en-US" altLang="zh-CN" b="1" i="1">
                              <a:latin typeface="Cambria Math" panose="02040503050406030204" pitchFamily="18" charset="0"/>
                            </a:rPr>
                            <m:t>′</m:t>
                          </m:r>
                        </m:sup>
                      </m:sSubSup>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smtClean="0">
                              <a:latin typeface="Cambria Math" panose="02040503050406030204" pitchFamily="18" charset="0"/>
                            </a:rPr>
                            <m:t>𝟐</m:t>
                          </m:r>
                        </m:sub>
                      </m:sSub>
                      <m:r>
                        <a:rPr lang="en-US" altLang="zh-CN" b="1" i="1">
                          <a:latin typeface="Cambria Math" panose="02040503050406030204" pitchFamily="18" charset="0"/>
                        </a:rPr>
                        <m:t>−</m:t>
                      </m:r>
                      <m:f>
                        <m:fPr>
                          <m:ctrlPr>
                            <a:rPr lang="en-US" altLang="zh-CN" b="1" i="1">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i="1" smtClean="0">
                              <a:latin typeface="Cambria Math" panose="02040503050406030204" pitchFamily="18" charset="0"/>
                            </a:rPr>
                            <m:t>2</m:t>
                          </m:r>
                        </m:den>
                      </m:f>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𝟏</m:t>
                          </m:r>
                        </m:sub>
                      </m:sSub>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den>
                      </m:f>
                    </m:oMath>
                  </m:oMathPara>
                </a14:m>
                <a:endParaRPr lang="zh-CN" altLang="en-US" dirty="0"/>
              </a:p>
            </p:txBody>
          </p:sp>
        </mc:Choice>
        <mc:Fallback xmlns="">
          <p:sp>
            <p:nvSpPr>
              <p:cNvPr id="13" name="矩形 12">
                <a:extLst>
                  <a:ext uri="{FF2B5EF4-FFF2-40B4-BE49-F238E27FC236}">
                    <a16:creationId xmlns:a16="http://schemas.microsoft.com/office/drawing/2014/main" id="{74E5E77A-9AA0-41CA-902D-970EA1CF25C9}"/>
                  </a:ext>
                </a:extLst>
              </p:cNvPr>
              <p:cNvSpPr>
                <a:spLocks noRot="1" noChangeAspect="1" noMove="1" noResize="1" noEditPoints="1" noAdjustHandles="1" noChangeArrowheads="1" noChangeShapeType="1" noTextEdit="1"/>
              </p:cNvSpPr>
              <p:nvPr/>
            </p:nvSpPr>
            <p:spPr>
              <a:xfrm>
                <a:off x="355745" y="4936786"/>
                <a:ext cx="2439899" cy="610936"/>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C1BBF7EE-3BED-4999-AE01-5E585D438DBB}"/>
                  </a:ext>
                </a:extLst>
              </p:cNvPr>
              <p:cNvSpPr/>
              <p:nvPr/>
            </p:nvSpPr>
            <p:spPr>
              <a:xfrm>
                <a:off x="355745" y="5583464"/>
                <a:ext cx="2651495"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a:latin typeface="Cambria Math" panose="02040503050406030204" pitchFamily="18" charset="0"/>
                            </a:rPr>
                            <m:t>𝝈</m:t>
                          </m:r>
                        </m:e>
                        <m:sub>
                          <m:r>
                            <a:rPr lang="en-US" altLang="zh-CN" b="1" i="1" smtClean="0">
                              <a:latin typeface="Cambria Math" panose="02040503050406030204" pitchFamily="18" charset="0"/>
                            </a:rPr>
                            <m:t>𝟑</m:t>
                          </m:r>
                        </m:sub>
                        <m:sup>
                          <m:r>
                            <a:rPr lang="en-US" altLang="zh-CN" b="1" i="1">
                              <a:latin typeface="Cambria Math" panose="02040503050406030204" pitchFamily="18" charset="0"/>
                            </a:rPr>
                            <m:t>′</m:t>
                          </m:r>
                        </m:sup>
                      </m:sSubSup>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smtClean="0">
                              <a:latin typeface="Cambria Math" panose="02040503050406030204" pitchFamily="18" charset="0"/>
                            </a:rPr>
                            <m:t>𝟑</m:t>
                          </m:r>
                        </m:sub>
                      </m:sSub>
                      <m:r>
                        <a:rPr lang="en-US" altLang="zh-CN" b="1" i="1">
                          <a:latin typeface="Cambria Math" panose="02040503050406030204" pitchFamily="18" charset="0"/>
                        </a:rPr>
                        <m:t>−</m:t>
                      </m:r>
                      <m:f>
                        <m:fPr>
                          <m:ctrlPr>
                            <a:rPr lang="en-US" altLang="zh-CN" b="1" i="1">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i="1" smtClean="0">
                              <a:latin typeface="Cambria Math" panose="02040503050406030204" pitchFamily="18" charset="0"/>
                            </a:rPr>
                            <m:t>2</m:t>
                          </m:r>
                        </m:den>
                      </m:f>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𝟏</m:t>
                          </m:r>
                        </m:sub>
                      </m:sSub>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𝟏</m:t>
                          </m:r>
                        </m:num>
                        <m:den>
                          <m:r>
                            <a:rPr lang="en-US" altLang="zh-CN" b="1" i="1" smtClean="0">
                              <a:latin typeface="Cambria Math" panose="02040503050406030204" pitchFamily="18" charset="0"/>
                            </a:rPr>
                            <m:t>𝟐</m:t>
                          </m:r>
                        </m:den>
                      </m:f>
                    </m:oMath>
                  </m:oMathPara>
                </a14:m>
                <a:endParaRPr lang="zh-CN" altLang="en-US" dirty="0"/>
              </a:p>
            </p:txBody>
          </p:sp>
        </mc:Choice>
        <mc:Fallback xmlns="">
          <p:sp>
            <p:nvSpPr>
              <p:cNvPr id="14" name="矩形 13">
                <a:extLst>
                  <a:ext uri="{FF2B5EF4-FFF2-40B4-BE49-F238E27FC236}">
                    <a16:creationId xmlns:a16="http://schemas.microsoft.com/office/drawing/2014/main" id="{C1BBF7EE-3BED-4999-AE01-5E585D438DBB}"/>
                  </a:ext>
                </a:extLst>
              </p:cNvPr>
              <p:cNvSpPr>
                <a:spLocks noRot="1" noChangeAspect="1" noMove="1" noResize="1" noEditPoints="1" noAdjustHandles="1" noChangeArrowheads="1" noChangeShapeType="1" noTextEdit="1"/>
              </p:cNvSpPr>
              <p:nvPr/>
            </p:nvSpPr>
            <p:spPr>
              <a:xfrm>
                <a:off x="355745" y="5583464"/>
                <a:ext cx="2651495" cy="610936"/>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DEBD67E4-AA40-47E1-98E0-F66188D61DC3}"/>
                  </a:ext>
                </a:extLst>
              </p:cNvPr>
              <p:cNvSpPr/>
              <p:nvPr/>
            </p:nvSpPr>
            <p:spPr>
              <a:xfrm>
                <a:off x="4800600" y="4220675"/>
                <a:ext cx="2439899"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b="1" i="1" smtClean="0">
                              <a:latin typeface="Cambria Math" panose="02040503050406030204" pitchFamily="18" charset="0"/>
                            </a:rPr>
                          </m:ctrlPr>
                        </m:sSubSupPr>
                        <m:e>
                          <m:r>
                            <a:rPr lang="en-US" altLang="zh-CN" b="1" i="1">
                              <a:latin typeface="Cambria Math" panose="02040503050406030204" pitchFamily="18" charset="0"/>
                            </a:rPr>
                            <m:t>𝝈</m:t>
                          </m:r>
                        </m:e>
                        <m:sub>
                          <m:r>
                            <a:rPr lang="en-US" altLang="zh-CN" b="1" i="1" smtClean="0">
                              <a:latin typeface="Cambria Math" panose="02040503050406030204" pitchFamily="18" charset="0"/>
                            </a:rPr>
                            <m:t>𝟒</m:t>
                          </m:r>
                        </m:sub>
                        <m:sup>
                          <m:r>
                            <a:rPr lang="en-US" altLang="zh-CN" b="1" i="1">
                              <a:latin typeface="Cambria Math" panose="02040503050406030204" pitchFamily="18" charset="0"/>
                            </a:rPr>
                            <m:t>′</m:t>
                          </m:r>
                        </m:sup>
                      </m:sSubSup>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smtClean="0">
                              <a:latin typeface="Cambria Math" panose="02040503050406030204" pitchFamily="18" charset="0"/>
                            </a:rPr>
                            <m:t>𝟒</m:t>
                          </m:r>
                        </m:sub>
                      </m:sSub>
                      <m:r>
                        <a:rPr lang="en-US" altLang="zh-CN" b="1" i="1">
                          <a:latin typeface="Cambria Math" panose="02040503050406030204" pitchFamily="18" charset="0"/>
                        </a:rPr>
                        <m:t>−</m:t>
                      </m:r>
                      <m:f>
                        <m:fPr>
                          <m:ctrlPr>
                            <a:rPr lang="en-US" altLang="zh-CN" b="1" i="1">
                              <a:latin typeface="Cambria Math" panose="02040503050406030204" pitchFamily="18" charset="0"/>
                            </a:rPr>
                          </m:ctrlPr>
                        </m:fPr>
                        <m:num>
                          <m:r>
                            <a:rPr lang="en-US" altLang="zh-CN" b="1" i="1" smtClean="0">
                              <a:latin typeface="Cambria Math" panose="02040503050406030204" pitchFamily="18" charset="0"/>
                            </a:rPr>
                            <m:t>𝟎</m:t>
                          </m:r>
                        </m:num>
                        <m:den>
                          <m:r>
                            <a:rPr lang="en-US" altLang="zh-CN" i="1" smtClean="0">
                              <a:latin typeface="Cambria Math" panose="02040503050406030204" pitchFamily="18" charset="0"/>
                            </a:rPr>
                            <m:t>2</m:t>
                          </m:r>
                        </m:den>
                      </m:f>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𝟏</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𝟎</m:t>
                      </m:r>
                    </m:oMath>
                  </m:oMathPara>
                </a14:m>
                <a:endParaRPr lang="zh-CN" altLang="en-US" dirty="0"/>
              </a:p>
            </p:txBody>
          </p:sp>
        </mc:Choice>
        <mc:Fallback xmlns="">
          <p:sp>
            <p:nvSpPr>
              <p:cNvPr id="15" name="矩形 14">
                <a:extLst>
                  <a:ext uri="{FF2B5EF4-FFF2-40B4-BE49-F238E27FC236}">
                    <a16:creationId xmlns:a16="http://schemas.microsoft.com/office/drawing/2014/main" id="{DEBD67E4-AA40-47E1-98E0-F66188D61DC3}"/>
                  </a:ext>
                </a:extLst>
              </p:cNvPr>
              <p:cNvSpPr>
                <a:spLocks noRot="1" noChangeAspect="1" noMove="1" noResize="1" noEditPoints="1" noAdjustHandles="1" noChangeArrowheads="1" noChangeShapeType="1" noTextEdit="1"/>
              </p:cNvSpPr>
              <p:nvPr/>
            </p:nvSpPr>
            <p:spPr>
              <a:xfrm>
                <a:off x="4800600" y="4220675"/>
                <a:ext cx="2439899" cy="61093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A409C932-B5DD-4740-ACDC-B57617296340}"/>
                  </a:ext>
                </a:extLst>
              </p:cNvPr>
              <p:cNvSpPr/>
              <p:nvPr/>
            </p:nvSpPr>
            <p:spPr>
              <a:xfrm>
                <a:off x="2094750" y="442187"/>
                <a:ext cx="4954499" cy="683072"/>
              </a:xfrm>
              <a:prstGeom prst="rect">
                <a:avLst/>
              </a:prstGeom>
              <a:ln>
                <a:solidFill>
                  <a:schemeClr val="tx1"/>
                </a:solidFill>
              </a:ln>
            </p:spPr>
            <p:txBody>
              <a:bodyPr wrap="square">
                <a:spAutoFit/>
              </a:bodyPr>
              <a:lstStyle/>
              <a:p>
                <a:pPr algn="ctr"/>
                <a14:m>
                  <m:oMath xmlns:m="http://schemas.openxmlformats.org/officeDocument/2006/math">
                    <m:sSubSup>
                      <m:sSubSupPr>
                        <m:ctrlPr>
                          <a:rPr lang="en-US" altLang="zh-CN" b="1" i="1">
                            <a:latin typeface="Cambria Math" panose="02040503050406030204" pitchFamily="18" charset="0"/>
                          </a:rPr>
                        </m:ctrlPr>
                      </m:sSubSupPr>
                      <m:e>
                        <m:r>
                          <a:rPr lang="en-US" altLang="zh-CN" b="1" i="1">
                            <a:latin typeface="Cambria Math" panose="02040503050406030204" pitchFamily="18" charset="0"/>
                          </a:rPr>
                          <m:t>𝝈</m:t>
                        </m:r>
                      </m:e>
                      <m:sub>
                        <m:r>
                          <a:rPr lang="en-US" altLang="zh-CN" b="1" i="1">
                            <a:latin typeface="Cambria Math" panose="02040503050406030204" pitchFamily="18" charset="0"/>
                          </a:rPr>
                          <m:t>𝒊</m:t>
                        </m:r>
                      </m:sub>
                      <m:sup>
                        <m:r>
                          <a:rPr lang="en-US" altLang="zh-CN" b="1" i="1">
                            <a:latin typeface="Cambria Math" panose="02040503050406030204" pitchFamily="18" charset="0"/>
                          </a:rPr>
                          <m:t>′</m:t>
                        </m:r>
                      </m:sup>
                    </m:sSubSup>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𝒊</m:t>
                        </m:r>
                      </m:sub>
                    </m:sSub>
                    <m:r>
                      <a:rPr lang="en-US" altLang="zh-CN" b="1" i="1">
                        <a:latin typeface="Cambria Math" panose="02040503050406030204" pitchFamily="18" charset="0"/>
                      </a:rPr>
                      <m:t>−</m:t>
                    </m:r>
                    <m:f>
                      <m:fPr>
                        <m:ctrlPr>
                          <a:rPr lang="en-US" altLang="zh-CN" b="1" i="1">
                            <a:latin typeface="Cambria Math" panose="02040503050406030204" pitchFamily="18" charset="0"/>
                          </a:rPr>
                        </m:ctrlPr>
                      </m:fPr>
                      <m:num>
                        <m:sSub>
                          <m:sSubPr>
                            <m:ctrlPr>
                              <a:rPr lang="en-US" altLang="zh-CN" b="1" i="1">
                                <a:latin typeface="Cambria Math" panose="02040503050406030204" pitchFamily="18" charset="0"/>
                              </a:rPr>
                            </m:ctrlPr>
                          </m:sSubPr>
                          <m:e>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a:rPr lang="en-US" altLang="zh-CN" b="1" i="1">
                                    <a:latin typeface="Cambria Math" panose="02040503050406030204" pitchFamily="18" charset="0"/>
                                  </a:rPr>
                                  <m:t>𝑨</m:t>
                                </m:r>
                              </m:e>
                            </m:d>
                          </m:e>
                          <m:sub>
                            <m:r>
                              <a:rPr lang="en-US" altLang="zh-CN" b="1" i="1">
                                <a:latin typeface="Cambria Math" panose="02040503050406030204" pitchFamily="18" charset="0"/>
                              </a:rPr>
                              <m:t>𝒌</m:t>
                            </m:r>
                            <m:r>
                              <a:rPr lang="en-US" altLang="zh-CN" b="1" i="1">
                                <a:latin typeface="Cambria Math" panose="02040503050406030204" pitchFamily="18" charset="0"/>
                              </a:rPr>
                              <m:t>,</m:t>
                            </m:r>
                            <m:r>
                              <a:rPr lang="en-US" altLang="zh-CN" b="1" i="1">
                                <a:latin typeface="Cambria Math" panose="02040503050406030204" pitchFamily="18" charset="0"/>
                              </a:rPr>
                              <m:t>𝒊</m:t>
                            </m:r>
                          </m:sub>
                        </m:sSub>
                      </m:num>
                      <m:den>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rPr>
                                  <m:t>𝑨</m:t>
                                </m:r>
                              </m:e>
                            </m:d>
                          </m:e>
                          <m:sub>
                            <m:r>
                              <a:rPr lang="en-US" altLang="zh-CN" i="1">
                                <a:latin typeface="Cambria Math" panose="02040503050406030204" pitchFamily="18" charset="0"/>
                              </a:rPr>
                              <m:t>𝒌</m:t>
                            </m:r>
                            <m:r>
                              <a:rPr lang="en-US" altLang="zh-CN" b="1" i="1">
                                <a:latin typeface="Cambria Math" panose="02040503050406030204" pitchFamily="18" charset="0"/>
                              </a:rPr>
                              <m:t>,</m:t>
                            </m:r>
                            <m:r>
                              <a:rPr lang="en-US" altLang="zh-CN" b="1" i="1">
                                <a:latin typeface="Cambria Math" panose="02040503050406030204" pitchFamily="18" charset="0"/>
                              </a:rPr>
                              <m:t>𝒍</m:t>
                            </m:r>
                          </m:sub>
                        </m:sSub>
                      </m:den>
                    </m:f>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𝒍</m:t>
                        </m:r>
                      </m:sub>
                    </m:sSub>
                  </m:oMath>
                </a14:m>
                <a:r>
                  <a:rPr lang="en-US" altLang="zh-CN" b="1" dirty="0"/>
                  <a:t>, </a:t>
                </a:r>
                <a14:m>
                  <m:oMath xmlns:m="http://schemas.openxmlformats.org/officeDocument/2006/math">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r>
                      <a:rPr lang="en-US" altLang="zh-CN" b="1" i="1">
                        <a:latin typeface="Cambria Math" panose="02040503050406030204" pitchFamily="18" charset="0"/>
                      </a:rPr>
                      <m:t>,</m:t>
                    </m:r>
                    <m:r>
                      <a:rPr lang="en-US" altLang="zh-CN" b="1" i="1">
                        <a:latin typeface="Cambria Math" panose="02040503050406030204" pitchFamily="18" charset="0"/>
                      </a:rPr>
                      <m:t>𝟐</m:t>
                    </m:r>
                    <m:r>
                      <a:rPr lang="en-US" altLang="zh-CN" b="1" i="1">
                        <a:latin typeface="Cambria Math" panose="02040503050406030204" pitchFamily="18" charset="0"/>
                      </a:rPr>
                      <m:t>,…</m:t>
                    </m:r>
                    <m:r>
                      <a:rPr lang="en-US" altLang="zh-CN" b="1" i="1">
                        <a:latin typeface="Cambria Math" panose="02040503050406030204" pitchFamily="18" charset="0"/>
                      </a:rPr>
                      <m:t>𝒏</m:t>
                    </m:r>
                  </m:oMath>
                </a14:m>
                <a:endParaRPr lang="en-US" altLang="zh-CN" b="1" dirty="0"/>
              </a:p>
            </p:txBody>
          </p:sp>
        </mc:Choice>
        <mc:Fallback xmlns="">
          <p:sp>
            <p:nvSpPr>
              <p:cNvPr id="16" name="矩形 15">
                <a:extLst>
                  <a:ext uri="{FF2B5EF4-FFF2-40B4-BE49-F238E27FC236}">
                    <a16:creationId xmlns:a16="http://schemas.microsoft.com/office/drawing/2014/main" id="{A409C932-B5DD-4740-ACDC-B57617296340}"/>
                  </a:ext>
                </a:extLst>
              </p:cNvPr>
              <p:cNvSpPr>
                <a:spLocks noRot="1" noChangeAspect="1" noMove="1" noResize="1" noEditPoints="1" noAdjustHandles="1" noChangeArrowheads="1" noChangeShapeType="1" noTextEdit="1"/>
              </p:cNvSpPr>
              <p:nvPr/>
            </p:nvSpPr>
            <p:spPr>
              <a:xfrm>
                <a:off x="2094750" y="442187"/>
                <a:ext cx="4954499" cy="683072"/>
              </a:xfrm>
              <a:prstGeom prst="rect">
                <a:avLst/>
              </a:prstGeom>
              <a:blipFill>
                <a:blip r:embed="rId12"/>
                <a:stretch>
                  <a:fillRect/>
                </a:stretch>
              </a:blipFill>
              <a:ln>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25806749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E5AD4-C69A-4667-A808-95B0AC89EB74}"/>
              </a:ext>
            </a:extLst>
          </p:cNvPr>
          <p:cNvSpPr>
            <a:spLocks noGrp="1"/>
          </p:cNvSpPr>
          <p:nvPr>
            <p:ph type="title"/>
          </p:nvPr>
        </p:nvSpPr>
        <p:spPr/>
        <p:txBody>
          <a:bodyPr/>
          <a:lstStyle/>
          <a:p>
            <a:r>
              <a:rPr lang="zh-CN" altLang="en-US" dirty="0"/>
              <a:t>习题</a:t>
            </a: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49212F83-F578-4D20-9EAB-C65751ABA99F}"/>
                  </a:ext>
                </a:extLst>
              </p:cNvPr>
              <p:cNvGraphicFramePr>
                <a:graphicFrameLocks noGrp="1"/>
              </p:cNvGraphicFramePr>
              <p:nvPr>
                <p:extLst>
                  <p:ext uri="{D42A27DB-BD31-4B8C-83A1-F6EECF244321}">
                    <p14:modId xmlns:p14="http://schemas.microsoft.com/office/powerpoint/2010/main" val="1453511265"/>
                  </p:ext>
                </p:extLst>
              </p:nvPr>
            </p:nvGraphicFramePr>
            <p:xfrm>
              <a:off x="1143000" y="1218502"/>
              <a:ext cx="6096000" cy="22104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smtClean="0">
                                        <a:solidFill>
                                          <a:sysClr val="windowText" lastClr="000000"/>
                                        </a:solidFill>
                                        <a:latin typeface="Cambria Math" panose="02040503050406030204" pitchFamily="18" charset="0"/>
                                      </a:rPr>
                                    </m:ctrlPr>
                                  </m:sSupPr>
                                  <m:e>
                                    <m:r>
                                      <a:rPr lang="en-US" altLang="zh-CN" sz="2400" b="1" i="1" smtClean="0">
                                        <a:solidFill>
                                          <a:sysClr val="windowText" lastClr="000000"/>
                                        </a:solidFill>
                                        <a:latin typeface="Cambria Math" panose="02040503050406030204" pitchFamily="18" charset="0"/>
                                      </a:rPr>
                                      <m:t>𝑩</m:t>
                                    </m:r>
                                  </m:e>
                                  <m:sup>
                                    <m:r>
                                      <a:rPr lang="en-US" altLang="zh-CN" sz="2400" b="1" i="1" smtClean="0">
                                        <a:solidFill>
                                          <a:sysClr val="windowText" lastClr="000000"/>
                                        </a:solidFill>
                                        <a:latin typeface="Cambria Math" panose="02040503050406030204" pitchFamily="18" charset="0"/>
                                      </a:rPr>
                                      <m:t>−</m:t>
                                    </m:r>
                                    <m:r>
                                      <a:rPr lang="en-US" altLang="zh-CN" sz="2400" b="1" i="1" smtClean="0">
                                        <a:solidFill>
                                          <a:sysClr val="windowText" lastClr="000000"/>
                                        </a:solidFill>
                                        <a:latin typeface="Cambria Math" panose="02040503050406030204" pitchFamily="18" charset="0"/>
                                      </a:rPr>
                                      <m:t>𝟏</m:t>
                                    </m:r>
                                  </m:sup>
                                </m:sSup>
                                <m:acc>
                                  <m:accPr>
                                    <m:chr m:val="⃗"/>
                                    <m:ctrlPr>
                                      <a:rPr lang="en-US" altLang="zh-CN" sz="2400" b="1" i="1">
                                        <a:solidFill>
                                          <a:sysClr val="windowText" lastClr="000000"/>
                                        </a:solidFill>
                                        <a:latin typeface="Cambria Math" panose="02040503050406030204" pitchFamily="18" charset="0"/>
                                      </a:rPr>
                                    </m:ctrlPr>
                                  </m:accPr>
                                  <m:e>
                                    <m:r>
                                      <a:rPr lang="en-US" altLang="zh-CN" sz="2400" b="1" i="1" smtClean="0">
                                        <a:solidFill>
                                          <a:sysClr val="windowText" lastClr="000000"/>
                                        </a:solidFill>
                                        <a:latin typeface="Cambria Math" panose="02040503050406030204" pitchFamily="18" charset="0"/>
                                      </a:rPr>
                                      <m:t>𝒃</m:t>
                                    </m:r>
                                  </m:e>
                                </m:acc>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6</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𝟒</m:t>
                                    </m:r>
                                  </m:sub>
                                </m:sSub>
                              </m:oMath>
                            </m:oMathPara>
                          </a14:m>
                          <a:endParaRPr lang="zh-CN" altLang="en-US" sz="2000" b="1" dirty="0"/>
                        </a:p>
                      </a:txBody>
                      <a:tcPr anchor="ct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3</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3/2</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4" name="表格 3">
                <a:extLst>
                  <a:ext uri="{FF2B5EF4-FFF2-40B4-BE49-F238E27FC236}">
                    <a16:creationId xmlns:a16="http://schemas.microsoft.com/office/drawing/2014/main" id="{49212F83-F578-4D20-9EAB-C65751ABA99F}"/>
                  </a:ext>
                </a:extLst>
              </p:cNvPr>
              <p:cNvGraphicFramePr>
                <a:graphicFrameLocks noGrp="1"/>
              </p:cNvGraphicFramePr>
              <p:nvPr>
                <p:extLst>
                  <p:ext uri="{D42A27DB-BD31-4B8C-83A1-F6EECF244321}">
                    <p14:modId xmlns:p14="http://schemas.microsoft.com/office/powerpoint/2010/main" val="1453511265"/>
                  </p:ext>
                </p:extLst>
              </p:nvPr>
            </p:nvGraphicFramePr>
            <p:xfrm>
              <a:off x="1143000" y="1218502"/>
              <a:ext cx="6096000" cy="22104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endParaRPr lang="zh-CN"/>
                        </a:p>
                      </a:txBody>
                      <a:tcPr anchor="ctr">
                        <a:blipFill>
                          <a:blip r:embed="rId2"/>
                          <a:stretch>
                            <a:fillRect l="-75050" t="-1515" r="-25749" b="-478788"/>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511493">
                    <a:tc>
                      <a:txBody>
                        <a:bodyPr/>
                        <a:lstStyle/>
                        <a:p>
                          <a:endParaRPr lang="zh-CN"/>
                        </a:p>
                      </a:txBody>
                      <a:tcPr anchor="ctr">
                        <a:blipFill>
                          <a:blip r:embed="rId2"/>
                          <a:stretch>
                            <a:fillRect l="-800" t="-79762" r="-704000" b="-276190"/>
                          </a:stretch>
                        </a:blipFill>
                      </a:tcPr>
                    </a:tc>
                    <a:tc>
                      <a:txBody>
                        <a:bodyPr/>
                        <a:lstStyle/>
                        <a:p>
                          <a:endParaRPr lang="zh-CN"/>
                        </a:p>
                      </a:txBody>
                      <a:tcPr anchor="ctr">
                        <a:blipFill>
                          <a:blip r:embed="rId2"/>
                          <a:stretch>
                            <a:fillRect l="-100800" t="-79762" r="-604000" b="-276190"/>
                          </a:stretch>
                        </a:blipFill>
                      </a:tcPr>
                    </a:tc>
                    <a:tc>
                      <a:txBody>
                        <a:bodyPr/>
                        <a:lstStyle/>
                        <a:p>
                          <a:endParaRPr lang="zh-CN"/>
                        </a:p>
                      </a:txBody>
                      <a:tcPr anchor="ctr">
                        <a:blipFill>
                          <a:blip r:embed="rId2"/>
                          <a:stretch>
                            <a:fillRect l="-200800" t="-79762" r="-504000" b="-276190"/>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2"/>
                          <a:stretch>
                            <a:fillRect l="-701600" t="-79762" r="-3200" b="-276190"/>
                          </a:stretch>
                        </a:blipFill>
                      </a:tcPr>
                    </a:tc>
                    <a:extLst>
                      <a:ext uri="{0D108BD9-81ED-4DB2-BD59-A6C34878D82A}">
                        <a16:rowId xmlns:a16="http://schemas.microsoft.com/office/drawing/2014/main" val="2237396716"/>
                      </a:ext>
                    </a:extLst>
                  </a:tr>
                  <a:tr h="450532">
                    <a:tc>
                      <a:txBody>
                        <a:bodyPr/>
                        <a:lstStyle/>
                        <a:p>
                          <a:endParaRPr lang="zh-CN"/>
                        </a:p>
                      </a:txBody>
                      <a:tcPr anchor="ctr">
                        <a:blipFill>
                          <a:blip r:embed="rId2"/>
                          <a:stretch>
                            <a:fillRect l="-800" t="-201333" r="-704000" b="-209333"/>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6</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2000" b="1" dirty="0"/>
                            <a:t>12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450532">
                    <a:tc>
                      <a:txBody>
                        <a:bodyPr/>
                        <a:lstStyle/>
                        <a:p>
                          <a:endParaRPr lang="zh-CN"/>
                        </a:p>
                      </a:txBody>
                      <a:tcPr anchor="ctr">
                        <a:blipFill>
                          <a:blip r:embed="rId2"/>
                          <a:stretch>
                            <a:fillRect l="-800" t="-305405" r="-704000" b="-112162"/>
                          </a:stretch>
                        </a:blipFill>
                      </a:tcPr>
                    </a:tc>
                    <a:tc>
                      <a:txBody>
                        <a:bodyPr/>
                        <a:lstStyle/>
                        <a:p>
                          <a:pPr algn="ctr"/>
                          <a:r>
                            <a:rPr lang="en-US" altLang="zh-CN" sz="2000" b="1" dirty="0"/>
                            <a:t>0</a:t>
                          </a:r>
                          <a:endParaRPr lang="zh-CN" altLang="en-US" sz="2000" b="1" dirty="0"/>
                        </a:p>
                      </a:txBody>
                      <a:tcPr anchor="ctr"/>
                    </a:tc>
                    <a:tc>
                      <a:txBody>
                        <a:bodyPr/>
                        <a:lstStyle/>
                        <a:p>
                          <a:pPr algn="ctr"/>
                          <a:r>
                            <a:rPr lang="en-US" altLang="zh-CN" sz="2000" b="1" dirty="0"/>
                            <a:t>3</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3/2</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-1/2</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2"/>
                          <a:stretch>
                            <a:fillRect l="-267" t="-461538" r="-168000" b="-27692"/>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-1/2</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2BB101E-8318-4C30-8E15-1DF816B6DD45}"/>
                  </a:ext>
                </a:extLst>
              </p:cNvPr>
              <p:cNvSpPr txBox="1"/>
              <p:nvPr/>
            </p:nvSpPr>
            <p:spPr>
              <a:xfrm>
                <a:off x="964252" y="3622205"/>
                <a:ext cx="3058582" cy="646331"/>
              </a:xfrm>
              <a:prstGeom prst="rect">
                <a:avLst/>
              </a:prstGeom>
              <a:noFill/>
            </p:spPr>
            <p:txBody>
              <a:bodyPr wrap="square" rtlCol="0">
                <a:spAutoFit/>
              </a:bodyPr>
              <a:lstStyle/>
              <a:p>
                <a14:m>
                  <m:oMath xmlns:m="http://schemas.openxmlformats.org/officeDocument/2006/math">
                    <m:sSub>
                      <m:sSubPr>
                        <m:ctrlPr>
                          <a:rPr lang="en-US" altLang="zh-CN" i="1" smtClean="0">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b="0" i="1" smtClean="0">
                            <a:latin typeface="Cambria Math" panose="02040503050406030204" pitchFamily="18" charset="0"/>
                          </a:rPr>
                          <m:t>2</m:t>
                        </m:r>
                      </m:sub>
                    </m:sSub>
                    <m:r>
                      <a:rPr lang="zh-CN" altLang="en-US" i="1">
                        <a:latin typeface="Cambria Math" panose="02040503050406030204" pitchFamily="18" charset="0"/>
                      </a:rPr>
                      <m:t>换入</m:t>
                    </m:r>
                  </m:oMath>
                </a14:m>
                <a:r>
                  <a:rPr lang="zh-CN" altLang="en-US"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e>
                      <m:sub>
                        <m:r>
                          <a:rPr lang="en-US" altLang="zh-CN" b="0" i="1" smtClean="0">
                            <a:latin typeface="Cambria Math" panose="02040503050406030204" pitchFamily="18" charset="0"/>
                          </a:rPr>
                          <m:t>4</m:t>
                        </m:r>
                      </m:sub>
                    </m:sSub>
                    <m:r>
                      <a:rPr lang="zh-CN" altLang="en-US" i="1">
                        <a:latin typeface="Cambria Math" panose="02040503050406030204" pitchFamily="18" charset="0"/>
                      </a:rPr>
                      <m:t>换出，</m:t>
                    </m:r>
                  </m:oMath>
                </a14:m>
                <a:r>
                  <a:rPr lang="zh-CN" altLang="en-US" dirty="0"/>
                  <a:t>利用公式</a:t>
                </a:r>
                <a:endParaRPr lang="en-US" altLang="zh-CN" dirty="0"/>
              </a:p>
              <a:p>
                <a:r>
                  <a:rPr lang="zh-CN" altLang="en-US" dirty="0"/>
                  <a:t>计算变换后的</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𝜎</m:t>
                        </m:r>
                      </m:e>
                    </m:acc>
                  </m:oMath>
                </a14:m>
                <a:endParaRPr lang="zh-CN" altLang="en-US" dirty="0"/>
              </a:p>
            </p:txBody>
          </p:sp>
        </mc:Choice>
        <mc:Fallback xmlns="">
          <p:sp>
            <p:nvSpPr>
              <p:cNvPr id="5" name="文本框 4">
                <a:extLst>
                  <a:ext uri="{FF2B5EF4-FFF2-40B4-BE49-F238E27FC236}">
                    <a16:creationId xmlns:a16="http://schemas.microsoft.com/office/drawing/2014/main" id="{52BB101E-8318-4C30-8E15-1DF816B6DD45}"/>
                  </a:ext>
                </a:extLst>
              </p:cNvPr>
              <p:cNvSpPr txBox="1">
                <a:spLocks noRot="1" noChangeAspect="1" noMove="1" noResize="1" noEditPoints="1" noAdjustHandles="1" noChangeArrowheads="1" noChangeShapeType="1" noTextEdit="1"/>
              </p:cNvSpPr>
              <p:nvPr/>
            </p:nvSpPr>
            <p:spPr>
              <a:xfrm>
                <a:off x="964252" y="3622205"/>
                <a:ext cx="3058582" cy="646331"/>
              </a:xfrm>
              <a:prstGeom prst="rect">
                <a:avLst/>
              </a:prstGeom>
              <a:blipFill>
                <a:blip r:embed="rId3"/>
                <a:stretch>
                  <a:fillRect l="-1594" t="-11321" b="-12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840180F-195D-4556-969C-D367416CFD9B}"/>
                  </a:ext>
                </a:extLst>
              </p:cNvPr>
              <p:cNvSpPr/>
              <p:nvPr/>
            </p:nvSpPr>
            <p:spPr>
              <a:xfrm>
                <a:off x="4038600" y="3585464"/>
                <a:ext cx="3759491" cy="683072"/>
              </a:xfrm>
              <a:prstGeom prst="rect">
                <a:avLst/>
              </a:prstGeom>
              <a:ln>
                <a:solidFill>
                  <a:schemeClr val="tx1"/>
                </a:solidFill>
              </a:ln>
            </p:spPr>
            <p:txBody>
              <a:bodyPr wrap="none">
                <a:spAutoFit/>
              </a:bodyPr>
              <a:lstStyle/>
              <a:p>
                <a14:m>
                  <m:oMath xmlns:m="http://schemas.openxmlformats.org/officeDocument/2006/math">
                    <m:sSubSup>
                      <m:sSubSupPr>
                        <m:ctrlPr>
                          <a:rPr lang="en-US" altLang="zh-CN" b="1" i="1">
                            <a:latin typeface="Cambria Math" panose="02040503050406030204" pitchFamily="18" charset="0"/>
                          </a:rPr>
                        </m:ctrlPr>
                      </m:sSubSupPr>
                      <m:e>
                        <m:r>
                          <a:rPr lang="en-US" altLang="zh-CN" b="1" i="1">
                            <a:latin typeface="Cambria Math" panose="02040503050406030204" pitchFamily="18" charset="0"/>
                          </a:rPr>
                          <m:t>𝝈</m:t>
                        </m:r>
                      </m:e>
                      <m:sub>
                        <m:r>
                          <a:rPr lang="en-US" altLang="zh-CN" b="1" i="1">
                            <a:latin typeface="Cambria Math" panose="02040503050406030204" pitchFamily="18" charset="0"/>
                          </a:rPr>
                          <m:t>𝒊</m:t>
                        </m:r>
                      </m:sub>
                      <m:sup>
                        <m:r>
                          <a:rPr lang="en-US" altLang="zh-CN" b="1" i="1">
                            <a:latin typeface="Cambria Math" panose="02040503050406030204" pitchFamily="18" charset="0"/>
                          </a:rPr>
                          <m:t>′</m:t>
                        </m:r>
                      </m:sup>
                    </m:sSubSup>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𝒊</m:t>
                        </m:r>
                      </m:sub>
                    </m:sSub>
                    <m:r>
                      <a:rPr lang="en-US" altLang="zh-CN" b="1" i="1">
                        <a:latin typeface="Cambria Math" panose="02040503050406030204" pitchFamily="18" charset="0"/>
                      </a:rPr>
                      <m:t>−</m:t>
                    </m:r>
                    <m:f>
                      <m:fPr>
                        <m:ctrlPr>
                          <a:rPr lang="en-US" altLang="zh-CN" b="1" i="1">
                            <a:latin typeface="Cambria Math" panose="02040503050406030204" pitchFamily="18" charset="0"/>
                          </a:rPr>
                        </m:ctrlPr>
                      </m:fPr>
                      <m:num>
                        <m:sSub>
                          <m:sSubPr>
                            <m:ctrlPr>
                              <a:rPr lang="en-US" altLang="zh-CN" b="1" i="1">
                                <a:latin typeface="Cambria Math" panose="02040503050406030204" pitchFamily="18" charset="0"/>
                              </a:rPr>
                            </m:ctrlPr>
                          </m:sSubPr>
                          <m:e>
                            <m:d>
                              <m:dPr>
                                <m:ctrlPr>
                                  <a:rPr lang="en-US" altLang="zh-CN" b="1" i="1">
                                    <a:latin typeface="Cambria Math" panose="02040503050406030204" pitchFamily="18" charset="0"/>
                                  </a:rPr>
                                </m:ctrlPr>
                              </m:dPr>
                              <m:e>
                                <m:sSup>
                                  <m:sSupPr>
                                    <m:ctrlPr>
                                      <a:rPr lang="en-US" altLang="zh-CN" b="1" i="1">
                                        <a:latin typeface="Cambria Math" panose="02040503050406030204" pitchFamily="18" charset="0"/>
                                      </a:rPr>
                                    </m:ctrlPr>
                                  </m:sSupPr>
                                  <m:e>
                                    <m:r>
                                      <a:rPr lang="en-US" altLang="zh-CN" b="1" i="1">
                                        <a:latin typeface="Cambria Math" panose="02040503050406030204" pitchFamily="18" charset="0"/>
                                      </a:rPr>
                                      <m:t>𝑩</m:t>
                                    </m:r>
                                  </m:e>
                                  <m:sup>
                                    <m:r>
                                      <a:rPr lang="en-US" altLang="zh-CN" b="1" i="1">
                                        <a:latin typeface="Cambria Math" panose="02040503050406030204" pitchFamily="18" charset="0"/>
                                      </a:rPr>
                                      <m:t>−</m:t>
                                    </m:r>
                                    <m:r>
                                      <a:rPr lang="en-US" altLang="zh-CN" b="1" i="1">
                                        <a:latin typeface="Cambria Math" panose="02040503050406030204" pitchFamily="18" charset="0"/>
                                      </a:rPr>
                                      <m:t>𝟏</m:t>
                                    </m:r>
                                  </m:sup>
                                </m:sSup>
                                <m:r>
                                  <a:rPr lang="en-US" altLang="zh-CN" b="1" i="1">
                                    <a:latin typeface="Cambria Math" panose="02040503050406030204" pitchFamily="18" charset="0"/>
                                  </a:rPr>
                                  <m:t>𝑨</m:t>
                                </m:r>
                              </m:e>
                            </m:d>
                          </m:e>
                          <m:sub>
                            <m:r>
                              <a:rPr lang="en-US" altLang="zh-CN" b="1" i="1">
                                <a:latin typeface="Cambria Math" panose="02040503050406030204" pitchFamily="18" charset="0"/>
                              </a:rPr>
                              <m:t>𝒌</m:t>
                            </m:r>
                            <m:r>
                              <a:rPr lang="en-US" altLang="zh-CN" b="1" i="1">
                                <a:latin typeface="Cambria Math" panose="02040503050406030204" pitchFamily="18" charset="0"/>
                              </a:rPr>
                              <m:t>,</m:t>
                            </m:r>
                            <m:r>
                              <a:rPr lang="en-US" altLang="zh-CN" b="1" i="1">
                                <a:latin typeface="Cambria Math" panose="02040503050406030204" pitchFamily="18" charset="0"/>
                              </a:rPr>
                              <m:t>𝒊</m:t>
                            </m:r>
                          </m:sub>
                        </m:sSub>
                      </m:num>
                      <m:den>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𝑩</m:t>
                                    </m:r>
                                  </m:e>
                                  <m:sup>
                                    <m:r>
                                      <a:rPr lang="en-US" altLang="zh-CN" i="1">
                                        <a:latin typeface="Cambria Math" panose="02040503050406030204" pitchFamily="18" charset="0"/>
                                      </a:rPr>
                                      <m:t>−</m:t>
                                    </m:r>
                                    <m:r>
                                      <a:rPr lang="en-US" altLang="zh-CN" i="1">
                                        <a:latin typeface="Cambria Math" panose="02040503050406030204" pitchFamily="18" charset="0"/>
                                      </a:rPr>
                                      <m:t>𝟏</m:t>
                                    </m:r>
                                  </m:sup>
                                </m:sSup>
                                <m:r>
                                  <a:rPr lang="en-US" altLang="zh-CN" i="1">
                                    <a:latin typeface="Cambria Math" panose="02040503050406030204" pitchFamily="18" charset="0"/>
                                  </a:rPr>
                                  <m:t>𝑨</m:t>
                                </m:r>
                              </m:e>
                            </m:d>
                          </m:e>
                          <m:sub>
                            <m:r>
                              <a:rPr lang="en-US" altLang="zh-CN" i="1">
                                <a:latin typeface="Cambria Math" panose="02040503050406030204" pitchFamily="18" charset="0"/>
                              </a:rPr>
                              <m:t>𝒌</m:t>
                            </m:r>
                            <m:r>
                              <a:rPr lang="en-US" altLang="zh-CN" b="1" i="1">
                                <a:latin typeface="Cambria Math" panose="02040503050406030204" pitchFamily="18" charset="0"/>
                              </a:rPr>
                              <m:t>,</m:t>
                            </m:r>
                            <m:r>
                              <a:rPr lang="en-US" altLang="zh-CN" b="1" i="1">
                                <a:latin typeface="Cambria Math" panose="02040503050406030204" pitchFamily="18" charset="0"/>
                              </a:rPr>
                              <m:t>𝒍</m:t>
                            </m:r>
                          </m:sub>
                        </m:sSub>
                      </m:den>
                    </m:f>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𝝈</m:t>
                        </m:r>
                      </m:e>
                      <m:sub>
                        <m:r>
                          <a:rPr lang="en-US" altLang="zh-CN" b="1" i="1">
                            <a:latin typeface="Cambria Math" panose="02040503050406030204" pitchFamily="18" charset="0"/>
                          </a:rPr>
                          <m:t>𝒍</m:t>
                        </m:r>
                      </m:sub>
                    </m:sSub>
                  </m:oMath>
                </a14:m>
                <a:r>
                  <a:rPr lang="en-US" altLang="zh-CN" b="1" dirty="0"/>
                  <a:t>, </a:t>
                </a:r>
                <a14:m>
                  <m:oMath xmlns:m="http://schemas.openxmlformats.org/officeDocument/2006/math">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r>
                      <a:rPr lang="en-US" altLang="zh-CN" b="1" i="1">
                        <a:latin typeface="Cambria Math" panose="02040503050406030204" pitchFamily="18" charset="0"/>
                      </a:rPr>
                      <m:t>,</m:t>
                    </m:r>
                    <m:r>
                      <a:rPr lang="en-US" altLang="zh-CN" b="1" i="1">
                        <a:latin typeface="Cambria Math" panose="02040503050406030204" pitchFamily="18" charset="0"/>
                      </a:rPr>
                      <m:t>𝟐</m:t>
                    </m:r>
                    <m:r>
                      <a:rPr lang="en-US" altLang="zh-CN" b="1" i="1">
                        <a:latin typeface="Cambria Math" panose="02040503050406030204" pitchFamily="18" charset="0"/>
                      </a:rPr>
                      <m:t>,…</m:t>
                    </m:r>
                    <m:r>
                      <a:rPr lang="en-US" altLang="zh-CN" b="1" i="1">
                        <a:latin typeface="Cambria Math" panose="02040503050406030204" pitchFamily="18" charset="0"/>
                      </a:rPr>
                      <m:t>𝒏</m:t>
                    </m:r>
                  </m:oMath>
                </a14:m>
                <a:endParaRPr lang="en-US" altLang="zh-CN" b="1" dirty="0"/>
              </a:p>
            </p:txBody>
          </p:sp>
        </mc:Choice>
        <mc:Fallback xmlns="">
          <p:sp>
            <p:nvSpPr>
              <p:cNvPr id="6" name="矩形 5">
                <a:extLst>
                  <a:ext uri="{FF2B5EF4-FFF2-40B4-BE49-F238E27FC236}">
                    <a16:creationId xmlns:a16="http://schemas.microsoft.com/office/drawing/2014/main" id="{3840180F-195D-4556-969C-D367416CFD9B}"/>
                  </a:ext>
                </a:extLst>
              </p:cNvPr>
              <p:cNvSpPr>
                <a:spLocks noRot="1" noChangeAspect="1" noMove="1" noResize="1" noEditPoints="1" noAdjustHandles="1" noChangeArrowheads="1" noChangeShapeType="1" noTextEdit="1"/>
              </p:cNvSpPr>
              <p:nvPr/>
            </p:nvSpPr>
            <p:spPr>
              <a:xfrm>
                <a:off x="4038600" y="3585464"/>
                <a:ext cx="3759491" cy="683072"/>
              </a:xfrm>
              <a:prstGeom prst="rect">
                <a:avLst/>
              </a:prstGeom>
              <a:blipFill>
                <a:blip r:embed="rId4"/>
                <a:stretch>
                  <a:fillRect/>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18E5A79A-79EC-4FDA-A141-DEB6D5F02DBB}"/>
                  </a:ext>
                </a:extLst>
              </p:cNvPr>
              <p:cNvGraphicFramePr>
                <a:graphicFrameLocks noGrp="1"/>
              </p:cNvGraphicFramePr>
              <p:nvPr>
                <p:extLst>
                  <p:ext uri="{D42A27DB-BD31-4B8C-83A1-F6EECF244321}">
                    <p14:modId xmlns:p14="http://schemas.microsoft.com/office/powerpoint/2010/main" val="3681488196"/>
                  </p:ext>
                </p:extLst>
              </p:nvPr>
            </p:nvGraphicFramePr>
            <p:xfrm>
              <a:off x="1374812" y="4398824"/>
              <a:ext cx="6096000" cy="22104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313958">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solidFill>
                                          <a:schemeClr val="bg1"/>
                                        </a:solidFill>
                                        <a:latin typeface="Cambria Math" panose="02040503050406030204" pitchFamily="18" charset="0"/>
                                      </a:rPr>
                                    </m:ctrlPr>
                                  </m:sSupPr>
                                  <m:e>
                                    <m:acc>
                                      <m:accPr>
                                        <m:chr m:val="⃗"/>
                                        <m:ctrlPr>
                                          <a:rPr lang="en-US" altLang="zh-CN" sz="2000" b="1" i="1" smtClean="0">
                                            <a:solidFill>
                                              <a:schemeClr val="bg1"/>
                                            </a:solidFill>
                                            <a:latin typeface="Cambria Math" panose="02040503050406030204" pitchFamily="18" charset="0"/>
                                          </a:rPr>
                                        </m:ctrlPr>
                                      </m:accPr>
                                      <m:e>
                                        <m:r>
                                          <a:rPr lang="en-US" altLang="zh-CN" sz="2000" b="1" i="1" smtClean="0">
                                            <a:solidFill>
                                              <a:schemeClr val="bg1"/>
                                            </a:solidFill>
                                            <a:latin typeface="Cambria Math" panose="02040503050406030204" pitchFamily="18" charset="0"/>
                                          </a:rPr>
                                          <m:t>𝒄</m:t>
                                        </m:r>
                                      </m:e>
                                    </m:acc>
                                  </m:e>
                                  <m:sup>
                                    <m:r>
                                      <a:rPr lang="en-US" altLang="zh-CN" sz="2000" b="1" i="1" smtClean="0">
                                        <a:solidFill>
                                          <a:schemeClr val="bg1"/>
                                        </a:solidFill>
                                        <a:latin typeface="Cambria Math" panose="02040503050406030204" pitchFamily="18" charset="0"/>
                                      </a:rPr>
                                      <m:t>𝑻</m:t>
                                    </m:r>
                                  </m:sup>
                                </m:sSup>
                              </m:oMath>
                            </m:oMathPara>
                          </a14:m>
                          <a:endParaRPr lang="zh-CN" altLang="en-US" sz="2000" b="1" dirty="0"/>
                        </a:p>
                      </a:txBody>
                      <a:tcPr anchor="ct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𝒙</m:t>
                                        </m:r>
                                      </m:e>
                                    </m:acc>
                                  </m:e>
                                  <m:sub>
                                    <m:r>
                                      <a:rPr lang="en-US" altLang="zh-CN" sz="2000" b="1" i="1" smtClean="0">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solidFill>
                                          <a:schemeClr val="tx1"/>
                                        </a:solidFill>
                                        <a:latin typeface="Cambria Math" panose="02040503050406030204" pitchFamily="18" charset="0"/>
                                      </a:rPr>
                                    </m:ctrlPr>
                                  </m:sSubPr>
                                  <m:e>
                                    <m:acc>
                                      <m:accPr>
                                        <m:chr m:val="⃗"/>
                                        <m:ctrlPr>
                                          <a:rPr lang="en-US" altLang="zh-CN" sz="2000" b="1" i="1" smtClean="0">
                                            <a:solidFill>
                                              <a:schemeClr val="tx1"/>
                                            </a:solidFill>
                                            <a:latin typeface="Cambria Math" panose="02040503050406030204" pitchFamily="18" charset="0"/>
                                          </a:rPr>
                                        </m:ctrlPr>
                                      </m:accPr>
                                      <m:e>
                                        <m:r>
                                          <a:rPr lang="en-US" altLang="zh-CN" sz="2000" b="1" i="1" smtClean="0">
                                            <a:solidFill>
                                              <a:schemeClr val="tx1"/>
                                            </a:solidFill>
                                            <a:latin typeface="Cambria Math" panose="02040503050406030204" pitchFamily="18" charset="0"/>
                                          </a:rPr>
                                          <m:t>𝒄</m:t>
                                        </m:r>
                                      </m:e>
                                    </m:acc>
                                  </m:e>
                                  <m:sub>
                                    <m:r>
                                      <a:rPr lang="en-US" altLang="zh-CN" sz="2000" b="1" i="1" smtClean="0">
                                        <a:solidFill>
                                          <a:schemeClr val="tx1"/>
                                        </a:solidFill>
                                        <a:latin typeface="Cambria Math" panose="02040503050406030204" pitchFamily="18" charset="0"/>
                                      </a:rPr>
                                      <m:t>𝑩</m:t>
                                    </m:r>
                                  </m:sub>
                                </m:sSub>
                              </m:oMath>
                            </m:oMathPara>
                          </a14:m>
                          <a:endParaRPr lang="zh-CN" altLang="en-US" sz="2000" b="1" dirty="0"/>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1" i="1" smtClean="0">
                                        <a:solidFill>
                                          <a:sysClr val="windowText" lastClr="000000"/>
                                        </a:solidFill>
                                        <a:latin typeface="Cambria Math" panose="02040503050406030204" pitchFamily="18" charset="0"/>
                                      </a:rPr>
                                    </m:ctrlPr>
                                  </m:sSupPr>
                                  <m:e>
                                    <m:r>
                                      <a:rPr lang="en-US" altLang="zh-CN" sz="2400" b="1" i="1" smtClean="0">
                                        <a:solidFill>
                                          <a:sysClr val="windowText" lastClr="000000"/>
                                        </a:solidFill>
                                        <a:latin typeface="Cambria Math" panose="02040503050406030204" pitchFamily="18" charset="0"/>
                                      </a:rPr>
                                      <m:t>𝑩</m:t>
                                    </m:r>
                                  </m:e>
                                  <m:sup>
                                    <m:r>
                                      <a:rPr lang="en-US" altLang="zh-CN" sz="2400" b="1" i="1" smtClean="0">
                                        <a:solidFill>
                                          <a:sysClr val="windowText" lastClr="000000"/>
                                        </a:solidFill>
                                        <a:latin typeface="Cambria Math" panose="02040503050406030204" pitchFamily="18" charset="0"/>
                                      </a:rPr>
                                      <m:t>−</m:t>
                                    </m:r>
                                    <m:r>
                                      <a:rPr lang="en-US" altLang="zh-CN" sz="2400" b="1" i="1" smtClean="0">
                                        <a:solidFill>
                                          <a:sysClr val="windowText" lastClr="000000"/>
                                        </a:solidFill>
                                        <a:latin typeface="Cambria Math" panose="02040503050406030204" pitchFamily="18" charset="0"/>
                                      </a:rPr>
                                      <m:t>𝟏</m:t>
                                    </m:r>
                                  </m:sup>
                                </m:sSup>
                                <m:acc>
                                  <m:accPr>
                                    <m:chr m:val="⃗"/>
                                    <m:ctrlPr>
                                      <a:rPr lang="en-US" altLang="zh-CN" sz="2400" b="1" i="1">
                                        <a:solidFill>
                                          <a:sysClr val="windowText" lastClr="000000"/>
                                        </a:solidFill>
                                        <a:latin typeface="Cambria Math" panose="02040503050406030204" pitchFamily="18" charset="0"/>
                                      </a:rPr>
                                    </m:ctrlPr>
                                  </m:accPr>
                                  <m:e>
                                    <m:r>
                                      <a:rPr lang="en-US" altLang="zh-CN" sz="2400" b="1" i="1" smtClean="0">
                                        <a:solidFill>
                                          <a:sysClr val="windowText" lastClr="000000"/>
                                        </a:solidFill>
                                        <a:latin typeface="Cambria Math" panose="02040503050406030204" pitchFamily="18" charset="0"/>
                                      </a:rPr>
                                      <m:t>𝒃</m:t>
                                    </m:r>
                                  </m:e>
                                </m:acc>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rPr>
                                  <m:t>𝜃</m:t>
                                </m:r>
                              </m:oMath>
                            </m:oMathPara>
                          </a14:m>
                          <a:endParaRPr lang="zh-CN" altLang="en-US" sz="2000" dirty="0">
                            <a:solidFill>
                              <a:sysClr val="windowText" lastClr="000000"/>
                            </a:solidFill>
                          </a:endParaRPr>
                        </a:p>
                      </a:txBody>
                      <a:tcPr anchor="ctr"/>
                    </a:tc>
                    <a:extLst>
                      <a:ext uri="{0D108BD9-81ED-4DB2-BD59-A6C34878D82A}">
                        <a16:rowId xmlns:a16="http://schemas.microsoft.com/office/drawing/2014/main" val="2237396716"/>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5</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2/3</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-1/3</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392709">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𝟐</m:t>
                                    </m:r>
                                  </m:sub>
                                </m:sSub>
                              </m:oMath>
                            </m:oMathPara>
                          </a14:m>
                          <a:endParaRPr lang="zh-CN" altLang="en-US" sz="2000" b="1" dirty="0"/>
                        </a:p>
                      </a:txBody>
                      <a:tcPr anchor="ct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-1/3</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2/3</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2709">
                    <a:tc gridSpan="3">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𝜎</m:t>
                                        </m:r>
                                      </m:e>
                                    </m:acc>
                                  </m:e>
                                  <m:sup>
                                    <m:r>
                                      <a:rPr lang="en-US" altLang="zh-CN" sz="2000" i="1">
                                        <a:latin typeface="Cambria Math" panose="02040503050406030204" pitchFamily="18" charset="0"/>
                                      </a:rPr>
                                      <m:t>𝑇</m:t>
                                    </m:r>
                                  </m:sup>
                                </m:sSup>
                              </m:oMath>
                            </m:oMathPara>
                          </a14:m>
                          <a:endParaRPr lang="zh-CN" altLang="en-US" sz="2000" b="1" dirty="0"/>
                        </a:p>
                      </a:txBody>
                      <a:tcPr anchor="ct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Choice>
        <mc:Fallback xmlns="">
          <p:graphicFrame>
            <p:nvGraphicFramePr>
              <p:cNvPr id="7" name="表格 6">
                <a:extLst>
                  <a:ext uri="{FF2B5EF4-FFF2-40B4-BE49-F238E27FC236}">
                    <a16:creationId xmlns:a16="http://schemas.microsoft.com/office/drawing/2014/main" id="{18E5A79A-79EC-4FDA-A141-DEB6D5F02DBB}"/>
                  </a:ext>
                </a:extLst>
              </p:cNvPr>
              <p:cNvGraphicFramePr>
                <a:graphicFrameLocks noGrp="1"/>
              </p:cNvGraphicFramePr>
              <p:nvPr>
                <p:extLst>
                  <p:ext uri="{D42A27DB-BD31-4B8C-83A1-F6EECF244321}">
                    <p14:modId xmlns:p14="http://schemas.microsoft.com/office/powerpoint/2010/main" val="3681488196"/>
                  </p:ext>
                </p:extLst>
              </p:nvPr>
            </p:nvGraphicFramePr>
            <p:xfrm>
              <a:off x="1374812" y="4398824"/>
              <a:ext cx="6096000" cy="221049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775034011"/>
                        </a:ext>
                      </a:extLst>
                    </a:gridCol>
                    <a:gridCol w="762000">
                      <a:extLst>
                        <a:ext uri="{9D8B030D-6E8A-4147-A177-3AD203B41FA5}">
                          <a16:colId xmlns:a16="http://schemas.microsoft.com/office/drawing/2014/main" val="1586977620"/>
                        </a:ext>
                      </a:extLst>
                    </a:gridCol>
                    <a:gridCol w="762000">
                      <a:extLst>
                        <a:ext uri="{9D8B030D-6E8A-4147-A177-3AD203B41FA5}">
                          <a16:colId xmlns:a16="http://schemas.microsoft.com/office/drawing/2014/main" val="2459346512"/>
                        </a:ext>
                      </a:extLst>
                    </a:gridCol>
                    <a:gridCol w="762000">
                      <a:extLst>
                        <a:ext uri="{9D8B030D-6E8A-4147-A177-3AD203B41FA5}">
                          <a16:colId xmlns:a16="http://schemas.microsoft.com/office/drawing/2014/main" val="1426368105"/>
                        </a:ext>
                      </a:extLst>
                    </a:gridCol>
                    <a:gridCol w="762000">
                      <a:extLst>
                        <a:ext uri="{9D8B030D-6E8A-4147-A177-3AD203B41FA5}">
                          <a16:colId xmlns:a16="http://schemas.microsoft.com/office/drawing/2014/main" val="1783729747"/>
                        </a:ext>
                      </a:extLst>
                    </a:gridCol>
                    <a:gridCol w="762000">
                      <a:extLst>
                        <a:ext uri="{9D8B030D-6E8A-4147-A177-3AD203B41FA5}">
                          <a16:colId xmlns:a16="http://schemas.microsoft.com/office/drawing/2014/main" val="3541072806"/>
                        </a:ext>
                      </a:extLst>
                    </a:gridCol>
                    <a:gridCol w="762000">
                      <a:extLst>
                        <a:ext uri="{9D8B030D-6E8A-4147-A177-3AD203B41FA5}">
                          <a16:colId xmlns:a16="http://schemas.microsoft.com/office/drawing/2014/main" val="1037422741"/>
                        </a:ext>
                      </a:extLst>
                    </a:gridCol>
                    <a:gridCol w="762000">
                      <a:extLst>
                        <a:ext uri="{9D8B030D-6E8A-4147-A177-3AD203B41FA5}">
                          <a16:colId xmlns:a16="http://schemas.microsoft.com/office/drawing/2014/main" val="3359340276"/>
                        </a:ext>
                      </a:extLst>
                    </a:gridCol>
                  </a:tblGrid>
                  <a:tr h="401701">
                    <a:tc>
                      <a:txBody>
                        <a:bodyPr/>
                        <a:lstStyle/>
                        <a:p>
                          <a:pPr algn="ctr"/>
                          <a:endParaRPr lang="zh-CN" altLang="en-US" sz="2000" b="1" dirty="0"/>
                        </a:p>
                      </a:txBody>
                      <a:tcPr anchor="ctr"/>
                    </a:tc>
                    <a:tc>
                      <a:txBody>
                        <a:bodyPr/>
                        <a:lstStyle/>
                        <a:p>
                          <a:pPr algn="ctr"/>
                          <a:endParaRPr lang="zh-CN" altLang="en-US" sz="2000" b="1" dirty="0"/>
                        </a:p>
                      </a:txBody>
                      <a:tcPr anchor="ctr"/>
                    </a:tc>
                    <a:tc>
                      <a:txBody>
                        <a:bodyPr/>
                        <a:lstStyle/>
                        <a:p>
                          <a:pPr algn="ctr"/>
                          <a:endParaRPr lang="zh-CN" altLang="en-US" sz="2000" b="1" dirty="0"/>
                        </a:p>
                      </a:txBody>
                      <a:tcPr anchor="ctr"/>
                    </a:tc>
                    <a:tc gridSpan="4">
                      <a:txBody>
                        <a:bodyPr/>
                        <a:lstStyle/>
                        <a:p>
                          <a:endParaRPr lang="zh-CN"/>
                        </a:p>
                      </a:txBody>
                      <a:tcPr anchor="ctr">
                        <a:blipFill>
                          <a:blip r:embed="rId5"/>
                          <a:stretch>
                            <a:fillRect l="-75050" t="-1515" r="-25749" b="-478788"/>
                          </a:stretch>
                        </a:blip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a:txBody>
                        <a:bodyPr/>
                        <a:lstStyle/>
                        <a:p>
                          <a:pPr algn="ctr"/>
                          <a:endParaRPr lang="zh-CN" altLang="en-US" sz="2000" b="1" dirty="0"/>
                        </a:p>
                      </a:txBody>
                      <a:tcPr anchor="ctr"/>
                    </a:tc>
                    <a:extLst>
                      <a:ext uri="{0D108BD9-81ED-4DB2-BD59-A6C34878D82A}">
                        <a16:rowId xmlns:a16="http://schemas.microsoft.com/office/drawing/2014/main" val="3062668008"/>
                      </a:ext>
                    </a:extLst>
                  </a:tr>
                  <a:tr h="511493">
                    <a:tc>
                      <a:txBody>
                        <a:bodyPr/>
                        <a:lstStyle/>
                        <a:p>
                          <a:endParaRPr lang="zh-CN"/>
                        </a:p>
                      </a:txBody>
                      <a:tcPr anchor="ctr">
                        <a:blipFill>
                          <a:blip r:embed="rId5"/>
                          <a:stretch>
                            <a:fillRect l="-800" t="-79762" r="-704000" b="-276190"/>
                          </a:stretch>
                        </a:blipFill>
                      </a:tcPr>
                    </a:tc>
                    <a:tc>
                      <a:txBody>
                        <a:bodyPr/>
                        <a:lstStyle/>
                        <a:p>
                          <a:endParaRPr lang="zh-CN"/>
                        </a:p>
                      </a:txBody>
                      <a:tcPr anchor="ctr">
                        <a:blipFill>
                          <a:blip r:embed="rId5"/>
                          <a:stretch>
                            <a:fillRect l="-100800" t="-79762" r="-604000" b="-276190"/>
                          </a:stretch>
                        </a:blipFill>
                      </a:tcPr>
                    </a:tc>
                    <a:tc>
                      <a:txBody>
                        <a:bodyPr/>
                        <a:lstStyle/>
                        <a:p>
                          <a:endParaRPr lang="zh-CN"/>
                        </a:p>
                      </a:txBody>
                      <a:tcPr anchor="ctr">
                        <a:blipFill>
                          <a:blip r:embed="rId5"/>
                          <a:stretch>
                            <a:fillRect l="-200800" t="-79762" r="-504000" b="-276190"/>
                          </a:stretch>
                        </a:blipFill>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1</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sz="2000" b="1" dirty="0"/>
                            <a:t>0</a:t>
                          </a:r>
                          <a:endParaRPr lang="zh-CN" altLang="en-US" sz="2000" b="1" dirty="0"/>
                        </a:p>
                      </a:txBody>
                      <a:tcPr anchor="ctr">
                        <a:lnB w="12700" cap="flat" cmpd="sng" algn="ctr">
                          <a:solidFill>
                            <a:schemeClr val="tx1"/>
                          </a:solidFill>
                          <a:prstDash val="solid"/>
                          <a:round/>
                          <a:headEnd type="none" w="med" len="med"/>
                          <a:tailEnd type="none" w="med" len="med"/>
                        </a:lnB>
                      </a:tcPr>
                    </a:tc>
                    <a:tc>
                      <a:txBody>
                        <a:bodyPr/>
                        <a:lstStyle/>
                        <a:p>
                          <a:endParaRPr lang="zh-CN"/>
                        </a:p>
                      </a:txBody>
                      <a:tcPr anchor="ctr">
                        <a:blipFill>
                          <a:blip r:embed="rId5"/>
                          <a:stretch>
                            <a:fillRect l="-701600" t="-79762" r="-3200" b="-276190"/>
                          </a:stretch>
                        </a:blipFill>
                      </a:tcPr>
                    </a:tc>
                    <a:extLst>
                      <a:ext uri="{0D108BD9-81ED-4DB2-BD59-A6C34878D82A}">
                        <a16:rowId xmlns:a16="http://schemas.microsoft.com/office/drawing/2014/main" val="2237396716"/>
                      </a:ext>
                    </a:extLst>
                  </a:tr>
                  <a:tr h="450532">
                    <a:tc>
                      <a:txBody>
                        <a:bodyPr/>
                        <a:lstStyle/>
                        <a:p>
                          <a:endParaRPr lang="zh-CN"/>
                        </a:p>
                      </a:txBody>
                      <a:tcPr anchor="ctr">
                        <a:blipFill>
                          <a:blip r:embed="rId5"/>
                          <a:stretch>
                            <a:fillRect l="-800" t="-201333" r="-704000" b="-209333"/>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5</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2/3</a:t>
                          </a:r>
                          <a:endParaRPr lang="zh-CN" altLang="en-US" sz="1800" b="0" dirty="0">
                            <a:solidFill>
                              <a:schemeClr val="tx1"/>
                            </a:solidFill>
                          </a:endParaRPr>
                        </a:p>
                      </a:txBody>
                      <a:tcPr marL="176213" marR="176213" marT="88106" marB="88106"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-1/3</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06259519"/>
                      </a:ext>
                    </a:extLst>
                  </a:tr>
                  <a:tr h="450532">
                    <a:tc>
                      <a:txBody>
                        <a:bodyPr/>
                        <a:lstStyle/>
                        <a:p>
                          <a:endParaRPr lang="zh-CN"/>
                        </a:p>
                      </a:txBody>
                      <a:tcPr anchor="ctr">
                        <a:blipFill>
                          <a:blip r:embed="rId5"/>
                          <a:stretch>
                            <a:fillRect l="-800" t="-305405" r="-704000" b="-112162"/>
                          </a:stretch>
                        </a:blipFill>
                      </a:tcPr>
                    </a:tc>
                    <a:tc>
                      <a:txBody>
                        <a:bodyPr/>
                        <a:lstStyle/>
                        <a:p>
                          <a:pPr algn="ctr"/>
                          <a:r>
                            <a:rPr lang="en-US" altLang="zh-CN" sz="2000" b="1" dirty="0"/>
                            <a:t>1</a:t>
                          </a:r>
                          <a:endParaRPr lang="zh-CN" altLang="en-US" sz="2000" b="1" dirty="0"/>
                        </a:p>
                      </a:txBody>
                      <a:tcPr anchor="ctr"/>
                    </a:tc>
                    <a:tc>
                      <a:txBody>
                        <a:bodyPr/>
                        <a:lstStyle/>
                        <a:p>
                          <a:pPr algn="ctr"/>
                          <a:r>
                            <a:rPr lang="en-US" altLang="zh-CN" sz="2000" b="1" dirty="0"/>
                            <a:t>2</a:t>
                          </a:r>
                          <a:endParaRPr lang="zh-CN" altLang="en-US" sz="2000" b="1" dirty="0"/>
                        </a:p>
                      </a:txBody>
                      <a:tcPr anchor="ctr">
                        <a:lnR w="12700" cap="flat" cmpd="sng" algn="ctr">
                          <a:solidFill>
                            <a:schemeClr val="tx1"/>
                          </a:solidFill>
                          <a:prstDash val="solid"/>
                          <a:round/>
                          <a:headEnd type="none" w="med" len="med"/>
                          <a:tailEnd type="none" w="med" len="med"/>
                        </a:lnR>
                      </a:tcPr>
                    </a:tc>
                    <a:tc>
                      <a:txBody>
                        <a:bodyPr/>
                        <a:lstStyle/>
                        <a:p>
                          <a:pPr algn="ctr"/>
                          <a:r>
                            <a:rPr lang="en-US" altLang="zh-CN" sz="1800" b="0" dirty="0">
                              <a:solidFill>
                                <a:schemeClr val="tx1"/>
                              </a:solidFill>
                            </a:rPr>
                            <a:t>0</a:t>
                          </a:r>
                          <a:endParaRPr lang="zh-CN" altLang="en-US" sz="1800" b="0" dirty="0">
                            <a:solidFill>
                              <a:schemeClr val="tx1"/>
                            </a:solidFill>
                          </a:endParaRPr>
                        </a:p>
                      </a:txBody>
                      <a:tcPr marL="176213" marR="176213" marT="88106" marB="88106"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-1/3</a:t>
                          </a:r>
                          <a:endParaRPr lang="zh-CN" altLang="en-US" sz="1800" b="0" dirty="0">
                            <a:solidFill>
                              <a:schemeClr val="tx1"/>
                            </a:solidFill>
                          </a:endParaRPr>
                        </a:p>
                      </a:txBody>
                      <a:tcPr marL="176213" marR="176213" marT="88106" marB="88106"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b="0" dirty="0">
                              <a:solidFill>
                                <a:schemeClr val="tx1"/>
                              </a:solidFill>
                            </a:rPr>
                            <a:t>2/3</a:t>
                          </a:r>
                          <a:endParaRPr lang="zh-CN" altLang="en-US" sz="1800" b="0" dirty="0">
                            <a:solidFill>
                              <a:schemeClr val="tx1"/>
                            </a:solidFill>
                          </a:endParaRPr>
                        </a:p>
                      </a:txBody>
                      <a:tcPr marL="176213" marR="176213" marT="88106" marB="88106"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90698735"/>
                      </a:ext>
                    </a:extLst>
                  </a:tr>
                  <a:tr h="396240">
                    <a:tc gridSpan="3">
                      <a:txBody>
                        <a:bodyPr/>
                        <a:lstStyle/>
                        <a:p>
                          <a:endParaRPr lang="zh-CN"/>
                        </a:p>
                      </a:txBody>
                      <a:tcPr anchor="ctr">
                        <a:blipFill>
                          <a:blip r:embed="rId5"/>
                          <a:stretch>
                            <a:fillRect l="-267" t="-461538" r="-168000" b="-27692"/>
                          </a:stretch>
                        </a:blipFill>
                      </a:tcPr>
                    </a:tc>
                    <a:tc hMerge="1">
                      <a:txBody>
                        <a:bodyPr/>
                        <a:lstStyle/>
                        <a:p>
                          <a:pPr algn="ctr"/>
                          <a:endParaRPr lang="zh-CN" altLang="en-US" sz="2000" b="1" dirty="0"/>
                        </a:p>
                      </a:txBody>
                      <a:tcPr anchor="ctr"/>
                    </a:tc>
                    <a:tc hMerge="1">
                      <a:txBody>
                        <a:bodyPr/>
                        <a:lstStyle/>
                        <a:p>
                          <a:pPr algn="ctr"/>
                          <a:endParaRPr lang="zh-CN" altLang="en-US" sz="2000" b="1" dirty="0"/>
                        </a:p>
                      </a:txBody>
                      <a:tcPr anchor="ct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0</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b="1" dirty="0"/>
                            <a:t>-1/3</a:t>
                          </a:r>
                          <a:endParaRPr lang="zh-CN" altLang="en-US" sz="2000" b="1" dirty="0"/>
                        </a:p>
                      </a:txBody>
                      <a:tcPr anchor="ctr">
                        <a:lnT w="12700" cap="flat" cmpd="sng" algn="ctr">
                          <a:solidFill>
                            <a:schemeClr val="tx1"/>
                          </a:solidFill>
                          <a:prstDash val="solid"/>
                          <a:round/>
                          <a:headEnd type="none" w="med" len="med"/>
                          <a:tailEnd type="none" w="med" len="med"/>
                        </a:lnT>
                      </a:tcPr>
                    </a:tc>
                    <a:tc>
                      <a:txBody>
                        <a:bodyPr/>
                        <a:lstStyle/>
                        <a:p>
                          <a:pPr algn="ctr"/>
                          <a:endParaRPr lang="zh-CN" altLang="en-US" sz="2000" b="1" dirty="0"/>
                        </a:p>
                      </a:txBody>
                      <a:tcPr anchor="ctr"/>
                    </a:tc>
                    <a:extLst>
                      <a:ext uri="{0D108BD9-81ED-4DB2-BD59-A6C34878D82A}">
                        <a16:rowId xmlns:a16="http://schemas.microsoft.com/office/drawing/2014/main" val="3203426617"/>
                      </a:ext>
                    </a:extLst>
                  </a:tr>
                </a:tbl>
              </a:graphicData>
            </a:graphic>
          </p:graphicFrame>
        </mc:Fallback>
      </mc:AlternateContent>
    </p:spTree>
    <p:extLst>
      <p:ext uri="{BB962C8B-B14F-4D97-AF65-F5344CB8AC3E}">
        <p14:creationId xmlns:p14="http://schemas.microsoft.com/office/powerpoint/2010/main" val="36735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A9AE96-A706-4C64-87E5-18AA1C865576}"/>
              </a:ext>
            </a:extLst>
          </p:cNvPr>
          <p:cNvSpPr>
            <a:spLocks noGrp="1"/>
          </p:cNvSpPr>
          <p:nvPr>
            <p:ph type="title"/>
          </p:nvPr>
        </p:nvSpPr>
        <p:spPr/>
        <p:txBody>
          <a:bodyPr/>
          <a:lstStyle/>
          <a:p>
            <a:r>
              <a:rPr lang="zh-CN" altLang="en-US" dirty="0"/>
              <a:t>如何确定换入变量？</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E397A60-FE1B-4004-BCEF-FA324E758385}"/>
                  </a:ext>
                </a:extLst>
              </p:cNvPr>
              <p:cNvSpPr>
                <a:spLocks noGrp="1"/>
              </p:cNvSpPr>
              <p:nvPr>
                <p:ph idx="1"/>
              </p:nvPr>
            </p:nvSpPr>
            <p:spPr>
              <a:xfrm>
                <a:off x="457200" y="990600"/>
                <a:ext cx="8229600" cy="5715000"/>
              </a:xfrm>
            </p:spPr>
            <p:txBody>
              <a:bodyPr/>
              <a:lstStyle/>
              <a:p>
                <a14:m>
                  <m:oMath xmlns:m="http://schemas.openxmlformats.org/officeDocument/2006/math">
                    <m:sSup>
                      <m:sSupPr>
                        <m:ctrlPr>
                          <a:rPr lang="en-US" altLang="zh-CN" sz="2000" i="1" smtClean="0">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𝝈</m:t>
                            </m:r>
                          </m:e>
                        </m:acc>
                      </m:e>
                      <m:sup>
                        <m:r>
                          <a:rPr lang="en-US" altLang="zh-CN" sz="2000" i="1" dirty="0">
                            <a:latin typeface="Cambria Math" panose="02040503050406030204" pitchFamily="18" charset="0"/>
                          </a:rPr>
                          <m:t>′</m:t>
                        </m:r>
                      </m:sup>
                    </m:sSup>
                    <m:r>
                      <a:rPr lang="en-US" altLang="zh-CN" sz="2000" i="1">
                        <a:latin typeface="Cambria Math" panose="02040503050406030204" pitchFamily="18" charset="0"/>
                      </a:rPr>
                      <m:t>=</m:t>
                    </m:r>
                    <m:acc>
                      <m:accPr>
                        <m:chr m:val="⃗"/>
                        <m:ctrlPr>
                          <a:rPr lang="en-US" altLang="zh-CN" sz="2000" i="1" dirty="0">
                            <a:latin typeface="Cambria Math" panose="02040503050406030204" pitchFamily="18" charset="0"/>
                          </a:rPr>
                        </m:ctrlPr>
                      </m:accPr>
                      <m:e>
                        <m:r>
                          <a:rPr lang="en-US" altLang="zh-CN" sz="2000" i="1">
                            <a:latin typeface="Cambria Math" panose="02040503050406030204" pitchFamily="18" charset="0"/>
                          </a:rPr>
                          <m:t>𝝈</m:t>
                        </m:r>
                      </m:e>
                    </m:acc>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𝝈</m:t>
                            </m:r>
                          </m:e>
                          <m:sub>
                            <m:r>
                              <a:rPr lang="en-US" altLang="zh-CN" sz="2000" i="1">
                                <a:latin typeface="Cambria Math" panose="02040503050406030204" pitchFamily="18" charset="0"/>
                              </a:rPr>
                              <m:t>𝒍</m:t>
                            </m:r>
                          </m:sub>
                        </m:sSub>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𝑸</m:t>
                            </m:r>
                          </m:e>
                          <m:sub>
                            <m:r>
                              <a:rPr lang="en-US" altLang="zh-CN" sz="2000" i="1">
                                <a:latin typeface="Cambria Math" panose="02040503050406030204" pitchFamily="18" charset="0"/>
                              </a:rPr>
                              <m:t>𝒌</m:t>
                            </m:r>
                            <m:r>
                              <a:rPr lang="en-US" altLang="zh-CN" sz="2000" i="1">
                                <a:latin typeface="Cambria Math" panose="02040503050406030204" pitchFamily="18" charset="0"/>
                              </a:rPr>
                              <m:t>,</m:t>
                            </m:r>
                            <m:r>
                              <a:rPr lang="en-US" altLang="zh-CN" sz="2000" i="1">
                                <a:latin typeface="Cambria Math" panose="02040503050406030204" pitchFamily="18" charset="0"/>
                              </a:rPr>
                              <m:t>𝒍</m:t>
                            </m:r>
                          </m:sub>
                        </m:sSub>
                      </m:den>
                    </m:f>
                    <m:r>
                      <a:rPr lang="en-US" altLang="zh-CN" sz="2000" i="1">
                        <a:latin typeface="Cambria Math" panose="02040503050406030204" pitchFamily="18" charset="0"/>
                      </a:rPr>
                      <m:t>×</m:t>
                    </m:r>
                  </m:oMath>
                </a14:m>
                <a:r>
                  <a:rPr lang="en-US" altLang="zh-CN" sz="2000" dirty="0"/>
                  <a:t> </a:t>
                </a:r>
                <a14:m>
                  <m:oMath xmlns:m="http://schemas.openxmlformats.org/officeDocument/2006/math">
                    <m:sSub>
                      <m:sSubPr>
                        <m:ctrlPr>
                          <a:rPr lang="en-US" altLang="zh-CN" sz="2000" i="1" dirty="0">
                            <a:latin typeface="Cambria Math" panose="02040503050406030204" pitchFamily="18" charset="0"/>
                          </a:rPr>
                        </m:ctrlPr>
                      </m:sSubPr>
                      <m:e>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𝒒</m:t>
                            </m:r>
                          </m:e>
                        </m:acc>
                      </m:e>
                      <m:sub>
                        <m:r>
                          <a:rPr lang="en-US" altLang="zh-CN" sz="2000" i="1" dirty="0">
                            <a:latin typeface="Cambria Math" panose="02040503050406030204" pitchFamily="18" charset="0"/>
                          </a:rPr>
                          <m:t>𝒌</m:t>
                        </m:r>
                      </m:sub>
                    </m:sSub>
                  </m:oMath>
                </a14:m>
                <a:endParaRPr lang="en-US" altLang="zh-CN" sz="2000" i="1" dirty="0">
                  <a:latin typeface="Cambria Math" panose="02040503050406030204" pitchFamily="18" charset="0"/>
                </a:endParaRPr>
              </a:p>
              <a:p>
                <a:pPr lvl="1"/>
                <a14:m>
                  <m:oMath xmlns:m="http://schemas.openxmlformats.org/officeDocument/2006/math">
                    <m:r>
                      <a:rPr lang="en-US" altLang="zh-CN" sz="1800" i="1">
                        <a:latin typeface="Cambria Math" panose="02040503050406030204" pitchFamily="18" charset="0"/>
                      </a:rPr>
                      <m:t>𝑸</m:t>
                    </m:r>
                    <m:r>
                      <a:rPr lang="en-US" altLang="zh-CN" sz="1800" i="1">
                        <a:latin typeface="Cambria Math" panose="02040503050406030204" pitchFamily="18" charset="0"/>
                      </a:rPr>
                      <m:t>=</m:t>
                    </m:r>
                  </m:oMath>
                </a14:m>
                <a:r>
                  <a:rPr lang="en-US" altLang="zh-CN" sz="1800" b="1" dirty="0"/>
                  <a:t> </a:t>
                </a:r>
                <a14:m>
                  <m:oMath xmlns:m="http://schemas.openxmlformats.org/officeDocument/2006/math">
                    <m:sSup>
                      <m:sSupPr>
                        <m:ctrlPr>
                          <a:rPr lang="en-US" altLang="zh-CN" sz="1800" b="1" i="1">
                            <a:latin typeface="Cambria Math" panose="02040503050406030204" pitchFamily="18" charset="0"/>
                          </a:rPr>
                        </m:ctrlPr>
                      </m:sSupPr>
                      <m:e>
                        <m:r>
                          <a:rPr lang="en-US" altLang="zh-CN" sz="1800" b="1" i="1">
                            <a:latin typeface="Cambria Math" panose="02040503050406030204" pitchFamily="18" charset="0"/>
                          </a:rPr>
                          <m:t>𝑩</m:t>
                        </m:r>
                      </m:e>
                      <m:sup>
                        <m:r>
                          <a:rPr lang="en-US" altLang="zh-CN" sz="1800" b="1" i="1">
                            <a:latin typeface="Cambria Math" panose="02040503050406030204" pitchFamily="18" charset="0"/>
                          </a:rPr>
                          <m:t>−</m:t>
                        </m:r>
                        <m:r>
                          <a:rPr lang="en-US" altLang="zh-CN" sz="1800" b="1" i="1">
                            <a:latin typeface="Cambria Math" panose="02040503050406030204" pitchFamily="18" charset="0"/>
                          </a:rPr>
                          <m:t>𝟏</m:t>
                        </m:r>
                      </m:sup>
                    </m:sSup>
                    <m:r>
                      <a:rPr lang="en-US" altLang="zh-CN" sz="1800" b="1" i="1">
                        <a:latin typeface="Cambria Math" panose="02040503050406030204" pitchFamily="18" charset="0"/>
                      </a:rPr>
                      <m:t>𝑨</m:t>
                    </m:r>
                  </m:oMath>
                </a14:m>
                <a:r>
                  <a:rPr lang="en-US" altLang="zh-CN" sz="1800" dirty="0"/>
                  <a:t>, </a:t>
                </a:r>
                <a14:m>
                  <m:oMath xmlns:m="http://schemas.openxmlformats.org/officeDocument/2006/math">
                    <m:sSub>
                      <m:sSubPr>
                        <m:ctrlPr>
                          <a:rPr lang="en-US" altLang="zh-CN" sz="1800" b="1" i="1" dirty="0">
                            <a:latin typeface="Cambria Math" panose="02040503050406030204" pitchFamily="18" charset="0"/>
                          </a:rPr>
                        </m:ctrlPr>
                      </m:sSubPr>
                      <m:e>
                        <m:acc>
                          <m:accPr>
                            <m:chr m:val="⃗"/>
                            <m:ctrlPr>
                              <a:rPr lang="en-US" altLang="zh-CN" sz="1800" b="1" i="1" dirty="0">
                                <a:latin typeface="Cambria Math" panose="02040503050406030204" pitchFamily="18" charset="0"/>
                              </a:rPr>
                            </m:ctrlPr>
                          </m:accPr>
                          <m:e>
                            <m:r>
                              <a:rPr lang="en-US" altLang="zh-CN" sz="1800" b="1" i="1" dirty="0">
                                <a:latin typeface="Cambria Math" panose="02040503050406030204" pitchFamily="18" charset="0"/>
                              </a:rPr>
                              <m:t>𝒒</m:t>
                            </m:r>
                          </m:e>
                        </m:acc>
                      </m:e>
                      <m:sub>
                        <m:r>
                          <a:rPr lang="en-US" altLang="zh-CN" sz="1800" b="1" i="1" dirty="0">
                            <a:latin typeface="Cambria Math" panose="02040503050406030204" pitchFamily="18" charset="0"/>
                          </a:rPr>
                          <m:t>𝒌</m:t>
                        </m:r>
                      </m:sub>
                    </m:sSub>
                    <m:r>
                      <a:rPr lang="zh-CN" altLang="en-US" sz="1800" b="1" i="1" dirty="0">
                        <a:latin typeface="Cambria Math" panose="02040503050406030204" pitchFamily="18" charset="0"/>
                      </a:rPr>
                      <m:t>是</m:t>
                    </m:r>
                    <m:r>
                      <a:rPr lang="zh-CN" altLang="en-US" sz="1800" b="1" i="1" dirty="0" smtClean="0">
                        <a:latin typeface="Cambria Math" panose="02040503050406030204" pitchFamily="18" charset="0"/>
                      </a:rPr>
                      <m:t>矩阵</m:t>
                    </m:r>
                    <m:r>
                      <a:rPr lang="en-US" altLang="zh-CN" sz="1800" i="1">
                        <a:latin typeface="Cambria Math" panose="02040503050406030204" pitchFamily="18" charset="0"/>
                      </a:rPr>
                      <m:t>𝑸</m:t>
                    </m:r>
                  </m:oMath>
                </a14:m>
                <a:r>
                  <a:rPr lang="zh-CN" altLang="en-US" sz="1800" dirty="0"/>
                  <a:t>第</a:t>
                </a:r>
                <a14:m>
                  <m:oMath xmlns:m="http://schemas.openxmlformats.org/officeDocument/2006/math">
                    <m:r>
                      <a:rPr lang="en-US" altLang="zh-CN" sz="1800" i="1" dirty="0" smtClean="0">
                        <a:latin typeface="Cambria Math" panose="02040503050406030204" pitchFamily="18" charset="0"/>
                      </a:rPr>
                      <m:t>𝑘</m:t>
                    </m:r>
                  </m:oMath>
                </a14:m>
                <a:r>
                  <a:rPr lang="zh-CN" altLang="en-US" sz="1800" dirty="0"/>
                  <a:t>行构成的向量</a:t>
                </a:r>
                <a:endParaRPr lang="en-US" altLang="zh-CN" sz="1800" dirty="0"/>
              </a:p>
              <a:p>
                <a:pPr lvl="1"/>
                <a:r>
                  <a:rPr lang="zh-CN" altLang="en-US" sz="1800" dirty="0"/>
                  <a:t>之前已确认</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𝑸</m:t>
                        </m:r>
                      </m:e>
                      <m:sub>
                        <m:r>
                          <a:rPr lang="en-US" altLang="zh-CN" sz="1800" i="1">
                            <a:latin typeface="Cambria Math" panose="02040503050406030204" pitchFamily="18" charset="0"/>
                          </a:rPr>
                          <m:t>𝒌</m:t>
                        </m:r>
                        <m:r>
                          <a:rPr lang="en-US" altLang="zh-CN" sz="1800" i="1">
                            <a:latin typeface="Cambria Math" panose="02040503050406030204" pitchFamily="18" charset="0"/>
                          </a:rPr>
                          <m:t>,</m:t>
                        </m:r>
                        <m:r>
                          <a:rPr lang="en-US" altLang="zh-CN" sz="1800" i="1">
                            <a:latin typeface="Cambria Math" panose="02040503050406030204" pitchFamily="18" charset="0"/>
                          </a:rPr>
                          <m:t>𝒍</m:t>
                        </m:r>
                      </m:sub>
                    </m:sSub>
                    <m:r>
                      <a:rPr lang="en-US" altLang="zh-CN" sz="1800" i="1">
                        <a:latin typeface="Cambria Math" panose="02040503050406030204" pitchFamily="18" charset="0"/>
                      </a:rPr>
                      <m:t>&lt;0</m:t>
                    </m:r>
                  </m:oMath>
                </a14:m>
                <a:endParaRPr lang="en-US" altLang="zh-CN" sz="1800" dirty="0"/>
              </a:p>
              <a:p>
                <a:pPr lvl="1"/>
                <a:r>
                  <a:rPr lang="zh-CN" altLang="en-US" sz="1800" dirty="0"/>
                  <a:t>因此</a:t>
                </a:r>
                <a14:m>
                  <m:oMath xmlns:m="http://schemas.openxmlformats.org/officeDocument/2006/math">
                    <m:sSup>
                      <m:sSupPr>
                        <m:ctrlPr>
                          <a:rPr lang="en-US" altLang="zh-CN" sz="1800" i="1">
                            <a:latin typeface="Cambria Math" panose="02040503050406030204" pitchFamily="18" charset="0"/>
                          </a:rPr>
                        </m:ctrlPr>
                      </m:sSupPr>
                      <m:e>
                        <m:acc>
                          <m:accPr>
                            <m:chr m:val="⃗"/>
                            <m:ctrlPr>
                              <a:rPr lang="en-US" altLang="zh-CN" sz="1800" i="1">
                                <a:latin typeface="Cambria Math" panose="02040503050406030204" pitchFamily="18" charset="0"/>
                              </a:rPr>
                            </m:ctrlPr>
                          </m:accPr>
                          <m:e>
                            <m:r>
                              <a:rPr lang="en-US" altLang="zh-CN" sz="1800" i="1">
                                <a:latin typeface="Cambria Math" panose="02040503050406030204" pitchFamily="18" charset="0"/>
                              </a:rPr>
                              <m:t>𝝈</m:t>
                            </m:r>
                          </m:e>
                        </m:acc>
                      </m:e>
                      <m:sup>
                        <m:r>
                          <a:rPr lang="en-US" altLang="zh-CN" sz="1800" i="1" dirty="0">
                            <a:latin typeface="Cambria Math" panose="02040503050406030204" pitchFamily="18" charset="0"/>
                          </a:rPr>
                          <m:t>′</m:t>
                        </m:r>
                      </m:sup>
                    </m:sSup>
                    <m:r>
                      <a:rPr lang="en-US" altLang="zh-CN" sz="1800" i="1">
                        <a:latin typeface="Cambria Math" panose="02040503050406030204" pitchFamily="18" charset="0"/>
                      </a:rPr>
                      <m:t>=</m:t>
                    </m:r>
                    <m:acc>
                      <m:accPr>
                        <m:chr m:val="⃗"/>
                        <m:ctrlPr>
                          <a:rPr lang="en-US" altLang="zh-CN" sz="1800" i="1" dirty="0">
                            <a:latin typeface="Cambria Math" panose="02040503050406030204" pitchFamily="18" charset="0"/>
                          </a:rPr>
                        </m:ctrlPr>
                      </m:accPr>
                      <m:e>
                        <m:r>
                          <a:rPr lang="en-US" altLang="zh-CN" sz="1800" i="1">
                            <a:latin typeface="Cambria Math" panose="02040503050406030204" pitchFamily="18" charset="0"/>
                          </a:rPr>
                          <m:t>𝝈</m:t>
                        </m:r>
                      </m:e>
                    </m:acc>
                    <m:r>
                      <a:rPr lang="en-US" altLang="zh-CN" sz="1800" b="0" i="1" smtClean="0">
                        <a:latin typeface="Cambria Math" panose="02040503050406030204" pitchFamily="18" charset="0"/>
                      </a:rPr>
                      <m:t>+</m:t>
                    </m:r>
                    <m:f>
                      <m:fPr>
                        <m:ctrlPr>
                          <a:rPr lang="en-US" altLang="zh-CN" sz="1800" i="1">
                            <a:latin typeface="Cambria Math" panose="02040503050406030204" pitchFamily="18" charset="0"/>
                          </a:rPr>
                        </m:ctrlPr>
                      </m:fPr>
                      <m:num>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𝝈</m:t>
                            </m:r>
                          </m:e>
                          <m:sub>
                            <m:r>
                              <a:rPr lang="en-US" altLang="zh-CN" sz="1800" i="1">
                                <a:latin typeface="Cambria Math" panose="02040503050406030204" pitchFamily="18" charset="0"/>
                              </a:rPr>
                              <m:t>𝒍</m:t>
                            </m:r>
                          </m:sub>
                        </m:sSub>
                      </m:num>
                      <m:den>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m:t>
                            </m:r>
                            <m:r>
                              <a:rPr lang="en-US" altLang="zh-CN" sz="1800" i="1">
                                <a:latin typeface="Cambria Math" panose="02040503050406030204" pitchFamily="18" charset="0"/>
                              </a:rPr>
                              <m:t>𝑸</m:t>
                            </m:r>
                          </m:e>
                          <m:sub>
                            <m:r>
                              <a:rPr lang="en-US" altLang="zh-CN" sz="1800" i="1">
                                <a:latin typeface="Cambria Math" panose="02040503050406030204" pitchFamily="18" charset="0"/>
                              </a:rPr>
                              <m:t>𝒌</m:t>
                            </m:r>
                            <m:r>
                              <a:rPr lang="en-US" altLang="zh-CN" sz="1800" i="1">
                                <a:latin typeface="Cambria Math" panose="02040503050406030204" pitchFamily="18" charset="0"/>
                              </a:rPr>
                              <m:t>,</m:t>
                            </m:r>
                            <m:r>
                              <a:rPr lang="en-US" altLang="zh-CN" sz="1800" i="1">
                                <a:latin typeface="Cambria Math" panose="02040503050406030204" pitchFamily="18" charset="0"/>
                              </a:rPr>
                              <m:t>𝒍</m:t>
                            </m:r>
                          </m:sub>
                        </m:sSub>
                        <m:r>
                          <a:rPr lang="en-US" altLang="zh-CN" sz="1800" b="0" i="1" smtClean="0">
                            <a:latin typeface="Cambria Math" panose="02040503050406030204" pitchFamily="18" charset="0"/>
                          </a:rPr>
                          <m:t>|</m:t>
                        </m:r>
                      </m:den>
                    </m:f>
                    <m:r>
                      <a:rPr lang="en-US" altLang="zh-CN" sz="1800" i="1">
                        <a:latin typeface="Cambria Math" panose="02040503050406030204" pitchFamily="18" charset="0"/>
                      </a:rPr>
                      <m:t>×</m:t>
                    </m:r>
                  </m:oMath>
                </a14:m>
                <a:r>
                  <a:rPr lang="en-US" altLang="zh-CN" sz="1800" dirty="0"/>
                  <a:t> </a:t>
                </a:r>
                <a14:m>
                  <m:oMath xmlns:m="http://schemas.openxmlformats.org/officeDocument/2006/math">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𝒒</m:t>
                            </m:r>
                          </m:e>
                        </m:acc>
                      </m:e>
                      <m:sub>
                        <m:r>
                          <a:rPr lang="en-US" altLang="zh-CN" sz="1800" i="1" dirty="0">
                            <a:latin typeface="Cambria Math" panose="02040503050406030204" pitchFamily="18" charset="0"/>
                          </a:rPr>
                          <m:t>𝒌</m:t>
                        </m:r>
                      </m:sub>
                    </m:sSub>
                  </m:oMath>
                </a14:m>
                <a:endParaRPr lang="en-US" altLang="zh-CN" sz="1800" dirty="0"/>
              </a:p>
              <a:p>
                <a:pPr lvl="1"/>
                <a:r>
                  <a:rPr lang="zh-CN" altLang="en-US" sz="1800" dirty="0"/>
                  <a:t>注意：此时</a:t>
                </a:r>
                <a14:m>
                  <m:oMath xmlns:m="http://schemas.openxmlformats.org/officeDocument/2006/math">
                    <m:r>
                      <a:rPr lang="en-US" altLang="zh-CN" sz="1800" i="1" dirty="0">
                        <a:latin typeface="Cambria Math" panose="02040503050406030204" pitchFamily="18" charset="0"/>
                      </a:rPr>
                      <m:t>𝒌</m:t>
                    </m:r>
                    <m:r>
                      <a:rPr lang="zh-CN" altLang="en-US" sz="1800" i="1" dirty="0" smtClean="0">
                        <a:latin typeface="Cambria Math" panose="02040503050406030204" pitchFamily="18" charset="0"/>
                      </a:rPr>
                      <m:t>是</m:t>
                    </m:r>
                  </m:oMath>
                </a14:m>
                <a:r>
                  <a:rPr lang="zh-CN" altLang="en-US" sz="1800" dirty="0"/>
                  <a:t>确定的（对应换出变量），</a:t>
                </a:r>
                <a14:m>
                  <m:oMath xmlns:m="http://schemas.openxmlformats.org/officeDocument/2006/math">
                    <m:r>
                      <a:rPr lang="en-US" altLang="zh-CN" sz="1800" i="1" dirty="0" smtClean="0">
                        <a:latin typeface="Cambria Math" panose="02040503050406030204" pitchFamily="18" charset="0"/>
                      </a:rPr>
                      <m:t>𝑙</m:t>
                    </m:r>
                  </m:oMath>
                </a14:m>
                <a:r>
                  <a:rPr lang="zh-CN" altLang="en-US" sz="1800" dirty="0"/>
                  <a:t>不确定（对应换入变量）</a:t>
                </a:r>
                <a:endParaRPr lang="en-US" altLang="zh-CN" sz="1800" dirty="0"/>
              </a:p>
              <a:p>
                <a:r>
                  <a:rPr lang="zh-CN" altLang="en-US" sz="2000" dirty="0"/>
                  <a:t>对于</a:t>
                </a:r>
                <a:r>
                  <a:rPr lang="en-US" altLang="zh-CN" sz="2000" dirty="0"/>
                  <a:t>max</a:t>
                </a:r>
                <a:r>
                  <a:rPr lang="zh-CN" altLang="en-US" sz="2000" dirty="0"/>
                  <a:t>问题，我们需要</a:t>
                </a:r>
                <a14:m>
                  <m:oMath xmlns:m="http://schemas.openxmlformats.org/officeDocument/2006/math">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𝝈</m:t>
                            </m:r>
                          </m:e>
                        </m:acc>
                      </m:e>
                      <m:sup>
                        <m:r>
                          <a:rPr lang="en-US" altLang="zh-CN" sz="2000" i="1" dirty="0">
                            <a:latin typeface="Cambria Math" panose="02040503050406030204" pitchFamily="18" charset="0"/>
                          </a:rPr>
                          <m:t>′</m:t>
                        </m:r>
                      </m:sup>
                    </m:sSup>
                    <m:r>
                      <a:rPr lang="en-US" altLang="zh-CN" sz="2000" b="1" i="1" dirty="0" smtClean="0">
                        <a:latin typeface="Cambria Math" panose="02040503050406030204" pitchFamily="18" charset="0"/>
                      </a:rPr>
                      <m:t>≤</m:t>
                    </m:r>
                    <m:r>
                      <a:rPr lang="en-US" altLang="zh-CN" sz="2000" b="1" i="1" dirty="0" smtClean="0">
                        <a:latin typeface="Cambria Math" panose="02040503050406030204" pitchFamily="18" charset="0"/>
                      </a:rPr>
                      <m:t>𝟎</m:t>
                    </m:r>
                  </m:oMath>
                </a14:m>
                <a:endParaRPr lang="en-US" altLang="zh-CN" sz="2000" b="1" dirty="0"/>
              </a:p>
              <a:p>
                <a:pPr lvl="1"/>
                <a:r>
                  <a:rPr lang="zh-CN" altLang="en-US" sz="1800" dirty="0"/>
                  <a:t>即</a:t>
                </a:r>
                <a14:m>
                  <m:oMath xmlns:m="http://schemas.openxmlformats.org/officeDocument/2006/math">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𝜎</m:t>
                        </m:r>
                      </m:e>
                      <m:sub>
                        <m:r>
                          <a:rPr lang="en-US" altLang="zh-CN" sz="1800" b="0" i="1" smtClean="0">
                            <a:latin typeface="Cambria Math" panose="02040503050406030204" pitchFamily="18" charset="0"/>
                          </a:rPr>
                          <m:t>𝑖</m:t>
                        </m:r>
                      </m:sub>
                    </m:sSub>
                    <m:r>
                      <a:rPr lang="en-US" altLang="zh-CN" sz="1800" i="1">
                        <a:latin typeface="Cambria Math" panose="02040503050406030204" pitchFamily="18" charset="0"/>
                      </a:rPr>
                      <m:t>+</m:t>
                    </m:r>
                    <m:f>
                      <m:fPr>
                        <m:ctrlPr>
                          <a:rPr lang="en-US" altLang="zh-CN" sz="1800" i="1">
                            <a:latin typeface="Cambria Math" panose="02040503050406030204" pitchFamily="18" charset="0"/>
                          </a:rPr>
                        </m:ctrlPr>
                      </m:fPr>
                      <m:num>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𝝈</m:t>
                            </m:r>
                          </m:e>
                          <m:sub>
                            <m:r>
                              <a:rPr lang="en-US" altLang="zh-CN" sz="1800" i="1">
                                <a:latin typeface="Cambria Math" panose="02040503050406030204" pitchFamily="18" charset="0"/>
                              </a:rPr>
                              <m:t>𝒍</m:t>
                            </m:r>
                          </m:sub>
                        </m:sSub>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𝑸</m:t>
                            </m:r>
                          </m:e>
                          <m:sub>
                            <m:r>
                              <a:rPr lang="en-US" altLang="zh-CN" sz="1800" i="1">
                                <a:latin typeface="Cambria Math" panose="02040503050406030204" pitchFamily="18" charset="0"/>
                              </a:rPr>
                              <m:t>𝒌</m:t>
                            </m:r>
                            <m:r>
                              <a:rPr lang="en-US" altLang="zh-CN" sz="1800" i="1">
                                <a:latin typeface="Cambria Math" panose="02040503050406030204" pitchFamily="18" charset="0"/>
                              </a:rPr>
                              <m:t>,</m:t>
                            </m:r>
                            <m:r>
                              <a:rPr lang="en-US" altLang="zh-CN" sz="1800" i="1">
                                <a:latin typeface="Cambria Math" panose="02040503050406030204" pitchFamily="18" charset="0"/>
                              </a:rPr>
                              <m:t>𝒍</m:t>
                            </m:r>
                          </m:sub>
                        </m:sSub>
                        <m:r>
                          <a:rPr lang="en-US" altLang="zh-CN" sz="1800" i="1">
                            <a:latin typeface="Cambria Math" panose="02040503050406030204" pitchFamily="18" charset="0"/>
                          </a:rPr>
                          <m:t>|</m:t>
                        </m:r>
                      </m:den>
                    </m:f>
                    <m:r>
                      <a:rPr lang="en-US" altLang="zh-CN" sz="1800" i="1">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𝑄</m:t>
                        </m:r>
                      </m:e>
                      <m:sub>
                        <m:r>
                          <a:rPr lang="en-US" altLang="zh-CN" sz="1800" b="0" i="1" smtClean="0">
                            <a:latin typeface="Cambria Math" panose="02040503050406030204" pitchFamily="18" charset="0"/>
                          </a:rPr>
                          <m:t>𝑘</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𝑖</m:t>
                        </m:r>
                      </m:sub>
                    </m:sSub>
                    <m:r>
                      <a:rPr lang="en-US" altLang="zh-CN" sz="1800" b="0" i="1" smtClean="0">
                        <a:latin typeface="Cambria Math" panose="02040503050406030204" pitchFamily="18" charset="0"/>
                      </a:rPr>
                      <m:t>≤0 ∀</m:t>
                    </m:r>
                    <m:r>
                      <a:rPr lang="en-US" altLang="zh-CN" sz="1800" b="0" i="1" smtClean="0">
                        <a:latin typeface="Cambria Math" panose="02040503050406030204" pitchFamily="18" charset="0"/>
                      </a:rPr>
                      <m:t>𝑖</m:t>
                    </m:r>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m:t>
                        </m:r>
                        <m:r>
                          <a:rPr lang="en-US" altLang="zh-CN" sz="1800" i="1">
                            <a:latin typeface="Cambria Math" panose="02040503050406030204" pitchFamily="18" charset="0"/>
                          </a:rPr>
                          <m:t>𝜎</m:t>
                        </m:r>
                      </m:e>
                      <m:sub>
                        <m:r>
                          <a:rPr lang="en-US" altLang="zh-CN" sz="1800" i="1">
                            <a:latin typeface="Cambria Math" panose="02040503050406030204" pitchFamily="18" charset="0"/>
                          </a:rPr>
                          <m:t>𝑖</m:t>
                        </m:r>
                      </m:sub>
                    </m:sSub>
                    <m:r>
                      <a:rPr lang="en-US" altLang="zh-CN" sz="1800" b="0" i="1" smtClean="0">
                        <a:latin typeface="Cambria Math" panose="02040503050406030204" pitchFamily="18" charset="0"/>
                      </a:rPr>
                      <m:t>|−</m:t>
                    </m:r>
                    <m:f>
                      <m:fPr>
                        <m:ctrlPr>
                          <a:rPr lang="en-US" altLang="zh-CN" sz="1800" i="1">
                            <a:latin typeface="Cambria Math" panose="02040503050406030204" pitchFamily="18" charset="0"/>
                          </a:rPr>
                        </m:ctrlPr>
                      </m:fPr>
                      <m:num>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𝝈</m:t>
                            </m:r>
                          </m:e>
                          <m:sub>
                            <m:r>
                              <a:rPr lang="en-US" altLang="zh-CN" sz="1800" i="1">
                                <a:latin typeface="Cambria Math" panose="02040503050406030204" pitchFamily="18" charset="0"/>
                              </a:rPr>
                              <m:t>𝒍</m:t>
                            </m:r>
                          </m:sub>
                        </m:sSub>
                        <m:r>
                          <a:rPr lang="en-US" altLang="zh-CN" sz="1800" b="0" i="1" smtClean="0">
                            <a:latin typeface="Cambria Math" panose="02040503050406030204" pitchFamily="18" charset="0"/>
                          </a:rPr>
                          <m:t>|</m:t>
                        </m:r>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𝑸</m:t>
                            </m:r>
                          </m:e>
                          <m:sub>
                            <m:r>
                              <a:rPr lang="en-US" altLang="zh-CN" sz="1800" i="1">
                                <a:latin typeface="Cambria Math" panose="02040503050406030204" pitchFamily="18" charset="0"/>
                              </a:rPr>
                              <m:t>𝒌</m:t>
                            </m:r>
                            <m:r>
                              <a:rPr lang="en-US" altLang="zh-CN" sz="1800" i="1">
                                <a:latin typeface="Cambria Math" panose="02040503050406030204" pitchFamily="18" charset="0"/>
                              </a:rPr>
                              <m:t>,</m:t>
                            </m:r>
                            <m:r>
                              <a:rPr lang="en-US" altLang="zh-CN" sz="1800" i="1">
                                <a:latin typeface="Cambria Math" panose="02040503050406030204" pitchFamily="18" charset="0"/>
                              </a:rPr>
                              <m:t>𝒍</m:t>
                            </m:r>
                          </m:sub>
                        </m:sSub>
                        <m:r>
                          <a:rPr lang="en-US" altLang="zh-CN" sz="1800" i="1">
                            <a:latin typeface="Cambria Math" panose="02040503050406030204" pitchFamily="18" charset="0"/>
                          </a:rPr>
                          <m:t>|</m:t>
                        </m:r>
                      </m:den>
                    </m:f>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𝑄</m:t>
                        </m:r>
                      </m:e>
                      <m:sub>
                        <m:r>
                          <a:rPr lang="en-US" altLang="zh-CN" sz="1800" i="1">
                            <a:latin typeface="Cambria Math" panose="02040503050406030204" pitchFamily="18" charset="0"/>
                          </a:rPr>
                          <m:t>𝑘</m:t>
                        </m:r>
                        <m:r>
                          <a:rPr lang="en-US" altLang="zh-CN" sz="1800" i="1">
                            <a:latin typeface="Cambria Math" panose="02040503050406030204" pitchFamily="18" charset="0"/>
                          </a:rPr>
                          <m:t>,</m:t>
                        </m:r>
                        <m:r>
                          <a:rPr lang="en-US" altLang="zh-CN" sz="1800" i="1">
                            <a:latin typeface="Cambria Math" panose="02040503050406030204" pitchFamily="18" charset="0"/>
                          </a:rPr>
                          <m:t>𝑖</m:t>
                        </m:r>
                      </m:sub>
                    </m:sSub>
                    <m:r>
                      <a:rPr lang="en-US" altLang="zh-CN" sz="1800" i="1">
                        <a:latin typeface="Cambria Math" panose="02040503050406030204" pitchFamily="18" charset="0"/>
                      </a:rPr>
                      <m:t>≤0</m:t>
                    </m:r>
                  </m:oMath>
                </a14:m>
                <a:endParaRPr lang="en-US" altLang="zh-CN" sz="1800" b="1" dirty="0"/>
              </a:p>
              <a:p>
                <a:pPr lvl="1"/>
                <a14:m>
                  <m:oMath xmlns:m="http://schemas.openxmlformats.org/officeDocument/2006/math">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r>
                      <a:rPr lang="en-US" altLang="zh-CN" sz="1800" b="0" i="1" smtClean="0">
                        <a:latin typeface="Cambria Math" panose="02040503050406030204" pitchFamily="18" charset="0"/>
                      </a:rPr>
                      <m:t>+</m:t>
                    </m:r>
                    <m:f>
                      <m:fPr>
                        <m:ctrlPr>
                          <a:rPr lang="en-US" altLang="zh-CN" sz="1800" i="1">
                            <a:latin typeface="Cambria Math" panose="02040503050406030204" pitchFamily="18" charset="0"/>
                          </a:rPr>
                        </m:ctrlPr>
                      </m:fPr>
                      <m:num>
                        <m:d>
                          <m:dPr>
                            <m:begChr m:val="|"/>
                            <m:endChr m:val="|"/>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𝝈</m:t>
                                </m:r>
                              </m:e>
                              <m:sub>
                                <m:r>
                                  <a:rPr lang="en-US" altLang="zh-CN" sz="1800" i="1">
                                    <a:latin typeface="Cambria Math" panose="02040503050406030204" pitchFamily="18" charset="0"/>
                                  </a:rPr>
                                  <m:t>𝒍</m:t>
                                </m:r>
                              </m:sub>
                            </m:sSub>
                          </m:e>
                        </m:d>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𝑸</m:t>
                            </m:r>
                          </m:e>
                          <m:sub>
                            <m:r>
                              <a:rPr lang="en-US" altLang="zh-CN" sz="1800" i="1">
                                <a:latin typeface="Cambria Math" panose="02040503050406030204" pitchFamily="18" charset="0"/>
                              </a:rPr>
                              <m:t>𝒌</m:t>
                            </m:r>
                            <m:r>
                              <a:rPr lang="en-US" altLang="zh-CN" sz="1800" i="1">
                                <a:latin typeface="Cambria Math" panose="02040503050406030204" pitchFamily="18" charset="0"/>
                              </a:rPr>
                              <m:t>,</m:t>
                            </m:r>
                            <m:r>
                              <a:rPr lang="en-US" altLang="zh-CN" sz="1800" i="1">
                                <a:latin typeface="Cambria Math" panose="02040503050406030204" pitchFamily="18" charset="0"/>
                              </a:rPr>
                              <m:t>𝒍</m:t>
                            </m:r>
                          </m:sub>
                        </m:sSub>
                        <m:r>
                          <a:rPr lang="en-US" altLang="zh-CN" sz="1800" i="1">
                            <a:latin typeface="Cambria Math" panose="02040503050406030204" pitchFamily="18" charset="0"/>
                          </a:rPr>
                          <m:t>|</m:t>
                        </m:r>
                      </m:den>
                    </m:f>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𝑄</m:t>
                        </m:r>
                      </m:e>
                      <m:sub>
                        <m:r>
                          <a:rPr lang="en-US" altLang="zh-CN" sz="1800" i="1">
                            <a:latin typeface="Cambria Math" panose="02040503050406030204" pitchFamily="18" charset="0"/>
                          </a:rPr>
                          <m:t>𝑘</m:t>
                        </m:r>
                        <m:r>
                          <a:rPr lang="en-US" altLang="zh-CN" sz="1800" i="1">
                            <a:latin typeface="Cambria Math" panose="02040503050406030204" pitchFamily="18" charset="0"/>
                          </a:rPr>
                          <m:t>,</m:t>
                        </m:r>
                        <m:r>
                          <a:rPr lang="en-US" altLang="zh-CN" sz="1800" i="1">
                            <a:latin typeface="Cambria Math" panose="02040503050406030204" pitchFamily="18" charset="0"/>
                          </a:rPr>
                          <m:t>𝑖</m:t>
                        </m:r>
                      </m:sub>
                    </m:sSub>
                    <m:r>
                      <a:rPr lang="en-US" altLang="zh-CN" sz="1800" b="0" i="1" smtClean="0">
                        <a:latin typeface="Cambria Math" panose="02040503050406030204" pitchFamily="18" charset="0"/>
                      </a:rPr>
                      <m:t>≥</m:t>
                    </m:r>
                    <m:r>
                      <a:rPr lang="en-US" altLang="zh-CN" sz="1800" i="1">
                        <a:latin typeface="Cambria Math" panose="02040503050406030204" pitchFamily="18" charset="0"/>
                      </a:rPr>
                      <m:t>0</m:t>
                    </m:r>
                  </m:oMath>
                </a14:m>
                <a:endParaRPr lang="en-US" altLang="zh-CN" sz="1800" b="1" dirty="0"/>
              </a:p>
              <a:p>
                <a:pPr lvl="2"/>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𝑄</m:t>
                        </m:r>
                      </m:e>
                      <m:sub>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𝑖</m:t>
                        </m:r>
                      </m:sub>
                    </m:sSub>
                    <m:r>
                      <a:rPr lang="en-US" altLang="zh-CN" sz="1400" i="1">
                        <a:latin typeface="Cambria Math" panose="02040503050406030204" pitchFamily="18" charset="0"/>
                      </a:rPr>
                      <m:t>&lt;</m:t>
                    </m:r>
                    <m:r>
                      <a:rPr lang="en-US" altLang="zh-CN" sz="1400" b="0" i="1" smtClean="0">
                        <a:latin typeface="Cambria Math" panose="02040503050406030204" pitchFamily="18" charset="0"/>
                      </a:rPr>
                      <m:t>0</m:t>
                    </m:r>
                  </m:oMath>
                </a14:m>
                <a:r>
                  <a:rPr lang="en-US" altLang="zh-CN" sz="1400" b="1" dirty="0"/>
                  <a:t>,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𝜎</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r>
                      <a:rPr lang="en-US" altLang="zh-CN" sz="1400" b="0" i="1" smtClean="0">
                        <a:latin typeface="Cambria Math" panose="02040503050406030204" pitchFamily="18" charset="0"/>
                      </a:rPr>
                      <m:t>−</m:t>
                    </m:r>
                    <m:f>
                      <m:fPr>
                        <m:ctrlPr>
                          <a:rPr lang="en-US" altLang="zh-CN" sz="1400" i="1">
                            <a:latin typeface="Cambria Math" panose="02040503050406030204" pitchFamily="18" charset="0"/>
                          </a:rPr>
                        </m:ctrlPr>
                      </m:fPr>
                      <m:num>
                        <m:d>
                          <m:dPr>
                            <m:begChr m:val="|"/>
                            <m:endChr m:val="|"/>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𝝈</m:t>
                                </m:r>
                              </m:e>
                              <m:sub>
                                <m:r>
                                  <a:rPr lang="en-US" altLang="zh-CN" sz="1400" i="1">
                                    <a:latin typeface="Cambria Math" panose="02040503050406030204" pitchFamily="18" charset="0"/>
                                  </a:rPr>
                                  <m:t>𝒍</m:t>
                                </m:r>
                              </m:sub>
                            </m:sSub>
                          </m:e>
                        </m:d>
                      </m:num>
                      <m:den>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𝑸</m:t>
                            </m:r>
                          </m:e>
                          <m:sub>
                            <m:r>
                              <a:rPr lang="en-US" altLang="zh-CN" sz="1400" i="1">
                                <a:latin typeface="Cambria Math" panose="02040503050406030204" pitchFamily="18" charset="0"/>
                              </a:rPr>
                              <m:t>𝒌</m:t>
                            </m:r>
                            <m:r>
                              <a:rPr lang="en-US" altLang="zh-CN" sz="1400" i="1">
                                <a:latin typeface="Cambria Math" panose="02040503050406030204" pitchFamily="18" charset="0"/>
                              </a:rPr>
                              <m:t>,</m:t>
                            </m:r>
                            <m:r>
                              <a:rPr lang="en-US" altLang="zh-CN" sz="1400" i="1">
                                <a:latin typeface="Cambria Math" panose="02040503050406030204" pitchFamily="18" charset="0"/>
                              </a:rPr>
                              <m:t>𝒍</m:t>
                            </m:r>
                          </m:sub>
                        </m:sSub>
                        <m:r>
                          <a:rPr lang="en-US" altLang="zh-CN" sz="1400" i="1">
                            <a:latin typeface="Cambria Math" panose="02040503050406030204" pitchFamily="18" charset="0"/>
                          </a:rPr>
                          <m:t>|</m:t>
                        </m:r>
                      </m:den>
                    </m:f>
                    <m:r>
                      <a:rPr lang="en-US" altLang="zh-CN" sz="1400" i="1">
                        <a:latin typeface="Cambria Math" panose="02040503050406030204" pitchFamily="18" charset="0"/>
                      </a:rPr>
                      <m:t>×</m:t>
                    </m:r>
                    <m:r>
                      <a:rPr lang="en-US" altLang="zh-CN" sz="1400" b="0" i="1" smtClean="0">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𝑄</m:t>
                        </m:r>
                      </m:e>
                      <m:sub>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𝑖</m:t>
                        </m:r>
                      </m:sub>
                    </m:sSub>
                    <m:r>
                      <a:rPr lang="en-US" altLang="zh-CN" sz="1400" b="0" i="1" smtClean="0">
                        <a:latin typeface="Cambria Math" panose="02040503050406030204" pitchFamily="18" charset="0"/>
                      </a:rPr>
                      <m:t>|</m:t>
                    </m:r>
                    <m:r>
                      <a:rPr lang="en-US" altLang="zh-CN" sz="1400" i="1">
                        <a:latin typeface="Cambria Math" panose="02040503050406030204" pitchFamily="18" charset="0"/>
                      </a:rPr>
                      <m:t>≥0⇒</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𝜎</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f>
                      <m:fPr>
                        <m:ctrlPr>
                          <a:rPr lang="en-US" altLang="zh-CN" sz="1400" i="1">
                            <a:latin typeface="Cambria Math" panose="02040503050406030204" pitchFamily="18" charset="0"/>
                          </a:rPr>
                        </m:ctrlPr>
                      </m:fPr>
                      <m:num>
                        <m:d>
                          <m:dPr>
                            <m:begChr m:val="|"/>
                            <m:endChr m:val="|"/>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𝝈</m:t>
                                </m:r>
                              </m:e>
                              <m:sub>
                                <m:r>
                                  <a:rPr lang="en-US" altLang="zh-CN" sz="1400" i="1">
                                    <a:latin typeface="Cambria Math" panose="02040503050406030204" pitchFamily="18" charset="0"/>
                                  </a:rPr>
                                  <m:t>𝒍</m:t>
                                </m:r>
                              </m:sub>
                            </m:sSub>
                          </m:e>
                        </m:d>
                      </m:num>
                      <m:den>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𝑸</m:t>
                            </m:r>
                          </m:e>
                          <m:sub>
                            <m:r>
                              <a:rPr lang="en-US" altLang="zh-CN" sz="1400" i="1">
                                <a:latin typeface="Cambria Math" panose="02040503050406030204" pitchFamily="18" charset="0"/>
                              </a:rPr>
                              <m:t>𝒌</m:t>
                            </m:r>
                            <m:r>
                              <a:rPr lang="en-US" altLang="zh-CN" sz="1400" i="1">
                                <a:latin typeface="Cambria Math" panose="02040503050406030204" pitchFamily="18" charset="0"/>
                              </a:rPr>
                              <m:t>,</m:t>
                            </m:r>
                            <m:r>
                              <a:rPr lang="en-US" altLang="zh-CN" sz="1400" i="1">
                                <a:latin typeface="Cambria Math" panose="02040503050406030204" pitchFamily="18" charset="0"/>
                              </a:rPr>
                              <m:t>𝒍</m:t>
                            </m:r>
                          </m:sub>
                        </m:sSub>
                        <m:r>
                          <a:rPr lang="en-US" altLang="zh-CN" sz="1400" i="1">
                            <a:latin typeface="Cambria Math" panose="02040503050406030204" pitchFamily="18" charset="0"/>
                          </a:rPr>
                          <m:t>|</m:t>
                        </m:r>
                      </m:den>
                    </m:f>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𝑄</m:t>
                        </m:r>
                      </m:e>
                      <m:sub>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𝑖</m:t>
                        </m:r>
                      </m:sub>
                    </m:sSub>
                    <m:r>
                      <a:rPr lang="en-US" altLang="zh-CN" sz="1400" i="1">
                        <a:latin typeface="Cambria Math" panose="02040503050406030204" pitchFamily="18" charset="0"/>
                      </a:rPr>
                      <m:t>|</m:t>
                    </m:r>
                  </m:oMath>
                </a14:m>
                <a:r>
                  <a:rPr lang="en-US" altLang="zh-CN" sz="1400" dirty="0"/>
                  <a:t> </a:t>
                </a:r>
                <a:endParaRPr lang="en-US" altLang="zh-CN" sz="2400" i="1" dirty="0">
                  <a:latin typeface="Cambria Math" panose="02040503050406030204" pitchFamily="18" charset="0"/>
                </a:endParaRPr>
              </a:p>
              <a:p>
                <a:pPr lvl="2"/>
                <a14:m>
                  <m:oMath xmlns:m="http://schemas.openxmlformats.org/officeDocument/2006/math">
                    <m:r>
                      <a:rPr lang="en-US" altLang="zh-CN" sz="2400" i="1">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m:t>
                            </m:r>
                            <m:r>
                              <a:rPr lang="en-US" altLang="zh-CN" sz="2400" i="1">
                                <a:latin typeface="Cambria Math" panose="02040503050406030204" pitchFamily="18" charset="0"/>
                              </a:rPr>
                              <m:t>𝜎</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num>
                      <m:den>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𝑄</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𝑖</m:t>
                            </m:r>
                          </m:sub>
                        </m:sSub>
                        <m:r>
                          <a:rPr lang="en-US" altLang="zh-CN" sz="2400" i="1">
                            <a:latin typeface="Cambria Math" panose="02040503050406030204" pitchFamily="18" charset="0"/>
                          </a:rPr>
                          <m:t>|</m:t>
                        </m:r>
                      </m:den>
                    </m:f>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d>
                          <m:dPr>
                            <m:begChr m:val="|"/>
                            <m:endChr m:val="|"/>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𝝈</m:t>
                                </m:r>
                              </m:e>
                              <m:sub>
                                <m:r>
                                  <a:rPr lang="en-US" altLang="zh-CN" sz="2400" i="1">
                                    <a:latin typeface="Cambria Math" panose="02040503050406030204" pitchFamily="18" charset="0"/>
                                  </a:rPr>
                                  <m:t>𝒍</m:t>
                                </m:r>
                              </m:sub>
                            </m:sSub>
                          </m:e>
                        </m:d>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m:t>
                            </m:r>
                            <m:r>
                              <a:rPr lang="en-US" altLang="zh-CN" sz="2400" i="1">
                                <a:latin typeface="Cambria Math" panose="02040503050406030204" pitchFamily="18" charset="0"/>
                              </a:rPr>
                              <m:t>𝑸</m:t>
                            </m:r>
                          </m:e>
                          <m:sub>
                            <m:r>
                              <a:rPr lang="en-US" altLang="zh-CN" sz="2400" i="1">
                                <a:latin typeface="Cambria Math" panose="02040503050406030204" pitchFamily="18" charset="0"/>
                              </a:rPr>
                              <m:t>𝒌</m:t>
                            </m:r>
                            <m:r>
                              <a:rPr lang="en-US" altLang="zh-CN" sz="2400" i="1">
                                <a:latin typeface="Cambria Math" panose="02040503050406030204" pitchFamily="18" charset="0"/>
                              </a:rPr>
                              <m:t>,</m:t>
                            </m:r>
                            <m:r>
                              <a:rPr lang="en-US" altLang="zh-CN" sz="2400" i="1">
                                <a:latin typeface="Cambria Math" panose="02040503050406030204" pitchFamily="18" charset="0"/>
                              </a:rPr>
                              <m:t>𝒍</m:t>
                            </m:r>
                          </m:sub>
                        </m:sSub>
                        <m:r>
                          <a:rPr lang="en-US" altLang="zh-CN" sz="2400" i="1">
                            <a:latin typeface="Cambria Math" panose="02040503050406030204" pitchFamily="18" charset="0"/>
                          </a:rPr>
                          <m:t>|</m:t>
                        </m:r>
                      </m:den>
                    </m:f>
                    <m:r>
                      <a:rPr lang="en-US" altLang="zh-CN" sz="2400" i="1">
                        <a:latin typeface="Cambria Math" panose="02040503050406030204" pitchFamily="18" charset="0"/>
                      </a:rPr>
                      <m:t>∀</m:t>
                    </m:r>
                    <m:r>
                      <a:rPr lang="en-US" altLang="zh-CN" sz="2400" i="1">
                        <a:latin typeface="Cambria Math" panose="02040503050406030204" pitchFamily="18" charset="0"/>
                      </a:rPr>
                      <m:t>𝑖</m:t>
                    </m:r>
                    <m:r>
                      <a:rPr lang="en-US" altLang="zh-CN" sz="2400" b="1" i="0" smtClean="0">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𝑸</m:t>
                        </m:r>
                      </m:e>
                      <m:sub>
                        <m:r>
                          <a:rPr lang="en-US" altLang="zh-CN" sz="2400" i="1">
                            <a:latin typeface="Cambria Math" panose="02040503050406030204" pitchFamily="18" charset="0"/>
                          </a:rPr>
                          <m:t>𝒌</m:t>
                        </m:r>
                        <m:r>
                          <a:rPr lang="en-US" altLang="zh-CN" sz="2400" i="1">
                            <a:latin typeface="Cambria Math" panose="02040503050406030204" pitchFamily="18" charset="0"/>
                          </a:rPr>
                          <m:t>,</m:t>
                        </m:r>
                        <m:r>
                          <a:rPr lang="en-US" altLang="zh-CN" sz="2400" b="0" i="1" smtClean="0">
                            <a:latin typeface="Cambria Math" panose="02040503050406030204" pitchFamily="18" charset="0"/>
                          </a:rPr>
                          <m:t>𝑖</m:t>
                        </m:r>
                      </m:sub>
                    </m:sSub>
                    <m:r>
                      <a:rPr lang="en-US" altLang="zh-CN" sz="2400" i="1">
                        <a:latin typeface="Cambria Math" panose="02040503050406030204" pitchFamily="18" charset="0"/>
                      </a:rPr>
                      <m:t>&lt;0</m:t>
                    </m:r>
                  </m:oMath>
                </a14:m>
                <a:endParaRPr lang="en-US" altLang="zh-CN" sz="2400" dirty="0"/>
              </a:p>
              <a:p>
                <a:pPr lvl="2"/>
                <a:endParaRPr lang="en-US" altLang="zh-CN" sz="2400" b="1" dirty="0"/>
              </a:p>
              <a:p>
                <a:endParaRPr lang="en-US" altLang="zh-CN" sz="2200" b="1" dirty="0"/>
              </a:p>
              <a:p>
                <a:pPr lvl="2"/>
                <a:endParaRPr lang="en-US" altLang="zh-CN" sz="1400" b="1" dirty="0"/>
              </a:p>
              <a:p>
                <a:pPr lvl="2"/>
                <a:endParaRPr lang="en-US" altLang="zh-CN" sz="1400" b="1" dirty="0"/>
              </a:p>
              <a:p>
                <a:pPr lvl="1"/>
                <a:endParaRPr lang="en-US" altLang="zh-CN" sz="1800" b="1" dirty="0"/>
              </a:p>
              <a:p>
                <a:endParaRPr lang="zh-CN" altLang="en-US" sz="2000" dirty="0"/>
              </a:p>
            </p:txBody>
          </p:sp>
        </mc:Choice>
        <mc:Fallback>
          <p:sp>
            <p:nvSpPr>
              <p:cNvPr id="3" name="内容占位符 2">
                <a:extLst>
                  <a:ext uri="{FF2B5EF4-FFF2-40B4-BE49-F238E27FC236}">
                    <a16:creationId xmlns:a16="http://schemas.microsoft.com/office/drawing/2014/main" id="{6E397A60-FE1B-4004-BCEF-FA324E758385}"/>
                  </a:ext>
                </a:extLst>
              </p:cNvPr>
              <p:cNvSpPr>
                <a:spLocks noGrp="1" noRot="1" noChangeAspect="1" noMove="1" noResize="1" noEditPoints="1" noAdjustHandles="1" noChangeArrowheads="1" noChangeShapeType="1" noTextEdit="1"/>
              </p:cNvSpPr>
              <p:nvPr>
                <p:ph idx="1"/>
              </p:nvPr>
            </p:nvSpPr>
            <p:spPr>
              <a:xfrm>
                <a:off x="457200" y="990600"/>
                <a:ext cx="8229600" cy="5715000"/>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719110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0AADA-A641-492D-8668-39D393C1B703}"/>
              </a:ext>
            </a:extLst>
          </p:cNvPr>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FF3AEC0-BB9E-4AB5-98A9-53DA349B67F5}"/>
                  </a:ext>
                </a:extLst>
              </p:cNvPr>
              <p:cNvSpPr>
                <a:spLocks noGrp="1"/>
              </p:cNvSpPr>
              <p:nvPr>
                <p:ph idx="1"/>
              </p:nvPr>
            </p:nvSpPr>
            <p:spPr/>
            <p:txBody>
              <a:bodyPr/>
              <a:lstStyle/>
              <a:p>
                <a:r>
                  <a:rPr lang="zh-CN" altLang="en-US" sz="2000" dirty="0"/>
                  <a:t>对于</a:t>
                </a:r>
                <a:r>
                  <a:rPr lang="en-US" altLang="zh-CN" sz="2000" dirty="0"/>
                  <a:t>min</a:t>
                </a:r>
                <a:r>
                  <a:rPr lang="zh-CN" altLang="en-US" sz="2000" dirty="0"/>
                  <a:t>问题，我们需要</a:t>
                </a:r>
                <a14:m>
                  <m:oMath xmlns:m="http://schemas.openxmlformats.org/officeDocument/2006/math">
                    <m:sSup>
                      <m:sSupPr>
                        <m:ctrlPr>
                          <a:rPr lang="en-US" altLang="zh-CN" sz="2000" i="1">
                            <a:latin typeface="Cambria Math" panose="02040503050406030204" pitchFamily="18" charset="0"/>
                          </a:rPr>
                        </m:ctrlPr>
                      </m:sSup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𝝈</m:t>
                            </m:r>
                          </m:e>
                        </m:acc>
                      </m:e>
                      <m:sup>
                        <m:r>
                          <a:rPr lang="en-US" altLang="zh-CN" sz="2000" i="1" dirty="0">
                            <a:latin typeface="Cambria Math" panose="02040503050406030204" pitchFamily="18" charset="0"/>
                          </a:rPr>
                          <m:t>′</m:t>
                        </m:r>
                      </m:sup>
                    </m:sSup>
                    <m:r>
                      <a:rPr lang="en-US" altLang="zh-CN" sz="2000" b="1" i="1" dirty="0" smtClean="0">
                        <a:latin typeface="Cambria Math" panose="02040503050406030204" pitchFamily="18" charset="0"/>
                      </a:rPr>
                      <m:t>≥</m:t>
                    </m:r>
                    <m:r>
                      <a:rPr lang="en-US" altLang="zh-CN" sz="2000" i="1" dirty="0">
                        <a:latin typeface="Cambria Math" panose="02040503050406030204" pitchFamily="18" charset="0"/>
                      </a:rPr>
                      <m:t>𝟎</m:t>
                    </m:r>
                  </m:oMath>
                </a14:m>
                <a:endParaRPr lang="en-US" altLang="zh-CN" sz="2000" dirty="0"/>
              </a:p>
              <a:p>
                <a:pPr lvl="1"/>
                <a:r>
                  <a:rPr lang="zh-CN" altLang="en-US" sz="1800" dirty="0"/>
                  <a:t>即</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f>
                      <m:fPr>
                        <m:ctrlPr>
                          <a:rPr lang="en-US" altLang="zh-CN" sz="1800" i="1">
                            <a:latin typeface="Cambria Math" panose="02040503050406030204" pitchFamily="18" charset="0"/>
                          </a:rPr>
                        </m:ctrlPr>
                      </m:fPr>
                      <m:num>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𝝈</m:t>
                            </m:r>
                          </m:e>
                          <m:sub>
                            <m:r>
                              <a:rPr lang="en-US" altLang="zh-CN" sz="1800" i="1">
                                <a:latin typeface="Cambria Math" panose="02040503050406030204" pitchFamily="18" charset="0"/>
                              </a:rPr>
                              <m:t>𝒍</m:t>
                            </m:r>
                          </m:sub>
                        </m:sSub>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𝑸</m:t>
                            </m:r>
                          </m:e>
                          <m:sub>
                            <m:r>
                              <a:rPr lang="en-US" altLang="zh-CN" sz="1800" i="1">
                                <a:latin typeface="Cambria Math" panose="02040503050406030204" pitchFamily="18" charset="0"/>
                              </a:rPr>
                              <m:t>𝒌</m:t>
                            </m:r>
                            <m:r>
                              <a:rPr lang="en-US" altLang="zh-CN" sz="1800" i="1">
                                <a:latin typeface="Cambria Math" panose="02040503050406030204" pitchFamily="18" charset="0"/>
                              </a:rPr>
                              <m:t>,</m:t>
                            </m:r>
                            <m:r>
                              <a:rPr lang="en-US" altLang="zh-CN" sz="1800" i="1">
                                <a:latin typeface="Cambria Math" panose="02040503050406030204" pitchFamily="18" charset="0"/>
                              </a:rPr>
                              <m:t>𝒍</m:t>
                            </m:r>
                          </m:sub>
                        </m:sSub>
                        <m:r>
                          <a:rPr lang="en-US" altLang="zh-CN" sz="1800" i="1">
                            <a:latin typeface="Cambria Math" panose="02040503050406030204" pitchFamily="18" charset="0"/>
                          </a:rPr>
                          <m:t>|</m:t>
                        </m:r>
                      </m:den>
                    </m:f>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𝑄</m:t>
                        </m:r>
                      </m:e>
                      <m:sub>
                        <m:r>
                          <a:rPr lang="en-US" altLang="zh-CN" sz="1800" i="1">
                            <a:latin typeface="Cambria Math" panose="02040503050406030204" pitchFamily="18" charset="0"/>
                          </a:rPr>
                          <m:t>𝑘</m:t>
                        </m:r>
                        <m:r>
                          <a:rPr lang="en-US" altLang="zh-CN" sz="1800" i="1">
                            <a:latin typeface="Cambria Math" panose="02040503050406030204" pitchFamily="18" charset="0"/>
                          </a:rPr>
                          <m:t>,</m:t>
                        </m:r>
                        <m:r>
                          <a:rPr lang="en-US" altLang="zh-CN" sz="1800" i="1">
                            <a:latin typeface="Cambria Math" panose="02040503050406030204" pitchFamily="18" charset="0"/>
                          </a:rPr>
                          <m:t>𝑖</m:t>
                        </m:r>
                      </m:sub>
                    </m:sSub>
                    <m:r>
                      <a:rPr lang="en-US" altLang="zh-CN" sz="1800" b="1" i="1" dirty="0">
                        <a:latin typeface="Cambria Math" panose="02040503050406030204" pitchFamily="18" charset="0"/>
                      </a:rPr>
                      <m:t>≥</m:t>
                    </m:r>
                    <m:r>
                      <a:rPr lang="en-US" altLang="zh-CN" sz="1800" i="1">
                        <a:latin typeface="Cambria Math" panose="02040503050406030204" pitchFamily="18" charset="0"/>
                      </a:rPr>
                      <m:t>0 ∀</m:t>
                    </m:r>
                    <m:r>
                      <a:rPr lang="en-US" altLang="zh-CN" sz="1800" i="1">
                        <a:latin typeface="Cambria Math" panose="02040503050406030204" pitchFamily="18" charset="0"/>
                      </a:rPr>
                      <m:t>𝑖</m:t>
                    </m:r>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f>
                      <m:fPr>
                        <m:ctrlPr>
                          <a:rPr lang="en-US" altLang="zh-CN" sz="1800" i="1">
                            <a:latin typeface="Cambria Math" panose="02040503050406030204" pitchFamily="18" charset="0"/>
                          </a:rPr>
                        </m:ctrlPr>
                      </m:fPr>
                      <m:num>
                        <m:d>
                          <m:dPr>
                            <m:begChr m:val="|"/>
                            <m:endChr m:val="|"/>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𝝈</m:t>
                                </m:r>
                              </m:e>
                              <m:sub>
                                <m:r>
                                  <a:rPr lang="en-US" altLang="zh-CN" sz="1800" i="1">
                                    <a:latin typeface="Cambria Math" panose="02040503050406030204" pitchFamily="18" charset="0"/>
                                  </a:rPr>
                                  <m:t>𝒍</m:t>
                                </m:r>
                              </m:sub>
                            </m:sSub>
                          </m:e>
                        </m:d>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𝑸</m:t>
                            </m:r>
                          </m:e>
                          <m:sub>
                            <m:r>
                              <a:rPr lang="en-US" altLang="zh-CN" sz="1800" i="1">
                                <a:latin typeface="Cambria Math" panose="02040503050406030204" pitchFamily="18" charset="0"/>
                              </a:rPr>
                              <m:t>𝒌</m:t>
                            </m:r>
                            <m:r>
                              <a:rPr lang="en-US" altLang="zh-CN" sz="1800" i="1">
                                <a:latin typeface="Cambria Math" panose="02040503050406030204" pitchFamily="18" charset="0"/>
                              </a:rPr>
                              <m:t>,</m:t>
                            </m:r>
                            <m:r>
                              <a:rPr lang="en-US" altLang="zh-CN" sz="1800" i="1">
                                <a:latin typeface="Cambria Math" panose="02040503050406030204" pitchFamily="18" charset="0"/>
                              </a:rPr>
                              <m:t>𝒍</m:t>
                            </m:r>
                          </m:sub>
                        </m:sSub>
                        <m:r>
                          <a:rPr lang="en-US" altLang="zh-CN" sz="1800" i="1">
                            <a:latin typeface="Cambria Math" panose="02040503050406030204" pitchFamily="18" charset="0"/>
                          </a:rPr>
                          <m:t>|</m:t>
                        </m:r>
                      </m:den>
                    </m:f>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𝑄</m:t>
                        </m:r>
                      </m:e>
                      <m:sub>
                        <m:r>
                          <a:rPr lang="en-US" altLang="zh-CN" sz="1800" i="1">
                            <a:latin typeface="Cambria Math" panose="02040503050406030204" pitchFamily="18" charset="0"/>
                          </a:rPr>
                          <m:t>𝑘</m:t>
                        </m:r>
                        <m:r>
                          <a:rPr lang="en-US" altLang="zh-CN" sz="1800" i="1">
                            <a:latin typeface="Cambria Math" panose="02040503050406030204" pitchFamily="18" charset="0"/>
                          </a:rPr>
                          <m:t>,</m:t>
                        </m:r>
                        <m:r>
                          <a:rPr lang="en-US" altLang="zh-CN" sz="1800" i="1">
                            <a:latin typeface="Cambria Math" panose="02040503050406030204" pitchFamily="18" charset="0"/>
                          </a:rPr>
                          <m:t>𝑖</m:t>
                        </m:r>
                      </m:sub>
                    </m:sSub>
                    <m:r>
                      <a:rPr lang="en-US" altLang="zh-CN" sz="1800" b="1" i="1" dirty="0">
                        <a:latin typeface="Cambria Math" panose="02040503050406030204" pitchFamily="18" charset="0"/>
                      </a:rPr>
                      <m:t>≥</m:t>
                    </m:r>
                    <m:r>
                      <a:rPr lang="en-US" altLang="zh-CN" sz="1800" i="1">
                        <a:latin typeface="Cambria Math" panose="02040503050406030204" pitchFamily="18" charset="0"/>
                      </a:rPr>
                      <m:t>0</m:t>
                    </m:r>
                  </m:oMath>
                </a14:m>
                <a:endParaRPr lang="en-US" altLang="zh-CN" sz="1800" b="1" dirty="0"/>
              </a:p>
              <a:p>
                <a:pPr lvl="2"/>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𝑄</m:t>
                        </m:r>
                      </m:e>
                      <m:sub>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𝑖</m:t>
                        </m:r>
                      </m:sub>
                    </m:sSub>
                    <m:r>
                      <a:rPr lang="en-US" altLang="zh-CN" sz="1400" i="1">
                        <a:latin typeface="Cambria Math" panose="02040503050406030204" pitchFamily="18" charset="0"/>
                      </a:rPr>
                      <m:t>&lt;0</m:t>
                    </m:r>
                  </m:oMath>
                </a14:m>
                <a:r>
                  <a:rPr lang="en-US" altLang="zh-CN" sz="1400" b="1" dirty="0"/>
                  <a:t>,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𝜎</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f>
                      <m:fPr>
                        <m:ctrlPr>
                          <a:rPr lang="en-US" altLang="zh-CN" sz="1400" i="1">
                            <a:latin typeface="Cambria Math" panose="02040503050406030204" pitchFamily="18" charset="0"/>
                          </a:rPr>
                        </m:ctrlPr>
                      </m:fPr>
                      <m:num>
                        <m:d>
                          <m:dPr>
                            <m:begChr m:val="|"/>
                            <m:endChr m:val="|"/>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𝝈</m:t>
                                </m:r>
                              </m:e>
                              <m:sub>
                                <m:r>
                                  <a:rPr lang="en-US" altLang="zh-CN" sz="1400" i="1">
                                    <a:latin typeface="Cambria Math" panose="02040503050406030204" pitchFamily="18" charset="0"/>
                                  </a:rPr>
                                  <m:t>𝒍</m:t>
                                </m:r>
                              </m:sub>
                            </m:sSub>
                          </m:e>
                        </m:d>
                      </m:num>
                      <m:den>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𝑸</m:t>
                            </m:r>
                          </m:e>
                          <m:sub>
                            <m:r>
                              <a:rPr lang="en-US" altLang="zh-CN" sz="1400" i="1">
                                <a:latin typeface="Cambria Math" panose="02040503050406030204" pitchFamily="18" charset="0"/>
                              </a:rPr>
                              <m:t>𝒌</m:t>
                            </m:r>
                            <m:r>
                              <a:rPr lang="en-US" altLang="zh-CN" sz="1400" i="1">
                                <a:latin typeface="Cambria Math" panose="02040503050406030204" pitchFamily="18" charset="0"/>
                              </a:rPr>
                              <m:t>,</m:t>
                            </m:r>
                            <m:r>
                              <a:rPr lang="en-US" altLang="zh-CN" sz="1400" i="1">
                                <a:latin typeface="Cambria Math" panose="02040503050406030204" pitchFamily="18" charset="0"/>
                              </a:rPr>
                              <m:t>𝒍</m:t>
                            </m:r>
                          </m:sub>
                        </m:sSub>
                        <m:r>
                          <a:rPr lang="en-US" altLang="zh-CN" sz="1400" i="1">
                            <a:latin typeface="Cambria Math" panose="02040503050406030204" pitchFamily="18" charset="0"/>
                          </a:rPr>
                          <m:t>|</m:t>
                        </m:r>
                      </m:den>
                    </m:f>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𝑄</m:t>
                        </m:r>
                      </m:e>
                      <m:sub>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𝑖</m:t>
                        </m:r>
                      </m:sub>
                    </m:sSub>
                    <m:r>
                      <a:rPr lang="en-US" altLang="zh-CN" sz="1400" i="1">
                        <a:latin typeface="Cambria Math" panose="02040503050406030204" pitchFamily="18" charset="0"/>
                      </a:rPr>
                      <m:t>|≥0⇒</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𝜎</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f>
                      <m:fPr>
                        <m:ctrlPr>
                          <a:rPr lang="en-US" altLang="zh-CN" sz="1400" i="1">
                            <a:latin typeface="Cambria Math" panose="02040503050406030204" pitchFamily="18" charset="0"/>
                          </a:rPr>
                        </m:ctrlPr>
                      </m:fPr>
                      <m:num>
                        <m:d>
                          <m:dPr>
                            <m:begChr m:val="|"/>
                            <m:endChr m:val="|"/>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𝝈</m:t>
                                </m:r>
                              </m:e>
                              <m:sub>
                                <m:r>
                                  <a:rPr lang="en-US" altLang="zh-CN" sz="1400" i="1">
                                    <a:latin typeface="Cambria Math" panose="02040503050406030204" pitchFamily="18" charset="0"/>
                                  </a:rPr>
                                  <m:t>𝒍</m:t>
                                </m:r>
                              </m:sub>
                            </m:sSub>
                          </m:e>
                        </m:d>
                      </m:num>
                      <m:den>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𝑸</m:t>
                            </m:r>
                          </m:e>
                          <m:sub>
                            <m:r>
                              <a:rPr lang="en-US" altLang="zh-CN" sz="1400" i="1">
                                <a:latin typeface="Cambria Math" panose="02040503050406030204" pitchFamily="18" charset="0"/>
                              </a:rPr>
                              <m:t>𝒌</m:t>
                            </m:r>
                            <m:r>
                              <a:rPr lang="en-US" altLang="zh-CN" sz="1400" i="1">
                                <a:latin typeface="Cambria Math" panose="02040503050406030204" pitchFamily="18" charset="0"/>
                              </a:rPr>
                              <m:t>,</m:t>
                            </m:r>
                            <m:r>
                              <a:rPr lang="en-US" altLang="zh-CN" sz="1400" i="1">
                                <a:latin typeface="Cambria Math" panose="02040503050406030204" pitchFamily="18" charset="0"/>
                              </a:rPr>
                              <m:t>𝒍</m:t>
                            </m:r>
                          </m:sub>
                        </m:sSub>
                        <m:r>
                          <a:rPr lang="en-US" altLang="zh-CN" sz="1400" i="1">
                            <a:latin typeface="Cambria Math" panose="02040503050406030204" pitchFamily="18" charset="0"/>
                          </a:rPr>
                          <m:t>|</m:t>
                        </m:r>
                      </m:den>
                    </m:f>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𝑄</m:t>
                        </m:r>
                      </m:e>
                      <m:sub>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𝑖</m:t>
                        </m:r>
                      </m:sub>
                    </m:sSub>
                    <m:r>
                      <a:rPr lang="en-US" altLang="zh-CN" sz="1400" i="1">
                        <a:latin typeface="Cambria Math" panose="02040503050406030204" pitchFamily="18" charset="0"/>
                      </a:rPr>
                      <m:t>|</m:t>
                    </m:r>
                  </m:oMath>
                </a14:m>
                <a:r>
                  <a:rPr lang="en-US" altLang="zh-CN" sz="1400" dirty="0"/>
                  <a:t> </a:t>
                </a:r>
                <a14:m>
                  <m:oMath xmlns:m="http://schemas.openxmlformats.org/officeDocument/2006/math">
                    <m:r>
                      <a:rPr lang="en-US" altLang="zh-CN" sz="1400" i="1">
                        <a:latin typeface="Cambria Math" panose="02040503050406030204" pitchFamily="18" charset="0"/>
                      </a:rPr>
                      <m:t>⇒</m:t>
                    </m:r>
                    <m:f>
                      <m:fPr>
                        <m:ctrlPr>
                          <a:rPr lang="en-US" altLang="zh-CN" sz="1400" i="1">
                            <a:latin typeface="Cambria Math" panose="02040503050406030204" pitchFamily="18" charset="0"/>
                          </a:rPr>
                        </m:ctrlPr>
                      </m:fPr>
                      <m:num>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𝜎</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num>
                      <m:den>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𝑄</m:t>
                            </m:r>
                          </m:e>
                          <m:sub>
                            <m:r>
                              <a:rPr lang="en-US" altLang="zh-CN" sz="1400" i="1">
                                <a:latin typeface="Cambria Math" panose="02040503050406030204" pitchFamily="18" charset="0"/>
                              </a:rPr>
                              <m:t>𝑘</m:t>
                            </m:r>
                            <m:r>
                              <a:rPr lang="en-US" altLang="zh-CN" sz="1400" i="1">
                                <a:latin typeface="Cambria Math" panose="02040503050406030204" pitchFamily="18" charset="0"/>
                              </a:rPr>
                              <m:t>,</m:t>
                            </m:r>
                            <m:r>
                              <a:rPr lang="en-US" altLang="zh-CN" sz="1400" i="1">
                                <a:latin typeface="Cambria Math" panose="02040503050406030204" pitchFamily="18" charset="0"/>
                              </a:rPr>
                              <m:t>𝑖</m:t>
                            </m:r>
                          </m:sub>
                        </m:sSub>
                        <m:r>
                          <a:rPr lang="en-US" altLang="zh-CN" sz="1400" i="1">
                            <a:latin typeface="Cambria Math" panose="02040503050406030204" pitchFamily="18" charset="0"/>
                          </a:rPr>
                          <m:t>|</m:t>
                        </m:r>
                      </m:den>
                    </m:f>
                    <m:r>
                      <a:rPr lang="en-US" altLang="zh-CN" sz="1400" i="1">
                        <a:latin typeface="Cambria Math" panose="02040503050406030204" pitchFamily="18" charset="0"/>
                      </a:rPr>
                      <m:t>≥</m:t>
                    </m:r>
                    <m:f>
                      <m:fPr>
                        <m:ctrlPr>
                          <a:rPr lang="en-US" altLang="zh-CN" sz="1400" i="1">
                            <a:latin typeface="Cambria Math" panose="02040503050406030204" pitchFamily="18" charset="0"/>
                          </a:rPr>
                        </m:ctrlPr>
                      </m:fPr>
                      <m:num>
                        <m:d>
                          <m:dPr>
                            <m:begChr m:val="|"/>
                            <m:endChr m:val="|"/>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𝝈</m:t>
                                </m:r>
                              </m:e>
                              <m:sub>
                                <m:r>
                                  <a:rPr lang="en-US" altLang="zh-CN" sz="1400" i="1">
                                    <a:latin typeface="Cambria Math" panose="02040503050406030204" pitchFamily="18" charset="0"/>
                                  </a:rPr>
                                  <m:t>𝒍</m:t>
                                </m:r>
                              </m:sub>
                            </m:sSub>
                          </m:e>
                        </m:d>
                      </m:num>
                      <m:den>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𝑸</m:t>
                            </m:r>
                          </m:e>
                          <m:sub>
                            <m:r>
                              <a:rPr lang="en-US" altLang="zh-CN" sz="1400" i="1">
                                <a:latin typeface="Cambria Math" panose="02040503050406030204" pitchFamily="18" charset="0"/>
                              </a:rPr>
                              <m:t>𝒌</m:t>
                            </m:r>
                            <m:r>
                              <a:rPr lang="en-US" altLang="zh-CN" sz="1400" i="1">
                                <a:latin typeface="Cambria Math" panose="02040503050406030204" pitchFamily="18" charset="0"/>
                              </a:rPr>
                              <m:t>,</m:t>
                            </m:r>
                            <m:r>
                              <a:rPr lang="en-US" altLang="zh-CN" sz="1400" i="1">
                                <a:latin typeface="Cambria Math" panose="02040503050406030204" pitchFamily="18" charset="0"/>
                              </a:rPr>
                              <m:t>𝒍</m:t>
                            </m:r>
                          </m:sub>
                        </m:sSub>
                        <m:r>
                          <a:rPr lang="en-US" altLang="zh-CN" sz="1400" i="1">
                            <a:latin typeface="Cambria Math" panose="02040503050406030204" pitchFamily="18" charset="0"/>
                          </a:rPr>
                          <m:t>|</m:t>
                        </m:r>
                      </m:den>
                    </m:f>
                    <m:r>
                      <a:rPr lang="en-US" altLang="zh-CN" sz="1400" i="1">
                        <a:latin typeface="Cambria Math" panose="02040503050406030204" pitchFamily="18" charset="0"/>
                      </a:rPr>
                      <m:t>∀</m:t>
                    </m:r>
                    <m:r>
                      <a:rPr lang="en-US" altLang="zh-CN" sz="1400" i="1">
                        <a:latin typeface="Cambria Math" panose="02040503050406030204" pitchFamily="18" charset="0"/>
                      </a:rPr>
                      <m:t>𝑖</m:t>
                    </m:r>
                  </m:oMath>
                </a14:m>
                <a:endParaRPr lang="en-US" altLang="zh-CN" sz="1400" b="1" dirty="0"/>
              </a:p>
              <a:p>
                <a:r>
                  <a:rPr lang="zh-CN" altLang="en-US" sz="2200" dirty="0"/>
                  <a:t>结论：无论是</a:t>
                </a:r>
                <a:r>
                  <a:rPr lang="en-US" altLang="zh-CN" sz="2200" dirty="0"/>
                  <a:t>max</a:t>
                </a:r>
                <a:r>
                  <a:rPr lang="zh-CN" altLang="en-US" sz="2200" dirty="0"/>
                  <a:t>还是</a:t>
                </a:r>
                <a:r>
                  <a:rPr lang="en-US" altLang="zh-CN" sz="2200" dirty="0"/>
                  <a:t>min</a:t>
                </a:r>
                <a:r>
                  <a:rPr lang="zh-CN" altLang="en-US" sz="2200" dirty="0"/>
                  <a:t>问题，都是取</a:t>
                </a:r>
                <a:endParaRPr lang="en-US" altLang="zh-CN" sz="2200" dirty="0"/>
              </a:p>
              <a:p>
                <a:pPr lvl="1"/>
                <a14:m>
                  <m:oMath xmlns:m="http://schemas.openxmlformats.org/officeDocument/2006/math">
                    <m:r>
                      <a:rPr lang="en-US" altLang="zh-CN" sz="1800" b="1" i="1" smtClean="0">
                        <a:latin typeface="Cambria Math" panose="02040503050406030204" pitchFamily="18" charset="0"/>
                      </a:rPr>
                      <m:t>𝒎𝒊</m:t>
                    </m:r>
                    <m:sSub>
                      <m:sSubPr>
                        <m:ctrlPr>
                          <a:rPr lang="en-US" altLang="zh-CN" sz="1800" b="1" i="1" smtClean="0">
                            <a:latin typeface="Cambria Math" panose="02040503050406030204" pitchFamily="18" charset="0"/>
                          </a:rPr>
                        </m:ctrlPr>
                      </m:sSubPr>
                      <m:e>
                        <m:r>
                          <a:rPr lang="en-US" altLang="zh-CN" sz="1800" b="1" i="1" smtClean="0">
                            <a:latin typeface="Cambria Math" panose="02040503050406030204" pitchFamily="18" charset="0"/>
                          </a:rPr>
                          <m:t>𝒏</m:t>
                        </m:r>
                      </m:e>
                      <m:sub>
                        <m:r>
                          <a:rPr lang="en-US" altLang="zh-CN" sz="1800" b="1" i="1" smtClean="0">
                            <a:latin typeface="Cambria Math" panose="02040503050406030204" pitchFamily="18" charset="0"/>
                          </a:rPr>
                          <m:t>𝒊</m:t>
                        </m:r>
                      </m:sub>
                    </m:sSub>
                    <m:f>
                      <m:fPr>
                        <m:ctrlPr>
                          <a:rPr lang="en-US" altLang="zh-CN" sz="1800" i="1">
                            <a:latin typeface="Cambria Math" panose="02040503050406030204" pitchFamily="18" charset="0"/>
                          </a:rPr>
                        </m:ctrlPr>
                      </m:fPr>
                      <m:num>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num>
                      <m:den>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𝑄</m:t>
                            </m:r>
                          </m:e>
                          <m:sub>
                            <m:r>
                              <a:rPr lang="en-US" altLang="zh-CN" sz="1800" i="1">
                                <a:latin typeface="Cambria Math" panose="02040503050406030204" pitchFamily="18" charset="0"/>
                              </a:rPr>
                              <m:t>𝑘</m:t>
                            </m:r>
                            <m:r>
                              <a:rPr lang="en-US" altLang="zh-CN" sz="1800" i="1">
                                <a:latin typeface="Cambria Math" panose="02040503050406030204" pitchFamily="18" charset="0"/>
                              </a:rPr>
                              <m:t>,</m:t>
                            </m:r>
                            <m:r>
                              <a:rPr lang="en-US" altLang="zh-CN" sz="1800" i="1">
                                <a:latin typeface="Cambria Math" panose="02040503050406030204" pitchFamily="18" charset="0"/>
                              </a:rPr>
                              <m:t>𝑖</m:t>
                            </m:r>
                          </m:sub>
                        </m:sSub>
                        <m:r>
                          <a:rPr lang="en-US" altLang="zh-CN" sz="1800" i="1">
                            <a:latin typeface="Cambria Math" panose="02040503050406030204" pitchFamily="18" charset="0"/>
                          </a:rPr>
                          <m:t>|</m:t>
                        </m:r>
                      </m:den>
                    </m:f>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𝑄</m:t>
                        </m:r>
                      </m:e>
                      <m:sub>
                        <m:r>
                          <a:rPr lang="en-US" altLang="zh-CN" sz="1800" i="1">
                            <a:latin typeface="Cambria Math" panose="02040503050406030204" pitchFamily="18" charset="0"/>
                          </a:rPr>
                          <m:t>𝑘</m:t>
                        </m:r>
                        <m:r>
                          <a:rPr lang="en-US" altLang="zh-CN" sz="1800" i="1">
                            <a:latin typeface="Cambria Math" panose="02040503050406030204" pitchFamily="18" charset="0"/>
                          </a:rPr>
                          <m:t>,</m:t>
                        </m:r>
                        <m:r>
                          <a:rPr lang="en-US" altLang="zh-CN" sz="1800" i="1">
                            <a:latin typeface="Cambria Math" panose="02040503050406030204" pitchFamily="18" charset="0"/>
                          </a:rPr>
                          <m:t>𝑖</m:t>
                        </m:r>
                      </m:sub>
                    </m:sSub>
                    <m:r>
                      <a:rPr lang="en-US" altLang="zh-CN" sz="1800" b="0" i="1" smtClean="0">
                        <a:latin typeface="Cambria Math" panose="02040503050406030204" pitchFamily="18" charset="0"/>
                      </a:rPr>
                      <m:t>&lt;0</m:t>
                    </m:r>
                  </m:oMath>
                </a14:m>
                <a:endParaRPr lang="en-US" altLang="zh-CN" sz="1800" b="1" dirty="0"/>
              </a:p>
              <a:p>
                <a:endParaRPr lang="zh-CN" altLang="en-US" dirty="0"/>
              </a:p>
            </p:txBody>
          </p:sp>
        </mc:Choice>
        <mc:Fallback xmlns="">
          <p:sp>
            <p:nvSpPr>
              <p:cNvPr id="3" name="内容占位符 2">
                <a:extLst>
                  <a:ext uri="{FF2B5EF4-FFF2-40B4-BE49-F238E27FC236}">
                    <a16:creationId xmlns:a16="http://schemas.microsoft.com/office/drawing/2014/main" id="{7FF3AEC0-BB9E-4AB5-98A9-53DA349B67F5}"/>
                  </a:ext>
                </a:extLst>
              </p:cNvPr>
              <p:cNvSpPr>
                <a:spLocks noGrp="1" noRot="1" noChangeAspect="1" noMove="1" noResize="1" noEditPoints="1" noAdjustHandles="1" noChangeArrowheads="1" noChangeShapeType="1" noTextEdit="1"/>
              </p:cNvSpPr>
              <p:nvPr>
                <p:ph idx="1"/>
              </p:nvPr>
            </p:nvSpPr>
            <p:spPr>
              <a:blipFill>
                <a:blip r:embed="rId2"/>
                <a:stretch>
                  <a:fillRect l="-148" t="-10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30425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73090622-6F5A-478E-B9E3-8BA5B741EC92}"/>
              </a:ext>
            </a:extLst>
          </p:cNvPr>
          <p:cNvSpPr>
            <a:spLocks noGrp="1" noChangeArrowheads="1"/>
          </p:cNvSpPr>
          <p:nvPr>
            <p:ph type="title"/>
          </p:nvPr>
        </p:nvSpPr>
        <p:spPr/>
        <p:txBody>
          <a:bodyPr/>
          <a:lstStyle/>
          <a:p>
            <a:pPr eaLnBrk="1" hangingPunct="1"/>
            <a:r>
              <a:rPr lang="zh-CN" altLang="en-US"/>
              <a:t>计算步骤</a:t>
            </a:r>
          </a:p>
        </p:txBody>
      </p:sp>
      <mc:AlternateContent xmlns:mc="http://schemas.openxmlformats.org/markup-compatibility/2006" xmlns:a14="http://schemas.microsoft.com/office/drawing/2010/main">
        <mc:Choice Requires="a14">
          <p:sp>
            <p:nvSpPr>
              <p:cNvPr id="125955" name="Rectangle 3">
                <a:extLst>
                  <a:ext uri="{FF2B5EF4-FFF2-40B4-BE49-F238E27FC236}">
                    <a16:creationId xmlns:a16="http://schemas.microsoft.com/office/drawing/2014/main" id="{A20C3EA5-F13A-4C44-9BF7-746F1B3DA4A6}"/>
                  </a:ext>
                </a:extLst>
              </p:cNvPr>
              <p:cNvSpPr>
                <a:spLocks noGrp="1" noChangeArrowheads="1"/>
              </p:cNvSpPr>
              <p:nvPr>
                <p:ph type="body" idx="1"/>
              </p:nvPr>
            </p:nvSpPr>
            <p:spPr>
              <a:xfrm>
                <a:off x="457200" y="1143000"/>
                <a:ext cx="8229600" cy="4953000"/>
              </a:xfrm>
            </p:spPr>
            <p:txBody>
              <a:bodyPr/>
              <a:lstStyle/>
              <a:p>
                <a:pPr marL="533400" indent="-533400" eaLnBrk="1" hangingPunct="1">
                  <a:buFont typeface="Wingdings" panose="05000000000000000000" pitchFamily="2" charset="2"/>
                  <a:buAutoNum type="arabicPeriod"/>
                </a:pPr>
                <a:r>
                  <a:rPr kumimoji="1" lang="zh-CN" altLang="en-US" sz="2400" dirty="0">
                    <a:latin typeface="Times New Roman" panose="02020603050405020304" pitchFamily="18" charset="0"/>
                  </a:rPr>
                  <a:t>列出初始单纯形表，检查</a:t>
                </a:r>
                <a:r>
                  <a:rPr kumimoji="1" lang="en-US" altLang="zh-CN" sz="2400" dirty="0">
                    <a:latin typeface="Times New Roman" panose="02020603050405020304" pitchFamily="18" charset="0"/>
                  </a:rPr>
                  <a:t>b</a:t>
                </a:r>
                <a:r>
                  <a:rPr kumimoji="1" lang="zh-CN" altLang="en-US" sz="2400" dirty="0">
                    <a:latin typeface="Times New Roman" panose="02020603050405020304" pitchFamily="18" charset="0"/>
                  </a:rPr>
                  <a:t>列数字：</a:t>
                </a:r>
              </a:p>
              <a:p>
                <a:pPr marL="728663" lvl="1" indent="-384175" eaLnBrk="1" hangingPunct="1">
                  <a:buClr>
                    <a:schemeClr val="tx1"/>
                  </a:buClr>
                  <a:buFont typeface="Wingdings" panose="05000000000000000000" pitchFamily="2" charset="2"/>
                  <a:buAutoNum type="circleNumDbPlain"/>
                </a:pPr>
                <a:r>
                  <a:rPr kumimoji="1" lang="zh-CN" altLang="en-US" sz="2000" dirty="0">
                    <a:latin typeface="Times New Roman" panose="02020603050405020304" pitchFamily="18" charset="0"/>
                  </a:rPr>
                  <a:t>若都为非负</a:t>
                </a:r>
                <a:r>
                  <a:rPr kumimoji="1" lang="en-US" altLang="zh-CN" sz="2000" dirty="0">
                    <a:latin typeface="Times New Roman" panose="02020603050405020304" pitchFamily="18" charset="0"/>
                  </a:rPr>
                  <a:t>(</a:t>
                </a:r>
                <a:r>
                  <a:rPr kumimoji="1" lang="en-US" altLang="zh-CN" sz="2000" b="1" dirty="0">
                    <a:latin typeface="Times New Roman" panose="02020603050405020304" pitchFamily="18" charset="0"/>
                  </a:rPr>
                  <a:t>b</a:t>
                </a:r>
                <a:r>
                  <a:rPr kumimoji="1" lang="en-US" altLang="zh-CN" sz="2000" dirty="0">
                    <a:latin typeface="Times New Roman" panose="02020603050405020304" pitchFamily="18" charset="0"/>
                  </a:rPr>
                  <a:t>≥</a:t>
                </a:r>
                <a:r>
                  <a:rPr kumimoji="1" lang="en-US" altLang="zh-CN" sz="2000" b="1" dirty="0">
                    <a:latin typeface="Times New Roman" panose="02020603050405020304" pitchFamily="18" charset="0"/>
                  </a:rPr>
                  <a:t>0</a:t>
                </a:r>
                <a:r>
                  <a:rPr kumimoji="1" lang="en-US" altLang="zh-CN" sz="2000" dirty="0">
                    <a:latin typeface="Times New Roman" panose="02020603050405020304" pitchFamily="18" charset="0"/>
                  </a:rPr>
                  <a:t>) </a:t>
                </a:r>
                <a:r>
                  <a:rPr kumimoji="1" lang="zh-CN" altLang="en-US" sz="2000" dirty="0">
                    <a:latin typeface="Times New Roman" panose="02020603050405020304" pitchFamily="18" charset="0"/>
                  </a:rPr>
                  <a:t>，检验数为非正，则已得到最优解；</a:t>
                </a:r>
              </a:p>
              <a:p>
                <a:pPr marL="728663" lvl="1" indent="-384175" eaLnBrk="1" hangingPunct="1">
                  <a:buClr>
                    <a:schemeClr val="tx1"/>
                  </a:buClr>
                  <a:buFont typeface="Wingdings" panose="05000000000000000000" pitchFamily="2" charset="2"/>
                  <a:buAutoNum type="circleNumDbPlain"/>
                </a:pPr>
                <a:r>
                  <a:rPr kumimoji="1" lang="zh-CN" altLang="en-US" sz="2000" dirty="0">
                    <a:latin typeface="Times New Roman" panose="02020603050405020304" pitchFamily="18" charset="0"/>
                  </a:rPr>
                  <a:t>若</a:t>
                </a:r>
                <a:r>
                  <a:rPr kumimoji="1" lang="en-US" altLang="zh-CN" sz="2000" dirty="0">
                    <a:latin typeface="Times New Roman" panose="02020603050405020304" pitchFamily="18" charset="0"/>
                  </a:rPr>
                  <a:t>b</a:t>
                </a:r>
                <a:r>
                  <a:rPr kumimoji="1" lang="zh-CN" altLang="en-US" sz="2000" dirty="0">
                    <a:latin typeface="Times New Roman" panose="02020603050405020304" pitchFamily="18" charset="0"/>
                  </a:rPr>
                  <a:t>列中存在负分量</a:t>
                </a:r>
                <a:r>
                  <a:rPr kumimoji="1" lang="en-US" altLang="zh-CN" sz="2000" dirty="0">
                    <a:latin typeface="Times New Roman" panose="02020603050405020304" pitchFamily="18" charset="0"/>
                  </a:rPr>
                  <a:t>(</a:t>
                </a:r>
                <a:r>
                  <a:rPr kumimoji="1" lang="en-US" altLang="zh-CN" sz="2000" i="1" dirty="0">
                    <a:latin typeface="Times New Roman" panose="02020603050405020304" pitchFamily="18" charset="0"/>
                  </a:rPr>
                  <a:t>b</a:t>
                </a:r>
                <a:r>
                  <a:rPr kumimoji="1" lang="en-US" altLang="zh-CN" sz="2000" i="1" baseline="-25000" dirty="0">
                    <a:latin typeface="Times New Roman" panose="02020603050405020304" pitchFamily="18" charset="0"/>
                  </a:rPr>
                  <a:t>i</a:t>
                </a:r>
                <a:r>
                  <a:rPr kumimoji="1" lang="en-US" altLang="zh-CN" sz="2000" dirty="0">
                    <a:latin typeface="Times New Roman" panose="02020603050405020304" pitchFamily="18" charset="0"/>
                  </a:rPr>
                  <a:t>&lt;0) </a:t>
                </a:r>
                <a:r>
                  <a:rPr kumimoji="1" lang="zh-CN" altLang="en-US" sz="2000" dirty="0">
                    <a:latin typeface="Times New Roman" panose="02020603050405020304" pitchFamily="18" charset="0"/>
                  </a:rPr>
                  <a:t>，检验数保持非正，进行以下计算</a:t>
                </a:r>
              </a:p>
              <a:p>
                <a:pPr marL="533400" indent="-533400" eaLnBrk="1" hangingPunct="1">
                  <a:buFont typeface="Wingdings" panose="05000000000000000000" pitchFamily="2" charset="2"/>
                  <a:buAutoNum type="arabicPeriod"/>
                </a:pPr>
                <a:r>
                  <a:rPr kumimoji="1" lang="zh-CN" altLang="en-US" sz="2400" dirty="0">
                    <a:latin typeface="Times New Roman" panose="02020603050405020304" pitchFamily="18" charset="0"/>
                  </a:rPr>
                  <a:t>按 </a:t>
                </a:r>
                <a:r>
                  <a:rPr kumimoji="1" lang="en-US" altLang="zh-CN" sz="2400" dirty="0">
                    <a:latin typeface="Times New Roman" panose="02020603050405020304" pitchFamily="18" charset="0"/>
                  </a:rPr>
                  <a:t>Min {(</a:t>
                </a:r>
                <a:r>
                  <a:rPr kumimoji="1" lang="en-US" altLang="zh-CN" sz="2400" b="0" dirty="0">
                    <a:latin typeface="Times New Roman" panose="02020603050405020304" pitchFamily="18" charset="0"/>
                  </a:rPr>
                  <a:t>B</a:t>
                </a:r>
                <a:r>
                  <a:rPr kumimoji="1" lang="en-US" altLang="zh-CN" sz="2400" baseline="30000" dirty="0">
                    <a:latin typeface="Times New Roman" panose="02020603050405020304" pitchFamily="18" charset="0"/>
                  </a:rPr>
                  <a:t>-1</a:t>
                </a:r>
                <a:r>
                  <a:rPr kumimoji="1" lang="en-US" altLang="zh-CN" sz="2400" b="0" dirty="0">
                    <a:latin typeface="Times New Roman" panose="02020603050405020304" pitchFamily="18" charset="0"/>
                  </a:rPr>
                  <a:t>b</a:t>
                </a:r>
                <a:r>
                  <a:rPr kumimoji="1" lang="en-US" altLang="zh-CN" sz="2400" dirty="0">
                    <a:latin typeface="Times New Roman" panose="02020603050405020304" pitchFamily="18" charset="0"/>
                  </a:rPr>
                  <a:t>)</a:t>
                </a:r>
                <a:r>
                  <a:rPr kumimoji="1" lang="en-US" altLang="zh-CN" sz="2400" i="1" baseline="-25000" dirty="0" err="1">
                    <a:latin typeface="Times New Roman" panose="02020603050405020304" pitchFamily="18" charset="0"/>
                  </a:rPr>
                  <a:t>i</a:t>
                </a:r>
                <a:r>
                  <a:rPr kumimoji="1" lang="en-US" altLang="zh-CN" sz="2400" baseline="-25000" dirty="0">
                    <a:latin typeface="Times New Roman" panose="02020603050405020304" pitchFamily="18" charset="0"/>
                  </a:rPr>
                  <a:t> </a:t>
                </a:r>
                <a:r>
                  <a:rPr kumimoji="1" lang="en-US" altLang="zh-CN" sz="2400" dirty="0">
                    <a:latin typeface="Times New Roman" panose="02020603050405020304" pitchFamily="18" charset="0"/>
                  </a:rPr>
                  <a:t>| (</a:t>
                </a:r>
                <a:r>
                  <a:rPr kumimoji="1" lang="en-US" altLang="zh-CN" sz="2400" b="0" dirty="0">
                    <a:latin typeface="Times New Roman" panose="02020603050405020304" pitchFamily="18" charset="0"/>
                  </a:rPr>
                  <a:t>B</a:t>
                </a:r>
                <a:r>
                  <a:rPr kumimoji="1" lang="en-US" altLang="zh-CN" sz="2400" baseline="30000" dirty="0">
                    <a:latin typeface="Times New Roman" panose="02020603050405020304" pitchFamily="18" charset="0"/>
                  </a:rPr>
                  <a:t>-1</a:t>
                </a:r>
                <a:r>
                  <a:rPr kumimoji="1" lang="en-US" altLang="zh-CN" sz="2400" b="0" dirty="0">
                    <a:latin typeface="Times New Roman" panose="02020603050405020304" pitchFamily="18" charset="0"/>
                  </a:rPr>
                  <a:t>b</a:t>
                </a:r>
                <a:r>
                  <a:rPr kumimoji="1" lang="en-US" altLang="zh-CN" sz="2400" dirty="0">
                    <a:latin typeface="Times New Roman" panose="02020603050405020304" pitchFamily="18" charset="0"/>
                  </a:rPr>
                  <a:t>)</a:t>
                </a:r>
                <a:r>
                  <a:rPr kumimoji="1" lang="en-US" altLang="zh-CN" sz="2400" i="1" baseline="-25000" dirty="0" err="1">
                    <a:latin typeface="Times New Roman" panose="02020603050405020304" pitchFamily="18" charset="0"/>
                  </a:rPr>
                  <a:t>i</a:t>
                </a:r>
                <a:r>
                  <a:rPr kumimoji="1" lang="en-US" altLang="zh-CN" sz="2400" dirty="0">
                    <a:latin typeface="Times New Roman" panose="02020603050405020304" pitchFamily="18" charset="0"/>
                  </a:rPr>
                  <a:t> &lt;0} </a:t>
                </a:r>
                <a:r>
                  <a:rPr kumimoji="1" lang="zh-CN" altLang="en-US" sz="2400" dirty="0">
                    <a:latin typeface="Times New Roman" panose="02020603050405020304" pitchFamily="18" charset="0"/>
                  </a:rPr>
                  <a:t>确定对应变量 </a:t>
                </a:r>
                <a:r>
                  <a:rPr kumimoji="1" lang="en-US" altLang="zh-CN" sz="2400" dirty="0" err="1">
                    <a:latin typeface="Times New Roman" panose="02020603050405020304" pitchFamily="18" charset="0"/>
                  </a:rPr>
                  <a:t>x</a:t>
                </a:r>
                <a:r>
                  <a:rPr kumimoji="1" lang="en-US" altLang="zh-CN" sz="2400" i="1" baseline="-25000" dirty="0" err="1">
                    <a:latin typeface="Times New Roman" panose="02020603050405020304" pitchFamily="18" charset="0"/>
                  </a:rPr>
                  <a:t>k</a:t>
                </a:r>
                <a:r>
                  <a:rPr kumimoji="1" lang="en-US" altLang="zh-CN" sz="2400" i="1" baseline="-25000" dirty="0">
                    <a:latin typeface="Times New Roman" panose="02020603050405020304" pitchFamily="18" charset="0"/>
                  </a:rPr>
                  <a:t> </a:t>
                </a:r>
                <a:r>
                  <a:rPr kumimoji="1" lang="zh-CN" altLang="en-US" sz="2400" dirty="0">
                    <a:latin typeface="Times New Roman" panose="02020603050405020304" pitchFamily="18" charset="0"/>
                  </a:rPr>
                  <a:t>为换出变量</a:t>
                </a:r>
              </a:p>
              <a:p>
                <a:pPr marL="533400" indent="-533400" eaLnBrk="1" hangingPunct="1">
                  <a:buFont typeface="Wingdings" panose="05000000000000000000" pitchFamily="2" charset="2"/>
                  <a:buAutoNum type="arabicPeriod"/>
                </a:pPr>
                <a:r>
                  <a:rPr kumimoji="1" lang="zh-CN" altLang="en-US" sz="2400" dirty="0">
                    <a:latin typeface="Times New Roman" panose="02020603050405020304" pitchFamily="18" charset="0"/>
                  </a:rPr>
                  <a:t>确定换入变量 </a:t>
                </a:r>
              </a:p>
              <a:p>
                <a:pPr marL="728663" lvl="1" indent="-384175" eaLnBrk="1" hangingPunct="1">
                  <a:buClr>
                    <a:schemeClr val="tx1"/>
                  </a:buClr>
                  <a:buFont typeface="Wingdings" panose="05000000000000000000" pitchFamily="2" charset="2"/>
                  <a:buAutoNum type="circleNumDbPlain"/>
                </a:pPr>
                <a:r>
                  <a:rPr kumimoji="1" lang="zh-CN" altLang="en-US" sz="2000" dirty="0">
                    <a:latin typeface="Times New Roman" panose="02020603050405020304" pitchFamily="18" charset="0"/>
                  </a:rPr>
                  <a:t>为使下一表中第</a:t>
                </a:r>
                <a:r>
                  <a:rPr kumimoji="1" lang="en-US" altLang="zh-CN" sz="2000" i="1" dirty="0">
                    <a:latin typeface="Times New Roman" panose="02020603050405020304" pitchFamily="18" charset="0"/>
                  </a:rPr>
                  <a:t>k</a:t>
                </a:r>
                <a:r>
                  <a:rPr kumimoji="1" lang="zh-CN" altLang="en-US" sz="2000" dirty="0">
                    <a:latin typeface="Times New Roman" panose="02020603050405020304" pitchFamily="18" charset="0"/>
                  </a:rPr>
                  <a:t>行基变量为正值，只有对应</a:t>
                </a:r>
                <a:r>
                  <a:rPr kumimoji="1" lang="en-US" altLang="zh-CN" sz="2000" dirty="0" err="1">
                    <a:latin typeface="Times New Roman" panose="02020603050405020304" pitchFamily="18" charset="0"/>
                  </a:rPr>
                  <a:t>a</a:t>
                </a:r>
                <a:r>
                  <a:rPr kumimoji="1" lang="en-US" altLang="zh-CN" sz="2000" i="1" baseline="-25000" dirty="0" err="1">
                    <a:latin typeface="Times New Roman" panose="02020603050405020304" pitchFamily="18" charset="0"/>
                  </a:rPr>
                  <a:t>k</a:t>
                </a:r>
                <a:r>
                  <a:rPr kumimoji="1" lang="en-US" altLang="zh-CN" sz="2000" baseline="-25000" dirty="0" err="1">
                    <a:latin typeface="Times New Roman" panose="02020603050405020304" pitchFamily="18" charset="0"/>
                  </a:rPr>
                  <a:t>j</a:t>
                </a:r>
                <a:r>
                  <a:rPr kumimoji="1" lang="en-US" altLang="zh-CN" sz="2000" dirty="0">
                    <a:latin typeface="Times New Roman" panose="02020603050405020304" pitchFamily="18" charset="0"/>
                  </a:rPr>
                  <a:t>&lt;0(j=m+1,</a:t>
                </a:r>
                <a:r>
                  <a:rPr kumimoji="1" lang="zh-CN" altLang="en-US" sz="2000" dirty="0">
                    <a:latin typeface="Times New Roman" panose="02020603050405020304" pitchFamily="18" charset="0"/>
                  </a:rPr>
                  <a:t>，</a:t>
                </a:r>
                <a:r>
                  <a:rPr kumimoji="1" lang="en-US" altLang="zh-CN" sz="2000" dirty="0">
                    <a:latin typeface="Times New Roman" panose="02020603050405020304" pitchFamily="18" charset="0"/>
                  </a:rPr>
                  <a:t>…n)</a:t>
                </a:r>
                <a:r>
                  <a:rPr kumimoji="1" lang="zh-CN" altLang="en-US" sz="2000" dirty="0">
                    <a:latin typeface="Times New Roman" panose="02020603050405020304" pitchFamily="18" charset="0"/>
                  </a:rPr>
                  <a:t>的非基变量才可考虑作为换入基的变量，若所有</a:t>
                </a:r>
                <a:r>
                  <a:rPr kumimoji="1" lang="en-US" altLang="zh-CN" sz="2000" dirty="0">
                    <a:latin typeface="Times New Roman" panose="02020603050405020304" pitchFamily="18" charset="0"/>
                  </a:rPr>
                  <a:t>a</a:t>
                </a:r>
                <a:r>
                  <a:rPr kumimoji="1" lang="en-US" altLang="zh-CN" sz="2000" i="1" baseline="-25000" dirty="0">
                    <a:latin typeface="Times New Roman" panose="02020603050405020304" pitchFamily="18" charset="0"/>
                  </a:rPr>
                  <a:t>k</a:t>
                </a:r>
                <a:r>
                  <a:rPr kumimoji="1" lang="en-US" altLang="zh-CN" sz="2000" baseline="-25000" dirty="0">
                    <a:latin typeface="Times New Roman" panose="02020603050405020304" pitchFamily="18" charset="0"/>
                  </a:rPr>
                  <a:t>j</a:t>
                </a:r>
                <a:r>
                  <a:rPr kumimoji="1" lang="en-US" altLang="zh-CN" sz="2000" dirty="0">
                    <a:latin typeface="Times New Roman" panose="02020603050405020304" pitchFamily="18" charset="0"/>
                  </a:rPr>
                  <a:t>≥0</a:t>
                </a:r>
                <a:r>
                  <a:rPr kumimoji="1" lang="zh-CN" altLang="en-US" sz="2000" dirty="0">
                    <a:latin typeface="Times New Roman" panose="02020603050405020304" pitchFamily="18" charset="0"/>
                  </a:rPr>
                  <a:t>，则问题无可行解，停止</a:t>
                </a:r>
                <a:r>
                  <a:rPr kumimoji="1" lang="en-US" altLang="zh-CN" sz="2000" dirty="0">
                    <a:latin typeface="Times New Roman" panose="02020603050405020304" pitchFamily="18" charset="0"/>
                  </a:rPr>
                  <a:t>; </a:t>
                </a:r>
                <a:r>
                  <a:rPr kumimoji="1" lang="zh-CN" altLang="en-US" sz="2000" dirty="0">
                    <a:latin typeface="Times New Roman" panose="02020603050405020304" pitchFamily="18" charset="0"/>
                  </a:rPr>
                  <a:t>否则</a:t>
                </a:r>
              </a:p>
              <a:p>
                <a:pPr marL="728663" lvl="1" indent="-384175" eaLnBrk="1" hangingPunct="1">
                  <a:buClr>
                    <a:schemeClr val="tx1"/>
                  </a:buClr>
                  <a:buFont typeface="Wingdings" panose="05000000000000000000" pitchFamily="2" charset="2"/>
                  <a:buAutoNum type="circleNumDbPlain"/>
                </a:pPr>
                <a:r>
                  <a:rPr kumimoji="1" lang="en-US" altLang="zh-CN" sz="2000" dirty="0">
                    <a:latin typeface="Times New Roman" panose="02020603050405020304" pitchFamily="18" charset="0"/>
                  </a:rPr>
                  <a:t>θ=min{</a:t>
                </a:r>
                <a14:m>
                  <m:oMath xmlns:m="http://schemas.openxmlformats.org/officeDocument/2006/math">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m:t>
                            </m:r>
                            <m:r>
                              <a:rPr lang="en-US" altLang="zh-CN" sz="2000" i="1">
                                <a:latin typeface="Cambria Math" panose="02040503050406030204" pitchFamily="18" charset="0"/>
                              </a:rPr>
                              <m:t>𝜎</m:t>
                            </m:r>
                          </m:e>
                          <m:sub>
                            <m:r>
                              <a:rPr lang="en-US" altLang="zh-CN" sz="2000" b="0" i="1" smtClean="0">
                                <a:latin typeface="Cambria Math" panose="02040503050406030204" pitchFamily="18" charset="0"/>
                              </a:rPr>
                              <m:t>𝑗</m:t>
                            </m:r>
                          </m:sub>
                        </m:sSub>
                        <m:r>
                          <a:rPr lang="en-US" altLang="zh-CN" sz="2000" i="1">
                            <a:latin typeface="Cambria Math" panose="02040503050406030204" pitchFamily="18" charset="0"/>
                          </a:rPr>
                          <m:t>|</m:t>
                        </m:r>
                      </m:num>
                      <m:den>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𝑘</m:t>
                            </m:r>
                            <m:r>
                              <a:rPr lang="en-US" altLang="zh-CN" sz="2000" i="1">
                                <a:latin typeface="Cambria Math" panose="02040503050406030204" pitchFamily="18" charset="0"/>
                              </a:rPr>
                              <m:t>,</m:t>
                            </m:r>
                            <m:r>
                              <a:rPr lang="en-US" altLang="zh-CN" sz="2000" b="0" i="1" smtClean="0">
                                <a:latin typeface="Cambria Math" panose="02040503050406030204" pitchFamily="18" charset="0"/>
                              </a:rPr>
                              <m:t>𝑗</m:t>
                            </m:r>
                          </m:sub>
                        </m:sSub>
                        <m:r>
                          <a:rPr lang="en-US" altLang="zh-CN" sz="2000" i="1">
                            <a:latin typeface="Cambria Math" panose="02040503050406030204" pitchFamily="18" charset="0"/>
                          </a:rPr>
                          <m:t>|</m:t>
                        </m:r>
                      </m:den>
                    </m:f>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𝑄</m:t>
                        </m:r>
                      </m:e>
                      <m:sub>
                        <m:r>
                          <a:rPr lang="en-US" altLang="zh-CN" sz="2000" i="1">
                            <a:latin typeface="Cambria Math" panose="02040503050406030204" pitchFamily="18" charset="0"/>
                          </a:rPr>
                          <m:t>𝑘</m:t>
                        </m:r>
                        <m:r>
                          <a:rPr lang="en-US" altLang="zh-CN" sz="2000" i="1">
                            <a:latin typeface="Cambria Math" panose="02040503050406030204" pitchFamily="18" charset="0"/>
                          </a:rPr>
                          <m:t>,</m:t>
                        </m:r>
                        <m:r>
                          <a:rPr lang="en-US" altLang="zh-CN" sz="2000" b="0" i="1" smtClean="0">
                            <a:latin typeface="Cambria Math" panose="02040503050406030204" pitchFamily="18" charset="0"/>
                          </a:rPr>
                          <m:t>𝑗</m:t>
                        </m:r>
                      </m:sub>
                    </m:sSub>
                    <m:r>
                      <a:rPr lang="en-US" altLang="zh-CN" sz="2000" i="1">
                        <a:latin typeface="Cambria Math" panose="02040503050406030204" pitchFamily="18" charset="0"/>
                      </a:rPr>
                      <m:t>&lt;0</m:t>
                    </m:r>
                  </m:oMath>
                </a14:m>
                <a:r>
                  <a:rPr kumimoji="1" lang="en-US" altLang="zh-CN" sz="2000" dirty="0">
                    <a:latin typeface="Times New Roman" panose="02020603050405020304" pitchFamily="18" charset="0"/>
                  </a:rPr>
                  <a:t>}</a:t>
                </a:r>
                <a:r>
                  <a:rPr kumimoji="1" lang="zh-CN" altLang="en-US" sz="2000" dirty="0">
                    <a:latin typeface="Times New Roman" panose="02020603050405020304" pitchFamily="18" charset="0"/>
                  </a:rPr>
                  <a:t>。这样确定</a:t>
                </a:r>
                <a:r>
                  <a:rPr kumimoji="1" lang="en-US" altLang="zh-CN" sz="2000" dirty="0" err="1">
                    <a:latin typeface="Times New Roman" panose="02020603050405020304" pitchFamily="18" charset="0"/>
                  </a:rPr>
                  <a:t>a</a:t>
                </a:r>
                <a:r>
                  <a:rPr kumimoji="1" lang="en-US" altLang="zh-CN" sz="2000" i="1" baseline="-25000" dirty="0" err="1">
                    <a:latin typeface="Times New Roman" panose="02020603050405020304" pitchFamily="18" charset="0"/>
                  </a:rPr>
                  <a:t>kl</a:t>
                </a:r>
                <a:r>
                  <a:rPr kumimoji="1" lang="zh-CN" altLang="en-US" sz="2000" dirty="0">
                    <a:latin typeface="Times New Roman" panose="02020603050405020304" pitchFamily="18" charset="0"/>
                  </a:rPr>
                  <a:t>，才能确保下一表中对偶问题解仍为可行解</a:t>
                </a:r>
              </a:p>
              <a:p>
                <a:pPr marL="533400" indent="-533400" eaLnBrk="1" hangingPunct="1">
                  <a:buFont typeface="Wingdings" panose="05000000000000000000" pitchFamily="2" charset="2"/>
                  <a:buAutoNum type="arabicPeriod"/>
                </a:pPr>
                <a:r>
                  <a:rPr kumimoji="1" lang="zh-CN" altLang="en-US" sz="2400" dirty="0">
                    <a:latin typeface="Times New Roman" panose="02020603050405020304" pitchFamily="18" charset="0"/>
                  </a:rPr>
                  <a:t>以</a:t>
                </a:r>
                <a:r>
                  <a:rPr kumimoji="1" lang="en-US" altLang="zh-CN" sz="2400" dirty="0" err="1">
                    <a:latin typeface="Times New Roman" panose="02020603050405020304" pitchFamily="18" charset="0"/>
                  </a:rPr>
                  <a:t>a</a:t>
                </a:r>
                <a:r>
                  <a:rPr kumimoji="1" lang="en-US" altLang="zh-CN" sz="2400" i="1" baseline="-25000" dirty="0" err="1">
                    <a:latin typeface="Times New Roman" panose="02020603050405020304" pitchFamily="18" charset="0"/>
                  </a:rPr>
                  <a:t>kl</a:t>
                </a:r>
                <a:r>
                  <a:rPr kumimoji="1" lang="zh-CN" altLang="en-US" sz="2400" dirty="0">
                    <a:latin typeface="Times New Roman" panose="02020603050405020304" pitchFamily="18" charset="0"/>
                  </a:rPr>
                  <a:t>为主元素，按原单纯形法进行迭代运算，得到新的单纯形表</a:t>
                </a:r>
              </a:p>
              <a:p>
                <a:pPr marL="533400" indent="-533400" eaLnBrk="1" hangingPunct="1">
                  <a:buFont typeface="Wingdings" panose="05000000000000000000" pitchFamily="2" charset="2"/>
                  <a:buAutoNum type="arabicPeriod"/>
                </a:pPr>
                <a:r>
                  <a:rPr kumimoji="1" lang="zh-CN" altLang="en-US" sz="2400" dirty="0">
                    <a:latin typeface="Times New Roman" panose="02020603050405020304" pitchFamily="18" charset="0"/>
                  </a:rPr>
                  <a:t>重复步骤 </a:t>
                </a:r>
                <a:r>
                  <a:rPr kumimoji="1" lang="en-US" altLang="zh-CN" sz="2400" dirty="0">
                    <a:latin typeface="Times New Roman" panose="02020603050405020304" pitchFamily="18" charset="0"/>
                  </a:rPr>
                  <a:t>1-4</a:t>
                </a:r>
              </a:p>
            </p:txBody>
          </p:sp>
        </mc:Choice>
        <mc:Fallback xmlns="">
          <p:sp>
            <p:nvSpPr>
              <p:cNvPr id="125955" name="Rectangle 3">
                <a:extLst>
                  <a:ext uri="{FF2B5EF4-FFF2-40B4-BE49-F238E27FC236}">
                    <a16:creationId xmlns:a16="http://schemas.microsoft.com/office/drawing/2014/main" id="{A20C3EA5-F13A-4C44-9BF7-746F1B3DA4A6}"/>
                  </a:ext>
                </a:extLst>
              </p:cNvPr>
              <p:cNvSpPr>
                <a:spLocks noGrp="1" noRot="1" noChangeAspect="1" noMove="1" noResize="1" noEditPoints="1" noAdjustHandles="1" noChangeArrowheads="1" noChangeShapeType="1" noTextEdit="1"/>
              </p:cNvSpPr>
              <p:nvPr>
                <p:ph type="body" idx="1"/>
              </p:nvPr>
            </p:nvSpPr>
            <p:spPr>
              <a:xfrm>
                <a:off x="457200" y="1143000"/>
                <a:ext cx="8229600" cy="4953000"/>
              </a:xfrm>
              <a:blipFill>
                <a:blip r:embed="rId2"/>
                <a:stretch>
                  <a:fillRect l="-222" t="-1355" r="-74" b="-849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blinds(horizontal)">
                                      <p:cBhvr>
                                        <p:cTn id="7" dur="500"/>
                                        <p:tgtEl>
                                          <p:spTgt spid="1259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5955">
                                            <p:txEl>
                                              <p:pRg st="1" end="1"/>
                                            </p:txEl>
                                          </p:spTgt>
                                        </p:tgtEl>
                                        <p:attrNameLst>
                                          <p:attrName>style.visibility</p:attrName>
                                        </p:attrNameLst>
                                      </p:cBhvr>
                                      <p:to>
                                        <p:strVal val="visible"/>
                                      </p:to>
                                    </p:set>
                                    <p:animEffect transition="in" filter="blinds(horizontal)">
                                      <p:cBhvr>
                                        <p:cTn id="12" dur="500"/>
                                        <p:tgtEl>
                                          <p:spTgt spid="1259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5955">
                                            <p:txEl>
                                              <p:pRg st="2" end="2"/>
                                            </p:txEl>
                                          </p:spTgt>
                                        </p:tgtEl>
                                        <p:attrNameLst>
                                          <p:attrName>style.visibility</p:attrName>
                                        </p:attrNameLst>
                                      </p:cBhvr>
                                      <p:to>
                                        <p:strVal val="visible"/>
                                      </p:to>
                                    </p:set>
                                    <p:animEffect transition="in" filter="blinds(horizontal)">
                                      <p:cBhvr>
                                        <p:cTn id="17" dur="500"/>
                                        <p:tgtEl>
                                          <p:spTgt spid="1259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5955">
                                            <p:txEl>
                                              <p:pRg st="3" end="3"/>
                                            </p:txEl>
                                          </p:spTgt>
                                        </p:tgtEl>
                                        <p:attrNameLst>
                                          <p:attrName>style.visibility</p:attrName>
                                        </p:attrNameLst>
                                      </p:cBhvr>
                                      <p:to>
                                        <p:strVal val="visible"/>
                                      </p:to>
                                    </p:set>
                                    <p:animEffect transition="in" filter="blinds(horizontal)">
                                      <p:cBhvr>
                                        <p:cTn id="22" dur="500"/>
                                        <p:tgtEl>
                                          <p:spTgt spid="1259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5955">
                                            <p:txEl>
                                              <p:pRg st="4" end="4"/>
                                            </p:txEl>
                                          </p:spTgt>
                                        </p:tgtEl>
                                        <p:attrNameLst>
                                          <p:attrName>style.visibility</p:attrName>
                                        </p:attrNameLst>
                                      </p:cBhvr>
                                      <p:to>
                                        <p:strVal val="visible"/>
                                      </p:to>
                                    </p:set>
                                    <p:animEffect transition="in" filter="blinds(horizontal)">
                                      <p:cBhvr>
                                        <p:cTn id="27" dur="500"/>
                                        <p:tgtEl>
                                          <p:spTgt spid="1259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5955">
                                            <p:txEl>
                                              <p:pRg st="5" end="5"/>
                                            </p:txEl>
                                          </p:spTgt>
                                        </p:tgtEl>
                                        <p:attrNameLst>
                                          <p:attrName>style.visibility</p:attrName>
                                        </p:attrNameLst>
                                      </p:cBhvr>
                                      <p:to>
                                        <p:strVal val="visible"/>
                                      </p:to>
                                    </p:set>
                                    <p:animEffect transition="in" filter="blinds(horizontal)">
                                      <p:cBhvr>
                                        <p:cTn id="32" dur="500"/>
                                        <p:tgtEl>
                                          <p:spTgt spid="1259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5955">
                                            <p:txEl>
                                              <p:pRg st="6" end="6"/>
                                            </p:txEl>
                                          </p:spTgt>
                                        </p:tgtEl>
                                        <p:attrNameLst>
                                          <p:attrName>style.visibility</p:attrName>
                                        </p:attrNameLst>
                                      </p:cBhvr>
                                      <p:to>
                                        <p:strVal val="visible"/>
                                      </p:to>
                                    </p:set>
                                    <p:animEffect transition="in" filter="blinds(horizontal)">
                                      <p:cBhvr>
                                        <p:cTn id="37" dur="500"/>
                                        <p:tgtEl>
                                          <p:spTgt spid="12595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5955">
                                            <p:txEl>
                                              <p:pRg st="7" end="7"/>
                                            </p:txEl>
                                          </p:spTgt>
                                        </p:tgtEl>
                                        <p:attrNameLst>
                                          <p:attrName>style.visibility</p:attrName>
                                        </p:attrNameLst>
                                      </p:cBhvr>
                                      <p:to>
                                        <p:strVal val="visible"/>
                                      </p:to>
                                    </p:set>
                                    <p:animEffect transition="in" filter="blinds(horizontal)">
                                      <p:cBhvr>
                                        <p:cTn id="42" dur="500"/>
                                        <p:tgtEl>
                                          <p:spTgt spid="12595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5955">
                                            <p:txEl>
                                              <p:pRg st="8" end="8"/>
                                            </p:txEl>
                                          </p:spTgt>
                                        </p:tgtEl>
                                        <p:attrNameLst>
                                          <p:attrName>style.visibility</p:attrName>
                                        </p:attrNameLst>
                                      </p:cBhvr>
                                      <p:to>
                                        <p:strVal val="visible"/>
                                      </p:to>
                                    </p:set>
                                    <p:animEffect transition="in" filter="blinds(horizontal)">
                                      <p:cBhvr>
                                        <p:cTn id="47" dur="500"/>
                                        <p:tgtEl>
                                          <p:spTgt spid="1259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bldLvl="2"/>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descr="Large confetti">
            <a:extLst>
              <a:ext uri="{FF2B5EF4-FFF2-40B4-BE49-F238E27FC236}">
                <a16:creationId xmlns:a16="http://schemas.microsoft.com/office/drawing/2014/main" id="{27B61965-B5DC-44D9-903F-BF7B023A2951}"/>
              </a:ext>
            </a:extLst>
          </p:cNvPr>
          <p:cNvSpPr>
            <a:spLocks noGrp="1" noChangeArrowheads="1"/>
          </p:cNvSpPr>
          <p:nvPr>
            <p:ph type="title"/>
          </p:nvPr>
        </p:nvSpPr>
        <p:spPr/>
        <p:txBody>
          <a:bodyPr/>
          <a:lstStyle/>
          <a:p>
            <a:r>
              <a:rPr lang="zh-CN" altLang="en-US"/>
              <a:t>对偶单纯形法</a:t>
            </a:r>
          </a:p>
        </p:txBody>
      </p:sp>
      <p:sp>
        <p:nvSpPr>
          <p:cNvPr id="81923" name="Rectangle 19">
            <a:extLst>
              <a:ext uri="{FF2B5EF4-FFF2-40B4-BE49-F238E27FC236}">
                <a16:creationId xmlns:a16="http://schemas.microsoft.com/office/drawing/2014/main" id="{5CEE23FE-D159-4BD1-9627-05D508661063}"/>
              </a:ext>
            </a:extLst>
          </p:cNvPr>
          <p:cNvSpPr>
            <a:spLocks noChangeArrowheads="1"/>
          </p:cNvSpPr>
          <p:nvPr/>
        </p:nvSpPr>
        <p:spPr bwMode="auto">
          <a:xfrm>
            <a:off x="1684338" y="1381125"/>
            <a:ext cx="4800600" cy="609600"/>
          </a:xfrm>
          <a:prstGeom prst="rect">
            <a:avLst/>
          </a:prstGeom>
          <a:solidFill>
            <a:srgbClr val="CC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zh-CN" altLang="en-US" sz="2400"/>
              <a:t>找出一个对偶问题的可行基</a:t>
            </a:r>
          </a:p>
        </p:txBody>
      </p:sp>
      <p:sp>
        <p:nvSpPr>
          <p:cNvPr id="81924" name="AutoShape 20">
            <a:extLst>
              <a:ext uri="{FF2B5EF4-FFF2-40B4-BE49-F238E27FC236}">
                <a16:creationId xmlns:a16="http://schemas.microsoft.com/office/drawing/2014/main" id="{F0C9601D-D3FB-4EBE-A78E-B9C7B030C40F}"/>
              </a:ext>
            </a:extLst>
          </p:cNvPr>
          <p:cNvSpPr>
            <a:spLocks noChangeArrowheads="1"/>
          </p:cNvSpPr>
          <p:nvPr/>
        </p:nvSpPr>
        <p:spPr bwMode="auto">
          <a:xfrm>
            <a:off x="2370138" y="2828925"/>
            <a:ext cx="3505200" cy="1295400"/>
          </a:xfrm>
          <a:prstGeom prst="diamond">
            <a:avLst/>
          </a:prstGeom>
          <a:solidFill>
            <a:srgbClr val="CC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a:t>原问题是否可行</a:t>
            </a:r>
          </a:p>
          <a:p>
            <a:r>
              <a:rPr kumimoji="1" lang="zh-CN" altLang="en-US" sz="2400"/>
              <a:t>（</a:t>
            </a:r>
            <a:r>
              <a:rPr kumimoji="1" lang="en-US" altLang="zh-CN" sz="2400"/>
              <a:t>X</a:t>
            </a:r>
            <a:r>
              <a:rPr kumimoji="1" lang="en-US" altLang="zh-CN" sz="2400" baseline="-25000"/>
              <a:t>B </a:t>
            </a:r>
            <a:r>
              <a:rPr kumimoji="1" lang="en-US" altLang="zh-CN" sz="2400"/>
              <a:t>≥0</a:t>
            </a:r>
            <a:r>
              <a:rPr kumimoji="1" lang="zh-CN" altLang="en-US" sz="2400"/>
              <a:t>）</a:t>
            </a:r>
          </a:p>
        </p:txBody>
      </p:sp>
      <p:sp>
        <p:nvSpPr>
          <p:cNvPr id="81925" name="Rectangle 21">
            <a:extLst>
              <a:ext uri="{FF2B5EF4-FFF2-40B4-BE49-F238E27FC236}">
                <a16:creationId xmlns:a16="http://schemas.microsoft.com/office/drawing/2014/main" id="{AA9282E9-E5D2-447D-8E92-8B6FE1DCC133}"/>
              </a:ext>
            </a:extLst>
          </p:cNvPr>
          <p:cNvSpPr>
            <a:spLocks noChangeArrowheads="1"/>
          </p:cNvSpPr>
          <p:nvPr/>
        </p:nvSpPr>
        <p:spPr bwMode="auto">
          <a:xfrm>
            <a:off x="1836738" y="4962525"/>
            <a:ext cx="4724400" cy="914400"/>
          </a:xfrm>
          <a:prstGeom prst="rect">
            <a:avLst/>
          </a:prstGeom>
          <a:solidFill>
            <a:srgbClr val="CC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a:t>保持对偶问题为可行解情况下转移到原问题的另一个基解</a:t>
            </a:r>
          </a:p>
        </p:txBody>
      </p:sp>
      <p:sp>
        <p:nvSpPr>
          <p:cNvPr id="81926" name="Rectangle 22">
            <a:extLst>
              <a:ext uri="{FF2B5EF4-FFF2-40B4-BE49-F238E27FC236}">
                <a16:creationId xmlns:a16="http://schemas.microsoft.com/office/drawing/2014/main" id="{AE09530C-9B30-4A49-98C5-A88869D969E1}"/>
              </a:ext>
            </a:extLst>
          </p:cNvPr>
          <p:cNvSpPr>
            <a:spLocks noChangeArrowheads="1"/>
          </p:cNvSpPr>
          <p:nvPr/>
        </p:nvSpPr>
        <p:spPr bwMode="auto">
          <a:xfrm>
            <a:off x="7067550" y="3200400"/>
            <a:ext cx="1066800" cy="533400"/>
          </a:xfrm>
          <a:prstGeom prst="rect">
            <a:avLst/>
          </a:prstGeom>
          <a:solidFill>
            <a:srgbClr val="CC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a:t>最优解</a:t>
            </a:r>
          </a:p>
        </p:txBody>
      </p:sp>
      <p:sp>
        <p:nvSpPr>
          <p:cNvPr id="81927" name="Line 23">
            <a:extLst>
              <a:ext uri="{FF2B5EF4-FFF2-40B4-BE49-F238E27FC236}">
                <a16:creationId xmlns:a16="http://schemas.microsoft.com/office/drawing/2014/main" id="{AAF51449-4BB5-43FD-B056-1BC56357B43E}"/>
              </a:ext>
            </a:extLst>
          </p:cNvPr>
          <p:cNvSpPr>
            <a:spLocks noChangeShapeType="1"/>
          </p:cNvSpPr>
          <p:nvPr/>
        </p:nvSpPr>
        <p:spPr bwMode="auto">
          <a:xfrm>
            <a:off x="4122738" y="1990725"/>
            <a:ext cx="0" cy="8382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8" name="Line 24">
            <a:extLst>
              <a:ext uri="{FF2B5EF4-FFF2-40B4-BE49-F238E27FC236}">
                <a16:creationId xmlns:a16="http://schemas.microsoft.com/office/drawing/2014/main" id="{508A085D-C8B6-4E62-9D4B-8B314913CE82}"/>
              </a:ext>
            </a:extLst>
          </p:cNvPr>
          <p:cNvSpPr>
            <a:spLocks noChangeShapeType="1"/>
          </p:cNvSpPr>
          <p:nvPr/>
        </p:nvSpPr>
        <p:spPr bwMode="auto">
          <a:xfrm>
            <a:off x="4108450" y="4121150"/>
            <a:ext cx="0" cy="8382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9" name="Line 25">
            <a:extLst>
              <a:ext uri="{FF2B5EF4-FFF2-40B4-BE49-F238E27FC236}">
                <a16:creationId xmlns:a16="http://schemas.microsoft.com/office/drawing/2014/main" id="{768E2B89-EBF4-43F7-9C4E-81447F086F5A}"/>
              </a:ext>
            </a:extLst>
          </p:cNvPr>
          <p:cNvSpPr>
            <a:spLocks noChangeShapeType="1"/>
          </p:cNvSpPr>
          <p:nvPr/>
        </p:nvSpPr>
        <p:spPr bwMode="auto">
          <a:xfrm>
            <a:off x="5889625" y="3463925"/>
            <a:ext cx="11430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0" name="Line 26">
            <a:extLst>
              <a:ext uri="{FF2B5EF4-FFF2-40B4-BE49-F238E27FC236}">
                <a16:creationId xmlns:a16="http://schemas.microsoft.com/office/drawing/2014/main" id="{DEE2A1E0-10F3-4EA3-B648-B3E6169C854E}"/>
              </a:ext>
            </a:extLst>
          </p:cNvPr>
          <p:cNvSpPr>
            <a:spLocks noChangeShapeType="1"/>
          </p:cNvSpPr>
          <p:nvPr/>
        </p:nvSpPr>
        <p:spPr bwMode="auto">
          <a:xfrm>
            <a:off x="1008063" y="3487738"/>
            <a:ext cx="13716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1" name="Line 27">
            <a:extLst>
              <a:ext uri="{FF2B5EF4-FFF2-40B4-BE49-F238E27FC236}">
                <a16:creationId xmlns:a16="http://schemas.microsoft.com/office/drawing/2014/main" id="{52E75FFC-45DF-4905-891F-B15CF37C2EA3}"/>
              </a:ext>
            </a:extLst>
          </p:cNvPr>
          <p:cNvSpPr>
            <a:spLocks noChangeShapeType="1"/>
          </p:cNvSpPr>
          <p:nvPr/>
        </p:nvSpPr>
        <p:spPr bwMode="auto">
          <a:xfrm flipH="1">
            <a:off x="998538" y="3492500"/>
            <a:ext cx="3175" cy="19780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2" name="Line 28">
            <a:extLst>
              <a:ext uri="{FF2B5EF4-FFF2-40B4-BE49-F238E27FC236}">
                <a16:creationId xmlns:a16="http://schemas.microsoft.com/office/drawing/2014/main" id="{276C51E3-7CEB-4BA2-9739-D402B2AE9727}"/>
              </a:ext>
            </a:extLst>
          </p:cNvPr>
          <p:cNvSpPr>
            <a:spLocks noChangeShapeType="1"/>
          </p:cNvSpPr>
          <p:nvPr/>
        </p:nvSpPr>
        <p:spPr bwMode="auto">
          <a:xfrm>
            <a:off x="971550" y="5495925"/>
            <a:ext cx="8445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3" name="Text Box 29">
            <a:extLst>
              <a:ext uri="{FF2B5EF4-FFF2-40B4-BE49-F238E27FC236}">
                <a16:creationId xmlns:a16="http://schemas.microsoft.com/office/drawing/2014/main" id="{43CF27D9-289C-4F0B-9D78-6B275F622471}"/>
              </a:ext>
            </a:extLst>
          </p:cNvPr>
          <p:cNvSpPr txBox="1">
            <a:spLocks noChangeArrowheads="1"/>
          </p:cNvSpPr>
          <p:nvPr/>
        </p:nvSpPr>
        <p:spPr bwMode="auto">
          <a:xfrm>
            <a:off x="6221413" y="2947988"/>
            <a:ext cx="488950" cy="457200"/>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a:t>是</a:t>
            </a:r>
          </a:p>
        </p:txBody>
      </p:sp>
      <p:sp>
        <p:nvSpPr>
          <p:cNvPr id="81934" name="Text Box 30">
            <a:extLst>
              <a:ext uri="{FF2B5EF4-FFF2-40B4-BE49-F238E27FC236}">
                <a16:creationId xmlns:a16="http://schemas.microsoft.com/office/drawing/2014/main" id="{CEFB406D-2B85-4A47-BB9E-421D9CA2B351}"/>
              </a:ext>
            </a:extLst>
          </p:cNvPr>
          <p:cNvSpPr txBox="1">
            <a:spLocks noChangeArrowheads="1"/>
          </p:cNvSpPr>
          <p:nvPr/>
        </p:nvSpPr>
        <p:spPr bwMode="auto">
          <a:xfrm>
            <a:off x="3589338" y="4219575"/>
            <a:ext cx="488950" cy="457200"/>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a:t>否</a:t>
            </a:r>
          </a:p>
        </p:txBody>
      </p:sp>
      <p:sp>
        <p:nvSpPr>
          <p:cNvPr id="81935" name="Text Box 31">
            <a:extLst>
              <a:ext uri="{FF2B5EF4-FFF2-40B4-BE49-F238E27FC236}">
                <a16:creationId xmlns:a16="http://schemas.microsoft.com/office/drawing/2014/main" id="{47675470-EDE6-4B7E-9D2D-01A69EDC2048}"/>
              </a:ext>
            </a:extLst>
          </p:cNvPr>
          <p:cNvSpPr txBox="1">
            <a:spLocks noChangeArrowheads="1"/>
          </p:cNvSpPr>
          <p:nvPr/>
        </p:nvSpPr>
        <p:spPr bwMode="auto">
          <a:xfrm>
            <a:off x="1039813" y="4006850"/>
            <a:ext cx="488950" cy="822325"/>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a:t>循</a:t>
            </a:r>
          </a:p>
          <a:p>
            <a:r>
              <a:rPr kumimoji="1" lang="zh-CN" altLang="en-US" sz="2400"/>
              <a:t>环</a:t>
            </a:r>
          </a:p>
        </p:txBody>
      </p:sp>
      <p:sp>
        <p:nvSpPr>
          <p:cNvPr id="81936" name="Line 32">
            <a:extLst>
              <a:ext uri="{FF2B5EF4-FFF2-40B4-BE49-F238E27FC236}">
                <a16:creationId xmlns:a16="http://schemas.microsoft.com/office/drawing/2014/main" id="{E3389028-280D-4974-B6C8-C2A729F87878}"/>
              </a:ext>
            </a:extLst>
          </p:cNvPr>
          <p:cNvSpPr>
            <a:spLocks noChangeShapeType="1"/>
          </p:cNvSpPr>
          <p:nvPr/>
        </p:nvSpPr>
        <p:spPr bwMode="auto">
          <a:xfrm>
            <a:off x="7600950" y="3746500"/>
            <a:ext cx="0" cy="4572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37" name="AutoShape 33">
            <a:extLst>
              <a:ext uri="{FF2B5EF4-FFF2-40B4-BE49-F238E27FC236}">
                <a16:creationId xmlns:a16="http://schemas.microsoft.com/office/drawing/2014/main" id="{D4FF2822-A4D8-40D1-9161-66EAD498B2C2}"/>
              </a:ext>
            </a:extLst>
          </p:cNvPr>
          <p:cNvSpPr>
            <a:spLocks noChangeArrowheads="1"/>
          </p:cNvSpPr>
          <p:nvPr/>
        </p:nvSpPr>
        <p:spPr bwMode="auto">
          <a:xfrm>
            <a:off x="7018338" y="4276725"/>
            <a:ext cx="1160462" cy="619125"/>
          </a:xfrm>
          <a:prstGeom prst="flowChartTerminator">
            <a:avLst/>
          </a:prstGeom>
          <a:solidFill>
            <a:srgbClr val="CDCD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a:t>结束</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descr="Large confetti">
            <a:extLst>
              <a:ext uri="{FF2B5EF4-FFF2-40B4-BE49-F238E27FC236}">
                <a16:creationId xmlns:a16="http://schemas.microsoft.com/office/drawing/2014/main" id="{F170A765-510B-4C1D-9046-5AD28BCC1E6F}"/>
              </a:ext>
            </a:extLst>
          </p:cNvPr>
          <p:cNvSpPr>
            <a:spLocks noGrp="1" noChangeArrowheads="1"/>
          </p:cNvSpPr>
          <p:nvPr>
            <p:ph type="title"/>
          </p:nvPr>
        </p:nvSpPr>
        <p:spPr/>
        <p:txBody>
          <a:bodyPr/>
          <a:lstStyle/>
          <a:p>
            <a:pPr eaLnBrk="1" hangingPunct="1"/>
            <a:r>
              <a:rPr lang="zh-CN" altLang="en-US"/>
              <a:t>对偶单纯形法</a:t>
            </a:r>
          </a:p>
        </p:txBody>
      </p:sp>
      <p:sp>
        <p:nvSpPr>
          <p:cNvPr id="57348" name="Text Box 4">
            <a:extLst>
              <a:ext uri="{FF2B5EF4-FFF2-40B4-BE49-F238E27FC236}">
                <a16:creationId xmlns:a16="http://schemas.microsoft.com/office/drawing/2014/main" id="{B2D86643-88EE-4901-8AEE-1D8B7F405DC1}"/>
              </a:ext>
            </a:extLst>
          </p:cNvPr>
          <p:cNvSpPr txBox="1">
            <a:spLocks noChangeArrowheads="1"/>
          </p:cNvSpPr>
          <p:nvPr/>
        </p:nvSpPr>
        <p:spPr bwMode="auto">
          <a:xfrm>
            <a:off x="155575" y="941388"/>
            <a:ext cx="5711825" cy="457200"/>
          </a:xfrm>
          <a:prstGeom prst="rect">
            <a:avLst/>
          </a:prstGeom>
          <a:noFill/>
          <a:ln>
            <a:noFill/>
          </a:ln>
        </p:spPr>
        <p:txBody>
          <a:bodyPr>
            <a:spAutoFit/>
          </a:bodyPr>
          <a:lstStyle>
            <a:lvl1pPr eaLnBrk="0" hangingPunct="0">
              <a:defRPr kumimoji="1" sz="2400" b="1">
                <a:solidFill>
                  <a:schemeClr val="bg2"/>
                </a:solidFill>
                <a:latin typeface="Times New Roman" panose="02020603050405020304" pitchFamily="18" charset="0"/>
                <a:ea typeface="华文细黑" panose="02010600040101010101" pitchFamily="2" charset="-122"/>
              </a:defRPr>
            </a:lvl1pPr>
            <a:lvl2pPr marL="742950" indent="-285750" eaLnBrk="0" hangingPunct="0">
              <a:defRPr kumimoji="1" sz="2400" b="1">
                <a:solidFill>
                  <a:schemeClr val="bg2"/>
                </a:solidFill>
                <a:latin typeface="Times New Roman" panose="02020603050405020304" pitchFamily="18" charset="0"/>
                <a:ea typeface="华文细黑" panose="02010600040101010101" pitchFamily="2" charset="-122"/>
              </a:defRPr>
            </a:lvl2pPr>
            <a:lvl3pPr marL="1143000" indent="-228600" eaLnBrk="0" hangingPunct="0">
              <a:defRPr kumimoji="1" sz="2400" b="1">
                <a:solidFill>
                  <a:schemeClr val="bg2"/>
                </a:solidFill>
                <a:latin typeface="Times New Roman" panose="02020603050405020304" pitchFamily="18" charset="0"/>
                <a:ea typeface="华文细黑" panose="02010600040101010101" pitchFamily="2" charset="-122"/>
              </a:defRPr>
            </a:lvl3pPr>
            <a:lvl4pPr marL="1600200" indent="-228600" eaLnBrk="0" hangingPunct="0">
              <a:defRPr kumimoji="1" sz="2400" b="1">
                <a:solidFill>
                  <a:schemeClr val="bg2"/>
                </a:solidFill>
                <a:latin typeface="Times New Roman" panose="02020603050405020304" pitchFamily="18" charset="0"/>
                <a:ea typeface="华文细黑" panose="02010600040101010101" pitchFamily="2" charset="-122"/>
              </a:defRPr>
            </a:lvl4pPr>
            <a:lvl5pPr marL="2057400" indent="-228600" eaLnBrk="0" hangingPunct="0">
              <a:defRPr kumimoji="1" sz="2400" b="1">
                <a:solidFill>
                  <a:schemeClr val="bg2"/>
                </a:solidFill>
                <a:latin typeface="Times New Roman" panose="02020603050405020304" pitchFamily="18" charset="0"/>
                <a:ea typeface="华文细黑" panose="02010600040101010101" pitchFamily="2" charset="-122"/>
              </a:defRPr>
            </a:lvl5pPr>
            <a:lvl6pPr marL="2514600" indent="-228600"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6pPr>
            <a:lvl7pPr marL="2971800" indent="-228600"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7pPr>
            <a:lvl8pPr marL="3429000" indent="-228600"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8pPr>
            <a:lvl9pPr marL="3886200" indent="-228600"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9pPr>
          </a:lstStyle>
          <a:p>
            <a:pPr eaLnBrk="1" hangingPunct="1">
              <a:defRPr/>
            </a:pPr>
            <a:r>
              <a:rPr lang="zh-CN" altLang="en-US" dirty="0">
                <a:solidFill>
                  <a:schemeClr val="tx1"/>
                </a:solidFill>
                <a:latin typeface="+mn-ea"/>
                <a:ea typeface="+mn-ea"/>
              </a:rPr>
              <a:t>例</a:t>
            </a:r>
            <a:r>
              <a:rPr lang="en-US" altLang="zh-CN" dirty="0">
                <a:solidFill>
                  <a:schemeClr val="tx1"/>
                </a:solidFill>
                <a:latin typeface="+mn-ea"/>
                <a:ea typeface="+mn-ea"/>
              </a:rPr>
              <a:t>6 </a:t>
            </a:r>
            <a:r>
              <a:rPr lang="zh-CN" altLang="en-US" dirty="0">
                <a:solidFill>
                  <a:schemeClr val="tx1"/>
                </a:solidFill>
                <a:latin typeface="+mn-ea"/>
                <a:ea typeface="+mn-ea"/>
              </a:rPr>
              <a:t>用对偶单纯形法求解：</a:t>
            </a:r>
          </a:p>
        </p:txBody>
      </p:sp>
      <p:sp>
        <p:nvSpPr>
          <p:cNvPr id="57349" name="Text Box 6">
            <a:extLst>
              <a:ext uri="{FF2B5EF4-FFF2-40B4-BE49-F238E27FC236}">
                <a16:creationId xmlns:a16="http://schemas.microsoft.com/office/drawing/2014/main" id="{DF0DE17B-48DE-4727-9C13-88FC30FF959B}"/>
              </a:ext>
            </a:extLst>
          </p:cNvPr>
          <p:cNvSpPr txBox="1">
            <a:spLocks noChangeArrowheads="1"/>
          </p:cNvSpPr>
          <p:nvPr/>
        </p:nvSpPr>
        <p:spPr bwMode="auto">
          <a:xfrm>
            <a:off x="304800" y="3829050"/>
            <a:ext cx="8458200" cy="1200150"/>
          </a:xfrm>
          <a:prstGeom prst="rect">
            <a:avLst/>
          </a:prstGeom>
          <a:noFill/>
          <a:ln>
            <a:noFill/>
          </a:ln>
        </p:spPr>
        <p:txBody>
          <a:bodyPr>
            <a:spAutoFit/>
          </a:bodyPr>
          <a:lstStyle>
            <a:lvl1pPr defTabSz="661988" eaLnBrk="0" hangingPunct="0">
              <a:defRPr kumimoji="1" sz="2400" b="1">
                <a:solidFill>
                  <a:schemeClr val="bg2"/>
                </a:solidFill>
                <a:latin typeface="Times New Roman" panose="02020603050405020304" pitchFamily="18" charset="0"/>
                <a:ea typeface="华文细黑" panose="02010600040101010101" pitchFamily="2" charset="-122"/>
              </a:defRPr>
            </a:lvl1pPr>
            <a:lvl2pPr marL="742950" indent="-285750" defTabSz="661988" eaLnBrk="0" hangingPunct="0">
              <a:defRPr kumimoji="1" sz="2400" b="1">
                <a:solidFill>
                  <a:schemeClr val="bg2"/>
                </a:solidFill>
                <a:latin typeface="Times New Roman" panose="02020603050405020304" pitchFamily="18" charset="0"/>
                <a:ea typeface="华文细黑" panose="02010600040101010101" pitchFamily="2" charset="-122"/>
              </a:defRPr>
            </a:lvl2pPr>
            <a:lvl3pPr marL="1143000" indent="-228600" defTabSz="661988" eaLnBrk="0" hangingPunct="0">
              <a:defRPr kumimoji="1" sz="2400" b="1">
                <a:solidFill>
                  <a:schemeClr val="bg2"/>
                </a:solidFill>
                <a:latin typeface="Times New Roman" panose="02020603050405020304" pitchFamily="18" charset="0"/>
                <a:ea typeface="华文细黑" panose="02010600040101010101" pitchFamily="2" charset="-122"/>
              </a:defRPr>
            </a:lvl3pPr>
            <a:lvl4pPr marL="1600200" indent="-228600" defTabSz="661988" eaLnBrk="0" hangingPunct="0">
              <a:defRPr kumimoji="1" sz="2400" b="1">
                <a:solidFill>
                  <a:schemeClr val="bg2"/>
                </a:solidFill>
                <a:latin typeface="Times New Roman" panose="02020603050405020304" pitchFamily="18" charset="0"/>
                <a:ea typeface="华文细黑" panose="02010600040101010101" pitchFamily="2" charset="-122"/>
              </a:defRPr>
            </a:lvl4pPr>
            <a:lvl5pPr marL="2057400" indent="-228600" defTabSz="661988" eaLnBrk="0" hangingPunct="0">
              <a:defRPr kumimoji="1" sz="2400" b="1">
                <a:solidFill>
                  <a:schemeClr val="bg2"/>
                </a:solidFill>
                <a:latin typeface="Times New Roman" panose="02020603050405020304" pitchFamily="18" charset="0"/>
                <a:ea typeface="华文细黑" panose="02010600040101010101" pitchFamily="2" charset="-122"/>
              </a:defRPr>
            </a:lvl5pPr>
            <a:lvl6pPr marL="2514600" indent="-228600" defTabSz="661988"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6pPr>
            <a:lvl7pPr marL="2971800" indent="-228600" defTabSz="661988"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7pPr>
            <a:lvl8pPr marL="3429000" indent="-228600" defTabSz="661988"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8pPr>
            <a:lvl9pPr marL="3886200" indent="-228600" defTabSz="661988"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9pPr>
          </a:lstStyle>
          <a:p>
            <a:pPr eaLnBrk="1" hangingPunct="1">
              <a:spcBef>
                <a:spcPct val="15000"/>
              </a:spcBef>
              <a:defRPr/>
            </a:pPr>
            <a:r>
              <a:rPr lang="zh-CN" altLang="en-US" dirty="0">
                <a:solidFill>
                  <a:schemeClr val="tx1"/>
                </a:solidFill>
                <a:latin typeface="+mn-ea"/>
                <a:ea typeface="+mn-ea"/>
              </a:rPr>
              <a:t>解</a:t>
            </a:r>
            <a:r>
              <a:rPr lang="en-US" altLang="zh-CN" dirty="0">
                <a:solidFill>
                  <a:schemeClr val="tx1"/>
                </a:solidFill>
                <a:latin typeface="+mn-ea"/>
                <a:ea typeface="+mn-ea"/>
              </a:rPr>
              <a:t>:</a:t>
            </a:r>
            <a:r>
              <a:rPr lang="zh-CN" altLang="en-US" dirty="0">
                <a:solidFill>
                  <a:schemeClr val="tx1"/>
                </a:solidFill>
                <a:latin typeface="+mn-ea"/>
                <a:ea typeface="+mn-ea"/>
                <a:sym typeface="Wingdings" panose="05000000000000000000" pitchFamily="2" charset="2"/>
              </a:rPr>
              <a:t>（</a:t>
            </a:r>
            <a:r>
              <a:rPr lang="en-US" altLang="zh-CN" dirty="0">
                <a:solidFill>
                  <a:schemeClr val="tx1"/>
                </a:solidFill>
                <a:latin typeface="+mn-ea"/>
                <a:ea typeface="+mn-ea"/>
                <a:sym typeface="Wingdings" panose="05000000000000000000" pitchFamily="2" charset="2"/>
              </a:rPr>
              <a:t>1</a:t>
            </a:r>
            <a:r>
              <a:rPr lang="zh-CN" altLang="en-US" dirty="0">
                <a:solidFill>
                  <a:schemeClr val="tx1"/>
                </a:solidFill>
                <a:latin typeface="+mn-ea"/>
                <a:ea typeface="+mn-ea"/>
                <a:sym typeface="Wingdings" panose="05000000000000000000" pitchFamily="2" charset="2"/>
              </a:rPr>
              <a:t>）</a:t>
            </a:r>
            <a:r>
              <a:rPr lang="zh-CN" altLang="en-US" dirty="0">
                <a:solidFill>
                  <a:schemeClr val="tx1"/>
                </a:solidFill>
                <a:latin typeface="+mn-ea"/>
                <a:ea typeface="+mn-ea"/>
              </a:rPr>
              <a:t>将模型转化为求最大化问题，约束方程化为等式求出一组基解。因为对偶问题可行，所以原问题全部检验数≤</a:t>
            </a:r>
            <a:r>
              <a:rPr lang="en-US" altLang="zh-CN" dirty="0">
                <a:solidFill>
                  <a:schemeClr val="tx1"/>
                </a:solidFill>
                <a:latin typeface="+mn-ea"/>
                <a:ea typeface="+mn-ea"/>
              </a:rPr>
              <a:t>0</a:t>
            </a:r>
            <a:r>
              <a:rPr lang="zh-CN" altLang="en-US" dirty="0">
                <a:solidFill>
                  <a:schemeClr val="tx1"/>
                </a:solidFill>
                <a:latin typeface="+mn-ea"/>
                <a:ea typeface="+mn-ea"/>
              </a:rPr>
              <a:t>（求</a:t>
            </a:r>
            <a:r>
              <a:rPr lang="en-US" altLang="zh-CN" dirty="0">
                <a:solidFill>
                  <a:schemeClr val="tx1"/>
                </a:solidFill>
                <a:latin typeface="+mn-ea"/>
                <a:ea typeface="+mn-ea"/>
              </a:rPr>
              <a:t>max</a:t>
            </a:r>
            <a:r>
              <a:rPr lang="zh-CN" altLang="en-US" dirty="0">
                <a:solidFill>
                  <a:schemeClr val="tx1"/>
                </a:solidFill>
                <a:latin typeface="+mn-ea"/>
                <a:ea typeface="+mn-ea"/>
              </a:rPr>
              <a:t>问题）。</a:t>
            </a:r>
          </a:p>
        </p:txBody>
      </p:sp>
      <mc:AlternateContent xmlns:mc="http://schemas.openxmlformats.org/markup-compatibility/2006" xmlns:a14="http://schemas.microsoft.com/office/drawing/2010/main">
        <mc:Choice Requires="a14">
          <p:sp>
            <p:nvSpPr>
              <p:cNvPr id="82949" name="对象 5">
                <a:extLst>
                  <a:ext uri="{FF2B5EF4-FFF2-40B4-BE49-F238E27FC236}">
                    <a16:creationId xmlns:a16="http://schemas.microsoft.com/office/drawing/2014/main" id="{BFCFDB38-3237-4FD2-9F24-613AE378A511}"/>
                  </a:ext>
                </a:extLst>
              </p:cNvPr>
              <p:cNvSpPr txBox="1"/>
              <p:nvPr/>
            </p:nvSpPr>
            <p:spPr bwMode="auto">
              <a:xfrm>
                <a:off x="457200" y="1492250"/>
                <a:ext cx="4038600" cy="221297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min</m:t>
                          </m:r>
                        </m:fName>
                        <m:e>
                          <m:r>
                            <a:rPr lang="zh-CN" altLang="en-US" sz="2400" i="1">
                              <a:solidFill>
                                <a:srgbClr val="000000"/>
                              </a:solidFill>
                              <a:latin typeface="Cambria Math" panose="02040503050406030204" pitchFamily="18" charset="0"/>
                            </a:rPr>
                            <m:t> </m:t>
                          </m:r>
                        </m:e>
                      </m:func>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𝜔</m:t>
                      </m:r>
                      <m:r>
                        <a:rPr lang="zh-CN" altLang="en-US" sz="2400" i="1">
                          <a:solidFill>
                            <a:srgbClr val="000000"/>
                          </a:solidFill>
                          <a:latin typeface="Cambria Math" panose="02040503050406030204" pitchFamily="18" charset="0"/>
                        </a:rPr>
                        <m:t>=2</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+3</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+4</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3</m:t>
                          </m:r>
                        </m:sub>
                      </m:sSub>
                    </m:oMath>
                    <m:oMath xmlns:m="http://schemas.openxmlformats.org/officeDocument/2006/math">
                      <m:d>
                        <m:dPr>
                          <m:begChr m:val="{"/>
                          <m:endChr m:val=""/>
                          <m:ctrlPr>
                            <a:rPr lang="zh-CN" altLang="en-US" sz="2400" i="1">
                              <a:solidFill>
                                <a:srgbClr val="000000"/>
                              </a:solidFill>
                              <a:latin typeface="Cambria Math" panose="02040503050406030204" pitchFamily="18" charset="0"/>
                            </a:rPr>
                          </m:ctrlPr>
                        </m:dPr>
                        <m:e>
                          <m:eqArr>
                            <m:eqArrPr>
                              <m:ctrlPr>
                                <a:rPr lang="zh-CN" altLang="en-US" sz="2400" i="1">
                                  <a:solidFill>
                                    <a:srgbClr val="000000"/>
                                  </a:solidFill>
                                  <a:latin typeface="Cambria Math" panose="02040503050406030204" pitchFamily="18" charset="0"/>
                                </a:rPr>
                              </m:ctrlPr>
                            </m:eqArrP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+2</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≥3</m:t>
                              </m:r>
                            </m:e>
                            <m:e>
                              <m:r>
                                <a:rPr lang="zh-CN" altLang="en-US" sz="2400" i="1">
                                  <a:solidFill>
                                    <a:srgbClr val="000000"/>
                                  </a:solidFill>
                                  <a:latin typeface="Cambria Math" panose="02040503050406030204" pitchFamily="18" charset="0"/>
                                </a:rPr>
                                <m:t>2</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+3</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≥4</m:t>
                              </m:r>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𝑥</m:t>
                                  </m:r>
                                </m:e>
                                <m:sub>
                                  <m:r>
                                    <a:rPr lang="zh-CN" altLang="en-US" sz="2400" i="1">
                                      <a:solidFill>
                                        <a:srgbClr val="000000"/>
                                      </a:solidFill>
                                      <a:latin typeface="Cambria Math" panose="02040503050406030204" pitchFamily="18" charset="0"/>
                                    </a:rPr>
                                    <m:t>3</m:t>
                                  </m:r>
                                </m:sub>
                              </m:sSub>
                              <m:r>
                                <a:rPr lang="zh-CN" altLang="en-US" sz="2400" i="1">
                                  <a:solidFill>
                                    <a:srgbClr val="000000"/>
                                  </a:solidFill>
                                  <a:latin typeface="Cambria Math" panose="02040503050406030204" pitchFamily="18" charset="0"/>
                                </a:rPr>
                                <m:t>≥0</m:t>
                              </m:r>
                            </m:e>
                          </m:eqArr>
                        </m:e>
                      </m:d>
                    </m:oMath>
                  </m:oMathPara>
                </a14:m>
                <a:endParaRPr lang="zh-CN" altLang="en-US" sz="2400" dirty="0"/>
              </a:p>
            </p:txBody>
          </p:sp>
        </mc:Choice>
        <mc:Fallback xmlns="">
          <p:sp>
            <p:nvSpPr>
              <p:cNvPr id="82949" name="对象 5">
                <a:extLst>
                  <a:ext uri="{FF2B5EF4-FFF2-40B4-BE49-F238E27FC236}">
                    <a16:creationId xmlns:a16="http://schemas.microsoft.com/office/drawing/2014/main" id="{BFCFDB38-3237-4FD2-9F24-613AE378A511}"/>
                  </a:ext>
                </a:extLst>
              </p:cNvPr>
              <p:cNvSpPr txBox="1">
                <a:spLocks noRot="1" noChangeAspect="1" noMove="1" noResize="1" noEditPoints="1" noAdjustHandles="1" noChangeArrowheads="1" noChangeShapeType="1" noTextEdit="1"/>
              </p:cNvSpPr>
              <p:nvPr/>
            </p:nvSpPr>
            <p:spPr bwMode="auto">
              <a:xfrm>
                <a:off x="457200" y="1492250"/>
                <a:ext cx="4038600" cy="2212975"/>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E4BB7518-7101-4659-BD25-4E2A757B301A}"/>
              </a:ext>
            </a:extLst>
          </p:cNvPr>
          <p:cNvSpPr/>
          <p:nvPr/>
        </p:nvSpPr>
        <p:spPr>
          <a:xfrm>
            <a:off x="3847226" y="506740"/>
            <a:ext cx="3430747" cy="523220"/>
          </a:xfrm>
          <a:prstGeom prst="rect">
            <a:avLst/>
          </a:prstGeom>
        </p:spPr>
        <p:txBody>
          <a:bodyPr wrap="none">
            <a:spAutoFit/>
          </a:bodyPr>
          <a:lstStyle/>
          <a:p>
            <a:pPr>
              <a:defRPr/>
            </a:pPr>
            <a:r>
              <a:rPr lang="zh-CN" altLang="en-US" sz="2800" b="1" dirty="0">
                <a:solidFill>
                  <a:srgbClr val="FF00FF"/>
                </a:solidFill>
                <a:latin typeface="+mn-ea"/>
              </a:rPr>
              <a:t>对偶问题的基可行解</a:t>
            </a:r>
            <a:endParaRPr lang="zh-CN" altLang="en-US" sz="2800" b="1" dirty="0">
              <a:solidFill>
                <a:srgbClr val="FF00FF"/>
              </a:solidFill>
            </a:endParaRPr>
          </a:p>
        </p:txBody>
      </p:sp>
      <p:pic>
        <p:nvPicPr>
          <p:cNvPr id="7" name="图片 6">
            <a:extLst>
              <a:ext uri="{FF2B5EF4-FFF2-40B4-BE49-F238E27FC236}">
                <a16:creationId xmlns:a16="http://schemas.microsoft.com/office/drawing/2014/main" id="{407C5EFF-B094-46B5-BB50-4904ED016227}"/>
              </a:ext>
            </a:extLst>
          </p:cNvPr>
          <p:cNvPicPr>
            <a:picLocks noChangeAspect="1"/>
          </p:cNvPicPr>
          <p:nvPr/>
        </p:nvPicPr>
        <p:blipFill>
          <a:blip r:embed="rId3"/>
          <a:stretch>
            <a:fillRect/>
          </a:stretch>
        </p:blipFill>
        <p:spPr>
          <a:xfrm>
            <a:off x="4495800" y="4814886"/>
            <a:ext cx="3162300" cy="1931562"/>
          </a:xfrm>
          <a:prstGeom prst="rect">
            <a:avLst/>
          </a:prstGeom>
          <a:solidFill>
            <a:schemeClr val="accent1">
              <a:lumMod val="60000"/>
              <a:lumOff val="40000"/>
            </a:schemeClr>
          </a:solidFill>
          <a:ln>
            <a:solidFill>
              <a:srgbClr val="FF0000"/>
            </a:solidFill>
          </a:ln>
        </p:spPr>
      </p:pic>
      <mc:AlternateContent xmlns:mc="http://schemas.openxmlformats.org/markup-compatibility/2006" xmlns:a14="http://schemas.microsoft.com/office/drawing/2010/main">
        <mc:Choice Requires="a14">
          <p:sp>
            <p:nvSpPr>
              <p:cNvPr id="14" name="对象 6">
                <a:extLst>
                  <a:ext uri="{FF2B5EF4-FFF2-40B4-BE49-F238E27FC236}">
                    <a16:creationId xmlns:a16="http://schemas.microsoft.com/office/drawing/2014/main" id="{F985D6A2-027B-4ADA-A432-B2C666035519}"/>
                  </a:ext>
                </a:extLst>
              </p:cNvPr>
              <p:cNvSpPr txBox="1"/>
              <p:nvPr/>
            </p:nvSpPr>
            <p:spPr bwMode="auto">
              <a:xfrm>
                <a:off x="4648202" y="1081088"/>
                <a:ext cx="3489325" cy="2774950"/>
              </a:xfrm>
              <a:prstGeom prst="rect">
                <a:avLst/>
              </a:prstGeom>
              <a:noFill/>
              <a:ln>
                <a:noFill/>
              </a:ln>
              <a:extLst/>
            </p:spPr>
            <p:txBody>
              <a:bodyPr>
                <a:noAutofit/>
              </a:bodyPr>
              <a:lstStyle/>
              <a:p>
                <a:pPr/>
                <a14:m>
                  <m:oMathPara xmlns:m="http://schemas.openxmlformats.org/officeDocument/2006/math">
                    <m:oMathParaPr>
                      <m:jc m:val="centerGroup"/>
                    </m:oMathParaPr>
                    <m:oMath xmlns:m="http://schemas.openxmlformats.org/officeDocument/2006/math">
                      <m:func>
                        <m:funcPr>
                          <m:ctrlPr>
                            <a:rPr lang="zh-CN" altLang="en-US" sz="2800" i="1">
                              <a:solidFill>
                                <a:srgbClr val="FF0000"/>
                              </a:solidFill>
                              <a:latin typeface="Cambria Math" panose="02040503050406030204" pitchFamily="18" charset="0"/>
                            </a:rPr>
                          </m:ctrlPr>
                        </m:funcPr>
                        <m:fName>
                          <m:r>
                            <m:rPr>
                              <m:sty m:val="p"/>
                            </m:rPr>
                            <a:rPr lang="zh-CN" altLang="en-US" sz="2800" i="0">
                              <a:solidFill>
                                <a:srgbClr val="FF0000"/>
                              </a:solidFill>
                              <a:latin typeface="Cambria Math" panose="02040503050406030204" pitchFamily="18" charset="0"/>
                            </a:rPr>
                            <m:t>max</m:t>
                          </m:r>
                        </m:fName>
                        <m:e>
                          <m:r>
                            <a:rPr lang="zh-CN" altLang="en-US" sz="2800" i="1">
                              <a:solidFill>
                                <a:srgbClr val="FF0000"/>
                              </a:solidFill>
                              <a:latin typeface="Cambria Math" panose="02040503050406030204" pitchFamily="18" charset="0"/>
                            </a:rPr>
                            <m:t> </m:t>
                          </m:r>
                        </m:e>
                      </m:func>
                      <m:r>
                        <a:rPr lang="zh-CN" altLang="en-US" sz="2800" i="0">
                          <a:solidFill>
                            <a:srgbClr val="FF0000"/>
                          </a:solidFill>
                          <a:latin typeface="Cambria Math" panose="02040503050406030204" pitchFamily="18" charset="0"/>
                        </a:rPr>
                        <m:t> </m:t>
                      </m:r>
                      <m:r>
                        <a:rPr lang="zh-CN" altLang="en-US" sz="2800" i="1">
                          <a:solidFill>
                            <a:srgbClr val="FF0000"/>
                          </a:solidFill>
                          <a:latin typeface="Cambria Math" panose="02040503050406030204" pitchFamily="18" charset="0"/>
                        </a:rPr>
                        <m:t>𝑧</m:t>
                      </m:r>
                      <m:r>
                        <a:rPr lang="zh-CN" altLang="en-US" sz="2800" i="1">
                          <a:solidFill>
                            <a:srgbClr val="FF0000"/>
                          </a:solidFill>
                          <a:latin typeface="Cambria Math" panose="02040503050406030204" pitchFamily="18" charset="0"/>
                        </a:rPr>
                        <m:t>=3</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1</m:t>
                          </m:r>
                        </m:sub>
                      </m:sSub>
                      <m:r>
                        <a:rPr lang="zh-CN" altLang="en-US" sz="2800" i="1">
                          <a:solidFill>
                            <a:srgbClr val="FF0000"/>
                          </a:solidFill>
                          <a:latin typeface="Cambria Math" panose="02040503050406030204" pitchFamily="18" charset="0"/>
                        </a:rPr>
                        <m:t>+4</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2</m:t>
                          </m:r>
                        </m:sub>
                      </m:sSub>
                    </m:oMath>
                    <m:oMath xmlns:m="http://schemas.openxmlformats.org/officeDocument/2006/math">
                      <m:d>
                        <m:dPr>
                          <m:begChr m:val="{"/>
                          <m:endChr m:val=""/>
                          <m:ctrlPr>
                            <a:rPr lang="zh-CN" altLang="en-US" sz="2800" i="1">
                              <a:solidFill>
                                <a:srgbClr val="FF0000"/>
                              </a:solidFill>
                              <a:latin typeface="Cambria Math" panose="02040503050406030204" pitchFamily="18" charset="0"/>
                            </a:rPr>
                          </m:ctrlPr>
                        </m:dPr>
                        <m:e>
                          <m:eqArr>
                            <m:eqArrPr>
                              <m:ctrlPr>
                                <a:rPr lang="zh-CN" altLang="en-US" sz="2800" i="1">
                                  <a:solidFill>
                                    <a:srgbClr val="FF0000"/>
                                  </a:solidFill>
                                  <a:latin typeface="Cambria Math" panose="02040503050406030204" pitchFamily="18" charset="0"/>
                                </a:rPr>
                              </m:ctrlPr>
                            </m:eqArrPr>
                            <m:e>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1</m:t>
                                  </m:r>
                                </m:sub>
                              </m:sSub>
                              <m:r>
                                <a:rPr lang="zh-CN" altLang="en-US" sz="2800" i="1">
                                  <a:solidFill>
                                    <a:srgbClr val="FF0000"/>
                                  </a:solidFill>
                                  <a:latin typeface="Cambria Math" panose="02040503050406030204" pitchFamily="18" charset="0"/>
                                </a:rPr>
                                <m:t>+2</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2</m:t>
                                  </m:r>
                                </m:sub>
                              </m:sSub>
                              <m:r>
                                <a:rPr lang="zh-CN" altLang="en-US" sz="2800" i="1">
                                  <a:solidFill>
                                    <a:srgbClr val="FF0000"/>
                                  </a:solidFill>
                                  <a:latin typeface="Cambria Math" panose="02040503050406030204" pitchFamily="18" charset="0"/>
                                </a:rPr>
                                <m:t>≤2</m:t>
                              </m:r>
                            </m:e>
                            <m:e>
                              <m:r>
                                <a:rPr lang="zh-CN" altLang="en-US" sz="2800" i="1">
                                  <a:solidFill>
                                    <a:srgbClr val="FF0000"/>
                                  </a:solidFill>
                                  <a:latin typeface="Cambria Math" panose="02040503050406030204" pitchFamily="18" charset="0"/>
                                </a:rPr>
                                <m:t>2</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1</m:t>
                                  </m:r>
                                </m:sub>
                              </m:sSub>
                              <m:r>
                                <a:rPr lang="zh-CN" altLang="en-US" sz="2800" i="1">
                                  <a:solidFill>
                                    <a:srgbClr val="FF0000"/>
                                  </a:solidFill>
                                  <a:latin typeface="Cambria Math" panose="02040503050406030204" pitchFamily="18" charset="0"/>
                                </a:rPr>
                                <m:t>−</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2</m:t>
                                  </m:r>
                                </m:sub>
                              </m:sSub>
                              <m:r>
                                <a:rPr lang="zh-CN" altLang="en-US" sz="2800" i="1">
                                  <a:solidFill>
                                    <a:srgbClr val="FF0000"/>
                                  </a:solidFill>
                                  <a:latin typeface="Cambria Math" panose="02040503050406030204" pitchFamily="18" charset="0"/>
                                </a:rPr>
                                <m:t>≤3</m:t>
                              </m:r>
                            </m:e>
                            <m:e>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1</m:t>
                                  </m:r>
                                </m:sub>
                              </m:sSub>
                              <m:r>
                                <a:rPr lang="zh-CN" altLang="en-US" sz="2800" i="1">
                                  <a:solidFill>
                                    <a:srgbClr val="FF0000"/>
                                  </a:solidFill>
                                  <a:latin typeface="Cambria Math" panose="02040503050406030204" pitchFamily="18" charset="0"/>
                                </a:rPr>
                                <m:t>+3</m:t>
                              </m:r>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2</m:t>
                                  </m:r>
                                </m:sub>
                              </m:sSub>
                              <m:r>
                                <a:rPr lang="zh-CN" altLang="en-US" sz="2800" i="1">
                                  <a:solidFill>
                                    <a:srgbClr val="FF0000"/>
                                  </a:solidFill>
                                  <a:latin typeface="Cambria Math" panose="02040503050406030204" pitchFamily="18" charset="0"/>
                                </a:rPr>
                                <m:t>≤4</m:t>
                              </m:r>
                            </m:e>
                            <m:e>
                              <m:sSub>
                                <m:sSubPr>
                                  <m:ctrlPr>
                                    <a:rPr lang="zh-CN" altLang="en-US" sz="2800" i="1">
                                      <a:solidFill>
                                        <a:srgbClr val="FF0000"/>
                                      </a:solidFill>
                                      <a:latin typeface="Cambria Math" panose="02040503050406030204" pitchFamily="18" charset="0"/>
                                    </a:rPr>
                                  </m:ctrlPr>
                                </m:sSubPr>
                                <m:e>
                                  <m:r>
                                    <a:rPr lang="zh-CN" altLang="en-US" sz="2800" i="1">
                                      <a:solidFill>
                                        <a:srgbClr val="FF0000"/>
                                      </a:solidFill>
                                      <a:latin typeface="Cambria Math" panose="02040503050406030204" pitchFamily="18" charset="0"/>
                                    </a:rPr>
                                    <m:t>𝑦</m:t>
                                  </m:r>
                                </m:e>
                                <m:sub>
                                  <m:r>
                                    <a:rPr lang="zh-CN" altLang="en-US" sz="2800" i="1">
                                      <a:solidFill>
                                        <a:srgbClr val="FF0000"/>
                                      </a:solidFill>
                                      <a:latin typeface="Cambria Math" panose="02040503050406030204" pitchFamily="18" charset="0"/>
                                    </a:rPr>
                                    <m:t>𝑗</m:t>
                                  </m:r>
                                </m:sub>
                              </m:sSub>
                              <m:r>
                                <a:rPr lang="zh-CN" altLang="en-US" sz="2800" i="1">
                                  <a:solidFill>
                                    <a:srgbClr val="FF0000"/>
                                  </a:solidFill>
                                  <a:latin typeface="Cambria Math" panose="02040503050406030204" pitchFamily="18" charset="0"/>
                                </a:rPr>
                                <m:t>≥0,</m:t>
                              </m:r>
                              <m:r>
                                <a:rPr lang="zh-CN" altLang="en-US" sz="2800" i="1">
                                  <a:solidFill>
                                    <a:srgbClr val="FF0000"/>
                                  </a:solidFill>
                                  <a:latin typeface="Cambria Math" panose="02040503050406030204" pitchFamily="18" charset="0"/>
                                </a:rPr>
                                <m:t>𝑗</m:t>
                              </m:r>
                              <m:r>
                                <a:rPr lang="zh-CN" altLang="en-US" sz="2800" i="1">
                                  <a:solidFill>
                                    <a:srgbClr val="FF0000"/>
                                  </a:solidFill>
                                  <a:latin typeface="Cambria Math" panose="02040503050406030204" pitchFamily="18" charset="0"/>
                                </a:rPr>
                                <m:t>=1,2</m:t>
                              </m:r>
                            </m:e>
                          </m:eqArr>
                        </m:e>
                      </m:d>
                    </m:oMath>
                  </m:oMathPara>
                </a14:m>
                <a:endParaRPr lang="zh-CN" altLang="en-US" sz="2800" dirty="0"/>
              </a:p>
            </p:txBody>
          </p:sp>
        </mc:Choice>
        <mc:Fallback xmlns="">
          <p:sp>
            <p:nvSpPr>
              <p:cNvPr id="14" name="对象 6">
                <a:extLst>
                  <a:ext uri="{FF2B5EF4-FFF2-40B4-BE49-F238E27FC236}">
                    <a16:creationId xmlns:a16="http://schemas.microsoft.com/office/drawing/2014/main" id="{F985D6A2-027B-4ADA-A432-B2C666035519}"/>
                  </a:ext>
                </a:extLst>
              </p:cNvPr>
              <p:cNvSpPr txBox="1">
                <a:spLocks noRot="1" noChangeAspect="1" noMove="1" noResize="1" noEditPoints="1" noAdjustHandles="1" noChangeArrowheads="1" noChangeShapeType="1" noTextEdit="1"/>
              </p:cNvSpPr>
              <p:nvPr/>
            </p:nvSpPr>
            <p:spPr bwMode="auto">
              <a:xfrm>
                <a:off x="4648202" y="1081088"/>
                <a:ext cx="3489325" cy="2774950"/>
              </a:xfrm>
              <a:prstGeom prst="rect">
                <a:avLst/>
              </a:prstGeom>
              <a:blipFill>
                <a:blip r:embed="rId4"/>
                <a:stretch>
                  <a:fillRect/>
                </a:stretch>
              </a:blipFill>
              <a:ln>
                <a:noFill/>
              </a:ln>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nodeType="clickEffect">
                                  <p:stCondLst>
                                    <p:cond delay="0"/>
                                  </p:stCondLst>
                                  <p:childTnLst>
                                    <p:animEffect transition="out" filter="fade">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descr="Large confetti">
            <a:extLst>
              <a:ext uri="{FF2B5EF4-FFF2-40B4-BE49-F238E27FC236}">
                <a16:creationId xmlns:a16="http://schemas.microsoft.com/office/drawing/2014/main" id="{4937E9AE-858D-408E-984C-136E9B8E2831}"/>
              </a:ext>
            </a:extLst>
          </p:cNvPr>
          <p:cNvSpPr>
            <a:spLocks noGrp="1" noChangeArrowheads="1"/>
          </p:cNvSpPr>
          <p:nvPr>
            <p:ph type="title"/>
          </p:nvPr>
        </p:nvSpPr>
        <p:spPr/>
        <p:txBody>
          <a:bodyPr/>
          <a:lstStyle/>
          <a:p>
            <a:pPr eaLnBrk="1" hangingPunct="1"/>
            <a:r>
              <a:rPr lang="zh-CN" altLang="en-US"/>
              <a:t>对偶单纯形法</a:t>
            </a:r>
          </a:p>
        </p:txBody>
      </p:sp>
      <p:sp>
        <p:nvSpPr>
          <p:cNvPr id="166045" name="Rectangle 157">
            <a:extLst>
              <a:ext uri="{FF2B5EF4-FFF2-40B4-BE49-F238E27FC236}">
                <a16:creationId xmlns:a16="http://schemas.microsoft.com/office/drawing/2014/main" id="{18F070AA-063E-4D1E-A39E-4BE8878739C4}"/>
              </a:ext>
            </a:extLst>
          </p:cNvPr>
          <p:cNvSpPr>
            <a:spLocks noChangeArrowheads="1"/>
          </p:cNvSpPr>
          <p:nvPr/>
        </p:nvSpPr>
        <p:spPr bwMode="auto">
          <a:xfrm>
            <a:off x="7205663" y="4189413"/>
            <a:ext cx="381000" cy="642937"/>
          </a:xfrm>
          <a:prstGeom prst="rect">
            <a:avLst/>
          </a:prstGeom>
          <a:solidFill>
            <a:srgbClr val="66FFCC"/>
          </a:solidFill>
          <a:ln w="9525">
            <a:solidFill>
              <a:srgbClr val="A50021"/>
            </a:solidFill>
            <a:miter lim="800000"/>
            <a:headEnd/>
            <a:tailEnd/>
          </a:ln>
        </p:spPr>
        <p:txBody>
          <a:bodyPr anchor="ct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en-US" sz="2400">
              <a:solidFill>
                <a:schemeClr val="bg2"/>
              </a:solidFill>
              <a:latin typeface="Times New Roman" panose="02020603050405020304" pitchFamily="18" charset="0"/>
              <a:ea typeface="华文细黑" panose="02010600040101010101" pitchFamily="2" charset="-122"/>
            </a:endParaRPr>
          </a:p>
        </p:txBody>
      </p:sp>
      <p:sp>
        <p:nvSpPr>
          <p:cNvPr id="166046" name="Rectangle 158">
            <a:extLst>
              <a:ext uri="{FF2B5EF4-FFF2-40B4-BE49-F238E27FC236}">
                <a16:creationId xmlns:a16="http://schemas.microsoft.com/office/drawing/2014/main" id="{56920DC1-2543-4B9D-A350-50D435F48D86}"/>
              </a:ext>
            </a:extLst>
          </p:cNvPr>
          <p:cNvSpPr>
            <a:spLocks noChangeArrowheads="1"/>
          </p:cNvSpPr>
          <p:nvPr/>
        </p:nvSpPr>
        <p:spPr bwMode="auto">
          <a:xfrm flipV="1">
            <a:off x="3360738" y="4343400"/>
            <a:ext cx="457200" cy="304800"/>
          </a:xfrm>
          <a:prstGeom prst="rect">
            <a:avLst/>
          </a:prstGeom>
          <a:solidFill>
            <a:srgbClr val="0099CC"/>
          </a:solidFill>
          <a:ln w="9525">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en-US" sz="2400">
              <a:solidFill>
                <a:schemeClr val="bg2"/>
              </a:solidFill>
              <a:latin typeface="Times New Roman" panose="02020603050405020304" pitchFamily="18" charset="0"/>
              <a:ea typeface="华文细黑" panose="02010600040101010101" pitchFamily="2" charset="-122"/>
            </a:endParaRPr>
          </a:p>
        </p:txBody>
      </p:sp>
      <p:graphicFrame>
        <p:nvGraphicFramePr>
          <p:cNvPr id="166123" name="Group 235">
            <a:extLst>
              <a:ext uri="{FF2B5EF4-FFF2-40B4-BE49-F238E27FC236}">
                <a16:creationId xmlns:a16="http://schemas.microsoft.com/office/drawing/2014/main" id="{EB73AC81-AED9-40EB-8788-6C7D79767ED6}"/>
              </a:ext>
            </a:extLst>
          </p:cNvPr>
          <p:cNvGraphicFramePr>
            <a:graphicFrameLocks noGrp="1"/>
          </p:cNvGraphicFramePr>
          <p:nvPr>
            <p:extLst>
              <p:ext uri="{D42A27DB-BD31-4B8C-83A1-F6EECF244321}">
                <p14:modId xmlns:p14="http://schemas.microsoft.com/office/powerpoint/2010/main" val="2515157298"/>
              </p:ext>
            </p:extLst>
          </p:nvPr>
        </p:nvGraphicFramePr>
        <p:xfrm>
          <a:off x="762000" y="2895600"/>
          <a:ext cx="7853362" cy="2359026"/>
        </p:xfrm>
        <a:graphic>
          <a:graphicData uri="http://schemas.openxmlformats.org/drawingml/2006/table">
            <a:tbl>
              <a:tblPr/>
              <a:tblGrid>
                <a:gridCol w="1042987">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gridCol w="739775">
                  <a:extLst>
                    <a:ext uri="{9D8B030D-6E8A-4147-A177-3AD203B41FA5}">
                      <a16:colId xmlns:a16="http://schemas.microsoft.com/office/drawing/2014/main" val="20002"/>
                    </a:ext>
                  </a:extLst>
                </a:gridCol>
                <a:gridCol w="673100">
                  <a:extLst>
                    <a:ext uri="{9D8B030D-6E8A-4147-A177-3AD203B41FA5}">
                      <a16:colId xmlns:a16="http://schemas.microsoft.com/office/drawing/2014/main" val="20003"/>
                    </a:ext>
                  </a:extLst>
                </a:gridCol>
                <a:gridCol w="658812">
                  <a:extLst>
                    <a:ext uri="{9D8B030D-6E8A-4147-A177-3AD203B41FA5}">
                      <a16:colId xmlns:a16="http://schemas.microsoft.com/office/drawing/2014/main" val="20004"/>
                    </a:ext>
                  </a:extLst>
                </a:gridCol>
                <a:gridCol w="620713">
                  <a:extLst>
                    <a:ext uri="{9D8B030D-6E8A-4147-A177-3AD203B41FA5}">
                      <a16:colId xmlns:a16="http://schemas.microsoft.com/office/drawing/2014/main" val="20005"/>
                    </a:ext>
                  </a:extLst>
                </a:gridCol>
                <a:gridCol w="604837">
                  <a:extLst>
                    <a:ext uri="{9D8B030D-6E8A-4147-A177-3AD203B41FA5}">
                      <a16:colId xmlns:a16="http://schemas.microsoft.com/office/drawing/2014/main" val="20006"/>
                    </a:ext>
                  </a:extLst>
                </a:gridCol>
                <a:gridCol w="606425">
                  <a:extLst>
                    <a:ext uri="{9D8B030D-6E8A-4147-A177-3AD203B41FA5}">
                      <a16:colId xmlns:a16="http://schemas.microsoft.com/office/drawing/2014/main" val="20007"/>
                    </a:ext>
                  </a:extLst>
                </a:gridCol>
                <a:gridCol w="2165350">
                  <a:extLst>
                    <a:ext uri="{9D8B030D-6E8A-4147-A177-3AD203B41FA5}">
                      <a16:colId xmlns:a16="http://schemas.microsoft.com/office/drawing/2014/main" val="20008"/>
                    </a:ext>
                  </a:extLst>
                </a:gridCol>
              </a:tblGrid>
              <a:tr h="455766">
                <a:tc gridSpan="3">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j</a:t>
                      </a: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l-GR"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ϴ</a:t>
                      </a:r>
                      <a:r>
                        <a:rPr kumimoji="1" lang="en-US" altLang="zh-CN" sz="1800" b="1" i="0" u="none" strike="noStrike" cap="none" normalizeH="0" baseline="-25000" dirty="0" err="1">
                          <a:ln>
                            <a:noFill/>
                          </a:ln>
                          <a:solidFill>
                            <a:schemeClr val="tx1"/>
                          </a:solidFill>
                          <a:effectLst/>
                          <a:latin typeface="Times New Roman" panose="02020603050405020304" pitchFamily="18" charset="0"/>
                          <a:ea typeface="华文细黑" panose="02010600040101010101" pitchFamily="2" charset="-122"/>
                        </a:rPr>
                        <a:t>i</a:t>
                      </a:r>
                      <a:endParaRPr kumimoji="1" lang="zh-CN"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1"/>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5962">
                <a:tc gridSpan="3">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1" lang="el-GR" altLang="zh-CN" sz="24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σ</a:t>
                      </a:r>
                      <a:r>
                        <a:rPr kumimoji="1" lang="en-US" altLang="zh-CN" sz="24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j</a:t>
                      </a:r>
                      <a:r>
                        <a:rPr kumimoji="1" lang="en-US" altLang="zh-CN" sz="24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a:t>
                      </a:r>
                      <a:r>
                        <a:rPr kumimoji="1" lang="en-US" altLang="zh-CN" sz="2400" b="1" i="0" u="none" strike="noStrike" cap="none" normalizeH="0" baseline="0" dirty="0" err="1">
                          <a:ln>
                            <a:noFill/>
                          </a:ln>
                          <a:solidFill>
                            <a:srgbClr val="000000"/>
                          </a:solidFill>
                          <a:effectLst/>
                          <a:latin typeface="Times New Roman" panose="02020603050405020304" pitchFamily="18" charset="0"/>
                          <a:ea typeface="华文细黑" panose="02010600040101010101" pitchFamily="2" charset="-122"/>
                        </a:rPr>
                        <a:t>c</a:t>
                      </a:r>
                      <a:r>
                        <a:rPr kumimoji="1" lang="en-US" altLang="zh-CN" sz="2400" b="1" i="0" u="none" strike="noStrike" cap="none" normalizeH="0" baseline="-25000" dirty="0" err="1">
                          <a:ln>
                            <a:noFill/>
                          </a:ln>
                          <a:solidFill>
                            <a:srgbClr val="000000"/>
                          </a:solidFill>
                          <a:effectLst/>
                          <a:latin typeface="Times New Roman" panose="02020603050405020304" pitchFamily="18" charset="0"/>
                          <a:ea typeface="华文细黑" panose="02010600040101010101" pitchFamily="2" charset="-122"/>
                        </a:rPr>
                        <a:t>j</a:t>
                      </a:r>
                      <a:r>
                        <a:rPr kumimoji="1" lang="en-US" altLang="zh-CN" sz="2400" b="1" i="0" u="none" strike="noStrike" cap="none" normalizeH="0" baseline="0" dirty="0" err="1">
                          <a:ln>
                            <a:noFill/>
                          </a:ln>
                          <a:solidFill>
                            <a:srgbClr val="000000"/>
                          </a:solidFill>
                          <a:effectLst/>
                          <a:latin typeface="Times New Roman" panose="02020603050405020304" pitchFamily="18" charset="0"/>
                          <a:ea typeface="华文细黑" panose="02010600040101010101" pitchFamily="2" charset="-122"/>
                        </a:rPr>
                        <a:t>-z</a:t>
                      </a:r>
                      <a:r>
                        <a:rPr kumimoji="1" lang="en-US" altLang="zh-CN" sz="2400" b="1" i="0" u="none" strike="noStrike" cap="none" normalizeH="0" baseline="-25000" dirty="0" err="1">
                          <a:ln>
                            <a:noFill/>
                          </a:ln>
                          <a:solidFill>
                            <a:srgbClr val="000000"/>
                          </a:solidFill>
                          <a:effectLst/>
                          <a:latin typeface="Times New Roman" panose="02020603050405020304" pitchFamily="18" charset="0"/>
                          <a:ea typeface="华文细黑" panose="02010600040101010101" pitchFamily="2" charset="-122"/>
                        </a:rPr>
                        <a:t>j</a:t>
                      </a:r>
                      <a:endParaRPr kumimoji="1"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dirty="0"/>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66122" name="Line 234">
            <a:extLst>
              <a:ext uri="{FF2B5EF4-FFF2-40B4-BE49-F238E27FC236}">
                <a16:creationId xmlns:a16="http://schemas.microsoft.com/office/drawing/2014/main" id="{FE717AB1-793E-4475-BD5D-96EA3995F045}"/>
              </a:ext>
            </a:extLst>
          </p:cNvPr>
          <p:cNvSpPr>
            <a:spLocks noChangeShapeType="1"/>
          </p:cNvSpPr>
          <p:nvPr/>
        </p:nvSpPr>
        <p:spPr bwMode="auto">
          <a:xfrm>
            <a:off x="2671763" y="4645025"/>
            <a:ext cx="457200" cy="3175"/>
          </a:xfrm>
          <a:prstGeom prst="line">
            <a:avLst/>
          </a:prstGeom>
          <a:noFill/>
          <a:ln w="952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84031" name="对象 8">
                <a:extLst>
                  <a:ext uri="{FF2B5EF4-FFF2-40B4-BE49-F238E27FC236}">
                    <a16:creationId xmlns:a16="http://schemas.microsoft.com/office/drawing/2014/main" id="{F78FCBC7-401E-4C26-9907-8E694CC0C3DB}"/>
                  </a:ext>
                </a:extLst>
              </p:cNvPr>
              <p:cNvSpPr txBox="1"/>
              <p:nvPr/>
            </p:nvSpPr>
            <p:spPr bwMode="auto">
              <a:xfrm>
                <a:off x="2209800" y="998538"/>
                <a:ext cx="5257800" cy="1874837"/>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i="1" smtClean="0">
                              <a:solidFill>
                                <a:srgbClr val="000000"/>
                              </a:solidFill>
                              <a:latin typeface="Cambria Math" panose="02040503050406030204" pitchFamily="18" charset="0"/>
                            </a:rPr>
                          </m:ctrlPr>
                        </m:funcPr>
                        <m:fName>
                          <m:r>
                            <m:rPr>
                              <m:sty m:val="p"/>
                            </m:rPr>
                            <a:rPr lang="en-US" altLang="zh-CN" b="0" i="0" smtClean="0">
                              <a:solidFill>
                                <a:srgbClr val="000000"/>
                              </a:solidFill>
                              <a:latin typeface="Cambria Math" panose="02040503050406030204" pitchFamily="18" charset="0"/>
                            </a:rPr>
                            <m:t>min</m:t>
                          </m:r>
                        </m:fName>
                        <m:e>
                          <m:r>
                            <a:rPr lang="zh-CN" altLang="en-US" i="1">
                              <a:solidFill>
                                <a:srgbClr val="000000"/>
                              </a:solidFill>
                              <a:latin typeface="Cambria Math" panose="02040503050406030204" pitchFamily="18" charset="0"/>
                            </a:rPr>
                            <m:t> </m:t>
                          </m:r>
                        </m:e>
                      </m:func>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𝑧</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4</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4</m:t>
                          </m:r>
                        </m:sub>
                      </m:sSub>
                      <m:r>
                        <a:rPr lang="zh-CN" altLang="en-US" i="1">
                          <a:solidFill>
                            <a:srgbClr val="000000"/>
                          </a:solidFill>
                          <a:latin typeface="Cambria Math" panose="02040503050406030204" pitchFamily="18" charset="0"/>
                        </a:rPr>
                        <m:t>+0</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5</m:t>
                          </m:r>
                        </m:sub>
                      </m:sSub>
                    </m:oMath>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4</m:t>
                                  </m:r>
                                </m:sub>
                              </m:sSub>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=3</m:t>
                              </m:r>
                            </m:e>
                            <m:e>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m:rPr>
                                  <m:nor/>
                                </m:rPr>
                                <a:rPr lang="zh-CN" altLang="en-US" i="0">
                                  <a:solidFill>
                                    <a:srgbClr val="000000"/>
                                  </a:solidFill>
                                  <a:latin typeface="Cambria Math" panose="02040503050406030204" pitchFamily="18" charset="0"/>
                                </a:rPr>
                                <m:t>      </m:t>
                              </m:r>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5</m:t>
                                  </m:r>
                                </m:sub>
                              </m:sSub>
                              <m:r>
                                <a:rPr lang="zh-CN" altLang="en-US" i="1">
                                  <a:solidFill>
                                    <a:srgbClr val="000000"/>
                                  </a:solidFill>
                                  <a:latin typeface="Cambria Math" panose="02040503050406030204" pitchFamily="18" charset="0"/>
                                </a:rPr>
                                <m:t>=4</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=1,2,3,4,5</m:t>
                              </m:r>
                            </m:e>
                          </m:eqArr>
                        </m:e>
                      </m:d>
                    </m:oMath>
                  </m:oMathPara>
                </a14:m>
                <a:endParaRPr lang="zh-CN" altLang="en-US" dirty="0"/>
              </a:p>
            </p:txBody>
          </p:sp>
        </mc:Choice>
        <mc:Fallback>
          <p:sp>
            <p:nvSpPr>
              <p:cNvPr id="84031" name="对象 8">
                <a:extLst>
                  <a:ext uri="{FF2B5EF4-FFF2-40B4-BE49-F238E27FC236}">
                    <a16:creationId xmlns:a16="http://schemas.microsoft.com/office/drawing/2014/main" id="{F78FCBC7-401E-4C26-9907-8E694CC0C3DB}"/>
                  </a:ext>
                </a:extLst>
              </p:cNvPr>
              <p:cNvSpPr txBox="1">
                <a:spLocks noRot="1" noChangeAspect="1" noMove="1" noResize="1" noEditPoints="1" noAdjustHandles="1" noChangeArrowheads="1" noChangeShapeType="1" noTextEdit="1"/>
              </p:cNvSpPr>
              <p:nvPr/>
            </p:nvSpPr>
            <p:spPr bwMode="auto">
              <a:xfrm>
                <a:off x="2209800" y="998538"/>
                <a:ext cx="5257800" cy="1874837"/>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6173B272-E83D-4C8E-8404-22992ED8B73E}"/>
                  </a:ext>
                </a:extLst>
              </p:cNvPr>
              <p:cNvSpPr txBox="1"/>
              <p:nvPr/>
            </p:nvSpPr>
            <p:spPr bwMode="auto">
              <a:xfrm>
                <a:off x="6482556" y="4214812"/>
                <a:ext cx="1827213" cy="638175"/>
              </a:xfrm>
              <a:prstGeom prst="rect">
                <a:avLst/>
              </a:prstGeom>
              <a:noFill/>
              <a:ln>
                <a:noFill/>
              </a:ln>
              <a:ex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smtClean="0">
                          <a:solidFill>
                            <a:srgbClr val="000000"/>
                          </a:solidFill>
                          <a:latin typeface="Cambria Math" panose="02040503050406030204" pitchFamily="18" charset="0"/>
                        </a:rPr>
                        <m:t>𝜃</m:t>
                      </m:r>
                      <m:r>
                        <a:rPr lang="zh-CN" altLang="en-US" i="1" smtClean="0">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min</m:t>
                          </m:r>
                        </m:fName>
                        <m:e>
                          <m:d>
                            <m:dPr>
                              <m:begChr m:val="{"/>
                              <m:endChr m:val="}"/>
                              <m:ctrlPr>
                                <a:rPr lang="zh-CN" altLang="en-US" i="1">
                                  <a:solidFill>
                                    <a:srgbClr val="000000"/>
                                  </a:solidFill>
                                  <a:latin typeface="Cambria Math" panose="02040503050406030204" pitchFamily="18" charset="0"/>
                                </a:rPr>
                              </m:ctrlPr>
                            </m:dPr>
                            <m:e>
                              <m:d>
                                <m:dPr>
                                  <m:begChr m:val="|"/>
                                  <m:endChr m:val="|"/>
                                  <m:ctrlPr>
                                    <a:rPr lang="en-US" altLang="zh-CN" b="0" i="1" smtClean="0">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−2</m:t>
                                      </m:r>
                                    </m:den>
                                  </m:f>
                                </m:e>
                              </m:d>
                              <m:r>
                                <a:rPr lang="zh-CN" altLang="en-US" i="1">
                                  <a:solidFill>
                                    <a:srgbClr val="000000"/>
                                  </a:solidFill>
                                  <a:latin typeface="Cambria Math" panose="02040503050406030204" pitchFamily="18" charset="0"/>
                                </a:rPr>
                                <m:t>,</m:t>
                              </m:r>
                              <m:d>
                                <m:dPr>
                                  <m:begChr m:val="|"/>
                                  <m:endChr m:val="|"/>
                                  <m:ctrlPr>
                                    <a:rPr lang="en-US" altLang="zh-CN" b="0" i="1" smtClean="0">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4</m:t>
                                      </m:r>
                                    </m:num>
                                    <m:den>
                                      <m:r>
                                        <a:rPr lang="zh-CN" altLang="en-US" i="1">
                                          <a:solidFill>
                                            <a:srgbClr val="000000"/>
                                          </a:solidFill>
                                          <a:latin typeface="Cambria Math" panose="02040503050406030204" pitchFamily="18" charset="0"/>
                                        </a:rPr>
                                        <m:t>−3</m:t>
                                      </m:r>
                                    </m:den>
                                  </m:f>
                                </m:e>
                              </m:d>
                            </m:e>
                          </m:d>
                        </m:e>
                      </m:func>
                    </m:oMath>
                  </m:oMathPara>
                </a14:m>
                <a:endParaRPr lang="zh-CN" altLang="en-US" dirty="0"/>
              </a:p>
            </p:txBody>
          </p:sp>
        </mc:Choice>
        <mc:Fallback xmlns="">
          <p:sp>
            <p:nvSpPr>
              <p:cNvPr id="10" name="对象 9">
                <a:extLst>
                  <a:ext uri="{FF2B5EF4-FFF2-40B4-BE49-F238E27FC236}">
                    <a16:creationId xmlns:a16="http://schemas.microsoft.com/office/drawing/2014/main" id="{6173B272-E83D-4C8E-8404-22992ED8B73E}"/>
                  </a:ext>
                </a:extLst>
              </p:cNvPr>
              <p:cNvSpPr txBox="1">
                <a:spLocks noRot="1" noChangeAspect="1" noMove="1" noResize="1" noEditPoints="1" noAdjustHandles="1" noChangeArrowheads="1" noChangeShapeType="1" noTextEdit="1"/>
              </p:cNvSpPr>
              <p:nvPr/>
            </p:nvSpPr>
            <p:spPr bwMode="auto">
              <a:xfrm>
                <a:off x="6482556" y="4214812"/>
                <a:ext cx="1827213" cy="638175"/>
              </a:xfrm>
              <a:prstGeom prst="rect">
                <a:avLst/>
              </a:prstGeom>
              <a:blipFill>
                <a:blip r:embed="rId4"/>
                <a:stretch>
                  <a:fillRect/>
                </a:stretch>
              </a:blipFill>
              <a:ln>
                <a:noFill/>
              </a:ln>
              <a:extLst/>
            </p:spPr>
            <p:txBody>
              <a:bodyPr/>
              <a:lstStyle/>
              <a:p>
                <a:r>
                  <a:rPr lang="zh-CN" altLang="en-US">
                    <a:noFill/>
                  </a:rPr>
                  <a:t> </a:t>
                </a:r>
              </a:p>
            </p:txBody>
          </p:sp>
        </mc:Fallback>
      </mc:AlternateContent>
      <p:graphicFrame>
        <p:nvGraphicFramePr>
          <p:cNvPr id="11" name="对象 10">
            <a:extLst>
              <a:ext uri="{FF2B5EF4-FFF2-40B4-BE49-F238E27FC236}">
                <a16:creationId xmlns:a16="http://schemas.microsoft.com/office/drawing/2014/main" id="{B4960E27-82EE-4EA0-AC03-06126A79C0D8}"/>
              </a:ext>
            </a:extLst>
          </p:cNvPr>
          <p:cNvGraphicFramePr>
            <a:graphicFrameLocks noChangeAspect="1"/>
          </p:cNvGraphicFramePr>
          <p:nvPr/>
        </p:nvGraphicFramePr>
        <p:xfrm>
          <a:off x="1263650" y="5275263"/>
          <a:ext cx="6578600" cy="849312"/>
        </p:xfrm>
        <a:graphic>
          <a:graphicData uri="http://schemas.openxmlformats.org/presentationml/2006/ole">
            <mc:AlternateContent xmlns:mc="http://schemas.openxmlformats.org/markup-compatibility/2006">
              <mc:Choice xmlns:v="urn:schemas-microsoft-com:vml" Requires="v">
                <p:oleObj spid="_x0000_s84161" name="Equation" r:id="rId5" imgW="2565400" imgH="330200" progId="Equation.DSMT4">
                  <p:embed/>
                </p:oleObj>
              </mc:Choice>
              <mc:Fallback>
                <p:oleObj name="Equation" r:id="rId5" imgW="2565400" imgH="330200" progId="Equation.DSMT4">
                  <p:embed/>
                  <p:pic>
                    <p:nvPicPr>
                      <p:cNvPr id="0"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3650" y="5275263"/>
                        <a:ext cx="6578600"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66123"/>
                                        </p:tgtEl>
                                        <p:attrNameLst>
                                          <p:attrName>style.visibility</p:attrName>
                                        </p:attrNameLst>
                                      </p:cBhvr>
                                      <p:to>
                                        <p:strVal val="visible"/>
                                      </p:to>
                                    </p:set>
                                    <p:animEffect transition="in" filter="randombar(horizontal)">
                                      <p:cBhvr>
                                        <p:cTn id="7" dur="500"/>
                                        <p:tgtEl>
                                          <p:spTgt spid="166123"/>
                                        </p:tgtEl>
                                      </p:cBhvr>
                                    </p:animEffect>
                                  </p:childTnLst>
                                </p:cTn>
                              </p:par>
                            </p:childTnLst>
                          </p:cTn>
                        </p:par>
                        <p:par>
                          <p:cTn id="8" fill="hold" nodeType="afterGroup">
                            <p:stCondLst>
                              <p:cond delay="500"/>
                            </p:stCondLst>
                            <p:childTnLst>
                              <p:par>
                                <p:cTn id="9" presetID="17" presetClass="entr" presetSubtype="8" fill="hold" nodeType="afterEffect">
                                  <p:stCondLst>
                                    <p:cond delay="0"/>
                                  </p:stCondLst>
                                  <p:childTnLst>
                                    <p:set>
                                      <p:cBhvr>
                                        <p:cTn id="10" dur="1" fill="hold">
                                          <p:stCondLst>
                                            <p:cond delay="0"/>
                                          </p:stCondLst>
                                        </p:cTn>
                                        <p:tgtEl>
                                          <p:spTgt spid="166122"/>
                                        </p:tgtEl>
                                        <p:attrNameLst>
                                          <p:attrName>style.visibility</p:attrName>
                                        </p:attrNameLst>
                                      </p:cBhvr>
                                      <p:to>
                                        <p:strVal val="visible"/>
                                      </p:to>
                                    </p:set>
                                    <p:anim calcmode="lin" valueType="num">
                                      <p:cBhvr>
                                        <p:cTn id="11" dur="500" fill="hold"/>
                                        <p:tgtEl>
                                          <p:spTgt spid="166122"/>
                                        </p:tgtEl>
                                        <p:attrNameLst>
                                          <p:attrName>ppt_x</p:attrName>
                                        </p:attrNameLst>
                                      </p:cBhvr>
                                      <p:tavLst>
                                        <p:tav tm="0">
                                          <p:val>
                                            <p:strVal val="#ppt_x-#ppt_w/2"/>
                                          </p:val>
                                        </p:tav>
                                        <p:tav tm="100000">
                                          <p:val>
                                            <p:strVal val="#ppt_x"/>
                                          </p:val>
                                        </p:tav>
                                      </p:tavLst>
                                    </p:anim>
                                    <p:anim calcmode="lin" valueType="num">
                                      <p:cBhvr>
                                        <p:cTn id="12" dur="500" fill="hold"/>
                                        <p:tgtEl>
                                          <p:spTgt spid="166122"/>
                                        </p:tgtEl>
                                        <p:attrNameLst>
                                          <p:attrName>ppt_y</p:attrName>
                                        </p:attrNameLst>
                                      </p:cBhvr>
                                      <p:tavLst>
                                        <p:tav tm="0">
                                          <p:val>
                                            <p:strVal val="#ppt_y"/>
                                          </p:val>
                                        </p:tav>
                                        <p:tav tm="100000">
                                          <p:val>
                                            <p:strVal val="#ppt_y"/>
                                          </p:val>
                                        </p:tav>
                                      </p:tavLst>
                                    </p:anim>
                                    <p:anim calcmode="lin" valueType="num">
                                      <p:cBhvr>
                                        <p:cTn id="13" dur="500" fill="hold"/>
                                        <p:tgtEl>
                                          <p:spTgt spid="166122"/>
                                        </p:tgtEl>
                                        <p:attrNameLst>
                                          <p:attrName>ppt_w</p:attrName>
                                        </p:attrNameLst>
                                      </p:cBhvr>
                                      <p:tavLst>
                                        <p:tav tm="0">
                                          <p:val>
                                            <p:fltVal val="0"/>
                                          </p:val>
                                        </p:tav>
                                        <p:tav tm="100000">
                                          <p:val>
                                            <p:strVal val="#ppt_w"/>
                                          </p:val>
                                        </p:tav>
                                      </p:tavLst>
                                    </p:anim>
                                    <p:anim calcmode="lin" valueType="num">
                                      <p:cBhvr>
                                        <p:cTn id="14" dur="500" fill="hold"/>
                                        <p:tgtEl>
                                          <p:spTgt spid="166122"/>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66045"/>
                                        </p:tgtEl>
                                        <p:attrNameLst>
                                          <p:attrName>style.visibility</p:attrName>
                                        </p:attrNameLst>
                                      </p:cBhvr>
                                      <p:to>
                                        <p:strVal val="visible"/>
                                      </p:to>
                                    </p:set>
                                    <p:animEffect transition="in" filter="blinds(horizontal)">
                                      <p:cBhvr>
                                        <p:cTn id="19" dur="500"/>
                                        <p:tgtEl>
                                          <p:spTgt spid="166045"/>
                                        </p:tgtEl>
                                      </p:cBhvr>
                                    </p:animEffect>
                                  </p:childTnLst>
                                </p:cTn>
                              </p:par>
                            </p:childTnLst>
                          </p:cTn>
                        </p:par>
                        <p:par>
                          <p:cTn id="20" fill="hold" nodeType="afterGroup">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166046"/>
                                        </p:tgtEl>
                                        <p:attrNameLst>
                                          <p:attrName>style.visibility</p:attrName>
                                        </p:attrNameLst>
                                      </p:cBhvr>
                                      <p:to>
                                        <p:strVal val="visible"/>
                                      </p:to>
                                    </p:set>
                                    <p:animEffect transition="in" filter="dissolve">
                                      <p:cBhvr>
                                        <p:cTn id="23" dur="500"/>
                                        <p:tgtEl>
                                          <p:spTgt spid="16604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45" grpId="0" animBg="1"/>
      <p:bldP spid="166046" grpId="0" animBg="1"/>
      <p:bldP spid="1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Group 235">
            <a:extLst>
              <a:ext uri="{FF2B5EF4-FFF2-40B4-BE49-F238E27FC236}">
                <a16:creationId xmlns:a16="http://schemas.microsoft.com/office/drawing/2014/main" id="{9DC7E4AD-CCDE-4559-8412-FC0550519676}"/>
              </a:ext>
            </a:extLst>
          </p:cNvPr>
          <p:cNvGraphicFramePr>
            <a:graphicFrameLocks noGrp="1"/>
          </p:cNvGraphicFramePr>
          <p:nvPr>
            <p:extLst>
              <p:ext uri="{D42A27DB-BD31-4B8C-83A1-F6EECF244321}">
                <p14:modId xmlns:p14="http://schemas.microsoft.com/office/powerpoint/2010/main" val="2301585178"/>
              </p:ext>
            </p:extLst>
          </p:nvPr>
        </p:nvGraphicFramePr>
        <p:xfrm>
          <a:off x="646113" y="1295400"/>
          <a:ext cx="7931149" cy="2359026"/>
        </p:xfrm>
        <a:graphic>
          <a:graphicData uri="http://schemas.openxmlformats.org/drawingml/2006/table">
            <a:tbl>
              <a:tblPr/>
              <a:tblGrid>
                <a:gridCol w="1053318">
                  <a:extLst>
                    <a:ext uri="{9D8B030D-6E8A-4147-A177-3AD203B41FA5}">
                      <a16:colId xmlns:a16="http://schemas.microsoft.com/office/drawing/2014/main" val="20000"/>
                    </a:ext>
                  </a:extLst>
                </a:gridCol>
                <a:gridCol w="748706">
                  <a:extLst>
                    <a:ext uri="{9D8B030D-6E8A-4147-A177-3AD203B41FA5}">
                      <a16:colId xmlns:a16="http://schemas.microsoft.com/office/drawing/2014/main" val="20001"/>
                    </a:ext>
                  </a:extLst>
                </a:gridCol>
                <a:gridCol w="747102">
                  <a:extLst>
                    <a:ext uri="{9D8B030D-6E8A-4147-A177-3AD203B41FA5}">
                      <a16:colId xmlns:a16="http://schemas.microsoft.com/office/drawing/2014/main" val="20002"/>
                    </a:ext>
                  </a:extLst>
                </a:gridCol>
                <a:gridCol w="679767">
                  <a:extLst>
                    <a:ext uri="{9D8B030D-6E8A-4147-A177-3AD203B41FA5}">
                      <a16:colId xmlns:a16="http://schemas.microsoft.com/office/drawing/2014/main" val="20003"/>
                    </a:ext>
                  </a:extLst>
                </a:gridCol>
                <a:gridCol w="665337">
                  <a:extLst>
                    <a:ext uri="{9D8B030D-6E8A-4147-A177-3AD203B41FA5}">
                      <a16:colId xmlns:a16="http://schemas.microsoft.com/office/drawing/2014/main" val="20004"/>
                    </a:ext>
                  </a:extLst>
                </a:gridCol>
                <a:gridCol w="626861">
                  <a:extLst>
                    <a:ext uri="{9D8B030D-6E8A-4147-A177-3AD203B41FA5}">
                      <a16:colId xmlns:a16="http://schemas.microsoft.com/office/drawing/2014/main" val="20005"/>
                    </a:ext>
                  </a:extLst>
                </a:gridCol>
                <a:gridCol w="610828">
                  <a:extLst>
                    <a:ext uri="{9D8B030D-6E8A-4147-A177-3AD203B41FA5}">
                      <a16:colId xmlns:a16="http://schemas.microsoft.com/office/drawing/2014/main" val="20006"/>
                    </a:ext>
                  </a:extLst>
                </a:gridCol>
                <a:gridCol w="612432">
                  <a:extLst>
                    <a:ext uri="{9D8B030D-6E8A-4147-A177-3AD203B41FA5}">
                      <a16:colId xmlns:a16="http://schemas.microsoft.com/office/drawing/2014/main" val="20007"/>
                    </a:ext>
                  </a:extLst>
                </a:gridCol>
                <a:gridCol w="2186798">
                  <a:extLst>
                    <a:ext uri="{9D8B030D-6E8A-4147-A177-3AD203B41FA5}">
                      <a16:colId xmlns:a16="http://schemas.microsoft.com/office/drawing/2014/main" val="20008"/>
                    </a:ext>
                  </a:extLst>
                </a:gridCol>
              </a:tblGrid>
              <a:tr h="455766">
                <a:tc gridSpan="3">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j</a:t>
                      </a: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L="91431" marR="91431"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000000"/>
                          </a:solidFill>
                          <a:effectLst/>
                          <a:latin typeface="Times New Roman" panose="02020603050405020304" pitchFamily="18" charset="0"/>
                          <a:ea typeface="华文细黑" panose="02010600040101010101" pitchFamily="2" charset="-122"/>
                        </a:rPr>
                        <a:t>0</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l-GR"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ϴ</a:t>
                      </a:r>
                      <a:r>
                        <a:rPr kumimoji="1" lang="en-US" altLang="zh-CN" sz="1800" b="1" i="0" u="none" strike="noStrike" cap="none" normalizeH="0" baseline="-25000" dirty="0" err="1">
                          <a:ln>
                            <a:noFill/>
                          </a:ln>
                          <a:solidFill>
                            <a:schemeClr val="tx1"/>
                          </a:solidFill>
                          <a:effectLst/>
                          <a:latin typeface="Times New Roman" panose="02020603050405020304" pitchFamily="18" charset="0"/>
                          <a:ea typeface="华文细黑" panose="02010600040101010101" pitchFamily="2" charset="-122"/>
                        </a:rPr>
                        <a:t>i</a:t>
                      </a:r>
                      <a:endParaRPr kumimoji="1" lang="zh-CN"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endParaRPr>
                    </a:p>
                  </a:txBody>
                  <a:tcPr marL="91431" marR="91431"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L="91431" marR="91431"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1"/>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L="91431" marR="91431"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-5/2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endParaRPr>
                    </a:p>
                  </a:txBody>
                  <a:tcPr marL="91431" marR="91431"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L="91431" marR="91431"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-1/2</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endParaRPr>
                    </a:p>
                  </a:txBody>
                  <a:tcPr marL="91431" marR="91431"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5962">
                <a:tc gridSpan="3">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1" lang="el-GR" altLang="zh-CN" sz="24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σ</a:t>
                      </a:r>
                      <a:r>
                        <a:rPr kumimoji="1" lang="en-US" altLang="zh-CN" sz="24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j</a:t>
                      </a:r>
                      <a:r>
                        <a:rPr kumimoji="1" lang="en-US" altLang="zh-CN" sz="24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a:t>
                      </a:r>
                      <a:r>
                        <a:rPr kumimoji="1" lang="en-US" altLang="zh-CN" sz="2400" b="1" i="0" u="none" strike="noStrike" cap="none" normalizeH="0" baseline="0" dirty="0" err="1">
                          <a:ln>
                            <a:noFill/>
                          </a:ln>
                          <a:solidFill>
                            <a:srgbClr val="000000"/>
                          </a:solidFill>
                          <a:effectLst/>
                          <a:latin typeface="Times New Roman" panose="02020603050405020304" pitchFamily="18" charset="0"/>
                          <a:ea typeface="华文细黑" panose="02010600040101010101" pitchFamily="2" charset="-122"/>
                        </a:rPr>
                        <a:t>c</a:t>
                      </a:r>
                      <a:r>
                        <a:rPr kumimoji="1" lang="en-US" altLang="zh-CN" sz="2400" b="1" i="0" u="none" strike="noStrike" cap="none" normalizeH="0" baseline="-25000" dirty="0" err="1">
                          <a:ln>
                            <a:noFill/>
                          </a:ln>
                          <a:solidFill>
                            <a:srgbClr val="000000"/>
                          </a:solidFill>
                          <a:effectLst/>
                          <a:latin typeface="Times New Roman" panose="02020603050405020304" pitchFamily="18" charset="0"/>
                          <a:ea typeface="华文细黑" panose="02010600040101010101" pitchFamily="2" charset="-122"/>
                        </a:rPr>
                        <a:t>j</a:t>
                      </a:r>
                      <a:r>
                        <a:rPr kumimoji="1" lang="en-US" altLang="zh-CN" sz="2400" b="1" i="0" u="none" strike="noStrike" cap="none" normalizeH="0" baseline="0" dirty="0" err="1">
                          <a:ln>
                            <a:noFill/>
                          </a:ln>
                          <a:solidFill>
                            <a:srgbClr val="000000"/>
                          </a:solidFill>
                          <a:effectLst/>
                          <a:latin typeface="Times New Roman" panose="02020603050405020304" pitchFamily="18" charset="0"/>
                          <a:ea typeface="华文细黑" panose="02010600040101010101" pitchFamily="2" charset="-122"/>
                        </a:rPr>
                        <a:t>-z</a:t>
                      </a:r>
                      <a:r>
                        <a:rPr kumimoji="1" lang="en-US" altLang="zh-CN" sz="2400" b="1" i="0" u="none" strike="noStrike" cap="none" normalizeH="0" baseline="-25000" dirty="0" err="1">
                          <a:ln>
                            <a:noFill/>
                          </a:ln>
                          <a:solidFill>
                            <a:srgbClr val="000000"/>
                          </a:solidFill>
                          <a:effectLst/>
                          <a:latin typeface="Times New Roman" panose="02020603050405020304" pitchFamily="18" charset="0"/>
                          <a:ea typeface="华文细黑" panose="02010600040101010101" pitchFamily="2" charset="-122"/>
                        </a:rPr>
                        <a:t>j</a:t>
                      </a:r>
                      <a:endParaRPr kumimoji="1"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L="91431" marR="91431"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dirty="0"/>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L="91431" marR="91431"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L="91431" marR="91431"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4994" name="Rectangle 2" descr="Large confetti">
            <a:extLst>
              <a:ext uri="{FF2B5EF4-FFF2-40B4-BE49-F238E27FC236}">
                <a16:creationId xmlns:a16="http://schemas.microsoft.com/office/drawing/2014/main" id="{03AD005A-F786-45CD-8FB5-E3C04CD458B3}"/>
              </a:ext>
            </a:extLst>
          </p:cNvPr>
          <p:cNvSpPr>
            <a:spLocks noGrp="1" noChangeArrowheads="1"/>
          </p:cNvSpPr>
          <p:nvPr>
            <p:ph type="title"/>
          </p:nvPr>
        </p:nvSpPr>
        <p:spPr/>
        <p:txBody>
          <a:bodyPr/>
          <a:lstStyle/>
          <a:p>
            <a:pPr eaLnBrk="1" hangingPunct="1"/>
            <a:r>
              <a:rPr lang="zh-CN" altLang="en-US" dirty="0"/>
              <a:t>对偶单纯形法</a:t>
            </a:r>
            <a:r>
              <a:rPr lang="en-US" altLang="zh-CN" dirty="0"/>
              <a:t>(</a:t>
            </a:r>
            <a:r>
              <a:rPr lang="zh-CN" altLang="en-US" dirty="0"/>
              <a:t>练习</a:t>
            </a:r>
            <a:r>
              <a:rPr lang="en-US" altLang="zh-CN" dirty="0"/>
              <a:t>)</a:t>
            </a:r>
            <a:endParaRPr lang="zh-CN" altLang="en-US" dirty="0"/>
          </a:p>
        </p:txBody>
      </p:sp>
      <p:grpSp>
        <p:nvGrpSpPr>
          <p:cNvPr id="5" name="组合 4">
            <a:extLst>
              <a:ext uri="{FF2B5EF4-FFF2-40B4-BE49-F238E27FC236}">
                <a16:creationId xmlns:a16="http://schemas.microsoft.com/office/drawing/2014/main" id="{90A06030-E8F7-473A-899D-0C789C07CF40}"/>
              </a:ext>
            </a:extLst>
          </p:cNvPr>
          <p:cNvGrpSpPr/>
          <p:nvPr/>
        </p:nvGrpSpPr>
        <p:grpSpPr>
          <a:xfrm>
            <a:off x="1204912" y="2027238"/>
            <a:ext cx="7423151" cy="4313237"/>
            <a:chOff x="1204912" y="2027238"/>
            <a:chExt cx="7423151" cy="4313237"/>
          </a:xfrm>
        </p:grpSpPr>
        <p:sp>
          <p:nvSpPr>
            <p:cNvPr id="13" name="Rectangle 157">
              <a:extLst>
                <a:ext uri="{FF2B5EF4-FFF2-40B4-BE49-F238E27FC236}">
                  <a16:creationId xmlns:a16="http://schemas.microsoft.com/office/drawing/2014/main" id="{62C560EB-16F8-445B-89DD-BD629A0AA9A2}"/>
                </a:ext>
              </a:extLst>
            </p:cNvPr>
            <p:cNvSpPr>
              <a:spLocks noChangeArrowheads="1"/>
            </p:cNvSpPr>
            <p:nvPr/>
          </p:nvSpPr>
          <p:spPr bwMode="auto">
            <a:xfrm>
              <a:off x="7086600" y="2027238"/>
              <a:ext cx="638175" cy="633412"/>
            </a:xfrm>
            <a:prstGeom prst="rect">
              <a:avLst/>
            </a:prstGeom>
            <a:solidFill>
              <a:srgbClr val="66FFCC"/>
            </a:solidFill>
            <a:ln w="9525">
              <a:solidFill>
                <a:srgbClr val="A50021"/>
              </a:solidFill>
              <a:miter lim="800000"/>
              <a:headEnd/>
              <a:tailEnd/>
            </a:ln>
          </p:spPr>
          <p:txBody>
            <a:bodyPr anchor="ct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en-US" sz="2400">
                <a:solidFill>
                  <a:schemeClr val="bg2"/>
                </a:solidFill>
                <a:latin typeface="Times New Roman" panose="02020603050405020304" pitchFamily="18" charset="0"/>
                <a:ea typeface="华文细黑" panose="02010600040101010101" pitchFamily="2" charset="-122"/>
              </a:endParaRPr>
            </a:p>
          </p:txBody>
        </p:sp>
        <mc:AlternateContent xmlns:mc="http://schemas.openxmlformats.org/markup-compatibility/2006" xmlns:a14="http://schemas.microsoft.com/office/drawing/2010/main">
          <mc:Choice Requires="a14">
            <p:sp>
              <p:nvSpPr>
                <p:cNvPr id="17" name="对象 16">
                  <a:extLst>
                    <a:ext uri="{FF2B5EF4-FFF2-40B4-BE49-F238E27FC236}">
                      <a16:creationId xmlns:a16="http://schemas.microsoft.com/office/drawing/2014/main" id="{A2DBD542-B6C7-4FAB-9790-59B97D8763E2}"/>
                    </a:ext>
                  </a:extLst>
                </p:cNvPr>
                <p:cNvSpPr txBox="1"/>
                <p:nvPr/>
              </p:nvSpPr>
              <p:spPr bwMode="auto">
                <a:xfrm>
                  <a:off x="6324600" y="2101850"/>
                  <a:ext cx="2303463" cy="638175"/>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smtClean="0">
                            <a:solidFill>
                              <a:srgbClr val="000000"/>
                            </a:solidFill>
                            <a:latin typeface="Cambria Math" panose="02040503050406030204" pitchFamily="18" charset="0"/>
                          </a:rPr>
                          <m:t>𝜃</m:t>
                        </m:r>
                        <m:r>
                          <a:rPr lang="zh-CN" altLang="en-US" i="1" smtClean="0">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min</m:t>
                            </m:r>
                          </m:fName>
                          <m:e>
                            <m:d>
                              <m:dPr>
                                <m:begChr m:val="{"/>
                                <m:endChr m:val="}"/>
                                <m:ctrlPr>
                                  <a:rPr lang="zh-CN" altLang="en-US" i="1">
                                    <a:solidFill>
                                      <a:srgbClr val="000000"/>
                                    </a:solidFill>
                                    <a:latin typeface="Cambria Math" panose="02040503050406030204" pitchFamily="18" charset="0"/>
                                  </a:rPr>
                                </m:ctrlPr>
                              </m:dPr>
                              <m:e>
                                <m:d>
                                  <m:dPr>
                                    <m:begChr m:val="|"/>
                                    <m:endChr m:val="|"/>
                                    <m:ctrlPr>
                                      <a:rPr lang="en-US" altLang="zh-CN" b="0" i="1" smtClean="0">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4</m:t>
                                        </m:r>
                                      </m:num>
                                      <m:den>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5</m:t>
                                            </m:r>
                                          </m:num>
                                          <m:den>
                                            <m:r>
                                              <a:rPr lang="zh-CN" altLang="en-US" i="1">
                                                <a:solidFill>
                                                  <a:srgbClr val="000000"/>
                                                </a:solidFill>
                                                <a:latin typeface="Cambria Math" panose="02040503050406030204" pitchFamily="18" charset="0"/>
                                              </a:rPr>
                                              <m:t>2</m:t>
                                            </m:r>
                                          </m:den>
                                        </m:f>
                                      </m:den>
                                    </m:f>
                                  </m:e>
                                </m:d>
                                <m:r>
                                  <a:rPr lang="zh-CN" altLang="en-US" i="1">
                                    <a:solidFill>
                                      <a:srgbClr val="000000"/>
                                    </a:solidFill>
                                    <a:latin typeface="Cambria Math" panose="02040503050406030204" pitchFamily="18" charset="0"/>
                                  </a:rPr>
                                  <m:t>,</m:t>
                                </m:r>
                                <m:d>
                                  <m:dPr>
                                    <m:begChr m:val="|"/>
                                    <m:endChr m:val="|"/>
                                    <m:ctrlPr>
                                      <a:rPr lang="en-US" altLang="zh-CN" b="0" i="1" smtClean="0">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den>
                                    </m:f>
                                  </m:e>
                                </m:d>
                              </m:e>
                            </m:d>
                          </m:e>
                        </m:func>
                      </m:oMath>
                    </m:oMathPara>
                  </a14:m>
                  <a:endParaRPr lang="zh-CN" altLang="en-US" dirty="0"/>
                </a:p>
              </p:txBody>
            </p:sp>
          </mc:Choice>
          <mc:Fallback xmlns="">
            <p:sp>
              <p:nvSpPr>
                <p:cNvPr id="17" name="对象 16">
                  <a:extLst>
                    <a:ext uri="{FF2B5EF4-FFF2-40B4-BE49-F238E27FC236}">
                      <a16:creationId xmlns:a16="http://schemas.microsoft.com/office/drawing/2014/main" id="{A2DBD542-B6C7-4FAB-9790-59B97D8763E2}"/>
                    </a:ext>
                  </a:extLst>
                </p:cNvPr>
                <p:cNvSpPr txBox="1">
                  <a:spLocks noRot="1" noChangeAspect="1" noMove="1" noResize="1" noEditPoints="1" noAdjustHandles="1" noChangeArrowheads="1" noChangeShapeType="1" noTextEdit="1"/>
                </p:cNvSpPr>
                <p:nvPr/>
              </p:nvSpPr>
              <p:spPr bwMode="auto">
                <a:xfrm>
                  <a:off x="6324600" y="2101850"/>
                  <a:ext cx="2303463" cy="638175"/>
                </a:xfrm>
                <a:prstGeom prst="rect">
                  <a:avLst/>
                </a:prstGeom>
                <a:blipFill>
                  <a:blip r:embed="rId3"/>
                  <a:stretch>
                    <a:fillRect b="-962"/>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85055" name="对象 17">
                  <a:extLst>
                    <a:ext uri="{FF2B5EF4-FFF2-40B4-BE49-F238E27FC236}">
                      <a16:creationId xmlns:a16="http://schemas.microsoft.com/office/drawing/2014/main" id="{0DA3C105-A590-4CA7-BA5C-37F283135F40}"/>
                    </a:ext>
                  </a:extLst>
                </p:cNvPr>
                <p:cNvGraphicFramePr>
                  <a:graphicFrameLocks noChangeAspect="1"/>
                </p:cNvGraphicFramePr>
                <p:nvPr>
                  <p:extLst>
                    <p:ext uri="{D42A27DB-BD31-4B8C-83A1-F6EECF244321}">
                      <p14:modId xmlns:p14="http://schemas.microsoft.com/office/powerpoint/2010/main" val="3981759899"/>
                    </p:ext>
                  </p:extLst>
                </p:nvPr>
              </p:nvGraphicFramePr>
              <p:xfrm>
                <a:off x="1204912" y="3825875"/>
                <a:ext cx="6734175" cy="2514600"/>
              </p:xfrm>
              <a:graphic>
                <a:graphicData uri="http://schemas.openxmlformats.org/presentationml/2006/ole">
                  <mc:AlternateContent>
                    <mc:Choice xmlns:v="urn:schemas-microsoft-com:vml" Requires="v">
                      <p:oleObj spid="_x0000_s85148" name="Equation" r:id="rId4" imgW="3479800" imgH="1295400" progId="Equation.DSMT4">
                        <p:embed/>
                      </p:oleObj>
                    </mc:Choice>
                    <mc:Fallback>
                      <p:oleObj name="Equation" r:id="rId4" imgW="3479800" imgH="1295400" progId="Equation.DSMT4">
                        <p:embed/>
                        <p:pic>
                          <p:nvPicPr>
                            <p:cNvPr id="0" name="对象 17"/>
                            <p:cNvPicPr>
                              <a:picLocks noChangeAspect="1" noChangeArrowheads="1"/>
                            </p:cNvPicPr>
                            <p:nvPr/>
                          </p:nvPicPr>
                          <p:blipFill>
                            <a:blip r:embed="rId5">
                              <a:extLst>
                                <a:ext uri="{28A0092B-C50C-407E-A947-70E740481C1C}">
                                  <a14:useLocalDpi val="0"/>
                                </a:ext>
                              </a:extLst>
                            </a:blip>
                            <a:srcRect/>
                            <a:stretch>
                              <a:fillRect/>
                            </a:stretch>
                          </p:blipFill>
                          <p:spPr bwMode="auto">
                            <a:xfrm>
                              <a:off x="1204912" y="3825875"/>
                              <a:ext cx="6734175" cy="25146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xmlns="">
            <p:graphicFrame>
              <p:nvGraphicFramePr>
                <p:cNvPr id="85055" name="对象 17">
                  <a:extLst>
                    <a:ext uri="{FF2B5EF4-FFF2-40B4-BE49-F238E27FC236}">
                      <a16:creationId xmlns:a16="http://schemas.microsoft.com/office/drawing/2014/main" id="{0DA3C105-A590-4CA7-BA5C-37F283135F40}"/>
                    </a:ext>
                  </a:extLst>
                </p:cNvPr>
                <p:cNvGraphicFramePr>
                  <a:graphicFrameLocks noChangeAspect="1"/>
                </p:cNvGraphicFramePr>
                <p:nvPr>
                  <p:extLst>
                    <p:ext uri="{D42A27DB-BD31-4B8C-83A1-F6EECF244321}">
                      <p14:modId xmlns:p14="http://schemas.microsoft.com/office/powerpoint/2010/main" val="3981759899"/>
                    </p:ext>
                  </p:extLst>
                </p:nvPr>
              </p:nvGraphicFramePr>
              <p:xfrm>
                <a:off x="1204912" y="3825875"/>
                <a:ext cx="6734175" cy="2514600"/>
              </p:xfrm>
              <a:graphic>
                <a:graphicData uri="http://schemas.openxmlformats.org/presentationml/2006/ole">
                  <mc:AlternateContent>
                    <mc:Choice xmlns:v="urn:schemas-microsoft-com:vml" Requires="v">
                      <p:oleObj spid="_x0000_s85142" name="Equation" r:id="rId6" imgW="3479800" imgH="1295400" progId="Equation.DSMT4">
                        <p:embed/>
                      </p:oleObj>
                    </mc:Choice>
                    <mc:Fallback>
                      <p:oleObj name="Equation" r:id="rId6" imgW="3479800" imgH="1295400" progId="Equation.DSMT4">
                        <p:embed/>
                        <p:pic>
                          <p:nvPicPr>
                            <p:cNvPr id="0" name="对象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4912" y="3825875"/>
                              <a:ext cx="67341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p:grpSp>
      <p:sp>
        <p:nvSpPr>
          <p:cNvPr id="22" name="Line 234">
            <a:extLst>
              <a:ext uri="{FF2B5EF4-FFF2-40B4-BE49-F238E27FC236}">
                <a16:creationId xmlns:a16="http://schemas.microsoft.com/office/drawing/2014/main" id="{C08D81D5-16DE-4F92-8009-056214455F53}"/>
              </a:ext>
            </a:extLst>
          </p:cNvPr>
          <p:cNvSpPr>
            <a:spLocks noChangeShapeType="1"/>
          </p:cNvSpPr>
          <p:nvPr/>
        </p:nvSpPr>
        <p:spPr bwMode="auto">
          <a:xfrm>
            <a:off x="2519363" y="2582863"/>
            <a:ext cx="457200" cy="4762"/>
          </a:xfrm>
          <a:prstGeom prst="line">
            <a:avLst/>
          </a:prstGeom>
          <a:noFill/>
          <a:ln w="952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ppt_x</p:attrName>
                                        </p:attrNameLst>
                                      </p:cBhvr>
                                      <p:tavLst>
                                        <p:tav tm="0">
                                          <p:val>
                                            <p:strVal val="#ppt_x-#ppt_w/2"/>
                                          </p:val>
                                        </p:tav>
                                        <p:tav tm="100000">
                                          <p:val>
                                            <p:strVal val="#ppt_x"/>
                                          </p:val>
                                        </p:tav>
                                      </p:tavLst>
                                    </p:anim>
                                    <p:anim calcmode="lin" valueType="num">
                                      <p:cBhvr>
                                        <p:cTn id="8" dur="500" fill="hold"/>
                                        <p:tgtEl>
                                          <p:spTgt spid="22"/>
                                        </p:tgtEl>
                                        <p:attrNameLst>
                                          <p:attrName>ppt_y</p:attrName>
                                        </p:attrNameLst>
                                      </p:cBhvr>
                                      <p:tavLst>
                                        <p:tav tm="0">
                                          <p:val>
                                            <p:strVal val="#ppt_y"/>
                                          </p:val>
                                        </p:tav>
                                        <p:tav tm="100000">
                                          <p:val>
                                            <p:strVal val="#ppt_y"/>
                                          </p:val>
                                        </p:tav>
                                      </p:tavLst>
                                    </p:anim>
                                    <p:anim calcmode="lin" valueType="num">
                                      <p:cBhvr>
                                        <p:cTn id="9" dur="500" fill="hold"/>
                                        <p:tgtEl>
                                          <p:spTgt spid="22"/>
                                        </p:tgtEl>
                                        <p:attrNameLst>
                                          <p:attrName>ppt_w</p:attrName>
                                        </p:attrNameLst>
                                      </p:cBhvr>
                                      <p:tavLst>
                                        <p:tav tm="0">
                                          <p:val>
                                            <p:fltVal val="0"/>
                                          </p:val>
                                        </p:tav>
                                        <p:tav tm="100000">
                                          <p:val>
                                            <p:strVal val="#ppt_w"/>
                                          </p:val>
                                        </p:tav>
                                      </p:tavLst>
                                    </p:anim>
                                    <p:anim calcmode="lin" valueType="num">
                                      <p:cBhvr>
                                        <p:cTn id="10" dur="5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descr="Large confetti">
            <a:extLst>
              <a:ext uri="{FF2B5EF4-FFF2-40B4-BE49-F238E27FC236}">
                <a16:creationId xmlns:a16="http://schemas.microsoft.com/office/drawing/2014/main" id="{0F335C39-0F3A-42E5-9AA6-4CB3A0A5DA27}"/>
              </a:ext>
            </a:extLst>
          </p:cNvPr>
          <p:cNvSpPr>
            <a:spLocks noGrp="1" noChangeArrowheads="1"/>
          </p:cNvSpPr>
          <p:nvPr>
            <p:ph type="title"/>
          </p:nvPr>
        </p:nvSpPr>
        <p:spPr/>
        <p:txBody>
          <a:bodyPr/>
          <a:lstStyle/>
          <a:p>
            <a:pPr eaLnBrk="1" hangingPunct="1"/>
            <a:r>
              <a:rPr lang="zh-CN" altLang="en-US"/>
              <a:t>对偶单纯形法</a:t>
            </a:r>
          </a:p>
        </p:txBody>
      </p:sp>
      <p:sp>
        <p:nvSpPr>
          <p:cNvPr id="60490" name="Rectangle 149">
            <a:extLst>
              <a:ext uri="{FF2B5EF4-FFF2-40B4-BE49-F238E27FC236}">
                <a16:creationId xmlns:a16="http://schemas.microsoft.com/office/drawing/2014/main" id="{1AD453EE-8757-4777-B23C-6C0DB1600414}"/>
              </a:ext>
            </a:extLst>
          </p:cNvPr>
          <p:cNvSpPr>
            <a:spLocks noChangeArrowheads="1"/>
          </p:cNvSpPr>
          <p:nvPr/>
        </p:nvSpPr>
        <p:spPr bwMode="auto">
          <a:xfrm>
            <a:off x="1981200" y="5695950"/>
            <a:ext cx="5410200" cy="781050"/>
          </a:xfrm>
          <a:prstGeom prst="rect">
            <a:avLst/>
          </a:prstGeom>
          <a:noFill/>
          <a:ln>
            <a:noFill/>
          </a:ln>
        </p:spPr>
        <p:txBody>
          <a:bodyPr>
            <a:spAutoFit/>
          </a:bodyPr>
          <a:lstStyle>
            <a:lvl1pPr eaLnBrk="0" hangingPunct="0">
              <a:defRPr kumimoji="1" sz="2400" b="1">
                <a:solidFill>
                  <a:schemeClr val="bg2"/>
                </a:solidFill>
                <a:latin typeface="Times New Roman" panose="02020603050405020304" pitchFamily="18" charset="0"/>
                <a:ea typeface="华文细黑" panose="02010600040101010101" pitchFamily="2" charset="-122"/>
              </a:defRPr>
            </a:lvl1pPr>
            <a:lvl2pPr marL="742950" indent="-285750" eaLnBrk="0" hangingPunct="0">
              <a:defRPr kumimoji="1" sz="2400" b="1">
                <a:solidFill>
                  <a:schemeClr val="bg2"/>
                </a:solidFill>
                <a:latin typeface="Times New Roman" panose="02020603050405020304" pitchFamily="18" charset="0"/>
                <a:ea typeface="华文细黑" panose="02010600040101010101" pitchFamily="2" charset="-122"/>
              </a:defRPr>
            </a:lvl2pPr>
            <a:lvl3pPr marL="1143000" indent="-228600" eaLnBrk="0" hangingPunct="0">
              <a:defRPr kumimoji="1" sz="2400" b="1">
                <a:solidFill>
                  <a:schemeClr val="bg2"/>
                </a:solidFill>
                <a:latin typeface="Times New Roman" panose="02020603050405020304" pitchFamily="18" charset="0"/>
                <a:ea typeface="华文细黑" panose="02010600040101010101" pitchFamily="2" charset="-122"/>
              </a:defRPr>
            </a:lvl3pPr>
            <a:lvl4pPr marL="1600200" indent="-228600" eaLnBrk="0" hangingPunct="0">
              <a:defRPr kumimoji="1" sz="2400" b="1">
                <a:solidFill>
                  <a:schemeClr val="bg2"/>
                </a:solidFill>
                <a:latin typeface="Times New Roman" panose="02020603050405020304" pitchFamily="18" charset="0"/>
                <a:ea typeface="华文细黑" panose="02010600040101010101" pitchFamily="2" charset="-122"/>
              </a:defRPr>
            </a:lvl4pPr>
            <a:lvl5pPr marL="2057400" indent="-228600" eaLnBrk="0" hangingPunct="0">
              <a:defRPr kumimoji="1" sz="2400" b="1">
                <a:solidFill>
                  <a:schemeClr val="bg2"/>
                </a:solidFill>
                <a:latin typeface="Times New Roman" panose="02020603050405020304" pitchFamily="18" charset="0"/>
                <a:ea typeface="华文细黑" panose="02010600040101010101" pitchFamily="2" charset="-122"/>
              </a:defRPr>
            </a:lvl5pPr>
            <a:lvl6pPr marL="2514600" indent="-228600"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6pPr>
            <a:lvl7pPr marL="2971800" indent="-228600"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7pPr>
            <a:lvl8pPr marL="3429000" indent="-228600"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8pPr>
            <a:lvl9pPr marL="3886200" indent="-228600" eaLnBrk="0" fontAlgn="base" hangingPunct="0">
              <a:lnSpc>
                <a:spcPct val="120000"/>
              </a:lnSpc>
              <a:spcBef>
                <a:spcPct val="50000"/>
              </a:spcBef>
              <a:spcAft>
                <a:spcPct val="0"/>
              </a:spcAft>
              <a:buSzPct val="85000"/>
              <a:defRPr kumimoji="1" sz="2400" b="1">
                <a:solidFill>
                  <a:schemeClr val="bg2"/>
                </a:solidFill>
                <a:latin typeface="Times New Roman" panose="02020603050405020304" pitchFamily="18" charset="0"/>
                <a:ea typeface="华文细黑" panose="02010600040101010101" pitchFamily="2" charset="-122"/>
              </a:defRPr>
            </a:lvl9pPr>
          </a:lstStyle>
          <a:p>
            <a:pPr eaLnBrk="1" hangingPunct="1">
              <a:lnSpc>
                <a:spcPct val="140000"/>
              </a:lnSpc>
              <a:defRPr/>
            </a:pPr>
            <a:r>
              <a:rPr lang="zh-CN" altLang="en-US" sz="1600" dirty="0">
                <a:solidFill>
                  <a:schemeClr val="tx1"/>
                </a:solidFill>
                <a:ea typeface="+mn-ea"/>
                <a:cs typeface="Times New Roman" panose="02020603050405020304" pitchFamily="18" charset="0"/>
              </a:rPr>
              <a:t>原问题的最优解为：</a:t>
            </a:r>
            <a:r>
              <a:rPr lang="en-US" altLang="zh-CN" sz="1600" dirty="0">
                <a:solidFill>
                  <a:schemeClr val="tx1"/>
                </a:solidFill>
                <a:ea typeface="+mn-ea"/>
                <a:cs typeface="Times New Roman" panose="02020603050405020304" pitchFamily="18" charset="0"/>
              </a:rPr>
              <a:t>X</a:t>
            </a:r>
            <a:r>
              <a:rPr lang="en-US" altLang="zh-CN" sz="1600" baseline="30000" dirty="0">
                <a:solidFill>
                  <a:schemeClr val="tx1"/>
                </a:solidFill>
                <a:ea typeface="+mn-ea"/>
                <a:cs typeface="Times New Roman" panose="02020603050405020304" pitchFamily="18" charset="0"/>
              </a:rPr>
              <a:t>*</a:t>
            </a:r>
            <a:r>
              <a:rPr lang="en-US" altLang="zh-CN" sz="1600" dirty="0">
                <a:solidFill>
                  <a:schemeClr val="tx1"/>
                </a:solidFill>
                <a:ea typeface="+mn-ea"/>
                <a:cs typeface="Times New Roman" panose="02020603050405020304" pitchFamily="18" charset="0"/>
              </a:rPr>
              <a:t>=(11/5,2/5,0,0,0), z</a:t>
            </a:r>
            <a:r>
              <a:rPr lang="en-US" altLang="zh-CN" sz="1600" baseline="30000" dirty="0">
                <a:solidFill>
                  <a:schemeClr val="tx1"/>
                </a:solidFill>
                <a:ea typeface="+mn-ea"/>
                <a:cs typeface="Times New Roman" panose="02020603050405020304" pitchFamily="18" charset="0"/>
              </a:rPr>
              <a:t>*</a:t>
            </a:r>
            <a:r>
              <a:rPr lang="en-US" altLang="zh-CN" sz="1600" dirty="0">
                <a:solidFill>
                  <a:schemeClr val="tx1"/>
                </a:solidFill>
                <a:ea typeface="+mn-ea"/>
                <a:cs typeface="Times New Roman" panose="02020603050405020304" pitchFamily="18" charset="0"/>
              </a:rPr>
              <a:t> =28/5 </a:t>
            </a:r>
          </a:p>
          <a:p>
            <a:pPr eaLnBrk="1" hangingPunct="1">
              <a:lnSpc>
                <a:spcPct val="140000"/>
              </a:lnSpc>
              <a:defRPr/>
            </a:pPr>
            <a:r>
              <a:rPr lang="zh-CN" altLang="en-US" sz="1600" dirty="0">
                <a:solidFill>
                  <a:schemeClr val="tx1"/>
                </a:solidFill>
                <a:ea typeface="+mn-ea"/>
                <a:cs typeface="Times New Roman" panose="02020603050405020304" pitchFamily="18" charset="0"/>
              </a:rPr>
              <a:t>其对偶问题的最优解为：</a:t>
            </a:r>
            <a:r>
              <a:rPr lang="en-US" altLang="zh-CN" sz="1600" dirty="0">
                <a:solidFill>
                  <a:schemeClr val="tx1"/>
                </a:solidFill>
                <a:ea typeface="+mn-ea"/>
                <a:cs typeface="Times New Roman" panose="02020603050405020304" pitchFamily="18" charset="0"/>
              </a:rPr>
              <a:t>Y</a:t>
            </a:r>
            <a:r>
              <a:rPr lang="en-US" altLang="zh-CN" sz="1600" baseline="30000" dirty="0">
                <a:solidFill>
                  <a:schemeClr val="tx1"/>
                </a:solidFill>
                <a:ea typeface="+mn-ea"/>
                <a:cs typeface="Times New Roman" panose="02020603050405020304" pitchFamily="18" charset="0"/>
              </a:rPr>
              <a:t>*</a:t>
            </a:r>
            <a:r>
              <a:rPr lang="en-US" altLang="zh-CN" sz="1600" dirty="0">
                <a:solidFill>
                  <a:schemeClr val="tx1"/>
                </a:solidFill>
                <a:ea typeface="+mn-ea"/>
                <a:cs typeface="Times New Roman" panose="02020603050405020304" pitchFamily="18" charset="0"/>
              </a:rPr>
              <a:t>=(8/5,</a:t>
            </a:r>
            <a:r>
              <a:rPr lang="zh-CN" altLang="en-US" sz="1600" dirty="0">
                <a:solidFill>
                  <a:schemeClr val="tx1"/>
                </a:solidFill>
                <a:ea typeface="+mn-ea"/>
                <a:cs typeface="Times New Roman" panose="02020603050405020304" pitchFamily="18" charset="0"/>
              </a:rPr>
              <a:t> </a:t>
            </a:r>
            <a:r>
              <a:rPr lang="en-US" altLang="zh-CN" sz="1600" dirty="0">
                <a:solidFill>
                  <a:schemeClr val="tx1"/>
                </a:solidFill>
                <a:ea typeface="+mn-ea"/>
                <a:cs typeface="Times New Roman" panose="02020603050405020304" pitchFamily="18" charset="0"/>
              </a:rPr>
              <a:t>1/5, 0, 0, 9/5), </a:t>
            </a:r>
            <a:r>
              <a:rPr lang="el-GR" altLang="zh-CN" sz="1600" dirty="0">
                <a:solidFill>
                  <a:schemeClr val="tx1"/>
                </a:solidFill>
                <a:ea typeface="+mn-ea"/>
                <a:cs typeface="Times New Roman" panose="02020603050405020304" pitchFamily="18" charset="0"/>
              </a:rPr>
              <a:t>ω</a:t>
            </a:r>
            <a:r>
              <a:rPr lang="en-US" altLang="zh-CN" sz="1600" baseline="30000" dirty="0">
                <a:solidFill>
                  <a:schemeClr val="tx1"/>
                </a:solidFill>
                <a:ea typeface="+mn-ea"/>
                <a:cs typeface="Times New Roman" panose="02020603050405020304" pitchFamily="18" charset="0"/>
              </a:rPr>
              <a:t>*</a:t>
            </a:r>
            <a:r>
              <a:rPr lang="en-US" altLang="zh-CN" sz="1600" dirty="0">
                <a:solidFill>
                  <a:schemeClr val="tx1"/>
                </a:solidFill>
                <a:ea typeface="+mn-ea"/>
                <a:cs typeface="Times New Roman" panose="02020603050405020304" pitchFamily="18" charset="0"/>
              </a:rPr>
              <a:t>= </a:t>
            </a:r>
            <a:r>
              <a:rPr lang="en-US" altLang="zh-CN" sz="1600" dirty="0">
                <a:solidFill>
                  <a:schemeClr val="tx1"/>
                </a:solidFill>
                <a:cs typeface="Times New Roman" panose="02020603050405020304" pitchFamily="18" charset="0"/>
              </a:rPr>
              <a:t>28/5</a:t>
            </a:r>
            <a:endParaRPr lang="en-US" altLang="zh-CN" sz="1600" dirty="0">
              <a:solidFill>
                <a:schemeClr val="tx1"/>
              </a:solidFill>
              <a:ea typeface="+mn-ea"/>
              <a:cs typeface="Times New Roman" panose="02020603050405020304" pitchFamily="18" charset="0"/>
            </a:endParaRPr>
          </a:p>
        </p:txBody>
      </p:sp>
      <p:graphicFrame>
        <p:nvGraphicFramePr>
          <p:cNvPr id="8" name="Group 235">
            <a:extLst>
              <a:ext uri="{FF2B5EF4-FFF2-40B4-BE49-F238E27FC236}">
                <a16:creationId xmlns:a16="http://schemas.microsoft.com/office/drawing/2014/main" id="{FCF54924-E865-42FC-89E9-0BB7E9CC622C}"/>
              </a:ext>
            </a:extLst>
          </p:cNvPr>
          <p:cNvGraphicFramePr>
            <a:graphicFrameLocks noGrp="1"/>
          </p:cNvGraphicFramePr>
          <p:nvPr>
            <p:extLst>
              <p:ext uri="{D42A27DB-BD31-4B8C-83A1-F6EECF244321}">
                <p14:modId xmlns:p14="http://schemas.microsoft.com/office/powerpoint/2010/main" val="1522489274"/>
              </p:ext>
            </p:extLst>
          </p:nvPr>
        </p:nvGraphicFramePr>
        <p:xfrm>
          <a:off x="719138" y="1219200"/>
          <a:ext cx="7853362" cy="2359026"/>
        </p:xfrm>
        <a:graphic>
          <a:graphicData uri="http://schemas.openxmlformats.org/drawingml/2006/table">
            <a:tbl>
              <a:tblPr/>
              <a:tblGrid>
                <a:gridCol w="1042987">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gridCol w="739775">
                  <a:extLst>
                    <a:ext uri="{9D8B030D-6E8A-4147-A177-3AD203B41FA5}">
                      <a16:colId xmlns:a16="http://schemas.microsoft.com/office/drawing/2014/main" val="20002"/>
                    </a:ext>
                  </a:extLst>
                </a:gridCol>
                <a:gridCol w="673100">
                  <a:extLst>
                    <a:ext uri="{9D8B030D-6E8A-4147-A177-3AD203B41FA5}">
                      <a16:colId xmlns:a16="http://schemas.microsoft.com/office/drawing/2014/main" val="20003"/>
                    </a:ext>
                  </a:extLst>
                </a:gridCol>
                <a:gridCol w="658812">
                  <a:extLst>
                    <a:ext uri="{9D8B030D-6E8A-4147-A177-3AD203B41FA5}">
                      <a16:colId xmlns:a16="http://schemas.microsoft.com/office/drawing/2014/main" val="20004"/>
                    </a:ext>
                  </a:extLst>
                </a:gridCol>
                <a:gridCol w="620713">
                  <a:extLst>
                    <a:ext uri="{9D8B030D-6E8A-4147-A177-3AD203B41FA5}">
                      <a16:colId xmlns:a16="http://schemas.microsoft.com/office/drawing/2014/main" val="20005"/>
                    </a:ext>
                  </a:extLst>
                </a:gridCol>
                <a:gridCol w="604837">
                  <a:extLst>
                    <a:ext uri="{9D8B030D-6E8A-4147-A177-3AD203B41FA5}">
                      <a16:colId xmlns:a16="http://schemas.microsoft.com/office/drawing/2014/main" val="20006"/>
                    </a:ext>
                  </a:extLst>
                </a:gridCol>
                <a:gridCol w="606425">
                  <a:extLst>
                    <a:ext uri="{9D8B030D-6E8A-4147-A177-3AD203B41FA5}">
                      <a16:colId xmlns:a16="http://schemas.microsoft.com/office/drawing/2014/main" val="20007"/>
                    </a:ext>
                  </a:extLst>
                </a:gridCol>
                <a:gridCol w="2165350">
                  <a:extLst>
                    <a:ext uri="{9D8B030D-6E8A-4147-A177-3AD203B41FA5}">
                      <a16:colId xmlns:a16="http://schemas.microsoft.com/office/drawing/2014/main" val="20008"/>
                    </a:ext>
                  </a:extLst>
                </a:gridCol>
              </a:tblGrid>
              <a:tr h="455766">
                <a:tc gridSpan="3">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j</a:t>
                      </a: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2">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l-GR"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ϴ</a:t>
                      </a:r>
                      <a:r>
                        <a:rPr kumimoji="1" lang="en-US" altLang="zh-CN" sz="1800" b="1" i="0" u="none" strike="noStrike" cap="none" normalizeH="0" baseline="-25000" dirty="0" err="1">
                          <a:ln>
                            <a:noFill/>
                          </a:ln>
                          <a:solidFill>
                            <a:schemeClr val="tx1"/>
                          </a:solidFill>
                          <a:effectLst/>
                          <a:latin typeface="Times New Roman" panose="02020603050405020304" pitchFamily="18" charset="0"/>
                          <a:ea typeface="华文细黑" panose="02010600040101010101" pitchFamily="2" charset="-122"/>
                        </a:rPr>
                        <a:t>i</a:t>
                      </a:r>
                      <a:endParaRPr kumimoji="1" lang="zh-CN"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vMerge="1">
                  <a:txBody>
                    <a:bodyPr/>
                    <a:lstStyle/>
                    <a:p>
                      <a:endParaRPr lang="zh-CN" altLang="en-US"/>
                    </a:p>
                  </a:txBody>
                  <a:tcPr/>
                </a:tc>
                <a:extLst>
                  <a:ext uri="{0D108BD9-81ED-4DB2-BD59-A6C34878D82A}">
                    <a16:rowId xmlns:a16="http://schemas.microsoft.com/office/drawing/2014/main" val="10001"/>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11/5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7/5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18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5962">
                <a:tc gridSpan="3">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1" lang="el-GR" altLang="zh-CN" sz="24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σ</a:t>
                      </a:r>
                      <a:r>
                        <a:rPr kumimoji="1" lang="en-US" altLang="zh-CN" sz="24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j</a:t>
                      </a:r>
                      <a:r>
                        <a:rPr kumimoji="1" lang="en-US" altLang="zh-CN" sz="24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a:t>
                      </a:r>
                      <a:r>
                        <a:rPr kumimoji="1" lang="en-US" altLang="zh-CN" sz="2400" b="1" i="0" u="none" strike="noStrike" cap="none" normalizeH="0" baseline="0" dirty="0" err="1">
                          <a:ln>
                            <a:noFill/>
                          </a:ln>
                          <a:solidFill>
                            <a:srgbClr val="000000"/>
                          </a:solidFill>
                          <a:effectLst/>
                          <a:latin typeface="Times New Roman" panose="02020603050405020304" pitchFamily="18" charset="0"/>
                          <a:ea typeface="华文细黑" panose="02010600040101010101" pitchFamily="2" charset="-122"/>
                        </a:rPr>
                        <a:t>c</a:t>
                      </a:r>
                      <a:r>
                        <a:rPr kumimoji="1" lang="en-US" altLang="zh-CN" sz="2400" b="1" i="0" u="none" strike="noStrike" cap="none" normalizeH="0" baseline="-25000" dirty="0" err="1">
                          <a:ln>
                            <a:noFill/>
                          </a:ln>
                          <a:solidFill>
                            <a:srgbClr val="000000"/>
                          </a:solidFill>
                          <a:effectLst/>
                          <a:latin typeface="Times New Roman" panose="02020603050405020304" pitchFamily="18" charset="0"/>
                          <a:ea typeface="华文细黑" panose="02010600040101010101" pitchFamily="2" charset="-122"/>
                        </a:rPr>
                        <a:t>j</a:t>
                      </a:r>
                      <a:r>
                        <a:rPr kumimoji="1" lang="en-US" altLang="zh-CN" sz="2400" b="1" i="0" u="none" strike="noStrike" cap="none" normalizeH="0" baseline="0" dirty="0" err="1">
                          <a:ln>
                            <a:noFill/>
                          </a:ln>
                          <a:solidFill>
                            <a:srgbClr val="000000"/>
                          </a:solidFill>
                          <a:effectLst/>
                          <a:latin typeface="Times New Roman" panose="02020603050405020304" pitchFamily="18" charset="0"/>
                          <a:ea typeface="华文细黑" panose="02010600040101010101" pitchFamily="2" charset="-122"/>
                        </a:rPr>
                        <a:t>-z</a:t>
                      </a:r>
                      <a:r>
                        <a:rPr kumimoji="1" lang="en-US" altLang="zh-CN" sz="2400" b="1" i="0" u="none" strike="noStrike" cap="none" normalizeH="0" baseline="-25000" dirty="0" err="1">
                          <a:ln>
                            <a:noFill/>
                          </a:ln>
                          <a:solidFill>
                            <a:srgbClr val="000000"/>
                          </a:solidFill>
                          <a:effectLst/>
                          <a:latin typeface="Times New Roman" panose="02020603050405020304" pitchFamily="18" charset="0"/>
                          <a:ea typeface="华文细黑" panose="02010600040101010101" pitchFamily="2" charset="-122"/>
                        </a:rPr>
                        <a:t>j</a:t>
                      </a:r>
                      <a:endParaRPr kumimoji="1"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dirty="0"/>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9/5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8/5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86077" name="对象 9">
            <a:extLst>
              <a:ext uri="{FF2B5EF4-FFF2-40B4-BE49-F238E27FC236}">
                <a16:creationId xmlns:a16="http://schemas.microsoft.com/office/drawing/2014/main" id="{E2AAABAC-1B5A-4C5D-9257-A799E0D6DF69}"/>
              </a:ext>
            </a:extLst>
          </p:cNvPr>
          <p:cNvGraphicFramePr>
            <a:graphicFrameLocks noChangeAspect="1"/>
          </p:cNvGraphicFramePr>
          <p:nvPr/>
        </p:nvGraphicFramePr>
        <p:xfrm>
          <a:off x="2046288" y="4037013"/>
          <a:ext cx="6804025" cy="1677987"/>
        </p:xfrm>
        <a:graphic>
          <a:graphicData uri="http://schemas.openxmlformats.org/presentationml/2006/ole">
            <mc:AlternateContent xmlns:mc="http://schemas.openxmlformats.org/markup-compatibility/2006">
              <mc:Choice xmlns:v="urn:schemas-microsoft-com:vml" Requires="v">
                <p:oleObj spid="_x0000_s86369" name="Equation" r:id="rId3" imgW="3924300" imgH="965200" progId="Equation.DSMT4">
                  <p:embed/>
                </p:oleObj>
              </mc:Choice>
              <mc:Fallback>
                <p:oleObj name="Equation" r:id="rId3" imgW="3924300" imgH="965200" progId="Equation.DSMT4">
                  <p:embed/>
                  <p:pic>
                    <p:nvPicPr>
                      <p:cNvPr id="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6288" y="4037013"/>
                        <a:ext cx="6804025"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78" name="矩形 11">
            <a:extLst>
              <a:ext uri="{FF2B5EF4-FFF2-40B4-BE49-F238E27FC236}">
                <a16:creationId xmlns:a16="http://schemas.microsoft.com/office/drawing/2014/main" id="{3C09FC06-AA5C-4A7E-803D-4A75C470AE63}"/>
              </a:ext>
            </a:extLst>
          </p:cNvPr>
          <p:cNvSpPr>
            <a:spLocks noChangeArrowheads="1"/>
          </p:cNvSpPr>
          <p:nvPr/>
        </p:nvSpPr>
        <p:spPr bwMode="auto">
          <a:xfrm>
            <a:off x="415925" y="5164138"/>
            <a:ext cx="1336675" cy="64611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a:solidFill>
                  <a:srgbClr val="FF00FF"/>
                </a:solidFill>
              </a:rPr>
              <a:t>PPT17</a:t>
            </a:r>
          </a:p>
          <a:p>
            <a:pPr algn="just"/>
            <a:r>
              <a:rPr lang="en-US" altLang="zh-CN">
                <a:solidFill>
                  <a:srgbClr val="FF00FF"/>
                </a:solidFill>
              </a:rPr>
              <a:t>“</a:t>
            </a:r>
            <a:r>
              <a:rPr lang="zh-CN" altLang="en-US">
                <a:solidFill>
                  <a:srgbClr val="FF00FF"/>
                </a:solidFill>
              </a:rPr>
              <a:t>填表游戏</a:t>
            </a:r>
            <a:r>
              <a:rPr lang="en-US" altLang="zh-CN">
                <a:solidFill>
                  <a:srgbClr val="FF00FF"/>
                </a:solidFill>
              </a:rPr>
              <a:t>”</a:t>
            </a:r>
            <a:endParaRPr lang="zh-CN" altLang="en-US">
              <a:solidFill>
                <a:srgbClr val="FF00FF"/>
              </a:solidFill>
            </a:endParaRPr>
          </a:p>
        </p:txBody>
      </p:sp>
      <p:pic>
        <p:nvPicPr>
          <p:cNvPr id="86079" name="图片 1">
            <a:extLst>
              <a:ext uri="{FF2B5EF4-FFF2-40B4-BE49-F238E27FC236}">
                <a16:creationId xmlns:a16="http://schemas.microsoft.com/office/drawing/2014/main" id="{F738046B-E7D0-4CFB-B3C9-52AF3B7A041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1338" y="3711575"/>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6080" name="组合 21">
            <a:extLst>
              <a:ext uri="{FF2B5EF4-FFF2-40B4-BE49-F238E27FC236}">
                <a16:creationId xmlns:a16="http://schemas.microsoft.com/office/drawing/2014/main" id="{A794F5D5-A43F-4859-BDF6-421F5D428D16}"/>
              </a:ext>
            </a:extLst>
          </p:cNvPr>
          <p:cNvGrpSpPr>
            <a:grpSpLocks/>
          </p:cNvGrpSpPr>
          <p:nvPr/>
        </p:nvGrpSpPr>
        <p:grpSpPr bwMode="auto">
          <a:xfrm>
            <a:off x="4583113" y="3581400"/>
            <a:ext cx="1925637" cy="333375"/>
            <a:chOff x="4402037" y="6143625"/>
            <a:chExt cx="1925700" cy="333375"/>
          </a:xfrm>
        </p:grpSpPr>
        <p:graphicFrame>
          <p:nvGraphicFramePr>
            <p:cNvPr id="86084" name="对象 22">
              <a:extLst>
                <a:ext uri="{FF2B5EF4-FFF2-40B4-BE49-F238E27FC236}">
                  <a16:creationId xmlns:a16="http://schemas.microsoft.com/office/drawing/2014/main" id="{65CC4BF6-EC1B-4E92-9975-0BF4460551EE}"/>
                </a:ext>
              </a:extLst>
            </p:cNvPr>
            <p:cNvGraphicFramePr>
              <a:graphicFrameLocks noChangeAspect="1"/>
            </p:cNvGraphicFramePr>
            <p:nvPr/>
          </p:nvGraphicFramePr>
          <p:xfrm>
            <a:off x="4402037" y="6157913"/>
            <a:ext cx="681059" cy="319087"/>
          </p:xfrm>
          <a:graphic>
            <a:graphicData uri="http://schemas.openxmlformats.org/presentationml/2006/ole">
              <mc:AlternateContent xmlns:mc="http://schemas.openxmlformats.org/markup-compatibility/2006">
                <mc:Choice xmlns:v="urn:schemas-microsoft-com:vml" Requires="v">
                  <p:oleObj spid="_x0000_s86370" name="Equation" r:id="rId6" imgW="406224" imgH="190417" progId="Equation.DSMT4">
                    <p:embed/>
                  </p:oleObj>
                </mc:Choice>
                <mc:Fallback>
                  <p:oleObj name="Equation" r:id="rId6" imgW="406224" imgH="190417" progId="Equation.DSMT4">
                    <p:embed/>
                    <p:pic>
                      <p:nvPicPr>
                        <p:cNvPr id="0" name="对象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2037" y="6157913"/>
                          <a:ext cx="681059"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85" name="对象 23">
              <a:extLst>
                <a:ext uri="{FF2B5EF4-FFF2-40B4-BE49-F238E27FC236}">
                  <a16:creationId xmlns:a16="http://schemas.microsoft.com/office/drawing/2014/main" id="{7AFDD58C-F5A2-4D64-9871-E4E1C6FFE795}"/>
                </a:ext>
              </a:extLst>
            </p:cNvPr>
            <p:cNvGraphicFramePr>
              <a:graphicFrameLocks noChangeAspect="1"/>
            </p:cNvGraphicFramePr>
            <p:nvPr/>
          </p:nvGraphicFramePr>
          <p:xfrm>
            <a:off x="5067221" y="6157913"/>
            <a:ext cx="681060" cy="319087"/>
          </p:xfrm>
          <a:graphic>
            <a:graphicData uri="http://schemas.openxmlformats.org/presentationml/2006/ole">
              <mc:AlternateContent xmlns:mc="http://schemas.openxmlformats.org/markup-compatibility/2006">
                <mc:Choice xmlns:v="urn:schemas-microsoft-com:vml" Requires="v">
                  <p:oleObj spid="_x0000_s86371" name="Equation" r:id="rId8" imgW="406224" imgH="190417" progId="Equation.DSMT4">
                    <p:embed/>
                  </p:oleObj>
                </mc:Choice>
                <mc:Fallback>
                  <p:oleObj name="Equation" r:id="rId8" imgW="406224" imgH="190417" progId="Equation.DSMT4">
                    <p:embed/>
                    <p:pic>
                      <p:nvPicPr>
                        <p:cNvPr id="0" name="对象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67221" y="6157913"/>
                          <a:ext cx="68106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86" name="对象 24">
              <a:extLst>
                <a:ext uri="{FF2B5EF4-FFF2-40B4-BE49-F238E27FC236}">
                  <a16:creationId xmlns:a16="http://schemas.microsoft.com/office/drawing/2014/main" id="{A347188E-C39A-41DF-BA5A-B070018D8AB5}"/>
                </a:ext>
              </a:extLst>
            </p:cNvPr>
            <p:cNvGraphicFramePr>
              <a:graphicFrameLocks noChangeAspect="1"/>
            </p:cNvGraphicFramePr>
            <p:nvPr/>
          </p:nvGraphicFramePr>
          <p:xfrm>
            <a:off x="5665728" y="6143625"/>
            <a:ext cx="662009" cy="319088"/>
          </p:xfrm>
          <a:graphic>
            <a:graphicData uri="http://schemas.openxmlformats.org/presentationml/2006/ole">
              <mc:AlternateContent xmlns:mc="http://schemas.openxmlformats.org/markup-compatibility/2006">
                <mc:Choice xmlns:v="urn:schemas-microsoft-com:vml" Requires="v">
                  <p:oleObj spid="_x0000_s86372" name="Equation" r:id="rId10" imgW="393529" imgH="190417" progId="Equation.DSMT4">
                    <p:embed/>
                  </p:oleObj>
                </mc:Choice>
                <mc:Fallback>
                  <p:oleObj name="Equation" r:id="rId10" imgW="393529" imgH="190417" progId="Equation.DSMT4">
                    <p:embed/>
                    <p:pic>
                      <p:nvPicPr>
                        <p:cNvPr id="0" name="对象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65728" y="6143625"/>
                          <a:ext cx="662009"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6081" name="组合 29">
            <a:extLst>
              <a:ext uri="{FF2B5EF4-FFF2-40B4-BE49-F238E27FC236}">
                <a16:creationId xmlns:a16="http://schemas.microsoft.com/office/drawing/2014/main" id="{D1276310-E814-4EDB-9399-8CAA4717C307}"/>
              </a:ext>
            </a:extLst>
          </p:cNvPr>
          <p:cNvGrpSpPr>
            <a:grpSpLocks/>
          </p:cNvGrpSpPr>
          <p:nvPr/>
        </p:nvGrpSpPr>
        <p:grpSpPr bwMode="auto">
          <a:xfrm>
            <a:off x="3328988" y="3594100"/>
            <a:ext cx="1141412" cy="320675"/>
            <a:chOff x="2992543" y="6157913"/>
            <a:chExt cx="1142007" cy="320675"/>
          </a:xfrm>
        </p:grpSpPr>
        <p:graphicFrame>
          <p:nvGraphicFramePr>
            <p:cNvPr id="86082" name="对象 30">
              <a:extLst>
                <a:ext uri="{FF2B5EF4-FFF2-40B4-BE49-F238E27FC236}">
                  <a16:creationId xmlns:a16="http://schemas.microsoft.com/office/drawing/2014/main" id="{EC19A000-1AEB-4FBE-924A-547905939148}"/>
                </a:ext>
              </a:extLst>
            </p:cNvPr>
            <p:cNvGraphicFramePr>
              <a:graphicFrameLocks noChangeAspect="1"/>
            </p:cNvGraphicFramePr>
            <p:nvPr/>
          </p:nvGraphicFramePr>
          <p:xfrm>
            <a:off x="2992543" y="6157913"/>
            <a:ext cx="490792" cy="319088"/>
          </p:xfrm>
          <a:graphic>
            <a:graphicData uri="http://schemas.openxmlformats.org/presentationml/2006/ole">
              <mc:AlternateContent xmlns:mc="http://schemas.openxmlformats.org/markup-compatibility/2006">
                <mc:Choice xmlns:v="urn:schemas-microsoft-com:vml" Requires="v">
                  <p:oleObj spid="_x0000_s86373" name="Equation" r:id="rId12" imgW="291973" imgH="190417" progId="Equation.DSMT4">
                    <p:embed/>
                  </p:oleObj>
                </mc:Choice>
                <mc:Fallback>
                  <p:oleObj name="Equation" r:id="rId12" imgW="291973" imgH="190417" progId="Equation.DSMT4">
                    <p:embed/>
                    <p:pic>
                      <p:nvPicPr>
                        <p:cNvPr id="0" name="对象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92543" y="6157913"/>
                          <a:ext cx="490792"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83" name="对象 31">
              <a:extLst>
                <a:ext uri="{FF2B5EF4-FFF2-40B4-BE49-F238E27FC236}">
                  <a16:creationId xmlns:a16="http://schemas.microsoft.com/office/drawing/2014/main" id="{ABE5D720-2D36-45F7-AC99-69BD8B9D942C}"/>
                </a:ext>
              </a:extLst>
            </p:cNvPr>
            <p:cNvGraphicFramePr>
              <a:graphicFrameLocks noChangeAspect="1"/>
            </p:cNvGraphicFramePr>
            <p:nvPr/>
          </p:nvGraphicFramePr>
          <p:xfrm>
            <a:off x="3643758" y="6159501"/>
            <a:ext cx="490792" cy="319087"/>
          </p:xfrm>
          <a:graphic>
            <a:graphicData uri="http://schemas.openxmlformats.org/presentationml/2006/ole">
              <mc:AlternateContent xmlns:mc="http://schemas.openxmlformats.org/markup-compatibility/2006">
                <mc:Choice xmlns:v="urn:schemas-microsoft-com:vml" Requires="v">
                  <p:oleObj spid="_x0000_s86374" name="Equation" r:id="rId14" imgW="291973" imgH="190417" progId="Equation.DSMT4">
                    <p:embed/>
                  </p:oleObj>
                </mc:Choice>
                <mc:Fallback>
                  <p:oleObj name="Equation" r:id="rId14" imgW="291973" imgH="190417" progId="Equation.DSMT4">
                    <p:embed/>
                    <p:pic>
                      <p:nvPicPr>
                        <p:cNvPr id="0" name="对象 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43758" y="6159501"/>
                          <a:ext cx="490792"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descr="Large confetti">
            <a:extLst>
              <a:ext uri="{FF2B5EF4-FFF2-40B4-BE49-F238E27FC236}">
                <a16:creationId xmlns:a16="http://schemas.microsoft.com/office/drawing/2014/main" id="{A4CD2593-79B3-49C7-81E8-430DB0B8A7CA}"/>
              </a:ext>
            </a:extLst>
          </p:cNvPr>
          <p:cNvSpPr>
            <a:spLocks noGrp="1" noChangeArrowheads="1"/>
          </p:cNvSpPr>
          <p:nvPr>
            <p:ph type="title"/>
          </p:nvPr>
        </p:nvSpPr>
        <p:spPr/>
        <p:txBody>
          <a:bodyPr/>
          <a:lstStyle/>
          <a:p>
            <a:pPr eaLnBrk="1" hangingPunct="1"/>
            <a:r>
              <a:rPr lang="en-US" altLang="zh-CN"/>
              <a:t>Lingo</a:t>
            </a:r>
            <a:r>
              <a:rPr lang="zh-CN" altLang="en-US"/>
              <a:t>求解对偶单纯形问题</a:t>
            </a:r>
          </a:p>
        </p:txBody>
      </p:sp>
      <p:sp>
        <p:nvSpPr>
          <p:cNvPr id="2" name="矩形 1">
            <a:extLst>
              <a:ext uri="{FF2B5EF4-FFF2-40B4-BE49-F238E27FC236}">
                <a16:creationId xmlns:a16="http://schemas.microsoft.com/office/drawing/2014/main" id="{CA0BD466-3905-4602-9621-15AF6CF31212}"/>
              </a:ext>
            </a:extLst>
          </p:cNvPr>
          <p:cNvSpPr/>
          <p:nvPr/>
        </p:nvSpPr>
        <p:spPr>
          <a:xfrm>
            <a:off x="490538" y="1295400"/>
            <a:ext cx="1416050" cy="584200"/>
          </a:xfrm>
          <a:prstGeom prst="rect">
            <a:avLst/>
          </a:prstGeom>
        </p:spPr>
        <p:txBody>
          <a:bodyPr wrap="none">
            <a:spAutoFit/>
          </a:bodyPr>
          <a:lstStyle/>
          <a:p>
            <a:pPr>
              <a:defRPr/>
            </a:pPr>
            <a:r>
              <a:rPr lang="zh-CN" altLang="en-US" sz="3200" dirty="0">
                <a:latin typeface="+mn-ea"/>
              </a:rPr>
              <a:t>原问题</a:t>
            </a:r>
            <a:endParaRPr lang="zh-CN" altLang="en-US" sz="3200" dirty="0"/>
          </a:p>
        </p:txBody>
      </p:sp>
      <p:graphicFrame>
        <p:nvGraphicFramePr>
          <p:cNvPr id="87044" name="对象 8">
            <a:extLst>
              <a:ext uri="{FF2B5EF4-FFF2-40B4-BE49-F238E27FC236}">
                <a16:creationId xmlns:a16="http://schemas.microsoft.com/office/drawing/2014/main" id="{382C36E7-2C8E-4FC6-AB63-AC43CB70F3B6}"/>
              </a:ext>
            </a:extLst>
          </p:cNvPr>
          <p:cNvGraphicFramePr>
            <a:graphicFrameLocks noChangeAspect="1"/>
          </p:cNvGraphicFramePr>
          <p:nvPr/>
        </p:nvGraphicFramePr>
        <p:xfrm>
          <a:off x="90488" y="2087563"/>
          <a:ext cx="4195762" cy="1874837"/>
        </p:xfrm>
        <a:graphic>
          <a:graphicData uri="http://schemas.openxmlformats.org/presentationml/2006/ole">
            <mc:AlternateContent xmlns:mc="http://schemas.openxmlformats.org/markup-compatibility/2006">
              <mc:Choice xmlns:v="urn:schemas-microsoft-com:vml" Requires="v">
                <p:oleObj spid="_x0000_s87094" name="Equation" r:id="rId3" imgW="1536700" imgH="685800" progId="Equation.DSMT4">
                  <p:embed/>
                </p:oleObj>
              </mc:Choice>
              <mc:Fallback>
                <p:oleObj name="Equation" r:id="rId3" imgW="1536700" imgH="6858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88" y="2087563"/>
                        <a:ext cx="4195762"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5" name="矩形 25">
            <a:extLst>
              <a:ext uri="{FF2B5EF4-FFF2-40B4-BE49-F238E27FC236}">
                <a16:creationId xmlns:a16="http://schemas.microsoft.com/office/drawing/2014/main" id="{130D0AEB-2046-46D1-B4B3-D9AF91F5F2A0}"/>
              </a:ext>
            </a:extLst>
          </p:cNvPr>
          <p:cNvSpPr>
            <a:spLocks noChangeArrowheads="1"/>
          </p:cNvSpPr>
          <p:nvPr/>
        </p:nvSpPr>
        <p:spPr bwMode="auto">
          <a:xfrm>
            <a:off x="490538" y="4643438"/>
            <a:ext cx="2819400" cy="4619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latin typeface="Calibri" panose="020F0502020204030204" pitchFamily="34" charset="0"/>
                <a:cs typeface="Times New Roman" panose="02020603050405020304" pitchFamily="18" charset="0"/>
              </a:rPr>
              <a:t>【1】lingo_dual.avi</a:t>
            </a:r>
            <a:endParaRPr lang="zh-CN" altLang="en-US" sz="2400"/>
          </a:p>
        </p:txBody>
      </p:sp>
      <p:sp>
        <p:nvSpPr>
          <p:cNvPr id="10" name="矩形 9">
            <a:extLst>
              <a:ext uri="{FF2B5EF4-FFF2-40B4-BE49-F238E27FC236}">
                <a16:creationId xmlns:a16="http://schemas.microsoft.com/office/drawing/2014/main" id="{EFE3049C-3E01-4C3B-8FA9-1D8BE78ED796}"/>
              </a:ext>
            </a:extLst>
          </p:cNvPr>
          <p:cNvSpPr/>
          <p:nvPr/>
        </p:nvSpPr>
        <p:spPr bwMode="auto">
          <a:xfrm>
            <a:off x="4343400" y="2286000"/>
            <a:ext cx="4724400" cy="3508375"/>
          </a:xfrm>
          <a:prstGeom prst="rect">
            <a:avLst/>
          </a:prstGeom>
          <a:ln>
            <a:solidFill>
              <a:srgbClr val="FF0000"/>
            </a:solidFill>
          </a:ln>
        </p:spPr>
        <p:txBody>
          <a:bodyPr>
            <a:spAutoFit/>
          </a:bodyPr>
          <a:lstStyle/>
          <a:p>
            <a:pPr algn="just">
              <a:spcAft>
                <a:spcPts val="0"/>
              </a:spcAft>
              <a:defRPr/>
            </a:pPr>
            <a:r>
              <a:rPr lang="en-US" altLang="zh-CN" sz="2000" b="1" kern="100" dirty="0">
                <a:latin typeface="Calibri" panose="020F0502020204030204" pitchFamily="34" charset="0"/>
                <a:cs typeface="Times New Roman" panose="02020603050405020304" pitchFamily="18" charset="0"/>
              </a:rPr>
              <a:t>Lingo</a:t>
            </a:r>
            <a:r>
              <a:rPr lang="zh-CN" altLang="zh-CN" sz="2000" b="1" kern="100" dirty="0">
                <a:latin typeface="Calibri" panose="020F0502020204030204" pitchFamily="34" charset="0"/>
                <a:cs typeface="Times New Roman" panose="02020603050405020304" pitchFamily="18" charset="0"/>
              </a:rPr>
              <a:t>源代码 </a:t>
            </a:r>
            <a:r>
              <a:rPr lang="en-US" altLang="zh-CN" sz="2000" b="1" kern="100" dirty="0">
                <a:latin typeface="Calibri" panose="020F0502020204030204" pitchFamily="34" charset="0"/>
                <a:cs typeface="Times New Roman" panose="02020603050405020304" pitchFamily="18" charset="0"/>
              </a:rPr>
              <a:t>	</a:t>
            </a:r>
            <a:endParaRPr lang="zh-CN" altLang="zh-CN" sz="2000" kern="100" dirty="0">
              <a:latin typeface="Calibri" panose="020F0502020204030204" pitchFamily="34" charset="0"/>
              <a:cs typeface="Times New Roman" panose="02020603050405020304" pitchFamily="18" charset="0"/>
            </a:endParaRPr>
          </a:p>
          <a:p>
            <a:pPr indent="2667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model</a:t>
            </a:r>
            <a:r>
              <a:rPr lang="en-US" altLang="zh-CN" dirty="0">
                <a:solidFill>
                  <a:srgbClr val="000000"/>
                </a:solidFill>
                <a:latin typeface="Courier New" panose="02070309020205020404" pitchFamily="49" charset="0"/>
                <a:cs typeface="Courier New" panose="02070309020205020404" pitchFamily="49" charset="0"/>
              </a:rPr>
              <a:t>:</a:t>
            </a:r>
            <a:endParaRPr lang="en-US" altLang="zh-CN" sz="800" dirty="0"/>
          </a:p>
          <a:p>
            <a:pPr indent="2540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max</a:t>
            </a:r>
            <a:r>
              <a:rPr lang="en-US" altLang="zh-CN" dirty="0">
                <a:solidFill>
                  <a:srgbClr val="000000"/>
                </a:solidFill>
                <a:latin typeface="Courier New" panose="02070309020205020404" pitchFamily="49" charset="0"/>
                <a:cs typeface="Courier New" panose="02070309020205020404" pitchFamily="49" charset="0"/>
              </a:rPr>
              <a:t> =-2*x1-3*x2-4*x3+0*x4+0*x5;</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-x1-2*x2-x3+x4=-3;</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-2*x1+x2-3*x3+x5=-4;</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x1&gt;=0;	</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x2&gt;=0;</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x3&gt;=0;</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x4&gt;=0;</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x5&gt;=0;</a:t>
            </a:r>
            <a:endParaRPr lang="en-US" altLang="zh-CN" sz="800" dirty="0"/>
          </a:p>
          <a:p>
            <a:pPr indent="2540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end</a:t>
            </a:r>
            <a:endParaRPr lang="en-US" altLang="zh-CN" sz="4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descr="Large confetti">
            <a:extLst>
              <a:ext uri="{FF2B5EF4-FFF2-40B4-BE49-F238E27FC236}">
                <a16:creationId xmlns:a16="http://schemas.microsoft.com/office/drawing/2014/main" id="{3322726C-14E4-47D4-845A-8B8E09C2E7B4}"/>
              </a:ext>
            </a:extLst>
          </p:cNvPr>
          <p:cNvSpPr>
            <a:spLocks noGrp="1" noChangeArrowheads="1"/>
          </p:cNvSpPr>
          <p:nvPr>
            <p:ph type="title"/>
          </p:nvPr>
        </p:nvSpPr>
        <p:spPr/>
        <p:txBody>
          <a:bodyPr/>
          <a:lstStyle/>
          <a:p>
            <a:pPr eaLnBrk="1" hangingPunct="1"/>
            <a:r>
              <a:rPr lang="en-US" altLang="zh-CN"/>
              <a:t>Lingo</a:t>
            </a:r>
            <a:r>
              <a:rPr lang="zh-CN" altLang="en-US"/>
              <a:t>求解对偶单纯形问题</a:t>
            </a:r>
          </a:p>
        </p:txBody>
      </p:sp>
      <p:pic>
        <p:nvPicPr>
          <p:cNvPr id="88067" name="图片 2">
            <a:extLst>
              <a:ext uri="{FF2B5EF4-FFF2-40B4-BE49-F238E27FC236}">
                <a16:creationId xmlns:a16="http://schemas.microsoft.com/office/drawing/2014/main" id="{AF9B0A40-C372-4DDF-8772-285DAD3BB1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990600"/>
            <a:ext cx="7905750" cy="55133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8" name="椭圆 7">
            <a:extLst>
              <a:ext uri="{FF2B5EF4-FFF2-40B4-BE49-F238E27FC236}">
                <a16:creationId xmlns:a16="http://schemas.microsoft.com/office/drawing/2014/main" id="{9DCB9A24-CD00-4F70-826E-6A7F356CD865}"/>
              </a:ext>
            </a:extLst>
          </p:cNvPr>
          <p:cNvSpPr/>
          <p:nvPr/>
        </p:nvSpPr>
        <p:spPr>
          <a:xfrm>
            <a:off x="2286000" y="4191000"/>
            <a:ext cx="1295400" cy="762000"/>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descr="Large confetti">
            <a:extLst>
              <a:ext uri="{FF2B5EF4-FFF2-40B4-BE49-F238E27FC236}">
                <a16:creationId xmlns:a16="http://schemas.microsoft.com/office/drawing/2014/main" id="{52B582D2-8C54-4F41-8113-006B84F3870D}"/>
              </a:ext>
            </a:extLst>
          </p:cNvPr>
          <p:cNvSpPr>
            <a:spLocks noGrp="1" noChangeArrowheads="1"/>
          </p:cNvSpPr>
          <p:nvPr>
            <p:ph type="title"/>
          </p:nvPr>
        </p:nvSpPr>
        <p:spPr/>
        <p:txBody>
          <a:bodyPr/>
          <a:lstStyle/>
          <a:p>
            <a:pPr eaLnBrk="1" hangingPunct="1"/>
            <a:r>
              <a:rPr lang="en-US" altLang="zh-CN"/>
              <a:t>Lingo</a:t>
            </a:r>
            <a:r>
              <a:rPr lang="zh-CN" altLang="en-US"/>
              <a:t>求解对偶单纯形问题</a:t>
            </a:r>
          </a:p>
        </p:txBody>
      </p:sp>
      <p:sp>
        <p:nvSpPr>
          <p:cNvPr id="2" name="矩形 1">
            <a:extLst>
              <a:ext uri="{FF2B5EF4-FFF2-40B4-BE49-F238E27FC236}">
                <a16:creationId xmlns:a16="http://schemas.microsoft.com/office/drawing/2014/main" id="{980DAD6F-D236-4EE6-B257-06104010CCD3}"/>
              </a:ext>
            </a:extLst>
          </p:cNvPr>
          <p:cNvSpPr/>
          <p:nvPr/>
        </p:nvSpPr>
        <p:spPr>
          <a:xfrm>
            <a:off x="573088" y="1676400"/>
            <a:ext cx="1827212" cy="584200"/>
          </a:xfrm>
          <a:prstGeom prst="rect">
            <a:avLst/>
          </a:prstGeom>
        </p:spPr>
        <p:txBody>
          <a:bodyPr wrap="none">
            <a:spAutoFit/>
          </a:bodyPr>
          <a:lstStyle/>
          <a:p>
            <a:pPr>
              <a:defRPr/>
            </a:pPr>
            <a:r>
              <a:rPr lang="zh-CN" altLang="en-US" sz="3200" dirty="0">
                <a:latin typeface="+mn-ea"/>
              </a:rPr>
              <a:t>对偶问题</a:t>
            </a:r>
            <a:endParaRPr lang="zh-CN" altLang="en-US" sz="3200" dirty="0"/>
          </a:p>
        </p:txBody>
      </p:sp>
      <p:graphicFrame>
        <p:nvGraphicFramePr>
          <p:cNvPr id="89092" name="对象 8">
            <a:extLst>
              <a:ext uri="{FF2B5EF4-FFF2-40B4-BE49-F238E27FC236}">
                <a16:creationId xmlns:a16="http://schemas.microsoft.com/office/drawing/2014/main" id="{32957C4F-72CF-439A-92B7-4B0965934DAD}"/>
              </a:ext>
            </a:extLst>
          </p:cNvPr>
          <p:cNvGraphicFramePr>
            <a:graphicFrameLocks noChangeAspect="1"/>
          </p:cNvGraphicFramePr>
          <p:nvPr/>
        </p:nvGraphicFramePr>
        <p:xfrm>
          <a:off x="514350" y="2689225"/>
          <a:ext cx="3371850" cy="1798638"/>
        </p:xfrm>
        <a:graphic>
          <a:graphicData uri="http://schemas.openxmlformats.org/presentationml/2006/ole">
            <mc:AlternateContent xmlns:mc="http://schemas.openxmlformats.org/markup-compatibility/2006">
              <mc:Choice xmlns:v="urn:schemas-microsoft-com:vml" Requires="v">
                <p:oleObj spid="_x0000_s89141" name="Equation" r:id="rId3" imgW="1524000" imgH="812800" progId="Equation.DSMT4">
                  <p:embed/>
                </p:oleObj>
              </mc:Choice>
              <mc:Fallback>
                <p:oleObj name="Equation" r:id="rId3" imgW="1524000" imgH="8128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2689225"/>
                        <a:ext cx="337185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a:extLst>
              <a:ext uri="{FF2B5EF4-FFF2-40B4-BE49-F238E27FC236}">
                <a16:creationId xmlns:a16="http://schemas.microsoft.com/office/drawing/2014/main" id="{F714469A-1DD1-4F25-9316-B067A9D644E5}"/>
              </a:ext>
            </a:extLst>
          </p:cNvPr>
          <p:cNvSpPr/>
          <p:nvPr/>
        </p:nvSpPr>
        <p:spPr bwMode="auto">
          <a:xfrm>
            <a:off x="4114800" y="1524000"/>
            <a:ext cx="4724400" cy="3908425"/>
          </a:xfrm>
          <a:prstGeom prst="rect">
            <a:avLst/>
          </a:prstGeom>
          <a:ln>
            <a:solidFill>
              <a:srgbClr val="FF0000"/>
            </a:solidFill>
          </a:ln>
        </p:spPr>
        <p:txBody>
          <a:bodyPr>
            <a:spAutoFit/>
          </a:bodyPr>
          <a:lstStyle/>
          <a:p>
            <a:pPr algn="just">
              <a:spcAft>
                <a:spcPts val="0"/>
              </a:spcAft>
              <a:defRPr/>
            </a:pPr>
            <a:r>
              <a:rPr lang="en-US" altLang="zh-CN" sz="2000" b="1" kern="100" dirty="0">
                <a:latin typeface="Calibri" panose="020F0502020204030204" pitchFamily="34" charset="0"/>
                <a:cs typeface="Times New Roman" panose="02020603050405020304" pitchFamily="18" charset="0"/>
              </a:rPr>
              <a:t>Lingo</a:t>
            </a:r>
            <a:r>
              <a:rPr lang="zh-CN" altLang="zh-CN" sz="2000" b="1" kern="100" dirty="0">
                <a:latin typeface="Calibri" panose="020F0502020204030204" pitchFamily="34" charset="0"/>
                <a:cs typeface="Times New Roman" panose="02020603050405020304" pitchFamily="18" charset="0"/>
              </a:rPr>
              <a:t>源代码 </a:t>
            </a:r>
            <a:r>
              <a:rPr lang="en-US" altLang="zh-CN" sz="2000" b="1" kern="100" dirty="0">
                <a:latin typeface="Calibri" panose="020F0502020204030204" pitchFamily="34" charset="0"/>
                <a:cs typeface="Times New Roman" panose="02020603050405020304" pitchFamily="18" charset="0"/>
              </a:rPr>
              <a:t>	</a:t>
            </a:r>
            <a:endParaRPr lang="zh-CN" altLang="zh-CN" sz="2000" kern="100" dirty="0">
              <a:latin typeface="Calibri" panose="020F0502020204030204" pitchFamily="34" charset="0"/>
              <a:cs typeface="Times New Roman" panose="02020603050405020304" pitchFamily="18" charset="0"/>
            </a:endParaRPr>
          </a:p>
          <a:p>
            <a:pPr indent="2667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model</a:t>
            </a:r>
            <a:r>
              <a:rPr lang="en-US" altLang="zh-CN" dirty="0">
                <a:solidFill>
                  <a:srgbClr val="000000"/>
                </a:solidFill>
                <a:latin typeface="Courier New" panose="02070309020205020404" pitchFamily="49" charset="0"/>
                <a:cs typeface="Courier New" panose="02070309020205020404" pitchFamily="49" charset="0"/>
              </a:rPr>
              <a:t>:</a:t>
            </a:r>
            <a:endParaRPr lang="en-US" altLang="zh-CN" sz="800" dirty="0"/>
          </a:p>
          <a:p>
            <a:pPr indent="2540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max</a:t>
            </a:r>
            <a:r>
              <a:rPr lang="en-US" altLang="zh-CN" dirty="0">
                <a:solidFill>
                  <a:srgbClr val="000000"/>
                </a:solidFill>
                <a:latin typeface="Courier New" panose="02070309020205020404" pitchFamily="49" charset="0"/>
                <a:cs typeface="Courier New" panose="02070309020205020404" pitchFamily="49" charset="0"/>
              </a:rPr>
              <a:t> =3*y1+4*y2+0</a:t>
            </a:r>
            <a:r>
              <a:rPr lang="zh-CN" altLang="en-US" dirty="0">
                <a:solidFill>
                  <a:srgbClr val="000000"/>
                </a:solidFill>
                <a:latin typeface="Courier New" panose="02070309020205020404" pitchFamily="49" charset="0"/>
                <a:cs typeface="Courier New" panose="02070309020205020404" pitchFamily="49" charset="0"/>
              </a:rPr>
              <a:t>*</a:t>
            </a:r>
            <a:r>
              <a:rPr lang="en-US" altLang="zh-CN" dirty="0">
                <a:solidFill>
                  <a:srgbClr val="000000"/>
                </a:solidFill>
                <a:latin typeface="Courier New" panose="02070309020205020404" pitchFamily="49" charset="0"/>
                <a:cs typeface="Courier New" panose="02070309020205020404" pitchFamily="49" charset="0"/>
              </a:rPr>
              <a:t>y3+0*y4+0*y5;</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y1+2*y2+y3=2;</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2*y1-y2+y4=3;</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y1+3*y2+y5=4;	</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y1&gt;=0;</a:t>
            </a:r>
            <a:endParaRPr lang="en-US" altLang="zh-CN" sz="800" dirty="0"/>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y2&gt;=0;</a:t>
            </a:r>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y3&gt;=0;</a:t>
            </a:r>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y4&gt;=0;</a:t>
            </a:r>
          </a:p>
          <a:p>
            <a:pPr indent="254000">
              <a:tabLst>
                <a:tab pos="981075" algn="l"/>
              </a:tabLst>
              <a:defRPr/>
            </a:pPr>
            <a:r>
              <a:rPr lang="en-US" altLang="zh-CN" dirty="0">
                <a:solidFill>
                  <a:srgbClr val="000000"/>
                </a:solidFill>
                <a:latin typeface="Courier New" panose="02070309020205020404" pitchFamily="49" charset="0"/>
                <a:cs typeface="Courier New" panose="02070309020205020404" pitchFamily="49" charset="0"/>
              </a:rPr>
              <a:t>y5&gt;=0;</a:t>
            </a:r>
          </a:p>
          <a:p>
            <a:pPr indent="254000">
              <a:tabLst>
                <a:tab pos="981075" algn="l"/>
              </a:tabLst>
              <a:defRPr/>
            </a:pPr>
            <a:r>
              <a:rPr lang="en-US" altLang="zh-CN" dirty="0">
                <a:solidFill>
                  <a:srgbClr val="0000FF"/>
                </a:solidFill>
                <a:latin typeface="Courier New" panose="02070309020205020404" pitchFamily="49" charset="0"/>
                <a:cs typeface="Courier New" panose="02070309020205020404" pitchFamily="49" charset="0"/>
              </a:rPr>
              <a:t>end</a:t>
            </a:r>
            <a:endParaRPr lang="en-US" altLang="zh-CN" sz="4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descr="Large confetti">
            <a:extLst>
              <a:ext uri="{FF2B5EF4-FFF2-40B4-BE49-F238E27FC236}">
                <a16:creationId xmlns:a16="http://schemas.microsoft.com/office/drawing/2014/main" id="{30C81CBE-5D54-4C89-AC57-C06915697475}"/>
              </a:ext>
            </a:extLst>
          </p:cNvPr>
          <p:cNvSpPr>
            <a:spLocks noGrp="1" noChangeArrowheads="1"/>
          </p:cNvSpPr>
          <p:nvPr>
            <p:ph type="title"/>
          </p:nvPr>
        </p:nvSpPr>
        <p:spPr/>
        <p:txBody>
          <a:bodyPr/>
          <a:lstStyle/>
          <a:p>
            <a:pPr eaLnBrk="1" hangingPunct="1"/>
            <a:r>
              <a:rPr lang="en-US" altLang="zh-CN"/>
              <a:t>Lingo</a:t>
            </a:r>
            <a:r>
              <a:rPr lang="zh-CN" altLang="en-US"/>
              <a:t>求解对偶单纯形问题</a:t>
            </a:r>
          </a:p>
        </p:txBody>
      </p:sp>
      <p:pic>
        <p:nvPicPr>
          <p:cNvPr id="90115" name="图片 5">
            <a:extLst>
              <a:ext uri="{FF2B5EF4-FFF2-40B4-BE49-F238E27FC236}">
                <a16:creationId xmlns:a16="http://schemas.microsoft.com/office/drawing/2014/main" id="{BA445F46-B256-444C-8350-47CA04792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7615238" cy="558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 7">
            <a:extLst>
              <a:ext uri="{FF2B5EF4-FFF2-40B4-BE49-F238E27FC236}">
                <a16:creationId xmlns:a16="http://schemas.microsoft.com/office/drawing/2014/main" id="{2C8A6B08-9A01-4839-9518-C8A21CC6F65A}"/>
              </a:ext>
            </a:extLst>
          </p:cNvPr>
          <p:cNvSpPr/>
          <p:nvPr/>
        </p:nvSpPr>
        <p:spPr>
          <a:xfrm>
            <a:off x="1981200" y="4343400"/>
            <a:ext cx="1447800" cy="762000"/>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97D1BE53-5645-43D7-89C7-4D5BFBCA65A0}"/>
              </a:ext>
            </a:extLst>
          </p:cNvPr>
          <p:cNvSpPr>
            <a:spLocks noGrp="1" noChangeArrowheads="1"/>
          </p:cNvSpPr>
          <p:nvPr>
            <p:ph type="title"/>
          </p:nvPr>
        </p:nvSpPr>
        <p:spPr>
          <a:xfrm>
            <a:off x="457200" y="152400"/>
            <a:ext cx="8229600" cy="1139825"/>
          </a:xfrm>
        </p:spPr>
        <p:txBody>
          <a:bodyPr/>
          <a:lstStyle/>
          <a:p>
            <a:pPr eaLnBrk="1" hangingPunct="1"/>
            <a:r>
              <a:rPr lang="zh-CN" altLang="en-US">
                <a:solidFill>
                  <a:srgbClr val="FF00FF"/>
                </a:solidFill>
              </a:rPr>
              <a:t>普通单纯形法</a:t>
            </a:r>
            <a:r>
              <a:rPr lang="zh-CN" altLang="en-US"/>
              <a:t>和对偶单纯形法</a:t>
            </a:r>
          </a:p>
        </p:txBody>
      </p:sp>
      <p:sp>
        <p:nvSpPr>
          <p:cNvPr id="125955" name="Rectangle 3">
            <a:extLst>
              <a:ext uri="{FF2B5EF4-FFF2-40B4-BE49-F238E27FC236}">
                <a16:creationId xmlns:a16="http://schemas.microsoft.com/office/drawing/2014/main" id="{6C20DCC5-C4D0-412E-83A9-FF35CB5FC288}"/>
              </a:ext>
            </a:extLst>
          </p:cNvPr>
          <p:cNvSpPr>
            <a:spLocks noGrp="1" noChangeArrowheads="1"/>
          </p:cNvSpPr>
          <p:nvPr>
            <p:ph type="body" idx="1"/>
          </p:nvPr>
        </p:nvSpPr>
        <p:spPr>
          <a:xfrm>
            <a:off x="0" y="1066800"/>
            <a:ext cx="8534400" cy="4953000"/>
          </a:xfrm>
        </p:spPr>
        <p:txBody>
          <a:bodyPr/>
          <a:lstStyle/>
          <a:p>
            <a:pPr marL="533400" indent="-533400" eaLnBrk="1" hangingPunct="1">
              <a:buFont typeface="Wingdings" panose="05000000000000000000" pitchFamily="2" charset="2"/>
              <a:buAutoNum type="arabicPeriod"/>
              <a:defRPr/>
            </a:pPr>
            <a:r>
              <a:rPr kumimoji="1" lang="zh-CN" altLang="en-US" sz="2400" dirty="0">
                <a:latin typeface="Times New Roman" panose="02020603050405020304" pitchFamily="18" charset="0"/>
              </a:rPr>
              <a:t>列出初始单纯形表，检查非基变量检验数</a:t>
            </a:r>
            <a:r>
              <a:rPr lang="el-GR" altLang="zh-CN" sz="2400" dirty="0">
                <a:latin typeface="Times New Roman" panose="02020603050405020304" pitchFamily="18" charset="0"/>
                <a:cs typeface="Arial" panose="020B0604020202020204" pitchFamily="34" charset="0"/>
              </a:rPr>
              <a:t>σ</a:t>
            </a:r>
            <a:r>
              <a:rPr lang="en-US" altLang="zh-CN" sz="2400" baseline="-25000" dirty="0">
                <a:latin typeface="Times New Roman" panose="02020603050405020304" pitchFamily="18" charset="0"/>
                <a:cs typeface="Arial" panose="020B0604020202020204" pitchFamily="34" charset="0"/>
              </a:rPr>
              <a:t>N</a:t>
            </a:r>
            <a:r>
              <a:rPr lang="en-US" altLang="zh-CN" sz="2400" dirty="0">
                <a:latin typeface="Times New Roman" panose="02020603050405020304" pitchFamily="18" charset="0"/>
                <a:cs typeface="Arial" panose="020B0604020202020204" pitchFamily="34" charset="0"/>
              </a:rPr>
              <a:t> =</a:t>
            </a:r>
            <a:r>
              <a:rPr lang="en-US" altLang="zh-CN" sz="2400" b="0" dirty="0">
                <a:latin typeface="Times New Roman" panose="02020603050405020304" pitchFamily="18" charset="0"/>
                <a:cs typeface="Arial" panose="020B0604020202020204" pitchFamily="34" charset="0"/>
              </a:rPr>
              <a:t>C</a:t>
            </a:r>
            <a:r>
              <a:rPr lang="en-US" altLang="zh-CN" sz="2400" baseline="-25000" dirty="0">
                <a:latin typeface="Times New Roman" panose="02020603050405020304" pitchFamily="18" charset="0"/>
                <a:cs typeface="Arial" panose="020B0604020202020204" pitchFamily="34" charset="0"/>
              </a:rPr>
              <a:t>N </a:t>
            </a:r>
            <a:r>
              <a:rPr lang="en-US" altLang="zh-CN" sz="2400" dirty="0">
                <a:latin typeface="Times New Roman" panose="02020603050405020304" pitchFamily="18" charset="0"/>
                <a:cs typeface="Arial" panose="020B0604020202020204" pitchFamily="34" charset="0"/>
              </a:rPr>
              <a:t>- </a:t>
            </a:r>
            <a:r>
              <a:rPr lang="en-US" altLang="zh-CN" sz="2400" b="0" dirty="0">
                <a:latin typeface="Times New Roman" panose="02020603050405020304" pitchFamily="18" charset="0"/>
                <a:cs typeface="Arial" panose="020B0604020202020204" pitchFamily="34" charset="0"/>
              </a:rPr>
              <a:t>C</a:t>
            </a:r>
            <a:r>
              <a:rPr lang="en-US" altLang="zh-CN" sz="2400" baseline="-25000" dirty="0">
                <a:latin typeface="Times New Roman" panose="02020603050405020304" pitchFamily="18" charset="0"/>
                <a:cs typeface="Arial" panose="020B0604020202020204" pitchFamily="34" charset="0"/>
              </a:rPr>
              <a:t>B</a:t>
            </a:r>
            <a:r>
              <a:rPr lang="en-US" altLang="zh-CN" sz="2400" b="0" dirty="0">
                <a:latin typeface="Times New Roman" panose="02020603050405020304" pitchFamily="18" charset="0"/>
                <a:cs typeface="Arial" panose="020B0604020202020204" pitchFamily="34" charset="0"/>
              </a:rPr>
              <a:t>B</a:t>
            </a:r>
            <a:r>
              <a:rPr lang="en-US" altLang="zh-CN" sz="2400" baseline="30000" dirty="0">
                <a:latin typeface="Times New Roman" panose="02020603050405020304" pitchFamily="18" charset="0"/>
                <a:cs typeface="Arial" panose="020B0604020202020204" pitchFamily="34" charset="0"/>
              </a:rPr>
              <a:t>-1</a:t>
            </a:r>
            <a:r>
              <a:rPr lang="en-US" altLang="zh-CN" sz="2400" b="0" dirty="0">
                <a:latin typeface="Times New Roman" panose="02020603050405020304" pitchFamily="18" charset="0"/>
                <a:cs typeface="Arial" panose="020B0604020202020204" pitchFamily="34" charset="0"/>
              </a:rPr>
              <a:t>N</a:t>
            </a:r>
            <a:r>
              <a:rPr kumimoji="1" lang="zh-CN" altLang="en-US" sz="2400" dirty="0">
                <a:latin typeface="Times New Roman" panose="02020603050405020304" pitchFamily="18" charset="0"/>
              </a:rPr>
              <a:t>：</a:t>
            </a:r>
          </a:p>
          <a:p>
            <a:pPr marL="728663" lvl="1" indent="-384175" eaLnBrk="1" hangingPunct="1">
              <a:buClr>
                <a:schemeClr val="tx1"/>
              </a:buClr>
              <a:buFont typeface="Wingdings" panose="05000000000000000000" pitchFamily="2" charset="2"/>
              <a:buAutoNum type="circleNumDbPlain"/>
              <a:defRPr/>
            </a:pPr>
            <a:r>
              <a:rPr kumimoji="1" lang="zh-CN" altLang="en-US" sz="2000" dirty="0">
                <a:latin typeface="Times New Roman" panose="02020603050405020304" pitchFamily="18" charset="0"/>
              </a:rPr>
              <a:t>若都为非正</a:t>
            </a:r>
            <a:r>
              <a:rPr kumimoji="1" lang="en-US" altLang="zh-CN" sz="2000" dirty="0">
                <a:latin typeface="Times New Roman" panose="02020603050405020304" pitchFamily="18" charset="0"/>
              </a:rPr>
              <a:t>(</a:t>
            </a:r>
            <a:r>
              <a:rPr lang="el-GR" altLang="zh-CN" sz="2000" b="1" dirty="0">
                <a:latin typeface="Times New Roman" panose="02020603050405020304" pitchFamily="18" charset="0"/>
                <a:cs typeface="Arial" panose="020B0604020202020204" pitchFamily="34" charset="0"/>
              </a:rPr>
              <a:t>σ</a:t>
            </a:r>
            <a:r>
              <a:rPr lang="en-US" altLang="zh-CN" sz="2000" baseline="-25000" dirty="0">
                <a:latin typeface="Times New Roman" panose="02020603050405020304" pitchFamily="18" charset="0"/>
                <a:cs typeface="Arial" panose="020B0604020202020204" pitchFamily="34" charset="0"/>
              </a:rPr>
              <a:t>N</a:t>
            </a:r>
            <a:r>
              <a:rPr lang="zh-CN" altLang="el-GR" sz="2000" dirty="0">
                <a:latin typeface="Times New Roman" panose="02020603050405020304" pitchFamily="18" charset="0"/>
              </a:rPr>
              <a:t>≤</a:t>
            </a:r>
            <a:r>
              <a:rPr lang="en-US" altLang="zh-CN" sz="2000" b="1" dirty="0">
                <a:latin typeface="Times New Roman" panose="02020603050405020304" pitchFamily="18" charset="0"/>
              </a:rPr>
              <a:t>0</a:t>
            </a:r>
            <a:r>
              <a:rPr lang="en-US" altLang="zh-CN" sz="2000" dirty="0">
                <a:latin typeface="Times New Roman" panose="02020603050405020304" pitchFamily="18" charset="0"/>
              </a:rPr>
              <a:t>)</a:t>
            </a:r>
            <a:r>
              <a:rPr kumimoji="1" lang="zh-CN" altLang="en-US" sz="2000" dirty="0">
                <a:latin typeface="Times New Roman" panose="02020603050405020304" pitchFamily="18" charset="0"/>
              </a:rPr>
              <a:t>，则已得到最优解；</a:t>
            </a:r>
          </a:p>
          <a:p>
            <a:pPr marL="728663" lvl="1" indent="-384175" eaLnBrk="1" hangingPunct="1">
              <a:buClr>
                <a:schemeClr val="tx1"/>
              </a:buClr>
              <a:buFont typeface="Wingdings" panose="05000000000000000000" pitchFamily="2" charset="2"/>
              <a:buAutoNum type="circleNumDbPlain"/>
              <a:defRPr/>
            </a:pPr>
            <a:r>
              <a:rPr lang="zh-CN" altLang="en-US" sz="2000" dirty="0">
                <a:latin typeface="Times New Roman" panose="02020603050405020304" pitchFamily="18" charset="0"/>
              </a:rPr>
              <a:t>若还存在</a:t>
            </a:r>
            <a:r>
              <a:rPr kumimoji="1" lang="el-GR" altLang="zh-CN" sz="2000" dirty="0">
                <a:latin typeface="Times New Roman" panose="02020603050405020304" pitchFamily="18" charset="0"/>
              </a:rPr>
              <a:t>σ</a:t>
            </a:r>
            <a:r>
              <a:rPr kumimoji="1" lang="en-US" altLang="zh-CN" sz="2000" i="1" baseline="-25000" dirty="0">
                <a:latin typeface="Times New Roman" panose="02020603050405020304" pitchFamily="18" charset="0"/>
              </a:rPr>
              <a:t>j</a:t>
            </a:r>
            <a:r>
              <a:rPr kumimoji="1" lang="en-US" altLang="zh-CN" sz="2000" dirty="0">
                <a:latin typeface="Times New Roman" panose="02020603050405020304" pitchFamily="18" charset="0"/>
              </a:rPr>
              <a:t>&gt;0 ,</a:t>
            </a:r>
            <a:r>
              <a:rPr kumimoji="1" lang="zh-CN" altLang="en-US" sz="2000" dirty="0">
                <a:latin typeface="Times New Roman" panose="02020603050405020304" pitchFamily="18" charset="0"/>
              </a:rPr>
              <a:t> 进行以下计算</a:t>
            </a:r>
          </a:p>
          <a:p>
            <a:pPr marL="533400" indent="-533400" eaLnBrk="1" hangingPunct="1">
              <a:buFont typeface="Wingdings" panose="05000000000000000000" pitchFamily="2" charset="2"/>
              <a:buAutoNum type="arabicPeriod"/>
              <a:defRPr/>
            </a:pPr>
            <a:r>
              <a:rPr kumimoji="1" lang="zh-CN" altLang="en-US" sz="2400" dirty="0">
                <a:latin typeface="Times New Roman" panose="02020603050405020304" pitchFamily="18" charset="0"/>
              </a:rPr>
              <a:t>确定 </a:t>
            </a:r>
            <a:r>
              <a:rPr kumimoji="1" lang="en-US" altLang="zh-CN" sz="2400" dirty="0" err="1">
                <a:latin typeface="Times New Roman" panose="02020603050405020304" pitchFamily="18" charset="0"/>
              </a:rPr>
              <a:t>x</a:t>
            </a:r>
            <a:r>
              <a:rPr kumimoji="1" lang="en-US" altLang="zh-CN" sz="2400" i="1" baseline="-25000" dirty="0" err="1">
                <a:latin typeface="Times New Roman" panose="02020603050405020304" pitchFamily="18" charset="0"/>
              </a:rPr>
              <a:t>k</a:t>
            </a:r>
            <a:r>
              <a:rPr kumimoji="1" lang="en-US" altLang="zh-CN" sz="2400" i="1" baseline="-25000" dirty="0">
                <a:latin typeface="Times New Roman" panose="02020603050405020304" pitchFamily="18" charset="0"/>
              </a:rPr>
              <a:t> </a:t>
            </a:r>
            <a:r>
              <a:rPr kumimoji="1" lang="zh-CN" altLang="en-US" sz="2400" dirty="0">
                <a:latin typeface="Times New Roman" panose="02020603050405020304" pitchFamily="18" charset="0"/>
              </a:rPr>
              <a:t>为换入变量：按</a:t>
            </a:r>
            <a:r>
              <a:rPr kumimoji="1" lang="en-US" altLang="zh-CN" sz="2400" dirty="0">
                <a:latin typeface="Times New Roman" panose="02020603050405020304" pitchFamily="18" charset="0"/>
              </a:rPr>
              <a:t>max(</a:t>
            </a:r>
            <a:r>
              <a:rPr kumimoji="1" lang="el-GR" altLang="zh-CN" sz="2400" dirty="0">
                <a:latin typeface="Times New Roman" panose="02020603050405020304" pitchFamily="18" charset="0"/>
              </a:rPr>
              <a:t>σ</a:t>
            </a:r>
            <a:r>
              <a:rPr kumimoji="1" lang="en-US" altLang="zh-CN" sz="2400" i="1" baseline="-25000" dirty="0">
                <a:latin typeface="Times New Roman" panose="02020603050405020304" pitchFamily="18" charset="0"/>
              </a:rPr>
              <a:t>j</a:t>
            </a:r>
            <a:r>
              <a:rPr kumimoji="1" lang="en-US" altLang="zh-CN" sz="2400" dirty="0">
                <a:latin typeface="Times New Roman" panose="02020603050405020304" pitchFamily="18" charset="0"/>
              </a:rPr>
              <a:t>&gt;0) =</a:t>
            </a:r>
            <a:r>
              <a:rPr kumimoji="1" lang="el-GR" altLang="zh-CN" sz="2400" dirty="0">
                <a:latin typeface="Times New Roman" panose="02020603050405020304" pitchFamily="18" charset="0"/>
              </a:rPr>
              <a:t> σ</a:t>
            </a:r>
            <a:r>
              <a:rPr kumimoji="1" lang="en-US" altLang="zh-CN" sz="2400" i="1" baseline="-25000" dirty="0">
                <a:latin typeface="Times New Roman" panose="02020603050405020304" pitchFamily="18" charset="0"/>
              </a:rPr>
              <a:t>k</a:t>
            </a:r>
            <a:r>
              <a:rPr kumimoji="1" lang="zh-CN" altLang="en-US" sz="2400" dirty="0">
                <a:latin typeface="Times New Roman" panose="02020603050405020304" pitchFamily="18" charset="0"/>
              </a:rPr>
              <a:t> 确定</a:t>
            </a:r>
          </a:p>
          <a:p>
            <a:pPr marL="533400" indent="-533400" eaLnBrk="1" hangingPunct="1">
              <a:buFont typeface="Wingdings" panose="05000000000000000000" pitchFamily="2" charset="2"/>
              <a:buAutoNum type="arabicPeriod"/>
              <a:defRPr/>
            </a:pPr>
            <a:r>
              <a:rPr kumimoji="1" lang="zh-CN" altLang="en-US" sz="2400" dirty="0">
                <a:latin typeface="Times New Roman" panose="02020603050405020304" pitchFamily="18" charset="0"/>
              </a:rPr>
              <a:t>确定换出变量</a:t>
            </a:r>
            <a:r>
              <a:rPr kumimoji="1" lang="en-US" altLang="zh-CN" sz="2400" dirty="0">
                <a:latin typeface="Times New Roman" panose="02020603050405020304" pitchFamily="18" charset="0"/>
              </a:rPr>
              <a:t>x</a:t>
            </a:r>
            <a:r>
              <a:rPr kumimoji="1" lang="en-US" altLang="zh-CN" sz="2400" i="1" baseline="-25000" dirty="0">
                <a:latin typeface="Times New Roman" panose="02020603050405020304" pitchFamily="18" charset="0"/>
              </a:rPr>
              <a:t>l </a:t>
            </a:r>
            <a:r>
              <a:rPr kumimoji="1" lang="zh-CN" altLang="en-US" sz="2400" dirty="0">
                <a:latin typeface="Times New Roman" panose="02020603050405020304" pitchFamily="18" charset="0"/>
              </a:rPr>
              <a:t>：按</a:t>
            </a:r>
            <a:r>
              <a:rPr kumimoji="1" lang="en-US" altLang="zh-CN" sz="2400" dirty="0">
                <a:latin typeface="Times New Roman" panose="02020603050405020304" pitchFamily="18" charset="0"/>
              </a:rPr>
              <a:t>θ</a:t>
            </a:r>
            <a:r>
              <a:rPr kumimoji="1" lang="zh-CN" altLang="en-US" sz="2400" dirty="0">
                <a:latin typeface="Times New Roman" panose="02020603050405020304" pitchFamily="18" charset="0"/>
              </a:rPr>
              <a:t>规则计算确定</a:t>
            </a:r>
          </a:p>
          <a:p>
            <a:pPr marL="728663" lvl="1" indent="-384175" eaLnBrk="1" hangingPunct="1">
              <a:buClr>
                <a:schemeClr val="tx1"/>
              </a:buClr>
              <a:buFont typeface="Wingdings" panose="05000000000000000000" pitchFamily="2" charset="2"/>
              <a:buAutoNum type="circleNumDbPlain"/>
              <a:defRPr/>
            </a:pPr>
            <a:r>
              <a:rPr kumimoji="1" lang="zh-CN" altLang="en-US" sz="2000" dirty="0">
                <a:latin typeface="Times New Roman" panose="02020603050405020304" pitchFamily="18" charset="0"/>
              </a:rPr>
              <a:t>若某个</a:t>
            </a:r>
            <a:r>
              <a:rPr kumimoji="1" lang="el-GR" altLang="zh-CN" sz="2000" dirty="0">
                <a:latin typeface="Times New Roman" panose="02020603050405020304" pitchFamily="18" charset="0"/>
              </a:rPr>
              <a:t>σ</a:t>
            </a:r>
            <a:r>
              <a:rPr kumimoji="1" lang="en-US" altLang="zh-CN" sz="2000" i="1" baseline="-25000" dirty="0">
                <a:latin typeface="Times New Roman" panose="02020603050405020304" pitchFamily="18" charset="0"/>
              </a:rPr>
              <a:t>k</a:t>
            </a:r>
            <a:r>
              <a:rPr kumimoji="1" lang="zh-CN" altLang="en-US" sz="2000" dirty="0">
                <a:latin typeface="Times New Roman" panose="02020603050405020304" pitchFamily="18" charset="0"/>
              </a:rPr>
              <a:t>对应</a:t>
            </a:r>
            <a:r>
              <a:rPr kumimoji="1" lang="en-US" altLang="zh-CN" sz="2000" i="1" dirty="0" err="1">
                <a:latin typeface="Times New Roman" panose="02020603050405020304" pitchFamily="18" charset="0"/>
              </a:rPr>
              <a:t>x</a:t>
            </a:r>
            <a:r>
              <a:rPr kumimoji="1" lang="en-US" altLang="zh-CN" sz="2000" i="1" baseline="-25000" dirty="0" err="1">
                <a:latin typeface="Times New Roman" panose="02020603050405020304" pitchFamily="18" charset="0"/>
              </a:rPr>
              <a:t>k</a:t>
            </a:r>
            <a:r>
              <a:rPr kumimoji="1" lang="zh-CN" altLang="en-US" sz="2000" dirty="0">
                <a:latin typeface="Times New Roman" panose="02020603050405020304" pitchFamily="18" charset="0"/>
              </a:rPr>
              <a:t>的系数列向量</a:t>
            </a:r>
            <a:r>
              <a:rPr kumimoji="1" lang="en-US" altLang="zh-CN" sz="2000" b="1" dirty="0" err="1">
                <a:latin typeface="Times New Roman" panose="02020603050405020304" pitchFamily="18" charset="0"/>
              </a:rPr>
              <a:t>P</a:t>
            </a:r>
            <a:r>
              <a:rPr kumimoji="1" lang="en-US" altLang="zh-CN" sz="2000" baseline="-25000" dirty="0" err="1">
                <a:latin typeface="Times New Roman" panose="02020603050405020304" pitchFamily="18" charset="0"/>
              </a:rPr>
              <a:t>k</a:t>
            </a:r>
            <a:r>
              <a:rPr kumimoji="1" lang="en-US" altLang="zh-CN" sz="2000" dirty="0">
                <a:latin typeface="Times New Roman" panose="02020603050405020304" pitchFamily="18" charset="0"/>
              </a:rPr>
              <a:t> ≤ 0</a:t>
            </a:r>
            <a:r>
              <a:rPr kumimoji="1" lang="zh-CN" altLang="en-US" sz="2000" dirty="0">
                <a:latin typeface="Times New Roman" panose="02020603050405020304" pitchFamily="18" charset="0"/>
              </a:rPr>
              <a:t>，则此问题是无界，停止计算。否则</a:t>
            </a:r>
          </a:p>
          <a:p>
            <a:pPr marL="728663" lvl="1" indent="-384175" eaLnBrk="1" hangingPunct="1">
              <a:buClr>
                <a:schemeClr val="tx1"/>
              </a:buClr>
              <a:buFont typeface="Wingdings" panose="05000000000000000000" pitchFamily="2" charset="2"/>
              <a:buAutoNum type="circleNumDbPlain"/>
              <a:defRPr/>
            </a:pPr>
            <a:r>
              <a:rPr kumimoji="1" lang="zh-CN" altLang="en-US" sz="2000" dirty="0">
                <a:latin typeface="Times New Roman" panose="02020603050405020304" pitchFamily="18" charset="0"/>
              </a:rPr>
              <a:t>按</a:t>
            </a:r>
            <a:r>
              <a:rPr kumimoji="1" lang="en-US" altLang="zh-CN" sz="2000" i="1" dirty="0">
                <a:latin typeface="Times New Roman" panose="02020603050405020304" pitchFamily="18" charset="0"/>
              </a:rPr>
              <a:t>θ</a:t>
            </a:r>
            <a:r>
              <a:rPr kumimoji="1" lang="zh-CN" altLang="en-US" sz="2000" dirty="0">
                <a:latin typeface="Times New Roman" panose="02020603050405020304" pitchFamily="18" charset="0"/>
              </a:rPr>
              <a:t>规则确定</a:t>
            </a:r>
            <a:r>
              <a:rPr kumimoji="1" lang="en-US" altLang="zh-CN" sz="2000" dirty="0">
                <a:latin typeface="Times New Roman" panose="02020603050405020304" pitchFamily="18" charset="0"/>
              </a:rPr>
              <a:t>x</a:t>
            </a:r>
            <a:r>
              <a:rPr kumimoji="1" lang="en-US" altLang="zh-CN" sz="2000" i="1" baseline="-25000" dirty="0">
                <a:latin typeface="Times New Roman" panose="02020603050405020304" pitchFamily="18" charset="0"/>
              </a:rPr>
              <a:t>l </a:t>
            </a:r>
            <a:r>
              <a:rPr kumimoji="1" lang="zh-CN" altLang="en-US" sz="2000" dirty="0">
                <a:latin typeface="Times New Roman" panose="02020603050405020304" pitchFamily="18" charset="0"/>
              </a:rPr>
              <a:t>：</a:t>
            </a:r>
            <a:endParaRPr kumimoji="1" lang="en-US" altLang="zh-CN" sz="2000" dirty="0">
              <a:latin typeface="Times New Roman" panose="02020603050405020304" pitchFamily="18" charset="0"/>
            </a:endParaRPr>
          </a:p>
          <a:p>
            <a:pPr marL="344488" lvl="1" indent="0" eaLnBrk="1" hangingPunct="1">
              <a:buClr>
                <a:schemeClr val="tx1"/>
              </a:buClr>
              <a:buFont typeface="Wingdings" panose="05000000000000000000" pitchFamily="2" charset="2"/>
              <a:buNone/>
              <a:defRPr/>
            </a:pPr>
            <a:endParaRPr kumimoji="1" lang="en-US" altLang="zh-CN" sz="2000" dirty="0">
              <a:latin typeface="Times New Roman" panose="02020603050405020304" pitchFamily="18" charset="0"/>
            </a:endParaRPr>
          </a:p>
          <a:p>
            <a:pPr marL="344488" lvl="1" indent="0" eaLnBrk="1" hangingPunct="1">
              <a:buClr>
                <a:schemeClr val="tx1"/>
              </a:buClr>
              <a:buFont typeface="Wingdings" panose="05000000000000000000" pitchFamily="2" charset="2"/>
              <a:buNone/>
              <a:defRPr/>
            </a:pPr>
            <a:endParaRPr kumimoji="1" lang="en-US" altLang="zh-CN" sz="2000" dirty="0">
              <a:latin typeface="Times New Roman" panose="02020603050405020304" pitchFamily="18" charset="0"/>
            </a:endParaRPr>
          </a:p>
          <a:p>
            <a:pPr marL="533400" indent="-533400" eaLnBrk="1" hangingPunct="1">
              <a:buFont typeface="Wingdings" panose="05000000000000000000" pitchFamily="2" charset="2"/>
              <a:buAutoNum type="arabicPeriod"/>
              <a:defRPr/>
            </a:pPr>
            <a:r>
              <a:rPr kumimoji="1" lang="zh-CN" altLang="en-US" sz="2400" dirty="0">
                <a:latin typeface="Times New Roman" panose="02020603050405020304" pitchFamily="18" charset="0"/>
              </a:rPr>
              <a:t>以</a:t>
            </a:r>
            <a:r>
              <a:rPr kumimoji="1" lang="en-US" altLang="zh-CN" sz="2400" i="1" dirty="0" err="1">
                <a:latin typeface="Times New Roman" panose="02020603050405020304" pitchFamily="18" charset="0"/>
              </a:rPr>
              <a:t>a</a:t>
            </a:r>
            <a:r>
              <a:rPr kumimoji="1" lang="en-US" altLang="zh-CN" sz="2400" i="1" baseline="-25000" dirty="0" err="1">
                <a:latin typeface="Times New Roman" panose="02020603050405020304" pitchFamily="18" charset="0"/>
              </a:rPr>
              <a:t>lk</a:t>
            </a:r>
            <a:r>
              <a:rPr kumimoji="1" lang="zh-CN" altLang="en-US" sz="2400" dirty="0">
                <a:latin typeface="Times New Roman" panose="02020603050405020304" pitchFamily="18" charset="0"/>
              </a:rPr>
              <a:t>为主元素，按原单纯</a:t>
            </a:r>
            <a:endParaRPr kumimoji="1" lang="en-US" altLang="zh-CN" sz="2400" dirty="0">
              <a:latin typeface="Times New Roman" panose="02020603050405020304" pitchFamily="18" charset="0"/>
            </a:endParaRPr>
          </a:p>
          <a:p>
            <a:pPr marL="0" indent="0" eaLnBrk="1" hangingPunct="1">
              <a:buFont typeface="Wingdings" panose="05000000000000000000" pitchFamily="2" charset="2"/>
              <a:buNone/>
              <a:defRPr/>
            </a:pP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形法进行迭代运算，</a:t>
            </a:r>
            <a:endParaRPr kumimoji="1" lang="en-US" altLang="zh-CN" sz="2400" dirty="0">
              <a:latin typeface="Times New Roman" panose="02020603050405020304" pitchFamily="18" charset="0"/>
            </a:endParaRPr>
          </a:p>
          <a:p>
            <a:pPr marL="0" indent="0" eaLnBrk="1" hangingPunct="1">
              <a:buFont typeface="Wingdings" panose="05000000000000000000" pitchFamily="2" charset="2"/>
              <a:buNone/>
              <a:defRPr/>
            </a:pP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得到新的单纯形表</a:t>
            </a:r>
          </a:p>
          <a:p>
            <a:pPr marL="0" indent="0" eaLnBrk="1" hangingPunct="1">
              <a:buFont typeface="Wingdings" panose="05000000000000000000" pitchFamily="2" charset="2"/>
              <a:buNone/>
              <a:defRPr/>
            </a:pPr>
            <a:r>
              <a:rPr kumimoji="1" lang="zh-CN" altLang="en-US" sz="2400" dirty="0">
                <a:latin typeface="Times New Roman" panose="02020603050405020304" pitchFamily="18" charset="0"/>
              </a:rPr>
              <a:t>   重复步骤 </a:t>
            </a:r>
            <a:r>
              <a:rPr kumimoji="1" lang="en-US" altLang="zh-CN" sz="2400" dirty="0">
                <a:latin typeface="Times New Roman" panose="02020603050405020304" pitchFamily="18" charset="0"/>
              </a:rPr>
              <a:t>1-4</a:t>
            </a:r>
          </a:p>
        </p:txBody>
      </p:sp>
      <p:sp>
        <p:nvSpPr>
          <p:cNvPr id="4" name="矩形 3">
            <a:extLst>
              <a:ext uri="{FF2B5EF4-FFF2-40B4-BE49-F238E27FC236}">
                <a16:creationId xmlns:a16="http://schemas.microsoft.com/office/drawing/2014/main" id="{BB0D6F18-7AD8-436C-8990-1DF6A54BCB78}"/>
              </a:ext>
            </a:extLst>
          </p:cNvPr>
          <p:cNvSpPr/>
          <p:nvPr/>
        </p:nvSpPr>
        <p:spPr>
          <a:xfrm>
            <a:off x="609600" y="762000"/>
            <a:ext cx="3186113" cy="369888"/>
          </a:xfrm>
          <a:prstGeom prst="rect">
            <a:avLst/>
          </a:prstGeom>
          <a:ln>
            <a:noFill/>
          </a:ln>
        </p:spPr>
        <p:txBody>
          <a:bodyPr wrap="none">
            <a:spAutoFit/>
          </a:bodyPr>
          <a:lstStyle/>
          <a:p>
            <a:pPr algn="ctr">
              <a:defRPr/>
            </a:pPr>
            <a:r>
              <a:rPr lang="zh-CN" altLang="en-US" kern="0" dirty="0">
                <a:solidFill>
                  <a:srgbClr val="FF0000"/>
                </a:solidFill>
                <a:latin typeface="华文细黑" pitchFamily="2" charset="-122"/>
              </a:rPr>
              <a:t>原问题可行，对偶问题不可行</a:t>
            </a:r>
            <a:endParaRPr lang="zh-CN" altLang="en-US" dirty="0">
              <a:latin typeface="Arial" charset="0"/>
            </a:endParaRPr>
          </a:p>
        </p:txBody>
      </p:sp>
      <p:graphicFrame>
        <p:nvGraphicFramePr>
          <p:cNvPr id="91141" name="对象 4">
            <a:extLst>
              <a:ext uri="{FF2B5EF4-FFF2-40B4-BE49-F238E27FC236}">
                <a16:creationId xmlns:a16="http://schemas.microsoft.com/office/drawing/2014/main" id="{EDE76DD0-1859-46D5-8145-6AB24011F62B}"/>
              </a:ext>
            </a:extLst>
          </p:cNvPr>
          <p:cNvGraphicFramePr>
            <a:graphicFrameLocks noChangeAspect="1"/>
          </p:cNvGraphicFramePr>
          <p:nvPr/>
        </p:nvGraphicFramePr>
        <p:xfrm>
          <a:off x="838200" y="4114800"/>
          <a:ext cx="2897188" cy="901700"/>
        </p:xfrm>
        <a:graphic>
          <a:graphicData uri="http://schemas.openxmlformats.org/presentationml/2006/ole">
            <mc:AlternateContent xmlns:mc="http://schemas.openxmlformats.org/markup-compatibility/2006">
              <mc:Choice xmlns:v="urn:schemas-microsoft-com:vml" Requires="v">
                <p:oleObj spid="_x0000_s91266" name="Equation" r:id="rId3" imgW="1422400" imgH="444500" progId="Equation.DSMT4">
                  <p:embed/>
                </p:oleObj>
              </mc:Choice>
              <mc:Fallback>
                <p:oleObj name="Equation" r:id="rId3" imgW="1422400" imgH="4445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114800"/>
                        <a:ext cx="2897188"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组合 20">
            <a:extLst>
              <a:ext uri="{FF2B5EF4-FFF2-40B4-BE49-F238E27FC236}">
                <a16:creationId xmlns:a16="http://schemas.microsoft.com/office/drawing/2014/main" id="{06AF02FE-3FFA-4F41-AA2A-4B79846131D6}"/>
              </a:ext>
            </a:extLst>
          </p:cNvPr>
          <p:cNvGrpSpPr>
            <a:grpSpLocks/>
          </p:cNvGrpSpPr>
          <p:nvPr/>
        </p:nvGrpSpPr>
        <p:grpSpPr bwMode="auto">
          <a:xfrm>
            <a:off x="4135438" y="1885950"/>
            <a:ext cx="1882775" cy="476250"/>
            <a:chOff x="4422368" y="2704068"/>
            <a:chExt cx="1231786" cy="476436"/>
          </a:xfrm>
        </p:grpSpPr>
        <p:sp>
          <p:nvSpPr>
            <p:cNvPr id="91217" name="矩形 21">
              <a:extLst>
                <a:ext uri="{FF2B5EF4-FFF2-40B4-BE49-F238E27FC236}">
                  <a16:creationId xmlns:a16="http://schemas.microsoft.com/office/drawing/2014/main" id="{25185D09-6B76-458D-8B41-4CF9D5891BCB}"/>
                </a:ext>
              </a:extLst>
            </p:cNvPr>
            <p:cNvSpPr>
              <a:spLocks noChangeArrowheads="1"/>
            </p:cNvSpPr>
            <p:nvPr/>
          </p:nvSpPr>
          <p:spPr bwMode="auto">
            <a:xfrm>
              <a:off x="4757056" y="2704068"/>
              <a:ext cx="897098" cy="36927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0">
                  <a:solidFill>
                    <a:srgbClr val="FF00FF"/>
                  </a:solidFill>
                  <a:latin typeface="Times New Roman" panose="02020603050405020304" pitchFamily="18" charset="0"/>
                  <a:cs typeface="Times New Roman" panose="02020603050405020304" pitchFamily="18" charset="0"/>
                </a:rPr>
                <a:t>不是必须的</a:t>
              </a:r>
              <a:endParaRPr lang="en-US" altLang="zh-CN" sz="1800" b="0">
                <a:solidFill>
                  <a:srgbClr val="FF00FF"/>
                </a:solidFill>
                <a:latin typeface="Times New Roman" panose="02020603050405020304" pitchFamily="18" charset="0"/>
                <a:cs typeface="Times New Roman" panose="02020603050405020304" pitchFamily="18" charset="0"/>
              </a:endParaRPr>
            </a:p>
          </p:txBody>
        </p:sp>
        <p:sp>
          <p:nvSpPr>
            <p:cNvPr id="91218" name="右箭头 22">
              <a:extLst>
                <a:ext uri="{FF2B5EF4-FFF2-40B4-BE49-F238E27FC236}">
                  <a16:creationId xmlns:a16="http://schemas.microsoft.com/office/drawing/2014/main" id="{DDDD01AB-1411-455D-8C7D-6F61C67D8958}"/>
                </a:ext>
              </a:extLst>
            </p:cNvPr>
            <p:cNvSpPr>
              <a:spLocks noChangeArrowheads="1"/>
            </p:cNvSpPr>
            <p:nvPr/>
          </p:nvSpPr>
          <p:spPr bwMode="auto">
            <a:xfrm rot="-1794811">
              <a:off x="4422368" y="2966190"/>
              <a:ext cx="327157" cy="214314"/>
            </a:xfrm>
            <a:prstGeom prst="rightArrow">
              <a:avLst>
                <a:gd name="adj1" fmla="val 50000"/>
                <a:gd name="adj2" fmla="val 50001"/>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1200" b="0">
                <a:solidFill>
                  <a:srgbClr val="FF0000"/>
                </a:solidFill>
                <a:latin typeface="Times New Roman" panose="02020603050405020304" pitchFamily="18" charset="0"/>
              </a:endParaRPr>
            </a:p>
          </p:txBody>
        </p:sp>
      </p:grpSp>
      <p:grpSp>
        <p:nvGrpSpPr>
          <p:cNvPr id="15" name="组合 20">
            <a:extLst>
              <a:ext uri="{FF2B5EF4-FFF2-40B4-BE49-F238E27FC236}">
                <a16:creationId xmlns:a16="http://schemas.microsoft.com/office/drawing/2014/main" id="{1B42E66B-58CA-4EBB-9E35-18D913540850}"/>
              </a:ext>
            </a:extLst>
          </p:cNvPr>
          <p:cNvGrpSpPr>
            <a:grpSpLocks/>
          </p:cNvGrpSpPr>
          <p:nvPr/>
        </p:nvGrpSpPr>
        <p:grpSpPr bwMode="auto">
          <a:xfrm>
            <a:off x="5410200" y="2754313"/>
            <a:ext cx="2362200" cy="369887"/>
            <a:chOff x="4857753" y="2503546"/>
            <a:chExt cx="1545004" cy="369278"/>
          </a:xfrm>
        </p:grpSpPr>
        <p:sp>
          <p:nvSpPr>
            <p:cNvPr id="91215" name="矩形 21">
              <a:extLst>
                <a:ext uri="{FF2B5EF4-FFF2-40B4-BE49-F238E27FC236}">
                  <a16:creationId xmlns:a16="http://schemas.microsoft.com/office/drawing/2014/main" id="{58776B30-A4A5-4306-9505-B0F7034D2402}"/>
                </a:ext>
              </a:extLst>
            </p:cNvPr>
            <p:cNvSpPr>
              <a:spLocks noChangeArrowheads="1"/>
            </p:cNvSpPr>
            <p:nvPr/>
          </p:nvSpPr>
          <p:spPr bwMode="auto">
            <a:xfrm>
              <a:off x="5195572" y="2503546"/>
              <a:ext cx="1207185" cy="36927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0">
                  <a:solidFill>
                    <a:srgbClr val="FF00FF"/>
                  </a:solidFill>
                  <a:latin typeface="Times New Roman" panose="02020603050405020304" pitchFamily="18" charset="0"/>
                  <a:cs typeface="Times New Roman" panose="02020603050405020304" pitchFamily="18" charset="0"/>
                </a:rPr>
                <a:t>先进基，后出基</a:t>
              </a:r>
              <a:endParaRPr lang="en-US" altLang="zh-CN" sz="1800" b="0">
                <a:solidFill>
                  <a:srgbClr val="FF00FF"/>
                </a:solidFill>
                <a:latin typeface="Times New Roman" panose="02020603050405020304" pitchFamily="18" charset="0"/>
                <a:cs typeface="Times New Roman" panose="02020603050405020304" pitchFamily="18" charset="0"/>
              </a:endParaRPr>
            </a:p>
          </p:txBody>
        </p:sp>
        <p:sp>
          <p:nvSpPr>
            <p:cNvPr id="91216" name="右箭头 22">
              <a:extLst>
                <a:ext uri="{FF2B5EF4-FFF2-40B4-BE49-F238E27FC236}">
                  <a16:creationId xmlns:a16="http://schemas.microsoft.com/office/drawing/2014/main" id="{51BC5F57-75B3-44FB-8DB1-0EB51570ABB1}"/>
                </a:ext>
              </a:extLst>
            </p:cNvPr>
            <p:cNvSpPr>
              <a:spLocks noChangeArrowheads="1"/>
            </p:cNvSpPr>
            <p:nvPr/>
          </p:nvSpPr>
          <p:spPr bwMode="auto">
            <a:xfrm>
              <a:off x="4857753" y="2571744"/>
              <a:ext cx="327157" cy="214314"/>
            </a:xfrm>
            <a:prstGeom prst="rightArrow">
              <a:avLst>
                <a:gd name="adj1" fmla="val 50000"/>
                <a:gd name="adj2" fmla="val 50001"/>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1200" b="0">
                <a:solidFill>
                  <a:srgbClr val="FF0000"/>
                </a:solidFill>
                <a:latin typeface="Times New Roman" panose="02020603050405020304" pitchFamily="18" charset="0"/>
              </a:endParaRPr>
            </a:p>
          </p:txBody>
        </p:sp>
      </p:grpSp>
      <p:grpSp>
        <p:nvGrpSpPr>
          <p:cNvPr id="18" name="组合 20">
            <a:extLst>
              <a:ext uri="{FF2B5EF4-FFF2-40B4-BE49-F238E27FC236}">
                <a16:creationId xmlns:a16="http://schemas.microsoft.com/office/drawing/2014/main" id="{0720C82D-019E-4070-A51A-292E3D6F7E53}"/>
              </a:ext>
            </a:extLst>
          </p:cNvPr>
          <p:cNvGrpSpPr>
            <a:grpSpLocks/>
          </p:cNvGrpSpPr>
          <p:nvPr/>
        </p:nvGrpSpPr>
        <p:grpSpPr bwMode="auto">
          <a:xfrm>
            <a:off x="1582738" y="3516313"/>
            <a:ext cx="2151062" cy="869950"/>
            <a:chOff x="4322350" y="2476603"/>
            <a:chExt cx="1406540" cy="868657"/>
          </a:xfrm>
        </p:grpSpPr>
        <p:sp>
          <p:nvSpPr>
            <p:cNvPr id="91213" name="矩形 21">
              <a:extLst>
                <a:ext uri="{FF2B5EF4-FFF2-40B4-BE49-F238E27FC236}">
                  <a16:creationId xmlns:a16="http://schemas.microsoft.com/office/drawing/2014/main" id="{F0F4CC22-F548-4B62-8291-F2BBDF6195A8}"/>
                </a:ext>
              </a:extLst>
            </p:cNvPr>
            <p:cNvSpPr>
              <a:spLocks noChangeArrowheads="1"/>
            </p:cNvSpPr>
            <p:nvPr/>
          </p:nvSpPr>
          <p:spPr bwMode="auto">
            <a:xfrm>
              <a:off x="4322350" y="2476603"/>
              <a:ext cx="1406540" cy="369279"/>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800" b="0">
                  <a:solidFill>
                    <a:srgbClr val="FF00FF"/>
                  </a:solidFill>
                  <a:latin typeface="Times New Roman" panose="02020603050405020304" pitchFamily="18" charset="0"/>
                </a:rPr>
                <a:t>θ</a:t>
              </a:r>
              <a:r>
                <a:rPr kumimoji="1" lang="zh-CN" altLang="en-US" sz="1800" b="0">
                  <a:solidFill>
                    <a:srgbClr val="FF00FF"/>
                  </a:solidFill>
                  <a:latin typeface="Times New Roman" panose="02020603050405020304" pitchFamily="18" charset="0"/>
                </a:rPr>
                <a:t>规则确定出基变量</a:t>
              </a:r>
              <a:endParaRPr lang="en-US" altLang="zh-CN" sz="1800" b="0">
                <a:solidFill>
                  <a:srgbClr val="FF00FF"/>
                </a:solidFill>
                <a:latin typeface="Times New Roman" panose="02020603050405020304" pitchFamily="18" charset="0"/>
                <a:cs typeface="Times New Roman" panose="02020603050405020304" pitchFamily="18" charset="0"/>
              </a:endParaRPr>
            </a:p>
          </p:txBody>
        </p:sp>
        <p:sp>
          <p:nvSpPr>
            <p:cNvPr id="91214" name="右箭头 22">
              <a:extLst>
                <a:ext uri="{FF2B5EF4-FFF2-40B4-BE49-F238E27FC236}">
                  <a16:creationId xmlns:a16="http://schemas.microsoft.com/office/drawing/2014/main" id="{B81F95F0-CE9B-48A1-A498-20B55BABBD6A}"/>
                </a:ext>
              </a:extLst>
            </p:cNvPr>
            <p:cNvSpPr>
              <a:spLocks noChangeArrowheads="1"/>
            </p:cNvSpPr>
            <p:nvPr/>
          </p:nvSpPr>
          <p:spPr bwMode="auto">
            <a:xfrm rot="-5400000">
              <a:off x="4761095" y="3025369"/>
              <a:ext cx="499378" cy="140403"/>
            </a:xfrm>
            <a:prstGeom prst="rightArrow">
              <a:avLst>
                <a:gd name="adj1" fmla="val 50000"/>
                <a:gd name="adj2" fmla="val 50009"/>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1200" b="0">
                <a:solidFill>
                  <a:srgbClr val="FF0000"/>
                </a:solidFill>
                <a:latin typeface="Times New Roman" panose="02020603050405020304" pitchFamily="18" charset="0"/>
              </a:endParaRPr>
            </a:p>
          </p:txBody>
        </p:sp>
      </p:grpSp>
      <p:graphicFrame>
        <p:nvGraphicFramePr>
          <p:cNvPr id="16" name="Group 719">
            <a:extLst>
              <a:ext uri="{FF2B5EF4-FFF2-40B4-BE49-F238E27FC236}">
                <a16:creationId xmlns:a16="http://schemas.microsoft.com/office/drawing/2014/main" id="{E712C591-8F46-4AAE-9208-A192ED2BD1AD}"/>
              </a:ext>
            </a:extLst>
          </p:cNvPr>
          <p:cNvGraphicFramePr>
            <a:graphicFrameLocks noGrp="1"/>
          </p:cNvGraphicFramePr>
          <p:nvPr/>
        </p:nvGraphicFramePr>
        <p:xfrm>
          <a:off x="4114800" y="3617913"/>
          <a:ext cx="4953002" cy="2706689"/>
        </p:xfrm>
        <a:graphic>
          <a:graphicData uri="http://schemas.openxmlformats.org/drawingml/2006/table">
            <a:tbl>
              <a:tblPr/>
              <a:tblGrid>
                <a:gridCol w="517478">
                  <a:extLst>
                    <a:ext uri="{9D8B030D-6E8A-4147-A177-3AD203B41FA5}">
                      <a16:colId xmlns:a16="http://schemas.microsoft.com/office/drawing/2014/main" val="20000"/>
                    </a:ext>
                  </a:extLst>
                </a:gridCol>
                <a:gridCol w="517478">
                  <a:extLst>
                    <a:ext uri="{9D8B030D-6E8A-4147-A177-3AD203B41FA5}">
                      <a16:colId xmlns:a16="http://schemas.microsoft.com/office/drawing/2014/main" val="20001"/>
                    </a:ext>
                  </a:extLst>
                </a:gridCol>
                <a:gridCol w="517478">
                  <a:extLst>
                    <a:ext uri="{9D8B030D-6E8A-4147-A177-3AD203B41FA5}">
                      <a16:colId xmlns:a16="http://schemas.microsoft.com/office/drawing/2014/main" val="20002"/>
                    </a:ext>
                  </a:extLst>
                </a:gridCol>
                <a:gridCol w="517478">
                  <a:extLst>
                    <a:ext uri="{9D8B030D-6E8A-4147-A177-3AD203B41FA5}">
                      <a16:colId xmlns:a16="http://schemas.microsoft.com/office/drawing/2014/main" val="20003"/>
                    </a:ext>
                  </a:extLst>
                </a:gridCol>
                <a:gridCol w="517478">
                  <a:extLst>
                    <a:ext uri="{9D8B030D-6E8A-4147-A177-3AD203B41FA5}">
                      <a16:colId xmlns:a16="http://schemas.microsoft.com/office/drawing/2014/main" val="20004"/>
                    </a:ext>
                  </a:extLst>
                </a:gridCol>
                <a:gridCol w="517478">
                  <a:extLst>
                    <a:ext uri="{9D8B030D-6E8A-4147-A177-3AD203B41FA5}">
                      <a16:colId xmlns:a16="http://schemas.microsoft.com/office/drawing/2014/main" val="20005"/>
                    </a:ext>
                  </a:extLst>
                </a:gridCol>
                <a:gridCol w="517478">
                  <a:extLst>
                    <a:ext uri="{9D8B030D-6E8A-4147-A177-3AD203B41FA5}">
                      <a16:colId xmlns:a16="http://schemas.microsoft.com/office/drawing/2014/main" val="20006"/>
                    </a:ext>
                  </a:extLst>
                </a:gridCol>
                <a:gridCol w="721053">
                  <a:extLst>
                    <a:ext uri="{9D8B030D-6E8A-4147-A177-3AD203B41FA5}">
                      <a16:colId xmlns:a16="http://schemas.microsoft.com/office/drawing/2014/main" val="20007"/>
                    </a:ext>
                  </a:extLst>
                </a:gridCol>
                <a:gridCol w="609603">
                  <a:extLst>
                    <a:ext uri="{9D8B030D-6E8A-4147-A177-3AD203B41FA5}">
                      <a16:colId xmlns:a16="http://schemas.microsoft.com/office/drawing/2014/main" val="20008"/>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tx1"/>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3</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8</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endParaRPr kumimoji="1" lang="zh-CN"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4</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16</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a:t>
                      </a:r>
                      <a:endParaRPr kumimoji="1" lang="zh-CN"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endParaRPr kumimoji="1" lang="zh-CN"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solidFill>
                            <a:schemeClr val="tx1"/>
                          </a:solidFill>
                          <a:latin typeface="Times New Roman" panose="02020603050405020304" pitchFamily="18" charset="0"/>
                        </a:rPr>
                        <a:t>σ</a:t>
                      </a:r>
                      <a:r>
                        <a:rPr lang="en-US" altLang="zh-CN" sz="1800" b="1" i="1" baseline="-25000" dirty="0">
                          <a:solidFill>
                            <a:schemeClr val="tx1"/>
                          </a:solidFill>
                          <a:latin typeface="Times New Roman" panose="02020603050405020304" pitchFamily="18" charset="0"/>
                        </a:rPr>
                        <a:t>j</a:t>
                      </a:r>
                      <a:r>
                        <a:rPr lang="en-US" altLang="zh-CN" sz="1800" b="1" dirty="0">
                          <a:solidFill>
                            <a:schemeClr val="tx1"/>
                          </a:solidFill>
                          <a:latin typeface="Times New Roman" panose="02020603050405020304" pitchFamily="18" charset="0"/>
                        </a:rPr>
                        <a:t>=</a:t>
                      </a:r>
                      <a:r>
                        <a:rPr lang="en-US" altLang="zh-CN" sz="1800" b="1" dirty="0" err="1">
                          <a:solidFill>
                            <a:schemeClr val="tx1"/>
                          </a:solidFill>
                          <a:latin typeface="Times New Roman" panose="02020603050405020304" pitchFamily="18" charset="0"/>
                        </a:rPr>
                        <a:t>c</a:t>
                      </a:r>
                      <a:r>
                        <a:rPr lang="en-US" altLang="zh-CN" sz="1800" b="1" i="1" baseline="-25000" dirty="0" err="1">
                          <a:solidFill>
                            <a:schemeClr val="tx1"/>
                          </a:solidFill>
                          <a:latin typeface="Times New Roman" panose="02020603050405020304" pitchFamily="18" charset="0"/>
                        </a:rPr>
                        <a:t>j</a:t>
                      </a:r>
                      <a:r>
                        <a:rPr lang="en-US" altLang="zh-CN" sz="1800" b="1" dirty="0" err="1">
                          <a:solidFill>
                            <a:schemeClr val="tx1"/>
                          </a:solidFill>
                          <a:latin typeface="Times New Roman" panose="02020603050405020304" pitchFamily="18" charset="0"/>
                        </a:rPr>
                        <a:t>-z</a:t>
                      </a:r>
                      <a:r>
                        <a:rPr lang="en-US" altLang="zh-CN" sz="1800" b="1" i="1" baseline="-25000" dirty="0" err="1">
                          <a:solidFill>
                            <a:schemeClr val="tx1"/>
                          </a:solidFill>
                          <a:latin typeface="Times New Roman" panose="02020603050405020304" pitchFamily="18" charset="0"/>
                        </a:rPr>
                        <a:t>j</a:t>
                      </a:r>
                      <a:endParaRPr lang="en-US" altLang="zh-CN" sz="1800" b="1" i="1" baseline="-25000" dirty="0">
                        <a:solidFill>
                          <a:schemeClr val="tx1"/>
                        </a:solidFill>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checkerboard(across)">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checkerboard(across)">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20">
            <a:extLst>
              <a:ext uri="{FF2B5EF4-FFF2-40B4-BE49-F238E27FC236}">
                <a16:creationId xmlns:a16="http://schemas.microsoft.com/office/drawing/2014/main" id="{6D9859EE-CA71-4EA8-9A04-15D133899811}"/>
              </a:ext>
            </a:extLst>
          </p:cNvPr>
          <p:cNvGrpSpPr>
            <a:grpSpLocks/>
          </p:cNvGrpSpPr>
          <p:nvPr/>
        </p:nvGrpSpPr>
        <p:grpSpPr bwMode="auto">
          <a:xfrm>
            <a:off x="2573338" y="3832225"/>
            <a:ext cx="2151062" cy="869950"/>
            <a:chOff x="4701116" y="2503546"/>
            <a:chExt cx="1406540" cy="868657"/>
          </a:xfrm>
        </p:grpSpPr>
        <p:sp>
          <p:nvSpPr>
            <p:cNvPr id="92231" name="矩形 21">
              <a:extLst>
                <a:ext uri="{FF2B5EF4-FFF2-40B4-BE49-F238E27FC236}">
                  <a16:creationId xmlns:a16="http://schemas.microsoft.com/office/drawing/2014/main" id="{E0A3620C-3056-4A69-868E-101630681053}"/>
                </a:ext>
              </a:extLst>
            </p:cNvPr>
            <p:cNvSpPr>
              <a:spLocks noChangeArrowheads="1"/>
            </p:cNvSpPr>
            <p:nvPr/>
          </p:nvSpPr>
          <p:spPr bwMode="auto">
            <a:xfrm>
              <a:off x="4701116" y="2503546"/>
              <a:ext cx="1406540" cy="369279"/>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1800" b="0">
                  <a:solidFill>
                    <a:srgbClr val="FF00FF"/>
                  </a:solidFill>
                  <a:latin typeface="Times New Roman" panose="02020603050405020304" pitchFamily="18" charset="0"/>
                </a:rPr>
                <a:t>θ</a:t>
              </a:r>
              <a:r>
                <a:rPr kumimoji="1" lang="zh-CN" altLang="en-US" sz="1800" b="0">
                  <a:solidFill>
                    <a:srgbClr val="FF00FF"/>
                  </a:solidFill>
                  <a:latin typeface="Times New Roman" panose="02020603050405020304" pitchFamily="18" charset="0"/>
                </a:rPr>
                <a:t>规则确定进基变量</a:t>
              </a:r>
              <a:endParaRPr lang="en-US" altLang="zh-CN" sz="1800" b="0">
                <a:solidFill>
                  <a:srgbClr val="FF00FF"/>
                </a:solidFill>
                <a:latin typeface="Times New Roman" panose="02020603050405020304" pitchFamily="18" charset="0"/>
                <a:cs typeface="Times New Roman" panose="02020603050405020304" pitchFamily="18" charset="0"/>
              </a:endParaRPr>
            </a:p>
          </p:txBody>
        </p:sp>
        <p:sp>
          <p:nvSpPr>
            <p:cNvPr id="92232" name="右箭头 22">
              <a:extLst>
                <a:ext uri="{FF2B5EF4-FFF2-40B4-BE49-F238E27FC236}">
                  <a16:creationId xmlns:a16="http://schemas.microsoft.com/office/drawing/2014/main" id="{D1FCFE5F-4AC7-4550-AD3C-E51D7E9A3BA2}"/>
                </a:ext>
              </a:extLst>
            </p:cNvPr>
            <p:cNvSpPr>
              <a:spLocks noChangeArrowheads="1"/>
            </p:cNvSpPr>
            <p:nvPr/>
          </p:nvSpPr>
          <p:spPr bwMode="auto">
            <a:xfrm rot="-5400000">
              <a:off x="5130750" y="3052312"/>
              <a:ext cx="499378" cy="140403"/>
            </a:xfrm>
            <a:prstGeom prst="rightArrow">
              <a:avLst>
                <a:gd name="adj1" fmla="val 50000"/>
                <a:gd name="adj2" fmla="val 50009"/>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1200" b="0">
                <a:solidFill>
                  <a:srgbClr val="FF0000"/>
                </a:solidFill>
                <a:latin typeface="Times New Roman" panose="02020603050405020304" pitchFamily="18" charset="0"/>
              </a:endParaRPr>
            </a:p>
          </p:txBody>
        </p:sp>
      </p:grpSp>
      <p:sp>
        <p:nvSpPr>
          <p:cNvPr id="92163" name="Rectangle 2">
            <a:extLst>
              <a:ext uri="{FF2B5EF4-FFF2-40B4-BE49-F238E27FC236}">
                <a16:creationId xmlns:a16="http://schemas.microsoft.com/office/drawing/2014/main" id="{0D8DA22B-A0B7-44DA-AB1A-C66E670F3217}"/>
              </a:ext>
            </a:extLst>
          </p:cNvPr>
          <p:cNvSpPr>
            <a:spLocks noGrp="1" noChangeArrowheads="1"/>
          </p:cNvSpPr>
          <p:nvPr>
            <p:ph type="title"/>
          </p:nvPr>
        </p:nvSpPr>
        <p:spPr/>
        <p:txBody>
          <a:bodyPr/>
          <a:lstStyle/>
          <a:p>
            <a:pPr eaLnBrk="1" hangingPunct="1"/>
            <a:r>
              <a:rPr lang="zh-CN" altLang="en-US"/>
              <a:t>普通单纯形法和</a:t>
            </a:r>
            <a:r>
              <a:rPr lang="zh-CN" altLang="en-US">
                <a:solidFill>
                  <a:srgbClr val="FF00FF"/>
                </a:solidFill>
              </a:rPr>
              <a:t>对偶单纯形法</a:t>
            </a:r>
          </a:p>
        </p:txBody>
      </p:sp>
      <p:sp>
        <p:nvSpPr>
          <p:cNvPr id="125955" name="Rectangle 3">
            <a:extLst>
              <a:ext uri="{FF2B5EF4-FFF2-40B4-BE49-F238E27FC236}">
                <a16:creationId xmlns:a16="http://schemas.microsoft.com/office/drawing/2014/main" id="{4C07017F-5FDD-452E-8538-C6355ABA1E99}"/>
              </a:ext>
            </a:extLst>
          </p:cNvPr>
          <p:cNvSpPr>
            <a:spLocks noGrp="1" noChangeArrowheads="1"/>
          </p:cNvSpPr>
          <p:nvPr>
            <p:ph type="body" idx="1"/>
          </p:nvPr>
        </p:nvSpPr>
        <p:spPr>
          <a:xfrm>
            <a:off x="0" y="1143000"/>
            <a:ext cx="8982075" cy="5373688"/>
          </a:xfrm>
        </p:spPr>
        <p:txBody>
          <a:bodyPr/>
          <a:lstStyle/>
          <a:p>
            <a:pPr marL="533400" indent="-533400" eaLnBrk="1" hangingPunct="1">
              <a:buFont typeface="Wingdings" panose="05000000000000000000" pitchFamily="2" charset="2"/>
              <a:buAutoNum type="arabicPeriod"/>
              <a:defRPr/>
            </a:pPr>
            <a:r>
              <a:rPr kumimoji="1" lang="zh-CN" altLang="en-US" sz="2400" dirty="0">
                <a:latin typeface="Times New Roman" panose="02020603050405020304" pitchFamily="18" charset="0"/>
              </a:rPr>
              <a:t>列出初始单纯形表，检查</a:t>
            </a:r>
            <a:r>
              <a:rPr kumimoji="1" lang="en-US" altLang="zh-CN" sz="2400" dirty="0">
                <a:latin typeface="Times New Roman" panose="02020603050405020304" pitchFamily="18" charset="0"/>
              </a:rPr>
              <a:t>b</a:t>
            </a:r>
            <a:r>
              <a:rPr kumimoji="1" lang="zh-CN" altLang="en-US" sz="2400" dirty="0">
                <a:latin typeface="Times New Roman" panose="02020603050405020304" pitchFamily="18" charset="0"/>
              </a:rPr>
              <a:t>列数字：</a:t>
            </a:r>
          </a:p>
          <a:p>
            <a:pPr marL="728663" lvl="1" indent="-384175" eaLnBrk="1" hangingPunct="1">
              <a:buClr>
                <a:schemeClr val="tx1"/>
              </a:buClr>
              <a:buFont typeface="Wingdings" panose="05000000000000000000" pitchFamily="2" charset="2"/>
              <a:buAutoNum type="circleNumDbPlain"/>
              <a:defRPr/>
            </a:pPr>
            <a:r>
              <a:rPr kumimoji="1" lang="zh-CN" altLang="en-US" sz="2000" dirty="0">
                <a:latin typeface="Times New Roman" panose="02020603050405020304" pitchFamily="18" charset="0"/>
              </a:rPr>
              <a:t>若都为非负</a:t>
            </a:r>
            <a:r>
              <a:rPr kumimoji="1" lang="en-US" altLang="zh-CN" sz="2000" dirty="0">
                <a:latin typeface="Times New Roman" panose="02020603050405020304" pitchFamily="18" charset="0"/>
              </a:rPr>
              <a:t>(</a:t>
            </a:r>
            <a:r>
              <a:rPr kumimoji="1" lang="en-US" altLang="zh-CN" sz="2000" b="1" dirty="0">
                <a:latin typeface="Times New Roman" panose="02020603050405020304" pitchFamily="18" charset="0"/>
              </a:rPr>
              <a:t>b</a:t>
            </a:r>
            <a:r>
              <a:rPr kumimoji="1" lang="en-US" altLang="zh-CN" sz="2000" dirty="0">
                <a:latin typeface="Times New Roman" panose="02020603050405020304" pitchFamily="18" charset="0"/>
              </a:rPr>
              <a:t>≥</a:t>
            </a:r>
            <a:r>
              <a:rPr kumimoji="1" lang="en-US" altLang="zh-CN" sz="2000" b="1" dirty="0">
                <a:latin typeface="Times New Roman" panose="02020603050405020304" pitchFamily="18" charset="0"/>
              </a:rPr>
              <a:t>0</a:t>
            </a:r>
            <a:r>
              <a:rPr kumimoji="1" lang="en-US" altLang="zh-CN" sz="2000" dirty="0">
                <a:latin typeface="Times New Roman" panose="02020603050405020304" pitchFamily="18" charset="0"/>
              </a:rPr>
              <a:t>)</a:t>
            </a:r>
            <a:r>
              <a:rPr kumimoji="1" lang="zh-CN" altLang="en-US" sz="2000" dirty="0">
                <a:latin typeface="Times New Roman" panose="02020603050405020304" pitchFamily="18" charset="0"/>
              </a:rPr>
              <a:t>，检验数为非正，则已得到最优解；</a:t>
            </a:r>
          </a:p>
          <a:p>
            <a:pPr marL="728663" lvl="1" indent="-384175" eaLnBrk="1" hangingPunct="1">
              <a:buClr>
                <a:schemeClr val="tx1"/>
              </a:buClr>
              <a:buFont typeface="Wingdings" panose="05000000000000000000" pitchFamily="2" charset="2"/>
              <a:buAutoNum type="circleNumDbPlain"/>
              <a:defRPr/>
            </a:pPr>
            <a:r>
              <a:rPr kumimoji="1" lang="zh-CN" altLang="en-US" sz="2000" dirty="0">
                <a:latin typeface="Times New Roman" panose="02020603050405020304" pitchFamily="18" charset="0"/>
              </a:rPr>
              <a:t>若</a:t>
            </a:r>
            <a:r>
              <a:rPr kumimoji="1" lang="en-US" altLang="zh-CN" sz="2000" dirty="0">
                <a:latin typeface="Times New Roman" panose="02020603050405020304" pitchFamily="18" charset="0"/>
              </a:rPr>
              <a:t>b</a:t>
            </a:r>
            <a:r>
              <a:rPr kumimoji="1" lang="zh-CN" altLang="en-US" sz="2000" dirty="0">
                <a:latin typeface="Times New Roman" panose="02020603050405020304" pitchFamily="18" charset="0"/>
              </a:rPr>
              <a:t>列中存在负分量</a:t>
            </a:r>
            <a:r>
              <a:rPr kumimoji="1" lang="en-US" altLang="zh-CN" sz="2000" dirty="0">
                <a:latin typeface="Times New Roman" panose="02020603050405020304" pitchFamily="18" charset="0"/>
              </a:rPr>
              <a:t>(</a:t>
            </a:r>
            <a:r>
              <a:rPr kumimoji="1" lang="en-US" altLang="zh-CN" sz="2000" i="1" dirty="0">
                <a:latin typeface="Times New Roman" panose="02020603050405020304" pitchFamily="18" charset="0"/>
              </a:rPr>
              <a:t>b</a:t>
            </a:r>
            <a:r>
              <a:rPr kumimoji="1" lang="en-US" altLang="zh-CN" sz="2000" i="1" baseline="-25000" dirty="0">
                <a:latin typeface="Times New Roman" panose="02020603050405020304" pitchFamily="18" charset="0"/>
              </a:rPr>
              <a:t>i</a:t>
            </a:r>
            <a:r>
              <a:rPr kumimoji="1" lang="en-US" altLang="zh-CN" sz="2000" dirty="0">
                <a:latin typeface="Times New Roman" panose="02020603050405020304" pitchFamily="18" charset="0"/>
              </a:rPr>
              <a:t>&lt;0) </a:t>
            </a:r>
            <a:r>
              <a:rPr kumimoji="1" lang="zh-CN" altLang="en-US" sz="2000" dirty="0">
                <a:latin typeface="Times New Roman" panose="02020603050405020304" pitchFamily="18" charset="0"/>
              </a:rPr>
              <a:t>，检验数保持非正，进行以下计算</a:t>
            </a:r>
          </a:p>
          <a:p>
            <a:pPr marL="533400" indent="-533400" eaLnBrk="1" hangingPunct="1">
              <a:buFont typeface="Wingdings" panose="05000000000000000000" pitchFamily="2" charset="2"/>
              <a:buAutoNum type="arabicPeriod"/>
              <a:defRPr/>
            </a:pPr>
            <a:r>
              <a:rPr kumimoji="1" lang="zh-CN" altLang="en-US" sz="2400" dirty="0">
                <a:latin typeface="Times New Roman" panose="02020603050405020304" pitchFamily="18" charset="0"/>
              </a:rPr>
              <a:t>确定</a:t>
            </a:r>
            <a:r>
              <a:rPr kumimoji="1" lang="en-US" altLang="zh-CN" sz="2400" dirty="0">
                <a:latin typeface="Times New Roman" panose="02020603050405020304" pitchFamily="18" charset="0"/>
              </a:rPr>
              <a:t>x</a:t>
            </a:r>
            <a:r>
              <a:rPr kumimoji="1" lang="en-US" altLang="zh-CN" sz="2400" i="1" baseline="-25000" dirty="0">
                <a:latin typeface="Times New Roman" panose="02020603050405020304" pitchFamily="18" charset="0"/>
              </a:rPr>
              <a:t>l </a:t>
            </a:r>
            <a:r>
              <a:rPr kumimoji="1" lang="zh-CN" altLang="en-US" sz="2400" dirty="0">
                <a:latin typeface="Times New Roman" panose="02020603050405020304" pitchFamily="18" charset="0"/>
              </a:rPr>
              <a:t>为换出变量：按 </a:t>
            </a:r>
            <a:r>
              <a:rPr kumimoji="1" lang="en-US" altLang="zh-CN" sz="2400" dirty="0">
                <a:latin typeface="Times New Roman" panose="02020603050405020304" pitchFamily="18" charset="0"/>
              </a:rPr>
              <a:t>min {(</a:t>
            </a:r>
            <a:r>
              <a:rPr kumimoji="1" lang="en-US" altLang="zh-CN" sz="2400" b="0" dirty="0">
                <a:latin typeface="Times New Roman" panose="02020603050405020304" pitchFamily="18" charset="0"/>
              </a:rPr>
              <a:t>B</a:t>
            </a:r>
            <a:r>
              <a:rPr kumimoji="1" lang="en-US" altLang="zh-CN" sz="2400" baseline="30000" dirty="0">
                <a:latin typeface="Times New Roman" panose="02020603050405020304" pitchFamily="18" charset="0"/>
              </a:rPr>
              <a:t>-1</a:t>
            </a:r>
            <a:r>
              <a:rPr kumimoji="1" lang="en-US" altLang="zh-CN" sz="2400" b="0" dirty="0">
                <a:latin typeface="Times New Roman" panose="02020603050405020304" pitchFamily="18" charset="0"/>
              </a:rPr>
              <a:t>b</a:t>
            </a:r>
            <a:r>
              <a:rPr kumimoji="1" lang="en-US" altLang="zh-CN" sz="2400" dirty="0">
                <a:latin typeface="Times New Roman" panose="02020603050405020304" pitchFamily="18" charset="0"/>
              </a:rPr>
              <a:t>)</a:t>
            </a:r>
            <a:r>
              <a:rPr kumimoji="1" lang="en-US" altLang="zh-CN" sz="2400" i="1" baseline="-25000" dirty="0" err="1">
                <a:latin typeface="Times New Roman" panose="02020603050405020304" pitchFamily="18" charset="0"/>
              </a:rPr>
              <a:t>i</a:t>
            </a:r>
            <a:r>
              <a:rPr kumimoji="1" lang="en-US" altLang="zh-CN" sz="2400" baseline="-25000" dirty="0">
                <a:latin typeface="Times New Roman" panose="02020603050405020304" pitchFamily="18" charset="0"/>
              </a:rPr>
              <a:t> </a:t>
            </a:r>
            <a:r>
              <a:rPr kumimoji="1" lang="en-US" altLang="zh-CN" sz="2400" dirty="0">
                <a:latin typeface="Times New Roman" panose="02020603050405020304" pitchFamily="18" charset="0"/>
              </a:rPr>
              <a:t>| (</a:t>
            </a:r>
            <a:r>
              <a:rPr kumimoji="1" lang="en-US" altLang="zh-CN" sz="2400" b="0" dirty="0">
                <a:latin typeface="Times New Roman" panose="02020603050405020304" pitchFamily="18" charset="0"/>
              </a:rPr>
              <a:t>B</a:t>
            </a:r>
            <a:r>
              <a:rPr kumimoji="1" lang="en-US" altLang="zh-CN" sz="2400" baseline="30000" dirty="0">
                <a:latin typeface="Times New Roman" panose="02020603050405020304" pitchFamily="18" charset="0"/>
              </a:rPr>
              <a:t>-1</a:t>
            </a:r>
            <a:r>
              <a:rPr kumimoji="1" lang="en-US" altLang="zh-CN" sz="2400" b="0" dirty="0">
                <a:latin typeface="Times New Roman" panose="02020603050405020304" pitchFamily="18" charset="0"/>
              </a:rPr>
              <a:t>b</a:t>
            </a:r>
            <a:r>
              <a:rPr kumimoji="1" lang="en-US" altLang="zh-CN" sz="2400" dirty="0">
                <a:latin typeface="Times New Roman" panose="02020603050405020304" pitchFamily="18" charset="0"/>
              </a:rPr>
              <a:t>)</a:t>
            </a:r>
            <a:r>
              <a:rPr kumimoji="1" lang="en-US" altLang="zh-CN" sz="2400" i="1" baseline="-25000" dirty="0" err="1">
                <a:latin typeface="Times New Roman" panose="02020603050405020304" pitchFamily="18" charset="0"/>
              </a:rPr>
              <a:t>i</a:t>
            </a:r>
            <a:r>
              <a:rPr kumimoji="1" lang="en-US" altLang="zh-CN" sz="2400" dirty="0">
                <a:latin typeface="Times New Roman" panose="02020603050405020304" pitchFamily="18" charset="0"/>
              </a:rPr>
              <a:t> &lt;0} </a:t>
            </a:r>
            <a:r>
              <a:rPr kumimoji="1" lang="zh-CN" altLang="en-US" sz="2400" dirty="0">
                <a:latin typeface="Times New Roman" panose="02020603050405020304" pitchFamily="18" charset="0"/>
              </a:rPr>
              <a:t>确定</a:t>
            </a:r>
          </a:p>
          <a:p>
            <a:pPr marL="533400" indent="-533400" eaLnBrk="1" hangingPunct="1">
              <a:buFont typeface="Wingdings" panose="05000000000000000000" pitchFamily="2" charset="2"/>
              <a:buAutoNum type="arabicPeriod"/>
              <a:defRPr/>
            </a:pPr>
            <a:r>
              <a:rPr kumimoji="1" lang="zh-CN" altLang="en-US" sz="2400" dirty="0">
                <a:latin typeface="Times New Roman" panose="02020603050405020304" pitchFamily="18" charset="0"/>
              </a:rPr>
              <a:t>确定换入变量 </a:t>
            </a:r>
          </a:p>
          <a:p>
            <a:pPr marL="728663" lvl="1" indent="-384175" eaLnBrk="1" hangingPunct="1">
              <a:buClr>
                <a:schemeClr val="tx1"/>
              </a:buClr>
              <a:buFont typeface="Wingdings" panose="05000000000000000000" pitchFamily="2" charset="2"/>
              <a:buAutoNum type="circleNumDbPlain"/>
              <a:defRPr/>
            </a:pPr>
            <a:r>
              <a:rPr kumimoji="1" lang="zh-CN" altLang="en-US" sz="2000" dirty="0">
                <a:latin typeface="Times New Roman" panose="02020603050405020304" pitchFamily="18" charset="0"/>
              </a:rPr>
              <a:t>为使下一表中第</a:t>
            </a:r>
            <a:r>
              <a:rPr kumimoji="1" lang="en-US" altLang="zh-CN" sz="2000" i="1" dirty="0">
                <a:latin typeface="Times New Roman" panose="02020603050405020304" pitchFamily="18" charset="0"/>
              </a:rPr>
              <a:t>l</a:t>
            </a:r>
            <a:r>
              <a:rPr kumimoji="1" lang="zh-CN" altLang="en-US" sz="2000" dirty="0">
                <a:latin typeface="Times New Roman" panose="02020603050405020304" pitchFamily="18" charset="0"/>
              </a:rPr>
              <a:t>行基变量为正值，只有对应</a:t>
            </a:r>
            <a:r>
              <a:rPr kumimoji="1" lang="en-US" altLang="zh-CN" sz="2000" dirty="0" err="1">
                <a:latin typeface="Times New Roman" panose="02020603050405020304" pitchFamily="18" charset="0"/>
              </a:rPr>
              <a:t>a</a:t>
            </a:r>
            <a:r>
              <a:rPr kumimoji="1" lang="en-US" altLang="zh-CN" sz="2000" i="1" baseline="-25000" dirty="0" err="1">
                <a:latin typeface="Times New Roman" panose="02020603050405020304" pitchFamily="18" charset="0"/>
              </a:rPr>
              <a:t>lj</a:t>
            </a:r>
            <a:r>
              <a:rPr kumimoji="1" lang="en-US" altLang="zh-CN" sz="2000" dirty="0">
                <a:latin typeface="Times New Roman" panose="02020603050405020304" pitchFamily="18" charset="0"/>
              </a:rPr>
              <a:t>&lt;0(j=m+1,</a:t>
            </a:r>
            <a:r>
              <a:rPr kumimoji="1" lang="zh-CN" altLang="en-US" sz="2000" dirty="0">
                <a:latin typeface="Times New Roman" panose="02020603050405020304" pitchFamily="18" charset="0"/>
              </a:rPr>
              <a:t>，</a:t>
            </a:r>
            <a:r>
              <a:rPr kumimoji="1" lang="en-US" altLang="zh-CN" sz="2000" dirty="0">
                <a:latin typeface="Times New Roman" panose="02020603050405020304" pitchFamily="18" charset="0"/>
              </a:rPr>
              <a:t>…n)</a:t>
            </a:r>
            <a:r>
              <a:rPr kumimoji="1" lang="zh-CN" altLang="en-US" sz="2000" dirty="0">
                <a:latin typeface="Times New Roman" panose="02020603050405020304" pitchFamily="18" charset="0"/>
              </a:rPr>
              <a:t>的非基变量才可考虑作为换入基的变量，若所有</a:t>
            </a:r>
            <a:r>
              <a:rPr kumimoji="1" lang="en-US" altLang="zh-CN" sz="2000" dirty="0" err="1">
                <a:latin typeface="Times New Roman" panose="02020603050405020304" pitchFamily="18" charset="0"/>
              </a:rPr>
              <a:t>a</a:t>
            </a:r>
            <a:r>
              <a:rPr kumimoji="1" lang="en-US" altLang="zh-CN" sz="2000" i="1" baseline="-25000" dirty="0" err="1">
                <a:latin typeface="Times New Roman" panose="02020603050405020304" pitchFamily="18" charset="0"/>
              </a:rPr>
              <a:t>lj</a:t>
            </a:r>
            <a:r>
              <a:rPr kumimoji="1" lang="en-US" altLang="zh-CN" sz="2000" dirty="0">
                <a:latin typeface="Times New Roman" panose="02020603050405020304" pitchFamily="18" charset="0"/>
              </a:rPr>
              <a:t> ≥ 0</a:t>
            </a:r>
            <a:r>
              <a:rPr kumimoji="1" lang="zh-CN" altLang="en-US" sz="2000" dirty="0">
                <a:latin typeface="Times New Roman" panose="02020603050405020304" pitchFamily="18" charset="0"/>
              </a:rPr>
              <a:t>，则问题无可行解，停止</a:t>
            </a:r>
            <a:r>
              <a:rPr kumimoji="1" lang="en-US" altLang="zh-CN" sz="2000" dirty="0">
                <a:latin typeface="Times New Roman" panose="02020603050405020304" pitchFamily="18" charset="0"/>
              </a:rPr>
              <a:t>; </a:t>
            </a:r>
            <a:r>
              <a:rPr kumimoji="1" lang="zh-CN" altLang="en-US" sz="2000" dirty="0">
                <a:latin typeface="Times New Roman" panose="02020603050405020304" pitchFamily="18" charset="0"/>
              </a:rPr>
              <a:t>否则</a:t>
            </a:r>
          </a:p>
          <a:p>
            <a:pPr marL="728663" lvl="1" indent="-384175" eaLnBrk="1" hangingPunct="1">
              <a:buClr>
                <a:schemeClr val="tx1"/>
              </a:buClr>
              <a:buFont typeface="Wingdings" panose="05000000000000000000" pitchFamily="2" charset="2"/>
              <a:buAutoNum type="circleNumDbPlain"/>
              <a:defRPr/>
            </a:pPr>
            <a:r>
              <a:rPr kumimoji="1" lang="zh-CN" altLang="en-US" sz="2000" dirty="0">
                <a:latin typeface="Times New Roman" panose="02020603050405020304" pitchFamily="18" charset="0"/>
              </a:rPr>
              <a:t>按</a:t>
            </a:r>
            <a:r>
              <a:rPr kumimoji="1" lang="en-US" altLang="zh-CN" sz="2000" dirty="0">
                <a:latin typeface="Times New Roman" panose="02020603050405020304" pitchFamily="18" charset="0"/>
              </a:rPr>
              <a:t>θ</a:t>
            </a:r>
            <a:r>
              <a:rPr kumimoji="1" lang="zh-CN" altLang="en-US" sz="2000" dirty="0">
                <a:latin typeface="Times New Roman" panose="02020603050405020304" pitchFamily="18" charset="0"/>
              </a:rPr>
              <a:t>规则确定</a:t>
            </a:r>
            <a:r>
              <a:rPr kumimoji="1" lang="en-US" altLang="zh-CN" sz="2000" dirty="0">
                <a:latin typeface="Times New Roman" panose="02020603050405020304" pitchFamily="18" charset="0"/>
              </a:rPr>
              <a:t>x</a:t>
            </a:r>
            <a:r>
              <a:rPr kumimoji="1" lang="en-US" altLang="zh-CN" sz="2000" i="1" baseline="-25000" dirty="0">
                <a:latin typeface="Times New Roman" panose="02020603050405020304" pitchFamily="18" charset="0"/>
              </a:rPr>
              <a:t>l </a:t>
            </a:r>
            <a:r>
              <a:rPr kumimoji="1" lang="zh-CN" altLang="en-US" sz="2000" dirty="0">
                <a:latin typeface="Times New Roman" panose="02020603050405020304" pitchFamily="18" charset="0"/>
              </a:rPr>
              <a:t>，这样确定</a:t>
            </a:r>
            <a:r>
              <a:rPr kumimoji="1" lang="en-US" altLang="zh-CN" sz="2000" dirty="0" err="1">
                <a:latin typeface="Times New Roman" panose="02020603050405020304" pitchFamily="18" charset="0"/>
              </a:rPr>
              <a:t>a</a:t>
            </a:r>
            <a:r>
              <a:rPr kumimoji="1" lang="en-US" altLang="zh-CN" sz="2000" i="1" baseline="-25000" dirty="0" err="1">
                <a:latin typeface="Times New Roman" panose="02020603050405020304" pitchFamily="18" charset="0"/>
              </a:rPr>
              <a:t>lk</a:t>
            </a:r>
            <a:r>
              <a:rPr kumimoji="1" lang="zh-CN" altLang="en-US" sz="2000" dirty="0">
                <a:latin typeface="Times New Roman" panose="02020603050405020304" pitchFamily="18" charset="0"/>
              </a:rPr>
              <a:t>，才能确保下一表中对偶问题解仍为可行解</a:t>
            </a:r>
            <a:endParaRPr kumimoji="1" lang="en-US" altLang="zh-CN" sz="2000" dirty="0">
              <a:latin typeface="Times New Roman" panose="02020603050405020304" pitchFamily="18" charset="0"/>
            </a:endParaRPr>
          </a:p>
          <a:p>
            <a:pPr marL="344488" lvl="1" indent="0" eaLnBrk="1" hangingPunct="1">
              <a:buClr>
                <a:schemeClr val="tx1"/>
              </a:buClr>
              <a:buFont typeface="Wingdings" panose="05000000000000000000" pitchFamily="2" charset="2"/>
              <a:buNone/>
              <a:defRPr/>
            </a:pPr>
            <a:endParaRPr kumimoji="1" lang="en-US" altLang="zh-CN" sz="2000" dirty="0">
              <a:latin typeface="Times New Roman" panose="02020603050405020304" pitchFamily="18" charset="0"/>
            </a:endParaRPr>
          </a:p>
          <a:p>
            <a:pPr marL="344488" lvl="1" indent="0" eaLnBrk="1" hangingPunct="1">
              <a:buClr>
                <a:schemeClr val="tx1"/>
              </a:buClr>
              <a:buFont typeface="Wingdings" panose="05000000000000000000" pitchFamily="2" charset="2"/>
              <a:buNone/>
              <a:defRPr/>
            </a:pPr>
            <a:r>
              <a:rPr kumimoji="1" lang="en-US" altLang="zh-CN" sz="2000" dirty="0">
                <a:latin typeface="Times New Roman" panose="02020603050405020304" pitchFamily="18" charset="0"/>
              </a:rPr>
              <a:t>        </a:t>
            </a:r>
            <a:endParaRPr kumimoji="1" lang="zh-CN" altLang="en-US" sz="2000" dirty="0">
              <a:latin typeface="Times New Roman" panose="02020603050405020304" pitchFamily="18" charset="0"/>
            </a:endParaRPr>
          </a:p>
          <a:p>
            <a:pPr marL="533400" indent="-533400" eaLnBrk="1" hangingPunct="1">
              <a:buFont typeface="Wingdings" panose="05000000000000000000" pitchFamily="2" charset="2"/>
              <a:buAutoNum type="arabicPeriod"/>
              <a:defRPr/>
            </a:pPr>
            <a:r>
              <a:rPr kumimoji="1" lang="zh-CN" altLang="en-US" sz="2200" dirty="0">
                <a:latin typeface="Times New Roman" panose="02020603050405020304" pitchFamily="18" charset="0"/>
              </a:rPr>
              <a:t>以</a:t>
            </a:r>
            <a:r>
              <a:rPr kumimoji="1" lang="en-US" altLang="zh-CN" sz="2200" dirty="0" err="1">
                <a:latin typeface="Times New Roman" panose="02020603050405020304" pitchFamily="18" charset="0"/>
              </a:rPr>
              <a:t>a</a:t>
            </a:r>
            <a:r>
              <a:rPr kumimoji="1" lang="en-US" altLang="zh-CN" sz="2200" i="1" baseline="-25000" dirty="0" err="1">
                <a:latin typeface="Times New Roman" panose="02020603050405020304" pitchFamily="18" charset="0"/>
              </a:rPr>
              <a:t>lk</a:t>
            </a:r>
            <a:r>
              <a:rPr kumimoji="1" lang="zh-CN" altLang="en-US" sz="2200" dirty="0">
                <a:latin typeface="Times New Roman" panose="02020603050405020304" pitchFamily="18" charset="0"/>
              </a:rPr>
              <a:t>为主元素，按原单纯形法</a:t>
            </a:r>
            <a:endParaRPr kumimoji="1" lang="en-US" altLang="zh-CN" sz="2400" dirty="0">
              <a:latin typeface="Times New Roman" panose="02020603050405020304" pitchFamily="18" charset="0"/>
            </a:endParaRPr>
          </a:p>
          <a:p>
            <a:pPr marL="0" indent="0" eaLnBrk="1" hangingPunct="1">
              <a:buFont typeface="Wingdings" panose="05000000000000000000" pitchFamily="2" charset="2"/>
              <a:buNone/>
              <a:defRPr/>
            </a:pPr>
            <a:r>
              <a:rPr kumimoji="1" lang="zh-CN" altLang="en-US" sz="2200" dirty="0">
                <a:latin typeface="Times New Roman" panose="02020603050405020304" pitchFamily="18" charset="0"/>
              </a:rPr>
              <a:t>进行迭代运算，得到新的单纯形表</a:t>
            </a:r>
            <a:endParaRPr kumimoji="1" lang="en-US" altLang="zh-CN" sz="2200" dirty="0">
              <a:latin typeface="Times New Roman" panose="02020603050405020304" pitchFamily="18" charset="0"/>
            </a:endParaRPr>
          </a:p>
          <a:p>
            <a:pPr marL="0" indent="0" eaLnBrk="1" hangingPunct="1">
              <a:buFont typeface="Wingdings" panose="05000000000000000000" pitchFamily="2" charset="2"/>
              <a:buNone/>
              <a:defRPr/>
            </a:pP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重复步骤 </a:t>
            </a:r>
            <a:r>
              <a:rPr kumimoji="1" lang="en-US" altLang="zh-CN" sz="2400" dirty="0">
                <a:latin typeface="Times New Roman" panose="02020603050405020304" pitchFamily="18" charset="0"/>
              </a:rPr>
              <a:t>1-4</a:t>
            </a:r>
          </a:p>
        </p:txBody>
      </p:sp>
      <p:sp>
        <p:nvSpPr>
          <p:cNvPr id="4" name="矩形 3">
            <a:extLst>
              <a:ext uri="{FF2B5EF4-FFF2-40B4-BE49-F238E27FC236}">
                <a16:creationId xmlns:a16="http://schemas.microsoft.com/office/drawing/2014/main" id="{BB008B91-6498-4F4C-9D02-444DB6FE5DAF}"/>
              </a:ext>
            </a:extLst>
          </p:cNvPr>
          <p:cNvSpPr/>
          <p:nvPr/>
        </p:nvSpPr>
        <p:spPr>
          <a:xfrm>
            <a:off x="4173538" y="847725"/>
            <a:ext cx="3184525" cy="369888"/>
          </a:xfrm>
          <a:prstGeom prst="rect">
            <a:avLst/>
          </a:prstGeom>
          <a:ln>
            <a:noFill/>
          </a:ln>
        </p:spPr>
        <p:txBody>
          <a:bodyPr wrap="none">
            <a:spAutoFit/>
          </a:bodyPr>
          <a:lstStyle/>
          <a:p>
            <a:pPr algn="ctr">
              <a:defRPr/>
            </a:pPr>
            <a:r>
              <a:rPr lang="zh-CN" altLang="en-US" kern="0" dirty="0">
                <a:solidFill>
                  <a:srgbClr val="FF0000"/>
                </a:solidFill>
                <a:latin typeface="华文细黑" pitchFamily="2" charset="-122"/>
              </a:rPr>
              <a:t>原问题不可行，对偶问题可行</a:t>
            </a:r>
            <a:endParaRPr lang="zh-CN" altLang="en-US" dirty="0">
              <a:latin typeface="Arial" charset="0"/>
            </a:endParaRPr>
          </a:p>
        </p:txBody>
      </p:sp>
      <p:graphicFrame>
        <p:nvGraphicFramePr>
          <p:cNvPr id="92166" name="对象 4">
            <a:extLst>
              <a:ext uri="{FF2B5EF4-FFF2-40B4-BE49-F238E27FC236}">
                <a16:creationId xmlns:a16="http://schemas.microsoft.com/office/drawing/2014/main" id="{13F3282D-0FF9-4106-BBA4-E65EBD5653C0}"/>
              </a:ext>
            </a:extLst>
          </p:cNvPr>
          <p:cNvGraphicFramePr>
            <a:graphicFrameLocks noChangeAspect="1"/>
          </p:cNvGraphicFramePr>
          <p:nvPr/>
        </p:nvGraphicFramePr>
        <p:xfrm>
          <a:off x="838200" y="4508500"/>
          <a:ext cx="3327400" cy="869950"/>
        </p:xfrm>
        <a:graphic>
          <a:graphicData uri="http://schemas.openxmlformats.org/presentationml/2006/ole">
            <mc:AlternateContent xmlns:mc="http://schemas.openxmlformats.org/markup-compatibility/2006">
              <mc:Choice xmlns:v="urn:schemas-microsoft-com:vml" Requires="v">
                <p:oleObj spid="_x0000_s92327" name="Equation" r:id="rId3" imgW="1790700" imgH="469900" progId="Equation.DSMT4">
                  <p:embed/>
                </p:oleObj>
              </mc:Choice>
              <mc:Fallback>
                <p:oleObj name="Equation" r:id="rId3" imgW="1790700" imgH="4699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508500"/>
                        <a:ext cx="33274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组合 20">
            <a:extLst>
              <a:ext uri="{FF2B5EF4-FFF2-40B4-BE49-F238E27FC236}">
                <a16:creationId xmlns:a16="http://schemas.microsoft.com/office/drawing/2014/main" id="{E490C965-D7ED-40C0-88D8-F1ED0753E3BB}"/>
              </a:ext>
            </a:extLst>
          </p:cNvPr>
          <p:cNvGrpSpPr>
            <a:grpSpLocks/>
          </p:cNvGrpSpPr>
          <p:nvPr/>
        </p:nvGrpSpPr>
        <p:grpSpPr bwMode="auto">
          <a:xfrm>
            <a:off x="4146550" y="1511300"/>
            <a:ext cx="3930650" cy="685800"/>
            <a:chOff x="4497033" y="2266527"/>
            <a:chExt cx="2570727" cy="685938"/>
          </a:xfrm>
        </p:grpSpPr>
        <p:sp>
          <p:nvSpPr>
            <p:cNvPr id="92229" name="矩形 21">
              <a:extLst>
                <a:ext uri="{FF2B5EF4-FFF2-40B4-BE49-F238E27FC236}">
                  <a16:creationId xmlns:a16="http://schemas.microsoft.com/office/drawing/2014/main" id="{39A06A9F-D54F-4E18-85F0-8D25D836A29C}"/>
                </a:ext>
              </a:extLst>
            </p:cNvPr>
            <p:cNvSpPr>
              <a:spLocks noChangeArrowheads="1"/>
            </p:cNvSpPr>
            <p:nvPr/>
          </p:nvSpPr>
          <p:spPr bwMode="auto">
            <a:xfrm>
              <a:off x="6170662" y="2266527"/>
              <a:ext cx="897098" cy="36927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0">
                  <a:solidFill>
                    <a:srgbClr val="FF00FF"/>
                  </a:solidFill>
                  <a:latin typeface="Times New Roman" panose="02020603050405020304" pitchFamily="18" charset="0"/>
                  <a:cs typeface="Times New Roman" panose="02020603050405020304" pitchFamily="18" charset="0"/>
                </a:rPr>
                <a:t>不是必须的</a:t>
              </a:r>
              <a:endParaRPr lang="en-US" altLang="zh-CN" sz="1800" b="0">
                <a:solidFill>
                  <a:srgbClr val="FF00FF"/>
                </a:solidFill>
                <a:latin typeface="Times New Roman" panose="02020603050405020304" pitchFamily="18" charset="0"/>
                <a:cs typeface="Times New Roman" panose="02020603050405020304" pitchFamily="18" charset="0"/>
              </a:endParaRPr>
            </a:p>
          </p:txBody>
        </p:sp>
        <p:sp>
          <p:nvSpPr>
            <p:cNvPr id="92230" name="右箭头 22">
              <a:extLst>
                <a:ext uri="{FF2B5EF4-FFF2-40B4-BE49-F238E27FC236}">
                  <a16:creationId xmlns:a16="http://schemas.microsoft.com/office/drawing/2014/main" id="{A798AAA9-F67C-4E58-91AB-59ED420A4E63}"/>
                </a:ext>
              </a:extLst>
            </p:cNvPr>
            <p:cNvSpPr>
              <a:spLocks noChangeArrowheads="1"/>
            </p:cNvSpPr>
            <p:nvPr/>
          </p:nvSpPr>
          <p:spPr bwMode="auto">
            <a:xfrm rot="-933119">
              <a:off x="4497033" y="2738151"/>
              <a:ext cx="1700508" cy="214314"/>
            </a:xfrm>
            <a:prstGeom prst="rightArrow">
              <a:avLst>
                <a:gd name="adj1" fmla="val 50000"/>
                <a:gd name="adj2" fmla="val 49996"/>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1200" b="0">
                <a:solidFill>
                  <a:srgbClr val="FF0000"/>
                </a:solidFill>
                <a:latin typeface="Times New Roman" panose="02020603050405020304" pitchFamily="18" charset="0"/>
              </a:endParaRPr>
            </a:p>
          </p:txBody>
        </p:sp>
      </p:grpSp>
      <p:grpSp>
        <p:nvGrpSpPr>
          <p:cNvPr id="9" name="组合 20">
            <a:extLst>
              <a:ext uri="{FF2B5EF4-FFF2-40B4-BE49-F238E27FC236}">
                <a16:creationId xmlns:a16="http://schemas.microsoft.com/office/drawing/2014/main" id="{5CA37F71-17E6-4752-9126-053CC97AF400}"/>
              </a:ext>
            </a:extLst>
          </p:cNvPr>
          <p:cNvGrpSpPr>
            <a:grpSpLocks/>
          </p:cNvGrpSpPr>
          <p:nvPr/>
        </p:nvGrpSpPr>
        <p:grpSpPr bwMode="auto">
          <a:xfrm>
            <a:off x="2590800" y="2827338"/>
            <a:ext cx="2362200" cy="368300"/>
            <a:chOff x="4857753" y="2503546"/>
            <a:chExt cx="1545004" cy="369279"/>
          </a:xfrm>
        </p:grpSpPr>
        <p:sp>
          <p:nvSpPr>
            <p:cNvPr id="92227" name="矩形 21">
              <a:extLst>
                <a:ext uri="{FF2B5EF4-FFF2-40B4-BE49-F238E27FC236}">
                  <a16:creationId xmlns:a16="http://schemas.microsoft.com/office/drawing/2014/main" id="{49ECAF62-CE2D-4AD7-96B1-8CA0EC2D4D28}"/>
                </a:ext>
              </a:extLst>
            </p:cNvPr>
            <p:cNvSpPr>
              <a:spLocks noChangeArrowheads="1"/>
            </p:cNvSpPr>
            <p:nvPr/>
          </p:nvSpPr>
          <p:spPr bwMode="auto">
            <a:xfrm>
              <a:off x="5195572" y="2503546"/>
              <a:ext cx="1207185" cy="369279"/>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0">
                  <a:solidFill>
                    <a:srgbClr val="FF00FF"/>
                  </a:solidFill>
                  <a:latin typeface="Times New Roman" panose="02020603050405020304" pitchFamily="18" charset="0"/>
                  <a:cs typeface="Times New Roman" panose="02020603050405020304" pitchFamily="18" charset="0"/>
                </a:rPr>
                <a:t>先出基，后进基</a:t>
              </a:r>
              <a:endParaRPr lang="en-US" altLang="zh-CN" sz="1800" b="0">
                <a:solidFill>
                  <a:srgbClr val="FF00FF"/>
                </a:solidFill>
                <a:latin typeface="Times New Roman" panose="02020603050405020304" pitchFamily="18" charset="0"/>
                <a:cs typeface="Times New Roman" panose="02020603050405020304" pitchFamily="18" charset="0"/>
              </a:endParaRPr>
            </a:p>
          </p:txBody>
        </p:sp>
        <p:sp>
          <p:nvSpPr>
            <p:cNvPr id="92228" name="右箭头 22">
              <a:extLst>
                <a:ext uri="{FF2B5EF4-FFF2-40B4-BE49-F238E27FC236}">
                  <a16:creationId xmlns:a16="http://schemas.microsoft.com/office/drawing/2014/main" id="{A6F1E727-1D1F-4B80-AF85-C7AAB3E34E0F}"/>
                </a:ext>
              </a:extLst>
            </p:cNvPr>
            <p:cNvSpPr>
              <a:spLocks noChangeArrowheads="1"/>
            </p:cNvSpPr>
            <p:nvPr/>
          </p:nvSpPr>
          <p:spPr bwMode="auto">
            <a:xfrm>
              <a:off x="4857753" y="2571744"/>
              <a:ext cx="327157" cy="214314"/>
            </a:xfrm>
            <a:prstGeom prst="rightArrow">
              <a:avLst>
                <a:gd name="adj1" fmla="val 50000"/>
                <a:gd name="adj2" fmla="val 50001"/>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nchor="ctr" anchorCtr="1"/>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kumimoji="1" lang="zh-CN" altLang="en-US" sz="1200" b="0">
                <a:solidFill>
                  <a:srgbClr val="FF0000"/>
                </a:solidFill>
                <a:latin typeface="Times New Roman" panose="02020603050405020304" pitchFamily="18" charset="0"/>
              </a:endParaRPr>
            </a:p>
          </p:txBody>
        </p:sp>
      </p:grpSp>
      <p:graphicFrame>
        <p:nvGraphicFramePr>
          <p:cNvPr id="16" name="Group 235">
            <a:extLst>
              <a:ext uri="{FF2B5EF4-FFF2-40B4-BE49-F238E27FC236}">
                <a16:creationId xmlns:a16="http://schemas.microsoft.com/office/drawing/2014/main" id="{300EBA2F-FE49-4AC9-8845-0660A89F43AD}"/>
              </a:ext>
            </a:extLst>
          </p:cNvPr>
          <p:cNvGraphicFramePr>
            <a:graphicFrameLocks noGrp="1"/>
          </p:cNvGraphicFramePr>
          <p:nvPr/>
        </p:nvGraphicFramePr>
        <p:xfrm>
          <a:off x="4343400" y="4495800"/>
          <a:ext cx="4800600" cy="2359026"/>
        </p:xfrm>
        <a:graphic>
          <a:graphicData uri="http://schemas.openxmlformats.org/drawingml/2006/table">
            <a:tbl>
              <a:tblPr/>
              <a:tblGrid>
                <a:gridCol w="457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95300">
                  <a:extLst>
                    <a:ext uri="{9D8B030D-6E8A-4147-A177-3AD203B41FA5}">
                      <a16:colId xmlns:a16="http://schemas.microsoft.com/office/drawing/2014/main" val="20007"/>
                    </a:ext>
                  </a:extLst>
                </a:gridCol>
                <a:gridCol w="495300">
                  <a:extLst>
                    <a:ext uri="{9D8B030D-6E8A-4147-A177-3AD203B41FA5}">
                      <a16:colId xmlns:a16="http://schemas.microsoft.com/office/drawing/2014/main" val="20008"/>
                    </a:ext>
                  </a:extLst>
                </a:gridCol>
              </a:tblGrid>
              <a:tr h="455766">
                <a:tc gridSpan="3">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j</a:t>
                      </a: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hMerge="1">
                  <a:txBody>
                    <a:bodyPr/>
                    <a:lstStyle/>
                    <a:p>
                      <a:endParaRPr lang="zh-CN" altLang="en-US"/>
                    </a:p>
                  </a:txBody>
                  <a:tcPr/>
                </a:tc>
                <a:tc hMerge="1">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rowSpan="2">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endParaRPr kumimoji="1"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1" lang="el-GR"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ϴ</a:t>
                      </a:r>
                      <a:r>
                        <a:rPr kumimoji="1" lang="en-US" altLang="zh-CN" sz="1800" b="1" i="0" u="none" strike="noStrike" cap="none" normalizeH="0" baseline="-25000" dirty="0" err="1">
                          <a:ln>
                            <a:noFill/>
                          </a:ln>
                          <a:solidFill>
                            <a:schemeClr val="tx1"/>
                          </a:solidFill>
                          <a:effectLst/>
                          <a:latin typeface="Times New Roman" panose="02020603050405020304" pitchFamily="18" charset="0"/>
                          <a:ea typeface="华文细黑" panose="02010600040101010101" pitchFamily="2" charset="-122"/>
                        </a:rPr>
                        <a:t>i</a:t>
                      </a:r>
                      <a:endParaRPr kumimoji="1" lang="zh-CN"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0"/>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vMerge="1">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1"/>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2"/>
                  </a:ext>
                </a:extLst>
              </a:tr>
              <a:tr h="455766">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eaLnBrk="0" hangingPunct="0">
                        <a:spcBef>
                          <a:spcPct val="15000"/>
                        </a:spcBef>
                        <a:defRPr kumimoji="1" sz="2000" b="1">
                          <a:solidFill>
                            <a:schemeClr val="bg2"/>
                          </a:solidFill>
                          <a:latin typeface="Times New Roman" panose="02020603050405020304" pitchFamily="18" charset="0"/>
                          <a:ea typeface="华文细黑" panose="02010600040101010101" pitchFamily="2" charset="-122"/>
                        </a:defRPr>
                      </a:lvl1pPr>
                      <a:lvl2pPr marL="742950" indent="-285750" eaLnBrk="0" hangingPunct="0">
                        <a:spcBef>
                          <a:spcPct val="20000"/>
                        </a:spcBef>
                        <a:buClr>
                          <a:schemeClr val="bg2"/>
                        </a:buClr>
                        <a:buSzPct val="70000"/>
                        <a:buFont typeface="Wingdings" panose="05000000000000000000" pitchFamily="2" charset="2"/>
                        <a:defRPr kumimoji="1" sz="2200" b="1">
                          <a:solidFill>
                            <a:srgbClr val="003300"/>
                          </a:solidFill>
                          <a:latin typeface="Times New Roman" panose="02020603050405020304" pitchFamily="18" charset="0"/>
                          <a:ea typeface="华文细黑" panose="02010600040101010101" pitchFamily="2" charset="-122"/>
                        </a:defRPr>
                      </a:lvl2pPr>
                      <a:lvl3pPr marL="1143000" indent="-228600" eaLnBrk="0" hangingPunct="0">
                        <a:spcBef>
                          <a:spcPct val="20000"/>
                        </a:spcBef>
                        <a:buSzPct val="70000"/>
                        <a:buFont typeface="Wingdings" panose="05000000000000000000" pitchFamily="2" charset="2"/>
                        <a:defRPr kumimoji="1" sz="2000" b="1">
                          <a:solidFill>
                            <a:srgbClr val="003300"/>
                          </a:solidFill>
                          <a:latin typeface="Times New Roman" panose="02020603050405020304" pitchFamily="18" charset="0"/>
                          <a:ea typeface="华文细黑" panose="02010600040101010101" pitchFamily="2" charset="-122"/>
                        </a:defRPr>
                      </a:lvl3pPr>
                      <a:lvl4pPr marL="1600200" indent="-228600" eaLnBrk="0" hangingPunct="0">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1</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3"/>
                  </a:ext>
                </a:extLst>
              </a:tr>
              <a:tr h="535962">
                <a:tc gridSpan="3">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1" lang="el-GR" altLang="zh-CN" sz="24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σ</a:t>
                      </a:r>
                      <a:r>
                        <a:rPr kumimoji="1" lang="en-US" altLang="zh-CN" sz="24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j</a:t>
                      </a:r>
                      <a:r>
                        <a:rPr kumimoji="1" lang="en-US" altLang="zh-CN" sz="24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a:t>
                      </a:r>
                      <a:r>
                        <a:rPr kumimoji="1" lang="en-US" altLang="zh-CN" sz="2400" b="1" i="0" u="none" strike="noStrike" cap="none" normalizeH="0" baseline="0" dirty="0" err="1">
                          <a:ln>
                            <a:noFill/>
                          </a:ln>
                          <a:solidFill>
                            <a:srgbClr val="000000"/>
                          </a:solidFill>
                          <a:effectLst/>
                          <a:latin typeface="Times New Roman" panose="02020603050405020304" pitchFamily="18" charset="0"/>
                          <a:ea typeface="华文细黑" panose="02010600040101010101" pitchFamily="2" charset="-122"/>
                        </a:rPr>
                        <a:t>c</a:t>
                      </a:r>
                      <a:r>
                        <a:rPr kumimoji="1" lang="en-US" altLang="zh-CN" sz="2400" b="1" i="0" u="none" strike="noStrike" cap="none" normalizeH="0" baseline="-25000" dirty="0" err="1">
                          <a:ln>
                            <a:noFill/>
                          </a:ln>
                          <a:solidFill>
                            <a:srgbClr val="000000"/>
                          </a:solidFill>
                          <a:effectLst/>
                          <a:latin typeface="Times New Roman" panose="02020603050405020304" pitchFamily="18" charset="0"/>
                          <a:ea typeface="华文细黑" panose="02010600040101010101" pitchFamily="2" charset="-122"/>
                        </a:rPr>
                        <a:t>j</a:t>
                      </a:r>
                      <a:r>
                        <a:rPr kumimoji="1" lang="en-US" altLang="zh-CN" sz="2400" b="1" i="0" u="none" strike="noStrike" cap="none" normalizeH="0" baseline="0" dirty="0" err="1">
                          <a:ln>
                            <a:noFill/>
                          </a:ln>
                          <a:solidFill>
                            <a:srgbClr val="000000"/>
                          </a:solidFill>
                          <a:effectLst/>
                          <a:latin typeface="Times New Roman" panose="02020603050405020304" pitchFamily="18" charset="0"/>
                          <a:ea typeface="华文细黑" panose="02010600040101010101" pitchFamily="2" charset="-122"/>
                        </a:rPr>
                        <a:t>-z</a:t>
                      </a:r>
                      <a:r>
                        <a:rPr kumimoji="1" lang="en-US" altLang="zh-CN" sz="2400" b="1" i="0" u="none" strike="noStrike" cap="none" normalizeH="0" baseline="-25000" dirty="0" err="1">
                          <a:ln>
                            <a:noFill/>
                          </a:ln>
                          <a:solidFill>
                            <a:srgbClr val="000000"/>
                          </a:solidFill>
                          <a:effectLst/>
                          <a:latin typeface="Times New Roman" panose="02020603050405020304" pitchFamily="18" charset="0"/>
                          <a:ea typeface="华文细黑" panose="02010600040101010101" pitchFamily="2" charset="-122"/>
                        </a:rPr>
                        <a:t>j</a:t>
                      </a:r>
                      <a:endParaRPr kumimoji="1"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9900"/>
                    </a:solidFill>
                  </a:tcPr>
                </a:tc>
                <a:tc hMerge="1">
                  <a:txBody>
                    <a:bodyPr/>
                    <a:lstStyle/>
                    <a:p>
                      <a:endParaRPr lang="zh-CN" altLang="en-US" dirty="0"/>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-2</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-3</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-4</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0</a:t>
                      </a: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0004"/>
                  </a:ext>
                </a:extLst>
              </a:tr>
            </a:tbl>
          </a:graphicData>
        </a:graphic>
      </p:graphicFrame>
      <p:graphicFrame>
        <p:nvGraphicFramePr>
          <p:cNvPr id="17" name="对象 16">
            <a:extLst>
              <a:ext uri="{FF2B5EF4-FFF2-40B4-BE49-F238E27FC236}">
                <a16:creationId xmlns:a16="http://schemas.microsoft.com/office/drawing/2014/main" id="{626A001A-0445-4DA2-A368-D8ADFF040D3F}"/>
              </a:ext>
            </a:extLst>
          </p:cNvPr>
          <p:cNvGraphicFramePr>
            <a:graphicFrameLocks noChangeAspect="1"/>
          </p:cNvGraphicFramePr>
          <p:nvPr/>
        </p:nvGraphicFramePr>
        <p:xfrm>
          <a:off x="6019800" y="5256213"/>
          <a:ext cx="1827213" cy="638175"/>
        </p:xfrm>
        <a:graphic>
          <a:graphicData uri="http://schemas.openxmlformats.org/presentationml/2006/ole">
            <mc:AlternateContent xmlns:mc="http://schemas.openxmlformats.org/markup-compatibility/2006">
              <mc:Choice xmlns:v="urn:schemas-microsoft-com:vml" Requires="v">
                <p:oleObj spid="_x0000_s92328" name="Equation" r:id="rId5" imgW="875920" imgH="304668" progId="Equation.DSMT4">
                  <p:embed/>
                </p:oleObj>
              </mc:Choice>
              <mc:Fallback>
                <p:oleObj name="Equation" r:id="rId5" imgW="875920" imgH="304668" progId="Equation.DSMT4">
                  <p:embed/>
                  <p:pic>
                    <p:nvPicPr>
                      <p:cNvPr id="0" name="对象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5256213"/>
                        <a:ext cx="1827213" cy="638175"/>
                      </a:xfrm>
                      <a:prstGeom prst="rect">
                        <a:avLst/>
                      </a:prstGeom>
                      <a:solidFill>
                        <a:srgbClr val="FF00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5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checkerboard(across)">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descr="Large confetti">
            <a:extLst>
              <a:ext uri="{FF2B5EF4-FFF2-40B4-BE49-F238E27FC236}">
                <a16:creationId xmlns:a16="http://schemas.microsoft.com/office/drawing/2014/main" id="{736ECDFA-00C4-46C9-ABF2-53A695BC5750}"/>
              </a:ext>
            </a:extLst>
          </p:cNvPr>
          <p:cNvSpPr>
            <a:spLocks noGrp="1" noChangeArrowheads="1"/>
          </p:cNvSpPr>
          <p:nvPr>
            <p:ph type="title"/>
          </p:nvPr>
        </p:nvSpPr>
        <p:spPr>
          <a:xfrm>
            <a:off x="327025" y="228600"/>
            <a:ext cx="8435975" cy="1139825"/>
          </a:xfrm>
        </p:spPr>
        <p:txBody>
          <a:bodyPr/>
          <a:lstStyle/>
          <a:p>
            <a:pPr eaLnBrk="1" hangingPunct="1"/>
            <a:r>
              <a:rPr lang="zh-CN" altLang="en-US"/>
              <a:t>普通单纯形法和对偶单纯形法</a:t>
            </a:r>
          </a:p>
        </p:txBody>
      </p:sp>
      <p:sp>
        <p:nvSpPr>
          <p:cNvPr id="88067" name="Rectangle 12">
            <a:extLst>
              <a:ext uri="{FF2B5EF4-FFF2-40B4-BE49-F238E27FC236}">
                <a16:creationId xmlns:a16="http://schemas.microsoft.com/office/drawing/2014/main" id="{45D86937-FEA3-4B70-A250-A442D885BA54}"/>
              </a:ext>
            </a:extLst>
          </p:cNvPr>
          <p:cNvSpPr>
            <a:spLocks noChangeArrowheads="1"/>
          </p:cNvSpPr>
          <p:nvPr/>
        </p:nvSpPr>
        <p:spPr bwMode="auto">
          <a:xfrm>
            <a:off x="244475" y="2687638"/>
            <a:ext cx="8423275" cy="1046162"/>
          </a:xfrm>
          <a:prstGeom prst="rect">
            <a:avLst/>
          </a:prstGeom>
          <a:noFill/>
          <a:ln>
            <a:noFill/>
          </a:ln>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just" eaLnBrk="1" hangingPunct="1">
              <a:spcBef>
                <a:spcPct val="15000"/>
              </a:spcBef>
              <a:buClrTx/>
              <a:buSzTx/>
              <a:buFontTx/>
              <a:buBlip>
                <a:blip r:embed="rId3"/>
              </a:buBlip>
              <a:defRPr/>
            </a:pPr>
            <a:r>
              <a:rPr kumimoji="1" lang="en-US" altLang="zh-CN" sz="2200" dirty="0">
                <a:solidFill>
                  <a:srgbClr val="000000"/>
                </a:solidFill>
                <a:latin typeface="华文细黑" panose="02010600040101010101" pitchFamily="2" charset="-122"/>
                <a:ea typeface="华文细黑" panose="02010600040101010101" pitchFamily="2" charset="-122"/>
              </a:rPr>
              <a:t> </a:t>
            </a:r>
            <a:r>
              <a:rPr kumimoji="1" lang="zh-CN" altLang="en-US" sz="2000" dirty="0">
                <a:solidFill>
                  <a:srgbClr val="000000"/>
                </a:solidFill>
                <a:latin typeface="+mj-ea"/>
                <a:ea typeface="+mj-ea"/>
              </a:rPr>
              <a:t>对偶单纯形法与普通单纯形法的换基顺序不一样，普通单纯形法是先确定</a:t>
            </a:r>
            <a:r>
              <a:rPr kumimoji="1" lang="zh-CN" altLang="en-US" sz="2000" dirty="0">
                <a:solidFill>
                  <a:srgbClr val="FF00FF"/>
                </a:solidFill>
                <a:latin typeface="+mj-ea"/>
                <a:ea typeface="+mj-ea"/>
              </a:rPr>
              <a:t>进基变量后确定出基变量</a:t>
            </a:r>
            <a:r>
              <a:rPr kumimoji="1" lang="zh-CN" altLang="en-US" sz="2000" dirty="0">
                <a:solidFill>
                  <a:srgbClr val="000000"/>
                </a:solidFill>
                <a:latin typeface="+mj-ea"/>
                <a:ea typeface="+mj-ea"/>
              </a:rPr>
              <a:t>，对偶单纯形法是先确定出基变量后确定进基变量。</a:t>
            </a:r>
          </a:p>
        </p:txBody>
      </p:sp>
      <p:sp>
        <p:nvSpPr>
          <p:cNvPr id="88068" name="Rectangle 14">
            <a:extLst>
              <a:ext uri="{FF2B5EF4-FFF2-40B4-BE49-F238E27FC236}">
                <a16:creationId xmlns:a16="http://schemas.microsoft.com/office/drawing/2014/main" id="{CDAF66E3-4CED-4EF0-9B4D-A703EC55703B}"/>
              </a:ext>
            </a:extLst>
          </p:cNvPr>
          <p:cNvSpPr>
            <a:spLocks noChangeArrowheads="1"/>
          </p:cNvSpPr>
          <p:nvPr/>
        </p:nvSpPr>
        <p:spPr bwMode="auto">
          <a:xfrm>
            <a:off x="244475" y="3810000"/>
            <a:ext cx="8499475" cy="996950"/>
          </a:xfrm>
          <a:prstGeom prst="rect">
            <a:avLst/>
          </a:prstGeom>
          <a:noFill/>
          <a:ln>
            <a:noFill/>
          </a:ln>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15000"/>
              </a:spcBef>
              <a:buClrTx/>
              <a:buSzTx/>
              <a:buFontTx/>
              <a:buBlip>
                <a:blip r:embed="rId3"/>
              </a:buBlip>
              <a:defRPr/>
            </a:pPr>
            <a:r>
              <a:rPr kumimoji="1" lang="en-US" altLang="zh-CN" sz="2200" dirty="0">
                <a:solidFill>
                  <a:srgbClr val="000000"/>
                </a:solidFill>
                <a:latin typeface="华文细黑" panose="02010600040101010101" pitchFamily="2" charset="-122"/>
                <a:ea typeface="华文细黑" panose="02010600040101010101" pitchFamily="2" charset="-122"/>
              </a:rPr>
              <a:t> </a:t>
            </a:r>
            <a:r>
              <a:rPr kumimoji="1" lang="zh-CN" altLang="en-US" sz="2000" dirty="0">
                <a:solidFill>
                  <a:srgbClr val="000000"/>
                </a:solidFill>
                <a:latin typeface="+mj-ea"/>
                <a:ea typeface="+mj-ea"/>
              </a:rPr>
              <a:t>普通单纯形法的</a:t>
            </a:r>
            <a:r>
              <a:rPr kumimoji="1" lang="zh-CN" altLang="en-US" sz="2000" dirty="0">
                <a:solidFill>
                  <a:srgbClr val="FF00FF"/>
                </a:solidFill>
                <a:latin typeface="+mj-ea"/>
                <a:ea typeface="+mj-ea"/>
              </a:rPr>
              <a:t>最小比值</a:t>
            </a:r>
            <a:r>
              <a:rPr kumimoji="1" lang="zh-CN" altLang="en-US" sz="2000" dirty="0">
                <a:solidFill>
                  <a:srgbClr val="000000"/>
                </a:solidFill>
                <a:latin typeface="+mj-ea"/>
                <a:ea typeface="+mj-ea"/>
              </a:rPr>
              <a:t>是              其目的是保证下一个原问题的基本解可行，对偶单纯形法的最小比值是</a:t>
            </a:r>
          </a:p>
        </p:txBody>
      </p:sp>
      <p:sp>
        <p:nvSpPr>
          <p:cNvPr id="88069" name="Rectangle 16">
            <a:extLst>
              <a:ext uri="{FF2B5EF4-FFF2-40B4-BE49-F238E27FC236}">
                <a16:creationId xmlns:a16="http://schemas.microsoft.com/office/drawing/2014/main" id="{848839EC-7B1E-44F0-B689-9D00EA8FDA86}"/>
              </a:ext>
            </a:extLst>
          </p:cNvPr>
          <p:cNvSpPr>
            <a:spLocks noChangeArrowheads="1"/>
          </p:cNvSpPr>
          <p:nvPr/>
        </p:nvSpPr>
        <p:spPr bwMode="auto">
          <a:xfrm>
            <a:off x="319088" y="5795963"/>
            <a:ext cx="5686425" cy="400050"/>
          </a:xfrm>
          <a:prstGeom prst="rect">
            <a:avLst/>
          </a:prstGeom>
          <a:noFill/>
          <a:ln>
            <a:noFill/>
          </a:ln>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eaLnBrk="1" hangingPunct="1">
              <a:spcBef>
                <a:spcPct val="15000"/>
              </a:spcBef>
              <a:buClrTx/>
              <a:buSzTx/>
              <a:buFontTx/>
              <a:buNone/>
              <a:defRPr/>
            </a:pPr>
            <a:r>
              <a:rPr kumimoji="1" lang="zh-CN" altLang="en-US" sz="2000" dirty="0">
                <a:solidFill>
                  <a:srgbClr val="000000"/>
                </a:solidFill>
                <a:latin typeface="+mj-ea"/>
                <a:ea typeface="+mj-ea"/>
              </a:rPr>
              <a:t>其目的是保证下一个对偶问题的基本解可行。 </a:t>
            </a:r>
          </a:p>
        </p:txBody>
      </p:sp>
      <p:sp>
        <p:nvSpPr>
          <p:cNvPr id="88070" name="Rectangle 18">
            <a:extLst>
              <a:ext uri="{FF2B5EF4-FFF2-40B4-BE49-F238E27FC236}">
                <a16:creationId xmlns:a16="http://schemas.microsoft.com/office/drawing/2014/main" id="{DBFD8113-0EA8-48F3-ADB7-9A2902F29DDF}"/>
              </a:ext>
            </a:extLst>
          </p:cNvPr>
          <p:cNvSpPr>
            <a:spLocks noChangeArrowheads="1"/>
          </p:cNvSpPr>
          <p:nvPr/>
        </p:nvSpPr>
        <p:spPr bwMode="auto">
          <a:xfrm>
            <a:off x="282575" y="1235075"/>
            <a:ext cx="8423275" cy="1322388"/>
          </a:xfrm>
          <a:prstGeom prst="rect">
            <a:avLst/>
          </a:prstGeom>
          <a:noFill/>
          <a:ln>
            <a:noFill/>
          </a:ln>
        </p:spPr>
        <p:txBody>
          <a:bodyPr>
            <a:spAutoFit/>
          </a:bodyPr>
          <a:lstStyle>
            <a:lvl1pPr>
              <a:spcBef>
                <a:spcPct val="20000"/>
              </a:spcBef>
              <a:buClr>
                <a:schemeClr val="accent1"/>
              </a:buClr>
              <a:buSzPct val="65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9pPr>
          </a:lstStyle>
          <a:p>
            <a:pPr algn="just" eaLnBrk="1" hangingPunct="1">
              <a:spcBef>
                <a:spcPct val="15000"/>
              </a:spcBef>
              <a:buClrTx/>
              <a:buSzTx/>
              <a:buFontTx/>
              <a:buBlip>
                <a:blip r:embed="rId3"/>
              </a:buBlip>
              <a:defRPr/>
            </a:pPr>
            <a:r>
              <a:rPr kumimoji="1" lang="zh-CN" altLang="en-US" sz="2000" dirty="0">
                <a:latin typeface="Times New Roman" panose="02020603050405020304" pitchFamily="18" charset="0"/>
              </a:rPr>
              <a:t>普通单纯形法在确定进基变量时，若不遵循</a:t>
            </a:r>
            <a:r>
              <a:rPr kumimoji="1" lang="en-US" altLang="zh-CN" sz="2000" kern="0" dirty="0">
                <a:latin typeface="Times New Roman" panose="02020603050405020304" pitchFamily="18" charset="0"/>
              </a:rPr>
              <a:t>max(</a:t>
            </a:r>
            <a:r>
              <a:rPr kumimoji="1" lang="el-GR" altLang="zh-CN" sz="2000" kern="0" dirty="0">
                <a:latin typeface="Times New Roman" panose="02020603050405020304" pitchFamily="18" charset="0"/>
              </a:rPr>
              <a:t>σ</a:t>
            </a:r>
            <a:r>
              <a:rPr kumimoji="1" lang="en-US" altLang="zh-CN" sz="2000" i="1" kern="0" baseline="-25000" dirty="0">
                <a:latin typeface="Times New Roman" panose="02020603050405020304" pitchFamily="18" charset="0"/>
              </a:rPr>
              <a:t>j</a:t>
            </a:r>
            <a:r>
              <a:rPr kumimoji="1" lang="en-US" altLang="zh-CN" sz="2000" kern="0" dirty="0">
                <a:latin typeface="Times New Roman" panose="02020603050405020304" pitchFamily="18" charset="0"/>
              </a:rPr>
              <a:t>&gt;0) =</a:t>
            </a:r>
            <a:r>
              <a:rPr kumimoji="1" lang="el-GR" altLang="zh-CN" sz="2000" kern="0" dirty="0">
                <a:latin typeface="Times New Roman" panose="02020603050405020304" pitchFamily="18" charset="0"/>
              </a:rPr>
              <a:t> σ</a:t>
            </a:r>
            <a:r>
              <a:rPr kumimoji="1" lang="en-US" altLang="zh-CN" sz="2000" i="1" kern="0" baseline="-25000" dirty="0">
                <a:latin typeface="Times New Roman" panose="02020603050405020304" pitchFamily="18" charset="0"/>
              </a:rPr>
              <a:t>k</a:t>
            </a:r>
            <a:r>
              <a:rPr kumimoji="1" lang="zh-CN" altLang="en-US" sz="2000" kern="0" dirty="0">
                <a:latin typeface="Times New Roman" panose="02020603050405020304" pitchFamily="18" charset="0"/>
              </a:rPr>
              <a:t> </a:t>
            </a:r>
            <a:r>
              <a:rPr kumimoji="1" lang="zh-CN" altLang="en-US" sz="2000" dirty="0">
                <a:latin typeface="Times New Roman" panose="02020603050405020304" pitchFamily="18" charset="0"/>
              </a:rPr>
              <a:t>规则，任选一个大于零的</a:t>
            </a:r>
            <a:r>
              <a:rPr kumimoji="1" lang="el-GR" altLang="zh-CN" sz="2000" kern="0" dirty="0">
                <a:latin typeface="Times New Roman" panose="02020603050405020304" pitchFamily="18" charset="0"/>
              </a:rPr>
              <a:t>σ</a:t>
            </a:r>
            <a:r>
              <a:rPr kumimoji="1" lang="en-US" altLang="zh-CN" sz="2000" i="1" kern="0" baseline="-25000" dirty="0">
                <a:latin typeface="Times New Roman" panose="02020603050405020304" pitchFamily="18" charset="0"/>
              </a:rPr>
              <a:t>j</a:t>
            </a:r>
            <a:r>
              <a:rPr kumimoji="1" lang="zh-CN" altLang="en-US" sz="2000" kern="0" dirty="0">
                <a:latin typeface="Times New Roman" panose="02020603050405020304" pitchFamily="18" charset="0"/>
              </a:rPr>
              <a:t>对应的非基变量进基；</a:t>
            </a:r>
            <a:r>
              <a:rPr kumimoji="1" lang="zh-CN" altLang="en-US" sz="2000" dirty="0">
                <a:solidFill>
                  <a:srgbClr val="000000"/>
                </a:solidFill>
                <a:latin typeface="+mj-ea"/>
              </a:rPr>
              <a:t>对偶单纯形法在确定出基变量时，若不遵循</a:t>
            </a:r>
            <a:r>
              <a:rPr kumimoji="1" lang="en-US" altLang="zh-CN" sz="2000" dirty="0">
                <a:solidFill>
                  <a:srgbClr val="000000"/>
                </a:solidFill>
                <a:latin typeface="Times New Roman" panose="02020603050405020304" pitchFamily="18" charset="0"/>
                <a:cs typeface="Times New Roman" panose="02020603050405020304" pitchFamily="18" charset="0"/>
              </a:rPr>
              <a:t>min{(B</a:t>
            </a:r>
            <a:r>
              <a:rPr kumimoji="1" lang="en-US" altLang="zh-CN" sz="2000" baseline="30000" dirty="0">
                <a:solidFill>
                  <a:srgbClr val="000000"/>
                </a:solidFill>
                <a:latin typeface="Times New Roman" panose="02020603050405020304" pitchFamily="18" charset="0"/>
                <a:cs typeface="Times New Roman" panose="02020603050405020304" pitchFamily="18" charset="0"/>
              </a:rPr>
              <a:t>-1</a:t>
            </a:r>
            <a:r>
              <a:rPr kumimoji="1" lang="en-US" altLang="zh-CN" sz="2000" dirty="0">
                <a:solidFill>
                  <a:srgbClr val="000000"/>
                </a:solidFill>
                <a:latin typeface="Times New Roman" panose="02020603050405020304" pitchFamily="18" charset="0"/>
                <a:cs typeface="Times New Roman" panose="02020603050405020304" pitchFamily="18" charset="0"/>
              </a:rPr>
              <a:t>b)</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|(B</a:t>
            </a:r>
            <a:r>
              <a:rPr kumimoji="1" lang="en-US" altLang="zh-CN" sz="2000" baseline="30000" dirty="0">
                <a:solidFill>
                  <a:srgbClr val="000000"/>
                </a:solidFill>
                <a:latin typeface="Times New Roman" panose="02020603050405020304" pitchFamily="18" charset="0"/>
                <a:cs typeface="Times New Roman" panose="02020603050405020304" pitchFamily="18" charset="0"/>
              </a:rPr>
              <a:t>-1</a:t>
            </a:r>
            <a:r>
              <a:rPr kumimoji="1" lang="en-US" altLang="zh-CN" sz="2000" dirty="0">
                <a:solidFill>
                  <a:srgbClr val="000000"/>
                </a:solidFill>
                <a:latin typeface="Times New Roman" panose="02020603050405020304" pitchFamily="18" charset="0"/>
                <a:cs typeface="Times New Roman" panose="02020603050405020304" pitchFamily="18" charset="0"/>
              </a:rPr>
              <a:t>b)</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i</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 </a:t>
            </a:r>
            <a:r>
              <a:rPr kumimoji="1" lang="en-US" altLang="zh-CN" sz="2000" dirty="0">
                <a:solidFill>
                  <a:srgbClr val="000000"/>
                </a:solidFill>
                <a:latin typeface="Times New Roman" panose="02020603050405020304" pitchFamily="18" charset="0"/>
                <a:cs typeface="Times New Roman" panose="02020603050405020304" pitchFamily="18" charset="0"/>
              </a:rPr>
              <a:t>&lt;0}= (B</a:t>
            </a:r>
            <a:r>
              <a:rPr kumimoji="1" lang="en-US" altLang="zh-CN" sz="2000" baseline="30000" dirty="0">
                <a:solidFill>
                  <a:srgbClr val="000000"/>
                </a:solidFill>
                <a:latin typeface="Times New Roman" panose="02020603050405020304" pitchFamily="18" charset="0"/>
                <a:cs typeface="Times New Roman" panose="02020603050405020304" pitchFamily="18" charset="0"/>
              </a:rPr>
              <a:t>-1</a:t>
            </a:r>
            <a:r>
              <a:rPr kumimoji="1" lang="en-US" altLang="zh-CN" sz="2000" dirty="0">
                <a:solidFill>
                  <a:srgbClr val="000000"/>
                </a:solidFill>
                <a:latin typeface="Times New Roman" panose="02020603050405020304" pitchFamily="18" charset="0"/>
                <a:cs typeface="Times New Roman" panose="02020603050405020304" pitchFamily="18" charset="0"/>
              </a:rPr>
              <a:t>b)</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l</a:t>
            </a:r>
            <a:r>
              <a:rPr kumimoji="1" lang="zh-CN" altLang="en-US" sz="2000" dirty="0">
                <a:solidFill>
                  <a:srgbClr val="000000"/>
                </a:solidFill>
                <a:latin typeface="+mj-ea"/>
                <a:ea typeface="+mj-ea"/>
              </a:rPr>
              <a:t>规则，任选一个小于零的</a:t>
            </a:r>
            <a:r>
              <a:rPr kumimoji="1" lang="en-US" altLang="zh-CN" sz="2000" dirty="0">
                <a:solidFill>
                  <a:srgbClr val="000000"/>
                </a:solidFill>
                <a:latin typeface="Times New Roman" panose="02020603050405020304" pitchFamily="18" charset="0"/>
                <a:ea typeface="+mj-ea"/>
                <a:cs typeface="Times New Roman" panose="02020603050405020304" pitchFamily="18" charset="0"/>
              </a:rPr>
              <a:t>(B</a:t>
            </a:r>
            <a:r>
              <a:rPr kumimoji="1" lang="en-US" altLang="zh-CN" sz="2000" baseline="30000" dirty="0">
                <a:solidFill>
                  <a:srgbClr val="000000"/>
                </a:solidFill>
                <a:latin typeface="Times New Roman" panose="02020603050405020304" pitchFamily="18" charset="0"/>
                <a:ea typeface="+mj-ea"/>
                <a:cs typeface="Times New Roman" panose="02020603050405020304" pitchFamily="18" charset="0"/>
              </a:rPr>
              <a:t>-1</a:t>
            </a:r>
            <a:r>
              <a:rPr kumimoji="1" lang="en-US" altLang="zh-CN" sz="2000" dirty="0">
                <a:solidFill>
                  <a:srgbClr val="000000"/>
                </a:solidFill>
                <a:latin typeface="Times New Roman" panose="02020603050405020304" pitchFamily="18" charset="0"/>
                <a:ea typeface="+mj-ea"/>
                <a:cs typeface="Times New Roman" panose="02020603050405020304" pitchFamily="18" charset="0"/>
              </a:rPr>
              <a:t>b)</a:t>
            </a:r>
            <a:r>
              <a:rPr kumimoji="1" lang="en-US" altLang="zh-CN" sz="2000" i="1" baseline="-30000" dirty="0" err="1">
                <a:solidFill>
                  <a:srgbClr val="000000"/>
                </a:solidFill>
                <a:latin typeface="Times New Roman" panose="02020603050405020304" pitchFamily="18" charset="0"/>
                <a:ea typeface="+mj-ea"/>
                <a:cs typeface="Times New Roman" panose="02020603050405020304" pitchFamily="18" charset="0"/>
              </a:rPr>
              <a:t>i</a:t>
            </a:r>
            <a:r>
              <a:rPr kumimoji="1" lang="zh-CN" altLang="en-US" sz="2000" dirty="0">
                <a:solidFill>
                  <a:srgbClr val="000000"/>
                </a:solidFill>
                <a:latin typeface="+mj-ea"/>
                <a:ea typeface="+mj-ea"/>
              </a:rPr>
              <a:t>对应的基变量出基，不</a:t>
            </a:r>
            <a:r>
              <a:rPr kumimoji="1" lang="zh-CN" altLang="en-US" sz="2000" dirty="0">
                <a:solidFill>
                  <a:srgbClr val="FF00FF"/>
                </a:solidFill>
                <a:latin typeface="+mj-ea"/>
                <a:ea typeface="+mj-ea"/>
              </a:rPr>
              <a:t>影响计算结果，只是迭代次数可能不一样</a:t>
            </a:r>
            <a:r>
              <a:rPr kumimoji="1" lang="zh-CN" altLang="en-US" sz="2000" dirty="0">
                <a:solidFill>
                  <a:srgbClr val="000000"/>
                </a:solidFill>
                <a:latin typeface="+mj-ea"/>
                <a:ea typeface="+mj-ea"/>
              </a:rPr>
              <a:t>。</a:t>
            </a:r>
          </a:p>
        </p:txBody>
      </p:sp>
      <mc:AlternateContent xmlns:mc="http://schemas.openxmlformats.org/markup-compatibility/2006" xmlns:a14="http://schemas.microsoft.com/office/drawing/2010/main">
        <mc:Choice Requires="a14">
          <p:sp>
            <p:nvSpPr>
              <p:cNvPr id="93191" name="对象 1">
                <a:extLst>
                  <a:ext uri="{FF2B5EF4-FFF2-40B4-BE49-F238E27FC236}">
                    <a16:creationId xmlns:a16="http://schemas.microsoft.com/office/drawing/2014/main" id="{8D5422F5-C889-405A-871E-E31B4E70649F}"/>
                  </a:ext>
                </a:extLst>
              </p:cNvPr>
              <p:cNvSpPr txBox="1"/>
              <p:nvPr/>
            </p:nvSpPr>
            <p:spPr bwMode="auto">
              <a:xfrm>
                <a:off x="3125788" y="4838700"/>
                <a:ext cx="2085975" cy="893763"/>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limLow>
                        <m:limLowPr>
                          <m:ctrlPr>
                            <a:rPr lang="zh-CN" altLang="en-US" i="1" smtClean="0">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min</m:t>
                          </m:r>
                        </m:e>
                        <m:lim>
                          <m:r>
                            <a:rPr lang="zh-CN" altLang="en-US" i="1">
                              <a:solidFill>
                                <a:srgbClr val="000000"/>
                              </a:solidFill>
                              <a:latin typeface="Cambria Math" panose="02040503050406030204" pitchFamily="18" charset="0"/>
                            </a:rPr>
                            <m:t>𝑗</m:t>
                          </m:r>
                        </m:lim>
                      </m:limLow>
                      <m:d>
                        <m:dPr>
                          <m:begChr m:val="{"/>
                          <m:endChr m:val="}"/>
                          <m:ctrlPr>
                            <a:rPr lang="zh-CN" altLang="en-US" i="1">
                              <a:solidFill>
                                <a:srgbClr val="000000"/>
                              </a:solidFill>
                              <a:latin typeface="Cambria Math" panose="02040503050406030204" pitchFamily="18" charset="0"/>
                            </a:rPr>
                          </m:ctrlPr>
                        </m:dPr>
                        <m:e>
                          <m:d>
                            <m:dPr>
                              <m:begChr m:val=""/>
                              <m:endChr m:val="|"/>
                              <m:ctrlPr>
                                <a:rPr lang="zh-CN" altLang="en-US" i="1">
                                  <a:solidFill>
                                    <a:srgbClr val="000000"/>
                                  </a:solidFill>
                                  <a:latin typeface="Cambria Math" panose="02040503050406030204" pitchFamily="18" charset="0"/>
                                </a:rPr>
                              </m:ctrlPr>
                            </m:dPr>
                            <m:e>
                              <m:d>
                                <m:dPr>
                                  <m:begChr m:val="|"/>
                                  <m:endChr m:val="|"/>
                                  <m:ctrlPr>
                                    <a:rPr lang="en-US" altLang="zh-CN" b="0" i="1" smtClean="0">
                                      <a:solidFill>
                                        <a:srgbClr val="000000"/>
                                      </a:solidFill>
                                      <a:latin typeface="Cambria Math" panose="02040503050406030204" pitchFamily="18" charset="0"/>
                                    </a:rPr>
                                  </m:ctrlPr>
                                </m:dPr>
                                <m:e>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𝑧</m:t>
                                          </m:r>
                                        </m:e>
                                        <m:sub>
                                          <m:r>
                                            <a:rPr lang="zh-CN" altLang="en-US" i="1">
                                              <a:solidFill>
                                                <a:srgbClr val="000000"/>
                                              </a:solidFill>
                                              <a:latin typeface="Cambria Math" panose="02040503050406030204" pitchFamily="18" charset="0"/>
                                            </a:rPr>
                                            <m:t>𝑗</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𝑙𝑗</m:t>
                                          </m:r>
                                        </m:sub>
                                      </m:sSub>
                                    </m:den>
                                  </m:f>
                                </m:e>
                              </m:d>
                            </m:e>
                          </m:d>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𝑙𝑗</m:t>
                              </m:r>
                            </m:sub>
                          </m:sSub>
                          <m:r>
                            <a:rPr lang="zh-CN" altLang="en-US" i="1">
                              <a:solidFill>
                                <a:srgbClr val="000000"/>
                              </a:solidFill>
                              <a:latin typeface="Cambria Math" panose="02040503050406030204" pitchFamily="18" charset="0"/>
                            </a:rPr>
                            <m:t>&lt;0</m:t>
                          </m:r>
                        </m:e>
                      </m:d>
                    </m:oMath>
                  </m:oMathPara>
                </a14:m>
                <a:endParaRPr lang="zh-CN" altLang="en-US" dirty="0"/>
              </a:p>
            </p:txBody>
          </p:sp>
        </mc:Choice>
        <mc:Fallback xmlns="">
          <p:sp>
            <p:nvSpPr>
              <p:cNvPr id="93191" name="对象 1">
                <a:extLst>
                  <a:ext uri="{FF2B5EF4-FFF2-40B4-BE49-F238E27FC236}">
                    <a16:creationId xmlns:a16="http://schemas.microsoft.com/office/drawing/2014/main" id="{8D5422F5-C889-405A-871E-E31B4E70649F}"/>
                  </a:ext>
                </a:extLst>
              </p:cNvPr>
              <p:cNvSpPr txBox="1">
                <a:spLocks noRot="1" noChangeAspect="1" noMove="1" noResize="1" noEditPoints="1" noAdjustHandles="1" noChangeArrowheads="1" noChangeShapeType="1" noTextEdit="1"/>
              </p:cNvSpPr>
              <p:nvPr/>
            </p:nvSpPr>
            <p:spPr bwMode="auto">
              <a:xfrm>
                <a:off x="3125788" y="4838700"/>
                <a:ext cx="2085975" cy="893763"/>
              </a:xfrm>
              <a:prstGeom prst="rect">
                <a:avLst/>
              </a:prstGeom>
              <a:blipFill>
                <a:blip r:embed="rId4"/>
                <a:stretch>
                  <a:fillRect/>
                </a:stretch>
              </a:blipFill>
              <a:ln>
                <a:noFill/>
              </a:ln>
              <a:extLst/>
            </p:spPr>
            <p:txBody>
              <a:bodyPr/>
              <a:lstStyle/>
              <a:p>
                <a:r>
                  <a:rPr lang="zh-CN" altLang="en-US">
                    <a:noFill/>
                  </a:rPr>
                  <a:t> </a:t>
                </a:r>
              </a:p>
            </p:txBody>
          </p:sp>
        </mc:Fallback>
      </mc:AlternateContent>
      <p:graphicFrame>
        <p:nvGraphicFramePr>
          <p:cNvPr id="93192" name="对象 10">
            <a:extLst>
              <a:ext uri="{FF2B5EF4-FFF2-40B4-BE49-F238E27FC236}">
                <a16:creationId xmlns:a16="http://schemas.microsoft.com/office/drawing/2014/main" id="{58CC54A5-F053-4E55-84CD-CBB1F3104DCB}"/>
              </a:ext>
            </a:extLst>
          </p:cNvPr>
          <p:cNvGraphicFramePr>
            <a:graphicFrameLocks noChangeAspect="1"/>
          </p:cNvGraphicFramePr>
          <p:nvPr/>
        </p:nvGraphicFramePr>
        <p:xfrm>
          <a:off x="3733800" y="3746500"/>
          <a:ext cx="1563688" cy="700088"/>
        </p:xfrm>
        <a:graphic>
          <a:graphicData uri="http://schemas.openxmlformats.org/presentationml/2006/ole">
            <mc:AlternateContent xmlns:mc="http://schemas.openxmlformats.org/markup-compatibility/2006">
              <mc:Choice xmlns:v="urn:schemas-microsoft-com:vml" Requires="v">
                <p:oleObj spid="_x0000_s93282" name="Equation" r:id="rId5" imgW="736600" imgH="330200" progId="Equation.DSMT4">
                  <p:embed/>
                </p:oleObj>
              </mc:Choice>
              <mc:Fallback>
                <p:oleObj name="Equation" r:id="rId5" imgW="736600" imgH="330200" progId="Equation.DSMT4">
                  <p:embed/>
                  <p:pic>
                    <p:nvPicPr>
                      <p:cNvPr id="0"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746500"/>
                        <a:ext cx="1563688"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16C87A89-815D-4610-A716-D590258D9190}"/>
              </a:ext>
            </a:extLst>
          </p:cNvPr>
          <p:cNvSpPr>
            <a:spLocks noGrp="1" noChangeArrowheads="1"/>
          </p:cNvSpPr>
          <p:nvPr>
            <p:ph type="title"/>
          </p:nvPr>
        </p:nvSpPr>
        <p:spPr/>
        <p:txBody>
          <a:bodyPr/>
          <a:lstStyle/>
          <a:p>
            <a:pPr eaLnBrk="1" hangingPunct="1"/>
            <a:r>
              <a:rPr lang="zh-CN" altLang="en-US"/>
              <a:t>对偶单纯形法优缺点</a:t>
            </a:r>
          </a:p>
        </p:txBody>
      </p:sp>
      <p:sp>
        <p:nvSpPr>
          <p:cNvPr id="126979" name="Rectangle 3">
            <a:extLst>
              <a:ext uri="{FF2B5EF4-FFF2-40B4-BE49-F238E27FC236}">
                <a16:creationId xmlns:a16="http://schemas.microsoft.com/office/drawing/2014/main" id="{A668C3D9-B535-40D9-A0FC-13C6F2B67220}"/>
              </a:ext>
            </a:extLst>
          </p:cNvPr>
          <p:cNvSpPr>
            <a:spLocks noGrp="1" noChangeArrowheads="1"/>
          </p:cNvSpPr>
          <p:nvPr>
            <p:ph type="body" idx="1"/>
          </p:nvPr>
        </p:nvSpPr>
        <p:spPr>
          <a:xfrm>
            <a:off x="457200" y="1143000"/>
            <a:ext cx="8382000" cy="5105400"/>
          </a:xfrm>
        </p:spPr>
        <p:txBody>
          <a:bodyPr/>
          <a:lstStyle/>
          <a:p>
            <a:pPr eaLnBrk="1" hangingPunct="1"/>
            <a:r>
              <a:rPr kumimoji="1" lang="zh-CN" altLang="en-US"/>
              <a:t>线性规划问题的</a:t>
            </a:r>
            <a:r>
              <a:rPr kumimoji="1" lang="zh-CN" altLang="en-US">
                <a:solidFill>
                  <a:srgbClr val="FF00FF"/>
                </a:solidFill>
              </a:rPr>
              <a:t>初始解可以是非可行解</a:t>
            </a:r>
            <a:r>
              <a:rPr kumimoji="1" lang="zh-CN" altLang="en-US"/>
              <a:t>，当检验数都为负数时可以进行基变换，这时不需要加入人工变量，可以简化计算</a:t>
            </a:r>
          </a:p>
          <a:p>
            <a:pPr eaLnBrk="1" hangingPunct="1"/>
            <a:r>
              <a:rPr kumimoji="1" lang="zh-CN" altLang="en-US"/>
              <a:t>当</a:t>
            </a:r>
            <a:r>
              <a:rPr kumimoji="1" lang="zh-CN" altLang="en-US">
                <a:solidFill>
                  <a:srgbClr val="FF00FF"/>
                </a:solidFill>
              </a:rPr>
              <a:t>变量多于约束条件</a:t>
            </a:r>
            <a:r>
              <a:rPr kumimoji="1" lang="zh-CN" altLang="en-US"/>
              <a:t>时，用对偶单纯形法计算可以减少计算量。所以对于变量较少而约束条件很多的线性规划问题，可以先转化为对偶问题，然后用对偶单纯形法求解</a:t>
            </a:r>
            <a:endParaRPr kumimoji="1" lang="en-US" altLang="zh-CN"/>
          </a:p>
          <a:p>
            <a:pPr eaLnBrk="1" hangingPunct="1"/>
            <a:r>
              <a:rPr lang="zh-CN" altLang="en-US"/>
              <a:t>在</a:t>
            </a:r>
            <a:r>
              <a:rPr lang="zh-CN" altLang="en-US">
                <a:solidFill>
                  <a:srgbClr val="FF00FF"/>
                </a:solidFill>
              </a:rPr>
              <a:t>灵敏度分析及求解整数规划的割平面法</a:t>
            </a:r>
            <a:r>
              <a:rPr lang="zh-CN" altLang="en-US"/>
              <a:t>中</a:t>
            </a:r>
            <a:r>
              <a:rPr lang="en-US" altLang="zh-CN"/>
              <a:t>, </a:t>
            </a:r>
            <a:r>
              <a:rPr lang="zh-CN" altLang="en-US"/>
              <a:t>有时需要用对偶单纯形法</a:t>
            </a:r>
            <a:endParaRPr kumimoji="1" lang="zh-CN" altLang="en-US"/>
          </a:p>
          <a:p>
            <a:pPr eaLnBrk="1" hangingPunct="1"/>
            <a:r>
              <a:rPr kumimoji="1" lang="zh-CN" altLang="en-US"/>
              <a:t>局限性在于，对大多数线性规划问题，</a:t>
            </a:r>
            <a:r>
              <a:rPr kumimoji="1" lang="zh-CN" altLang="en-US">
                <a:solidFill>
                  <a:srgbClr val="FF00FF"/>
                </a:solidFill>
              </a:rPr>
              <a:t>很难找到</a:t>
            </a:r>
            <a:r>
              <a:rPr kumimoji="1" lang="zh-CN" altLang="en-US"/>
              <a:t>一个对偶问题的</a:t>
            </a:r>
            <a:r>
              <a:rPr kumimoji="1" lang="zh-CN" altLang="en-US">
                <a:solidFill>
                  <a:srgbClr val="FF00FF"/>
                </a:solidFill>
              </a:rPr>
              <a:t>初始可行基</a:t>
            </a:r>
            <a:r>
              <a:rPr kumimoji="1" lang="zh-CN" altLang="en-US"/>
              <a:t>。因此很少单独使用。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blinds(horizontal)">
                                      <p:cBhvr>
                                        <p:cTn id="7" dur="500"/>
                                        <p:tgtEl>
                                          <p:spTgt spid="1269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6979">
                                            <p:txEl>
                                              <p:pRg st="1" end="1"/>
                                            </p:txEl>
                                          </p:spTgt>
                                        </p:tgtEl>
                                        <p:attrNameLst>
                                          <p:attrName>style.visibility</p:attrName>
                                        </p:attrNameLst>
                                      </p:cBhvr>
                                      <p:to>
                                        <p:strVal val="visible"/>
                                      </p:to>
                                    </p:set>
                                    <p:animEffect transition="in" filter="blinds(horizontal)">
                                      <p:cBhvr>
                                        <p:cTn id="12" dur="500"/>
                                        <p:tgtEl>
                                          <p:spTgt spid="1269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6979">
                                            <p:txEl>
                                              <p:pRg st="2" end="2"/>
                                            </p:txEl>
                                          </p:spTgt>
                                        </p:tgtEl>
                                        <p:attrNameLst>
                                          <p:attrName>style.visibility</p:attrName>
                                        </p:attrNameLst>
                                      </p:cBhvr>
                                      <p:to>
                                        <p:strVal val="visible"/>
                                      </p:to>
                                    </p:set>
                                    <p:animEffect transition="in" filter="blinds(horizontal)">
                                      <p:cBhvr>
                                        <p:cTn id="17" dur="500"/>
                                        <p:tgtEl>
                                          <p:spTgt spid="1269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6979">
                                            <p:txEl>
                                              <p:pRg st="3" end="3"/>
                                            </p:txEl>
                                          </p:spTgt>
                                        </p:tgtEl>
                                        <p:attrNameLst>
                                          <p:attrName>style.visibility</p:attrName>
                                        </p:attrNameLst>
                                      </p:cBhvr>
                                      <p:to>
                                        <p:strVal val="visible"/>
                                      </p:to>
                                    </p:set>
                                    <p:animEffect transition="in" filter="blinds(horizontal)">
                                      <p:cBhvr>
                                        <p:cTn id="22" dur="500"/>
                                        <p:tgtEl>
                                          <p:spTgt spid="126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theme/theme1.xml><?xml version="1.0" encoding="utf-8"?>
<a:theme xmlns:a="http://schemas.openxmlformats.org/drawingml/2006/main" name="绪论">
  <a:themeElements>
    <a:clrScheme name="绪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绪论">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绪论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绪论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绪论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绪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绪论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绪论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
  <Words>7650</Words>
  <Application>Microsoft Office PowerPoint</Application>
  <PresentationFormat>全屏显示(4:3)</PresentationFormat>
  <Paragraphs>1545</Paragraphs>
  <Slides>92</Slides>
  <Notes>5</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92</vt:i4>
      </vt:variant>
    </vt:vector>
  </HeadingPairs>
  <TitlesOfParts>
    <vt:vector size="106" baseType="lpstr">
      <vt:lpstr>华文楷体</vt:lpstr>
      <vt:lpstr>华文细黑</vt:lpstr>
      <vt:lpstr>楷体_GB2312</vt:lpstr>
      <vt:lpstr>宋体</vt:lpstr>
      <vt:lpstr>Arial</vt:lpstr>
      <vt:lpstr>Calibri</vt:lpstr>
      <vt:lpstr>Cambria Math</vt:lpstr>
      <vt:lpstr>Courier New</vt:lpstr>
      <vt:lpstr>Garamond</vt:lpstr>
      <vt:lpstr>Times New Roman</vt:lpstr>
      <vt:lpstr>Wingdings</vt:lpstr>
      <vt:lpstr>绪论</vt:lpstr>
      <vt:lpstr>公式</vt:lpstr>
      <vt:lpstr>Equation</vt:lpstr>
      <vt:lpstr>第三章</vt:lpstr>
      <vt:lpstr>PowerPoint 演示文稿</vt:lpstr>
      <vt:lpstr>与普通单纯形法的区别</vt:lpstr>
      <vt:lpstr>例子</vt:lpstr>
      <vt:lpstr>矩阵表述</vt:lpstr>
      <vt:lpstr>习题：</vt:lpstr>
      <vt:lpstr>第 3 节</vt:lpstr>
      <vt:lpstr>对偶理论（拉格朗日对偶问题）</vt:lpstr>
      <vt:lpstr>线性规划问题</vt:lpstr>
      <vt:lpstr>进一步分析g(p ⃗ )</vt:lpstr>
      <vt:lpstr>对偶问题</vt:lpstr>
      <vt:lpstr>习题</vt:lpstr>
      <vt:lpstr>含有不等式的情形</vt:lpstr>
      <vt:lpstr>对偶问题</vt:lpstr>
      <vt:lpstr>PowerPoint 演示文稿</vt:lpstr>
      <vt:lpstr>习题</vt:lpstr>
      <vt:lpstr>对偶问题</vt:lpstr>
      <vt:lpstr>对偶问题</vt:lpstr>
      <vt:lpstr>例子</vt:lpstr>
      <vt:lpstr>例子</vt:lpstr>
      <vt:lpstr>第 4 节</vt:lpstr>
      <vt:lpstr>原问题与对偶问题的表达形式</vt:lpstr>
      <vt:lpstr>原问题与对偶问题的关系</vt:lpstr>
      <vt:lpstr>非对称形式处理（P66） </vt:lpstr>
      <vt:lpstr>对偶变换规则</vt:lpstr>
      <vt:lpstr>对偶变换规则</vt:lpstr>
      <vt:lpstr>原问题与对偶问题的表达形式</vt:lpstr>
      <vt:lpstr>PowerPoint 演示文稿</vt:lpstr>
      <vt:lpstr>例子</vt:lpstr>
      <vt:lpstr>对偶问题基本性质(1)</vt:lpstr>
      <vt:lpstr>对偶问题基本性质(2)</vt:lpstr>
      <vt:lpstr>对偶问题基本性质(3)</vt:lpstr>
      <vt:lpstr>对偶问题基本性质(4)</vt:lpstr>
      <vt:lpstr>证明</vt:lpstr>
      <vt:lpstr>弱对偶性结论小结</vt:lpstr>
      <vt:lpstr>强对偶性</vt:lpstr>
      <vt:lpstr>例子</vt:lpstr>
      <vt:lpstr>PowerPoint 演示文稿</vt:lpstr>
      <vt:lpstr>对偶问题基本性质(5)</vt:lpstr>
      <vt:lpstr>对偶问题基本性质(5)-例子</vt:lpstr>
      <vt:lpstr>对偶问题基本性质(6)</vt:lpstr>
      <vt:lpstr>上一节课重要内容回放(2)</vt:lpstr>
      <vt:lpstr>上一节课重要内容回放(3)</vt:lpstr>
      <vt:lpstr>对偶问题基本性质(7) 互补松弛性</vt:lpstr>
      <vt:lpstr>对偶问题基本性质(7)</vt:lpstr>
      <vt:lpstr>例子</vt:lpstr>
      <vt:lpstr>习题</vt:lpstr>
      <vt:lpstr>PowerPoint 演示文稿</vt:lpstr>
      <vt:lpstr>PowerPoint 演示文稿</vt:lpstr>
      <vt:lpstr>PowerPoint 演示文稿</vt:lpstr>
      <vt:lpstr>PowerPoint 演示文稿</vt:lpstr>
      <vt:lpstr>PowerPoint 演示文稿</vt:lpstr>
      <vt:lpstr>PowerPoint 演示文稿</vt:lpstr>
      <vt:lpstr>对偶问题基本性质(8)</vt:lpstr>
      <vt:lpstr>PowerPoint 演示文稿</vt:lpstr>
      <vt:lpstr>第 5 节</vt:lpstr>
      <vt:lpstr>影子价格的定义</vt:lpstr>
      <vt:lpstr>影子价格的定义</vt:lpstr>
      <vt:lpstr>影子价格的经济意义</vt:lpstr>
      <vt:lpstr>影子价格的经济意义</vt:lpstr>
      <vt:lpstr>影子价格的经济意义</vt:lpstr>
      <vt:lpstr>影子价格</vt:lpstr>
      <vt:lpstr>利用Lingo显示影子价格</vt:lpstr>
      <vt:lpstr>利用Lingo显示影子价格</vt:lpstr>
      <vt:lpstr>利用Lingo显示影子价格</vt:lpstr>
      <vt:lpstr>第 6 节</vt:lpstr>
      <vt:lpstr>理论基础</vt:lpstr>
      <vt:lpstr>单纯形法与对偶单纯形法</vt:lpstr>
      <vt:lpstr>单纯形法与对偶单纯形法</vt:lpstr>
      <vt:lpstr>对偶单纯形法</vt:lpstr>
      <vt:lpstr>基本思路</vt:lpstr>
      <vt:lpstr>与单纯型法比较</vt:lpstr>
      <vt:lpstr>x_l≥0怎么保证？</vt:lpstr>
      <vt:lpstr>σ≤0怎么保证？</vt:lpstr>
      <vt:lpstr>例子</vt:lpstr>
      <vt:lpstr>习题</vt:lpstr>
      <vt:lpstr>如何确定换入变量？</vt:lpstr>
      <vt:lpstr>PowerPoint 演示文稿</vt:lpstr>
      <vt:lpstr>计算步骤</vt:lpstr>
      <vt:lpstr>对偶单纯形法</vt:lpstr>
      <vt:lpstr>对偶单纯形法</vt:lpstr>
      <vt:lpstr>对偶单纯形法</vt:lpstr>
      <vt:lpstr>对偶单纯形法(练习)</vt:lpstr>
      <vt:lpstr>对偶单纯形法</vt:lpstr>
      <vt:lpstr>Lingo求解对偶单纯形问题</vt:lpstr>
      <vt:lpstr>Lingo求解对偶单纯形问题</vt:lpstr>
      <vt:lpstr>Lingo求解对偶单纯形问题</vt:lpstr>
      <vt:lpstr>Lingo求解对偶单纯形问题</vt:lpstr>
      <vt:lpstr>普通单纯形法和对偶单纯形法</vt:lpstr>
      <vt:lpstr>普通单纯形法和对偶单纯形法</vt:lpstr>
      <vt:lpstr>普通单纯形法和对偶单纯形法</vt:lpstr>
      <vt:lpstr>对偶单纯形法优缺点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dc:title>PowerPoint Presentation</dc:title>
  <cp:revision>1455</cp:revision>
</cp:coreProperties>
</file>

<file path=docProps/custom.xml><?xml version="1.0" encoding="utf-8"?>
<Properties xmlns="http://schemas.openxmlformats.org/officeDocument/2006/custom-properties"/>
</file>