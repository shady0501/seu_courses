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7"/>
  </p:notesMasterIdLst>
  <p:sldIdLst>
    <p:sldId id="281" r:id="rId3"/>
    <p:sldId id="282" r:id="rId4"/>
    <p:sldId id="283" r:id="rId5"/>
    <p:sldId id="424" r:id="rId6"/>
    <p:sldId id="452" r:id="rId7"/>
    <p:sldId id="450" r:id="rId8"/>
    <p:sldId id="451" r:id="rId9"/>
    <p:sldId id="284" r:id="rId10"/>
    <p:sldId id="285" r:id="rId11"/>
    <p:sldId id="376" r:id="rId12"/>
    <p:sldId id="385" r:id="rId13"/>
    <p:sldId id="425" r:id="rId14"/>
    <p:sldId id="286" r:id="rId15"/>
    <p:sldId id="387" r:id="rId16"/>
    <p:sldId id="426" r:id="rId17"/>
    <p:sldId id="287" r:id="rId18"/>
    <p:sldId id="390" r:id="rId19"/>
    <p:sldId id="288" r:id="rId20"/>
    <p:sldId id="289" r:id="rId21"/>
    <p:sldId id="392" r:id="rId22"/>
    <p:sldId id="290" r:id="rId23"/>
    <p:sldId id="291" r:id="rId24"/>
    <p:sldId id="292" r:id="rId25"/>
    <p:sldId id="427" r:id="rId26"/>
    <p:sldId id="293" r:id="rId27"/>
    <p:sldId id="393" r:id="rId28"/>
    <p:sldId id="294" r:id="rId29"/>
    <p:sldId id="296" r:id="rId30"/>
    <p:sldId id="320" r:id="rId31"/>
    <p:sldId id="321" r:id="rId32"/>
    <p:sldId id="343" r:id="rId33"/>
    <p:sldId id="344" r:id="rId34"/>
    <p:sldId id="345" r:id="rId35"/>
    <p:sldId id="421"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4.wmf"/><Relationship Id="rId5" Type="http://schemas.openxmlformats.org/officeDocument/2006/relationships/image" Target="../media/image30.wmf"/><Relationship Id="rId4"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24.wmf"/><Relationship Id="rId5" Type="http://schemas.openxmlformats.org/officeDocument/2006/relationships/image" Target="../media/image36.wmf"/><Relationship Id="rId4"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84608B-E579-4245-8010-1079DE815F2F}" type="datetimeFigureOut">
              <a:rPr lang="zh-CN" altLang="en-US" smtClean="0"/>
              <a:t>2024/3/10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9E99C5-F2B2-4D87-9A7D-AFC96FCFCBF9}" type="slidenum">
              <a:rPr lang="zh-CN" altLang="en-US" smtClean="0"/>
              <a:t>‹#›</a:t>
            </a:fld>
            <a:endParaRPr lang="zh-CN" altLang="en-US"/>
          </a:p>
        </p:txBody>
      </p:sp>
    </p:spTree>
    <p:extLst>
      <p:ext uri="{BB962C8B-B14F-4D97-AF65-F5344CB8AC3E}">
        <p14:creationId xmlns:p14="http://schemas.microsoft.com/office/powerpoint/2010/main" val="2315252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7F129CDB-CAA2-470A-B45C-CC59A861D95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a:extLst>
              <a:ext uri="{FF2B5EF4-FFF2-40B4-BE49-F238E27FC236}">
                <a16:creationId xmlns:a16="http://schemas.microsoft.com/office/drawing/2014/main" id="{795C2C4A-4402-4B3F-B7EE-46B526FE955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101380" name="灯片编号占位符 3">
            <a:extLst>
              <a:ext uri="{FF2B5EF4-FFF2-40B4-BE49-F238E27FC236}">
                <a16:creationId xmlns:a16="http://schemas.microsoft.com/office/drawing/2014/main" id="{CE1C17B8-FE07-4B59-AC6B-FDE80983EAD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C422CA2-60FC-4D9B-8314-6D74B1DD2416}" type="slidenum">
              <a:rPr kumimoji="0" lang="zh-CN" altLang="en-US" sz="1200" b="0" i="0" u="none" strike="noStrike" kern="1200" cap="none" spc="0" normalizeH="0" baseline="0" noProof="0" smtClean="0">
                <a:ln>
                  <a:noFill/>
                </a:ln>
                <a:solidFill>
                  <a:prstClr val="black"/>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8EB74B-C488-496A-AF71-E869532245A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EE680318-C809-4CE1-BCF7-1C4D7D6ADB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9EB987B-DCC7-4DB3-8A32-942DE3FD6269}"/>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5CA57B90-E644-4FB5-B82B-6EBF8D28C05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07A105A-AC4C-4C22-931A-8F987E98A3CE}"/>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2526136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5DE48-35D8-4040-8479-F2D970040DB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B7151D-EFC5-4949-9F25-4710930AD2C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A29A2A6-3EAB-47FD-928F-7D4AF31C42F8}"/>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663CC720-B525-476D-B926-70334CD568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A9C9DE7-16AF-4E7E-B8CE-9248A250AAAF}"/>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3390570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83FBA-307F-4BDA-BDA9-1E63F06F57B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E369345-F725-416D-805E-8790D01770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4B2F867B-D2E8-4FED-8EC8-68BD93D48C40}"/>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AC002877-6131-4F15-AC2D-EB87A19BC2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CB50D5-C1C7-44CB-8AB7-0490A8D43332}"/>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20428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A9411C-7794-49E8-B2C2-FC45F032985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4FD9F54-CA27-4248-880C-C59F891FDFDE}"/>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5942BF2-B334-49E6-87EE-341357DF5A6A}"/>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2FE1B6E1-53DF-4CDD-9F25-573C7630DAE2}"/>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6" name="页脚占位符 5">
            <a:extLst>
              <a:ext uri="{FF2B5EF4-FFF2-40B4-BE49-F238E27FC236}">
                <a16:creationId xmlns:a16="http://schemas.microsoft.com/office/drawing/2014/main" id="{05EF9B6E-58CD-444A-930E-2F18D6D334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D5DF518-E9D1-46B3-9446-9140C776A6B6}"/>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412934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C6D25-92BE-4FD2-9228-1B939C52FDE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7E8FE4-C139-4B37-8035-D696B3DD92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48E9D9B3-F5ED-45C7-AACE-EC7960D0A426}"/>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0C4C77F-2ABE-499B-BB33-FD246E339C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C9DD6BC-35F8-451F-B380-CA2C5F8F5950}"/>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188AFA6F-F6F8-4D84-A1CF-62F380B3F1D5}"/>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8" name="页脚占位符 7">
            <a:extLst>
              <a:ext uri="{FF2B5EF4-FFF2-40B4-BE49-F238E27FC236}">
                <a16:creationId xmlns:a16="http://schemas.microsoft.com/office/drawing/2014/main" id="{281460DC-1BB7-4513-B516-D1115709377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4F9F1CE-0DA1-4BD3-9679-C15E079580DE}"/>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100010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0B846A-A88D-4D49-8848-603B5B79D3B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7FD7BF3-E6CE-4198-B6B6-840261DDBB83}"/>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4" name="页脚占位符 3">
            <a:extLst>
              <a:ext uri="{FF2B5EF4-FFF2-40B4-BE49-F238E27FC236}">
                <a16:creationId xmlns:a16="http://schemas.microsoft.com/office/drawing/2014/main" id="{86C67686-C48C-4455-8959-02871A6B13A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DD8C0C4-F70C-41B7-9C40-AB6E0387C753}"/>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1285498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5ED4B72-A4CF-4AB5-A494-A209710434AC}"/>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3" name="页脚占位符 2">
            <a:extLst>
              <a:ext uri="{FF2B5EF4-FFF2-40B4-BE49-F238E27FC236}">
                <a16:creationId xmlns:a16="http://schemas.microsoft.com/office/drawing/2014/main" id="{5CDF97EB-C355-48BB-ADBD-357386E1B29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01964D3-D434-4B9E-B9BA-BF4794C938A4}"/>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3360635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43408F-46F4-451C-88EE-9FC96E40591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7D45430-0AB8-42AE-A8CD-618078E453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E30221E2-BF74-48B5-8934-286FF7070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9893FD7-EFEF-4191-9538-3ED3E747D3C0}"/>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6" name="页脚占位符 5">
            <a:extLst>
              <a:ext uri="{FF2B5EF4-FFF2-40B4-BE49-F238E27FC236}">
                <a16:creationId xmlns:a16="http://schemas.microsoft.com/office/drawing/2014/main" id="{F0F3A123-8305-4DF6-9CBB-78BF6B285B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B19D1A-BBCB-4E04-B5DB-DC120BEF6824}"/>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205114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87A57B-EC34-4ABA-9535-E75B9A6C029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A6C64B1-F198-4014-8883-D35D370BAE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54BAB9C-007F-44B3-A2CF-BCF193F75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C93C5C3-E192-46F9-A5F6-9B5914408F0F}"/>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6" name="页脚占位符 5">
            <a:extLst>
              <a:ext uri="{FF2B5EF4-FFF2-40B4-BE49-F238E27FC236}">
                <a16:creationId xmlns:a16="http://schemas.microsoft.com/office/drawing/2014/main" id="{2B831189-B88F-4584-A503-65B1C9FCC7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D39372-00A1-44B7-AAB1-919A29E93DEC}"/>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1326165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C9B98-87F5-485A-A67E-9C6E0407903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0504383-F0AA-46E8-9234-A8F3A8064B7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3312C23-F359-49F3-AF67-F86707F2ADAD}"/>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9D4087EC-3B85-438D-BE75-87BC8F2FBFA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1133DB-32F8-4816-979C-24EAE1E5568A}"/>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670093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605428D-043C-43D1-8FF8-FC8E0C730BD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8082C96-3716-4E2F-BE9A-9384B96DF19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CCA1D42-7076-4F12-96E1-C3CE862B09A4}"/>
              </a:ext>
            </a:extLst>
          </p:cNvPr>
          <p:cNvSpPr>
            <a:spLocks noGrp="1"/>
          </p:cNvSpPr>
          <p:nvPr>
            <p:ph type="dt" sz="half" idx="10"/>
          </p:nvPr>
        </p:nvSpPr>
        <p:spPr/>
        <p:txBody>
          <a:body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768CE841-5B75-46EB-8B0D-5E7F6596CF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AE15DA-0327-4E4D-B279-0D34E7DC0220}"/>
              </a:ext>
            </a:extLst>
          </p:cNvPr>
          <p:cNvSpPr>
            <a:spLocks noGrp="1"/>
          </p:cNvSpPr>
          <p:nvPr>
            <p:ph type="sldNum" sz="quarter" idx="12"/>
          </p:nvPr>
        </p:nvSpPr>
        <p:spPr/>
        <p:txBody>
          <a:body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194100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FB22F882-A6D0-4F65-AF2E-E37DA322340B}"/>
              </a:ext>
            </a:extLst>
          </p:cNvPr>
          <p:cNvSpPr>
            <a:spLocks noChangeArrowheads="1"/>
          </p:cNvSpPr>
          <p:nvPr/>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5" name="Line 8">
            <a:extLst>
              <a:ext uri="{FF2B5EF4-FFF2-40B4-BE49-F238E27FC236}">
                <a16:creationId xmlns:a16="http://schemas.microsoft.com/office/drawing/2014/main" id="{450F729A-B655-4166-9D75-C9A4731B0337}"/>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6" name="Picture 9" descr="校徽">
            <a:extLst>
              <a:ext uri="{FF2B5EF4-FFF2-40B4-BE49-F238E27FC236}">
                <a16:creationId xmlns:a16="http://schemas.microsoft.com/office/drawing/2014/main" id="{26E30F55-7DB6-44AD-A069-5FA710244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6800" y="152400"/>
            <a:ext cx="1320800" cy="966788"/>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57698" name="Rectangle 2"/>
          <p:cNvSpPr>
            <a:spLocks noGrp="1" noChangeArrowheads="1"/>
          </p:cNvSpPr>
          <p:nvPr>
            <p:ph type="ctrTitle"/>
          </p:nvPr>
        </p:nvSpPr>
        <p:spPr>
          <a:xfrm>
            <a:off x="1219201" y="1524000"/>
            <a:ext cx="10164233" cy="1752600"/>
          </a:xfrm>
        </p:spPr>
        <p:txBody>
          <a:bodyPr/>
          <a:lstStyle>
            <a:lvl1pPr>
              <a:defRPr sz="3600"/>
            </a:lvl1pPr>
          </a:lstStyle>
          <a:p>
            <a:r>
              <a:rPr lang="zh-CN" altLang="en-US"/>
              <a:t>单击此处编辑母版标题样式</a:t>
            </a:r>
          </a:p>
        </p:txBody>
      </p:sp>
      <p:sp>
        <p:nvSpPr>
          <p:cNvPr id="157699" name="Rectangle 3"/>
          <p:cNvSpPr>
            <a:spLocks noGrp="1" noChangeArrowheads="1"/>
          </p:cNvSpPr>
          <p:nvPr>
            <p:ph type="subTitle" idx="1"/>
          </p:nvPr>
        </p:nvSpPr>
        <p:spPr>
          <a:xfrm>
            <a:off x="2641600" y="2997200"/>
            <a:ext cx="8737600" cy="1752600"/>
          </a:xfrm>
        </p:spPr>
        <p:txBody>
          <a:bodyPr/>
          <a:lstStyle>
            <a:lvl1pPr marL="0" indent="0" algn="ctr">
              <a:buFont typeface="Wingdings" pitchFamily="2" charset="2"/>
              <a:buNone/>
              <a:defRPr sz="5400">
                <a:solidFill>
                  <a:schemeClr val="tx2"/>
                </a:solidFill>
              </a:defRPr>
            </a:lvl1pPr>
          </a:lstStyle>
          <a:p>
            <a:r>
              <a:rPr lang="zh-CN" altLang="en-US"/>
              <a:t>单击此处编辑母版副标题样式</a:t>
            </a:r>
          </a:p>
        </p:txBody>
      </p:sp>
      <p:sp>
        <p:nvSpPr>
          <p:cNvPr id="7" name="Rectangle 4">
            <a:extLst>
              <a:ext uri="{FF2B5EF4-FFF2-40B4-BE49-F238E27FC236}">
                <a16:creationId xmlns:a16="http://schemas.microsoft.com/office/drawing/2014/main" id="{6BCA1F79-FCD3-47E2-8167-B7999BEA0E9B}"/>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1356E054-7EF4-4133-84CF-9FDBBF852C6F}"/>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4C5EA6A2-28BE-40B7-AF68-CB7150CC323E}"/>
              </a:ext>
            </a:extLst>
          </p:cNvPr>
          <p:cNvSpPr>
            <a:spLocks noGrp="1" noChangeArrowheads="1"/>
          </p:cNvSpPr>
          <p:nvPr>
            <p:ph type="sldNum" sz="quarter" idx="12"/>
          </p:nvPr>
        </p:nvSpPr>
        <p:spPr/>
        <p:txBody>
          <a:bodyPr/>
          <a:lstStyle>
            <a:lvl1pPr>
              <a:defRPr/>
            </a:lvl1pPr>
          </a:lstStyle>
          <a:p>
            <a:pPr>
              <a:defRPr/>
            </a:pPr>
            <a:fld id="{A1109B0C-DD75-4170-8400-C4C49A37BA52}" type="slidenum">
              <a:rPr lang="en-US" altLang="zh-CN"/>
              <a:pPr>
                <a:defRPr/>
              </a:pPr>
              <a:t>‹#›</a:t>
            </a:fld>
            <a:endParaRPr lang="en-US" altLang="zh-CN"/>
          </a:p>
        </p:txBody>
      </p:sp>
    </p:spTree>
    <p:extLst>
      <p:ext uri="{BB962C8B-B14F-4D97-AF65-F5344CB8AC3E}">
        <p14:creationId xmlns:p14="http://schemas.microsoft.com/office/powerpoint/2010/main" val="2909085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092E445-2C16-4987-809C-F30C30ACC5D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964C323-19A4-4D8E-919D-0A72C70533A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CD297C3-4319-4F98-AD72-63EA5D7B6A51}"/>
              </a:ext>
            </a:extLst>
          </p:cNvPr>
          <p:cNvSpPr>
            <a:spLocks noGrp="1" noChangeArrowheads="1"/>
          </p:cNvSpPr>
          <p:nvPr>
            <p:ph type="sldNum" sz="quarter" idx="12"/>
          </p:nvPr>
        </p:nvSpPr>
        <p:spPr>
          <a:ln/>
        </p:spPr>
        <p:txBody>
          <a:bodyPr/>
          <a:lstStyle>
            <a:lvl1pPr>
              <a:defRPr/>
            </a:lvl1pPr>
          </a:lstStyle>
          <a:p>
            <a:pPr>
              <a:defRPr/>
            </a:pPr>
            <a:fld id="{06F1B6C4-6091-4B78-BE61-87D6C734C17B}" type="slidenum">
              <a:rPr lang="en-US" altLang="zh-CN"/>
              <a:pPr>
                <a:defRPr/>
              </a:pPr>
              <a:t>‹#›</a:t>
            </a:fld>
            <a:endParaRPr lang="en-US" altLang="zh-CN"/>
          </a:p>
        </p:txBody>
      </p:sp>
    </p:spTree>
    <p:extLst>
      <p:ext uri="{BB962C8B-B14F-4D97-AF65-F5344CB8AC3E}">
        <p14:creationId xmlns:p14="http://schemas.microsoft.com/office/powerpoint/2010/main" val="797971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E89DCF3-4C6C-440B-A329-6EE5A73F2F8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BFCA074-9913-41CC-9E4A-DA2EE89CE20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C10F209-7644-4F0B-BBE5-4DC34DA556B5}"/>
              </a:ext>
            </a:extLst>
          </p:cNvPr>
          <p:cNvSpPr>
            <a:spLocks noGrp="1" noChangeArrowheads="1"/>
          </p:cNvSpPr>
          <p:nvPr>
            <p:ph type="sldNum" sz="quarter" idx="12"/>
          </p:nvPr>
        </p:nvSpPr>
        <p:spPr>
          <a:ln/>
        </p:spPr>
        <p:txBody>
          <a:bodyPr/>
          <a:lstStyle>
            <a:lvl1pPr>
              <a:defRPr/>
            </a:lvl1pPr>
          </a:lstStyle>
          <a:p>
            <a:pPr>
              <a:defRPr/>
            </a:pPr>
            <a:fld id="{1C86F282-3D49-4ED8-B66E-3962B19C2E67}" type="slidenum">
              <a:rPr lang="en-US" altLang="zh-CN"/>
              <a:pPr>
                <a:defRPr/>
              </a:pPr>
              <a:t>‹#›</a:t>
            </a:fld>
            <a:endParaRPr lang="en-US" altLang="zh-CN"/>
          </a:p>
        </p:txBody>
      </p:sp>
    </p:spTree>
    <p:extLst>
      <p:ext uri="{BB962C8B-B14F-4D97-AF65-F5344CB8AC3E}">
        <p14:creationId xmlns:p14="http://schemas.microsoft.com/office/powerpoint/2010/main" val="3867640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4805BAF-5943-4B39-96DC-7742A3A626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F978D71-DDC2-4F6F-8C67-5514C83801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B9147E4-1E3F-44C3-B578-D52B70C29E9D}"/>
              </a:ext>
            </a:extLst>
          </p:cNvPr>
          <p:cNvSpPr>
            <a:spLocks noGrp="1" noChangeArrowheads="1"/>
          </p:cNvSpPr>
          <p:nvPr>
            <p:ph type="sldNum" sz="quarter" idx="12"/>
          </p:nvPr>
        </p:nvSpPr>
        <p:spPr>
          <a:ln/>
        </p:spPr>
        <p:txBody>
          <a:bodyPr/>
          <a:lstStyle>
            <a:lvl1pPr>
              <a:defRPr/>
            </a:lvl1pPr>
          </a:lstStyle>
          <a:p>
            <a:pPr>
              <a:defRPr/>
            </a:pPr>
            <a:fld id="{0E5E7988-50EC-4B5F-B0A1-4B62CDBE0C5A}" type="slidenum">
              <a:rPr lang="en-US" altLang="zh-CN"/>
              <a:pPr>
                <a:defRPr/>
              </a:pPr>
              <a:t>‹#›</a:t>
            </a:fld>
            <a:endParaRPr lang="en-US" altLang="zh-CN"/>
          </a:p>
        </p:txBody>
      </p:sp>
    </p:spTree>
    <p:extLst>
      <p:ext uri="{BB962C8B-B14F-4D97-AF65-F5344CB8AC3E}">
        <p14:creationId xmlns:p14="http://schemas.microsoft.com/office/powerpoint/2010/main" val="2290781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C6A6559-4E75-4BC1-A8BE-767351BA6A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E3012733-06E8-409B-B98D-D79B27D5C0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76FDAF28-8C82-44A6-AB84-8F55E935DBE2}"/>
              </a:ext>
            </a:extLst>
          </p:cNvPr>
          <p:cNvSpPr>
            <a:spLocks noGrp="1" noChangeArrowheads="1"/>
          </p:cNvSpPr>
          <p:nvPr>
            <p:ph type="sldNum" sz="quarter" idx="12"/>
          </p:nvPr>
        </p:nvSpPr>
        <p:spPr>
          <a:ln/>
        </p:spPr>
        <p:txBody>
          <a:bodyPr/>
          <a:lstStyle>
            <a:lvl1pPr>
              <a:defRPr/>
            </a:lvl1pPr>
          </a:lstStyle>
          <a:p>
            <a:pPr>
              <a:defRPr/>
            </a:pPr>
            <a:fld id="{289E1BE9-43F6-4D7B-AC04-DB3CD905E221}" type="slidenum">
              <a:rPr lang="en-US" altLang="zh-CN"/>
              <a:pPr>
                <a:defRPr/>
              </a:pPr>
              <a:t>‹#›</a:t>
            </a:fld>
            <a:endParaRPr lang="en-US" altLang="zh-CN"/>
          </a:p>
        </p:txBody>
      </p:sp>
    </p:spTree>
    <p:extLst>
      <p:ext uri="{BB962C8B-B14F-4D97-AF65-F5344CB8AC3E}">
        <p14:creationId xmlns:p14="http://schemas.microsoft.com/office/powerpoint/2010/main" val="1996660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B256265-ED77-4766-BF96-59C233DCECF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08217D4-7C33-45FD-B4EA-35D25AD5643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48F041B-5492-4F64-8E92-A7C9027B5392}"/>
              </a:ext>
            </a:extLst>
          </p:cNvPr>
          <p:cNvSpPr>
            <a:spLocks noGrp="1" noChangeArrowheads="1"/>
          </p:cNvSpPr>
          <p:nvPr>
            <p:ph type="sldNum" sz="quarter" idx="12"/>
          </p:nvPr>
        </p:nvSpPr>
        <p:spPr>
          <a:ln/>
        </p:spPr>
        <p:txBody>
          <a:bodyPr/>
          <a:lstStyle>
            <a:lvl1pPr>
              <a:defRPr/>
            </a:lvl1pPr>
          </a:lstStyle>
          <a:p>
            <a:pPr>
              <a:defRPr/>
            </a:pPr>
            <a:fld id="{4E69C677-1904-459E-96EC-A798CABBBCA6}" type="slidenum">
              <a:rPr lang="en-US" altLang="zh-CN"/>
              <a:pPr>
                <a:defRPr/>
              </a:pPr>
              <a:t>‹#›</a:t>
            </a:fld>
            <a:endParaRPr lang="en-US" altLang="zh-CN"/>
          </a:p>
        </p:txBody>
      </p:sp>
    </p:spTree>
    <p:extLst>
      <p:ext uri="{BB962C8B-B14F-4D97-AF65-F5344CB8AC3E}">
        <p14:creationId xmlns:p14="http://schemas.microsoft.com/office/powerpoint/2010/main" val="2318487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7032B6B-6A59-47BF-9A84-9200FC33EC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5125684-E52C-403B-A274-144CE2CF21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CB9AD27-E3A2-40C2-877B-363B5059FF3B}"/>
              </a:ext>
            </a:extLst>
          </p:cNvPr>
          <p:cNvSpPr>
            <a:spLocks noGrp="1" noChangeArrowheads="1"/>
          </p:cNvSpPr>
          <p:nvPr>
            <p:ph type="sldNum" sz="quarter" idx="12"/>
          </p:nvPr>
        </p:nvSpPr>
        <p:spPr>
          <a:ln/>
        </p:spPr>
        <p:txBody>
          <a:bodyPr/>
          <a:lstStyle>
            <a:lvl1pPr>
              <a:defRPr/>
            </a:lvl1pPr>
          </a:lstStyle>
          <a:p>
            <a:pPr>
              <a:defRPr/>
            </a:pPr>
            <a:fld id="{2E6E44F5-ACC5-4E46-8386-DC36BE2100FC}" type="slidenum">
              <a:rPr lang="en-US" altLang="zh-CN"/>
              <a:pPr>
                <a:defRPr/>
              </a:pPr>
              <a:t>‹#›</a:t>
            </a:fld>
            <a:endParaRPr lang="en-US" altLang="zh-CN"/>
          </a:p>
        </p:txBody>
      </p:sp>
    </p:spTree>
    <p:extLst>
      <p:ext uri="{BB962C8B-B14F-4D97-AF65-F5344CB8AC3E}">
        <p14:creationId xmlns:p14="http://schemas.microsoft.com/office/powerpoint/2010/main" val="33593141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FA6A9A4-C698-4176-8CE8-0A9291119AD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181C3E7-878B-4EF6-9189-C97B957257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9B09FAA-202E-46C6-A318-FD62F87997EE}"/>
              </a:ext>
            </a:extLst>
          </p:cNvPr>
          <p:cNvSpPr>
            <a:spLocks noGrp="1" noChangeArrowheads="1"/>
          </p:cNvSpPr>
          <p:nvPr>
            <p:ph type="sldNum" sz="quarter" idx="12"/>
          </p:nvPr>
        </p:nvSpPr>
        <p:spPr>
          <a:ln/>
        </p:spPr>
        <p:txBody>
          <a:bodyPr/>
          <a:lstStyle>
            <a:lvl1pPr>
              <a:defRPr/>
            </a:lvl1pPr>
          </a:lstStyle>
          <a:p>
            <a:pPr>
              <a:defRPr/>
            </a:pPr>
            <a:fld id="{621DA16C-DAE3-4479-8FCD-666E65DC7D94}" type="slidenum">
              <a:rPr lang="en-US" altLang="zh-CN"/>
              <a:pPr>
                <a:defRPr/>
              </a:pPr>
              <a:t>‹#›</a:t>
            </a:fld>
            <a:endParaRPr lang="en-US" altLang="zh-CN"/>
          </a:p>
        </p:txBody>
      </p:sp>
    </p:spTree>
    <p:extLst>
      <p:ext uri="{BB962C8B-B14F-4D97-AF65-F5344CB8AC3E}">
        <p14:creationId xmlns:p14="http://schemas.microsoft.com/office/powerpoint/2010/main" val="255839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103091D-50A5-4F88-A50A-A0309A94B8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C5EA617-23E2-4DB4-A77B-7EF95B4B9E9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33E848E-87F6-43F0-9A14-AC21193E6730}"/>
              </a:ext>
            </a:extLst>
          </p:cNvPr>
          <p:cNvSpPr>
            <a:spLocks noGrp="1" noChangeArrowheads="1"/>
          </p:cNvSpPr>
          <p:nvPr>
            <p:ph type="sldNum" sz="quarter" idx="12"/>
          </p:nvPr>
        </p:nvSpPr>
        <p:spPr>
          <a:ln/>
        </p:spPr>
        <p:txBody>
          <a:bodyPr/>
          <a:lstStyle>
            <a:lvl1pPr>
              <a:defRPr/>
            </a:lvl1pPr>
          </a:lstStyle>
          <a:p>
            <a:pPr>
              <a:defRPr/>
            </a:pPr>
            <a:fld id="{3431AFC5-1A00-4A98-8BE2-1BD0822C6775}" type="slidenum">
              <a:rPr lang="en-US" altLang="zh-CN"/>
              <a:pPr>
                <a:defRPr/>
              </a:pPr>
              <a:t>‹#›</a:t>
            </a:fld>
            <a:endParaRPr lang="en-US" altLang="zh-CN"/>
          </a:p>
        </p:txBody>
      </p:sp>
    </p:spTree>
    <p:extLst>
      <p:ext uri="{BB962C8B-B14F-4D97-AF65-F5344CB8AC3E}">
        <p14:creationId xmlns:p14="http://schemas.microsoft.com/office/powerpoint/2010/main" val="3222895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5AFC181-DF1C-464A-84AB-7CDF6F7A4F5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F76E204-2E9E-4656-A9C5-9EB03C0A53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F06AD50-A325-4D3D-B9EA-93AAC6AB2AD7}"/>
              </a:ext>
            </a:extLst>
          </p:cNvPr>
          <p:cNvSpPr>
            <a:spLocks noGrp="1" noChangeArrowheads="1"/>
          </p:cNvSpPr>
          <p:nvPr>
            <p:ph type="sldNum" sz="quarter" idx="12"/>
          </p:nvPr>
        </p:nvSpPr>
        <p:spPr>
          <a:ln/>
        </p:spPr>
        <p:txBody>
          <a:bodyPr/>
          <a:lstStyle>
            <a:lvl1pPr>
              <a:defRPr/>
            </a:lvl1pPr>
          </a:lstStyle>
          <a:p>
            <a:pPr>
              <a:defRPr/>
            </a:pPr>
            <a:fld id="{DB497CE5-E194-4680-BC68-CEC6A4B4621E}" type="slidenum">
              <a:rPr lang="en-US" altLang="zh-CN"/>
              <a:pPr>
                <a:defRPr/>
              </a:pPr>
              <a:t>‹#›</a:t>
            </a:fld>
            <a:endParaRPr lang="en-US" altLang="zh-CN"/>
          </a:p>
        </p:txBody>
      </p:sp>
    </p:spTree>
    <p:extLst>
      <p:ext uri="{BB962C8B-B14F-4D97-AF65-F5344CB8AC3E}">
        <p14:creationId xmlns:p14="http://schemas.microsoft.com/office/powerpoint/2010/main" val="25305660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548568B-AD5F-41E2-A364-7010494F957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512E9DE-CC67-4940-B461-F715156FB3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BAE583E-51BA-4403-A3D4-E631E7334181}"/>
              </a:ext>
            </a:extLst>
          </p:cNvPr>
          <p:cNvSpPr>
            <a:spLocks noGrp="1" noChangeArrowheads="1"/>
          </p:cNvSpPr>
          <p:nvPr>
            <p:ph type="sldNum" sz="quarter" idx="12"/>
          </p:nvPr>
        </p:nvSpPr>
        <p:spPr>
          <a:ln/>
        </p:spPr>
        <p:txBody>
          <a:bodyPr/>
          <a:lstStyle>
            <a:lvl1pPr>
              <a:defRPr/>
            </a:lvl1pPr>
          </a:lstStyle>
          <a:p>
            <a:pPr>
              <a:defRPr/>
            </a:pPr>
            <a:fld id="{973109F7-60D5-4D34-B2FD-C736B760CBF0}" type="slidenum">
              <a:rPr lang="en-US" altLang="zh-CN"/>
              <a:pPr>
                <a:defRPr/>
              </a:pPr>
              <a:t>‹#›</a:t>
            </a:fld>
            <a:endParaRPr lang="en-US" altLang="zh-CN"/>
          </a:p>
        </p:txBody>
      </p:sp>
    </p:spTree>
    <p:extLst>
      <p:ext uri="{BB962C8B-B14F-4D97-AF65-F5344CB8AC3E}">
        <p14:creationId xmlns:p14="http://schemas.microsoft.com/office/powerpoint/2010/main" val="7017137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4">
            <a:extLst>
              <a:ext uri="{FF2B5EF4-FFF2-40B4-BE49-F238E27FC236}">
                <a16:creationId xmlns:a16="http://schemas.microsoft.com/office/drawing/2014/main" id="{E6B3FC0B-A99C-4B85-A00C-2CDC5C9A06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9CBD34A-45F8-4BC7-811C-942C2872B6A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E3B8301-1842-4649-AAFC-601E0530ED8E}"/>
              </a:ext>
            </a:extLst>
          </p:cNvPr>
          <p:cNvSpPr>
            <a:spLocks noGrp="1" noChangeArrowheads="1"/>
          </p:cNvSpPr>
          <p:nvPr>
            <p:ph type="sldNum" sz="quarter" idx="12"/>
          </p:nvPr>
        </p:nvSpPr>
        <p:spPr>
          <a:ln/>
        </p:spPr>
        <p:txBody>
          <a:bodyPr/>
          <a:lstStyle>
            <a:lvl1pPr>
              <a:defRPr/>
            </a:lvl1pPr>
          </a:lstStyle>
          <a:p>
            <a:pPr>
              <a:defRPr/>
            </a:pPr>
            <a:fld id="{8FD12C1D-1C3D-4F9E-B898-559169D4A3BD}" type="slidenum">
              <a:rPr lang="en-US" altLang="zh-CN"/>
              <a:pPr>
                <a:defRPr/>
              </a:pPr>
              <a:t>‹#›</a:t>
            </a:fld>
            <a:endParaRPr lang="en-US" altLang="zh-CN"/>
          </a:p>
        </p:txBody>
      </p:sp>
    </p:spTree>
    <p:extLst>
      <p:ext uri="{BB962C8B-B14F-4D97-AF65-F5344CB8AC3E}">
        <p14:creationId xmlns:p14="http://schemas.microsoft.com/office/powerpoint/2010/main" val="30155017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1"/>
            <a:ext cx="53848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41763"/>
            <a:ext cx="53848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4063B86-98CA-4943-AFBF-85236F743F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2BF8B01D-4428-4956-9287-131FEF798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1C605295-9921-4F7C-A553-FE1F0E0FF9A4}"/>
              </a:ext>
            </a:extLst>
          </p:cNvPr>
          <p:cNvSpPr>
            <a:spLocks noGrp="1" noChangeArrowheads="1"/>
          </p:cNvSpPr>
          <p:nvPr>
            <p:ph type="sldNum" sz="quarter" idx="12"/>
          </p:nvPr>
        </p:nvSpPr>
        <p:spPr>
          <a:ln/>
        </p:spPr>
        <p:txBody>
          <a:bodyPr/>
          <a:lstStyle>
            <a:lvl1pPr>
              <a:defRPr/>
            </a:lvl1pPr>
          </a:lstStyle>
          <a:p>
            <a:pPr>
              <a:defRPr/>
            </a:pPr>
            <a:fld id="{34B388AF-C0DC-4C10-91D1-0CDE735D9D60}" type="slidenum">
              <a:rPr lang="en-US" altLang="zh-CN"/>
              <a:pPr>
                <a:defRPr/>
              </a:pPr>
              <a:t>‹#›</a:t>
            </a:fld>
            <a:endParaRPr lang="en-US" altLang="zh-CN"/>
          </a:p>
        </p:txBody>
      </p:sp>
    </p:spTree>
    <p:extLst>
      <p:ext uri="{BB962C8B-B14F-4D97-AF65-F5344CB8AC3E}">
        <p14:creationId xmlns:p14="http://schemas.microsoft.com/office/powerpoint/2010/main" val="5612186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4"/>
            <a:ext cx="109728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6B5BC95-00DC-4263-B0EC-0655A556E47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B946A4B-C1C3-4F54-BDCF-A13E57C70D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80BF15C-C75F-4AA9-A508-3A6BEA8A9117}"/>
              </a:ext>
            </a:extLst>
          </p:cNvPr>
          <p:cNvSpPr>
            <a:spLocks noGrp="1" noChangeArrowheads="1"/>
          </p:cNvSpPr>
          <p:nvPr>
            <p:ph type="sldNum" sz="quarter" idx="12"/>
          </p:nvPr>
        </p:nvSpPr>
        <p:spPr>
          <a:ln/>
        </p:spPr>
        <p:txBody>
          <a:bodyPr/>
          <a:lstStyle>
            <a:lvl1pPr>
              <a:defRPr/>
            </a:lvl1pPr>
          </a:lstStyle>
          <a:p>
            <a:pPr>
              <a:defRPr/>
            </a:pPr>
            <a:fld id="{5CA4A880-58E6-4BF6-A427-93278885BAA5}" type="slidenum">
              <a:rPr lang="en-US" altLang="zh-CN"/>
              <a:pPr>
                <a:defRPr/>
              </a:pPr>
              <a:t>‹#›</a:t>
            </a:fld>
            <a:endParaRPr lang="en-US" altLang="zh-CN"/>
          </a:p>
        </p:txBody>
      </p:sp>
    </p:spTree>
    <p:extLst>
      <p:ext uri="{BB962C8B-B14F-4D97-AF65-F5344CB8AC3E}">
        <p14:creationId xmlns:p14="http://schemas.microsoft.com/office/powerpoint/2010/main" val="21786802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767E3DCA-1EDC-445F-8661-B1210330B2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9D28750-553A-4E5C-9863-73C82CF1AF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F7E3F18-61BF-4F6E-9168-95E378C8901A}"/>
              </a:ext>
            </a:extLst>
          </p:cNvPr>
          <p:cNvSpPr>
            <a:spLocks noGrp="1" noChangeArrowheads="1"/>
          </p:cNvSpPr>
          <p:nvPr>
            <p:ph type="sldNum" sz="quarter" idx="12"/>
          </p:nvPr>
        </p:nvSpPr>
        <p:spPr>
          <a:ln/>
        </p:spPr>
        <p:txBody>
          <a:bodyPr/>
          <a:lstStyle>
            <a:lvl1pPr>
              <a:defRPr/>
            </a:lvl1pPr>
          </a:lstStyle>
          <a:p>
            <a:pPr>
              <a:defRPr/>
            </a:pPr>
            <a:fld id="{9D3EBA5A-B24A-485B-9AE0-43442C57CC0B}" type="slidenum">
              <a:rPr lang="en-US" altLang="zh-CN"/>
              <a:pPr>
                <a:defRPr/>
              </a:pPr>
              <a:t>‹#›</a:t>
            </a:fld>
            <a:endParaRPr lang="en-US" altLang="zh-CN"/>
          </a:p>
        </p:txBody>
      </p:sp>
    </p:spTree>
    <p:extLst>
      <p:ext uri="{BB962C8B-B14F-4D97-AF65-F5344CB8AC3E}">
        <p14:creationId xmlns:p14="http://schemas.microsoft.com/office/powerpoint/2010/main" val="194317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7365002-B500-4415-80F6-4B2E6D4AC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63D0932-E3D5-474E-837F-A0F4654FD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4032DB2-3D77-46E1-9E4F-3C61885E4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7134E1-3703-4AF8-80B4-4B895AACB84D}" type="datetimeFigureOut">
              <a:rPr lang="zh-CN" altLang="en-US" smtClean="0"/>
              <a:t>2024/3/10</a:t>
            </a:fld>
            <a:endParaRPr lang="zh-CN" altLang="en-US"/>
          </a:p>
        </p:txBody>
      </p:sp>
      <p:sp>
        <p:nvSpPr>
          <p:cNvPr id="5" name="页脚占位符 4">
            <a:extLst>
              <a:ext uri="{FF2B5EF4-FFF2-40B4-BE49-F238E27FC236}">
                <a16:creationId xmlns:a16="http://schemas.microsoft.com/office/drawing/2014/main" id="{1847332A-2E3D-4A7C-9239-05D3C8DAD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31CD67A-7A26-4CDC-BD83-80A2DE2122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B6C569-9EA3-4341-ADCC-8631C4C75EBB}" type="slidenum">
              <a:rPr lang="zh-CN" altLang="en-US" smtClean="0"/>
              <a:t>‹#›</a:t>
            </a:fld>
            <a:endParaRPr lang="zh-CN" altLang="en-US"/>
          </a:p>
        </p:txBody>
      </p:sp>
    </p:spTree>
    <p:extLst>
      <p:ext uri="{BB962C8B-B14F-4D97-AF65-F5344CB8AC3E}">
        <p14:creationId xmlns:p14="http://schemas.microsoft.com/office/powerpoint/2010/main" val="3383473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0CA22A4-83EB-40B0-AB2A-DD2CE96E1320}"/>
              </a:ext>
            </a:extLst>
          </p:cNvPr>
          <p:cNvSpPr>
            <a:spLocks noGrp="1" noChangeArrowheads="1"/>
          </p:cNvSpPr>
          <p:nvPr>
            <p:ph type="title"/>
          </p:nvPr>
        </p:nvSpPr>
        <p:spPr bwMode="auto">
          <a:xfrm>
            <a:off x="609600" y="277814"/>
            <a:ext cx="10972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BE5AE29-EF44-44F3-B7D4-75753C17E60D}"/>
              </a:ext>
            </a:extLst>
          </p:cNvPr>
          <p:cNvSpPr>
            <a:spLocks noGrp="1" noChangeArrowheads="1"/>
          </p:cNvSpPr>
          <p:nvPr>
            <p:ph type="body" idx="1"/>
          </p:nvPr>
        </p:nvSpPr>
        <p:spPr bwMode="auto">
          <a:xfrm>
            <a:off x="609600" y="1600201"/>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6676" name="Rectangle 4">
            <a:extLst>
              <a:ext uri="{FF2B5EF4-FFF2-40B4-BE49-F238E27FC236}">
                <a16:creationId xmlns:a16="http://schemas.microsoft.com/office/drawing/2014/main" id="{48F7A5C5-6AB2-4115-A294-429197089F23}"/>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j-lt"/>
              </a:defRPr>
            </a:lvl1pPr>
          </a:lstStyle>
          <a:p>
            <a:pPr>
              <a:defRPr/>
            </a:pPr>
            <a:endParaRPr lang="en-US" altLang="zh-CN"/>
          </a:p>
        </p:txBody>
      </p:sp>
      <p:sp>
        <p:nvSpPr>
          <p:cNvPr id="156677" name="Rectangle 5">
            <a:extLst>
              <a:ext uri="{FF2B5EF4-FFF2-40B4-BE49-F238E27FC236}">
                <a16:creationId xmlns:a16="http://schemas.microsoft.com/office/drawing/2014/main" id="{EF0284FD-001C-4CD0-8DA7-04F7307DBEE3}"/>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j-lt"/>
              </a:defRPr>
            </a:lvl1pPr>
          </a:lstStyle>
          <a:p>
            <a:pPr>
              <a:defRPr/>
            </a:pPr>
            <a:endParaRPr lang="en-US" altLang="zh-CN"/>
          </a:p>
        </p:txBody>
      </p:sp>
      <p:sp>
        <p:nvSpPr>
          <p:cNvPr id="156678" name="Rectangle 6">
            <a:extLst>
              <a:ext uri="{FF2B5EF4-FFF2-40B4-BE49-F238E27FC236}">
                <a16:creationId xmlns:a16="http://schemas.microsoft.com/office/drawing/2014/main" id="{7706F534-0D79-44F4-945E-5B638CD06FEB}"/>
              </a:ext>
            </a:extLst>
          </p:cNvPr>
          <p:cNvSpPr>
            <a:spLocks noGrp="1" noChangeArrowheads="1"/>
          </p:cNvSpPr>
          <p:nvPr>
            <p:ph type="sldNum" sz="quarter" idx="4"/>
          </p:nvPr>
        </p:nvSpPr>
        <p:spPr bwMode="auto">
          <a:xfrm>
            <a:off x="8737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pPr>
              <a:defRPr/>
            </a:pPr>
            <a:fld id="{1F57E673-FCA2-4F01-9BE2-2B03FAD553CB}" type="slidenum">
              <a:rPr lang="en-US" altLang="zh-CN"/>
              <a:pPr>
                <a:defRPr/>
              </a:pPr>
              <a:t>‹#›</a:t>
            </a:fld>
            <a:endParaRPr lang="en-US" altLang="zh-CN"/>
          </a:p>
        </p:txBody>
      </p:sp>
      <p:sp>
        <p:nvSpPr>
          <p:cNvPr id="1031" name="Freeform 7">
            <a:extLst>
              <a:ext uri="{FF2B5EF4-FFF2-40B4-BE49-F238E27FC236}">
                <a16:creationId xmlns:a16="http://schemas.microsoft.com/office/drawing/2014/main" id="{F2F0CDF9-9BFA-491F-A32E-1861327EF188}"/>
              </a:ext>
            </a:extLst>
          </p:cNvPr>
          <p:cNvSpPr>
            <a:spLocks noChangeArrowheads="1"/>
          </p:cNvSpPr>
          <p:nvPr/>
        </p:nvSpPr>
        <p:spPr bwMode="auto">
          <a:xfrm>
            <a:off x="508000" y="228600"/>
            <a:ext cx="109728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1032" name="Line 8">
            <a:extLst>
              <a:ext uri="{FF2B5EF4-FFF2-40B4-BE49-F238E27FC236}">
                <a16:creationId xmlns:a16="http://schemas.microsoft.com/office/drawing/2014/main" id="{2E905252-B908-496D-98F2-06A2889546D8}"/>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1033" name="Picture 9" descr="校徽">
            <a:extLst>
              <a:ext uri="{FF2B5EF4-FFF2-40B4-BE49-F238E27FC236}">
                <a16:creationId xmlns:a16="http://schemas.microsoft.com/office/drawing/2014/main" id="{31E0B862-715B-4827-9DB7-5ED070DE975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160001" y="306388"/>
            <a:ext cx="1250951" cy="912812"/>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110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rtl="0" eaLnBrk="0" fontAlgn="base" hangingPunct="0">
        <a:spcBef>
          <a:spcPct val="0"/>
        </a:spcBef>
        <a:spcAft>
          <a:spcPct val="0"/>
        </a:spcAft>
        <a:defRPr sz="4200" b="1">
          <a:solidFill>
            <a:schemeClr val="tx2"/>
          </a:solidFill>
          <a:latin typeface="+mj-lt"/>
          <a:ea typeface="+mj-ea"/>
          <a:cs typeface="+mj-cs"/>
        </a:defRPr>
      </a:lvl1pPr>
      <a:lvl2pPr algn="l" rtl="0" eaLnBrk="0" fontAlgn="base" hangingPunct="0">
        <a:spcBef>
          <a:spcPct val="0"/>
        </a:spcBef>
        <a:spcAft>
          <a:spcPct val="0"/>
        </a:spcAft>
        <a:defRPr sz="4200" b="1">
          <a:solidFill>
            <a:schemeClr val="tx2"/>
          </a:solidFill>
          <a:latin typeface="Garamond" pitchFamily="18" charset="0"/>
          <a:ea typeface="宋体" pitchFamily="2" charset="-122"/>
        </a:defRPr>
      </a:lvl2pPr>
      <a:lvl3pPr algn="l" rtl="0" eaLnBrk="0" fontAlgn="base" hangingPunct="0">
        <a:spcBef>
          <a:spcPct val="0"/>
        </a:spcBef>
        <a:spcAft>
          <a:spcPct val="0"/>
        </a:spcAft>
        <a:defRPr sz="4200" b="1">
          <a:solidFill>
            <a:schemeClr val="tx2"/>
          </a:solidFill>
          <a:latin typeface="Garamond" pitchFamily="18" charset="0"/>
          <a:ea typeface="宋体" pitchFamily="2" charset="-122"/>
        </a:defRPr>
      </a:lvl3pPr>
      <a:lvl4pPr algn="l" rtl="0" eaLnBrk="0" fontAlgn="base" hangingPunct="0">
        <a:spcBef>
          <a:spcPct val="0"/>
        </a:spcBef>
        <a:spcAft>
          <a:spcPct val="0"/>
        </a:spcAft>
        <a:defRPr sz="4200" b="1">
          <a:solidFill>
            <a:schemeClr val="tx2"/>
          </a:solidFill>
          <a:latin typeface="Garamond" pitchFamily="18" charset="0"/>
          <a:ea typeface="宋体" pitchFamily="2" charset="-122"/>
        </a:defRPr>
      </a:lvl4pPr>
      <a:lvl5pPr algn="l" rtl="0" eaLnBrk="0" fontAlgn="base" hangingPunct="0">
        <a:spcBef>
          <a:spcPct val="0"/>
        </a:spcBef>
        <a:spcAft>
          <a:spcPct val="0"/>
        </a:spcAft>
        <a:defRPr sz="4200" b="1">
          <a:solidFill>
            <a:schemeClr val="tx2"/>
          </a:solidFill>
          <a:latin typeface="Garamond" pitchFamily="18" charset="0"/>
          <a:ea typeface="宋体" pitchFamily="2" charset="-122"/>
        </a:defRPr>
      </a:lvl5pPr>
      <a:lvl6pPr marL="457200" algn="l" rtl="0" fontAlgn="base">
        <a:spcBef>
          <a:spcPct val="0"/>
        </a:spcBef>
        <a:spcAft>
          <a:spcPct val="0"/>
        </a:spcAft>
        <a:defRPr sz="4200" b="1">
          <a:solidFill>
            <a:schemeClr val="tx2"/>
          </a:solidFill>
          <a:latin typeface="Garamond" pitchFamily="18" charset="0"/>
          <a:ea typeface="宋体" pitchFamily="2" charset="-122"/>
        </a:defRPr>
      </a:lvl6pPr>
      <a:lvl7pPr marL="914400" algn="l" rtl="0" fontAlgn="base">
        <a:spcBef>
          <a:spcPct val="0"/>
        </a:spcBef>
        <a:spcAft>
          <a:spcPct val="0"/>
        </a:spcAft>
        <a:defRPr sz="4200" b="1">
          <a:solidFill>
            <a:schemeClr val="tx2"/>
          </a:solidFill>
          <a:latin typeface="Garamond" pitchFamily="18" charset="0"/>
          <a:ea typeface="宋体" pitchFamily="2" charset="-122"/>
        </a:defRPr>
      </a:lvl7pPr>
      <a:lvl8pPr marL="1371600" algn="l" rtl="0" fontAlgn="base">
        <a:spcBef>
          <a:spcPct val="0"/>
        </a:spcBef>
        <a:spcAft>
          <a:spcPct val="0"/>
        </a:spcAft>
        <a:defRPr sz="4200" b="1">
          <a:solidFill>
            <a:schemeClr val="tx2"/>
          </a:solidFill>
          <a:latin typeface="Garamond" pitchFamily="18" charset="0"/>
          <a:ea typeface="宋体" pitchFamily="2" charset="-122"/>
        </a:defRPr>
      </a:lvl8pPr>
      <a:lvl9pPr marL="1828800" algn="l" rtl="0" fontAlgn="base">
        <a:spcBef>
          <a:spcPct val="0"/>
        </a:spcBef>
        <a:spcAft>
          <a:spcPct val="0"/>
        </a:spcAft>
        <a:defRPr sz="42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13" Type="http://schemas.openxmlformats.org/officeDocument/2006/relationships/oleObject" Target="../embeddings/oleObject6.bin"/><Relationship Id="rId1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wmf"/><Relationship Id="rId17" Type="http://schemas.openxmlformats.org/officeDocument/2006/relationships/oleObject" Target="../embeddings/oleObject8.bin"/><Relationship Id="rId2" Type="http://schemas.openxmlformats.org/officeDocument/2006/relationships/slideLayout" Target="../slideLayouts/slideLayout25.xml"/><Relationship Id="rId16" Type="http://schemas.openxmlformats.org/officeDocument/2006/relationships/image" Target="../media/image8.wmf"/><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5.wmf"/><Relationship Id="rId4" Type="http://schemas.openxmlformats.org/officeDocument/2006/relationships/image" Target="../media/image2.wmf"/><Relationship Id="rId9" Type="http://schemas.openxmlformats.org/officeDocument/2006/relationships/oleObject" Target="../embeddings/oleObject4.bin"/><Relationship Id="rId14"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5.xml"/><Relationship Id="rId1" Type="http://schemas.openxmlformats.org/officeDocument/2006/relationships/vmlDrawing" Target="../drawings/vmlDrawing3.v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8.xml"/><Relationship Id="rId1" Type="http://schemas.openxmlformats.org/officeDocument/2006/relationships/vmlDrawing" Target="../drawings/vmlDrawing4.vml"/><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5.xml"/><Relationship Id="rId1" Type="http://schemas.openxmlformats.org/officeDocument/2006/relationships/vmlDrawing" Target="../drawings/vmlDrawing6.vml"/><Relationship Id="rId6" Type="http://schemas.openxmlformats.org/officeDocument/2006/relationships/image" Target="../media/image17.wmf"/><Relationship Id="rId5" Type="http://schemas.openxmlformats.org/officeDocument/2006/relationships/oleObject" Target="../embeddings/oleObject15.bin"/><Relationship Id="rId4" Type="http://schemas.openxmlformats.org/officeDocument/2006/relationships/image" Target="../media/image16.wmf"/></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slideLayout" Target="../slideLayouts/slideLayout25.xml"/><Relationship Id="rId1" Type="http://schemas.openxmlformats.org/officeDocument/2006/relationships/vmlDrawing" Target="../drawings/vmlDrawing7.vml"/><Relationship Id="rId6" Type="http://schemas.openxmlformats.org/officeDocument/2006/relationships/image" Target="../media/image19.wmf"/><Relationship Id="rId5" Type="http://schemas.openxmlformats.org/officeDocument/2006/relationships/oleObject" Target="../embeddings/oleObject17.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19.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21.bin"/><Relationship Id="rId4" Type="http://schemas.openxmlformats.org/officeDocument/2006/relationships/image" Target="../media/image2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3.xml"/><Relationship Id="rId1" Type="http://schemas.openxmlformats.org/officeDocument/2006/relationships/vmlDrawing" Target="../drawings/vmlDrawing9.vml"/><Relationship Id="rId4" Type="http://schemas.openxmlformats.org/officeDocument/2006/relationships/image" Target="../media/image24.wmf"/></Relationships>
</file>

<file path=ppt/slides/_rels/slide1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25.xml"/><Relationship Id="rId1" Type="http://schemas.openxmlformats.org/officeDocument/2006/relationships/vmlDrawing" Target="../drawings/vmlDrawing10.vml"/><Relationship Id="rId6" Type="http://schemas.openxmlformats.org/officeDocument/2006/relationships/image" Target="../media/image25.wmf"/><Relationship Id="rId5" Type="http://schemas.openxmlformats.org/officeDocument/2006/relationships/oleObject" Target="../embeddings/oleObject24.bin"/><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30.wmf"/><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27.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29.wmf"/><Relationship Id="rId4" Type="http://schemas.openxmlformats.org/officeDocument/2006/relationships/image" Target="../media/image24.wmf"/><Relationship Id="rId9" Type="http://schemas.openxmlformats.org/officeDocument/2006/relationships/oleObject" Target="../embeddings/oleObject29.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3.xml"/><Relationship Id="rId1" Type="http://schemas.openxmlformats.org/officeDocument/2006/relationships/vmlDrawing" Target="../drawings/vmlDrawing12.vml"/><Relationship Id="rId6" Type="http://schemas.openxmlformats.org/officeDocument/2006/relationships/image" Target="../media/image28.wmf"/><Relationship Id="rId5" Type="http://schemas.openxmlformats.org/officeDocument/2006/relationships/oleObject" Target="../embeddings/oleObject32.bin"/><Relationship Id="rId4" Type="http://schemas.openxmlformats.org/officeDocument/2006/relationships/image" Target="../media/image31.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5.xml"/><Relationship Id="rId1" Type="http://schemas.openxmlformats.org/officeDocument/2006/relationships/vmlDrawing" Target="../drawings/vmlDrawing13.vml"/><Relationship Id="rId4" Type="http://schemas.openxmlformats.org/officeDocument/2006/relationships/image" Target="../media/image32.wmf"/></Relationships>
</file>

<file path=ppt/slides/_rels/slide20.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36.wmf"/><Relationship Id="rId2" Type="http://schemas.openxmlformats.org/officeDocument/2006/relationships/slideLayout" Target="../slideLayouts/slideLayout13.xml"/><Relationship Id="rId1" Type="http://schemas.openxmlformats.org/officeDocument/2006/relationships/vmlDrawing" Target="../drawings/vmlDrawing14.vml"/><Relationship Id="rId6" Type="http://schemas.openxmlformats.org/officeDocument/2006/relationships/image" Target="../media/image33.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35.wmf"/><Relationship Id="rId4" Type="http://schemas.openxmlformats.org/officeDocument/2006/relationships/image" Target="../media/image24.wmf"/><Relationship Id="rId9" Type="http://schemas.openxmlformats.org/officeDocument/2006/relationships/oleObject" Target="../embeddings/oleObject37.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3.xml"/><Relationship Id="rId1" Type="http://schemas.openxmlformats.org/officeDocument/2006/relationships/vmlDrawing" Target="../drawings/vmlDrawing15.vml"/><Relationship Id="rId4" Type="http://schemas.openxmlformats.org/officeDocument/2006/relationships/image" Target="../media/image3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image" Target="../media/image38.wmf"/><Relationship Id="rId5" Type="http://schemas.openxmlformats.org/officeDocument/2006/relationships/oleObject" Target="../embeddings/oleObject41.bin"/><Relationship Id="rId4" Type="http://schemas.openxmlformats.org/officeDocument/2006/relationships/image" Target="../media/image2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5.xml"/><Relationship Id="rId5" Type="http://schemas.openxmlformats.org/officeDocument/2006/relationships/image" Target="../media/image46.jpeg"/><Relationship Id="rId4"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a:extLst>
              <a:ext uri="{FF2B5EF4-FFF2-40B4-BE49-F238E27FC236}">
                <a16:creationId xmlns:a16="http://schemas.microsoft.com/office/drawing/2014/main" id="{E4307DDA-2C13-43FE-AAB9-CD2C0C618385}"/>
              </a:ext>
            </a:extLst>
          </p:cNvPr>
          <p:cNvSpPr>
            <a:spLocks noGrp="1" noChangeArrowheads="1"/>
          </p:cNvSpPr>
          <p:nvPr>
            <p:ph type="ctrTitle"/>
          </p:nvPr>
        </p:nvSpPr>
        <p:spPr/>
        <p:txBody>
          <a:bodyPr/>
          <a:lstStyle/>
          <a:p>
            <a:pPr eaLnBrk="1" hangingPunct="1"/>
            <a:r>
              <a:rPr lang="zh-CN" altLang="en-US"/>
              <a:t>第 </a:t>
            </a:r>
            <a:r>
              <a:rPr lang="en-US" altLang="zh-CN"/>
              <a:t>7 </a:t>
            </a:r>
            <a:r>
              <a:rPr lang="zh-CN" altLang="en-US"/>
              <a:t>节</a:t>
            </a:r>
          </a:p>
        </p:txBody>
      </p:sp>
      <p:sp>
        <p:nvSpPr>
          <p:cNvPr id="95235" name="Rectangle 5">
            <a:extLst>
              <a:ext uri="{FF2B5EF4-FFF2-40B4-BE49-F238E27FC236}">
                <a16:creationId xmlns:a16="http://schemas.microsoft.com/office/drawing/2014/main" id="{8F47B5F8-96DC-4BA0-9D63-CCC3B7550474}"/>
              </a:ext>
            </a:extLst>
          </p:cNvPr>
          <p:cNvSpPr>
            <a:spLocks noGrp="1" noChangeArrowheads="1"/>
          </p:cNvSpPr>
          <p:nvPr>
            <p:ph type="subTitle" idx="1"/>
          </p:nvPr>
        </p:nvSpPr>
        <p:spPr/>
        <p:txBody>
          <a:bodyPr/>
          <a:lstStyle/>
          <a:p>
            <a:pPr eaLnBrk="1" hangingPunct="1"/>
            <a:r>
              <a:rPr lang="zh-CN" altLang="en-US" b="0"/>
              <a:t>灵敏度分析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47FFBB69-296E-4831-86E0-B34EB9C510C7}"/>
              </a:ext>
            </a:extLst>
          </p:cNvPr>
          <p:cNvSpPr>
            <a:spLocks noGrp="1" noChangeArrowheads="1"/>
          </p:cNvSpPr>
          <p:nvPr>
            <p:ph type="title"/>
          </p:nvPr>
        </p:nvSpPr>
        <p:spPr/>
        <p:txBody>
          <a:bodyPr/>
          <a:lstStyle/>
          <a:p>
            <a:pPr eaLnBrk="1" hangingPunct="1"/>
            <a:r>
              <a:rPr lang="zh-CN" altLang="en-US"/>
              <a:t>灵敏度分析</a:t>
            </a:r>
          </a:p>
        </p:txBody>
      </p:sp>
      <p:sp>
        <p:nvSpPr>
          <p:cNvPr id="130051" name="Rectangle 3">
            <a:extLst>
              <a:ext uri="{FF2B5EF4-FFF2-40B4-BE49-F238E27FC236}">
                <a16:creationId xmlns:a16="http://schemas.microsoft.com/office/drawing/2014/main" id="{A86B81A4-37E9-4B90-8322-DAA1FD0CB17D}"/>
              </a:ext>
            </a:extLst>
          </p:cNvPr>
          <p:cNvSpPr>
            <a:spLocks noGrp="1" noChangeArrowheads="1"/>
          </p:cNvSpPr>
          <p:nvPr>
            <p:ph type="body" idx="1"/>
          </p:nvPr>
        </p:nvSpPr>
        <p:spPr>
          <a:xfrm>
            <a:off x="1905000" y="1219200"/>
            <a:ext cx="8229600" cy="2514600"/>
          </a:xfrm>
        </p:spPr>
        <p:txBody>
          <a:bodyPr/>
          <a:lstStyle/>
          <a:p>
            <a:pPr eaLnBrk="1" hangingPunct="1"/>
            <a:r>
              <a:rPr lang="zh-CN" altLang="en-US">
                <a:latin typeface="宋体" panose="02010600030101010101" pitchFamily="2" charset="-122"/>
              </a:rPr>
              <a:t>又称为后优化分析，是对系统或事物因为外界条件变化显示出来的敏感程度的分析</a:t>
            </a:r>
          </a:p>
          <a:p>
            <a:pPr eaLnBrk="1" hangingPunct="1"/>
            <a:r>
              <a:rPr lang="zh-CN" altLang="en-US">
                <a:latin typeface="宋体" panose="02010600030101010101" pitchFamily="2" charset="-122"/>
              </a:rPr>
              <a:t>当这些系数中的一个或几个改变后，问题的最优解会有什么变化？</a:t>
            </a:r>
          </a:p>
          <a:p>
            <a:pPr eaLnBrk="1" hangingPunct="1"/>
            <a:r>
              <a:rPr lang="zh-CN" altLang="en-US">
                <a:latin typeface="宋体" panose="02010600030101010101" pitchFamily="2" charset="-122"/>
              </a:rPr>
              <a:t>这些参数在什么范围变化时，问题的最优解不变？</a:t>
            </a:r>
          </a:p>
        </p:txBody>
      </p:sp>
      <p:sp>
        <p:nvSpPr>
          <p:cNvPr id="4" name="Rectangle 3">
            <a:extLst>
              <a:ext uri="{FF2B5EF4-FFF2-40B4-BE49-F238E27FC236}">
                <a16:creationId xmlns:a16="http://schemas.microsoft.com/office/drawing/2014/main" id="{92B164BB-D7A7-4078-B8A4-51F2496201EA}"/>
              </a:ext>
            </a:extLst>
          </p:cNvPr>
          <p:cNvSpPr txBox="1">
            <a:spLocks noChangeArrowheads="1"/>
          </p:cNvSpPr>
          <p:nvPr/>
        </p:nvSpPr>
        <p:spPr bwMode="auto">
          <a:xfrm>
            <a:off x="2057400" y="4572000"/>
            <a:ext cx="8153400" cy="1600200"/>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eaLnBrk="1" hangingPunct="1">
              <a:buClr>
                <a:srgbClr val="CC9900"/>
              </a:buClr>
              <a:defRPr/>
            </a:pPr>
            <a:r>
              <a:rPr lang="zh-CN" altLang="en-US" kern="0" dirty="0">
                <a:solidFill>
                  <a:srgbClr val="000000"/>
                </a:solidFill>
                <a:latin typeface="Arial"/>
                <a:ea typeface="宋体"/>
              </a:rPr>
              <a:t>原线性规划问题已取得了最优解；</a:t>
            </a:r>
            <a:endParaRPr lang="en-US" altLang="zh-CN" kern="0" dirty="0">
              <a:solidFill>
                <a:srgbClr val="000000"/>
              </a:solidFill>
              <a:latin typeface="Arial"/>
              <a:ea typeface="宋体"/>
            </a:endParaRPr>
          </a:p>
          <a:p>
            <a:pPr eaLnBrk="1" hangingPunct="1">
              <a:buClr>
                <a:srgbClr val="CC9900"/>
              </a:buClr>
              <a:defRPr/>
            </a:pPr>
            <a:r>
              <a:rPr lang="zh-CN" altLang="en-US" kern="0" dirty="0">
                <a:solidFill>
                  <a:srgbClr val="000000"/>
                </a:solidFill>
                <a:latin typeface="Arial"/>
                <a:ea typeface="宋体"/>
              </a:rPr>
              <a:t>每次只讨论一种参数的变化，而参数之间的变化互不关联。</a:t>
            </a:r>
            <a:endParaRPr kumimoji="1" lang="zh-CN" altLang="en-US" kern="0" dirty="0">
              <a:solidFill>
                <a:srgbClr val="000000"/>
              </a:solidFill>
              <a:latin typeface="Arial"/>
              <a:ea typeface="宋体"/>
            </a:endParaRPr>
          </a:p>
        </p:txBody>
      </p:sp>
      <p:sp>
        <p:nvSpPr>
          <p:cNvPr id="2" name="矩形 1">
            <a:extLst>
              <a:ext uri="{FF2B5EF4-FFF2-40B4-BE49-F238E27FC236}">
                <a16:creationId xmlns:a16="http://schemas.microsoft.com/office/drawing/2014/main" id="{C05ED0AE-B75C-4869-9A56-A775995135DF}"/>
              </a:ext>
            </a:extLst>
          </p:cNvPr>
          <p:cNvSpPr/>
          <p:nvPr/>
        </p:nvSpPr>
        <p:spPr>
          <a:xfrm>
            <a:off x="2151064" y="3757614"/>
            <a:ext cx="2344737" cy="738187"/>
          </a:xfrm>
          <a:prstGeom prst="rect">
            <a:avLst/>
          </a:prstGeom>
        </p:spPr>
        <p:txBody>
          <a:bodyPr wrap="none">
            <a:spAutoFit/>
          </a:bodyPr>
          <a:lstStyle/>
          <a:p>
            <a:pPr eaLnBrk="0" fontAlgn="base" hangingPunct="0">
              <a:spcBef>
                <a:spcPct val="0"/>
              </a:spcBef>
              <a:spcAft>
                <a:spcPct val="0"/>
              </a:spcAft>
              <a:defRPr/>
            </a:pPr>
            <a:r>
              <a:rPr lang="zh-CN" altLang="en-US" sz="4200" b="1" dirty="0">
                <a:solidFill>
                  <a:srgbClr val="006633"/>
                </a:solidFill>
                <a:latin typeface="Garamond"/>
                <a:ea typeface="宋体"/>
              </a:rPr>
              <a:t>前提条件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blinds(horizontal)">
                                      <p:cBhvr>
                                        <p:cTn id="7" dur="500"/>
                                        <p:tgtEl>
                                          <p:spTgt spid="1300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0051">
                                            <p:txEl>
                                              <p:pRg st="1" end="1"/>
                                            </p:txEl>
                                          </p:spTgt>
                                        </p:tgtEl>
                                        <p:attrNameLst>
                                          <p:attrName>style.visibility</p:attrName>
                                        </p:attrNameLst>
                                      </p:cBhvr>
                                      <p:to>
                                        <p:strVal val="visible"/>
                                      </p:to>
                                    </p:set>
                                    <p:animEffect transition="in" filter="blinds(horizontal)">
                                      <p:cBhvr>
                                        <p:cTn id="12" dur="500"/>
                                        <p:tgtEl>
                                          <p:spTgt spid="1300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0051">
                                            <p:txEl>
                                              <p:pRg st="2" end="2"/>
                                            </p:txEl>
                                          </p:spTgt>
                                        </p:tgtEl>
                                        <p:attrNameLst>
                                          <p:attrName>style.visibility</p:attrName>
                                        </p:attrNameLst>
                                      </p:cBhvr>
                                      <p:to>
                                        <p:strVal val="visible"/>
                                      </p:to>
                                    </p:set>
                                    <p:animEffect transition="in" filter="blinds(horizontal)">
                                      <p:cBhvr>
                                        <p:cTn id="17" dur="500"/>
                                        <p:tgtEl>
                                          <p:spTgt spid="1300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ABDFC6D3-B42B-451F-ADD1-4A1F843EA601}"/>
              </a:ext>
            </a:extLst>
          </p:cNvPr>
          <p:cNvSpPr>
            <a:spLocks noGrp="1" noChangeArrowheads="1"/>
          </p:cNvSpPr>
          <p:nvPr>
            <p:ph type="title"/>
          </p:nvPr>
        </p:nvSpPr>
        <p:spPr/>
        <p:txBody>
          <a:bodyPr/>
          <a:lstStyle/>
          <a:p>
            <a:pPr eaLnBrk="1" hangingPunct="1"/>
            <a:r>
              <a:rPr lang="zh-CN" altLang="en-US"/>
              <a:t>分析方法</a:t>
            </a:r>
          </a:p>
        </p:txBody>
      </p:sp>
      <p:sp>
        <p:nvSpPr>
          <p:cNvPr id="97283" name="Rectangle 3">
            <a:extLst>
              <a:ext uri="{FF2B5EF4-FFF2-40B4-BE49-F238E27FC236}">
                <a16:creationId xmlns:a16="http://schemas.microsoft.com/office/drawing/2014/main" id="{87FB64A1-6E1B-4648-BCE3-CF932F36226B}"/>
              </a:ext>
            </a:extLst>
          </p:cNvPr>
          <p:cNvSpPr>
            <a:spLocks noGrp="1" noChangeArrowheads="1"/>
          </p:cNvSpPr>
          <p:nvPr>
            <p:ph type="body" sz="half" idx="1"/>
          </p:nvPr>
        </p:nvSpPr>
        <p:spPr>
          <a:xfrm>
            <a:off x="1981200" y="1600200"/>
            <a:ext cx="8153400" cy="2287588"/>
          </a:xfrm>
        </p:spPr>
        <p:txBody>
          <a:bodyPr/>
          <a:lstStyle/>
          <a:p>
            <a:pPr eaLnBrk="1" hangingPunct="1"/>
            <a:r>
              <a:rPr kumimoji="1" lang="zh-CN" altLang="en-US"/>
              <a:t>单纯形法迭代中，运算主要和基变量的系数矩阵</a:t>
            </a:r>
            <a:r>
              <a:rPr kumimoji="1" lang="en-US" altLang="zh-CN"/>
              <a:t>B</a:t>
            </a:r>
            <a:r>
              <a:rPr kumimoji="1" lang="zh-CN" altLang="en-US"/>
              <a:t>有关。因此个别系数的改变可以经过一定计算后直接填入到最终表中并进行检查和分析，按如下几种情况处理</a:t>
            </a:r>
          </a:p>
        </p:txBody>
      </p:sp>
      <p:graphicFrame>
        <p:nvGraphicFramePr>
          <p:cNvPr id="131112" name="Group 40">
            <a:extLst>
              <a:ext uri="{FF2B5EF4-FFF2-40B4-BE49-F238E27FC236}">
                <a16:creationId xmlns:a16="http://schemas.microsoft.com/office/drawing/2014/main" id="{FDA8DFDF-375A-4F59-947D-836230777923}"/>
              </a:ext>
            </a:extLst>
          </p:cNvPr>
          <p:cNvGraphicFramePr>
            <a:graphicFrameLocks noGrp="1"/>
          </p:cNvGraphicFramePr>
          <p:nvPr>
            <p:ph sz="half" idx="2"/>
          </p:nvPr>
        </p:nvGraphicFramePr>
        <p:xfrm>
          <a:off x="2209800" y="3581401"/>
          <a:ext cx="8001000" cy="2362201"/>
        </p:xfrm>
        <a:graphic>
          <a:graphicData uri="http://schemas.openxmlformats.org/drawingml/2006/table">
            <a:tbl>
              <a:tblPr/>
              <a:tblGrid>
                <a:gridCol w="1754188">
                  <a:extLst>
                    <a:ext uri="{9D8B030D-6E8A-4147-A177-3AD203B41FA5}">
                      <a16:colId xmlns:a16="http://schemas.microsoft.com/office/drawing/2014/main" val="20000"/>
                    </a:ext>
                  </a:extLst>
                </a:gridCol>
                <a:gridCol w="1598612">
                  <a:extLst>
                    <a:ext uri="{9D8B030D-6E8A-4147-A177-3AD203B41FA5}">
                      <a16:colId xmlns:a16="http://schemas.microsoft.com/office/drawing/2014/main" val="20001"/>
                    </a:ext>
                  </a:extLst>
                </a:gridCol>
                <a:gridCol w="4648200">
                  <a:extLst>
                    <a:ext uri="{9D8B030D-6E8A-4147-A177-3AD203B41FA5}">
                      <a16:colId xmlns:a16="http://schemas.microsoft.com/office/drawing/2014/main" val="20002"/>
                    </a:ext>
                  </a:extLst>
                </a:gridCol>
              </a:tblGrid>
              <a:tr h="4730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原问题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对偶问题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结论或继续计算步骤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问题的最优解或最优基不变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highlight>
                            <a:srgbClr val="FFFF00"/>
                          </a:highlight>
                          <a:latin typeface="宋体" pitchFamily="2" charset="-122"/>
                          <a:ea typeface="宋体" pitchFamily="2" charset="-122"/>
                        </a:rPr>
                        <a:t>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highlight>
                            <a:srgbClr val="FFFF00"/>
                          </a:highlight>
                          <a:latin typeface="宋体" pitchFamily="2" charset="-122"/>
                          <a:ea typeface="宋体" pitchFamily="2" charset="-122"/>
                        </a:rPr>
                        <a:t>非可行解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highlight>
                            <a:srgbClr val="FFFF00"/>
                          </a:highlight>
                          <a:latin typeface="宋体" pitchFamily="2" charset="-122"/>
                          <a:ea typeface="宋体" pitchFamily="2" charset="-122"/>
                        </a:rPr>
                        <a:t>用单纯形法继续迭代求最优解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非可行解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a:ln>
                            <a:noFill/>
                          </a:ln>
                          <a:solidFill>
                            <a:schemeClr val="tx1"/>
                          </a:solidFill>
                          <a:effectLst/>
                          <a:latin typeface="宋体" pitchFamily="2" charset="-122"/>
                          <a:ea typeface="宋体" pitchFamily="2" charset="-122"/>
                        </a:rPr>
                        <a:t>用对偶单纯形法继续迭代求最优解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非可行解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非可行解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zh-CN" altLang="en-US" sz="2000" b="1" i="0" u="none" strike="noStrike" cap="none" normalizeH="0" baseline="0" dirty="0">
                          <a:ln>
                            <a:noFill/>
                          </a:ln>
                          <a:solidFill>
                            <a:schemeClr val="tx1"/>
                          </a:solidFill>
                          <a:effectLst/>
                          <a:latin typeface="宋体" pitchFamily="2" charset="-122"/>
                          <a:ea typeface="宋体" pitchFamily="2" charset="-122"/>
                        </a:rPr>
                        <a:t>引进人工变量，编制新的单纯形表计算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1112"/>
                                        </p:tgtEl>
                                        <p:attrNameLst>
                                          <p:attrName>style.visibility</p:attrName>
                                        </p:attrNameLst>
                                      </p:cBhvr>
                                      <p:to>
                                        <p:strVal val="visible"/>
                                      </p:to>
                                    </p:set>
                                    <p:anim calcmode="lin" valueType="num">
                                      <p:cBhvr additive="base">
                                        <p:cTn id="7" dur="500" fill="hold"/>
                                        <p:tgtEl>
                                          <p:spTgt spid="131112"/>
                                        </p:tgtEl>
                                        <p:attrNameLst>
                                          <p:attrName>ppt_x</p:attrName>
                                        </p:attrNameLst>
                                      </p:cBhvr>
                                      <p:tavLst>
                                        <p:tav tm="0">
                                          <p:val>
                                            <p:strVal val="0-#ppt_w/2"/>
                                          </p:val>
                                        </p:tav>
                                        <p:tav tm="100000">
                                          <p:val>
                                            <p:strVal val="#ppt_x"/>
                                          </p:val>
                                        </p:tav>
                                      </p:tavLst>
                                    </p:anim>
                                    <p:anim calcmode="lin" valueType="num">
                                      <p:cBhvr additive="base">
                                        <p:cTn id="8" dur="500" fill="hold"/>
                                        <p:tgtEl>
                                          <p:spTgt spid="1311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BC594F2-6754-459A-9F29-FE7D354EED50}"/>
              </a:ext>
            </a:extLst>
          </p:cNvPr>
          <p:cNvSpPr>
            <a:spLocks noGrp="1" noChangeArrowheads="1"/>
          </p:cNvSpPr>
          <p:nvPr>
            <p:ph type="title"/>
          </p:nvPr>
        </p:nvSpPr>
        <p:spPr>
          <a:xfrm>
            <a:off x="1981200" y="231776"/>
            <a:ext cx="8229600" cy="1139825"/>
          </a:xfrm>
        </p:spPr>
        <p:txBody>
          <a:bodyPr/>
          <a:lstStyle/>
          <a:p>
            <a:pPr eaLnBrk="1" hangingPunct="1"/>
            <a:r>
              <a:rPr lang="zh-CN" altLang="en-US"/>
              <a:t>可能的变化</a:t>
            </a:r>
          </a:p>
        </p:txBody>
      </p:sp>
      <p:graphicFrame>
        <p:nvGraphicFramePr>
          <p:cNvPr id="98307" name="对象 11">
            <a:extLst>
              <a:ext uri="{FF2B5EF4-FFF2-40B4-BE49-F238E27FC236}">
                <a16:creationId xmlns:a16="http://schemas.microsoft.com/office/drawing/2014/main" id="{F228714B-466B-4D65-BF7C-78C2E52006E1}"/>
              </a:ext>
            </a:extLst>
          </p:cNvPr>
          <p:cNvGraphicFramePr>
            <a:graphicFrameLocks noChangeAspect="1"/>
          </p:cNvGraphicFramePr>
          <p:nvPr/>
        </p:nvGraphicFramePr>
        <p:xfrm>
          <a:off x="4452938" y="962026"/>
          <a:ext cx="2557462" cy="2112963"/>
        </p:xfrm>
        <a:graphic>
          <a:graphicData uri="http://schemas.openxmlformats.org/presentationml/2006/ole">
            <mc:AlternateContent xmlns:mc="http://schemas.openxmlformats.org/markup-compatibility/2006">
              <mc:Choice xmlns:v="urn:schemas-microsoft-com:vml" Requires="v">
                <p:oleObj spid="_x0000_s1026" name="Equation" r:id="rId3" imgW="583947" imgH="482391" progId="Equation.DSMT4">
                  <p:embed/>
                </p:oleObj>
              </mc:Choice>
              <mc:Fallback>
                <p:oleObj name="Equation" r:id="rId3" imgW="583947" imgH="482391" progId="Equation.DSMT4">
                  <p:embed/>
                  <p:pic>
                    <p:nvPicPr>
                      <p:cNvPr id="98307" name="对象 11">
                        <a:extLst>
                          <a:ext uri="{FF2B5EF4-FFF2-40B4-BE49-F238E27FC236}">
                            <a16:creationId xmlns:a16="http://schemas.microsoft.com/office/drawing/2014/main" id="{F228714B-466B-4D65-BF7C-78C2E5200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2938" y="962026"/>
                        <a:ext cx="2557462" cy="21129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08" name="对象 10">
            <a:extLst>
              <a:ext uri="{FF2B5EF4-FFF2-40B4-BE49-F238E27FC236}">
                <a16:creationId xmlns:a16="http://schemas.microsoft.com/office/drawing/2014/main" id="{675A0E72-0E6B-4646-A438-A02C4F1A0E3B}"/>
              </a:ext>
            </a:extLst>
          </p:cNvPr>
          <p:cNvGraphicFramePr>
            <a:graphicFrameLocks noChangeAspect="1"/>
          </p:cNvGraphicFramePr>
          <p:nvPr/>
        </p:nvGraphicFramePr>
        <p:xfrm>
          <a:off x="5943600" y="2700339"/>
          <a:ext cx="914400" cy="180975"/>
        </p:xfrm>
        <a:graphic>
          <a:graphicData uri="http://schemas.openxmlformats.org/presentationml/2006/ole">
            <mc:AlternateContent xmlns:mc="http://schemas.openxmlformats.org/markup-compatibility/2006">
              <mc:Choice xmlns:v="urn:schemas-microsoft-com:vml" Requires="v">
                <p:oleObj spid="_x0000_s1027" name="Equation" r:id="rId5" imgW="438364" imgH="657546" progId="Equation.DSMT4">
                  <p:embed/>
                </p:oleObj>
              </mc:Choice>
              <mc:Fallback>
                <p:oleObj name="Equation" r:id="rId5" imgW="438364" imgH="657546" progId="Equation.DSMT4">
                  <p:embed/>
                  <p:pic>
                    <p:nvPicPr>
                      <p:cNvPr id="98308" name="对象 10">
                        <a:extLst>
                          <a:ext uri="{FF2B5EF4-FFF2-40B4-BE49-F238E27FC236}">
                            <a16:creationId xmlns:a16="http://schemas.microsoft.com/office/drawing/2014/main" id="{675A0E72-0E6B-4646-A438-A02C4F1A0E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2700339"/>
                        <a:ext cx="914400"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 name="组合 17">
            <a:extLst>
              <a:ext uri="{FF2B5EF4-FFF2-40B4-BE49-F238E27FC236}">
                <a16:creationId xmlns:a16="http://schemas.microsoft.com/office/drawing/2014/main" id="{2F9F037D-A8B4-492E-B5A4-89A6C5935B5D}"/>
              </a:ext>
            </a:extLst>
          </p:cNvPr>
          <p:cNvGrpSpPr>
            <a:grpSpLocks/>
          </p:cNvGrpSpPr>
          <p:nvPr/>
        </p:nvGrpSpPr>
        <p:grpSpPr bwMode="auto">
          <a:xfrm>
            <a:off x="6934200" y="1724025"/>
            <a:ext cx="3505200" cy="419100"/>
            <a:chOff x="5105400" y="2362200"/>
            <a:chExt cx="3505200" cy="419100"/>
          </a:xfrm>
        </p:grpSpPr>
        <p:graphicFrame>
          <p:nvGraphicFramePr>
            <p:cNvPr id="98328" name="对象 11">
              <a:extLst>
                <a:ext uri="{FF2B5EF4-FFF2-40B4-BE49-F238E27FC236}">
                  <a16:creationId xmlns:a16="http://schemas.microsoft.com/office/drawing/2014/main" id="{197326D9-7869-445D-8B15-DDE19CEE6623}"/>
                </a:ext>
              </a:extLst>
            </p:cNvPr>
            <p:cNvGraphicFramePr>
              <a:graphicFrameLocks noChangeAspect="1"/>
            </p:cNvGraphicFramePr>
            <p:nvPr/>
          </p:nvGraphicFramePr>
          <p:xfrm>
            <a:off x="5597525" y="2362200"/>
            <a:ext cx="3013075" cy="419100"/>
          </p:xfrm>
          <a:graphic>
            <a:graphicData uri="http://schemas.openxmlformats.org/presentationml/2006/ole">
              <mc:AlternateContent xmlns:mc="http://schemas.openxmlformats.org/markup-compatibility/2006">
                <mc:Choice xmlns:v="urn:schemas-microsoft-com:vml" Requires="v">
                  <p:oleObj spid="_x0000_s1028" name="Equation" r:id="rId7" imgW="1371600" imgH="190500" progId="Equation.DSMT4">
                    <p:embed/>
                  </p:oleObj>
                </mc:Choice>
                <mc:Fallback>
                  <p:oleObj name="Equation" r:id="rId7" imgW="1371600" imgH="190500" progId="Equation.DSMT4">
                    <p:embed/>
                    <p:pic>
                      <p:nvPicPr>
                        <p:cNvPr id="98328" name="对象 11">
                          <a:extLst>
                            <a:ext uri="{FF2B5EF4-FFF2-40B4-BE49-F238E27FC236}">
                              <a16:creationId xmlns:a16="http://schemas.microsoft.com/office/drawing/2014/main" id="{197326D9-7869-445D-8B15-DDE19CEE66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97525" y="2362200"/>
                          <a:ext cx="3013075" cy="4191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5" name="直接箭头连接符 14">
              <a:extLst>
                <a:ext uri="{FF2B5EF4-FFF2-40B4-BE49-F238E27FC236}">
                  <a16:creationId xmlns:a16="http://schemas.microsoft.com/office/drawing/2014/main" id="{393184EF-3E3B-47FF-8126-CBCB7D969D11}"/>
                </a:ext>
              </a:extLst>
            </p:cNvPr>
            <p:cNvCxnSpPr>
              <a:cxnSpLocks/>
            </p:cNvCxnSpPr>
            <p:nvPr/>
          </p:nvCxnSpPr>
          <p:spPr>
            <a:xfrm>
              <a:off x="5105400" y="2590800"/>
              <a:ext cx="457200" cy="0"/>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B8E81EF0-609C-4759-A392-A1BF52E4AD26}"/>
              </a:ext>
            </a:extLst>
          </p:cNvPr>
          <p:cNvGrpSpPr>
            <a:grpSpLocks/>
          </p:cNvGrpSpPr>
          <p:nvPr/>
        </p:nvGrpSpPr>
        <p:grpSpPr bwMode="auto">
          <a:xfrm>
            <a:off x="4991100" y="334964"/>
            <a:ext cx="3238500" cy="782637"/>
            <a:chOff x="3162300" y="973138"/>
            <a:chExt cx="3238500" cy="783148"/>
          </a:xfrm>
        </p:grpSpPr>
        <p:graphicFrame>
          <p:nvGraphicFramePr>
            <p:cNvPr id="98326" name="对象 15">
              <a:extLst>
                <a:ext uri="{FF2B5EF4-FFF2-40B4-BE49-F238E27FC236}">
                  <a16:creationId xmlns:a16="http://schemas.microsoft.com/office/drawing/2014/main" id="{8606C4C9-609B-4863-B563-0E7D022EB169}"/>
                </a:ext>
              </a:extLst>
            </p:cNvPr>
            <p:cNvGraphicFramePr>
              <a:graphicFrameLocks noChangeAspect="1"/>
            </p:cNvGraphicFramePr>
            <p:nvPr/>
          </p:nvGraphicFramePr>
          <p:xfrm>
            <a:off x="3162300" y="973138"/>
            <a:ext cx="3238500" cy="474662"/>
          </p:xfrm>
          <a:graphic>
            <a:graphicData uri="http://schemas.openxmlformats.org/presentationml/2006/ole">
              <mc:AlternateContent xmlns:mc="http://schemas.openxmlformats.org/markup-compatibility/2006">
                <mc:Choice xmlns:v="urn:schemas-microsoft-com:vml" Requires="v">
                  <p:oleObj spid="_x0000_s1029" name="Equation" r:id="rId9" imgW="1473200" imgH="215900" progId="Equation.DSMT4">
                    <p:embed/>
                  </p:oleObj>
                </mc:Choice>
                <mc:Fallback>
                  <p:oleObj name="Equation" r:id="rId9" imgW="1473200" imgH="215900" progId="Equation.DSMT4">
                    <p:embed/>
                    <p:pic>
                      <p:nvPicPr>
                        <p:cNvPr id="98326" name="对象 15">
                          <a:extLst>
                            <a:ext uri="{FF2B5EF4-FFF2-40B4-BE49-F238E27FC236}">
                              <a16:creationId xmlns:a16="http://schemas.microsoft.com/office/drawing/2014/main" id="{8606C4C9-609B-4863-B563-0E7D022EB16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2300" y="973138"/>
                          <a:ext cx="3238500" cy="47466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2" name="直接箭头连接符 21">
              <a:extLst>
                <a:ext uri="{FF2B5EF4-FFF2-40B4-BE49-F238E27FC236}">
                  <a16:creationId xmlns:a16="http://schemas.microsoft.com/office/drawing/2014/main" id="{F1CD4194-7745-4475-900C-3179C7BC42E7}"/>
                </a:ext>
              </a:extLst>
            </p:cNvPr>
            <p:cNvCxnSpPr>
              <a:cxnSpLocks/>
            </p:cNvCxnSpPr>
            <p:nvPr/>
          </p:nvCxnSpPr>
          <p:spPr>
            <a:xfrm flipV="1">
              <a:off x="4572000" y="1448110"/>
              <a:ext cx="0" cy="308176"/>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4D0A9C1C-39F6-451F-B151-878F843E3C97}"/>
              </a:ext>
            </a:extLst>
          </p:cNvPr>
          <p:cNvGrpSpPr>
            <a:grpSpLocks/>
          </p:cNvGrpSpPr>
          <p:nvPr/>
        </p:nvGrpSpPr>
        <p:grpSpPr bwMode="auto">
          <a:xfrm>
            <a:off x="2209800" y="5316538"/>
            <a:ext cx="5791200" cy="531812"/>
            <a:chOff x="685800" y="5686425"/>
            <a:chExt cx="5791200" cy="531813"/>
          </a:xfrm>
        </p:grpSpPr>
        <p:graphicFrame>
          <p:nvGraphicFramePr>
            <p:cNvPr id="98324" name="对象 24">
              <a:extLst>
                <a:ext uri="{FF2B5EF4-FFF2-40B4-BE49-F238E27FC236}">
                  <a16:creationId xmlns:a16="http://schemas.microsoft.com/office/drawing/2014/main" id="{6FEF8A89-7F45-4412-ADD0-FC0955AA5B56}"/>
                </a:ext>
              </a:extLst>
            </p:cNvPr>
            <p:cNvGraphicFramePr>
              <a:graphicFrameLocks noChangeAspect="1"/>
            </p:cNvGraphicFramePr>
            <p:nvPr/>
          </p:nvGraphicFramePr>
          <p:xfrm>
            <a:off x="2701925" y="5686425"/>
            <a:ext cx="3775075" cy="531813"/>
          </p:xfrm>
          <a:graphic>
            <a:graphicData uri="http://schemas.openxmlformats.org/presentationml/2006/ole">
              <mc:AlternateContent xmlns:mc="http://schemas.openxmlformats.org/markup-compatibility/2006">
                <mc:Choice xmlns:v="urn:schemas-microsoft-com:vml" Requires="v">
                  <p:oleObj spid="_x0000_s1030" name="Equation" r:id="rId11" imgW="1714500" imgH="241300" progId="Equation.DSMT4">
                    <p:embed/>
                  </p:oleObj>
                </mc:Choice>
                <mc:Fallback>
                  <p:oleObj name="Equation" r:id="rId11" imgW="1714500" imgH="241300" progId="Equation.DSMT4">
                    <p:embed/>
                    <p:pic>
                      <p:nvPicPr>
                        <p:cNvPr id="98324" name="对象 24">
                          <a:extLst>
                            <a:ext uri="{FF2B5EF4-FFF2-40B4-BE49-F238E27FC236}">
                              <a16:creationId xmlns:a16="http://schemas.microsoft.com/office/drawing/2014/main" id="{6FEF8A89-7F45-4412-ADD0-FC0955AA5B5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1925" y="5686425"/>
                          <a:ext cx="3775075"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25" name="矩形 28">
              <a:extLst>
                <a:ext uri="{FF2B5EF4-FFF2-40B4-BE49-F238E27FC236}">
                  <a16:creationId xmlns:a16="http://schemas.microsoft.com/office/drawing/2014/main" id="{A0178712-E430-459F-9E94-BF46EAFC07D4}"/>
                </a:ext>
              </a:extLst>
            </p:cNvPr>
            <p:cNvSpPr>
              <a:spLocks noChangeArrowheads="1"/>
            </p:cNvSpPr>
            <p:nvPr/>
          </p:nvSpPr>
          <p:spPr bwMode="auto">
            <a:xfrm>
              <a:off x="685800" y="5752812"/>
              <a:ext cx="19716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pPr>
              <a:r>
                <a:rPr kumimoji="1" lang="en-US" altLang="zh-CN">
                  <a:solidFill>
                    <a:srgbClr val="FF0000"/>
                  </a:solidFill>
                  <a:latin typeface="Times New Roman" panose="02020603050405020304" pitchFamily="18" charset="0"/>
                </a:rPr>
                <a:t>3.3</a:t>
              </a:r>
              <a:r>
                <a:rPr kumimoji="1" lang="zh-CN" altLang="en-US">
                  <a:solidFill>
                    <a:srgbClr val="FF0000"/>
                  </a:solidFill>
                  <a:latin typeface="Times New Roman" panose="02020603050405020304" pitchFamily="18" charset="0"/>
                </a:rPr>
                <a:t>新增约束条件</a:t>
              </a:r>
              <a:endParaRPr lang="zh-CN" altLang="en-US">
                <a:solidFill>
                  <a:srgbClr val="FF0000"/>
                </a:solidFill>
              </a:endParaRPr>
            </a:p>
          </p:txBody>
        </p:sp>
      </p:grpSp>
      <p:grpSp>
        <p:nvGrpSpPr>
          <p:cNvPr id="38" name="组合 37">
            <a:extLst>
              <a:ext uri="{FF2B5EF4-FFF2-40B4-BE49-F238E27FC236}">
                <a16:creationId xmlns:a16="http://schemas.microsoft.com/office/drawing/2014/main" id="{4332BAF3-F3A1-4B96-964C-A3AB0D5C54EE}"/>
              </a:ext>
            </a:extLst>
          </p:cNvPr>
          <p:cNvGrpSpPr>
            <a:grpSpLocks/>
          </p:cNvGrpSpPr>
          <p:nvPr/>
        </p:nvGrpSpPr>
        <p:grpSpPr bwMode="auto">
          <a:xfrm>
            <a:off x="7712075" y="2819401"/>
            <a:ext cx="1524000" cy="2557463"/>
            <a:chOff x="6188074" y="3188725"/>
            <a:chExt cx="1524000" cy="2558025"/>
          </a:xfrm>
        </p:grpSpPr>
        <p:sp>
          <p:nvSpPr>
            <p:cNvPr id="24" name="矩形 23">
              <a:extLst>
                <a:ext uri="{FF2B5EF4-FFF2-40B4-BE49-F238E27FC236}">
                  <a16:creationId xmlns:a16="http://schemas.microsoft.com/office/drawing/2014/main" id="{22EBD60A-14D3-44AE-BD74-E31EAC27EFE9}"/>
                </a:ext>
              </a:extLst>
            </p:cNvPr>
            <p:cNvSpPr/>
            <p:nvPr/>
          </p:nvSpPr>
          <p:spPr>
            <a:xfrm>
              <a:off x="6188074" y="3188725"/>
              <a:ext cx="1524000" cy="369969"/>
            </a:xfrm>
            <a:prstGeom prst="rect">
              <a:avLst/>
            </a:prstGeom>
          </p:spPr>
          <p:txBody>
            <a:bodyPr>
              <a:spAutoFit/>
            </a:bodyPr>
            <a:lstStyle/>
            <a:p>
              <a:pPr eaLnBrk="0" fontAlgn="base" hangingPunct="0">
                <a:spcBef>
                  <a:spcPct val="0"/>
                </a:spcBef>
                <a:spcAft>
                  <a:spcPct val="0"/>
                </a:spcAft>
                <a:defRPr/>
              </a:pPr>
              <a:r>
                <a:rPr lang="en-US" altLang="zh-CN" kern="0" dirty="0">
                  <a:solidFill>
                    <a:srgbClr val="FF00FF"/>
                  </a:solidFill>
                  <a:latin typeface="Arial" panose="020B0604020202020204" pitchFamily="34" charset="0"/>
                  <a:ea typeface="宋体" panose="02010600030101010101" pitchFamily="2" charset="-122"/>
                </a:rPr>
                <a:t>3.1</a:t>
              </a:r>
              <a:r>
                <a:rPr lang="zh-CN" altLang="en-US" kern="0" dirty="0">
                  <a:solidFill>
                    <a:srgbClr val="FF00FF"/>
                  </a:solidFill>
                  <a:latin typeface="Arial" panose="020B0604020202020204" pitchFamily="34" charset="0"/>
                  <a:ea typeface="宋体" panose="02010600030101010101" pitchFamily="2" charset="-122"/>
                </a:rPr>
                <a:t>新增变量</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98323" name="对象 39">
              <a:extLst>
                <a:ext uri="{FF2B5EF4-FFF2-40B4-BE49-F238E27FC236}">
                  <a16:creationId xmlns:a16="http://schemas.microsoft.com/office/drawing/2014/main" id="{A3A4EECD-EF1C-4998-A9FA-F244BA168C83}"/>
                </a:ext>
              </a:extLst>
            </p:cNvPr>
            <p:cNvGraphicFramePr>
              <a:graphicFrameLocks noChangeAspect="1"/>
            </p:cNvGraphicFramePr>
            <p:nvPr/>
          </p:nvGraphicFramePr>
          <p:xfrm>
            <a:off x="6475412" y="3594100"/>
            <a:ext cx="949325" cy="2152650"/>
          </p:xfrm>
          <a:graphic>
            <a:graphicData uri="http://schemas.openxmlformats.org/presentationml/2006/ole">
              <mc:AlternateContent xmlns:mc="http://schemas.openxmlformats.org/markup-compatibility/2006">
                <mc:Choice xmlns:v="urn:schemas-microsoft-com:vml" Requires="v">
                  <p:oleObj spid="_x0000_s1031" name="Equation" r:id="rId13" imgW="431800" imgH="977900" progId="Equation.DSMT4">
                    <p:embed/>
                  </p:oleObj>
                </mc:Choice>
                <mc:Fallback>
                  <p:oleObj name="Equation" r:id="rId13" imgW="431800" imgH="977900" progId="Equation.DSMT4">
                    <p:embed/>
                    <p:pic>
                      <p:nvPicPr>
                        <p:cNvPr id="98323" name="对象 39">
                          <a:extLst>
                            <a:ext uri="{FF2B5EF4-FFF2-40B4-BE49-F238E27FC236}">
                              <a16:creationId xmlns:a16="http://schemas.microsoft.com/office/drawing/2014/main" id="{A3A4EECD-EF1C-4998-A9FA-F244BA168C8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5412" y="3594100"/>
                          <a:ext cx="94932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1" name="组合 40">
            <a:extLst>
              <a:ext uri="{FF2B5EF4-FFF2-40B4-BE49-F238E27FC236}">
                <a16:creationId xmlns:a16="http://schemas.microsoft.com/office/drawing/2014/main" id="{A08C4A39-8510-4233-9A39-D775ACB40E55}"/>
              </a:ext>
            </a:extLst>
          </p:cNvPr>
          <p:cNvGrpSpPr>
            <a:grpSpLocks/>
          </p:cNvGrpSpPr>
          <p:nvPr/>
        </p:nvGrpSpPr>
        <p:grpSpPr bwMode="auto">
          <a:xfrm>
            <a:off x="2286000" y="3262313"/>
            <a:ext cx="3309938" cy="2127250"/>
            <a:chOff x="762000" y="3631642"/>
            <a:chExt cx="3310599" cy="2127808"/>
          </a:xfrm>
        </p:grpSpPr>
        <p:sp>
          <p:nvSpPr>
            <p:cNvPr id="98319" name="矩形 27">
              <a:extLst>
                <a:ext uri="{FF2B5EF4-FFF2-40B4-BE49-F238E27FC236}">
                  <a16:creationId xmlns:a16="http://schemas.microsoft.com/office/drawing/2014/main" id="{D56D4911-DCD1-4ACE-AA07-561AA079922A}"/>
                </a:ext>
              </a:extLst>
            </p:cNvPr>
            <p:cNvSpPr>
              <a:spLocks noChangeArrowheads="1"/>
            </p:cNvSpPr>
            <p:nvPr/>
          </p:nvSpPr>
          <p:spPr bwMode="auto">
            <a:xfrm>
              <a:off x="762000" y="4226921"/>
              <a:ext cx="1524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0" fontAlgn="base" hangingPunct="0">
                <a:spcBef>
                  <a:spcPct val="0"/>
                </a:spcBef>
                <a:spcAft>
                  <a:spcPct val="0"/>
                </a:spcAft>
              </a:pPr>
              <a:r>
                <a:rPr kumimoji="1" lang="en-US" altLang="zh-CN">
                  <a:solidFill>
                    <a:srgbClr val="0000FF"/>
                  </a:solidFill>
                  <a:latin typeface="Times New Roman" panose="02020603050405020304" pitchFamily="18" charset="0"/>
                </a:rPr>
                <a:t>3.2</a:t>
              </a:r>
              <a:r>
                <a:rPr kumimoji="1" lang="zh-CN" altLang="en-US">
                  <a:solidFill>
                    <a:srgbClr val="0000FF"/>
                  </a:solidFill>
                  <a:latin typeface="Times New Roman" panose="02020603050405020304" pitchFamily="18" charset="0"/>
                </a:rPr>
                <a:t>原有系数发生改变</a:t>
              </a:r>
              <a:endParaRPr lang="zh-CN" altLang="en-US">
                <a:solidFill>
                  <a:srgbClr val="0000FF"/>
                </a:solidFill>
              </a:endParaRPr>
            </a:p>
          </p:txBody>
        </p:sp>
        <p:cxnSp>
          <p:nvCxnSpPr>
            <p:cNvPr id="35" name="直接箭头连接符 34">
              <a:extLst>
                <a:ext uri="{FF2B5EF4-FFF2-40B4-BE49-F238E27FC236}">
                  <a16:creationId xmlns:a16="http://schemas.microsoft.com/office/drawing/2014/main" id="{8C2D404D-6854-42D1-B5D5-1DE25AACA76E}"/>
                </a:ext>
              </a:extLst>
            </p:cNvPr>
            <p:cNvCxnSpPr>
              <a:cxnSpLocks/>
            </p:cNvCxnSpPr>
            <p:nvPr/>
          </p:nvCxnSpPr>
          <p:spPr>
            <a:xfrm flipH="1">
              <a:off x="2243434" y="4552634"/>
              <a:ext cx="957453"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7A478E12-27A4-4BA3-A565-EA11617E3164}"/>
                </a:ext>
              </a:extLst>
            </p:cNvPr>
            <p:cNvSpPr/>
            <p:nvPr/>
          </p:nvSpPr>
          <p:spPr>
            <a:xfrm>
              <a:off x="3200887" y="3631642"/>
              <a:ext cx="871712" cy="212780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zh-CN" altLang="en-US">
                <a:solidFill>
                  <a:srgbClr val="FFFFFF"/>
                </a:solidFill>
                <a:latin typeface="Arial"/>
                <a:ea typeface="宋体"/>
              </a:endParaRPr>
            </a:p>
          </p:txBody>
        </p:sp>
      </p:grpSp>
      <p:grpSp>
        <p:nvGrpSpPr>
          <p:cNvPr id="42" name="组合 41">
            <a:extLst>
              <a:ext uri="{FF2B5EF4-FFF2-40B4-BE49-F238E27FC236}">
                <a16:creationId xmlns:a16="http://schemas.microsoft.com/office/drawing/2014/main" id="{A5F0F31B-216B-41B2-8E0F-C3468006CE30}"/>
              </a:ext>
            </a:extLst>
          </p:cNvPr>
          <p:cNvGrpSpPr>
            <a:grpSpLocks/>
          </p:cNvGrpSpPr>
          <p:nvPr/>
        </p:nvGrpSpPr>
        <p:grpSpPr bwMode="auto">
          <a:xfrm>
            <a:off x="1673226" y="1741488"/>
            <a:ext cx="6308725" cy="3668712"/>
            <a:chOff x="149997" y="1786945"/>
            <a:chExt cx="6307953" cy="3669250"/>
          </a:xfrm>
        </p:grpSpPr>
        <p:graphicFrame>
          <p:nvGraphicFramePr>
            <p:cNvPr id="98315" name="对象 25">
              <a:extLst>
                <a:ext uri="{FF2B5EF4-FFF2-40B4-BE49-F238E27FC236}">
                  <a16:creationId xmlns:a16="http://schemas.microsoft.com/office/drawing/2014/main" id="{BD04522E-2EF0-45EF-8CCE-7C5B88331CC2}"/>
                </a:ext>
              </a:extLst>
            </p:cNvPr>
            <p:cNvGraphicFramePr>
              <a:graphicFrameLocks noChangeAspect="1"/>
            </p:cNvGraphicFramePr>
            <p:nvPr/>
          </p:nvGraphicFramePr>
          <p:xfrm>
            <a:off x="149997" y="1786945"/>
            <a:ext cx="2679700" cy="474663"/>
          </p:xfrm>
          <a:graphic>
            <a:graphicData uri="http://schemas.openxmlformats.org/presentationml/2006/ole">
              <mc:AlternateContent xmlns:mc="http://schemas.openxmlformats.org/markup-compatibility/2006">
                <mc:Choice xmlns:v="urn:schemas-microsoft-com:vml" Requires="v">
                  <p:oleObj spid="_x0000_s1032" name="Equation" r:id="rId15" imgW="1218671" imgH="215806" progId="Equation.DSMT4">
                    <p:embed/>
                  </p:oleObj>
                </mc:Choice>
                <mc:Fallback>
                  <p:oleObj name="Equation" r:id="rId15" imgW="1218671" imgH="215806" progId="Equation.DSMT4">
                    <p:embed/>
                    <p:pic>
                      <p:nvPicPr>
                        <p:cNvPr id="98315" name="对象 25">
                          <a:extLst>
                            <a:ext uri="{FF2B5EF4-FFF2-40B4-BE49-F238E27FC236}">
                              <a16:creationId xmlns:a16="http://schemas.microsoft.com/office/drawing/2014/main" id="{BD04522E-2EF0-45EF-8CCE-7C5B88331CC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9997" y="1786945"/>
                          <a:ext cx="2679700" cy="474663"/>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7" name="直接箭头连接符 26">
              <a:extLst>
                <a:ext uri="{FF2B5EF4-FFF2-40B4-BE49-F238E27FC236}">
                  <a16:creationId xmlns:a16="http://schemas.microsoft.com/office/drawing/2014/main" id="{073D267B-BF3A-4D32-A670-0A79C4667FCD}"/>
                </a:ext>
              </a:extLst>
            </p:cNvPr>
            <p:cNvCxnSpPr>
              <a:cxnSpLocks/>
            </p:cNvCxnSpPr>
            <p:nvPr/>
          </p:nvCxnSpPr>
          <p:spPr>
            <a:xfrm flipH="1">
              <a:off x="2829369" y="2017166"/>
              <a:ext cx="1209527" cy="6351"/>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98317" name="对象 32">
              <a:extLst>
                <a:ext uri="{FF2B5EF4-FFF2-40B4-BE49-F238E27FC236}">
                  <a16:creationId xmlns:a16="http://schemas.microsoft.com/office/drawing/2014/main" id="{1D573715-0BAB-4270-AFCA-289F854C123F}"/>
                </a:ext>
              </a:extLst>
            </p:cNvPr>
            <p:cNvGraphicFramePr>
              <a:graphicFrameLocks noChangeAspect="1"/>
            </p:cNvGraphicFramePr>
            <p:nvPr/>
          </p:nvGraphicFramePr>
          <p:xfrm>
            <a:off x="2687638" y="3303545"/>
            <a:ext cx="3770312" cy="2152650"/>
          </p:xfrm>
          <a:graphic>
            <a:graphicData uri="http://schemas.openxmlformats.org/presentationml/2006/ole">
              <mc:AlternateContent xmlns:mc="http://schemas.openxmlformats.org/markup-compatibility/2006">
                <mc:Choice xmlns:v="urn:schemas-microsoft-com:vml" Requires="v">
                  <p:oleObj spid="_x0000_s1033" name="Equation" r:id="rId17" imgW="1714500" imgH="977900" progId="Equation.DSMT4">
                    <p:embed/>
                  </p:oleObj>
                </mc:Choice>
                <mc:Fallback>
                  <p:oleObj name="Equation" r:id="rId17" imgW="1714500" imgH="977900" progId="Equation.DSMT4">
                    <p:embed/>
                    <p:pic>
                      <p:nvPicPr>
                        <p:cNvPr id="98317" name="对象 32">
                          <a:extLst>
                            <a:ext uri="{FF2B5EF4-FFF2-40B4-BE49-F238E27FC236}">
                              <a16:creationId xmlns:a16="http://schemas.microsoft.com/office/drawing/2014/main" id="{1D573715-0BAB-4270-AFCA-289F854C123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87638" y="3303545"/>
                          <a:ext cx="3770312"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上弧形箭头 4">
              <a:extLst>
                <a:ext uri="{FF2B5EF4-FFF2-40B4-BE49-F238E27FC236}">
                  <a16:creationId xmlns:a16="http://schemas.microsoft.com/office/drawing/2014/main" id="{0E25B6D0-1EF8-46B9-B111-B7B626EA048D}"/>
                </a:ext>
              </a:extLst>
            </p:cNvPr>
            <p:cNvSpPr/>
            <p:nvPr/>
          </p:nvSpPr>
          <p:spPr>
            <a:xfrm rot="14979675" flipH="1">
              <a:off x="929090" y="2909578"/>
              <a:ext cx="2035473" cy="78095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srgbClr val="000000"/>
                </a:solidFill>
                <a:latin typeface="Arial"/>
                <a:ea typeface="宋体"/>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randombar(horizontal)">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randombar(horizontal)">
                                      <p:cBhvr>
                                        <p:cTn id="17" dur="500"/>
                                        <p:tgtEl>
                                          <p:spTgt spid="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randombar(horizontal)">
                                      <p:cBhvr>
                                        <p:cTn id="22" dur="500"/>
                                        <p:tgtEl>
                                          <p:spTgt spid="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randombar(horizontal)">
                                      <p:cBhvr>
                                        <p:cTn id="27" dur="500"/>
                                        <p:tgtEl>
                                          <p:spTgt spid="4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randombar(horizontal)">
                                      <p:cBhvr>
                                        <p:cTn id="3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descr="Large confetti">
            <a:extLst>
              <a:ext uri="{FF2B5EF4-FFF2-40B4-BE49-F238E27FC236}">
                <a16:creationId xmlns:a16="http://schemas.microsoft.com/office/drawing/2014/main" id="{D8EB0872-1681-4AD4-9DEE-18937FFEAF6B}"/>
              </a:ext>
            </a:extLst>
          </p:cNvPr>
          <p:cNvSpPr>
            <a:spLocks noGrp="1" noChangeArrowheads="1"/>
          </p:cNvSpPr>
          <p:nvPr>
            <p:ph type="title"/>
          </p:nvPr>
        </p:nvSpPr>
        <p:spPr/>
        <p:txBody>
          <a:bodyPr/>
          <a:lstStyle/>
          <a:p>
            <a:pPr eaLnBrk="1" hangingPunct="1"/>
            <a:r>
              <a:rPr lang="zh-CN" altLang="en-US"/>
              <a:t>利用</a:t>
            </a:r>
            <a:r>
              <a:rPr lang="en-US" altLang="zh-CN"/>
              <a:t>Lingo</a:t>
            </a:r>
            <a:r>
              <a:rPr lang="zh-CN" altLang="en-US"/>
              <a:t>进行灵敏度分析</a:t>
            </a:r>
          </a:p>
        </p:txBody>
      </p:sp>
      <p:sp>
        <p:nvSpPr>
          <p:cNvPr id="6" name="Rectangle 3">
            <a:extLst>
              <a:ext uri="{FF2B5EF4-FFF2-40B4-BE49-F238E27FC236}">
                <a16:creationId xmlns:a16="http://schemas.microsoft.com/office/drawing/2014/main" id="{A929E95A-7D20-48BE-A3C3-C8267C2EC6E4}"/>
              </a:ext>
            </a:extLst>
          </p:cNvPr>
          <p:cNvSpPr txBox="1">
            <a:spLocks noChangeArrowheads="1"/>
          </p:cNvSpPr>
          <p:nvPr/>
        </p:nvSpPr>
        <p:spPr bwMode="auto">
          <a:xfrm>
            <a:off x="1905000" y="1101725"/>
            <a:ext cx="7924800" cy="3335338"/>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marL="0" indent="0" eaLnBrk="1" hangingPunct="1">
              <a:lnSpc>
                <a:spcPct val="90000"/>
              </a:lnSpc>
              <a:buClr>
                <a:srgbClr val="CC9900"/>
              </a:buClr>
              <a:buNone/>
              <a:defRPr/>
            </a:pPr>
            <a:r>
              <a:rPr lang="zh-CN" altLang="en-US" sz="2000" kern="0" dirty="0">
                <a:solidFill>
                  <a:srgbClr val="000000"/>
                </a:solidFill>
                <a:latin typeface="Arial"/>
                <a:ea typeface="宋体"/>
              </a:rPr>
              <a:t>问该如何安排生产，使该工厂获利最多？</a:t>
            </a:r>
          </a:p>
        </p:txBody>
      </p:sp>
      <p:graphicFrame>
        <p:nvGraphicFramePr>
          <p:cNvPr id="7" name="Group 50">
            <a:extLst>
              <a:ext uri="{FF2B5EF4-FFF2-40B4-BE49-F238E27FC236}">
                <a16:creationId xmlns:a16="http://schemas.microsoft.com/office/drawing/2014/main" id="{05B6714F-C883-4223-B04E-515D9DD42493}"/>
              </a:ext>
            </a:extLst>
          </p:cNvPr>
          <p:cNvGraphicFramePr>
            <a:graphicFrameLocks/>
          </p:cNvGraphicFramePr>
          <p:nvPr/>
        </p:nvGraphicFramePr>
        <p:xfrm>
          <a:off x="2209800" y="1752600"/>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99364" name="对象 3">
            <a:extLst>
              <a:ext uri="{FF2B5EF4-FFF2-40B4-BE49-F238E27FC236}">
                <a16:creationId xmlns:a16="http://schemas.microsoft.com/office/drawing/2014/main" id="{4F45817A-E360-40FB-9B79-A2DABE747E71}"/>
              </a:ext>
            </a:extLst>
          </p:cNvPr>
          <p:cNvGraphicFramePr>
            <a:graphicFrameLocks noChangeAspect="1"/>
          </p:cNvGraphicFramePr>
          <p:nvPr/>
        </p:nvGraphicFramePr>
        <p:xfrm>
          <a:off x="7315200" y="1676400"/>
          <a:ext cx="1752600" cy="1809750"/>
        </p:xfrm>
        <a:graphic>
          <a:graphicData uri="http://schemas.openxmlformats.org/presentationml/2006/ole">
            <mc:AlternateContent xmlns:mc="http://schemas.openxmlformats.org/markup-compatibility/2006">
              <mc:Choice xmlns:v="urn:schemas-microsoft-com:vml" Requires="v">
                <p:oleObj spid="_x0000_s2050" name="Equation" r:id="rId3" imgW="787058" imgH="812447" progId="Equation.DSMT4">
                  <p:embed/>
                </p:oleObj>
              </mc:Choice>
              <mc:Fallback>
                <p:oleObj name="Equation" r:id="rId3" imgW="787058" imgH="812447" progId="Equation.DSMT4">
                  <p:embed/>
                  <p:pic>
                    <p:nvPicPr>
                      <p:cNvPr id="99364" name="对象 3">
                        <a:extLst>
                          <a:ext uri="{FF2B5EF4-FFF2-40B4-BE49-F238E27FC236}">
                            <a16:creationId xmlns:a16="http://schemas.microsoft.com/office/drawing/2014/main" id="{4F45817A-E360-40FB-9B79-A2DABE747E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1676400"/>
                        <a:ext cx="175260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a:extLst>
              <a:ext uri="{FF2B5EF4-FFF2-40B4-BE49-F238E27FC236}">
                <a16:creationId xmlns:a16="http://schemas.microsoft.com/office/drawing/2014/main" id="{1A2184F3-6DAD-4CD1-AB9C-5D8A57582F29}"/>
              </a:ext>
            </a:extLst>
          </p:cNvPr>
          <p:cNvSpPr/>
          <p:nvPr/>
        </p:nvSpPr>
        <p:spPr bwMode="auto">
          <a:xfrm>
            <a:off x="2209800" y="3713163"/>
            <a:ext cx="2743200" cy="2616200"/>
          </a:xfrm>
          <a:prstGeom prst="rect">
            <a:avLst/>
          </a:prstGeom>
          <a:ln>
            <a:solidFill>
              <a:srgbClr val="FF0000"/>
            </a:solidFill>
          </a:ln>
        </p:spPr>
        <p:txBody>
          <a:bodyPr>
            <a:spAutoFit/>
          </a:bodyPr>
          <a:lstStyle/>
          <a:p>
            <a:pPr algn="just" eaLnBrk="0" fontAlgn="base" hangingPunct="0">
              <a:spcBef>
                <a:spcPct val="0"/>
              </a:spcBef>
              <a:defRPr/>
            </a:pPr>
            <a:r>
              <a:rPr lang="en-US" altLang="zh-CN" sz="20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Lingo</a:t>
            </a:r>
            <a:r>
              <a:rPr lang="zh-CN" altLang="zh-CN" sz="20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源代码 </a:t>
            </a:r>
            <a:r>
              <a:rPr lang="en-US" altLang="zh-CN" sz="20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	</a:t>
            </a:r>
            <a:endParaRPr lang="zh-CN" altLang="zh-CN" sz="2000"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indent="266700" eaLnBrk="0" fontAlgn="base" hangingPunct="0">
              <a:spcBef>
                <a:spcPct val="0"/>
              </a:spcBef>
              <a:spcAft>
                <a:spcPct val="0"/>
              </a:spcAft>
              <a:tabLst>
                <a:tab pos="981075" algn="l"/>
              </a:tabLst>
              <a:defRPr/>
            </a:pPr>
            <a:r>
              <a:rPr lang="en-US" altLang="zh-CN" dirty="0">
                <a:solidFill>
                  <a:srgbClr val="0000FF"/>
                </a:solidFill>
                <a:latin typeface="Courier New" panose="02070309020205020404" pitchFamily="49" charset="0"/>
                <a:ea typeface="宋体" panose="02010600030101010101" pitchFamily="2" charset="-122"/>
                <a:cs typeface="Courier New" panose="02070309020205020404" pitchFamily="49" charset="0"/>
              </a:rPr>
              <a:t>model</a:t>
            </a: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FF"/>
                </a:solidFill>
                <a:latin typeface="Courier New" panose="02070309020205020404" pitchFamily="49" charset="0"/>
                <a:ea typeface="宋体" panose="02010600030101010101" pitchFamily="2" charset="-122"/>
                <a:cs typeface="Courier New" panose="02070309020205020404" pitchFamily="49" charset="0"/>
              </a:rPr>
              <a:t>max</a:t>
            </a: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 =2*x1+3*x2;</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x1+2*x2&lt;=8;</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4*x1&lt;=16;</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4*x2&lt;=12;</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x1&gt;=0;	</a:t>
            </a:r>
            <a:endParaRPr lang="en-US" altLang="zh-CN" sz="800" dirty="0">
              <a:solidFill>
                <a:srgbClr val="000000"/>
              </a:solidFill>
              <a:latin typeface="Arial" panose="020B0604020202020204" pitchFamily="34" charset="0"/>
              <a:ea typeface="宋体" panose="02010600030101010101" pitchFamily="2" charset="-122"/>
            </a:endParaRPr>
          </a:p>
          <a:p>
            <a:pPr indent="254000" eaLnBrk="0" fontAlgn="base" hangingPunct="0">
              <a:spcBef>
                <a:spcPct val="0"/>
              </a:spcBef>
              <a:spcAft>
                <a:spcPct val="0"/>
              </a:spcAft>
              <a:tabLst>
                <a:tab pos="981075" algn="l"/>
              </a:tabLst>
              <a:defRPr/>
            </a:pPr>
            <a:r>
              <a:rPr lang="en-US" altLang="zh-CN" dirty="0">
                <a:solidFill>
                  <a:srgbClr val="000000"/>
                </a:solidFill>
                <a:latin typeface="Courier New" panose="02070309020205020404" pitchFamily="49" charset="0"/>
                <a:ea typeface="宋体" panose="02010600030101010101" pitchFamily="2" charset="-122"/>
                <a:cs typeface="Courier New" panose="02070309020205020404" pitchFamily="49" charset="0"/>
              </a:rPr>
              <a:t>x2&gt;=0;</a:t>
            </a:r>
          </a:p>
          <a:p>
            <a:pPr indent="254000" eaLnBrk="0" fontAlgn="base" hangingPunct="0">
              <a:spcBef>
                <a:spcPct val="0"/>
              </a:spcBef>
              <a:spcAft>
                <a:spcPct val="0"/>
              </a:spcAft>
              <a:tabLst>
                <a:tab pos="981075" algn="l"/>
              </a:tabLst>
              <a:defRPr/>
            </a:pPr>
            <a:r>
              <a:rPr lang="en-US" altLang="zh-CN" dirty="0">
                <a:solidFill>
                  <a:srgbClr val="0000FF"/>
                </a:solidFill>
                <a:latin typeface="Courier New" panose="02070309020205020404" pitchFamily="49" charset="0"/>
                <a:ea typeface="宋体" panose="02010600030101010101" pitchFamily="2" charset="-122"/>
                <a:cs typeface="Courier New" panose="02070309020205020404" pitchFamily="49" charset="0"/>
              </a:rPr>
              <a:t>end</a:t>
            </a:r>
          </a:p>
        </p:txBody>
      </p:sp>
      <p:sp>
        <p:nvSpPr>
          <p:cNvPr id="99366" name="矩形 9">
            <a:extLst>
              <a:ext uri="{FF2B5EF4-FFF2-40B4-BE49-F238E27FC236}">
                <a16:creationId xmlns:a16="http://schemas.microsoft.com/office/drawing/2014/main" id="{CABABB69-AFCF-4284-9DB1-DA69988858DA}"/>
              </a:ext>
            </a:extLst>
          </p:cNvPr>
          <p:cNvSpPr>
            <a:spLocks noChangeArrowheads="1"/>
          </p:cNvSpPr>
          <p:nvPr/>
        </p:nvSpPr>
        <p:spPr bwMode="auto">
          <a:xfrm>
            <a:off x="5119688" y="3943350"/>
            <a:ext cx="5167312" cy="193833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AutoNum type="arabicPeriod"/>
            </a:pPr>
            <a:r>
              <a:rPr lang="zh-CN" altLang="zh-CN" sz="2000" b="1">
                <a:solidFill>
                  <a:srgbClr val="ED1C24"/>
                </a:solidFill>
              </a:rPr>
              <a:t>最优值</a:t>
            </a:r>
            <a:r>
              <a:rPr lang="zh-CN" altLang="zh-CN" sz="2000" b="1">
                <a:solidFill>
                  <a:srgbClr val="000000"/>
                </a:solidFill>
              </a:rPr>
              <a:t>就是最优的目标函数值。</a:t>
            </a:r>
            <a:endParaRPr lang="en-US" altLang="zh-CN" sz="2000" b="1">
              <a:solidFill>
                <a:srgbClr val="000000"/>
              </a:solidFill>
            </a:endParaRPr>
          </a:p>
          <a:p>
            <a:pPr eaLnBrk="0" fontAlgn="base" hangingPunct="0">
              <a:spcBef>
                <a:spcPct val="0"/>
              </a:spcBef>
              <a:spcAft>
                <a:spcPct val="0"/>
              </a:spcAft>
              <a:buFontTx/>
              <a:buAutoNum type="arabicPeriod"/>
            </a:pPr>
            <a:r>
              <a:rPr lang="zh-CN" altLang="zh-CN" sz="2000" b="1">
                <a:solidFill>
                  <a:srgbClr val="ED1C24"/>
                </a:solidFill>
              </a:rPr>
              <a:t>最优解</a:t>
            </a:r>
            <a:r>
              <a:rPr lang="zh-CN" altLang="zh-CN" sz="2000" b="1">
                <a:solidFill>
                  <a:srgbClr val="000000"/>
                </a:solidFill>
              </a:rPr>
              <a:t>就是取得最优值的决策变量</a:t>
            </a:r>
            <a:r>
              <a:rPr lang="zh-CN" altLang="en-US" sz="2000" b="1">
                <a:solidFill>
                  <a:srgbClr val="000000"/>
                </a:solidFill>
              </a:rPr>
              <a:t>所组成的</a:t>
            </a:r>
            <a:r>
              <a:rPr lang="zh-CN" altLang="zh-CN" sz="2000" b="1">
                <a:solidFill>
                  <a:srgbClr val="000000"/>
                </a:solidFill>
              </a:rPr>
              <a:t>向量</a:t>
            </a:r>
            <a:r>
              <a:rPr lang="zh-CN" altLang="en-US" sz="2000" b="1">
                <a:solidFill>
                  <a:srgbClr val="000000"/>
                </a:solidFill>
              </a:rPr>
              <a:t>。</a:t>
            </a:r>
            <a:endParaRPr lang="en-US" altLang="zh-CN" sz="2000" b="1">
              <a:solidFill>
                <a:srgbClr val="000000"/>
              </a:solidFill>
            </a:endParaRPr>
          </a:p>
          <a:p>
            <a:pPr eaLnBrk="0" fontAlgn="base" hangingPunct="0">
              <a:spcBef>
                <a:spcPct val="0"/>
              </a:spcBef>
              <a:spcAft>
                <a:spcPct val="0"/>
              </a:spcAft>
              <a:buFontTx/>
              <a:buAutoNum type="arabicPeriod"/>
            </a:pPr>
            <a:r>
              <a:rPr lang="zh-CN" altLang="zh-CN" sz="2000" b="1">
                <a:solidFill>
                  <a:srgbClr val="ED1C24"/>
                </a:solidFill>
              </a:rPr>
              <a:t>最优基</a:t>
            </a:r>
            <a:r>
              <a:rPr lang="zh-CN" altLang="zh-CN" sz="2000" b="1">
                <a:solidFill>
                  <a:srgbClr val="000000"/>
                </a:solidFill>
              </a:rPr>
              <a:t>就是最优单纯形表的基本变量所对应的系数矩阵</a:t>
            </a:r>
            <a:r>
              <a:rPr lang="zh-CN" altLang="en-US" sz="2000" b="1">
                <a:solidFill>
                  <a:srgbClr val="000000"/>
                </a:solidFill>
              </a:rPr>
              <a:t>，</a:t>
            </a:r>
            <a:r>
              <a:rPr lang="zh-CN" altLang="zh-CN" sz="2000" b="1">
                <a:solidFill>
                  <a:srgbClr val="000000"/>
                </a:solidFill>
              </a:rPr>
              <a:t>如果其行列式是非奇异的，则该系数矩阵为最优基</a:t>
            </a:r>
            <a:r>
              <a:rPr lang="zh-CN" altLang="en-US" sz="2000" b="1">
                <a:solidFill>
                  <a:srgbClr val="000000"/>
                </a:solidFill>
              </a:rPr>
              <a:t>。</a:t>
            </a:r>
            <a:endParaRPr lang="zh-CN" altLang="zh-CN" sz="20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038B852-539F-4646-AF25-6F6AE51C6562}"/>
              </a:ext>
            </a:extLst>
          </p:cNvPr>
          <p:cNvSpPr>
            <a:spLocks noGrp="1" noChangeArrowheads="1"/>
          </p:cNvSpPr>
          <p:nvPr>
            <p:ph type="title"/>
          </p:nvPr>
        </p:nvSpPr>
        <p:spPr>
          <a:xfrm>
            <a:off x="1828800" y="304800"/>
            <a:ext cx="7620000" cy="838200"/>
          </a:xfrm>
        </p:spPr>
        <p:txBody>
          <a:bodyPr/>
          <a:lstStyle/>
          <a:p>
            <a:pPr algn="ctr" eaLnBrk="1" hangingPunct="1"/>
            <a:r>
              <a:rPr lang="zh-CN" altLang="en-US"/>
              <a:t>利用</a:t>
            </a:r>
            <a:r>
              <a:rPr lang="en-US" altLang="zh-CN"/>
              <a:t>Lingo</a:t>
            </a:r>
            <a:r>
              <a:rPr lang="zh-CN" altLang="en-US"/>
              <a:t>进行灵敏度分析</a:t>
            </a:r>
          </a:p>
        </p:txBody>
      </p:sp>
      <p:sp>
        <p:nvSpPr>
          <p:cNvPr id="100355" name="Rectangle 2">
            <a:extLst>
              <a:ext uri="{FF2B5EF4-FFF2-40B4-BE49-F238E27FC236}">
                <a16:creationId xmlns:a16="http://schemas.microsoft.com/office/drawing/2014/main" id="{DD989D12-E899-4D7D-A94D-4A89D0229B31}"/>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endParaRPr lang="zh-CN" altLang="en-US">
              <a:solidFill>
                <a:srgbClr val="000000"/>
              </a:solidFill>
            </a:endParaRPr>
          </a:p>
        </p:txBody>
      </p:sp>
      <p:sp>
        <p:nvSpPr>
          <p:cNvPr id="30" name="矩形 29">
            <a:extLst>
              <a:ext uri="{FF2B5EF4-FFF2-40B4-BE49-F238E27FC236}">
                <a16:creationId xmlns:a16="http://schemas.microsoft.com/office/drawing/2014/main" id="{AD2DAFC2-12BC-48FE-A130-A7EC4D4015C3}"/>
              </a:ext>
            </a:extLst>
          </p:cNvPr>
          <p:cNvSpPr/>
          <p:nvPr/>
        </p:nvSpPr>
        <p:spPr>
          <a:xfrm>
            <a:off x="1828800" y="1066801"/>
            <a:ext cx="8534400" cy="4678363"/>
          </a:xfrm>
          <a:prstGeom prst="rect">
            <a:avLst/>
          </a:prstGeom>
        </p:spPr>
        <p:txBody>
          <a:bodyPr>
            <a:spAutoFit/>
          </a:bodyPr>
          <a:lstStyle/>
          <a:p>
            <a:pPr marL="457200" indent="-457200" eaLnBrk="0" fontAlgn="base" hangingPunct="0">
              <a:spcBef>
                <a:spcPct val="0"/>
              </a:spcBef>
              <a:spcAft>
                <a:spcPct val="0"/>
              </a:spcAft>
              <a:buFont typeface="Wingdings" panose="05000000000000000000" pitchFamily="2" charset="2"/>
              <a:buChar char="n"/>
              <a:defRPr/>
            </a:pPr>
            <a:r>
              <a:rPr lang="en-US" altLang="zh-CN"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Lingo</a:t>
            </a:r>
            <a:r>
              <a:rPr lang="zh-CN" altLang="en-US"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进行灵敏度分析</a:t>
            </a:r>
            <a:endParaRPr lang="en-US" altLang="zh-CN"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eaLnBrk="0" fontAlgn="base" hangingPunct="0">
              <a:spcBef>
                <a:spcPct val="0"/>
              </a:spcBef>
              <a:spcAft>
                <a:spcPct val="0"/>
              </a:spcAft>
              <a:defRPr/>
            </a:pPr>
            <a:r>
              <a:rPr lang="zh-CN"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Lingo的灵敏</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度</a:t>
            </a:r>
            <a:r>
              <a:rPr lang="zh-CN"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分析是研究当目标函数的系数和约束右端项在什么范围</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变化时</a:t>
            </a:r>
            <a:r>
              <a:rPr lang="zh-CN"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（此时假定其它系数不变），最优基保持不变。</a:t>
            </a:r>
            <a:r>
              <a:rPr lang="zh-CN" altLang="zh-CN" sz="2400" b="1" kern="100" dirty="0">
                <a:solidFill>
                  <a:srgbClr val="FF00FF"/>
                </a:solidFill>
                <a:latin typeface="Calibri" panose="020F0502020204030204" pitchFamily="34" charset="0"/>
                <a:ea typeface="宋体" panose="02010600030101010101" pitchFamily="2" charset="-122"/>
                <a:cs typeface="Times New Roman" panose="02020603050405020304" pitchFamily="18" charset="0"/>
              </a:rPr>
              <a:t>灵敏</a:t>
            </a:r>
            <a:r>
              <a:rPr lang="zh-CN" altLang="en-US" sz="2400" b="1" kern="100" dirty="0">
                <a:solidFill>
                  <a:srgbClr val="FF00FF"/>
                </a:solidFill>
                <a:latin typeface="Calibri" panose="020F0502020204030204" pitchFamily="34" charset="0"/>
                <a:ea typeface="宋体" panose="02010600030101010101" pitchFamily="2" charset="-122"/>
                <a:cs typeface="Times New Roman" panose="02020603050405020304" pitchFamily="18" charset="0"/>
              </a:rPr>
              <a:t>度</a:t>
            </a:r>
            <a:r>
              <a:rPr lang="zh-CN" altLang="zh-CN" sz="2400" b="1" kern="100" dirty="0">
                <a:solidFill>
                  <a:srgbClr val="FF00FF"/>
                </a:solidFill>
                <a:latin typeface="Calibri" panose="020F0502020204030204" pitchFamily="34" charset="0"/>
                <a:ea typeface="宋体" panose="02010600030101010101" pitchFamily="2" charset="-122"/>
                <a:cs typeface="Times New Roman" panose="02020603050405020304" pitchFamily="18" charset="0"/>
              </a:rPr>
              <a:t>分析给出的只是最优基保持不变的充分条件，而不一定是必要条件。</a:t>
            </a:r>
            <a:endParaRPr lang="en-US" altLang="zh-CN" sz="2400" b="1" kern="100" dirty="0">
              <a:solidFill>
                <a:srgbClr val="FF00FF"/>
              </a:solidFill>
              <a:latin typeface="Calibri" panose="020F0502020204030204" pitchFamily="34" charset="0"/>
              <a:ea typeface="宋体" panose="02010600030101010101" pitchFamily="2" charset="-122"/>
              <a:cs typeface="Times New Roman" panose="02020603050405020304" pitchFamily="18" charset="0"/>
            </a:endParaRPr>
          </a:p>
          <a:p>
            <a:pPr eaLnBrk="0" fontAlgn="base" hangingPunct="0">
              <a:spcBef>
                <a:spcPct val="0"/>
              </a:spcBef>
              <a:spcAft>
                <a:spcPct val="0"/>
              </a:spcAft>
              <a:defRPr/>
            </a:pPr>
            <a:r>
              <a:rPr lang="zh-CN" altLang="zh-CN"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 </a:t>
            </a:r>
            <a:r>
              <a:rPr lang="en-US" altLang="zh-CN"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 </a:t>
            </a:r>
          </a:p>
          <a:p>
            <a:pPr marL="457200" indent="-457200" eaLnBrk="0" fontAlgn="base" hangingPunct="0">
              <a:spcBef>
                <a:spcPct val="0"/>
              </a:spcBef>
              <a:spcAft>
                <a:spcPct val="0"/>
              </a:spcAft>
              <a:buFont typeface="Wingdings" panose="05000000000000000000" pitchFamily="2" charset="2"/>
              <a:buChar char="n"/>
              <a:defRPr/>
            </a:pPr>
            <a:r>
              <a:rPr lang="zh-CN" altLang="en-US"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步骤</a:t>
            </a:r>
            <a:endParaRPr lang="en-US" altLang="zh-CN" sz="28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eaLnBrk="0" fontAlgn="base" hangingPunct="0">
              <a:spcBef>
                <a:spcPct val="0"/>
              </a:spcBef>
              <a:spcAft>
                <a:spcPct val="0"/>
              </a:spcAft>
              <a:defRPr/>
            </a:pPr>
            <a:r>
              <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1.</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设置：</a:t>
            </a:r>
            <a:r>
              <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Lingo-&gt;Options-&gt;General solver-&gt;Dual computations-&gt;Prices and Range </a:t>
            </a:r>
          </a:p>
          <a:p>
            <a:pPr eaLnBrk="0" fontAlgn="base" hangingPunct="0">
              <a:spcBef>
                <a:spcPct val="0"/>
              </a:spcBef>
              <a:spcAft>
                <a:spcPct val="0"/>
              </a:spcAft>
              <a:defRPr/>
            </a:pPr>
            <a:r>
              <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2.</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求解线性规划问题</a:t>
            </a:r>
            <a:endPar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eaLnBrk="0" fontAlgn="base" hangingPunct="0">
              <a:spcBef>
                <a:spcPct val="0"/>
              </a:spcBef>
              <a:spcAft>
                <a:spcPct val="0"/>
              </a:spcAft>
              <a:defRPr/>
            </a:pPr>
            <a:r>
              <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3.</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点击</a:t>
            </a:r>
            <a:r>
              <a:rPr lang="en-US" altLang="zh-CN"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Lingo-&gt;Range</a:t>
            </a:r>
            <a:r>
              <a:rPr lang="zh-CN" altLang="en-US" sz="2400"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进行灵敏度分析</a:t>
            </a:r>
            <a:endParaRPr lang="zh-CN" altLang="en-US" sz="2400" dirty="0">
              <a:solidFill>
                <a:srgbClr val="000000"/>
              </a:solidFill>
              <a:latin typeface="Arial" panose="020B0604020202020204" pitchFamily="34" charset="0"/>
              <a:ea typeface="宋体" panose="02010600030101010101" pitchFamily="2" charset="-122"/>
            </a:endParaRPr>
          </a:p>
          <a:p>
            <a:pPr eaLnBrk="0" fontAlgn="base" hangingPunct="0">
              <a:spcBef>
                <a:spcPct val="0"/>
              </a:spcBef>
              <a:spcAft>
                <a:spcPct val="0"/>
              </a:spcAft>
              <a:defRPr/>
            </a:pPr>
            <a:endParaRPr lang="zh-CN" altLang="en-US" dirty="0">
              <a:solidFill>
                <a:srgbClr val="000000"/>
              </a:solidFill>
              <a:latin typeface="Arial" panose="020B0604020202020204" pitchFamily="34" charset="0"/>
              <a:ea typeface="宋体" panose="02010600030101010101" pitchFamily="2" charset="-122"/>
            </a:endParaRPr>
          </a:p>
        </p:txBody>
      </p:sp>
      <p:sp>
        <p:nvSpPr>
          <p:cNvPr id="100357" name="矩形 25">
            <a:extLst>
              <a:ext uri="{FF2B5EF4-FFF2-40B4-BE49-F238E27FC236}">
                <a16:creationId xmlns:a16="http://schemas.microsoft.com/office/drawing/2014/main" id="{BD3E14A0-53D6-4922-ACA7-7C9DA7161654}"/>
              </a:ext>
            </a:extLst>
          </p:cNvPr>
          <p:cNvSpPr>
            <a:spLocks noChangeArrowheads="1"/>
          </p:cNvSpPr>
          <p:nvPr/>
        </p:nvSpPr>
        <p:spPr bwMode="auto">
          <a:xfrm>
            <a:off x="2286000" y="5561014"/>
            <a:ext cx="3556000" cy="4603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2400">
                <a:solidFill>
                  <a:srgbClr val="000000"/>
                </a:solidFill>
                <a:latin typeface="Calibri" panose="020F0502020204030204" pitchFamily="34" charset="0"/>
                <a:cs typeface="Times New Roman" panose="02020603050405020304" pitchFamily="18" charset="0"/>
              </a:rPr>
              <a:t>【3】</a:t>
            </a:r>
            <a:r>
              <a:rPr lang="en-US" altLang="zh-CN" sz="2400">
                <a:solidFill>
                  <a:srgbClr val="000000"/>
                </a:solidFill>
              </a:rPr>
              <a:t>lingo_lingmindu</a:t>
            </a:r>
            <a:r>
              <a:rPr lang="en-US" altLang="zh-CN" sz="2400">
                <a:solidFill>
                  <a:srgbClr val="000000"/>
                </a:solidFill>
                <a:latin typeface="Calibri" panose="020F0502020204030204" pitchFamily="34" charset="0"/>
                <a:cs typeface="Times New Roman" panose="02020603050405020304" pitchFamily="18" charset="0"/>
              </a:rPr>
              <a:t>.avi</a:t>
            </a:r>
            <a:endParaRPr lang="zh-CN" altLang="en-US" sz="2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5D6BF47-C2F0-478E-8B1D-51200AEBAD9C}"/>
              </a:ext>
            </a:extLst>
          </p:cNvPr>
          <p:cNvSpPr>
            <a:spLocks noGrp="1" noChangeArrowheads="1"/>
          </p:cNvSpPr>
          <p:nvPr>
            <p:ph type="title"/>
          </p:nvPr>
        </p:nvSpPr>
        <p:spPr>
          <a:xfrm>
            <a:off x="1828800" y="152400"/>
            <a:ext cx="7620000" cy="838200"/>
          </a:xfrm>
        </p:spPr>
        <p:txBody>
          <a:bodyPr/>
          <a:lstStyle/>
          <a:p>
            <a:pPr algn="ctr" eaLnBrk="1" hangingPunct="1"/>
            <a:r>
              <a:rPr lang="zh-CN" altLang="en-US"/>
              <a:t>利用</a:t>
            </a:r>
            <a:r>
              <a:rPr lang="en-US" altLang="zh-CN"/>
              <a:t>Lingo</a:t>
            </a:r>
            <a:r>
              <a:rPr lang="zh-CN" altLang="en-US"/>
              <a:t>进行灵敏度分析</a:t>
            </a:r>
          </a:p>
        </p:txBody>
      </p:sp>
      <p:sp>
        <p:nvSpPr>
          <p:cNvPr id="102403" name="Rectangle 2">
            <a:extLst>
              <a:ext uri="{FF2B5EF4-FFF2-40B4-BE49-F238E27FC236}">
                <a16:creationId xmlns:a16="http://schemas.microsoft.com/office/drawing/2014/main" id="{CE9F7B45-27BB-4070-A29D-7F4445D2B7C2}"/>
              </a:ext>
            </a:extLst>
          </p:cNvPr>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endParaRPr lang="zh-CN" altLang="en-US">
              <a:solidFill>
                <a:srgbClr val="000000"/>
              </a:solidFill>
            </a:endParaRPr>
          </a:p>
        </p:txBody>
      </p:sp>
      <p:pic>
        <p:nvPicPr>
          <p:cNvPr id="102404" name="图片 2">
            <a:extLst>
              <a:ext uri="{FF2B5EF4-FFF2-40B4-BE49-F238E27FC236}">
                <a16:creationId xmlns:a16="http://schemas.microsoft.com/office/drawing/2014/main" id="{57CAC1DA-884E-4B9E-810F-C661DA03E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6101" y="838200"/>
            <a:ext cx="833596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5" name="矩形 3">
            <a:extLst>
              <a:ext uri="{FF2B5EF4-FFF2-40B4-BE49-F238E27FC236}">
                <a16:creationId xmlns:a16="http://schemas.microsoft.com/office/drawing/2014/main" id="{C81B8488-55D4-47EA-803A-9E810C55FF64}"/>
              </a:ext>
            </a:extLst>
          </p:cNvPr>
          <p:cNvSpPr>
            <a:spLocks noChangeArrowheads="1"/>
          </p:cNvSpPr>
          <p:nvPr/>
        </p:nvSpPr>
        <p:spPr bwMode="auto">
          <a:xfrm>
            <a:off x="3352800" y="2873375"/>
            <a:ext cx="68024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zh-CN" altLang="en-US">
                <a:solidFill>
                  <a:srgbClr val="FF00FF"/>
                </a:solidFill>
                <a:latin typeface="宋体" panose="02010600030101010101" pitchFamily="2" charset="-122"/>
              </a:rPr>
              <a:t>充分非必要条件： </a:t>
            </a:r>
            <a:r>
              <a:rPr lang="en-US" altLang="zh-CN" i="1">
                <a:solidFill>
                  <a:srgbClr val="FF00FF"/>
                </a:solidFill>
                <a:latin typeface="TimesNewRomanPS-ItalicMT"/>
              </a:rPr>
              <a:t>x</a:t>
            </a:r>
            <a:r>
              <a:rPr lang="en-US" altLang="zh-CN" sz="800">
                <a:solidFill>
                  <a:srgbClr val="FF00FF"/>
                </a:solidFill>
                <a:latin typeface="TimesNewRomanPSMT"/>
              </a:rPr>
              <a:t>2</a:t>
            </a:r>
            <a:r>
              <a:rPr lang="zh-CN" altLang="en-US">
                <a:solidFill>
                  <a:srgbClr val="FF00FF"/>
                </a:solidFill>
                <a:latin typeface="宋体" panose="02010600030101010101" pitchFamily="2" charset="-122"/>
              </a:rPr>
              <a:t>的系数的取值范围为</a:t>
            </a:r>
            <a:r>
              <a:rPr lang="en-US" altLang="zh-CN">
                <a:solidFill>
                  <a:srgbClr val="FF00FF"/>
                </a:solidFill>
                <a:latin typeface="宋体" panose="02010600030101010101" pitchFamily="2" charset="-122"/>
              </a:rPr>
              <a:t>[3-3,3+1]</a:t>
            </a:r>
            <a:r>
              <a:rPr lang="zh-CN" altLang="en-US">
                <a:solidFill>
                  <a:srgbClr val="FF00FF"/>
                </a:solidFill>
                <a:latin typeface="宋体" panose="02010600030101010101" pitchFamily="2" charset="-122"/>
              </a:rPr>
              <a:t>，最优基不变</a:t>
            </a:r>
            <a:endParaRPr lang="zh-CN" altLang="en-US">
              <a:solidFill>
                <a:srgbClr val="FF00FF"/>
              </a:solidFill>
            </a:endParaRPr>
          </a:p>
        </p:txBody>
      </p:sp>
      <p:sp>
        <p:nvSpPr>
          <p:cNvPr id="102406" name="矩形 7">
            <a:extLst>
              <a:ext uri="{FF2B5EF4-FFF2-40B4-BE49-F238E27FC236}">
                <a16:creationId xmlns:a16="http://schemas.microsoft.com/office/drawing/2014/main" id="{CC8F589E-4CC7-4468-B648-FBC3D8CFC589}"/>
              </a:ext>
            </a:extLst>
          </p:cNvPr>
          <p:cNvSpPr>
            <a:spLocks noChangeArrowheads="1"/>
          </p:cNvSpPr>
          <p:nvPr/>
        </p:nvSpPr>
        <p:spPr bwMode="auto">
          <a:xfrm>
            <a:off x="3810000" y="4953000"/>
            <a:ext cx="6237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zh-CN" altLang="en-US">
                <a:solidFill>
                  <a:srgbClr val="FF00FF"/>
                </a:solidFill>
                <a:latin typeface="宋体" panose="02010600030101010101" pitchFamily="2" charset="-122"/>
              </a:rPr>
              <a:t>充分非必要条件：</a:t>
            </a:r>
            <a:r>
              <a:rPr lang="en-US" altLang="zh-CN">
                <a:solidFill>
                  <a:srgbClr val="FF00FF"/>
                </a:solidFill>
                <a:latin typeface="宋体" panose="02010600030101010101" pitchFamily="2" charset="-122"/>
              </a:rPr>
              <a:t>b</a:t>
            </a:r>
            <a:r>
              <a:rPr lang="en-US" altLang="zh-CN" sz="800">
                <a:solidFill>
                  <a:srgbClr val="FF00FF"/>
                </a:solidFill>
                <a:latin typeface="TimesNewRomanPSMT"/>
              </a:rPr>
              <a:t>1</a:t>
            </a:r>
            <a:r>
              <a:rPr lang="zh-CN" altLang="en-US">
                <a:solidFill>
                  <a:srgbClr val="FF00FF"/>
                </a:solidFill>
                <a:latin typeface="宋体" panose="02010600030101010101" pitchFamily="2" charset="-122"/>
              </a:rPr>
              <a:t>的取值范围为</a:t>
            </a:r>
            <a:r>
              <a:rPr lang="en-US" altLang="zh-CN">
                <a:solidFill>
                  <a:srgbClr val="FF00FF"/>
                </a:solidFill>
                <a:latin typeface="宋体" panose="02010600030101010101" pitchFamily="2" charset="-122"/>
              </a:rPr>
              <a:t>[8-4,8+2]</a:t>
            </a:r>
            <a:r>
              <a:rPr lang="zh-CN" altLang="en-US">
                <a:solidFill>
                  <a:srgbClr val="FF00FF"/>
                </a:solidFill>
                <a:latin typeface="宋体" panose="02010600030101010101" pitchFamily="2" charset="-122"/>
              </a:rPr>
              <a:t>，最优基不变。</a:t>
            </a:r>
            <a:endParaRPr lang="zh-CN" altLang="en-US">
              <a:solidFill>
                <a:srgbClr val="FF00FF"/>
              </a:solidFill>
            </a:endParaRPr>
          </a:p>
        </p:txBody>
      </p:sp>
      <p:cxnSp>
        <p:nvCxnSpPr>
          <p:cNvPr id="7" name="直接箭头连接符 6">
            <a:extLst>
              <a:ext uri="{FF2B5EF4-FFF2-40B4-BE49-F238E27FC236}">
                <a16:creationId xmlns:a16="http://schemas.microsoft.com/office/drawing/2014/main" id="{AAAC4527-8F23-4FFF-A572-4222AD5652FF}"/>
              </a:ext>
            </a:extLst>
          </p:cNvPr>
          <p:cNvCxnSpPr>
            <a:cxnSpLocks/>
            <a:endCxn id="102406" idx="0"/>
          </p:cNvCxnSpPr>
          <p:nvPr/>
        </p:nvCxnSpPr>
        <p:spPr>
          <a:xfrm flipH="1">
            <a:off x="6929438" y="3962400"/>
            <a:ext cx="385762" cy="990600"/>
          </a:xfrm>
          <a:prstGeom prst="straightConnector1">
            <a:avLst/>
          </a:prstGeom>
          <a:ln>
            <a:solidFill>
              <a:srgbClr val="FF00FF"/>
            </a:solidFill>
            <a:tailEnd type="triangl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4E063159-F4C7-414F-920F-D5FBA8B2FB1F}"/>
              </a:ext>
            </a:extLst>
          </p:cNvPr>
          <p:cNvGrpSpPr>
            <a:grpSpLocks/>
          </p:cNvGrpSpPr>
          <p:nvPr/>
        </p:nvGrpSpPr>
        <p:grpSpPr bwMode="auto">
          <a:xfrm>
            <a:off x="2819400" y="5257800"/>
            <a:ext cx="7570788" cy="895350"/>
            <a:chOff x="1295400" y="5352366"/>
            <a:chExt cx="7571303" cy="896034"/>
          </a:xfrm>
        </p:grpSpPr>
        <p:sp>
          <p:nvSpPr>
            <p:cNvPr id="102410" name="矩形 7">
              <a:extLst>
                <a:ext uri="{FF2B5EF4-FFF2-40B4-BE49-F238E27FC236}">
                  <a16:creationId xmlns:a16="http://schemas.microsoft.com/office/drawing/2014/main" id="{B9B9545E-44B1-4371-A063-43EC1812C7FC}"/>
                </a:ext>
              </a:extLst>
            </p:cNvPr>
            <p:cNvSpPr>
              <a:spLocks noChangeArrowheads="1"/>
            </p:cNvSpPr>
            <p:nvPr/>
          </p:nvSpPr>
          <p:spPr bwMode="auto">
            <a:xfrm>
              <a:off x="1295400" y="5602069"/>
              <a:ext cx="7571303" cy="64633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zh-CN" altLang="en-US">
                  <a:solidFill>
                    <a:srgbClr val="FF0000"/>
                  </a:solidFill>
                  <a:latin typeface="宋体" panose="02010600030101010101" pitchFamily="2" charset="-122"/>
                </a:rPr>
                <a:t>增加≤</a:t>
              </a:r>
              <a:r>
                <a:rPr lang="en-US" altLang="zh-CN">
                  <a:solidFill>
                    <a:srgbClr val="FF0000"/>
                  </a:solidFill>
                  <a:latin typeface="宋体" panose="02010600030101010101" pitchFamily="2" charset="-122"/>
                </a:rPr>
                <a:t>2</a:t>
              </a:r>
              <a:r>
                <a:rPr lang="zh-CN" altLang="en-US">
                  <a:solidFill>
                    <a:srgbClr val="FF0000"/>
                  </a:solidFill>
                  <a:latin typeface="宋体" panose="02010600030101010101" pitchFamily="2" charset="-122"/>
                </a:rPr>
                <a:t>台时时，最优基肯定不变；</a:t>
              </a:r>
              <a:endParaRPr lang="en-US" altLang="zh-CN">
                <a:solidFill>
                  <a:srgbClr val="FF0000"/>
                </a:solidFill>
                <a:latin typeface="宋体" panose="02010600030101010101" pitchFamily="2" charset="-122"/>
              </a:endParaRPr>
            </a:p>
            <a:p>
              <a:pPr eaLnBrk="0" fontAlgn="base" hangingPunct="0">
                <a:spcBef>
                  <a:spcPct val="0"/>
                </a:spcBef>
                <a:spcAft>
                  <a:spcPct val="0"/>
                </a:spcAft>
              </a:pPr>
              <a:r>
                <a:rPr lang="zh-CN" altLang="en-US">
                  <a:solidFill>
                    <a:srgbClr val="FF0000"/>
                  </a:solidFill>
                  <a:latin typeface="宋体" panose="02010600030101010101" pitchFamily="2" charset="-122"/>
                </a:rPr>
                <a:t>增加</a:t>
              </a:r>
              <a:r>
                <a:rPr lang="en-US" altLang="zh-CN">
                  <a:solidFill>
                    <a:srgbClr val="FF0000"/>
                  </a:solidFill>
                  <a:latin typeface="宋体" panose="02010600030101010101" pitchFamily="2" charset="-122"/>
                </a:rPr>
                <a:t>&gt;2</a:t>
              </a:r>
              <a:r>
                <a:rPr lang="zh-CN" altLang="en-US">
                  <a:solidFill>
                    <a:srgbClr val="FF0000"/>
                  </a:solidFill>
                  <a:latin typeface="宋体" panose="02010600030101010101" pitchFamily="2" charset="-122"/>
                </a:rPr>
                <a:t>台时时，最优基可能变化也可能不变化（利用新数据重新求解）。</a:t>
              </a:r>
              <a:endParaRPr lang="zh-CN" altLang="en-US">
                <a:solidFill>
                  <a:srgbClr val="FF0000"/>
                </a:solidFill>
              </a:endParaRPr>
            </a:p>
          </p:txBody>
        </p:sp>
        <p:cxnSp>
          <p:nvCxnSpPr>
            <p:cNvPr id="5" name="直接箭头连接符 4">
              <a:extLst>
                <a:ext uri="{FF2B5EF4-FFF2-40B4-BE49-F238E27FC236}">
                  <a16:creationId xmlns:a16="http://schemas.microsoft.com/office/drawing/2014/main" id="{577C6ECA-430D-4BDA-8B8C-68BC4185F427}"/>
                </a:ext>
              </a:extLst>
            </p:cNvPr>
            <p:cNvCxnSpPr>
              <a:cxnSpLocks/>
            </p:cNvCxnSpPr>
            <p:nvPr/>
          </p:nvCxnSpPr>
          <p:spPr>
            <a:xfrm>
              <a:off x="3048119" y="5352366"/>
              <a:ext cx="0" cy="2494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Rectangle 9">
            <a:extLst>
              <a:ext uri="{FF2B5EF4-FFF2-40B4-BE49-F238E27FC236}">
                <a16:creationId xmlns:a16="http://schemas.microsoft.com/office/drawing/2014/main" id="{9F878081-208B-4A18-A6BE-8F372E9CA575}"/>
              </a:ext>
            </a:extLst>
          </p:cNvPr>
          <p:cNvSpPr txBox="1">
            <a:spLocks noChangeArrowheads="1"/>
          </p:cNvSpPr>
          <p:nvPr/>
        </p:nvSpPr>
        <p:spPr bwMode="auto">
          <a:xfrm>
            <a:off x="1892300" y="6292850"/>
            <a:ext cx="8534400" cy="412750"/>
          </a:xfrm>
          <a:prstGeom prst="rect">
            <a:avLst/>
          </a:prstGeom>
          <a:noFill/>
          <a:ln>
            <a:solidFill>
              <a:schemeClr val="tx1"/>
            </a:solidFill>
            <a:miter lim="800000"/>
            <a:headEnd/>
            <a:tailEnd/>
          </a:ln>
        </p:spPr>
        <p:txBody>
          <a:bodyPr lIns="92075" tIns="46038" rIns="92075" bIns="46038"/>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a:buClr>
                <a:srgbClr val="CC9900"/>
              </a:buClr>
              <a:buNone/>
              <a:defRPr/>
            </a:pPr>
            <a:r>
              <a:rPr lang="zh-CN" altLang="en-US" sz="1800" kern="0" dirty="0">
                <a:solidFill>
                  <a:srgbClr val="BC00BC"/>
                </a:solidFill>
                <a:latin typeface="楷体_GB2312" pitchFamily="49" charset="-122"/>
                <a:ea typeface="楷体_GB2312" pitchFamily="49" charset="-122"/>
              </a:rPr>
              <a:t>部分科研的过程：先从实验中做出漂亮的结果，再尝试从理论上进行解释和分析！</a:t>
            </a:r>
            <a:endParaRPr lang="en-US" altLang="zh-CN" sz="1800" kern="0" dirty="0">
              <a:solidFill>
                <a:srgbClr val="BC00BC"/>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56F0787-BB00-4D14-9A41-25D4450EFB14}"/>
              </a:ext>
            </a:extLst>
          </p:cNvPr>
          <p:cNvSpPr>
            <a:spLocks noGrp="1" noChangeArrowheads="1"/>
          </p:cNvSpPr>
          <p:nvPr>
            <p:ph type="title"/>
          </p:nvPr>
        </p:nvSpPr>
        <p:spPr/>
        <p:txBody>
          <a:bodyPr/>
          <a:lstStyle/>
          <a:p>
            <a:pPr eaLnBrk="1" hangingPunct="1"/>
            <a:r>
              <a:rPr lang="zh-CN" altLang="en-US"/>
              <a:t>资源数量</a:t>
            </a:r>
            <a:r>
              <a:rPr lang="en-US" altLang="zh-CN">
                <a:latin typeface="Times New Roman" panose="02020603050405020304" pitchFamily="18" charset="0"/>
              </a:rPr>
              <a:t>b</a:t>
            </a:r>
            <a:r>
              <a:rPr lang="zh-CN" altLang="en-US"/>
              <a:t>变化分析</a:t>
            </a:r>
          </a:p>
        </p:txBody>
      </p:sp>
      <p:sp>
        <p:nvSpPr>
          <p:cNvPr id="133123" name="Rectangle 3">
            <a:extLst>
              <a:ext uri="{FF2B5EF4-FFF2-40B4-BE49-F238E27FC236}">
                <a16:creationId xmlns:a16="http://schemas.microsoft.com/office/drawing/2014/main" id="{36C83CBA-626E-4BA9-AF8A-B5D3DEB53066}"/>
              </a:ext>
            </a:extLst>
          </p:cNvPr>
          <p:cNvSpPr>
            <a:spLocks noGrp="1" noChangeArrowheads="1"/>
          </p:cNvSpPr>
          <p:nvPr>
            <p:ph type="body" sz="half" idx="1"/>
          </p:nvPr>
        </p:nvSpPr>
        <p:spPr>
          <a:xfrm>
            <a:off x="1981200" y="1447801"/>
            <a:ext cx="8153400" cy="4530725"/>
          </a:xfrm>
        </p:spPr>
        <p:txBody>
          <a:bodyPr/>
          <a:lstStyle/>
          <a:p>
            <a:pPr eaLnBrk="1" hangingPunct="1">
              <a:spcBef>
                <a:spcPct val="15000"/>
              </a:spcBef>
              <a:spcAft>
                <a:spcPct val="15000"/>
              </a:spcAft>
            </a:pPr>
            <a:r>
              <a:rPr lang="en-US" altLang="zh-CN" sz="2400" b="0">
                <a:latin typeface="Times New Roman" panose="02020603050405020304" pitchFamily="18" charset="0"/>
                <a:sym typeface="Symbol" panose="05050102010706020507" pitchFamily="18" charset="2"/>
              </a:rPr>
              <a:t>b </a:t>
            </a:r>
            <a:r>
              <a:rPr lang="zh-CN" altLang="zh-CN" sz="2400">
                <a:latin typeface="Times New Roman" panose="02020603050405020304" pitchFamily="18" charset="0"/>
                <a:sym typeface="Symbol" panose="05050102010706020507" pitchFamily="18" charset="2"/>
              </a:rPr>
              <a:t>的变化不影响检验数</a:t>
            </a:r>
            <a:r>
              <a:rPr lang="zh-CN" altLang="en-US" sz="2400">
                <a:latin typeface="Times New Roman" panose="02020603050405020304" pitchFamily="18" charset="0"/>
                <a:sym typeface="Symbol" panose="05050102010706020507" pitchFamily="18" charset="2"/>
              </a:rPr>
              <a:t>，</a:t>
            </a:r>
            <a:r>
              <a:rPr kumimoji="1" lang="zh-CN" altLang="en-US" sz="2400">
                <a:solidFill>
                  <a:srgbClr val="FF00FF"/>
                </a:solidFill>
                <a:latin typeface="Times New Roman" panose="02020603050405020304" pitchFamily="18" charset="0"/>
              </a:rPr>
              <a:t>非基变量检验数</a:t>
            </a:r>
            <a:r>
              <a:rPr lang="el-GR" altLang="zh-CN" sz="2400">
                <a:solidFill>
                  <a:srgbClr val="FF00FF"/>
                </a:solidFill>
                <a:latin typeface="Times New Roman" panose="02020603050405020304" pitchFamily="18" charset="0"/>
                <a:cs typeface="Arial" panose="020B0604020202020204" pitchFamily="34" charset="0"/>
              </a:rPr>
              <a:t>σ</a:t>
            </a:r>
            <a:r>
              <a:rPr lang="en-US" altLang="zh-CN" sz="2400" baseline="-25000">
                <a:solidFill>
                  <a:srgbClr val="FF00FF"/>
                </a:solidFill>
                <a:latin typeface="Times New Roman" panose="02020603050405020304" pitchFamily="18" charset="0"/>
                <a:cs typeface="Arial" panose="020B0604020202020204" pitchFamily="34" charset="0"/>
              </a:rPr>
              <a:t>N</a:t>
            </a:r>
            <a:r>
              <a:rPr lang="en-US" altLang="zh-CN" sz="2400">
                <a:solidFill>
                  <a:srgbClr val="FF00FF"/>
                </a:solidFill>
                <a:latin typeface="Times New Roman" panose="02020603050405020304" pitchFamily="18" charset="0"/>
                <a:cs typeface="Arial" panose="020B0604020202020204" pitchFamily="34" charset="0"/>
              </a:rPr>
              <a:t> =C</a:t>
            </a:r>
            <a:r>
              <a:rPr lang="en-US" altLang="zh-CN" sz="2400" baseline="-25000">
                <a:solidFill>
                  <a:srgbClr val="FF00FF"/>
                </a:solidFill>
                <a:latin typeface="Times New Roman" panose="02020603050405020304" pitchFamily="18" charset="0"/>
                <a:cs typeface="Arial" panose="020B0604020202020204" pitchFamily="34" charset="0"/>
              </a:rPr>
              <a:t>N </a:t>
            </a:r>
            <a:r>
              <a:rPr lang="en-US" altLang="zh-CN" sz="2400">
                <a:solidFill>
                  <a:srgbClr val="FF00FF"/>
                </a:solidFill>
                <a:latin typeface="Times New Roman" panose="02020603050405020304" pitchFamily="18" charset="0"/>
                <a:cs typeface="Arial" panose="020B0604020202020204" pitchFamily="34" charset="0"/>
              </a:rPr>
              <a:t>- C</a:t>
            </a:r>
            <a:r>
              <a:rPr lang="en-US" altLang="zh-CN" sz="2400" baseline="-25000">
                <a:solidFill>
                  <a:srgbClr val="FF00FF"/>
                </a:solidFill>
                <a:latin typeface="Times New Roman" panose="02020603050405020304" pitchFamily="18" charset="0"/>
                <a:cs typeface="Arial" panose="020B0604020202020204" pitchFamily="34" charset="0"/>
              </a:rPr>
              <a:t>B</a:t>
            </a:r>
            <a:r>
              <a:rPr lang="en-US" altLang="zh-CN" sz="2400">
                <a:solidFill>
                  <a:srgbClr val="FF00FF"/>
                </a:solidFill>
                <a:latin typeface="Times New Roman" panose="02020603050405020304" pitchFamily="18" charset="0"/>
                <a:cs typeface="Arial" panose="020B0604020202020204" pitchFamily="34" charset="0"/>
              </a:rPr>
              <a:t>B</a:t>
            </a:r>
            <a:r>
              <a:rPr lang="en-US" altLang="zh-CN" sz="2400" baseline="30000">
                <a:solidFill>
                  <a:srgbClr val="FF00FF"/>
                </a:solidFill>
                <a:latin typeface="Times New Roman" panose="02020603050405020304" pitchFamily="18" charset="0"/>
                <a:cs typeface="Arial" panose="020B0604020202020204" pitchFamily="34" charset="0"/>
              </a:rPr>
              <a:t>-1</a:t>
            </a:r>
            <a:r>
              <a:rPr lang="en-US" altLang="zh-CN" sz="2400">
                <a:solidFill>
                  <a:srgbClr val="FF00FF"/>
                </a:solidFill>
                <a:latin typeface="Times New Roman" panose="02020603050405020304" pitchFamily="18" charset="0"/>
                <a:cs typeface="Arial" panose="020B0604020202020204" pitchFamily="34" charset="0"/>
              </a:rPr>
              <a:t>N</a:t>
            </a:r>
            <a:endParaRPr lang="zh-CN" altLang="en-US" sz="2400">
              <a:latin typeface="Times New Roman" panose="02020603050405020304" pitchFamily="18" charset="0"/>
              <a:sym typeface="Symbol" panose="05050102010706020507" pitchFamily="18" charset="2"/>
            </a:endParaRPr>
          </a:p>
          <a:p>
            <a:pPr eaLnBrk="1" hangingPunct="1">
              <a:spcBef>
                <a:spcPct val="15000"/>
              </a:spcBef>
              <a:spcAft>
                <a:spcPct val="15000"/>
              </a:spcAft>
            </a:pPr>
            <a:r>
              <a:rPr lang="en-US" altLang="zh-CN" sz="2400" b="0">
                <a:latin typeface="Times New Roman" panose="02020603050405020304" pitchFamily="18" charset="0"/>
                <a:sym typeface="Symbol" panose="05050102010706020507" pitchFamily="18" charset="2"/>
              </a:rPr>
              <a:t>b </a:t>
            </a:r>
            <a:r>
              <a:rPr lang="zh-CN" altLang="zh-CN" sz="2400">
                <a:latin typeface="Times New Roman" panose="02020603050405020304" pitchFamily="18" charset="0"/>
                <a:sym typeface="Symbol" panose="05050102010706020507" pitchFamily="18" charset="2"/>
              </a:rPr>
              <a:t>的变化量</a:t>
            </a:r>
            <a:r>
              <a:rPr lang="zh-CN" altLang="en-US" sz="2400">
                <a:latin typeface="Times New Roman" panose="02020603050405020304" pitchFamily="18" charset="0"/>
                <a:sym typeface="Symbol" panose="05050102010706020507" pitchFamily="18" charset="2"/>
              </a:rPr>
              <a:t>∆</a:t>
            </a:r>
            <a:r>
              <a:rPr lang="en-US" altLang="zh-CN" sz="2400" b="0">
                <a:latin typeface="Times New Roman" panose="02020603050405020304" pitchFamily="18" charset="0"/>
                <a:sym typeface="Symbol" panose="05050102010706020507" pitchFamily="18" charset="2"/>
              </a:rPr>
              <a:t>b </a:t>
            </a:r>
            <a:r>
              <a:rPr lang="zh-CN" altLang="en-US" sz="2400">
                <a:latin typeface="Times New Roman" panose="02020603050405020304" pitchFamily="18" charset="0"/>
                <a:sym typeface="Symbol" panose="05050102010706020507" pitchFamily="18" charset="2"/>
              </a:rPr>
              <a:t>可能导致原最优解变为非可行解</a:t>
            </a:r>
          </a:p>
        </p:txBody>
      </p:sp>
      <p:graphicFrame>
        <p:nvGraphicFramePr>
          <p:cNvPr id="2" name="对象 1">
            <a:extLst>
              <a:ext uri="{FF2B5EF4-FFF2-40B4-BE49-F238E27FC236}">
                <a16:creationId xmlns:a16="http://schemas.microsoft.com/office/drawing/2014/main" id="{5D8F0AE3-0345-4897-9EDD-B0AA82D64207}"/>
              </a:ext>
            </a:extLst>
          </p:cNvPr>
          <p:cNvGraphicFramePr>
            <a:graphicFrameLocks noChangeAspect="1"/>
          </p:cNvGraphicFramePr>
          <p:nvPr/>
        </p:nvGraphicFramePr>
        <p:xfrm>
          <a:off x="3749675" y="2465389"/>
          <a:ext cx="4389438" cy="3538537"/>
        </p:xfrm>
        <a:graphic>
          <a:graphicData uri="http://schemas.openxmlformats.org/presentationml/2006/ole">
            <mc:AlternateContent xmlns:mc="http://schemas.openxmlformats.org/markup-compatibility/2006">
              <mc:Choice xmlns:v="urn:schemas-microsoft-com:vml" Requires="v">
                <p:oleObj spid="_x0000_s3074" name="Equation" r:id="rId3" imgW="2032000" imgH="1638300" progId="Equation.DSMT4">
                  <p:embed/>
                </p:oleObj>
              </mc:Choice>
              <mc:Fallback>
                <p:oleObj name="Equation" r:id="rId3" imgW="2032000" imgH="1638300" progId="Equation.DSMT4">
                  <p:embed/>
                  <p:pic>
                    <p:nvPicPr>
                      <p:cNvPr id="2" name="对象 1">
                        <a:extLst>
                          <a:ext uri="{FF2B5EF4-FFF2-40B4-BE49-F238E27FC236}">
                            <a16:creationId xmlns:a16="http://schemas.microsoft.com/office/drawing/2014/main" id="{5D8F0AE3-0345-4897-9EDD-B0AA82D642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9675" y="2465389"/>
                        <a:ext cx="4389438" cy="35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horizontal)">
                                      <p:cBhvr>
                                        <p:cTn id="7" dur="500"/>
                                        <p:tgtEl>
                                          <p:spTgt spid="1331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23">
                                            <p:txEl>
                                              <p:pRg st="1" end="1"/>
                                            </p:txEl>
                                          </p:spTgt>
                                        </p:tgtEl>
                                        <p:attrNameLst>
                                          <p:attrName>style.visibility</p:attrName>
                                        </p:attrNameLst>
                                      </p:cBhvr>
                                      <p:to>
                                        <p:strVal val="visible"/>
                                      </p:to>
                                    </p:set>
                                    <p:animEffect transition="in" filter="blinds(horizontal)">
                                      <p:cBhvr>
                                        <p:cTn id="12" dur="500"/>
                                        <p:tgtEl>
                                          <p:spTgt spid="13312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randombar(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6">
            <a:extLst>
              <a:ext uri="{FF2B5EF4-FFF2-40B4-BE49-F238E27FC236}">
                <a16:creationId xmlns:a16="http://schemas.microsoft.com/office/drawing/2014/main" id="{ADBA4E89-8284-4618-A948-7AF432BD197D}"/>
              </a:ext>
            </a:extLst>
          </p:cNvPr>
          <p:cNvSpPr>
            <a:spLocks noChangeArrowheads="1"/>
          </p:cNvSpPr>
          <p:nvPr/>
        </p:nvSpPr>
        <p:spPr bwMode="auto">
          <a:xfrm>
            <a:off x="1981200" y="277814"/>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r>
              <a:rPr lang="zh-CN" altLang="en-US" sz="4200" b="1">
                <a:solidFill>
                  <a:srgbClr val="006633"/>
                </a:solidFill>
                <a:latin typeface="Garamond" panose="02020404030301010803" pitchFamily="18" charset="0"/>
              </a:rPr>
              <a:t>资源数量</a:t>
            </a:r>
            <a:r>
              <a:rPr lang="en-US" altLang="zh-CN" sz="4200" b="1">
                <a:solidFill>
                  <a:srgbClr val="006633"/>
                </a:solidFill>
                <a:latin typeface="Times New Roman" panose="02020603050405020304" pitchFamily="18" charset="0"/>
              </a:rPr>
              <a:t>b</a:t>
            </a:r>
            <a:r>
              <a:rPr lang="zh-CN" altLang="en-US" sz="4200" b="1">
                <a:solidFill>
                  <a:srgbClr val="006633"/>
                </a:solidFill>
                <a:latin typeface="Garamond" panose="02020404030301010803" pitchFamily="18" charset="0"/>
              </a:rPr>
              <a:t>变化分析</a:t>
            </a:r>
          </a:p>
        </p:txBody>
      </p:sp>
      <p:graphicFrame>
        <p:nvGraphicFramePr>
          <p:cNvPr id="104451" name="对象 1">
            <a:extLst>
              <a:ext uri="{FF2B5EF4-FFF2-40B4-BE49-F238E27FC236}">
                <a16:creationId xmlns:a16="http://schemas.microsoft.com/office/drawing/2014/main" id="{BD8DCCC1-0982-4D12-8B30-CD9B18BDDE1E}"/>
              </a:ext>
            </a:extLst>
          </p:cNvPr>
          <p:cNvGraphicFramePr>
            <a:graphicFrameLocks noChangeAspect="1"/>
          </p:cNvGraphicFramePr>
          <p:nvPr/>
        </p:nvGraphicFramePr>
        <p:xfrm>
          <a:off x="2109788" y="1066800"/>
          <a:ext cx="7872412" cy="4865688"/>
        </p:xfrm>
        <a:graphic>
          <a:graphicData uri="http://schemas.openxmlformats.org/presentationml/2006/ole">
            <mc:AlternateContent xmlns:mc="http://schemas.openxmlformats.org/markup-compatibility/2006">
              <mc:Choice xmlns:v="urn:schemas-microsoft-com:vml" Requires="v">
                <p:oleObj spid="_x0000_s4098" name="Equation" r:id="rId3" imgW="3390900" imgH="2095500" progId="Equation.DSMT4">
                  <p:embed/>
                </p:oleObj>
              </mc:Choice>
              <mc:Fallback>
                <p:oleObj name="Equation" r:id="rId3" imgW="3390900" imgH="2095500" progId="Equation.DSMT4">
                  <p:embed/>
                  <p:pic>
                    <p:nvPicPr>
                      <p:cNvPr id="104451" name="对象 1">
                        <a:extLst>
                          <a:ext uri="{FF2B5EF4-FFF2-40B4-BE49-F238E27FC236}">
                            <a16:creationId xmlns:a16="http://schemas.microsoft.com/office/drawing/2014/main" id="{BD8DCCC1-0982-4D12-8B30-CD9B18BDDE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9788" y="1066800"/>
                        <a:ext cx="7872412" cy="486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descr="Large confetti">
            <a:extLst>
              <a:ext uri="{FF2B5EF4-FFF2-40B4-BE49-F238E27FC236}">
                <a16:creationId xmlns:a16="http://schemas.microsoft.com/office/drawing/2014/main" id="{0514BE1A-5DCB-4BAC-A55F-49FF570B7B9B}"/>
              </a:ext>
            </a:extLst>
          </p:cNvPr>
          <p:cNvSpPr>
            <a:spLocks noGrp="1" noChangeArrowheads="1"/>
          </p:cNvSpPr>
          <p:nvPr>
            <p:ph type="title"/>
          </p:nvPr>
        </p:nvSpPr>
        <p:spPr/>
        <p:txBody>
          <a:bodyPr/>
          <a:lstStyle/>
          <a:p>
            <a:pPr eaLnBrk="1" hangingPunct="1"/>
            <a:r>
              <a:rPr lang="zh-CN" altLang="en-US"/>
              <a:t>例子：资源数量</a:t>
            </a:r>
            <a:r>
              <a:rPr lang="en-US" altLang="zh-CN">
                <a:latin typeface="Times New Roman" panose="02020603050405020304" pitchFamily="18" charset="0"/>
              </a:rPr>
              <a:t>b</a:t>
            </a:r>
            <a:r>
              <a:rPr lang="zh-CN" altLang="en-US"/>
              <a:t>变化分析</a:t>
            </a:r>
          </a:p>
        </p:txBody>
      </p:sp>
      <p:sp>
        <p:nvSpPr>
          <p:cNvPr id="6" name="Rectangle 3">
            <a:extLst>
              <a:ext uri="{FF2B5EF4-FFF2-40B4-BE49-F238E27FC236}">
                <a16:creationId xmlns:a16="http://schemas.microsoft.com/office/drawing/2014/main" id="{7E3A5510-B66F-44C3-A2AB-47C139091DE7}"/>
              </a:ext>
            </a:extLst>
          </p:cNvPr>
          <p:cNvSpPr txBox="1">
            <a:spLocks noChangeArrowheads="1"/>
          </p:cNvSpPr>
          <p:nvPr/>
        </p:nvSpPr>
        <p:spPr bwMode="auto">
          <a:xfrm>
            <a:off x="1752600" y="1295400"/>
            <a:ext cx="8610600" cy="3335338"/>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a:t>
            </a:r>
            <a:r>
              <a:rPr lang="zh-CN" altLang="en-US" sz="2000" kern="0" dirty="0">
                <a:solidFill>
                  <a:srgbClr val="FF0000"/>
                </a:solidFill>
                <a:latin typeface="Arial"/>
                <a:ea typeface="宋体"/>
              </a:rPr>
              <a:t>生产计划问题</a:t>
            </a:r>
            <a:r>
              <a:rPr lang="zh-CN" altLang="en-US" sz="2000" kern="0" dirty="0">
                <a:solidFill>
                  <a:srgbClr val="000000"/>
                </a:solidFill>
                <a:latin typeface="Arial"/>
                <a:ea typeface="宋体"/>
              </a:rPr>
              <a:t>）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marL="0" indent="0" eaLnBrk="1" hangingPunct="1">
              <a:lnSpc>
                <a:spcPct val="90000"/>
              </a:lnSpc>
              <a:buClr>
                <a:srgbClr val="CC9900"/>
              </a:buClr>
              <a:buNone/>
              <a:defRPr/>
            </a:pPr>
            <a:r>
              <a:rPr lang="zh-CN" altLang="en-US" sz="2000" kern="0" dirty="0">
                <a:solidFill>
                  <a:srgbClr val="FF00FF"/>
                </a:solidFill>
                <a:latin typeface="Arial"/>
                <a:ea typeface="宋体"/>
              </a:rPr>
              <a:t>若该厂又从其他处抽调</a:t>
            </a:r>
            <a:r>
              <a:rPr lang="en-US" altLang="zh-CN" sz="2000" kern="0" dirty="0">
                <a:solidFill>
                  <a:srgbClr val="FF00FF"/>
                </a:solidFill>
                <a:latin typeface="Arial"/>
                <a:ea typeface="宋体"/>
              </a:rPr>
              <a:t>4 </a:t>
            </a:r>
            <a:r>
              <a:rPr lang="zh-CN" altLang="en-US" sz="2000" kern="0" dirty="0">
                <a:solidFill>
                  <a:srgbClr val="FF00FF"/>
                </a:solidFill>
                <a:latin typeface="Arial"/>
                <a:ea typeface="宋体"/>
              </a:rPr>
              <a:t>台时用于生产产品</a:t>
            </a:r>
            <a:r>
              <a:rPr lang="en-US" altLang="zh-CN" sz="2000" kern="0" dirty="0">
                <a:solidFill>
                  <a:srgbClr val="FF00FF"/>
                </a:solidFill>
                <a:latin typeface="Arial"/>
                <a:ea typeface="宋体"/>
              </a:rPr>
              <a:t>Ⅰ , Ⅱ</a:t>
            </a:r>
            <a:r>
              <a:rPr lang="zh-CN" altLang="en-US" sz="2000" kern="0" dirty="0">
                <a:solidFill>
                  <a:srgbClr val="FF00FF"/>
                </a:solidFill>
                <a:latin typeface="Arial"/>
                <a:ea typeface="宋体"/>
              </a:rPr>
              <a:t>。求这时该厂生产产品</a:t>
            </a:r>
            <a:r>
              <a:rPr lang="en-US" altLang="zh-CN" sz="2000" kern="0" dirty="0">
                <a:solidFill>
                  <a:srgbClr val="FF00FF"/>
                </a:solidFill>
                <a:latin typeface="Arial"/>
                <a:ea typeface="宋体"/>
              </a:rPr>
              <a:t>Ⅰ , Ⅱ</a:t>
            </a:r>
            <a:r>
              <a:rPr lang="zh-CN" altLang="en-US" sz="2000" kern="0" dirty="0">
                <a:solidFill>
                  <a:srgbClr val="FF00FF"/>
                </a:solidFill>
                <a:latin typeface="Arial"/>
                <a:ea typeface="宋体"/>
              </a:rPr>
              <a:t>的最优方案</a:t>
            </a:r>
            <a:r>
              <a:rPr lang="en-US" altLang="zh-CN" sz="2000" kern="0" dirty="0">
                <a:solidFill>
                  <a:srgbClr val="FF00FF"/>
                </a:solidFill>
                <a:latin typeface="Arial"/>
                <a:ea typeface="宋体"/>
              </a:rPr>
              <a:t>?</a:t>
            </a:r>
          </a:p>
        </p:txBody>
      </p:sp>
      <p:graphicFrame>
        <p:nvGraphicFramePr>
          <p:cNvPr id="7" name="Group 50">
            <a:extLst>
              <a:ext uri="{FF2B5EF4-FFF2-40B4-BE49-F238E27FC236}">
                <a16:creationId xmlns:a16="http://schemas.microsoft.com/office/drawing/2014/main" id="{81D8F462-F3D9-453E-BEFA-D43BFF5A8D70}"/>
              </a:ext>
            </a:extLst>
          </p:cNvPr>
          <p:cNvGraphicFramePr>
            <a:graphicFrameLocks/>
          </p:cNvGraphicFramePr>
          <p:nvPr/>
        </p:nvGraphicFramePr>
        <p:xfrm>
          <a:off x="2209800" y="1922463"/>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105508" name="对象 33">
            <a:extLst>
              <a:ext uri="{FF2B5EF4-FFF2-40B4-BE49-F238E27FC236}">
                <a16:creationId xmlns:a16="http://schemas.microsoft.com/office/drawing/2014/main" id="{B9C6F775-911A-4953-8394-09D25A8CB571}"/>
              </a:ext>
            </a:extLst>
          </p:cNvPr>
          <p:cNvGraphicFramePr>
            <a:graphicFrameLocks noChangeAspect="1"/>
          </p:cNvGraphicFramePr>
          <p:nvPr/>
        </p:nvGraphicFramePr>
        <p:xfrm>
          <a:off x="6715125" y="2001838"/>
          <a:ext cx="2833688" cy="1524000"/>
        </p:xfrm>
        <a:graphic>
          <a:graphicData uri="http://schemas.openxmlformats.org/presentationml/2006/ole">
            <mc:AlternateContent xmlns:mc="http://schemas.openxmlformats.org/markup-compatibility/2006">
              <mc:Choice xmlns:v="urn:schemas-microsoft-com:vml" Requires="v">
                <p:oleObj spid="_x0000_s5122" name="Equation" r:id="rId3" imgW="1511300" imgH="812800" progId="Equation.DSMT4">
                  <p:embed/>
                </p:oleObj>
              </mc:Choice>
              <mc:Fallback>
                <p:oleObj name="Equation" r:id="rId3" imgW="1511300" imgH="812800" progId="Equation.DSMT4">
                  <p:embed/>
                  <p:pic>
                    <p:nvPicPr>
                      <p:cNvPr id="105508" name="对象 33">
                        <a:extLst>
                          <a:ext uri="{FF2B5EF4-FFF2-40B4-BE49-F238E27FC236}">
                            <a16:creationId xmlns:a16="http://schemas.microsoft.com/office/drawing/2014/main" id="{B9C6F775-911A-4953-8394-09D25A8CB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5125" y="2001838"/>
                        <a:ext cx="283368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33">
            <a:extLst>
              <a:ext uri="{FF2B5EF4-FFF2-40B4-BE49-F238E27FC236}">
                <a16:creationId xmlns:a16="http://schemas.microsoft.com/office/drawing/2014/main" id="{E8A115C3-4D45-4072-9D32-8AF74539C28B}"/>
              </a:ext>
            </a:extLst>
          </p:cNvPr>
          <p:cNvGraphicFramePr>
            <a:graphicFrameLocks noChangeAspect="1"/>
          </p:cNvGraphicFramePr>
          <p:nvPr/>
        </p:nvGraphicFramePr>
        <p:xfrm>
          <a:off x="3624263" y="4241800"/>
          <a:ext cx="3771900" cy="1828800"/>
        </p:xfrm>
        <a:graphic>
          <a:graphicData uri="http://schemas.openxmlformats.org/presentationml/2006/ole">
            <mc:AlternateContent xmlns:mc="http://schemas.openxmlformats.org/markup-compatibility/2006">
              <mc:Choice xmlns:v="urn:schemas-microsoft-com:vml" Requires="v">
                <p:oleObj spid="_x0000_s5123" name="Equation" r:id="rId5" imgW="1676400" imgH="812800" progId="Equation.DSMT4">
                  <p:embed/>
                </p:oleObj>
              </mc:Choice>
              <mc:Fallback>
                <p:oleObj name="Equation" r:id="rId5" imgW="1676400" imgH="812800" progId="Equation.DSMT4">
                  <p:embed/>
                  <p:pic>
                    <p:nvPicPr>
                      <p:cNvPr id="11" name="对象 33">
                        <a:extLst>
                          <a:ext uri="{FF2B5EF4-FFF2-40B4-BE49-F238E27FC236}">
                            <a16:creationId xmlns:a16="http://schemas.microsoft.com/office/drawing/2014/main" id="{E8A115C3-4D45-4072-9D32-8AF74539C2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4263" y="4241800"/>
                        <a:ext cx="37719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5DD68358-50EE-4BD0-AEAF-758755C113A5}"/>
              </a:ext>
            </a:extLst>
          </p:cNvPr>
          <p:cNvSpPr>
            <a:spLocks noGrp="1" noChangeArrowheads="1"/>
          </p:cNvSpPr>
          <p:nvPr>
            <p:ph type="title"/>
          </p:nvPr>
        </p:nvSpPr>
        <p:spPr>
          <a:xfrm>
            <a:off x="1981200" y="152400"/>
            <a:ext cx="8229600" cy="712788"/>
          </a:xfrm>
        </p:spPr>
        <p:txBody>
          <a:bodyPr/>
          <a:lstStyle/>
          <a:p>
            <a:pPr eaLnBrk="1" hangingPunct="1"/>
            <a:r>
              <a:rPr lang="zh-CN" altLang="en-US"/>
              <a:t>例子：资源数量</a:t>
            </a:r>
            <a:r>
              <a:rPr lang="en-US" altLang="zh-CN">
                <a:latin typeface="Times New Roman" panose="02020603050405020304" pitchFamily="18" charset="0"/>
              </a:rPr>
              <a:t>b</a:t>
            </a:r>
            <a:r>
              <a:rPr lang="zh-CN" altLang="en-US"/>
              <a:t>变化分析</a:t>
            </a:r>
          </a:p>
        </p:txBody>
      </p:sp>
      <p:sp>
        <p:nvSpPr>
          <p:cNvPr id="2" name="矩形 1">
            <a:extLst>
              <a:ext uri="{FF2B5EF4-FFF2-40B4-BE49-F238E27FC236}">
                <a16:creationId xmlns:a16="http://schemas.microsoft.com/office/drawing/2014/main" id="{6315E066-957B-4680-939F-084D816C9B6E}"/>
              </a:ext>
            </a:extLst>
          </p:cNvPr>
          <p:cNvSpPr/>
          <p:nvPr/>
        </p:nvSpPr>
        <p:spPr>
          <a:xfrm>
            <a:off x="1905000" y="762000"/>
            <a:ext cx="3659188" cy="369888"/>
          </a:xfrm>
          <a:prstGeom prst="rect">
            <a:avLst/>
          </a:prstGeom>
        </p:spPr>
        <p:txBody>
          <a:bodyPr wrap="none">
            <a:spAutoFit/>
          </a:bodyPr>
          <a:lstStyle/>
          <a:p>
            <a:pPr eaLnBrk="0" fontAlgn="base" hangingPunct="0">
              <a:spcBef>
                <a:spcPct val="0"/>
              </a:spcBef>
              <a:spcAft>
                <a:spcPct val="0"/>
              </a:spcAft>
              <a:defRPr/>
            </a:pPr>
            <a:r>
              <a:rPr lang="zh-CN" altLang="en-US" kern="0" dirty="0">
                <a:solidFill>
                  <a:srgbClr val="000000"/>
                </a:solidFill>
                <a:latin typeface="Arial" panose="020B0604020202020204" pitchFamily="34" charset="0"/>
                <a:ea typeface="宋体" panose="02010600030101010101" pitchFamily="2" charset="-122"/>
              </a:rPr>
              <a:t>原来问题最终单纯形表（</a:t>
            </a:r>
            <a:r>
              <a:rPr lang="en-US" altLang="zh-CN" kern="0" dirty="0">
                <a:solidFill>
                  <a:srgbClr val="000000"/>
                </a:solidFill>
                <a:latin typeface="Arial" panose="020B0604020202020204" pitchFamily="34" charset="0"/>
                <a:ea typeface="宋体" panose="02010600030101010101" pitchFamily="2" charset="-122"/>
              </a:rPr>
              <a:t>PPT23</a:t>
            </a:r>
            <a:r>
              <a:rPr lang="zh-CN" altLang="en-US" kern="0" dirty="0">
                <a:solidFill>
                  <a:srgbClr val="000000"/>
                </a:solidFill>
                <a:latin typeface="Arial" panose="020B0604020202020204" pitchFamily="34" charset="0"/>
                <a:ea typeface="宋体" panose="02010600030101010101" pitchFamily="2" charset="-122"/>
              </a:rPr>
              <a:t>）</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06500" name="对象 2">
            <a:extLst>
              <a:ext uri="{FF2B5EF4-FFF2-40B4-BE49-F238E27FC236}">
                <a16:creationId xmlns:a16="http://schemas.microsoft.com/office/drawing/2014/main" id="{8CBD08F4-5C0B-4892-80A2-F3B02A80F5E4}"/>
              </a:ext>
            </a:extLst>
          </p:cNvPr>
          <p:cNvGraphicFramePr>
            <a:graphicFrameLocks noChangeAspect="1"/>
          </p:cNvGraphicFramePr>
          <p:nvPr/>
        </p:nvGraphicFramePr>
        <p:xfrm>
          <a:off x="6934200" y="2005013"/>
          <a:ext cx="3111500" cy="938212"/>
        </p:xfrm>
        <a:graphic>
          <a:graphicData uri="http://schemas.openxmlformats.org/presentationml/2006/ole">
            <mc:AlternateContent xmlns:mc="http://schemas.openxmlformats.org/markup-compatibility/2006">
              <mc:Choice xmlns:v="urn:schemas-microsoft-com:vml" Requires="v">
                <p:oleObj spid="_x0000_s6146" name="Equation" r:id="rId3" imgW="1600200" imgH="482600" progId="Equation.DSMT4">
                  <p:embed/>
                </p:oleObj>
              </mc:Choice>
              <mc:Fallback>
                <p:oleObj name="Equation" r:id="rId3" imgW="1600200" imgH="482600" progId="Equation.DSMT4">
                  <p:embed/>
                  <p:pic>
                    <p:nvPicPr>
                      <p:cNvPr id="106500" name="对象 2">
                        <a:extLst>
                          <a:ext uri="{FF2B5EF4-FFF2-40B4-BE49-F238E27FC236}">
                            <a16:creationId xmlns:a16="http://schemas.microsoft.com/office/drawing/2014/main" id="{8CBD08F4-5C0B-4892-80A2-F3B02A80F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005013"/>
                        <a:ext cx="3111500"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组合 8">
            <a:extLst>
              <a:ext uri="{FF2B5EF4-FFF2-40B4-BE49-F238E27FC236}">
                <a16:creationId xmlns:a16="http://schemas.microsoft.com/office/drawing/2014/main" id="{C560E998-5C99-4168-AAA4-1FA33A613DEC}"/>
              </a:ext>
            </a:extLst>
          </p:cNvPr>
          <p:cNvGrpSpPr>
            <a:grpSpLocks/>
          </p:cNvGrpSpPr>
          <p:nvPr/>
        </p:nvGrpSpPr>
        <p:grpSpPr bwMode="auto">
          <a:xfrm>
            <a:off x="2971800" y="2838450"/>
            <a:ext cx="6623050" cy="3257550"/>
            <a:chOff x="-1515703" y="7136158"/>
            <a:chExt cx="6623370" cy="3259124"/>
          </a:xfrm>
        </p:grpSpPr>
        <p:cxnSp>
          <p:nvCxnSpPr>
            <p:cNvPr id="26" name="直接箭头连接符 25">
              <a:extLst>
                <a:ext uri="{FF2B5EF4-FFF2-40B4-BE49-F238E27FC236}">
                  <a16:creationId xmlns:a16="http://schemas.microsoft.com/office/drawing/2014/main" id="{A8683F2B-F409-43FB-9668-6CB730735364}"/>
                </a:ext>
              </a:extLst>
            </p:cNvPr>
            <p:cNvCxnSpPr>
              <a:cxnSpLocks/>
            </p:cNvCxnSpPr>
            <p:nvPr/>
          </p:nvCxnSpPr>
          <p:spPr bwMode="auto">
            <a:xfrm flipH="1">
              <a:off x="-1133097" y="7136158"/>
              <a:ext cx="6240764" cy="23442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2CF0391D-2CB3-405E-B300-0A1CCB6AAC2B}"/>
                </a:ext>
              </a:extLst>
            </p:cNvPr>
            <p:cNvSpPr/>
            <p:nvPr/>
          </p:nvSpPr>
          <p:spPr bwMode="auto">
            <a:xfrm>
              <a:off x="-1515703" y="9123081"/>
              <a:ext cx="382606" cy="12722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srgbClr val="FFFFFF"/>
                </a:solidFill>
                <a:latin typeface="Arial"/>
                <a:ea typeface="宋体"/>
              </a:endParaRPr>
            </a:p>
          </p:txBody>
        </p:sp>
      </p:grpSp>
      <p:sp>
        <p:nvSpPr>
          <p:cNvPr id="16" name="矩形 15">
            <a:extLst>
              <a:ext uri="{FF2B5EF4-FFF2-40B4-BE49-F238E27FC236}">
                <a16:creationId xmlns:a16="http://schemas.microsoft.com/office/drawing/2014/main" id="{4F30DB88-70D7-494D-A9AD-72561F14E8F3}"/>
              </a:ext>
            </a:extLst>
          </p:cNvPr>
          <p:cNvSpPr/>
          <p:nvPr/>
        </p:nvSpPr>
        <p:spPr>
          <a:xfrm>
            <a:off x="7239001" y="5072063"/>
            <a:ext cx="2030413" cy="461962"/>
          </a:xfrm>
          <a:prstGeom prst="rect">
            <a:avLst/>
          </a:prstGeom>
        </p:spPr>
        <p:txBody>
          <a:bodyPr wrap="none">
            <a:spAutoFit/>
          </a:bodyPr>
          <a:lstStyle/>
          <a:p>
            <a:pPr eaLnBrk="0" fontAlgn="base" hangingPunct="0">
              <a:spcBef>
                <a:spcPct val="0"/>
              </a:spcBef>
              <a:spcAft>
                <a:spcPct val="0"/>
              </a:spcAft>
              <a:defRPr/>
            </a:pPr>
            <a:r>
              <a:rPr lang="zh-CN" altLang="en-US" sz="2400" kern="0" dirty="0">
                <a:solidFill>
                  <a:srgbClr val="FF00FF"/>
                </a:solidFill>
                <a:latin typeface="Arial" panose="020B0604020202020204" pitchFamily="34" charset="0"/>
                <a:ea typeface="宋体" panose="02010600030101010101" pitchFamily="2" charset="-122"/>
              </a:rPr>
              <a:t>对偶单纯形法</a:t>
            </a:r>
            <a:endParaRPr lang="zh-CN" altLang="en-US" sz="2400" dirty="0">
              <a:solidFill>
                <a:srgbClr val="FF00FF"/>
              </a:solidFill>
              <a:latin typeface="Arial" panose="020B0604020202020204" pitchFamily="34" charset="0"/>
              <a:ea typeface="宋体" panose="02010600030101010101" pitchFamily="2" charset="-122"/>
            </a:endParaRPr>
          </a:p>
        </p:txBody>
      </p:sp>
      <p:graphicFrame>
        <p:nvGraphicFramePr>
          <p:cNvPr id="17" name="Group 719">
            <a:extLst>
              <a:ext uri="{FF2B5EF4-FFF2-40B4-BE49-F238E27FC236}">
                <a16:creationId xmlns:a16="http://schemas.microsoft.com/office/drawing/2014/main" id="{DA891DD7-15A7-451A-9CF6-A1A13CAC335E}"/>
              </a:ext>
            </a:extLst>
          </p:cNvPr>
          <p:cNvGraphicFramePr>
            <a:graphicFrameLocks noGrp="1"/>
          </p:cNvGraphicFramePr>
          <p:nvPr/>
        </p:nvGraphicFramePr>
        <p:xfrm>
          <a:off x="1752601" y="1143000"/>
          <a:ext cx="5103813" cy="2706688"/>
        </p:xfrm>
        <a:graphic>
          <a:graphicData uri="http://schemas.openxmlformats.org/drawingml/2006/table">
            <a:tbl>
              <a:tblPr/>
              <a:tblGrid>
                <a:gridCol w="533235">
                  <a:extLst>
                    <a:ext uri="{9D8B030D-6E8A-4147-A177-3AD203B41FA5}">
                      <a16:colId xmlns:a16="http://schemas.microsoft.com/office/drawing/2014/main" val="20000"/>
                    </a:ext>
                  </a:extLst>
                </a:gridCol>
                <a:gridCol w="533235">
                  <a:extLst>
                    <a:ext uri="{9D8B030D-6E8A-4147-A177-3AD203B41FA5}">
                      <a16:colId xmlns:a16="http://schemas.microsoft.com/office/drawing/2014/main" val="20001"/>
                    </a:ext>
                  </a:extLst>
                </a:gridCol>
                <a:gridCol w="533235">
                  <a:extLst>
                    <a:ext uri="{9D8B030D-6E8A-4147-A177-3AD203B41FA5}">
                      <a16:colId xmlns:a16="http://schemas.microsoft.com/office/drawing/2014/main" val="20002"/>
                    </a:ext>
                  </a:extLst>
                </a:gridCol>
                <a:gridCol w="533235">
                  <a:extLst>
                    <a:ext uri="{9D8B030D-6E8A-4147-A177-3AD203B41FA5}">
                      <a16:colId xmlns:a16="http://schemas.microsoft.com/office/drawing/2014/main" val="20003"/>
                    </a:ext>
                  </a:extLst>
                </a:gridCol>
                <a:gridCol w="458230">
                  <a:extLst>
                    <a:ext uri="{9D8B030D-6E8A-4147-A177-3AD203B41FA5}">
                      <a16:colId xmlns:a16="http://schemas.microsoft.com/office/drawing/2014/main" val="20004"/>
                    </a:ext>
                  </a:extLst>
                </a:gridCol>
                <a:gridCol w="608238">
                  <a:extLst>
                    <a:ext uri="{9D8B030D-6E8A-4147-A177-3AD203B41FA5}">
                      <a16:colId xmlns:a16="http://schemas.microsoft.com/office/drawing/2014/main" val="20005"/>
                    </a:ext>
                  </a:extLst>
                </a:gridCol>
                <a:gridCol w="883644">
                  <a:extLst>
                    <a:ext uri="{9D8B030D-6E8A-4147-A177-3AD203B41FA5}">
                      <a16:colId xmlns:a16="http://schemas.microsoft.com/office/drawing/2014/main" val="20006"/>
                    </a:ext>
                  </a:extLst>
                </a:gridCol>
                <a:gridCol w="531647">
                  <a:extLst>
                    <a:ext uri="{9D8B030D-6E8A-4147-A177-3AD203B41FA5}">
                      <a16:colId xmlns:a16="http://schemas.microsoft.com/office/drawing/2014/main" val="20007"/>
                    </a:ext>
                  </a:extLst>
                </a:gridCol>
                <a:gridCol w="489115">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L="91436" marR="91436"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6" marR="91436"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L="91436" marR="91436"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-0.125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8" name="组合 17">
            <a:extLst>
              <a:ext uri="{FF2B5EF4-FFF2-40B4-BE49-F238E27FC236}">
                <a16:creationId xmlns:a16="http://schemas.microsoft.com/office/drawing/2014/main" id="{5D39EA20-0FA4-444E-A9C0-4C8129D6D4C7}"/>
              </a:ext>
            </a:extLst>
          </p:cNvPr>
          <p:cNvGrpSpPr>
            <a:grpSpLocks/>
          </p:cNvGrpSpPr>
          <p:nvPr/>
        </p:nvGrpSpPr>
        <p:grpSpPr bwMode="auto">
          <a:xfrm>
            <a:off x="7216775" y="733426"/>
            <a:ext cx="1866900" cy="923330"/>
            <a:chOff x="6591300" y="4343400"/>
            <a:chExt cx="1638300" cy="923329"/>
          </a:xfrm>
        </p:grpSpPr>
        <p:sp>
          <p:nvSpPr>
            <p:cNvPr id="19" name="矩形 3">
              <a:extLst>
                <a:ext uri="{FF2B5EF4-FFF2-40B4-BE49-F238E27FC236}">
                  <a16:creationId xmlns:a16="http://schemas.microsoft.com/office/drawing/2014/main" id="{8DC573EC-3071-4E44-8B60-38409232872D}"/>
                </a:ext>
              </a:extLst>
            </p:cNvPr>
            <p:cNvSpPr>
              <a:spLocks noChangeArrowheads="1"/>
            </p:cNvSpPr>
            <p:nvPr/>
          </p:nvSpPr>
          <p:spPr bwMode="auto">
            <a:xfrm>
              <a:off x="6591300" y="4343400"/>
              <a:ext cx="1638300" cy="923329"/>
            </a:xfrm>
            <a:prstGeom prst="rect">
              <a:avLst/>
            </a:prstGeom>
            <a:solidFill>
              <a:schemeClr val="tx2">
                <a:lumMod val="40000"/>
                <a:lumOff val="60000"/>
              </a:schemeClr>
            </a:solidFill>
            <a:ln w="25400">
              <a:solidFill>
                <a:srgbClr val="FF00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zh-CN" altLang="en-US">
                <a:solidFill>
                  <a:srgbClr val="FF0000"/>
                </a:solidFill>
              </a:endParaRPr>
            </a:p>
          </p:txBody>
        </p:sp>
        <p:graphicFrame>
          <p:nvGraphicFramePr>
            <p:cNvPr id="106644" name="Object 15">
              <a:extLst>
                <a:ext uri="{FF2B5EF4-FFF2-40B4-BE49-F238E27FC236}">
                  <a16:creationId xmlns:a16="http://schemas.microsoft.com/office/drawing/2014/main" id="{A24946F3-6141-43B0-A423-E9B57A5B493A}"/>
                </a:ext>
              </a:extLst>
            </p:cNvPr>
            <p:cNvGraphicFramePr>
              <a:graphicFrameLocks noChangeAspect="1"/>
            </p:cNvGraphicFramePr>
            <p:nvPr/>
          </p:nvGraphicFramePr>
          <p:xfrm>
            <a:off x="7096125" y="4689475"/>
            <a:ext cx="587375" cy="474663"/>
          </p:xfrm>
          <a:graphic>
            <a:graphicData uri="http://schemas.openxmlformats.org/presentationml/2006/ole">
              <mc:AlternateContent xmlns:mc="http://schemas.openxmlformats.org/markup-compatibility/2006">
                <mc:Choice xmlns:v="urn:schemas-microsoft-com:vml" Requires="v">
                  <p:oleObj spid="_x0000_s6147" name="Equation" r:id="rId5" imgW="177569" imgH="152202" progId="Equation.DSMT4">
                    <p:embed/>
                  </p:oleObj>
                </mc:Choice>
                <mc:Fallback>
                  <p:oleObj name="Equation" r:id="rId5" imgW="177569" imgH="152202" progId="Equation.DSMT4">
                    <p:embed/>
                    <p:pic>
                      <p:nvPicPr>
                        <p:cNvPr id="106644" name="Object 15">
                          <a:extLst>
                            <a:ext uri="{FF2B5EF4-FFF2-40B4-BE49-F238E27FC236}">
                              <a16:creationId xmlns:a16="http://schemas.microsoft.com/office/drawing/2014/main" id="{A24946F3-6141-43B0-A423-E9B57A5B49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6125" y="4689475"/>
                          <a:ext cx="5873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1" name="Group 719">
            <a:extLst>
              <a:ext uri="{FF2B5EF4-FFF2-40B4-BE49-F238E27FC236}">
                <a16:creationId xmlns:a16="http://schemas.microsoft.com/office/drawing/2014/main" id="{18431DE9-DDD9-4B53-8605-7F46608C1EC4}"/>
              </a:ext>
            </a:extLst>
          </p:cNvPr>
          <p:cNvGraphicFramePr>
            <a:graphicFrameLocks noGrp="1"/>
          </p:cNvGraphicFramePr>
          <p:nvPr/>
        </p:nvGraphicFramePr>
        <p:xfrm>
          <a:off x="1752601" y="3922714"/>
          <a:ext cx="5102225" cy="2706687"/>
        </p:xfrm>
        <a:graphic>
          <a:graphicData uri="http://schemas.openxmlformats.org/drawingml/2006/table">
            <a:tbl>
              <a:tblPr/>
              <a:tblGrid>
                <a:gridCol w="533068">
                  <a:extLst>
                    <a:ext uri="{9D8B030D-6E8A-4147-A177-3AD203B41FA5}">
                      <a16:colId xmlns:a16="http://schemas.microsoft.com/office/drawing/2014/main" val="20000"/>
                    </a:ext>
                  </a:extLst>
                </a:gridCol>
                <a:gridCol w="533068">
                  <a:extLst>
                    <a:ext uri="{9D8B030D-6E8A-4147-A177-3AD203B41FA5}">
                      <a16:colId xmlns:a16="http://schemas.microsoft.com/office/drawing/2014/main" val="20001"/>
                    </a:ext>
                  </a:extLst>
                </a:gridCol>
                <a:gridCol w="660769">
                  <a:extLst>
                    <a:ext uri="{9D8B030D-6E8A-4147-A177-3AD203B41FA5}">
                      <a16:colId xmlns:a16="http://schemas.microsoft.com/office/drawing/2014/main" val="20002"/>
                    </a:ext>
                  </a:extLst>
                </a:gridCol>
                <a:gridCol w="405367">
                  <a:extLst>
                    <a:ext uri="{9D8B030D-6E8A-4147-A177-3AD203B41FA5}">
                      <a16:colId xmlns:a16="http://schemas.microsoft.com/office/drawing/2014/main" val="20003"/>
                    </a:ext>
                  </a:extLst>
                </a:gridCol>
                <a:gridCol w="458465">
                  <a:extLst>
                    <a:ext uri="{9D8B030D-6E8A-4147-A177-3AD203B41FA5}">
                      <a16:colId xmlns:a16="http://schemas.microsoft.com/office/drawing/2014/main" val="20004"/>
                    </a:ext>
                  </a:extLst>
                </a:gridCol>
                <a:gridCol w="607672">
                  <a:extLst>
                    <a:ext uri="{9D8B030D-6E8A-4147-A177-3AD203B41FA5}">
                      <a16:colId xmlns:a16="http://schemas.microsoft.com/office/drawing/2014/main" val="20005"/>
                    </a:ext>
                  </a:extLst>
                </a:gridCol>
                <a:gridCol w="865381">
                  <a:extLst>
                    <a:ext uri="{9D8B030D-6E8A-4147-A177-3AD203B41FA5}">
                      <a16:colId xmlns:a16="http://schemas.microsoft.com/office/drawing/2014/main" val="20006"/>
                    </a:ext>
                  </a:extLst>
                </a:gridCol>
                <a:gridCol w="549470">
                  <a:extLst>
                    <a:ext uri="{9D8B030D-6E8A-4147-A177-3AD203B41FA5}">
                      <a16:colId xmlns:a16="http://schemas.microsoft.com/office/drawing/2014/main" val="20007"/>
                    </a:ext>
                  </a:extLst>
                </a:gridCol>
                <a:gridCol w="488963">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L="91438" marR="91438"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8" marR="91438"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L="91438" marR="91438"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r>
                        <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r>
                        <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rPr>
                        <a:t>-8</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r>
                        <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rPr>
                        <a:t>+2</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-0.125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4" name="组合 3">
            <a:extLst>
              <a:ext uri="{FF2B5EF4-FFF2-40B4-BE49-F238E27FC236}">
                <a16:creationId xmlns:a16="http://schemas.microsoft.com/office/drawing/2014/main" id="{4522F04F-0D7D-4084-8D78-6FAA7697C9A7}"/>
              </a:ext>
            </a:extLst>
          </p:cNvPr>
          <p:cNvGrpSpPr>
            <a:grpSpLocks/>
          </p:cNvGrpSpPr>
          <p:nvPr/>
        </p:nvGrpSpPr>
        <p:grpSpPr bwMode="auto">
          <a:xfrm>
            <a:off x="7180264" y="3035301"/>
            <a:ext cx="1963737" cy="1566863"/>
            <a:chOff x="5655471" y="3036036"/>
            <a:chExt cx="1964529" cy="1565451"/>
          </a:xfrm>
        </p:grpSpPr>
        <p:sp>
          <p:nvSpPr>
            <p:cNvPr id="34" name="矩形 33">
              <a:extLst>
                <a:ext uri="{FF2B5EF4-FFF2-40B4-BE49-F238E27FC236}">
                  <a16:creationId xmlns:a16="http://schemas.microsoft.com/office/drawing/2014/main" id="{66045E9B-CD8D-4437-A666-2A75071CEBAE}"/>
                </a:ext>
              </a:extLst>
            </p:cNvPr>
            <p:cNvSpPr/>
            <p:nvPr/>
          </p:nvSpPr>
          <p:spPr>
            <a:xfrm>
              <a:off x="6576592" y="3277119"/>
              <a:ext cx="1043408" cy="923092"/>
            </a:xfrm>
            <a:prstGeom prst="rect">
              <a:avLst/>
            </a:prstGeom>
          </p:spPr>
          <p:txBody>
            <a:bodyPr>
              <a:spAutoFit/>
            </a:bodyPr>
            <a:lstStyle/>
            <a:p>
              <a:pPr eaLnBrk="0" fontAlgn="base" hangingPunct="0">
                <a:spcBef>
                  <a:spcPct val="0"/>
                </a:spcBef>
                <a:spcAft>
                  <a:spcPct val="0"/>
                </a:spcAft>
                <a:defRPr/>
              </a:pPr>
              <a:r>
                <a:rPr lang="zh-CN" altLang="en-US" kern="0" dirty="0">
                  <a:solidFill>
                    <a:srgbClr val="000000"/>
                  </a:solidFill>
                  <a:latin typeface="Arial" panose="020B0604020202020204" pitchFamily="34" charset="0"/>
                  <a:ea typeface="宋体" panose="02010600030101010101" pitchFamily="2" charset="-122"/>
                </a:rPr>
                <a:t>新问题初始单纯形表</a:t>
              </a:r>
              <a:endParaRPr lang="zh-CN" altLang="en-US" dirty="0">
                <a:solidFill>
                  <a:srgbClr val="000000"/>
                </a:solidFill>
                <a:latin typeface="Arial" panose="020B0604020202020204" pitchFamily="34" charset="0"/>
                <a:ea typeface="宋体" panose="02010600030101010101" pitchFamily="2" charset="-122"/>
              </a:endParaRPr>
            </a:p>
          </p:txBody>
        </p:sp>
        <p:sp>
          <p:nvSpPr>
            <p:cNvPr id="23" name="上弧形箭头 4">
              <a:extLst>
                <a:ext uri="{FF2B5EF4-FFF2-40B4-BE49-F238E27FC236}">
                  <a16:creationId xmlns:a16="http://schemas.microsoft.com/office/drawing/2014/main" id="{66CDE90F-36CB-48C5-878D-CCA89F5DC787}"/>
                </a:ext>
              </a:extLst>
            </p:cNvPr>
            <p:cNvSpPr/>
            <p:nvPr/>
          </p:nvSpPr>
          <p:spPr>
            <a:xfrm rot="16200000" flipH="1" flipV="1">
              <a:off x="5294396" y="3397111"/>
              <a:ext cx="1565451" cy="84330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srgbClr val="000000"/>
                </a:solidFill>
                <a:latin typeface="Arial"/>
                <a:ea typeface="宋体"/>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randombar(horizontal)">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Group 719">
            <a:extLst>
              <a:ext uri="{FF2B5EF4-FFF2-40B4-BE49-F238E27FC236}">
                <a16:creationId xmlns:a16="http://schemas.microsoft.com/office/drawing/2014/main" id="{5302B068-0F86-4EC0-84CF-C4D437E63C01}"/>
              </a:ext>
            </a:extLst>
          </p:cNvPr>
          <p:cNvGraphicFramePr>
            <a:graphicFrameLocks noGrp="1"/>
          </p:cNvGraphicFramePr>
          <p:nvPr/>
        </p:nvGraphicFramePr>
        <p:xfrm>
          <a:off x="1984376" y="3581400"/>
          <a:ext cx="5407025" cy="2706688"/>
        </p:xfrm>
        <a:graphic>
          <a:graphicData uri="http://schemas.openxmlformats.org/drawingml/2006/table">
            <a:tbl>
              <a:tblPr/>
              <a:tblGrid>
                <a:gridCol w="564913">
                  <a:extLst>
                    <a:ext uri="{9D8B030D-6E8A-4147-A177-3AD203B41FA5}">
                      <a16:colId xmlns:a16="http://schemas.microsoft.com/office/drawing/2014/main" val="20000"/>
                    </a:ext>
                  </a:extLst>
                </a:gridCol>
                <a:gridCol w="564913">
                  <a:extLst>
                    <a:ext uri="{9D8B030D-6E8A-4147-A177-3AD203B41FA5}">
                      <a16:colId xmlns:a16="http://schemas.microsoft.com/office/drawing/2014/main" val="20001"/>
                    </a:ext>
                  </a:extLst>
                </a:gridCol>
                <a:gridCol w="543481">
                  <a:extLst>
                    <a:ext uri="{9D8B030D-6E8A-4147-A177-3AD203B41FA5}">
                      <a16:colId xmlns:a16="http://schemas.microsoft.com/office/drawing/2014/main" val="20002"/>
                    </a:ext>
                  </a:extLst>
                </a:gridCol>
                <a:gridCol w="457190">
                  <a:extLst>
                    <a:ext uri="{9D8B030D-6E8A-4147-A177-3AD203B41FA5}">
                      <a16:colId xmlns:a16="http://schemas.microsoft.com/office/drawing/2014/main" val="20003"/>
                    </a:ext>
                  </a:extLst>
                </a:gridCol>
                <a:gridCol w="533388">
                  <a:extLst>
                    <a:ext uri="{9D8B030D-6E8A-4147-A177-3AD203B41FA5}">
                      <a16:colId xmlns:a16="http://schemas.microsoft.com/office/drawing/2014/main" val="20004"/>
                    </a:ext>
                  </a:extLst>
                </a:gridCol>
                <a:gridCol w="609586">
                  <a:extLst>
                    <a:ext uri="{9D8B030D-6E8A-4147-A177-3AD203B41FA5}">
                      <a16:colId xmlns:a16="http://schemas.microsoft.com/office/drawing/2014/main" val="20005"/>
                    </a:ext>
                  </a:extLst>
                </a:gridCol>
                <a:gridCol w="990578">
                  <a:extLst>
                    <a:ext uri="{9D8B030D-6E8A-4147-A177-3AD203B41FA5}">
                      <a16:colId xmlns:a16="http://schemas.microsoft.com/office/drawing/2014/main" val="20006"/>
                    </a:ext>
                  </a:extLst>
                </a:gridCol>
                <a:gridCol w="761983">
                  <a:extLst>
                    <a:ext uri="{9D8B030D-6E8A-4147-A177-3AD203B41FA5}">
                      <a16:colId xmlns:a16="http://schemas.microsoft.com/office/drawing/2014/main" val="20007"/>
                    </a:ext>
                  </a:extLst>
                </a:gridCol>
                <a:gridCol w="380992">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L="91438" marR="91438"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8" marR="91438"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L="91438" marR="91438"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1</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3</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L="91438" marR="91438"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-0.5</a:t>
                      </a:r>
                    </a:p>
                  </a:txBody>
                  <a:tcPr marL="91438" marR="91438"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-0.75</a:t>
                      </a:r>
                    </a:p>
                  </a:txBody>
                  <a:tcPr marL="91438" marR="91438"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8" marR="91438"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7590" name="Rectangle 2">
            <a:extLst>
              <a:ext uri="{FF2B5EF4-FFF2-40B4-BE49-F238E27FC236}">
                <a16:creationId xmlns:a16="http://schemas.microsoft.com/office/drawing/2014/main" id="{24F5F2C1-E7B0-4DA5-91DB-10B6EC628385}"/>
              </a:ext>
            </a:extLst>
          </p:cNvPr>
          <p:cNvSpPr>
            <a:spLocks noGrp="1" noChangeArrowheads="1"/>
          </p:cNvSpPr>
          <p:nvPr>
            <p:ph type="title"/>
          </p:nvPr>
        </p:nvSpPr>
        <p:spPr>
          <a:xfrm>
            <a:off x="1981200" y="277814"/>
            <a:ext cx="8229600" cy="712787"/>
          </a:xfrm>
        </p:spPr>
        <p:txBody>
          <a:bodyPr/>
          <a:lstStyle/>
          <a:p>
            <a:pPr eaLnBrk="1" hangingPunct="1"/>
            <a:r>
              <a:rPr lang="zh-CN" altLang="en-US"/>
              <a:t>例子：资源数量</a:t>
            </a:r>
            <a:r>
              <a:rPr lang="en-US" altLang="zh-CN">
                <a:latin typeface="Times New Roman" panose="02020603050405020304" pitchFamily="18" charset="0"/>
              </a:rPr>
              <a:t>b</a:t>
            </a:r>
            <a:r>
              <a:rPr lang="zh-CN" altLang="en-US"/>
              <a:t>变化分析</a:t>
            </a:r>
          </a:p>
        </p:txBody>
      </p:sp>
      <p:graphicFrame>
        <p:nvGraphicFramePr>
          <p:cNvPr id="107591" name="对象 17">
            <a:extLst>
              <a:ext uri="{FF2B5EF4-FFF2-40B4-BE49-F238E27FC236}">
                <a16:creationId xmlns:a16="http://schemas.microsoft.com/office/drawing/2014/main" id="{D0645B43-4294-4921-9611-8ABD427533E5}"/>
              </a:ext>
            </a:extLst>
          </p:cNvPr>
          <p:cNvGraphicFramePr>
            <a:graphicFrameLocks noChangeAspect="1"/>
          </p:cNvGraphicFramePr>
          <p:nvPr/>
        </p:nvGraphicFramePr>
        <p:xfrm>
          <a:off x="1752600" y="941389"/>
          <a:ext cx="6046788" cy="2522537"/>
        </p:xfrm>
        <a:graphic>
          <a:graphicData uri="http://schemas.openxmlformats.org/presentationml/2006/ole">
            <mc:AlternateContent xmlns:mc="http://schemas.openxmlformats.org/markup-compatibility/2006">
              <mc:Choice xmlns:v="urn:schemas-microsoft-com:vml" Requires="v">
                <p:oleObj spid="_x0000_s7170" name="Equation" r:id="rId3" imgW="3479800" imgH="1447800" progId="Equation.DSMT4">
                  <p:embed/>
                </p:oleObj>
              </mc:Choice>
              <mc:Fallback>
                <p:oleObj name="Equation" r:id="rId3" imgW="3479800" imgH="1447800" progId="Equation.DSMT4">
                  <p:embed/>
                  <p:pic>
                    <p:nvPicPr>
                      <p:cNvPr id="107591" name="对象 17">
                        <a:extLst>
                          <a:ext uri="{FF2B5EF4-FFF2-40B4-BE49-F238E27FC236}">
                            <a16:creationId xmlns:a16="http://schemas.microsoft.com/office/drawing/2014/main" id="{D0645B43-4294-4921-9611-8ABD427533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941389"/>
                        <a:ext cx="6046788"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 name="组合 24">
            <a:extLst>
              <a:ext uri="{FF2B5EF4-FFF2-40B4-BE49-F238E27FC236}">
                <a16:creationId xmlns:a16="http://schemas.microsoft.com/office/drawing/2014/main" id="{F7224CFF-886C-4F8B-AC42-DC9A04BE14A3}"/>
              </a:ext>
            </a:extLst>
          </p:cNvPr>
          <p:cNvGrpSpPr>
            <a:grpSpLocks/>
          </p:cNvGrpSpPr>
          <p:nvPr/>
        </p:nvGrpSpPr>
        <p:grpSpPr bwMode="auto">
          <a:xfrm>
            <a:off x="1905000" y="4510088"/>
            <a:ext cx="7848600" cy="2235200"/>
            <a:chOff x="-5893993" y="8778391"/>
            <a:chExt cx="7848748" cy="2234149"/>
          </a:xfrm>
        </p:grpSpPr>
        <p:sp>
          <p:nvSpPr>
            <p:cNvPr id="13" name="矩形 12">
              <a:extLst>
                <a:ext uri="{FF2B5EF4-FFF2-40B4-BE49-F238E27FC236}">
                  <a16:creationId xmlns:a16="http://schemas.microsoft.com/office/drawing/2014/main" id="{CA7C31F7-0913-4EC3-914F-6267239F597A}"/>
                </a:ext>
              </a:extLst>
            </p:cNvPr>
            <p:cNvSpPr/>
            <p:nvPr/>
          </p:nvSpPr>
          <p:spPr>
            <a:xfrm>
              <a:off x="-5893993" y="10674561"/>
              <a:ext cx="7848748" cy="337979"/>
            </a:xfrm>
            <a:prstGeom prst="rect">
              <a:avLst/>
            </a:prstGeom>
            <a:ln>
              <a:solidFill>
                <a:srgbClr val="FF0000"/>
              </a:solidFill>
            </a:ln>
          </p:spPr>
          <p:txBody>
            <a:bodyPr>
              <a:spAutoFit/>
            </a:bodyPr>
            <a:lstStyle/>
            <a:p>
              <a:pPr algn="just" eaLnBrk="0" fontAlgn="base" hangingPunct="0">
                <a:spcBef>
                  <a:spcPct val="0"/>
                </a:spcBef>
                <a:spcAft>
                  <a:spcPct val="0"/>
                </a:spcAft>
                <a:defRPr/>
              </a:pPr>
              <a:r>
                <a:rPr lang="zh-CN" altLang="en-US" sz="1600" dirty="0">
                  <a:solidFill>
                    <a:srgbClr val="FF0000"/>
                  </a:solidFill>
                  <a:latin typeface="Times New Roman" panose="02020603050405020304" pitchFamily="18" charset="0"/>
                  <a:ea typeface="宋体"/>
                  <a:cs typeface="Times New Roman" panose="02020603050405020304" pitchFamily="18" charset="0"/>
                </a:rPr>
                <a:t>该厂最优生产方案应改为生产</a:t>
              </a:r>
              <a:r>
                <a:rPr lang="en-US" altLang="zh-CN" sz="1600" dirty="0">
                  <a:solidFill>
                    <a:srgbClr val="FF0000"/>
                  </a:solidFill>
                  <a:latin typeface="Times New Roman" panose="02020603050405020304" pitchFamily="18" charset="0"/>
                  <a:ea typeface="宋体"/>
                  <a:cs typeface="Times New Roman" panose="02020603050405020304" pitchFamily="18" charset="0"/>
                </a:rPr>
                <a:t>4 </a:t>
              </a:r>
              <a:r>
                <a:rPr lang="zh-CN" altLang="en-US" sz="1600" dirty="0">
                  <a:solidFill>
                    <a:srgbClr val="FF0000"/>
                  </a:solidFill>
                  <a:latin typeface="Times New Roman" panose="02020603050405020304" pitchFamily="18" charset="0"/>
                  <a:ea typeface="宋体"/>
                  <a:cs typeface="Times New Roman" panose="02020603050405020304" pitchFamily="18" charset="0"/>
                </a:rPr>
                <a:t>件产品</a:t>
              </a:r>
              <a:r>
                <a:rPr lang="en-US" altLang="zh-CN" sz="1600" dirty="0">
                  <a:solidFill>
                    <a:srgbClr val="FF0000"/>
                  </a:solidFill>
                  <a:latin typeface="Times New Roman" panose="02020603050405020304" pitchFamily="18" charset="0"/>
                  <a:ea typeface="宋体"/>
                  <a:cs typeface="Times New Roman" panose="02020603050405020304" pitchFamily="18" charset="0"/>
                </a:rPr>
                <a:t>Ⅰ , </a:t>
              </a:r>
              <a:r>
                <a:rPr lang="zh-CN" altLang="en-US" sz="1600" dirty="0">
                  <a:solidFill>
                    <a:srgbClr val="FF0000"/>
                  </a:solidFill>
                  <a:latin typeface="Times New Roman" panose="02020603050405020304" pitchFamily="18" charset="0"/>
                  <a:ea typeface="宋体"/>
                  <a:cs typeface="Times New Roman" panose="02020603050405020304" pitchFamily="18" charset="0"/>
                </a:rPr>
                <a:t>生产</a:t>
              </a:r>
              <a:r>
                <a:rPr lang="en-US" altLang="zh-CN" sz="1600" dirty="0">
                  <a:solidFill>
                    <a:srgbClr val="FF0000"/>
                  </a:solidFill>
                  <a:latin typeface="Times New Roman" panose="02020603050405020304" pitchFamily="18" charset="0"/>
                  <a:ea typeface="宋体"/>
                  <a:cs typeface="Times New Roman" panose="02020603050405020304" pitchFamily="18" charset="0"/>
                </a:rPr>
                <a:t>3 </a:t>
              </a:r>
              <a:r>
                <a:rPr lang="zh-CN" altLang="en-US" sz="1600" dirty="0">
                  <a:solidFill>
                    <a:srgbClr val="FF0000"/>
                  </a:solidFill>
                  <a:latin typeface="Times New Roman" panose="02020603050405020304" pitchFamily="18" charset="0"/>
                  <a:ea typeface="宋体"/>
                  <a:cs typeface="Times New Roman" panose="02020603050405020304" pitchFamily="18" charset="0"/>
                </a:rPr>
                <a:t>件产品</a:t>
              </a:r>
              <a:r>
                <a:rPr lang="en-US" altLang="zh-CN" sz="1600" dirty="0">
                  <a:solidFill>
                    <a:srgbClr val="FF0000"/>
                  </a:solidFill>
                  <a:latin typeface="Times New Roman" panose="02020603050405020304" pitchFamily="18" charset="0"/>
                  <a:ea typeface="宋体"/>
                  <a:cs typeface="Times New Roman" panose="02020603050405020304" pitchFamily="18" charset="0"/>
                </a:rPr>
                <a:t>Ⅱ</a:t>
              </a:r>
              <a:r>
                <a:rPr lang="zh-CN" altLang="en-US" sz="1600" dirty="0">
                  <a:solidFill>
                    <a:srgbClr val="FF0000"/>
                  </a:solidFill>
                  <a:latin typeface="Times New Roman" panose="02020603050405020304" pitchFamily="18" charset="0"/>
                  <a:ea typeface="宋体"/>
                  <a:cs typeface="Times New Roman" panose="02020603050405020304" pitchFamily="18" charset="0"/>
                </a:rPr>
                <a:t>。设备有</a:t>
              </a:r>
              <a:r>
                <a:rPr lang="en-US" altLang="zh-CN" sz="1600" dirty="0">
                  <a:solidFill>
                    <a:srgbClr val="FF0000"/>
                  </a:solidFill>
                  <a:latin typeface="Times New Roman" panose="02020603050405020304" pitchFamily="18" charset="0"/>
                  <a:ea typeface="宋体"/>
                  <a:cs typeface="Times New Roman" panose="02020603050405020304" pitchFamily="18" charset="0"/>
                </a:rPr>
                <a:t>2 </a:t>
              </a:r>
              <a:r>
                <a:rPr lang="zh-CN" altLang="en-US" sz="1600" dirty="0">
                  <a:solidFill>
                    <a:srgbClr val="FF0000"/>
                  </a:solidFill>
                  <a:latin typeface="Times New Roman" panose="02020603050405020304" pitchFamily="18" charset="0"/>
                  <a:ea typeface="宋体"/>
                  <a:cs typeface="Times New Roman" panose="02020603050405020304" pitchFamily="18" charset="0"/>
                </a:rPr>
                <a:t>台时未被利用。</a:t>
              </a:r>
            </a:p>
          </p:txBody>
        </p:sp>
        <p:grpSp>
          <p:nvGrpSpPr>
            <p:cNvPr id="107611" name="组合 42">
              <a:extLst>
                <a:ext uri="{FF2B5EF4-FFF2-40B4-BE49-F238E27FC236}">
                  <a16:creationId xmlns:a16="http://schemas.microsoft.com/office/drawing/2014/main" id="{8B84C3B9-C218-4EBA-900D-AFF36788887B}"/>
                </a:ext>
              </a:extLst>
            </p:cNvPr>
            <p:cNvGrpSpPr>
              <a:grpSpLocks/>
            </p:cNvGrpSpPr>
            <p:nvPr/>
          </p:nvGrpSpPr>
          <p:grpSpPr bwMode="auto">
            <a:xfrm>
              <a:off x="-4598576" y="8778391"/>
              <a:ext cx="381007" cy="1895817"/>
              <a:chOff x="-4598576" y="8809361"/>
              <a:chExt cx="381007" cy="1895817"/>
            </a:xfrm>
          </p:grpSpPr>
          <p:cxnSp>
            <p:nvCxnSpPr>
              <p:cNvPr id="44" name="直接箭头连接符 43">
                <a:extLst>
                  <a:ext uri="{FF2B5EF4-FFF2-40B4-BE49-F238E27FC236}">
                    <a16:creationId xmlns:a16="http://schemas.microsoft.com/office/drawing/2014/main" id="{0D0F55E9-8BB9-47C1-9C1A-144AB6A0B632}"/>
                  </a:ext>
                </a:extLst>
              </p:cNvPr>
              <p:cNvCxnSpPr>
                <a:cxnSpLocks/>
              </p:cNvCxnSpPr>
              <p:nvPr/>
            </p:nvCxnSpPr>
            <p:spPr bwMode="auto">
              <a:xfrm>
                <a:off x="-4446166" y="10208878"/>
                <a:ext cx="0" cy="4966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40CB30E5-1BE5-476D-9EDF-5909B4E5CF79}"/>
                  </a:ext>
                </a:extLst>
              </p:cNvPr>
              <p:cNvSpPr/>
              <p:nvPr/>
            </p:nvSpPr>
            <p:spPr bwMode="auto">
              <a:xfrm>
                <a:off x="-4598569" y="8809361"/>
                <a:ext cx="381007" cy="12805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srgbClr val="FFFFFF"/>
                  </a:solidFill>
                  <a:latin typeface="Arial"/>
                  <a:ea typeface="宋体"/>
                </a:endParaRPr>
              </a:p>
            </p:txBody>
          </p:sp>
        </p:grpSp>
      </p:grpSp>
      <p:grpSp>
        <p:nvGrpSpPr>
          <p:cNvPr id="10" name="组合 9">
            <a:extLst>
              <a:ext uri="{FF2B5EF4-FFF2-40B4-BE49-F238E27FC236}">
                <a16:creationId xmlns:a16="http://schemas.microsoft.com/office/drawing/2014/main" id="{51AF0BAF-7C8F-4602-ACCB-91C8B2036CD3}"/>
              </a:ext>
            </a:extLst>
          </p:cNvPr>
          <p:cNvGrpSpPr>
            <a:grpSpLocks/>
          </p:cNvGrpSpPr>
          <p:nvPr/>
        </p:nvGrpSpPr>
        <p:grpSpPr bwMode="auto">
          <a:xfrm>
            <a:off x="5454650" y="-795338"/>
            <a:ext cx="3703638" cy="6226176"/>
            <a:chOff x="3930650" y="-796382"/>
            <a:chExt cx="3702283" cy="6227221"/>
          </a:xfrm>
        </p:grpSpPr>
        <p:grpSp>
          <p:nvGrpSpPr>
            <p:cNvPr id="107606" name="组合 18">
              <a:extLst>
                <a:ext uri="{FF2B5EF4-FFF2-40B4-BE49-F238E27FC236}">
                  <a16:creationId xmlns:a16="http://schemas.microsoft.com/office/drawing/2014/main" id="{19BB8657-C9DD-4F4C-83F9-C9BD0134563A}"/>
                </a:ext>
              </a:extLst>
            </p:cNvPr>
            <p:cNvGrpSpPr>
              <a:grpSpLocks/>
            </p:cNvGrpSpPr>
            <p:nvPr/>
          </p:nvGrpSpPr>
          <p:grpSpPr bwMode="auto">
            <a:xfrm>
              <a:off x="3930650" y="1990149"/>
              <a:ext cx="3702283" cy="3440690"/>
              <a:chOff x="7096603" y="1783380"/>
              <a:chExt cx="2835103" cy="3440687"/>
            </a:xfrm>
          </p:grpSpPr>
          <p:sp>
            <p:nvSpPr>
              <p:cNvPr id="20" name="矩形 3">
                <a:extLst>
                  <a:ext uri="{FF2B5EF4-FFF2-40B4-BE49-F238E27FC236}">
                    <a16:creationId xmlns:a16="http://schemas.microsoft.com/office/drawing/2014/main" id="{F45CE5F7-A846-4E13-ADE8-CC14B1B9E00C}"/>
                  </a:ext>
                </a:extLst>
              </p:cNvPr>
              <p:cNvSpPr>
                <a:spLocks noChangeArrowheads="1"/>
              </p:cNvSpPr>
              <p:nvPr/>
            </p:nvSpPr>
            <p:spPr bwMode="auto">
              <a:xfrm>
                <a:off x="8293593" y="1783380"/>
                <a:ext cx="1638113" cy="923484"/>
              </a:xfrm>
              <a:prstGeom prst="rect">
                <a:avLst/>
              </a:prstGeom>
              <a:solidFill>
                <a:schemeClr val="tx2">
                  <a:lumMod val="40000"/>
                  <a:lumOff val="60000"/>
                </a:schemeClr>
              </a:solidFill>
              <a:ln w="25400">
                <a:solidFill>
                  <a:srgbClr val="FF00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zh-CN" altLang="en-US">
                  <a:solidFill>
                    <a:srgbClr val="FF0000"/>
                  </a:solidFill>
                </a:endParaRPr>
              </a:p>
            </p:txBody>
          </p:sp>
          <p:graphicFrame>
            <p:nvGraphicFramePr>
              <p:cNvPr id="107609" name="Object 15">
                <a:extLst>
                  <a:ext uri="{FF2B5EF4-FFF2-40B4-BE49-F238E27FC236}">
                    <a16:creationId xmlns:a16="http://schemas.microsoft.com/office/drawing/2014/main" id="{6F814413-15CB-4842-8AB6-6500A533ED7A}"/>
                  </a:ext>
                </a:extLst>
              </p:cNvPr>
              <p:cNvGraphicFramePr>
                <a:graphicFrameLocks noChangeAspect="1"/>
              </p:cNvGraphicFramePr>
              <p:nvPr/>
            </p:nvGraphicFramePr>
            <p:xfrm>
              <a:off x="7096603" y="4630342"/>
              <a:ext cx="587165" cy="593725"/>
            </p:xfrm>
            <a:graphic>
              <a:graphicData uri="http://schemas.openxmlformats.org/presentationml/2006/ole">
                <mc:AlternateContent xmlns:mc="http://schemas.openxmlformats.org/markup-compatibility/2006">
                  <mc:Choice xmlns:v="urn:schemas-microsoft-com:vml" Requires="v">
                    <p:oleObj spid="_x0000_s7171" name="Equation" r:id="rId5" imgW="177646" imgH="190335" progId="Equation.DSMT4">
                      <p:embed/>
                    </p:oleObj>
                  </mc:Choice>
                  <mc:Fallback>
                    <p:oleObj name="Equation" r:id="rId5" imgW="177646" imgH="190335" progId="Equation.DSMT4">
                      <p:embed/>
                      <p:pic>
                        <p:nvPicPr>
                          <p:cNvPr id="107609" name="Object 15">
                            <a:extLst>
                              <a:ext uri="{FF2B5EF4-FFF2-40B4-BE49-F238E27FC236}">
                                <a16:creationId xmlns:a16="http://schemas.microsoft.com/office/drawing/2014/main" id="{6F814413-15CB-4842-8AB6-6500A533ED7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6603" y="4630342"/>
                            <a:ext cx="58716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cxnSp>
          <p:nvCxnSpPr>
            <p:cNvPr id="26" name="直接箭头连接符 25">
              <a:extLst>
                <a:ext uri="{FF2B5EF4-FFF2-40B4-BE49-F238E27FC236}">
                  <a16:creationId xmlns:a16="http://schemas.microsoft.com/office/drawing/2014/main" id="{073388EA-6831-41C7-AD2E-35BDA274F0FF}"/>
                </a:ext>
              </a:extLst>
            </p:cNvPr>
            <p:cNvCxnSpPr>
              <a:cxnSpLocks/>
              <a:endCxn id="20" idx="0"/>
            </p:cNvCxnSpPr>
            <p:nvPr/>
          </p:nvCxnSpPr>
          <p:spPr bwMode="auto">
            <a:xfrm flipH="1">
              <a:off x="6563349" y="-796382"/>
              <a:ext cx="968022" cy="27865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AAEC9E28-323A-4053-BA50-FAF9F4C33E3D}"/>
              </a:ext>
            </a:extLst>
          </p:cNvPr>
          <p:cNvGrpSpPr>
            <a:grpSpLocks/>
          </p:cNvGrpSpPr>
          <p:nvPr/>
        </p:nvGrpSpPr>
        <p:grpSpPr bwMode="auto">
          <a:xfrm>
            <a:off x="6948489" y="-57150"/>
            <a:ext cx="1279525" cy="3306763"/>
            <a:chOff x="5423273" y="-56667"/>
            <a:chExt cx="1281236" cy="3306142"/>
          </a:xfrm>
        </p:grpSpPr>
        <p:sp>
          <p:nvSpPr>
            <p:cNvPr id="23" name="矩形 3">
              <a:extLst>
                <a:ext uri="{FF2B5EF4-FFF2-40B4-BE49-F238E27FC236}">
                  <a16:creationId xmlns:a16="http://schemas.microsoft.com/office/drawing/2014/main" id="{882CAC24-50EF-480F-A634-54353E7891D7}"/>
                </a:ext>
              </a:extLst>
            </p:cNvPr>
            <p:cNvSpPr>
              <a:spLocks noChangeArrowheads="1"/>
            </p:cNvSpPr>
            <p:nvPr/>
          </p:nvSpPr>
          <p:spPr bwMode="auto">
            <a:xfrm>
              <a:off x="5423273" y="1771790"/>
              <a:ext cx="507089" cy="1477685"/>
            </a:xfrm>
            <a:prstGeom prst="rect">
              <a:avLst/>
            </a:prstGeom>
            <a:solidFill>
              <a:schemeClr val="tx2">
                <a:lumMod val="40000"/>
                <a:lumOff val="60000"/>
              </a:schemeClr>
            </a:solidFill>
            <a:ln w="25400">
              <a:solidFill>
                <a:srgbClr val="FF00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defRPr/>
              </a:pPr>
              <a:endParaRPr lang="en-US" altLang="zh-CN" dirty="0">
                <a:solidFill>
                  <a:srgbClr val="FF0000"/>
                </a:solidFill>
              </a:endParaRPr>
            </a:p>
            <a:p>
              <a:pPr algn="just" fontAlgn="base">
                <a:spcBef>
                  <a:spcPct val="0"/>
                </a:spcBef>
                <a:spcAft>
                  <a:spcPct val="0"/>
                </a:spcAft>
                <a:defRPr/>
              </a:pPr>
              <a:endParaRPr lang="en-US" altLang="zh-CN" dirty="0">
                <a:solidFill>
                  <a:srgbClr val="FF0000"/>
                </a:solidFill>
              </a:endParaRPr>
            </a:p>
            <a:p>
              <a:pPr algn="just" fontAlgn="base">
                <a:spcBef>
                  <a:spcPct val="0"/>
                </a:spcBef>
                <a:spcAft>
                  <a:spcPct val="0"/>
                </a:spcAft>
                <a:defRPr/>
              </a:pPr>
              <a:r>
                <a:rPr lang="en-US" altLang="zh-CN" dirty="0">
                  <a:solidFill>
                    <a:srgbClr val="FF0000"/>
                  </a:solidFill>
                </a:rPr>
                <a:t> b’</a:t>
              </a:r>
            </a:p>
            <a:p>
              <a:pPr algn="just" fontAlgn="base">
                <a:spcBef>
                  <a:spcPct val="0"/>
                </a:spcBef>
                <a:spcAft>
                  <a:spcPct val="0"/>
                </a:spcAft>
                <a:defRPr/>
              </a:pPr>
              <a:endParaRPr lang="en-US" altLang="zh-CN" dirty="0">
                <a:solidFill>
                  <a:srgbClr val="FF0000"/>
                </a:solidFill>
              </a:endParaRPr>
            </a:p>
            <a:p>
              <a:pPr algn="just" fontAlgn="base">
                <a:spcBef>
                  <a:spcPct val="0"/>
                </a:spcBef>
                <a:spcAft>
                  <a:spcPct val="0"/>
                </a:spcAft>
                <a:defRPr/>
              </a:pPr>
              <a:endParaRPr lang="zh-CN" altLang="en-US" dirty="0">
                <a:solidFill>
                  <a:srgbClr val="FF0000"/>
                </a:solidFill>
              </a:endParaRPr>
            </a:p>
          </p:txBody>
        </p:sp>
        <p:cxnSp>
          <p:nvCxnSpPr>
            <p:cNvPr id="28" name="直接箭头连接符 27">
              <a:extLst>
                <a:ext uri="{FF2B5EF4-FFF2-40B4-BE49-F238E27FC236}">
                  <a16:creationId xmlns:a16="http://schemas.microsoft.com/office/drawing/2014/main" id="{A7CDBBAA-6DA8-4B78-8DB6-8FD8C6584782}"/>
                </a:ext>
              </a:extLst>
            </p:cNvPr>
            <p:cNvCxnSpPr>
              <a:cxnSpLocks/>
              <a:endCxn id="23" idx="0"/>
            </p:cNvCxnSpPr>
            <p:nvPr/>
          </p:nvCxnSpPr>
          <p:spPr bwMode="auto">
            <a:xfrm flipH="1">
              <a:off x="5677613" y="-56667"/>
              <a:ext cx="1026896" cy="18284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组合 11">
            <a:extLst>
              <a:ext uri="{FF2B5EF4-FFF2-40B4-BE49-F238E27FC236}">
                <a16:creationId xmlns:a16="http://schemas.microsoft.com/office/drawing/2014/main" id="{D666B2D1-38C4-449E-BC6E-50702BB901C3}"/>
              </a:ext>
            </a:extLst>
          </p:cNvPr>
          <p:cNvGrpSpPr>
            <a:grpSpLocks/>
          </p:cNvGrpSpPr>
          <p:nvPr/>
        </p:nvGrpSpPr>
        <p:grpSpPr bwMode="auto">
          <a:xfrm>
            <a:off x="6188076" y="3175001"/>
            <a:ext cx="1497013" cy="2803525"/>
            <a:chOff x="4664235" y="3174861"/>
            <a:chExt cx="1497526" cy="2803316"/>
          </a:xfrm>
        </p:grpSpPr>
        <p:sp>
          <p:nvSpPr>
            <p:cNvPr id="30" name="矩形 3">
              <a:extLst>
                <a:ext uri="{FF2B5EF4-FFF2-40B4-BE49-F238E27FC236}">
                  <a16:creationId xmlns:a16="http://schemas.microsoft.com/office/drawing/2014/main" id="{5084821B-EF42-4194-B895-0EE026F7E34C}"/>
                </a:ext>
              </a:extLst>
            </p:cNvPr>
            <p:cNvSpPr>
              <a:spLocks noChangeArrowheads="1"/>
            </p:cNvSpPr>
            <p:nvPr/>
          </p:nvSpPr>
          <p:spPr bwMode="auto">
            <a:xfrm>
              <a:off x="4664235" y="5073369"/>
              <a:ext cx="1497526" cy="369860"/>
            </a:xfrm>
            <a:prstGeom prst="rect">
              <a:avLst/>
            </a:prstGeom>
            <a:solidFill>
              <a:schemeClr val="tx2">
                <a:lumMod val="40000"/>
                <a:lumOff val="60000"/>
              </a:schemeClr>
            </a:solidFill>
            <a:ln w="25400">
              <a:solidFill>
                <a:srgbClr val="FF00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defRPr/>
              </a:pPr>
              <a:r>
                <a:rPr lang="en-US" altLang="zh-CN" dirty="0">
                  <a:solidFill>
                    <a:srgbClr val="FF0000"/>
                  </a:solidFill>
                </a:rPr>
                <a:t>       </a:t>
              </a:r>
              <a:r>
                <a:rPr kumimoji="1" lang="en-US" altLang="zh-CN" dirty="0">
                  <a:solidFill>
                    <a:srgbClr val="000000"/>
                  </a:solidFill>
                  <a:latin typeface="Times New Roman" panose="02020603050405020304" pitchFamily="18" charset="0"/>
                </a:rPr>
                <a:t>σ</a:t>
              </a:r>
              <a:r>
                <a:rPr kumimoji="1" lang="en-US" altLang="zh-CN" baseline="-25000" dirty="0">
                  <a:solidFill>
                    <a:srgbClr val="000000"/>
                  </a:solidFill>
                  <a:latin typeface="Times New Roman" panose="02020603050405020304" pitchFamily="18" charset="0"/>
                </a:rPr>
                <a:t>N1</a:t>
              </a:r>
              <a:endParaRPr lang="en-US" altLang="zh-CN" baseline="-25000" dirty="0">
                <a:solidFill>
                  <a:srgbClr val="FF0000"/>
                </a:solidFill>
              </a:endParaRPr>
            </a:p>
          </p:txBody>
        </p:sp>
        <p:cxnSp>
          <p:nvCxnSpPr>
            <p:cNvPr id="31" name="直接箭头连接符 30">
              <a:extLst>
                <a:ext uri="{FF2B5EF4-FFF2-40B4-BE49-F238E27FC236}">
                  <a16:creationId xmlns:a16="http://schemas.microsoft.com/office/drawing/2014/main" id="{4F1658DB-C590-44E4-906F-09429BEE0118}"/>
                </a:ext>
              </a:extLst>
            </p:cNvPr>
            <p:cNvCxnSpPr>
              <a:cxnSpLocks/>
            </p:cNvCxnSpPr>
            <p:nvPr/>
          </p:nvCxnSpPr>
          <p:spPr bwMode="auto">
            <a:xfrm flipH="1">
              <a:off x="4796043" y="3174861"/>
              <a:ext cx="862307" cy="28033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10">
            <a:extLst>
              <a:ext uri="{FF2B5EF4-FFF2-40B4-BE49-F238E27FC236}">
                <a16:creationId xmlns:a16="http://schemas.microsoft.com/office/drawing/2014/main" id="{C51D4811-1CDA-4F43-845D-7F2F082BF382}"/>
              </a:ext>
            </a:extLst>
          </p:cNvPr>
          <p:cNvGrpSpPr>
            <a:grpSpLocks/>
          </p:cNvGrpSpPr>
          <p:nvPr/>
        </p:nvGrpSpPr>
        <p:grpSpPr bwMode="auto">
          <a:xfrm>
            <a:off x="7772400" y="1303338"/>
            <a:ext cx="2895600" cy="4906962"/>
            <a:chOff x="3840" y="960"/>
            <a:chExt cx="1824" cy="3091"/>
          </a:xfrm>
        </p:grpSpPr>
        <p:sp>
          <p:nvSpPr>
            <p:cNvPr id="107597" name="Text Box 2">
              <a:extLst>
                <a:ext uri="{FF2B5EF4-FFF2-40B4-BE49-F238E27FC236}">
                  <a16:creationId xmlns:a16="http://schemas.microsoft.com/office/drawing/2014/main" id="{E7ED2601-1A4E-465A-9C80-6718940B7C7E}"/>
                </a:ext>
              </a:extLst>
            </p:cNvPr>
            <p:cNvSpPr txBox="1">
              <a:spLocks noChangeArrowheads="1"/>
            </p:cNvSpPr>
            <p:nvPr/>
          </p:nvSpPr>
          <p:spPr bwMode="auto">
            <a:xfrm>
              <a:off x="3840" y="960"/>
              <a:ext cx="1728" cy="3091"/>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lang="en-US" altLang="zh-CN" b="1">
                  <a:solidFill>
                    <a:srgbClr val="000000"/>
                  </a:solidFill>
                  <a:latin typeface="Times New Roman" panose="02020603050405020304" pitchFamily="18" charset="0"/>
                </a:rPr>
                <a:t>B</a:t>
              </a:r>
              <a:r>
                <a:rPr lang="en-US" altLang="zh-CN">
                  <a:solidFill>
                    <a:srgbClr val="000000"/>
                  </a:solidFill>
                  <a:latin typeface="Times New Roman" panose="02020603050405020304" pitchFamily="18" charset="0"/>
                </a:rPr>
                <a:t>= (</a:t>
              </a:r>
              <a:r>
                <a:rPr lang="en-US" altLang="zh-CN" b="1">
                  <a:solidFill>
                    <a:srgbClr val="000000"/>
                  </a:solidFill>
                  <a:latin typeface="Times New Roman" panose="02020603050405020304" pitchFamily="18" charset="0"/>
                </a:rPr>
                <a:t>P</a:t>
              </a:r>
              <a:r>
                <a:rPr lang="en-US" altLang="zh-CN" baseline="-25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a:t>
              </a:r>
              <a:r>
                <a:rPr lang="en-US" altLang="zh-CN" i="1" baseline="-25000">
                  <a:solidFill>
                    <a:srgbClr val="000000"/>
                  </a:solidFill>
                  <a:latin typeface="Times New Roman" panose="02020603050405020304" pitchFamily="18" charset="0"/>
                </a:rPr>
                <a:t>l </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a:t>
              </a:r>
              <a:r>
                <a:rPr lang="en-US" altLang="zh-CN" baseline="-25000">
                  <a:solidFill>
                    <a:srgbClr val="000000"/>
                  </a:solidFill>
                  <a:latin typeface="Times New Roman" panose="02020603050405020304" pitchFamily="18" charset="0"/>
                </a:rPr>
                <a:t>m</a:t>
              </a:r>
              <a:r>
                <a:rPr lang="en-US" altLang="zh-CN">
                  <a:solidFill>
                    <a:srgbClr val="000000"/>
                  </a:solidFill>
                  <a:latin typeface="Times New Roman" panose="02020603050405020304" pitchFamily="18" charset="0"/>
                </a:rPr>
                <a:t>)</a:t>
              </a:r>
            </a:p>
            <a:p>
              <a:pPr fontAlgn="base">
                <a:spcBef>
                  <a:spcPct val="50000"/>
                </a:spcBef>
                <a:spcAft>
                  <a:spcPct val="0"/>
                </a:spcAft>
              </a:pPr>
              <a:r>
                <a:rPr lang="en-US" altLang="zh-CN" b="1">
                  <a:solidFill>
                    <a:srgbClr val="000000"/>
                  </a:solidFill>
                  <a:latin typeface="Times New Roman" panose="02020603050405020304" pitchFamily="18" charset="0"/>
                </a:rPr>
                <a:t>B</a:t>
              </a:r>
              <a:r>
                <a:rPr lang="en-US" altLang="zh-CN" baseline="-25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 (</a:t>
              </a:r>
              <a:r>
                <a:rPr lang="en-US" altLang="zh-CN" b="1">
                  <a:solidFill>
                    <a:srgbClr val="000000"/>
                  </a:solidFill>
                  <a:latin typeface="Times New Roman" panose="02020603050405020304" pitchFamily="18" charset="0"/>
                </a:rPr>
                <a:t>P</a:t>
              </a:r>
              <a:r>
                <a:rPr lang="en-US" altLang="zh-CN" baseline="-25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a:t>
              </a:r>
              <a:r>
                <a:rPr lang="en-US" altLang="zh-CN" baseline="-25000">
                  <a:solidFill>
                    <a:srgbClr val="000000"/>
                  </a:solidFill>
                  <a:latin typeface="Times New Roman" panose="02020603050405020304" pitchFamily="18" charset="0"/>
                </a:rPr>
                <a:t>k</a:t>
              </a:r>
              <a:r>
                <a:rPr lang="en-US" altLang="zh-CN" i="1">
                  <a:solidFill>
                    <a:srgbClr val="000000"/>
                  </a:solidFill>
                  <a:latin typeface="Times New Roman" panose="02020603050405020304" pitchFamily="18" charset="0"/>
                </a:rPr>
                <a:t> </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P</a:t>
              </a:r>
              <a:r>
                <a:rPr lang="en-US" altLang="zh-CN" baseline="-25000">
                  <a:solidFill>
                    <a:srgbClr val="000000"/>
                  </a:solidFill>
                  <a:latin typeface="Times New Roman" panose="02020603050405020304" pitchFamily="18" charset="0"/>
                </a:rPr>
                <a:t>m</a:t>
              </a:r>
              <a:r>
                <a:rPr lang="en-US" altLang="zh-CN">
                  <a:solidFill>
                    <a:srgbClr val="000000"/>
                  </a:solidFill>
                  <a:latin typeface="Times New Roman" panose="02020603050405020304" pitchFamily="18" charset="0"/>
                </a:rPr>
                <a:t>)</a:t>
              </a:r>
            </a:p>
            <a:p>
              <a:pPr fontAlgn="base">
                <a:spcBef>
                  <a:spcPct val="50000"/>
                </a:spcBef>
                <a:spcAft>
                  <a:spcPct val="0"/>
                </a:spcAft>
              </a:pPr>
              <a:endParaRPr lang="en-US" altLang="zh-CN">
                <a:solidFill>
                  <a:srgbClr val="000000"/>
                </a:solidFill>
                <a:latin typeface="Times New Roman" panose="02020603050405020304" pitchFamily="18" charset="0"/>
              </a:endParaRPr>
            </a:p>
            <a:p>
              <a:pPr fontAlgn="base">
                <a:spcBef>
                  <a:spcPct val="50000"/>
                </a:spcBef>
                <a:spcAft>
                  <a:spcPct val="0"/>
                </a:spcAft>
              </a:pPr>
              <a:r>
                <a:rPr lang="zh-CN" altLang="en-US">
                  <a:solidFill>
                    <a:srgbClr val="000000"/>
                  </a:solidFill>
                  <a:latin typeface="Times New Roman" panose="02020603050405020304" pitchFamily="18" charset="0"/>
                </a:rPr>
                <a:t>设                        ，则有：</a:t>
              </a:r>
            </a:p>
            <a:p>
              <a:pPr fontAlgn="base">
                <a:spcBef>
                  <a:spcPct val="50000"/>
                </a:spcBef>
                <a:spcAft>
                  <a:spcPct val="0"/>
                </a:spcAft>
              </a:pPr>
              <a:endParaRPr lang="zh-CN" altLang="en-US">
                <a:solidFill>
                  <a:srgbClr val="000000"/>
                </a:solidFill>
                <a:latin typeface="Times New Roman" panose="02020603050405020304" pitchFamily="18" charset="0"/>
              </a:endParaRPr>
            </a:p>
            <a:p>
              <a:pPr fontAlgn="base">
                <a:spcBef>
                  <a:spcPct val="50000"/>
                </a:spcBef>
                <a:spcAft>
                  <a:spcPct val="0"/>
                </a:spcAft>
              </a:pPr>
              <a:r>
                <a:rPr lang="en-US" altLang="zh-CN" b="1">
                  <a:solidFill>
                    <a:srgbClr val="000000"/>
                  </a:solidFill>
                  <a:latin typeface="Times New Roman" panose="02020603050405020304" pitchFamily="18" charset="0"/>
                </a:rPr>
                <a:t>B</a:t>
              </a:r>
              <a:r>
                <a:rPr lang="en-US" altLang="zh-CN" baseline="-25000">
                  <a:solidFill>
                    <a:srgbClr val="000000"/>
                  </a:solidFill>
                  <a:latin typeface="Times New Roman" panose="02020603050405020304" pitchFamily="18" charset="0"/>
                </a:rPr>
                <a:t>1</a:t>
              </a:r>
              <a:r>
                <a:rPr lang="en-US" altLang="zh-CN" baseline="30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EB</a:t>
              </a:r>
              <a:r>
                <a:rPr lang="en-US" altLang="zh-CN" baseline="30000">
                  <a:solidFill>
                    <a:srgbClr val="000000"/>
                  </a:solidFill>
                  <a:latin typeface="Times New Roman" panose="02020603050405020304" pitchFamily="18" charset="0"/>
                </a:rPr>
                <a:t>-1           </a:t>
              </a:r>
              <a:r>
                <a:rPr lang="zh-CN" altLang="en-US" baseline="30000">
                  <a:solidFill>
                    <a:srgbClr val="000000"/>
                  </a:solidFill>
                  <a:latin typeface="Times New Roman" panose="02020603050405020304" pitchFamily="18" charset="0"/>
                </a:rPr>
                <a:t>，</a:t>
              </a:r>
              <a:r>
                <a:rPr lang="zh-CN" altLang="en-US">
                  <a:solidFill>
                    <a:srgbClr val="000000"/>
                  </a:solidFill>
                  <a:latin typeface="Times New Roman" panose="02020603050405020304" pitchFamily="18" charset="0"/>
                </a:rPr>
                <a:t>其中</a:t>
              </a:r>
            </a:p>
            <a:p>
              <a:pPr fontAlgn="base">
                <a:spcBef>
                  <a:spcPct val="50000"/>
                </a:spcBef>
                <a:spcAft>
                  <a:spcPct val="0"/>
                </a:spcAft>
              </a:pPr>
              <a:r>
                <a:rPr lang="en-US" altLang="zh-CN" b="1">
                  <a:solidFill>
                    <a:srgbClr val="000000"/>
                  </a:solidFill>
                  <a:latin typeface="Times New Roman" panose="02020603050405020304" pitchFamily="18" charset="0"/>
                </a:rPr>
                <a:t>E</a:t>
              </a:r>
              <a:r>
                <a:rPr lang="en-US" altLang="zh-CN">
                  <a:solidFill>
                    <a:srgbClr val="000000"/>
                  </a:solidFill>
                  <a:latin typeface="Times New Roman" panose="02020603050405020304" pitchFamily="18" charset="0"/>
                </a:rPr>
                <a:t>= (</a:t>
              </a:r>
              <a:r>
                <a:rPr lang="en-US" altLang="zh-CN" b="1">
                  <a:solidFill>
                    <a:srgbClr val="000000"/>
                  </a:solidFill>
                  <a:latin typeface="Times New Roman" panose="02020603050405020304" pitchFamily="18" charset="0"/>
                </a:rPr>
                <a:t>e</a:t>
              </a:r>
              <a:r>
                <a:rPr lang="en-US" altLang="zh-CN" baseline="-25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a:t>
              </a:r>
              <a:r>
                <a:rPr lang="en-US" altLang="zh-CN" b="1">
                  <a:solidFill>
                    <a:srgbClr val="000000"/>
                  </a:solidFill>
                  <a:latin typeface="Times New Roman" panose="02020603050405020304" pitchFamily="18" charset="0"/>
                </a:rPr>
                <a:t>e</a:t>
              </a:r>
              <a:r>
                <a:rPr lang="en-US" altLang="zh-CN" i="1" baseline="-25000">
                  <a:solidFill>
                    <a:srgbClr val="000000"/>
                  </a:solidFill>
                  <a:latin typeface="Times New Roman" panose="02020603050405020304" pitchFamily="18" charset="0"/>
                </a:rPr>
                <a:t>l</a:t>
              </a:r>
              <a:r>
                <a:rPr lang="en-US" altLang="zh-CN" baseline="-25000">
                  <a:solidFill>
                    <a:srgbClr val="000000"/>
                  </a:solidFill>
                  <a:latin typeface="Times New Roman" panose="02020603050405020304" pitchFamily="18" charset="0"/>
                </a:rPr>
                <a:t>-1</a:t>
              </a:r>
              <a:r>
                <a:rPr lang="en-US" altLang="zh-CN">
                  <a:solidFill>
                    <a:srgbClr val="000000"/>
                  </a:solidFill>
                  <a:latin typeface="Times New Roman" panose="02020603050405020304" pitchFamily="18" charset="0"/>
                </a:rPr>
                <a:t>,</a:t>
              </a:r>
              <a:r>
                <a:rPr lang="el-GR" altLang="zh-CN">
                  <a:solidFill>
                    <a:srgbClr val="000000"/>
                  </a:solidFill>
                  <a:latin typeface="Times New Roman" panose="02020603050405020304" pitchFamily="18" charset="0"/>
                  <a:cs typeface="Times New Roman" panose="02020603050405020304" pitchFamily="18" charset="0"/>
                </a:rPr>
                <a:t>ξ</a:t>
              </a:r>
              <a:r>
                <a:rPr lang="en-US" altLang="zh-CN">
                  <a:solidFill>
                    <a:srgbClr val="000000"/>
                  </a:solidFill>
                  <a:latin typeface="Times New Roman" panose="02020603050405020304" pitchFamily="18" charset="0"/>
                  <a:cs typeface="Times New Roman" panose="02020603050405020304" pitchFamily="18" charset="0"/>
                </a:rPr>
                <a:t>,</a:t>
              </a:r>
              <a:r>
                <a:rPr lang="en-US" altLang="zh-CN" b="1">
                  <a:solidFill>
                    <a:srgbClr val="000000"/>
                  </a:solidFill>
                  <a:latin typeface="Times New Roman" panose="02020603050405020304" pitchFamily="18" charset="0"/>
                  <a:cs typeface="Times New Roman" panose="02020603050405020304" pitchFamily="18" charset="0"/>
                </a:rPr>
                <a:t>e</a:t>
              </a:r>
              <a:r>
                <a:rPr lang="en-US" altLang="zh-CN" i="1" baseline="-25000">
                  <a:solidFill>
                    <a:srgbClr val="000000"/>
                  </a:solidFill>
                  <a:latin typeface="Times New Roman" panose="02020603050405020304" pitchFamily="18" charset="0"/>
                  <a:cs typeface="Times New Roman" panose="02020603050405020304" pitchFamily="18" charset="0"/>
                </a:rPr>
                <a:t>l</a:t>
              </a:r>
              <a:r>
                <a:rPr lang="en-US" altLang="zh-CN" baseline="-25000">
                  <a:solidFill>
                    <a:srgbClr val="000000"/>
                  </a:solidFill>
                  <a:latin typeface="Times New Roman" panose="02020603050405020304" pitchFamily="18" charset="0"/>
                  <a:cs typeface="Times New Roman" panose="02020603050405020304" pitchFamily="18" charset="0"/>
                </a:rPr>
                <a:t>+1</a:t>
              </a:r>
              <a:r>
                <a:rPr lang="en-US" altLang="zh-CN">
                  <a:solidFill>
                    <a:srgbClr val="000000"/>
                  </a:solidFill>
                  <a:latin typeface="Times New Roman" panose="02020603050405020304" pitchFamily="18" charset="0"/>
                  <a:cs typeface="Times New Roman" panose="02020603050405020304" pitchFamily="18" charset="0"/>
                </a:rPr>
                <a:t>,…</a:t>
              </a:r>
              <a:r>
                <a:rPr lang="en-US" altLang="zh-CN" b="1">
                  <a:solidFill>
                    <a:srgbClr val="000000"/>
                  </a:solidFill>
                  <a:latin typeface="Times New Roman" panose="02020603050405020304" pitchFamily="18" charset="0"/>
                  <a:cs typeface="Times New Roman" panose="02020603050405020304" pitchFamily="18" charset="0"/>
                </a:rPr>
                <a:t>e</a:t>
              </a:r>
              <a:r>
                <a:rPr lang="en-US" altLang="zh-CN" baseline="-25000">
                  <a:solidFill>
                    <a:srgbClr val="000000"/>
                  </a:solidFill>
                  <a:latin typeface="Times New Roman" panose="02020603050405020304" pitchFamily="18" charset="0"/>
                  <a:cs typeface="Times New Roman" panose="02020603050405020304" pitchFamily="18" charset="0"/>
                </a:rPr>
                <a:t>m</a:t>
              </a:r>
              <a:r>
                <a:rPr lang="en-US" altLang="zh-CN">
                  <a:solidFill>
                    <a:srgbClr val="000000"/>
                  </a:solidFill>
                  <a:latin typeface="Times New Roman" panose="02020603050405020304" pitchFamily="18" charset="0"/>
                </a:rPr>
                <a:t>)</a:t>
              </a:r>
            </a:p>
            <a:p>
              <a:pPr fontAlgn="base">
                <a:spcBef>
                  <a:spcPct val="50000"/>
                </a:spcBef>
                <a:spcAft>
                  <a:spcPct val="0"/>
                </a:spcAft>
              </a:pPr>
              <a:endParaRPr lang="en-US" altLang="zh-CN">
                <a:solidFill>
                  <a:srgbClr val="000000"/>
                </a:solidFill>
                <a:latin typeface="Times New Roman" panose="02020603050405020304" pitchFamily="18" charset="0"/>
              </a:endParaRPr>
            </a:p>
            <a:p>
              <a:pPr fontAlgn="base">
                <a:spcBef>
                  <a:spcPct val="50000"/>
                </a:spcBef>
                <a:spcAft>
                  <a:spcPct val="0"/>
                </a:spcAft>
              </a:pPr>
              <a:endParaRPr lang="en-US" altLang="zh-CN">
                <a:solidFill>
                  <a:srgbClr val="000000"/>
                </a:solidFill>
                <a:latin typeface="Times New Roman" panose="02020603050405020304" pitchFamily="18" charset="0"/>
              </a:endParaRPr>
            </a:p>
            <a:p>
              <a:pPr fontAlgn="base">
                <a:spcBef>
                  <a:spcPct val="50000"/>
                </a:spcBef>
                <a:spcAft>
                  <a:spcPct val="0"/>
                </a:spcAft>
              </a:pPr>
              <a:endParaRPr lang="en-US" altLang="zh-CN">
                <a:solidFill>
                  <a:srgbClr val="000000"/>
                </a:solidFill>
                <a:latin typeface="Times New Roman" panose="02020603050405020304" pitchFamily="18" charset="0"/>
              </a:endParaRPr>
            </a:p>
            <a:p>
              <a:pPr fontAlgn="base">
                <a:spcBef>
                  <a:spcPct val="50000"/>
                </a:spcBef>
                <a:spcAft>
                  <a:spcPct val="0"/>
                </a:spcAft>
              </a:pPr>
              <a:endParaRPr lang="en-US" altLang="zh-CN">
                <a:solidFill>
                  <a:srgbClr val="000000"/>
                </a:solidFill>
                <a:latin typeface="Times New Roman" panose="02020603050405020304" pitchFamily="18" charset="0"/>
              </a:endParaRPr>
            </a:p>
            <a:p>
              <a:pPr fontAlgn="base">
                <a:spcBef>
                  <a:spcPct val="50000"/>
                </a:spcBef>
                <a:spcAft>
                  <a:spcPct val="0"/>
                </a:spcAft>
              </a:pPr>
              <a:endParaRPr lang="en-US" altLang="zh-CN">
                <a:solidFill>
                  <a:srgbClr val="000000"/>
                </a:solidFill>
                <a:latin typeface="Times New Roman" panose="02020603050405020304" pitchFamily="18" charset="0"/>
              </a:endParaRPr>
            </a:p>
          </p:txBody>
        </p:sp>
        <p:graphicFrame>
          <p:nvGraphicFramePr>
            <p:cNvPr id="107598" name="Object 5">
              <a:extLst>
                <a:ext uri="{FF2B5EF4-FFF2-40B4-BE49-F238E27FC236}">
                  <a16:creationId xmlns:a16="http://schemas.microsoft.com/office/drawing/2014/main" id="{A8FF5B75-D3C4-4231-A3D1-00C4C043C2C7}"/>
                </a:ext>
              </a:extLst>
            </p:cNvPr>
            <p:cNvGraphicFramePr>
              <a:graphicFrameLocks noChangeAspect="1"/>
            </p:cNvGraphicFramePr>
            <p:nvPr/>
          </p:nvGraphicFramePr>
          <p:xfrm>
            <a:off x="3984" y="2784"/>
            <a:ext cx="885" cy="1248"/>
          </p:xfrm>
          <a:graphic>
            <a:graphicData uri="http://schemas.openxmlformats.org/presentationml/2006/ole">
              <mc:AlternateContent xmlns:mc="http://schemas.openxmlformats.org/markup-compatibility/2006">
                <mc:Choice xmlns:v="urn:schemas-microsoft-com:vml" Requires="v">
                  <p:oleObj spid="_x0000_s7172" name="公式" r:id="rId7" imgW="990600" imgH="1397000" progId="Equation.3">
                    <p:embed/>
                  </p:oleObj>
                </mc:Choice>
                <mc:Fallback>
                  <p:oleObj name="公式" r:id="rId7" imgW="990600" imgH="1397000" progId="Equation.3">
                    <p:embed/>
                    <p:pic>
                      <p:nvPicPr>
                        <p:cNvPr id="107598" name="Object 5">
                          <a:extLst>
                            <a:ext uri="{FF2B5EF4-FFF2-40B4-BE49-F238E27FC236}">
                              <a16:creationId xmlns:a16="http://schemas.microsoft.com/office/drawing/2014/main" id="{A8FF5B75-D3C4-4231-A3D1-00C4C043C2C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4" y="2784"/>
                          <a:ext cx="885" cy="1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7599" name="Line 6">
              <a:extLst>
                <a:ext uri="{FF2B5EF4-FFF2-40B4-BE49-F238E27FC236}">
                  <a16:creationId xmlns:a16="http://schemas.microsoft.com/office/drawing/2014/main" id="{7699DDEE-7004-4C49-A45C-402268570350}"/>
                </a:ext>
              </a:extLst>
            </p:cNvPr>
            <p:cNvSpPr>
              <a:spLocks noChangeShapeType="1"/>
            </p:cNvSpPr>
            <p:nvPr/>
          </p:nvSpPr>
          <p:spPr bwMode="auto">
            <a:xfrm flipH="1">
              <a:off x="4752" y="3504"/>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107600" name="Text Box 7">
              <a:extLst>
                <a:ext uri="{FF2B5EF4-FFF2-40B4-BE49-F238E27FC236}">
                  <a16:creationId xmlns:a16="http://schemas.microsoft.com/office/drawing/2014/main" id="{31101BF7-8B62-44EB-B0F4-6C59A36E2E2D}"/>
                </a:ext>
              </a:extLst>
            </p:cNvPr>
            <p:cNvSpPr txBox="1">
              <a:spLocks noChangeArrowheads="1"/>
            </p:cNvSpPr>
            <p:nvPr/>
          </p:nvSpPr>
          <p:spPr bwMode="auto">
            <a:xfrm>
              <a:off x="4944" y="340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lang="zh-CN" altLang="en-US" sz="1400">
                  <a:solidFill>
                    <a:srgbClr val="000000"/>
                  </a:solidFill>
                </a:rPr>
                <a:t>第 </a:t>
              </a:r>
              <a:r>
                <a:rPr lang="en-US" altLang="zh-CN" sz="1400" i="1">
                  <a:solidFill>
                    <a:srgbClr val="000000"/>
                  </a:solidFill>
                  <a:latin typeface="Times New Roman" panose="02020603050405020304" pitchFamily="18" charset="0"/>
                </a:rPr>
                <a:t>l </a:t>
              </a:r>
              <a:r>
                <a:rPr lang="zh-CN" altLang="en-US" sz="1400">
                  <a:solidFill>
                    <a:srgbClr val="000000"/>
                  </a:solidFill>
                </a:rPr>
                <a:t>行</a:t>
              </a:r>
            </a:p>
          </p:txBody>
        </p:sp>
        <p:graphicFrame>
          <p:nvGraphicFramePr>
            <p:cNvPr id="107601" name="Object 8">
              <a:extLst>
                <a:ext uri="{FF2B5EF4-FFF2-40B4-BE49-F238E27FC236}">
                  <a16:creationId xmlns:a16="http://schemas.microsoft.com/office/drawing/2014/main" id="{3B03C952-06A4-4B10-8FED-AD88194688EA}"/>
                </a:ext>
              </a:extLst>
            </p:cNvPr>
            <p:cNvGraphicFramePr>
              <a:graphicFrameLocks noChangeAspect="1"/>
            </p:cNvGraphicFramePr>
            <p:nvPr/>
          </p:nvGraphicFramePr>
          <p:xfrm>
            <a:off x="4080" y="1701"/>
            <a:ext cx="816" cy="612"/>
          </p:xfrm>
          <a:graphic>
            <a:graphicData uri="http://schemas.openxmlformats.org/presentationml/2006/ole">
              <mc:AlternateContent xmlns:mc="http://schemas.openxmlformats.org/markup-compatibility/2006">
                <mc:Choice xmlns:v="urn:schemas-microsoft-com:vml" Requires="v">
                  <p:oleObj spid="_x0000_s7173" name="公式" r:id="rId9" imgW="888614" imgH="710891" progId="Equation.3">
                    <p:embed/>
                  </p:oleObj>
                </mc:Choice>
                <mc:Fallback>
                  <p:oleObj name="公式" r:id="rId9" imgW="888614" imgH="710891" progId="Equation.3">
                    <p:embed/>
                    <p:pic>
                      <p:nvPicPr>
                        <p:cNvPr id="107601" name="Object 8">
                          <a:extLst>
                            <a:ext uri="{FF2B5EF4-FFF2-40B4-BE49-F238E27FC236}">
                              <a16:creationId xmlns:a16="http://schemas.microsoft.com/office/drawing/2014/main" id="{3B03C952-06A4-4B10-8FED-AD88194688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80" y="1701"/>
                          <a:ext cx="816" cy="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horizontal)">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4"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randombar(horizontal)">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nodeType="clickEffect">
                                  <p:stCondLst>
                                    <p:cond delay="0"/>
                                  </p:stCondLst>
                                  <p:childTnLst>
                                    <p:animEffect transition="out" filter="fade">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randombar(horizontal)">
                                      <p:cBhvr>
                                        <p:cTn id="32" dur="500"/>
                                        <p:tgtEl>
                                          <p:spTgt spid="1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xit" presetSubtype="0" fill="hold" nodeType="clickEffect">
                                  <p:stCondLst>
                                    <p:cond delay="0"/>
                                  </p:stCondLst>
                                  <p:childTnLst>
                                    <p:animEffect transition="out" filter="fade">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80A6C1CD-34FF-48F5-A20F-DCB37C0A26DA}"/>
              </a:ext>
            </a:extLst>
          </p:cNvPr>
          <p:cNvSpPr>
            <a:spLocks noGrp="1" noChangeArrowheads="1"/>
          </p:cNvSpPr>
          <p:nvPr>
            <p:ph type="title"/>
          </p:nvPr>
        </p:nvSpPr>
        <p:spPr/>
        <p:txBody>
          <a:bodyPr/>
          <a:lstStyle/>
          <a:p>
            <a:pPr eaLnBrk="1" hangingPunct="1"/>
            <a:r>
              <a:rPr lang="zh-CN" altLang="en-US"/>
              <a:t>价值系数</a:t>
            </a:r>
            <a:r>
              <a:rPr lang="en-US" altLang="zh-CN"/>
              <a:t>c</a:t>
            </a:r>
            <a:r>
              <a:rPr lang="en-US" altLang="zh-CN" b="0" baseline="-25000"/>
              <a:t>j</a:t>
            </a:r>
            <a:r>
              <a:rPr lang="zh-CN" altLang="en-US"/>
              <a:t>的变化分析</a:t>
            </a:r>
          </a:p>
        </p:txBody>
      </p:sp>
      <p:sp>
        <p:nvSpPr>
          <p:cNvPr id="136195" name="Rectangle 3">
            <a:extLst>
              <a:ext uri="{FF2B5EF4-FFF2-40B4-BE49-F238E27FC236}">
                <a16:creationId xmlns:a16="http://schemas.microsoft.com/office/drawing/2014/main" id="{F37B9B45-764A-4A60-9304-0616BAB2BA61}"/>
              </a:ext>
            </a:extLst>
          </p:cNvPr>
          <p:cNvSpPr>
            <a:spLocks noGrp="1" noChangeArrowheads="1"/>
          </p:cNvSpPr>
          <p:nvPr>
            <p:ph type="body" idx="1"/>
          </p:nvPr>
        </p:nvSpPr>
        <p:spPr>
          <a:xfrm>
            <a:off x="1763713" y="914401"/>
            <a:ext cx="8229600" cy="4530725"/>
          </a:xfrm>
        </p:spPr>
        <p:txBody>
          <a:bodyPr/>
          <a:lstStyle/>
          <a:p>
            <a:pPr eaLnBrk="1" hangingPunct="1">
              <a:spcBef>
                <a:spcPct val="15000"/>
              </a:spcBef>
              <a:spcAft>
                <a:spcPct val="20000"/>
              </a:spcAft>
            </a:pPr>
            <a:r>
              <a:rPr lang="en-US" altLang="zh-CN" i="1">
                <a:latin typeface="Times New Roman" panose="02020603050405020304" pitchFamily="18" charset="0"/>
              </a:rPr>
              <a:t>c</a:t>
            </a:r>
            <a:r>
              <a:rPr lang="en-US" altLang="zh-CN" i="1" baseline="-25000">
                <a:latin typeface="宋体" panose="02010600030101010101" pitchFamily="2" charset="-122"/>
              </a:rPr>
              <a:t>j</a:t>
            </a:r>
            <a:r>
              <a:rPr lang="en-US" altLang="zh-CN">
                <a:latin typeface="宋体" panose="02010600030101010101" pitchFamily="2" charset="-122"/>
              </a:rPr>
              <a:t> </a:t>
            </a:r>
            <a:r>
              <a:rPr lang="zh-CN" altLang="en-US">
                <a:latin typeface="宋体" panose="02010600030101010101" pitchFamily="2" charset="-122"/>
              </a:rPr>
              <a:t>的灵敏度分析是在保证</a:t>
            </a:r>
            <a:r>
              <a:rPr lang="zh-CN" altLang="en-US">
                <a:solidFill>
                  <a:srgbClr val="FF0000"/>
                </a:solidFill>
                <a:latin typeface="宋体" panose="02010600030101010101" pitchFamily="2" charset="-122"/>
              </a:rPr>
              <a:t>最优解</a:t>
            </a:r>
            <a:r>
              <a:rPr lang="zh-CN" altLang="en-US">
                <a:latin typeface="宋体" panose="02010600030101010101" pitchFamily="2" charset="-122"/>
              </a:rPr>
              <a:t>不变的情况下，分析</a:t>
            </a:r>
            <a:r>
              <a:rPr lang="en-US" altLang="zh-CN" i="1">
                <a:latin typeface="宋体" panose="02010600030101010101" pitchFamily="2" charset="-122"/>
              </a:rPr>
              <a:t>c</a:t>
            </a:r>
            <a:r>
              <a:rPr lang="en-US" altLang="zh-CN" i="1" baseline="-25000">
                <a:latin typeface="宋体" panose="02010600030101010101" pitchFamily="2" charset="-122"/>
              </a:rPr>
              <a:t>j </a:t>
            </a:r>
            <a:r>
              <a:rPr lang="zh-CN" altLang="en-US">
                <a:latin typeface="宋体" panose="02010600030101010101" pitchFamily="2" charset="-122"/>
              </a:rPr>
              <a:t>允许的变动范围</a:t>
            </a:r>
            <a:r>
              <a:rPr lang="zh-CN" altLang="en-US">
                <a:latin typeface="宋体" panose="02010600030101010101" pitchFamily="2" charset="-122"/>
                <a:sym typeface="Symbol" panose="05050102010706020507" pitchFamily="18" charset="2"/>
              </a:rPr>
              <a:t></a:t>
            </a:r>
            <a:r>
              <a:rPr lang="en-US" altLang="zh-CN" i="1">
                <a:latin typeface="宋体" panose="02010600030101010101" pitchFamily="2" charset="-122"/>
              </a:rPr>
              <a:t>c</a:t>
            </a:r>
            <a:r>
              <a:rPr lang="en-US" altLang="zh-CN" i="1" baseline="-25000">
                <a:latin typeface="宋体" panose="02010600030101010101" pitchFamily="2" charset="-122"/>
              </a:rPr>
              <a:t>j</a:t>
            </a:r>
            <a:endParaRPr lang="en-US" altLang="zh-CN" b="0">
              <a:latin typeface="宋体" panose="02010600030101010101" pitchFamily="2" charset="-122"/>
            </a:endParaRPr>
          </a:p>
          <a:p>
            <a:pPr eaLnBrk="1" hangingPunct="1">
              <a:spcBef>
                <a:spcPct val="15000"/>
              </a:spcBef>
              <a:spcAft>
                <a:spcPct val="20000"/>
              </a:spcAft>
            </a:pPr>
            <a:r>
              <a:rPr lang="en-US" altLang="zh-CN" i="1">
                <a:latin typeface="Times New Roman" panose="02020603050405020304" pitchFamily="18" charset="0"/>
              </a:rPr>
              <a:t>c</a:t>
            </a:r>
            <a:r>
              <a:rPr lang="en-US" altLang="zh-CN" i="1" baseline="-25000">
                <a:latin typeface="宋体" panose="02010600030101010101" pitchFamily="2" charset="-122"/>
              </a:rPr>
              <a:t>j </a:t>
            </a:r>
            <a:r>
              <a:rPr lang="zh-CN" altLang="en-US">
                <a:latin typeface="宋体" panose="02010600030101010101" pitchFamily="2" charset="-122"/>
              </a:rPr>
              <a:t>的变化会引起检验数的变化，分两种情况</a:t>
            </a:r>
          </a:p>
          <a:p>
            <a:pPr lvl="1" eaLnBrk="1" hangingPunct="1">
              <a:spcBef>
                <a:spcPct val="15000"/>
              </a:spcBef>
              <a:spcAft>
                <a:spcPct val="20000"/>
              </a:spcAft>
            </a:pPr>
            <a:r>
              <a:rPr lang="zh-CN" altLang="en-US" sz="2200">
                <a:latin typeface="楷体_GB2312" pitchFamily="49" charset="-122"/>
              </a:rPr>
              <a:t>非基变量对应的价值系数变化，不影响其它检验数</a:t>
            </a:r>
          </a:p>
          <a:p>
            <a:pPr lvl="2" eaLnBrk="1" hangingPunct="1">
              <a:spcBef>
                <a:spcPct val="15000"/>
              </a:spcBef>
              <a:spcAft>
                <a:spcPct val="20000"/>
              </a:spcAft>
            </a:pPr>
            <a:r>
              <a:rPr lang="zh-CN" altLang="en-US">
                <a:latin typeface="楷体_GB2312" pitchFamily="49" charset="-122"/>
              </a:rPr>
              <a:t>新的检验数</a:t>
            </a:r>
            <a:r>
              <a:rPr lang="el-GR" altLang="zh-CN">
                <a:latin typeface="Times New Roman" panose="02020603050405020304" pitchFamily="18" charset="0"/>
              </a:rPr>
              <a:t>σ</a:t>
            </a:r>
            <a:r>
              <a:rPr lang="en-US" altLang="zh-CN" baseline="-25000">
                <a:latin typeface="Times New Roman" panose="02020603050405020304" pitchFamily="18" charset="0"/>
              </a:rPr>
              <a:t>j</a:t>
            </a:r>
            <a:r>
              <a:rPr lang="en-US" altLang="zh-CN">
                <a:latin typeface="Times New Roman" panose="02020603050405020304" pitchFamily="18" charset="0"/>
              </a:rPr>
              <a:t>’=</a:t>
            </a:r>
            <a:r>
              <a:rPr lang="zh-CN" altLang="en-US">
                <a:latin typeface="Times New Roman" panose="02020603050405020304" pitchFamily="18" charset="0"/>
              </a:rPr>
              <a:t> </a:t>
            </a:r>
            <a:r>
              <a:rPr lang="en-US" altLang="zh-CN" i="1">
                <a:latin typeface="Times New Roman" panose="02020603050405020304" pitchFamily="18" charset="0"/>
              </a:rPr>
              <a:t>c</a:t>
            </a:r>
            <a:r>
              <a:rPr lang="en-US" altLang="zh-CN" i="1" baseline="-25000">
                <a:latin typeface="Times New Roman" panose="02020603050405020304" pitchFamily="18" charset="0"/>
              </a:rPr>
              <a:t>j</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i="1">
                <a:latin typeface="Times New Roman" panose="02020603050405020304" pitchFamily="18" charset="0"/>
                <a:sym typeface="Symbol" panose="05050102010706020507" pitchFamily="18" charset="2"/>
              </a:rPr>
              <a:t>c</a:t>
            </a:r>
            <a:r>
              <a:rPr lang="en-US" altLang="zh-CN" i="1" baseline="-25000">
                <a:latin typeface="Times New Roman" panose="02020603050405020304" pitchFamily="18" charset="0"/>
                <a:sym typeface="Symbol" panose="05050102010706020507" pitchFamily="18" charset="2"/>
              </a:rPr>
              <a:t>j</a:t>
            </a:r>
            <a:r>
              <a:rPr lang="en-US" altLang="zh-CN">
                <a:latin typeface="Times New Roman" panose="02020603050405020304" pitchFamily="18" charset="0"/>
                <a:sym typeface="Symbol" panose="05050102010706020507" pitchFamily="18" charset="2"/>
              </a:rPr>
              <a:t>-</a:t>
            </a:r>
            <a:r>
              <a:rPr lang="en-US" altLang="zh-CN" b="1">
                <a:latin typeface="Times New Roman" panose="02020603050405020304" pitchFamily="18" charset="0"/>
                <a:sym typeface="Symbol" panose="05050102010706020507" pitchFamily="18" charset="2"/>
              </a:rPr>
              <a:t>C</a:t>
            </a:r>
            <a:r>
              <a:rPr lang="en-US" altLang="zh-CN" baseline="-25000">
                <a:latin typeface="Times New Roman" panose="02020603050405020304" pitchFamily="18" charset="0"/>
                <a:sym typeface="Symbol" panose="05050102010706020507" pitchFamily="18" charset="2"/>
              </a:rPr>
              <a:t>B</a:t>
            </a:r>
            <a:r>
              <a:rPr lang="en-US" altLang="zh-CN" b="1">
                <a:latin typeface="Times New Roman" panose="02020603050405020304" pitchFamily="18" charset="0"/>
                <a:sym typeface="Symbol" panose="05050102010706020507" pitchFamily="18" charset="2"/>
              </a:rPr>
              <a:t>B</a:t>
            </a:r>
            <a:r>
              <a:rPr lang="en-US" altLang="zh-CN" baseline="30000">
                <a:latin typeface="Times New Roman" panose="02020603050405020304" pitchFamily="18" charset="0"/>
                <a:sym typeface="Symbol" panose="05050102010706020507" pitchFamily="18" charset="2"/>
              </a:rPr>
              <a:t>-1</a:t>
            </a:r>
            <a:r>
              <a:rPr lang="en-US" altLang="zh-CN" b="1">
                <a:latin typeface="Times New Roman" panose="02020603050405020304" pitchFamily="18" charset="0"/>
                <a:sym typeface="Symbol" panose="05050102010706020507" pitchFamily="18" charset="2"/>
              </a:rPr>
              <a:t>P</a:t>
            </a:r>
            <a:r>
              <a:rPr lang="en-US" altLang="zh-CN" baseline="-25000">
                <a:latin typeface="Times New Roman" panose="02020603050405020304" pitchFamily="18" charset="0"/>
                <a:sym typeface="Symbol" panose="05050102010706020507" pitchFamily="18" charset="2"/>
              </a:rPr>
              <a:t>j</a:t>
            </a:r>
            <a:r>
              <a:rPr lang="zh-CN" altLang="en-US"/>
              <a:t>≤</a:t>
            </a:r>
            <a:r>
              <a:rPr lang="en-US" altLang="zh-CN">
                <a:latin typeface="Times New Roman" panose="02020603050405020304" pitchFamily="18" charset="0"/>
              </a:rPr>
              <a:t>0</a:t>
            </a:r>
            <a:r>
              <a:rPr lang="zh-CN" altLang="en-US">
                <a:latin typeface="Times New Roman" panose="02020603050405020304" pitchFamily="18" charset="0"/>
              </a:rPr>
              <a:t>，得到</a:t>
            </a:r>
            <a:r>
              <a:rPr lang="zh-CN" altLang="en-US">
                <a:latin typeface="宋体" panose="02010600030101010101" pitchFamily="2" charset="-122"/>
                <a:sym typeface="Symbol" panose="05050102010706020507" pitchFamily="18" charset="2"/>
              </a:rPr>
              <a:t></a:t>
            </a:r>
            <a:r>
              <a:rPr lang="en-US" altLang="zh-CN" i="1">
                <a:latin typeface="宋体" panose="02010600030101010101" pitchFamily="2" charset="-122"/>
              </a:rPr>
              <a:t>c</a:t>
            </a:r>
            <a:r>
              <a:rPr lang="en-US" altLang="zh-CN" i="1" baseline="-25000">
                <a:latin typeface="宋体" panose="02010600030101010101" pitchFamily="2" charset="-122"/>
              </a:rPr>
              <a:t>j</a:t>
            </a:r>
            <a:r>
              <a:rPr lang="zh-CN" altLang="en-US">
                <a:latin typeface="Times New Roman" panose="02020603050405020304" pitchFamily="18" charset="0"/>
              </a:rPr>
              <a:t>允许变化范围</a:t>
            </a:r>
          </a:p>
          <a:p>
            <a:pPr lvl="1" eaLnBrk="1" hangingPunct="1">
              <a:spcBef>
                <a:spcPct val="15000"/>
              </a:spcBef>
              <a:spcAft>
                <a:spcPct val="20000"/>
              </a:spcAft>
            </a:pPr>
            <a:r>
              <a:rPr lang="zh-CN" altLang="en-US" sz="2200">
                <a:latin typeface="楷体_GB2312" pitchFamily="49" charset="-122"/>
              </a:rPr>
              <a:t>基变量</a:t>
            </a:r>
            <a:r>
              <a:rPr lang="en-US" altLang="zh-CN" sz="2200" i="1">
                <a:latin typeface="Times New Roman" panose="02020603050405020304" pitchFamily="18" charset="0"/>
                <a:cs typeface="Times New Roman" panose="02020603050405020304" pitchFamily="18" charset="0"/>
              </a:rPr>
              <a:t>x</a:t>
            </a:r>
            <a:r>
              <a:rPr lang="en-US" altLang="zh-CN" sz="2200" i="1" baseline="-25000">
                <a:latin typeface="Times New Roman" panose="02020603050405020304" pitchFamily="18" charset="0"/>
                <a:cs typeface="Times New Roman" panose="02020603050405020304" pitchFamily="18" charset="0"/>
              </a:rPr>
              <a:t>r</a:t>
            </a:r>
            <a:r>
              <a:rPr lang="zh-CN" altLang="en-US" sz="2200">
                <a:latin typeface="楷体_GB2312" pitchFamily="49" charset="-122"/>
              </a:rPr>
              <a:t>对应的价值</a:t>
            </a:r>
            <a:r>
              <a:rPr lang="zh-CN" altLang="en-US" sz="2200">
                <a:latin typeface="Times New Roman" panose="02020603050405020304" pitchFamily="18" charset="0"/>
                <a:cs typeface="Times New Roman" panose="02020603050405020304" pitchFamily="18" charset="0"/>
              </a:rPr>
              <a:t>系数</a:t>
            </a:r>
            <a:r>
              <a:rPr lang="en-US" altLang="zh-CN" sz="2200" i="1">
                <a:latin typeface="Times New Roman" panose="02020603050405020304" pitchFamily="18" charset="0"/>
                <a:cs typeface="Times New Roman" panose="02020603050405020304" pitchFamily="18" charset="0"/>
              </a:rPr>
              <a:t>c</a:t>
            </a:r>
            <a:r>
              <a:rPr lang="en-US" altLang="zh-CN" sz="2200" i="1" baseline="-25000">
                <a:latin typeface="Times New Roman" panose="02020603050405020304" pitchFamily="18" charset="0"/>
                <a:cs typeface="Times New Roman" panose="02020603050405020304" pitchFamily="18" charset="0"/>
              </a:rPr>
              <a:t>r</a:t>
            </a:r>
            <a:r>
              <a:rPr lang="zh-CN" altLang="en-US" sz="2200">
                <a:latin typeface="Times New Roman" panose="02020603050405020304" pitchFamily="18" charset="0"/>
                <a:cs typeface="Times New Roman" panose="02020603050405020304" pitchFamily="18" charset="0"/>
              </a:rPr>
              <a:t>变化，影响</a:t>
            </a:r>
            <a:r>
              <a:rPr lang="zh-CN" altLang="en-US" sz="2200">
                <a:latin typeface="楷体_GB2312" pitchFamily="49" charset="-122"/>
              </a:rPr>
              <a:t>所有非基变量检验数</a:t>
            </a:r>
          </a:p>
          <a:p>
            <a:pPr lvl="2" eaLnBrk="1" hangingPunct="1">
              <a:spcBef>
                <a:spcPct val="15000"/>
              </a:spcBef>
              <a:spcAft>
                <a:spcPct val="20000"/>
              </a:spcAft>
            </a:pPr>
            <a:r>
              <a:rPr lang="en-US" altLang="zh-CN">
                <a:latin typeface="宋体" panose="02010600030101010101" pitchFamily="2" charset="-122"/>
                <a:sym typeface="Symbol" panose="05050102010706020507" pitchFamily="18" charset="2"/>
              </a:rPr>
              <a:t>                             </a:t>
            </a:r>
          </a:p>
          <a:p>
            <a:pPr lvl="2" eaLnBrk="1" hangingPunct="1">
              <a:spcBef>
                <a:spcPct val="15000"/>
              </a:spcBef>
              <a:spcAft>
                <a:spcPct val="20000"/>
              </a:spcAft>
            </a:pPr>
            <a:r>
              <a:rPr lang="en-US" altLang="zh-CN">
                <a:latin typeface="宋体" panose="02010600030101010101" pitchFamily="2" charset="-122"/>
                <a:sym typeface="Symbol" panose="05050102010706020507" pitchFamily="18" charset="2"/>
              </a:rPr>
              <a:t>                               </a:t>
            </a:r>
            <a:endParaRPr lang="el-GR" altLang="zh-CN" baseline="-25000">
              <a:latin typeface="Times New Roman" panose="02020603050405020304" pitchFamily="18" charset="0"/>
              <a:sym typeface="Symbol" panose="05050102010706020507" pitchFamily="18" charset="2"/>
            </a:endParaRPr>
          </a:p>
        </p:txBody>
      </p:sp>
      <p:grpSp>
        <p:nvGrpSpPr>
          <p:cNvPr id="4" name="组合 3">
            <a:extLst>
              <a:ext uri="{FF2B5EF4-FFF2-40B4-BE49-F238E27FC236}">
                <a16:creationId xmlns:a16="http://schemas.microsoft.com/office/drawing/2014/main" id="{6DF25485-EC0F-49BE-A790-E8059AE5CA3D}"/>
              </a:ext>
            </a:extLst>
          </p:cNvPr>
          <p:cNvGrpSpPr>
            <a:grpSpLocks/>
          </p:cNvGrpSpPr>
          <p:nvPr/>
        </p:nvGrpSpPr>
        <p:grpSpPr bwMode="auto">
          <a:xfrm>
            <a:off x="2727326" y="3762376"/>
            <a:ext cx="6297613" cy="1114425"/>
            <a:chOff x="1420813" y="4448177"/>
            <a:chExt cx="6297612" cy="1114425"/>
          </a:xfrm>
        </p:grpSpPr>
        <p:graphicFrame>
          <p:nvGraphicFramePr>
            <p:cNvPr id="108574" name="对象 2">
              <a:extLst>
                <a:ext uri="{FF2B5EF4-FFF2-40B4-BE49-F238E27FC236}">
                  <a16:creationId xmlns:a16="http://schemas.microsoft.com/office/drawing/2014/main" id="{98E8A3E9-CC30-4F64-95B4-DA7435AE0A01}"/>
                </a:ext>
              </a:extLst>
            </p:cNvPr>
            <p:cNvGraphicFramePr>
              <a:graphicFrameLocks noChangeAspect="1"/>
            </p:cNvGraphicFramePr>
            <p:nvPr/>
          </p:nvGraphicFramePr>
          <p:xfrm>
            <a:off x="1420813" y="4448177"/>
            <a:ext cx="6297612" cy="428625"/>
          </p:xfrm>
          <a:graphic>
            <a:graphicData uri="http://schemas.openxmlformats.org/presentationml/2006/ole">
              <mc:AlternateContent xmlns:mc="http://schemas.openxmlformats.org/markup-compatibility/2006">
                <mc:Choice xmlns:v="urn:schemas-microsoft-com:vml" Requires="v">
                  <p:oleObj spid="_x0000_s8194" name="Equation" r:id="rId3" imgW="3352800" imgH="228600" progId="Equation.DSMT4">
                    <p:embed/>
                  </p:oleObj>
                </mc:Choice>
                <mc:Fallback>
                  <p:oleObj name="Equation" r:id="rId3" imgW="3352800" imgH="228600" progId="Equation.DSMT4">
                    <p:embed/>
                    <p:pic>
                      <p:nvPicPr>
                        <p:cNvPr id="108574" name="对象 2">
                          <a:extLst>
                            <a:ext uri="{FF2B5EF4-FFF2-40B4-BE49-F238E27FC236}">
                              <a16:creationId xmlns:a16="http://schemas.microsoft.com/office/drawing/2014/main" id="{98E8A3E9-CC30-4F64-95B4-DA7435AE0A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0813" y="4448177"/>
                          <a:ext cx="62976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8575" name="对象 5">
              <a:extLst>
                <a:ext uri="{FF2B5EF4-FFF2-40B4-BE49-F238E27FC236}">
                  <a16:creationId xmlns:a16="http://schemas.microsoft.com/office/drawing/2014/main" id="{A537DD9F-B0E7-4D9C-AA65-808776C4EC19}"/>
                </a:ext>
              </a:extLst>
            </p:cNvPr>
            <p:cNvGraphicFramePr>
              <a:graphicFrameLocks noChangeAspect="1"/>
            </p:cNvGraphicFramePr>
            <p:nvPr/>
          </p:nvGraphicFramePr>
          <p:xfrm>
            <a:off x="1497225" y="4800602"/>
            <a:ext cx="6143625" cy="762000"/>
          </p:xfrm>
          <a:graphic>
            <a:graphicData uri="http://schemas.openxmlformats.org/presentationml/2006/ole">
              <mc:AlternateContent xmlns:mc="http://schemas.openxmlformats.org/markup-compatibility/2006">
                <mc:Choice xmlns:v="urn:schemas-microsoft-com:vml" Requires="v">
                  <p:oleObj spid="_x0000_s8195" name="Equation" r:id="rId5" imgW="3276600" imgH="406400" progId="Equation.DSMT4">
                    <p:embed/>
                  </p:oleObj>
                </mc:Choice>
                <mc:Fallback>
                  <p:oleObj name="Equation" r:id="rId5" imgW="3276600" imgH="406400" progId="Equation.DSMT4">
                    <p:embed/>
                    <p:pic>
                      <p:nvPicPr>
                        <p:cNvPr id="108575" name="对象 5">
                          <a:extLst>
                            <a:ext uri="{FF2B5EF4-FFF2-40B4-BE49-F238E27FC236}">
                              <a16:creationId xmlns:a16="http://schemas.microsoft.com/office/drawing/2014/main" id="{A537DD9F-B0E7-4D9C-AA65-808776C4EC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7225" y="4800602"/>
                          <a:ext cx="61436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9" name="Group 109">
            <a:extLst>
              <a:ext uri="{FF2B5EF4-FFF2-40B4-BE49-F238E27FC236}">
                <a16:creationId xmlns:a16="http://schemas.microsoft.com/office/drawing/2014/main" id="{9431CE1F-8B73-46DF-9F75-34274C62433F}"/>
              </a:ext>
            </a:extLst>
          </p:cNvPr>
          <p:cNvGraphicFramePr>
            <a:graphicFrameLocks/>
          </p:cNvGraphicFramePr>
          <p:nvPr/>
        </p:nvGraphicFramePr>
        <p:xfrm>
          <a:off x="1584325" y="4876801"/>
          <a:ext cx="8839200" cy="1954213"/>
        </p:xfrm>
        <a:graphic>
          <a:graphicData uri="http://schemas.openxmlformats.org/drawingml/2006/table">
            <a:tbl>
              <a:tblPr/>
              <a:tblGrid>
                <a:gridCol w="1329791">
                  <a:extLst>
                    <a:ext uri="{9D8B030D-6E8A-4147-A177-3AD203B41FA5}">
                      <a16:colId xmlns:a16="http://schemas.microsoft.com/office/drawing/2014/main" val="20000"/>
                    </a:ext>
                  </a:extLst>
                </a:gridCol>
                <a:gridCol w="1794409">
                  <a:extLst>
                    <a:ext uri="{9D8B030D-6E8A-4147-A177-3AD203B41FA5}">
                      <a16:colId xmlns:a16="http://schemas.microsoft.com/office/drawing/2014/main" val="20001"/>
                    </a:ext>
                  </a:extLst>
                </a:gridCol>
                <a:gridCol w="2073344">
                  <a:extLst>
                    <a:ext uri="{9D8B030D-6E8A-4147-A177-3AD203B41FA5}">
                      <a16:colId xmlns:a16="http://schemas.microsoft.com/office/drawing/2014/main" val="20002"/>
                    </a:ext>
                  </a:extLst>
                </a:gridCol>
                <a:gridCol w="2117656">
                  <a:extLst>
                    <a:ext uri="{9D8B030D-6E8A-4147-A177-3AD203B41FA5}">
                      <a16:colId xmlns:a16="http://schemas.microsoft.com/office/drawing/2014/main" val="20003"/>
                    </a:ext>
                  </a:extLst>
                </a:gridCol>
                <a:gridCol w="1523999">
                  <a:extLst>
                    <a:ext uri="{9D8B030D-6E8A-4147-A177-3AD203B41FA5}">
                      <a16:colId xmlns:a16="http://schemas.microsoft.com/office/drawing/2014/main" val="20004"/>
                    </a:ext>
                  </a:extLst>
                </a:gridCol>
              </a:tblGrid>
              <a:tr h="515785">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基变量 </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grid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非基变量</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a:t>
                      </a:r>
                      <a:endParaRPr kumimoji="0" lang="zh-CN" altLang="en-US"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hMerge="1">
                  <a:txBody>
                    <a:bodyPr/>
                    <a:lstStyle/>
                    <a:p>
                      <a:endParaRPr lang="zh-CN" altLang="en-US"/>
                    </a:p>
                  </a:txBody>
                  <a:tcPr/>
                </a:tc>
                <a:tc rowSpan="2">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RHS</a:t>
                      </a:r>
                    </a:p>
                  </a:txBody>
                  <a:tcPr marL="90000" marR="90000" marT="46805" marB="46805" anchor="ctr" anchorCtr="1"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373102">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N1</a:t>
                      </a: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X</a:t>
                      </a:r>
                      <a:r>
                        <a:rPr kumimoji="0" lang="en-US" altLang="zh-CN" sz="1800" b="1" i="0" u="none" strike="noStrike" cap="none" normalizeH="0" baseline="-25000" dirty="0" err="1">
                          <a:ln>
                            <a:noFill/>
                          </a:ln>
                          <a:solidFill>
                            <a:schemeClr val="tx1"/>
                          </a:solidFill>
                          <a:effectLst/>
                          <a:latin typeface="Times New Roman" panose="02020603050405020304" pitchFamily="18" charset="0"/>
                          <a:ea typeface="宋体" panose="02010600030101010101" pitchFamily="2" charset="-122"/>
                        </a:rPr>
                        <a:t>s</a:t>
                      </a: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vMerge="1">
                  <a:txBody>
                    <a:bodyPr/>
                    <a:lstStyle/>
                    <a:p>
                      <a:endParaRPr lang="zh-CN" altLang="en-US"/>
                    </a:p>
                  </a:txBody>
                  <a:tcPr/>
                </a:tc>
                <a:extLst>
                  <a:ext uri="{0D108BD9-81ED-4DB2-BD59-A6C34878D82A}">
                    <a16:rowId xmlns:a16="http://schemas.microsoft.com/office/drawing/2014/main" val="10001"/>
                  </a:ext>
                </a:extLst>
              </a:tr>
              <a:tr h="457249">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系数矩阵</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B=I</a:t>
                      </a: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defRPr/>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j</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j</a:t>
                      </a:r>
                      <a:r>
                        <a:rPr kumimoji="0" lang="en-US" altLang="zh-CN" sz="1800" b="1" i="0" u="none" strike="noStrike" cap="none" normalizeH="0" baseline="0" dirty="0" err="1">
                          <a:ln>
                            <a:noFill/>
                          </a:ln>
                          <a:solidFill>
                            <a:schemeClr val="tx1"/>
                          </a:solidFill>
                          <a:effectLst/>
                          <a:latin typeface="等线" panose="02010600030101010101" pitchFamily="2" charset="-122"/>
                          <a:ea typeface="等线" panose="02010600030101010101" pitchFamily="2" charset="-122"/>
                        </a:rPr>
                        <a:t>∈N</a:t>
                      </a: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5" marB="46805"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C000"/>
                    </a:solidFill>
                  </a:tcPr>
                </a:tc>
                <a:extLst>
                  <a:ext uri="{0D108BD9-81ED-4DB2-BD59-A6C34878D82A}">
                    <a16:rowId xmlns:a16="http://schemas.microsoft.com/office/drawing/2014/main" val="10002"/>
                  </a:ext>
                </a:extLst>
              </a:tr>
              <a:tr h="608077">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检验数</a:t>
                      </a:r>
                      <a:endPar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a:noFill/>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defRPr/>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18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18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B=0</a:t>
                      </a: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lang="el-GR" altLang="zh-CN" sz="1800" dirty="0">
                          <a:solidFill>
                            <a:srgbClr val="FF00FF"/>
                          </a:solidFill>
                          <a:latin typeface="Times New Roman" panose="02020603050405020304" pitchFamily="18" charset="0"/>
                          <a:cs typeface="Arial" panose="020B0604020202020204" pitchFamily="34" charset="0"/>
                        </a:rPr>
                        <a:t>σ</a:t>
                      </a:r>
                      <a:r>
                        <a:rPr lang="en-US" altLang="zh-CN" sz="1800" baseline="-25000" dirty="0">
                          <a:solidFill>
                            <a:srgbClr val="FF00FF"/>
                          </a:solidFill>
                          <a:latin typeface="Times New Roman" panose="02020603050405020304" pitchFamily="18" charset="0"/>
                          <a:cs typeface="Arial" panose="020B0604020202020204" pitchFamily="34" charset="0"/>
                        </a:rPr>
                        <a:t>N1</a:t>
                      </a:r>
                      <a:r>
                        <a:rPr lang="en-US" altLang="zh-CN" sz="1800" dirty="0">
                          <a:solidFill>
                            <a:srgbClr val="FF00FF"/>
                          </a:solidFill>
                          <a:latin typeface="Times New Roman" panose="02020603050405020304" pitchFamily="18" charset="0"/>
                          <a:cs typeface="Arial" panose="020B0604020202020204" pitchFamily="34" charset="0"/>
                        </a:rPr>
                        <a:t> =C</a:t>
                      </a:r>
                      <a:r>
                        <a:rPr lang="en-US" altLang="zh-CN" sz="1800" baseline="-25000" dirty="0">
                          <a:solidFill>
                            <a:srgbClr val="FF00FF"/>
                          </a:solidFill>
                          <a:latin typeface="Times New Roman" panose="02020603050405020304" pitchFamily="18" charset="0"/>
                          <a:cs typeface="Arial" panose="020B0604020202020204" pitchFamily="34" charset="0"/>
                        </a:rPr>
                        <a:t>N1</a:t>
                      </a:r>
                      <a:r>
                        <a:rPr lang="en-US" altLang="zh-CN" sz="1800" dirty="0">
                          <a:solidFill>
                            <a:srgbClr val="FF00FF"/>
                          </a:solidFill>
                          <a:latin typeface="Times New Roman" panose="02020603050405020304" pitchFamily="18" charset="0"/>
                          <a:cs typeface="Arial" panose="020B0604020202020204" pitchFamily="34" charset="0"/>
                        </a:rPr>
                        <a:t>- C</a:t>
                      </a:r>
                      <a:r>
                        <a:rPr lang="en-US" altLang="zh-CN" sz="1800" baseline="-25000" dirty="0">
                          <a:solidFill>
                            <a:srgbClr val="FF00FF"/>
                          </a:solidFill>
                          <a:latin typeface="Times New Roman" panose="02020603050405020304" pitchFamily="18" charset="0"/>
                          <a:cs typeface="Arial" panose="020B0604020202020204" pitchFamily="34" charset="0"/>
                        </a:rPr>
                        <a:t>B</a:t>
                      </a:r>
                      <a:r>
                        <a:rPr lang="en-US" altLang="zh-CN" sz="1800" dirty="0">
                          <a:solidFill>
                            <a:srgbClr val="FF00FF"/>
                          </a:solidFill>
                          <a:latin typeface="Times New Roman" panose="02020603050405020304" pitchFamily="18" charset="0"/>
                          <a:cs typeface="Arial" panose="020B0604020202020204" pitchFamily="34" charset="0"/>
                        </a:rPr>
                        <a:t>B</a:t>
                      </a:r>
                      <a:r>
                        <a:rPr lang="en-US" altLang="zh-CN" sz="1800" baseline="30000" dirty="0">
                          <a:solidFill>
                            <a:srgbClr val="FF00FF"/>
                          </a:solidFill>
                          <a:latin typeface="Times New Roman" panose="02020603050405020304" pitchFamily="18" charset="0"/>
                          <a:cs typeface="Arial" panose="020B0604020202020204" pitchFamily="34" charset="0"/>
                        </a:rPr>
                        <a:t>-1</a:t>
                      </a:r>
                      <a:r>
                        <a:rPr lang="en-US" altLang="zh-CN" sz="1800" dirty="0">
                          <a:solidFill>
                            <a:srgbClr val="FF00FF"/>
                          </a:solidFill>
                          <a:latin typeface="Times New Roman" panose="02020603050405020304" pitchFamily="18" charset="0"/>
                          <a:cs typeface="Arial" panose="020B0604020202020204" pitchFamily="34" charset="0"/>
                        </a:rPr>
                        <a:t>N</a:t>
                      </a:r>
                      <a:r>
                        <a:rPr lang="en-US" altLang="zh-CN" sz="1800" baseline="-25000" dirty="0">
                          <a:solidFill>
                            <a:srgbClr val="FF00FF"/>
                          </a:solidFill>
                          <a:latin typeface="Times New Roman" panose="02020603050405020304" pitchFamily="18" charset="0"/>
                          <a:cs typeface="Arial" panose="020B0604020202020204" pitchFamily="34" charset="0"/>
                        </a:rPr>
                        <a:t>1</a:t>
                      </a:r>
                      <a:endParaRPr kumimoji="0" lang="en-US" altLang="zh-CN" sz="1800" b="1" i="0" u="none" strike="noStrike" cap="none" normalizeH="0" baseline="-25000" dirty="0">
                        <a:ln>
                          <a:noFill/>
                        </a:ln>
                        <a:solidFill>
                          <a:srgbClr val="FF0000"/>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defRPr/>
                      </a:pPr>
                      <a:r>
                        <a:rPr lang="en-US" altLang="zh-CN" sz="1800" dirty="0">
                          <a:solidFill>
                            <a:schemeClr val="tx1"/>
                          </a:solidFill>
                          <a:latin typeface="Times New Roman" panose="02020603050405020304" pitchFamily="18" charset="0"/>
                          <a:cs typeface="Arial" panose="020B0604020202020204" pitchFamily="34" charset="0"/>
                        </a:rPr>
                        <a:t>- C</a:t>
                      </a:r>
                      <a:r>
                        <a:rPr lang="en-US" altLang="zh-CN" sz="1800" baseline="-25000" dirty="0">
                          <a:solidFill>
                            <a:schemeClr val="tx1"/>
                          </a:solidFill>
                          <a:latin typeface="Times New Roman" panose="02020603050405020304" pitchFamily="18" charset="0"/>
                          <a:cs typeface="Arial" panose="020B0604020202020204" pitchFamily="34" charset="0"/>
                        </a:rPr>
                        <a:t>B</a:t>
                      </a:r>
                      <a:r>
                        <a:rPr lang="en-US" altLang="zh-CN" sz="1800" dirty="0">
                          <a:solidFill>
                            <a:schemeClr val="tx1"/>
                          </a:solidFill>
                          <a:latin typeface="Times New Roman" panose="02020603050405020304" pitchFamily="18" charset="0"/>
                          <a:cs typeface="Arial" panose="020B0604020202020204" pitchFamily="34" charset="0"/>
                        </a:rPr>
                        <a:t>B</a:t>
                      </a:r>
                      <a:r>
                        <a:rPr lang="en-US" altLang="zh-CN" sz="1800" baseline="30000" dirty="0">
                          <a:solidFill>
                            <a:schemeClr val="tx1"/>
                          </a:solidFill>
                          <a:latin typeface="Times New Roman" panose="02020603050405020304" pitchFamily="18" charset="0"/>
                          <a:cs typeface="Arial" panose="020B0604020202020204" pitchFamily="34" charset="0"/>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P</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j</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18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j</a:t>
                      </a:r>
                      <a:r>
                        <a:rPr kumimoji="0" lang="en-US" altLang="zh-CN" sz="1800" b="1" i="0" u="none" strike="noStrike" cap="none" normalizeH="0" baseline="0" dirty="0" err="1">
                          <a:ln>
                            <a:noFill/>
                          </a:ln>
                          <a:solidFill>
                            <a:schemeClr val="tx1"/>
                          </a:solidFill>
                          <a:effectLst/>
                          <a:latin typeface="等线" panose="02010600030101010101" pitchFamily="2" charset="-122"/>
                          <a:ea typeface="等线" panose="02010600030101010101" pitchFamily="2" charset="-122"/>
                        </a:rPr>
                        <a:t>∈N</a:t>
                      </a: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5" marB="4680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6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4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0" lang="en-US" altLang="zh-CN" sz="1800" b="0" i="1"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0"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p>
                  </a:txBody>
                  <a:tcPr marL="90000" marR="90000" marT="46805" marB="46805" anchor="ctr" anchorCtr="1" horzOverflow="overflow">
                    <a:lnL w="12700"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blinds(horizontal)">
                                      <p:cBhvr>
                                        <p:cTn id="7" dur="500"/>
                                        <p:tgtEl>
                                          <p:spTgt spid="136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6195">
                                            <p:txEl>
                                              <p:pRg st="1" end="1"/>
                                            </p:txEl>
                                          </p:spTgt>
                                        </p:tgtEl>
                                        <p:attrNameLst>
                                          <p:attrName>style.visibility</p:attrName>
                                        </p:attrNameLst>
                                      </p:cBhvr>
                                      <p:to>
                                        <p:strVal val="visible"/>
                                      </p:to>
                                    </p:set>
                                    <p:animEffect transition="in" filter="blinds(horizontal)">
                                      <p:cBhvr>
                                        <p:cTn id="12" dur="500"/>
                                        <p:tgtEl>
                                          <p:spTgt spid="1361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6195">
                                            <p:txEl>
                                              <p:pRg st="2" end="2"/>
                                            </p:txEl>
                                          </p:spTgt>
                                        </p:tgtEl>
                                        <p:attrNameLst>
                                          <p:attrName>style.visibility</p:attrName>
                                        </p:attrNameLst>
                                      </p:cBhvr>
                                      <p:to>
                                        <p:strVal val="visible"/>
                                      </p:to>
                                    </p:set>
                                    <p:animEffect transition="in" filter="blinds(horizontal)">
                                      <p:cBhvr>
                                        <p:cTn id="17" dur="500"/>
                                        <p:tgtEl>
                                          <p:spTgt spid="136195">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36195">
                                            <p:txEl>
                                              <p:pRg st="3" end="3"/>
                                            </p:txEl>
                                          </p:spTgt>
                                        </p:tgtEl>
                                        <p:attrNameLst>
                                          <p:attrName>style.visibility</p:attrName>
                                        </p:attrNameLst>
                                      </p:cBhvr>
                                      <p:to>
                                        <p:strVal val="visible"/>
                                      </p:to>
                                    </p:set>
                                    <p:animEffect transition="in" filter="blinds(horizontal)">
                                      <p:cBhvr>
                                        <p:cTn id="20" dur="500"/>
                                        <p:tgtEl>
                                          <p:spTgt spid="13619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6195">
                                            <p:txEl>
                                              <p:pRg st="4" end="4"/>
                                            </p:txEl>
                                          </p:spTgt>
                                        </p:tgtEl>
                                        <p:attrNameLst>
                                          <p:attrName>style.visibility</p:attrName>
                                        </p:attrNameLst>
                                      </p:cBhvr>
                                      <p:to>
                                        <p:strVal val="visible"/>
                                      </p:to>
                                    </p:set>
                                    <p:animEffect transition="in" filter="blinds(horizontal)">
                                      <p:cBhvr>
                                        <p:cTn id="25" dur="500"/>
                                        <p:tgtEl>
                                          <p:spTgt spid="136195">
                                            <p:txEl>
                                              <p:pRg st="4" end="4"/>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6195">
                                            <p:txEl>
                                              <p:pRg st="5" end="5"/>
                                            </p:txEl>
                                          </p:spTgt>
                                        </p:tgtEl>
                                        <p:attrNameLst>
                                          <p:attrName>style.visibility</p:attrName>
                                        </p:attrNameLst>
                                      </p:cBhvr>
                                      <p:to>
                                        <p:strVal val="visible"/>
                                      </p:to>
                                    </p:set>
                                    <p:animEffect transition="in" filter="blinds(horizontal)">
                                      <p:cBhvr>
                                        <p:cTn id="28" dur="500"/>
                                        <p:tgtEl>
                                          <p:spTgt spid="136195">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36195">
                                            <p:txEl>
                                              <p:pRg st="6" end="6"/>
                                            </p:txEl>
                                          </p:spTgt>
                                        </p:tgtEl>
                                        <p:attrNameLst>
                                          <p:attrName>style.visibility</p:attrName>
                                        </p:attrNameLst>
                                      </p:cBhvr>
                                      <p:to>
                                        <p:strVal val="visible"/>
                                      </p:to>
                                    </p:set>
                                    <p:animEffect transition="in" filter="blinds(horizontal)">
                                      <p:cBhvr>
                                        <p:cTn id="31" dur="500"/>
                                        <p:tgtEl>
                                          <p:spTgt spid="136195">
                                            <p:txEl>
                                              <p:pRg st="6" end="6"/>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descr="Large confetti">
            <a:extLst>
              <a:ext uri="{FF2B5EF4-FFF2-40B4-BE49-F238E27FC236}">
                <a16:creationId xmlns:a16="http://schemas.microsoft.com/office/drawing/2014/main" id="{AB0ED78D-82F6-4D39-BCA9-C9BB5FC4EC46}"/>
              </a:ext>
            </a:extLst>
          </p:cNvPr>
          <p:cNvSpPr>
            <a:spLocks noGrp="1" noChangeArrowheads="1"/>
          </p:cNvSpPr>
          <p:nvPr>
            <p:ph type="title"/>
          </p:nvPr>
        </p:nvSpPr>
        <p:spPr/>
        <p:txBody>
          <a:bodyPr/>
          <a:lstStyle/>
          <a:p>
            <a:pPr eaLnBrk="1" hangingPunct="1"/>
            <a:r>
              <a:rPr lang="zh-CN" altLang="en-US"/>
              <a:t>例子：价值系数</a:t>
            </a:r>
            <a:r>
              <a:rPr lang="en-US" altLang="zh-CN"/>
              <a:t>c</a:t>
            </a:r>
            <a:r>
              <a:rPr lang="en-US" altLang="zh-CN" b="0" baseline="-25000"/>
              <a:t>j</a:t>
            </a:r>
            <a:r>
              <a:rPr lang="zh-CN" altLang="en-US"/>
              <a:t>变化分析</a:t>
            </a:r>
          </a:p>
        </p:txBody>
      </p:sp>
      <p:sp>
        <p:nvSpPr>
          <p:cNvPr id="6" name="Rectangle 3">
            <a:extLst>
              <a:ext uri="{FF2B5EF4-FFF2-40B4-BE49-F238E27FC236}">
                <a16:creationId xmlns:a16="http://schemas.microsoft.com/office/drawing/2014/main" id="{49033EA0-F632-4DC4-98DC-FA2130523273}"/>
              </a:ext>
            </a:extLst>
          </p:cNvPr>
          <p:cNvSpPr txBox="1">
            <a:spLocks noChangeArrowheads="1"/>
          </p:cNvSpPr>
          <p:nvPr/>
        </p:nvSpPr>
        <p:spPr bwMode="auto">
          <a:xfrm>
            <a:off x="1981200" y="1236664"/>
            <a:ext cx="8077200" cy="333533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a:buClr>
                <a:srgbClr val="CC9900"/>
              </a:buClr>
              <a:defRPr/>
            </a:pPr>
            <a:r>
              <a:rPr lang="zh-CN" altLang="en-US" sz="2000" kern="0" dirty="0">
                <a:solidFill>
                  <a:srgbClr val="FF00FF"/>
                </a:solidFill>
                <a:latin typeface="Arial"/>
                <a:ea typeface="宋体"/>
              </a:rPr>
              <a:t>设基变量</a:t>
            </a:r>
            <a:r>
              <a:rPr lang="en-US" altLang="zh-CN" sz="2000" i="1" kern="0" dirty="0">
                <a:solidFill>
                  <a:srgbClr val="FF00FF"/>
                </a:solidFill>
                <a:latin typeface="Arial"/>
                <a:ea typeface="宋体"/>
              </a:rPr>
              <a:t>x</a:t>
            </a:r>
            <a:r>
              <a:rPr lang="en-US" altLang="zh-CN" sz="2000" kern="0" baseline="-25000" dirty="0">
                <a:solidFill>
                  <a:srgbClr val="FF00FF"/>
                </a:solidFill>
                <a:latin typeface="Arial"/>
                <a:ea typeface="宋体"/>
              </a:rPr>
              <a:t>2</a:t>
            </a:r>
            <a:r>
              <a:rPr lang="en-US" altLang="zh-CN" sz="2000" kern="0" dirty="0">
                <a:solidFill>
                  <a:srgbClr val="FF00FF"/>
                </a:solidFill>
                <a:latin typeface="Arial"/>
                <a:ea typeface="宋体"/>
              </a:rPr>
              <a:t> </a:t>
            </a:r>
            <a:r>
              <a:rPr lang="zh-CN" altLang="en-US" sz="2000" kern="0" dirty="0">
                <a:solidFill>
                  <a:srgbClr val="FF00FF"/>
                </a:solidFill>
                <a:latin typeface="Arial"/>
                <a:ea typeface="宋体"/>
              </a:rPr>
              <a:t>的系数</a:t>
            </a:r>
            <a:r>
              <a:rPr lang="en-US" altLang="zh-CN" sz="2000" i="1" kern="0" dirty="0">
                <a:solidFill>
                  <a:srgbClr val="FF00FF"/>
                </a:solidFill>
                <a:latin typeface="Arial"/>
                <a:ea typeface="宋体"/>
              </a:rPr>
              <a:t>c</a:t>
            </a:r>
            <a:r>
              <a:rPr lang="en-US" altLang="zh-CN" sz="2000" kern="0" baseline="-25000" dirty="0">
                <a:solidFill>
                  <a:srgbClr val="FF00FF"/>
                </a:solidFill>
                <a:latin typeface="Arial"/>
                <a:ea typeface="宋体"/>
              </a:rPr>
              <a:t>2</a:t>
            </a:r>
            <a:r>
              <a:rPr lang="en-US" altLang="zh-CN" sz="2000" kern="0" dirty="0">
                <a:solidFill>
                  <a:srgbClr val="FF00FF"/>
                </a:solidFill>
                <a:latin typeface="Arial"/>
                <a:ea typeface="宋体"/>
              </a:rPr>
              <a:t> </a:t>
            </a:r>
            <a:r>
              <a:rPr lang="zh-CN" altLang="en-US" sz="2000" kern="0" dirty="0">
                <a:solidFill>
                  <a:srgbClr val="FF00FF"/>
                </a:solidFill>
                <a:latin typeface="Arial"/>
                <a:ea typeface="宋体"/>
              </a:rPr>
              <a:t>变化</a:t>
            </a:r>
            <a:r>
              <a:rPr lang="en-US" altLang="zh-CN" sz="2000" kern="0" dirty="0">
                <a:solidFill>
                  <a:srgbClr val="FF00FF"/>
                </a:solidFill>
                <a:latin typeface="Arial"/>
                <a:ea typeface="宋体"/>
              </a:rPr>
              <a:t>Δ</a:t>
            </a:r>
            <a:r>
              <a:rPr lang="en-US" altLang="zh-CN" sz="2000" i="1" kern="0" dirty="0">
                <a:solidFill>
                  <a:srgbClr val="FF00FF"/>
                </a:solidFill>
                <a:latin typeface="Arial"/>
                <a:ea typeface="宋体"/>
              </a:rPr>
              <a:t>c</a:t>
            </a:r>
            <a:r>
              <a:rPr lang="en-US" altLang="zh-CN" sz="2000" kern="0" baseline="-25000" dirty="0">
                <a:solidFill>
                  <a:srgbClr val="FF00FF"/>
                </a:solidFill>
                <a:latin typeface="Arial"/>
                <a:ea typeface="宋体"/>
              </a:rPr>
              <a:t>2</a:t>
            </a:r>
            <a:r>
              <a:rPr lang="en-US" altLang="zh-CN" sz="2000" kern="0" dirty="0">
                <a:solidFill>
                  <a:srgbClr val="FF00FF"/>
                </a:solidFill>
                <a:latin typeface="Arial"/>
                <a:ea typeface="宋体"/>
              </a:rPr>
              <a:t> , </a:t>
            </a:r>
            <a:r>
              <a:rPr lang="zh-CN" altLang="en-US" sz="2000" kern="0" dirty="0">
                <a:solidFill>
                  <a:srgbClr val="FF00FF"/>
                </a:solidFill>
                <a:latin typeface="Arial"/>
                <a:ea typeface="宋体"/>
              </a:rPr>
              <a:t>在原最优解不变条件下</a:t>
            </a:r>
            <a:r>
              <a:rPr lang="en-US" altLang="zh-CN" sz="2000" kern="0" dirty="0">
                <a:solidFill>
                  <a:srgbClr val="FF00FF"/>
                </a:solidFill>
                <a:latin typeface="Arial"/>
                <a:ea typeface="宋体"/>
              </a:rPr>
              <a:t>, </a:t>
            </a:r>
            <a:r>
              <a:rPr lang="zh-CN" altLang="en-US" sz="2000" kern="0" dirty="0">
                <a:solidFill>
                  <a:srgbClr val="FF00FF"/>
                </a:solidFill>
                <a:latin typeface="Arial"/>
                <a:ea typeface="宋体"/>
              </a:rPr>
              <a:t>确定</a:t>
            </a:r>
            <a:r>
              <a:rPr lang="en-US" altLang="zh-CN" sz="2000" kern="0" dirty="0">
                <a:solidFill>
                  <a:srgbClr val="FF00FF"/>
                </a:solidFill>
                <a:latin typeface="Arial"/>
                <a:ea typeface="宋体"/>
              </a:rPr>
              <a:t>Δ</a:t>
            </a:r>
            <a:r>
              <a:rPr lang="en-US" altLang="zh-CN" sz="2000" i="1" kern="0" dirty="0">
                <a:solidFill>
                  <a:srgbClr val="FF00FF"/>
                </a:solidFill>
                <a:latin typeface="Arial"/>
                <a:ea typeface="宋体"/>
              </a:rPr>
              <a:t>c</a:t>
            </a:r>
            <a:r>
              <a:rPr lang="en-US" altLang="zh-CN" sz="2000" kern="0" baseline="-25000" dirty="0">
                <a:solidFill>
                  <a:srgbClr val="FF00FF"/>
                </a:solidFill>
                <a:latin typeface="Arial"/>
                <a:ea typeface="宋体"/>
              </a:rPr>
              <a:t>2</a:t>
            </a:r>
            <a:r>
              <a:rPr lang="en-US" altLang="zh-CN" sz="2000" kern="0" dirty="0">
                <a:solidFill>
                  <a:srgbClr val="FF00FF"/>
                </a:solidFill>
                <a:latin typeface="Arial"/>
                <a:ea typeface="宋体"/>
              </a:rPr>
              <a:t> </a:t>
            </a:r>
            <a:r>
              <a:rPr lang="zh-CN" altLang="en-US" sz="2000" kern="0" dirty="0">
                <a:solidFill>
                  <a:srgbClr val="FF00FF"/>
                </a:solidFill>
                <a:latin typeface="Arial"/>
                <a:ea typeface="宋体"/>
              </a:rPr>
              <a:t>的变化范围</a:t>
            </a:r>
            <a:r>
              <a:rPr lang="en-US" altLang="zh-CN" sz="2000" kern="0" dirty="0">
                <a:solidFill>
                  <a:srgbClr val="FF00FF"/>
                </a:solidFill>
                <a:latin typeface="Arial"/>
                <a:ea typeface="宋体"/>
              </a:rPr>
              <a:t>?</a:t>
            </a:r>
          </a:p>
        </p:txBody>
      </p:sp>
      <p:graphicFrame>
        <p:nvGraphicFramePr>
          <p:cNvPr id="7" name="Group 50">
            <a:extLst>
              <a:ext uri="{FF2B5EF4-FFF2-40B4-BE49-F238E27FC236}">
                <a16:creationId xmlns:a16="http://schemas.microsoft.com/office/drawing/2014/main" id="{6CA776EC-D846-4192-921F-32DDDE45D332}"/>
              </a:ext>
            </a:extLst>
          </p:cNvPr>
          <p:cNvGraphicFramePr>
            <a:graphicFrameLocks/>
          </p:cNvGraphicFramePr>
          <p:nvPr/>
        </p:nvGraphicFramePr>
        <p:xfrm>
          <a:off x="4038600" y="1922463"/>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109604" name="对象 33">
            <a:extLst>
              <a:ext uri="{FF2B5EF4-FFF2-40B4-BE49-F238E27FC236}">
                <a16:creationId xmlns:a16="http://schemas.microsoft.com/office/drawing/2014/main" id="{1FABC4E3-578A-4E79-BB9C-19EFF1B503F1}"/>
              </a:ext>
            </a:extLst>
          </p:cNvPr>
          <p:cNvGraphicFramePr>
            <a:graphicFrameLocks noChangeAspect="1"/>
          </p:cNvGraphicFramePr>
          <p:nvPr/>
        </p:nvGraphicFramePr>
        <p:xfrm>
          <a:off x="3810001" y="4241800"/>
          <a:ext cx="3400425" cy="1828800"/>
        </p:xfrm>
        <a:graphic>
          <a:graphicData uri="http://schemas.openxmlformats.org/presentationml/2006/ole">
            <mc:AlternateContent xmlns:mc="http://schemas.openxmlformats.org/markup-compatibility/2006">
              <mc:Choice xmlns:v="urn:schemas-microsoft-com:vml" Requires="v">
                <p:oleObj spid="_x0000_s9218" name="Equation" r:id="rId3" imgW="1511300" imgH="812800" progId="Equation.DSMT4">
                  <p:embed/>
                </p:oleObj>
              </mc:Choice>
              <mc:Fallback>
                <p:oleObj name="Equation" r:id="rId3" imgW="1511300" imgH="812800" progId="Equation.DSMT4">
                  <p:embed/>
                  <p:pic>
                    <p:nvPicPr>
                      <p:cNvPr id="109604" name="对象 33">
                        <a:extLst>
                          <a:ext uri="{FF2B5EF4-FFF2-40B4-BE49-F238E27FC236}">
                            <a16:creationId xmlns:a16="http://schemas.microsoft.com/office/drawing/2014/main" id="{1FABC4E3-578A-4E79-BB9C-19EFF1B503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1" y="4241800"/>
                        <a:ext cx="34004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F980729-C84F-4BF1-A668-8D64BB154F65}"/>
              </a:ext>
            </a:extLst>
          </p:cNvPr>
          <p:cNvSpPr>
            <a:spLocks noGrp="1" noChangeArrowheads="1"/>
          </p:cNvSpPr>
          <p:nvPr>
            <p:ph type="title"/>
          </p:nvPr>
        </p:nvSpPr>
        <p:spPr>
          <a:xfrm>
            <a:off x="1981200" y="152400"/>
            <a:ext cx="8229600" cy="712788"/>
          </a:xfrm>
        </p:spPr>
        <p:txBody>
          <a:bodyPr/>
          <a:lstStyle/>
          <a:p>
            <a:pPr eaLnBrk="1" hangingPunct="1"/>
            <a:r>
              <a:rPr lang="zh-CN" altLang="en-US"/>
              <a:t>例子：价值系数</a:t>
            </a:r>
            <a:r>
              <a:rPr lang="en-US" altLang="zh-CN"/>
              <a:t>c</a:t>
            </a:r>
            <a:r>
              <a:rPr lang="en-US" altLang="zh-CN" b="0" baseline="-25000"/>
              <a:t>j</a:t>
            </a:r>
            <a:r>
              <a:rPr lang="zh-CN" altLang="en-US"/>
              <a:t>变化分析</a:t>
            </a:r>
          </a:p>
        </p:txBody>
      </p:sp>
      <p:sp>
        <p:nvSpPr>
          <p:cNvPr id="2" name="矩形 1">
            <a:extLst>
              <a:ext uri="{FF2B5EF4-FFF2-40B4-BE49-F238E27FC236}">
                <a16:creationId xmlns:a16="http://schemas.microsoft.com/office/drawing/2014/main" id="{D5D04397-4456-4164-AADC-93D79714D77D}"/>
              </a:ext>
            </a:extLst>
          </p:cNvPr>
          <p:cNvSpPr/>
          <p:nvPr/>
        </p:nvSpPr>
        <p:spPr>
          <a:xfrm>
            <a:off x="1905001" y="685800"/>
            <a:ext cx="2492375" cy="369888"/>
          </a:xfrm>
          <a:prstGeom prst="rect">
            <a:avLst/>
          </a:prstGeom>
        </p:spPr>
        <p:txBody>
          <a:bodyPr wrap="none">
            <a:spAutoFit/>
          </a:bodyPr>
          <a:lstStyle/>
          <a:p>
            <a:pPr eaLnBrk="0" fontAlgn="base" hangingPunct="0">
              <a:spcBef>
                <a:spcPct val="0"/>
              </a:spcBef>
              <a:spcAft>
                <a:spcPct val="0"/>
              </a:spcAft>
              <a:defRPr/>
            </a:pPr>
            <a:r>
              <a:rPr lang="zh-CN" altLang="en-US" kern="0" dirty="0">
                <a:solidFill>
                  <a:srgbClr val="000000"/>
                </a:solidFill>
                <a:latin typeface="Arial" panose="020B0604020202020204" pitchFamily="34" charset="0"/>
                <a:ea typeface="宋体" panose="02010600030101010101" pitchFamily="2" charset="-122"/>
              </a:rPr>
              <a:t>原来问题最终单纯形表</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7" name="Group 719">
            <a:extLst>
              <a:ext uri="{FF2B5EF4-FFF2-40B4-BE49-F238E27FC236}">
                <a16:creationId xmlns:a16="http://schemas.microsoft.com/office/drawing/2014/main" id="{61C194BC-CE88-4E99-86D8-A0F73D865BFD}"/>
              </a:ext>
            </a:extLst>
          </p:cNvPr>
          <p:cNvGraphicFramePr>
            <a:graphicFrameLocks noGrp="1"/>
          </p:cNvGraphicFramePr>
          <p:nvPr/>
        </p:nvGraphicFramePr>
        <p:xfrm>
          <a:off x="1752601" y="990600"/>
          <a:ext cx="5103813" cy="2706688"/>
        </p:xfrm>
        <a:graphic>
          <a:graphicData uri="http://schemas.openxmlformats.org/drawingml/2006/table">
            <a:tbl>
              <a:tblPr/>
              <a:tblGrid>
                <a:gridCol w="533235">
                  <a:extLst>
                    <a:ext uri="{9D8B030D-6E8A-4147-A177-3AD203B41FA5}">
                      <a16:colId xmlns:a16="http://schemas.microsoft.com/office/drawing/2014/main" val="20000"/>
                    </a:ext>
                  </a:extLst>
                </a:gridCol>
                <a:gridCol w="533235">
                  <a:extLst>
                    <a:ext uri="{9D8B030D-6E8A-4147-A177-3AD203B41FA5}">
                      <a16:colId xmlns:a16="http://schemas.microsoft.com/office/drawing/2014/main" val="20001"/>
                    </a:ext>
                  </a:extLst>
                </a:gridCol>
                <a:gridCol w="533235">
                  <a:extLst>
                    <a:ext uri="{9D8B030D-6E8A-4147-A177-3AD203B41FA5}">
                      <a16:colId xmlns:a16="http://schemas.microsoft.com/office/drawing/2014/main" val="20002"/>
                    </a:ext>
                  </a:extLst>
                </a:gridCol>
                <a:gridCol w="533235">
                  <a:extLst>
                    <a:ext uri="{9D8B030D-6E8A-4147-A177-3AD203B41FA5}">
                      <a16:colId xmlns:a16="http://schemas.microsoft.com/office/drawing/2014/main" val="20003"/>
                    </a:ext>
                  </a:extLst>
                </a:gridCol>
                <a:gridCol w="458230">
                  <a:extLst>
                    <a:ext uri="{9D8B030D-6E8A-4147-A177-3AD203B41FA5}">
                      <a16:colId xmlns:a16="http://schemas.microsoft.com/office/drawing/2014/main" val="20004"/>
                    </a:ext>
                  </a:extLst>
                </a:gridCol>
                <a:gridCol w="608238">
                  <a:extLst>
                    <a:ext uri="{9D8B030D-6E8A-4147-A177-3AD203B41FA5}">
                      <a16:colId xmlns:a16="http://schemas.microsoft.com/office/drawing/2014/main" val="20005"/>
                    </a:ext>
                  </a:extLst>
                </a:gridCol>
                <a:gridCol w="883644">
                  <a:extLst>
                    <a:ext uri="{9D8B030D-6E8A-4147-A177-3AD203B41FA5}">
                      <a16:colId xmlns:a16="http://schemas.microsoft.com/office/drawing/2014/main" val="20006"/>
                    </a:ext>
                  </a:extLst>
                </a:gridCol>
                <a:gridCol w="531647">
                  <a:extLst>
                    <a:ext uri="{9D8B030D-6E8A-4147-A177-3AD203B41FA5}">
                      <a16:colId xmlns:a16="http://schemas.microsoft.com/office/drawing/2014/main" val="20007"/>
                    </a:ext>
                  </a:extLst>
                </a:gridCol>
                <a:gridCol w="489115">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L="91436" marR="91436"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6" marR="91436"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L="91436" marR="91436"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-0.125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L="91436" marR="91436"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L="91436" marR="91436"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36" marR="91436"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36" marR="91436"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8" name="组合 17">
            <a:extLst>
              <a:ext uri="{FF2B5EF4-FFF2-40B4-BE49-F238E27FC236}">
                <a16:creationId xmlns:a16="http://schemas.microsoft.com/office/drawing/2014/main" id="{95157DC5-6A7F-4C7B-BCB3-5C864550A686}"/>
              </a:ext>
            </a:extLst>
          </p:cNvPr>
          <p:cNvGrpSpPr>
            <a:grpSpLocks/>
          </p:cNvGrpSpPr>
          <p:nvPr/>
        </p:nvGrpSpPr>
        <p:grpSpPr bwMode="auto">
          <a:xfrm>
            <a:off x="4381500" y="1981201"/>
            <a:ext cx="1866900" cy="923330"/>
            <a:chOff x="6591300" y="4343400"/>
            <a:chExt cx="1638300" cy="923329"/>
          </a:xfrm>
        </p:grpSpPr>
        <p:sp>
          <p:nvSpPr>
            <p:cNvPr id="19" name="矩形 3">
              <a:extLst>
                <a:ext uri="{FF2B5EF4-FFF2-40B4-BE49-F238E27FC236}">
                  <a16:creationId xmlns:a16="http://schemas.microsoft.com/office/drawing/2014/main" id="{7C8C5136-4B7E-4D6D-8B61-EA6471BF841B}"/>
                </a:ext>
              </a:extLst>
            </p:cNvPr>
            <p:cNvSpPr>
              <a:spLocks noChangeArrowheads="1"/>
            </p:cNvSpPr>
            <p:nvPr/>
          </p:nvSpPr>
          <p:spPr bwMode="auto">
            <a:xfrm>
              <a:off x="6591300" y="4343400"/>
              <a:ext cx="1638300" cy="923329"/>
            </a:xfrm>
            <a:prstGeom prst="rect">
              <a:avLst/>
            </a:prstGeom>
            <a:solidFill>
              <a:schemeClr val="tx2">
                <a:lumMod val="40000"/>
                <a:lumOff val="60000"/>
              </a:schemeClr>
            </a:solidFill>
            <a:ln w="25400">
              <a:solidFill>
                <a:srgbClr val="FF00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en-US" altLang="zh-CN">
                <a:solidFill>
                  <a:srgbClr val="FF0000"/>
                </a:solidFill>
              </a:endParaRPr>
            </a:p>
            <a:p>
              <a:pPr algn="just" fontAlgn="base">
                <a:spcBef>
                  <a:spcPct val="0"/>
                </a:spcBef>
                <a:spcAft>
                  <a:spcPct val="0"/>
                </a:spcAft>
                <a:defRPr/>
              </a:pPr>
              <a:endParaRPr lang="zh-CN" altLang="en-US">
                <a:solidFill>
                  <a:srgbClr val="FF0000"/>
                </a:solidFill>
              </a:endParaRPr>
            </a:p>
          </p:txBody>
        </p:sp>
        <p:graphicFrame>
          <p:nvGraphicFramePr>
            <p:cNvPr id="110738" name="Object 15">
              <a:extLst>
                <a:ext uri="{FF2B5EF4-FFF2-40B4-BE49-F238E27FC236}">
                  <a16:creationId xmlns:a16="http://schemas.microsoft.com/office/drawing/2014/main" id="{7C890222-B03D-42DF-B7F0-3017766A9E08}"/>
                </a:ext>
              </a:extLst>
            </p:cNvPr>
            <p:cNvGraphicFramePr>
              <a:graphicFrameLocks noChangeAspect="1"/>
            </p:cNvGraphicFramePr>
            <p:nvPr/>
          </p:nvGraphicFramePr>
          <p:xfrm>
            <a:off x="7096125" y="4689475"/>
            <a:ext cx="587375" cy="474663"/>
          </p:xfrm>
          <a:graphic>
            <a:graphicData uri="http://schemas.openxmlformats.org/presentationml/2006/ole">
              <mc:AlternateContent xmlns:mc="http://schemas.openxmlformats.org/markup-compatibility/2006">
                <mc:Choice xmlns:v="urn:schemas-microsoft-com:vml" Requires="v">
                  <p:oleObj spid="_x0000_s10242" name="Equation" r:id="rId3" imgW="177569" imgH="152202" progId="Equation.DSMT4">
                    <p:embed/>
                  </p:oleObj>
                </mc:Choice>
                <mc:Fallback>
                  <p:oleObj name="Equation" r:id="rId3" imgW="177569" imgH="152202" progId="Equation.DSMT4">
                    <p:embed/>
                    <p:pic>
                      <p:nvPicPr>
                        <p:cNvPr id="110738" name="Object 15">
                          <a:extLst>
                            <a:ext uri="{FF2B5EF4-FFF2-40B4-BE49-F238E27FC236}">
                              <a16:creationId xmlns:a16="http://schemas.microsoft.com/office/drawing/2014/main" id="{7C890222-B03D-42DF-B7F0-3017766A9E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25" y="4689475"/>
                          <a:ext cx="58737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1" name="Group 719">
            <a:extLst>
              <a:ext uri="{FF2B5EF4-FFF2-40B4-BE49-F238E27FC236}">
                <a16:creationId xmlns:a16="http://schemas.microsoft.com/office/drawing/2014/main" id="{E56D8D28-0C53-42B8-AF0C-EE3DC4596CE8}"/>
              </a:ext>
            </a:extLst>
          </p:cNvPr>
          <p:cNvGraphicFramePr>
            <a:graphicFrameLocks noGrp="1"/>
          </p:cNvGraphicFramePr>
          <p:nvPr/>
        </p:nvGraphicFramePr>
        <p:xfrm>
          <a:off x="1625600" y="3784600"/>
          <a:ext cx="8585200" cy="2706688"/>
        </p:xfrm>
        <a:graphic>
          <a:graphicData uri="http://schemas.openxmlformats.org/drawingml/2006/table">
            <a:tbl>
              <a:tblPr/>
              <a:tblGrid>
                <a:gridCol w="1069234">
                  <a:extLst>
                    <a:ext uri="{9D8B030D-6E8A-4147-A177-3AD203B41FA5}">
                      <a16:colId xmlns:a16="http://schemas.microsoft.com/office/drawing/2014/main" val="20000"/>
                    </a:ext>
                  </a:extLst>
                </a:gridCol>
                <a:gridCol w="549948">
                  <a:extLst>
                    <a:ext uri="{9D8B030D-6E8A-4147-A177-3AD203B41FA5}">
                      <a16:colId xmlns:a16="http://schemas.microsoft.com/office/drawing/2014/main" val="20001"/>
                    </a:ext>
                  </a:extLst>
                </a:gridCol>
                <a:gridCol w="573055">
                  <a:extLst>
                    <a:ext uri="{9D8B030D-6E8A-4147-A177-3AD203B41FA5}">
                      <a16:colId xmlns:a16="http://schemas.microsoft.com/office/drawing/2014/main" val="20002"/>
                    </a:ext>
                  </a:extLst>
                </a:gridCol>
                <a:gridCol w="710160">
                  <a:extLst>
                    <a:ext uri="{9D8B030D-6E8A-4147-A177-3AD203B41FA5}">
                      <a16:colId xmlns:a16="http://schemas.microsoft.com/office/drawing/2014/main" val="20003"/>
                    </a:ext>
                  </a:extLst>
                </a:gridCol>
                <a:gridCol w="878665">
                  <a:extLst>
                    <a:ext uri="{9D8B030D-6E8A-4147-A177-3AD203B41FA5}">
                      <a16:colId xmlns:a16="http://schemas.microsoft.com/office/drawing/2014/main" val="20004"/>
                    </a:ext>
                  </a:extLst>
                </a:gridCol>
                <a:gridCol w="1527504">
                  <a:extLst>
                    <a:ext uri="{9D8B030D-6E8A-4147-A177-3AD203B41FA5}">
                      <a16:colId xmlns:a16="http://schemas.microsoft.com/office/drawing/2014/main" val="20005"/>
                    </a:ext>
                  </a:extLst>
                </a:gridCol>
                <a:gridCol w="1905021">
                  <a:extLst>
                    <a:ext uri="{9D8B030D-6E8A-4147-A177-3AD203B41FA5}">
                      <a16:colId xmlns:a16="http://schemas.microsoft.com/office/drawing/2014/main" val="20006"/>
                    </a:ext>
                  </a:extLst>
                </a:gridCol>
                <a:gridCol w="762008">
                  <a:extLst>
                    <a:ext uri="{9D8B030D-6E8A-4147-A177-3AD203B41FA5}">
                      <a16:colId xmlns:a16="http://schemas.microsoft.com/office/drawing/2014/main" val="20007"/>
                    </a:ext>
                  </a:extLst>
                </a:gridCol>
                <a:gridCol w="609606">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L="91441" marR="91441"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41" marR="91441"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3+∆c</a:t>
                      </a:r>
                      <a:r>
                        <a:rPr kumimoji="1" lang="en-US" altLang="zh-CN" sz="2000" b="1" i="0"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2</a:t>
                      </a:r>
                    </a:p>
                  </a:txBody>
                  <a:tcPr marL="91441" marR="91441"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L="91441" marR="91441"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L="91441" marR="91441"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L="91441" marR="91441"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L="91441" marR="91441"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41" marR="91441"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3+∆c</a:t>
                      </a:r>
                      <a:r>
                        <a:rPr kumimoji="1" lang="en-US" altLang="zh-CN" sz="1800" b="1" i="0"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2</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endParaRPr kumimoji="1" lang="en-US" altLang="zh-CN" sz="1800" b="1" i="0" u="none" strike="noStrike" kern="1200" cap="none" normalizeH="0" baseline="0" dirty="0">
                        <a:ln>
                          <a:noFill/>
                        </a:ln>
                        <a:solidFill>
                          <a:srgbClr val="FF0000"/>
                        </a:solidFill>
                        <a:effectLst/>
                        <a:latin typeface="Times New Roman" panose="02020603050405020304" pitchFamily="18" charset="0"/>
                        <a:ea typeface="华文细黑" panose="02010600040101010101" pitchFamily="2" charset="-122"/>
                        <a:cs typeface="+mn-cs"/>
                      </a:endParaRP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L="91441" marR="91441"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0.5</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-0.125</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L="91441" marR="91441"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41" marR="91441"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-1.5-0.5∆c</a:t>
                      </a:r>
                      <a:r>
                        <a:rPr kumimoji="1" lang="en-US" altLang="zh-CN" sz="20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0.125∆c</a:t>
                      </a:r>
                      <a:r>
                        <a:rPr kumimoji="1" lang="en-US" altLang="zh-CN" sz="2000" b="1" i="0" u="none" strike="noStrike" kern="1200" cap="none" normalizeH="0" baseline="-25000" dirty="0">
                          <a:ln>
                            <a:noFill/>
                          </a:ln>
                          <a:solidFill>
                            <a:schemeClr val="tx1"/>
                          </a:solidFill>
                          <a:effectLst/>
                          <a:latin typeface="Times New Roman" panose="02020603050405020304" pitchFamily="18" charset="0"/>
                          <a:ea typeface="华文细黑" panose="02010600040101010101" pitchFamily="2" charset="-122"/>
                          <a:cs typeface="+mn-cs"/>
                        </a:rPr>
                        <a:t>2</a:t>
                      </a:r>
                      <a:r>
                        <a:rPr kumimoji="1" lang="en-US" altLang="zh-CN" sz="20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-0.125</a:t>
                      </a:r>
                    </a:p>
                  </a:txBody>
                  <a:tcPr marL="91441" marR="91441"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L="91441" marR="91441"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L="91441" marR="91441"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24" name="对象 2">
            <a:extLst>
              <a:ext uri="{FF2B5EF4-FFF2-40B4-BE49-F238E27FC236}">
                <a16:creationId xmlns:a16="http://schemas.microsoft.com/office/drawing/2014/main" id="{FD697F26-5051-451C-AA3E-607A9174B8C4}"/>
              </a:ext>
            </a:extLst>
          </p:cNvPr>
          <p:cNvGraphicFramePr>
            <a:graphicFrameLocks noChangeAspect="1"/>
          </p:cNvGraphicFramePr>
          <p:nvPr/>
        </p:nvGraphicFramePr>
        <p:xfrm>
          <a:off x="1524000" y="4173539"/>
          <a:ext cx="8301038" cy="1855787"/>
        </p:xfrm>
        <a:graphic>
          <a:graphicData uri="http://schemas.openxmlformats.org/presentationml/2006/ole">
            <mc:AlternateContent xmlns:mc="http://schemas.openxmlformats.org/markup-compatibility/2006">
              <mc:Choice xmlns:v="urn:schemas-microsoft-com:vml" Requires="v">
                <p:oleObj spid="_x0000_s10243" name="Equation" r:id="rId5" imgW="2946400" imgH="660400" progId="Equation.DSMT4">
                  <p:embed/>
                </p:oleObj>
              </mc:Choice>
              <mc:Fallback>
                <p:oleObj name="Equation" r:id="rId5" imgW="2946400" imgH="660400" progId="Equation.DSMT4">
                  <p:embed/>
                  <p:pic>
                    <p:nvPicPr>
                      <p:cNvPr id="24" name="对象 2">
                        <a:extLst>
                          <a:ext uri="{FF2B5EF4-FFF2-40B4-BE49-F238E27FC236}">
                            <a16:creationId xmlns:a16="http://schemas.microsoft.com/office/drawing/2014/main" id="{FD697F26-5051-451C-AA3E-607A9174B8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173539"/>
                        <a:ext cx="8301038" cy="185578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 name="组合 24">
            <a:extLst>
              <a:ext uri="{FF2B5EF4-FFF2-40B4-BE49-F238E27FC236}">
                <a16:creationId xmlns:a16="http://schemas.microsoft.com/office/drawing/2014/main" id="{2F24F93D-43BD-4BAA-BF05-212DC9BAB25C}"/>
              </a:ext>
            </a:extLst>
          </p:cNvPr>
          <p:cNvGrpSpPr>
            <a:grpSpLocks/>
          </p:cNvGrpSpPr>
          <p:nvPr/>
        </p:nvGrpSpPr>
        <p:grpSpPr bwMode="auto">
          <a:xfrm>
            <a:off x="7315200" y="1414464"/>
            <a:ext cx="2971800" cy="1908175"/>
            <a:chOff x="6858001" y="2947046"/>
            <a:chExt cx="2970923" cy="1907854"/>
          </a:xfrm>
        </p:grpSpPr>
        <p:graphicFrame>
          <p:nvGraphicFramePr>
            <p:cNvPr id="110735" name="对象 20">
              <a:extLst>
                <a:ext uri="{FF2B5EF4-FFF2-40B4-BE49-F238E27FC236}">
                  <a16:creationId xmlns:a16="http://schemas.microsoft.com/office/drawing/2014/main" id="{70A3C6C5-43F7-49E7-9AE3-EEE333A40DC9}"/>
                </a:ext>
              </a:extLst>
            </p:cNvPr>
            <p:cNvGraphicFramePr>
              <a:graphicFrameLocks noChangeAspect="1"/>
            </p:cNvGraphicFramePr>
            <p:nvPr/>
          </p:nvGraphicFramePr>
          <p:xfrm>
            <a:off x="7198306" y="2947046"/>
            <a:ext cx="1868843" cy="619879"/>
          </p:xfrm>
          <a:graphic>
            <a:graphicData uri="http://schemas.openxmlformats.org/presentationml/2006/ole">
              <mc:AlternateContent xmlns:mc="http://schemas.openxmlformats.org/markup-compatibility/2006">
                <mc:Choice xmlns:v="urn:schemas-microsoft-com:vml" Requires="v">
                  <p:oleObj spid="_x0000_s10244" name="Equation" r:id="rId7" imgW="532937" imgH="177646" progId="Equation.DSMT4">
                    <p:embed/>
                  </p:oleObj>
                </mc:Choice>
                <mc:Fallback>
                  <p:oleObj name="Equation" r:id="rId7" imgW="532937" imgH="177646" progId="Equation.DSMT4">
                    <p:embed/>
                    <p:pic>
                      <p:nvPicPr>
                        <p:cNvPr id="110735" name="对象 20">
                          <a:extLst>
                            <a:ext uri="{FF2B5EF4-FFF2-40B4-BE49-F238E27FC236}">
                              <a16:creationId xmlns:a16="http://schemas.microsoft.com/office/drawing/2014/main" id="{70A3C6C5-43F7-49E7-9AE3-EEE333A40D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8306" y="2947046"/>
                          <a:ext cx="1868843" cy="619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736" name="矩形 11">
              <a:extLst>
                <a:ext uri="{FF2B5EF4-FFF2-40B4-BE49-F238E27FC236}">
                  <a16:creationId xmlns:a16="http://schemas.microsoft.com/office/drawing/2014/main" id="{EABC09B9-2A8A-441C-9725-947D36FBC18D}"/>
                </a:ext>
              </a:extLst>
            </p:cNvPr>
            <p:cNvSpPr>
              <a:spLocks noChangeArrowheads="1"/>
            </p:cNvSpPr>
            <p:nvPr/>
          </p:nvSpPr>
          <p:spPr bwMode="auto">
            <a:xfrm>
              <a:off x="6858001" y="3654778"/>
              <a:ext cx="2970923" cy="1200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2400" i="1">
                  <a:solidFill>
                    <a:srgbClr val="FF0000"/>
                  </a:solidFill>
                  <a:latin typeface="Times New Roman" panose="02020603050405020304" pitchFamily="18" charset="0"/>
                  <a:cs typeface="Times New Roman" panose="02020603050405020304" pitchFamily="18" charset="0"/>
                </a:rPr>
                <a:t>x</a:t>
              </a:r>
              <a:r>
                <a:rPr lang="en-US" altLang="zh-CN" sz="2400" baseline="-25000">
                  <a:solidFill>
                    <a:srgbClr val="FF0000"/>
                  </a:solidFill>
                  <a:latin typeface="Times New Roman" panose="02020603050405020304" pitchFamily="18" charset="0"/>
                  <a:cs typeface="Times New Roman" panose="02020603050405020304" pitchFamily="18" charset="0"/>
                </a:rPr>
                <a:t>2</a:t>
              </a:r>
              <a:r>
                <a:rPr lang="en-US" altLang="zh-CN" sz="2400">
                  <a:solidFill>
                    <a:srgbClr val="FF0000"/>
                  </a:solidFill>
                  <a:latin typeface="Times New Roman" panose="02020603050405020304" pitchFamily="18" charset="0"/>
                  <a:cs typeface="Times New Roman" panose="02020603050405020304" pitchFamily="18" charset="0"/>
                </a:rPr>
                <a:t> </a:t>
              </a:r>
              <a:r>
                <a:rPr lang="zh-CN" altLang="en-US" sz="2400">
                  <a:solidFill>
                    <a:srgbClr val="FF0000"/>
                  </a:solidFill>
                  <a:latin typeface="Times New Roman" panose="02020603050405020304" pitchFamily="18" charset="0"/>
                  <a:cs typeface="Times New Roman" panose="02020603050405020304" pitchFamily="18" charset="0"/>
                </a:rPr>
                <a:t>的价值系数</a:t>
              </a:r>
              <a:r>
                <a:rPr lang="en-US" altLang="zh-CN" sz="2400" i="1">
                  <a:solidFill>
                    <a:srgbClr val="FF0000"/>
                  </a:solidFill>
                  <a:latin typeface="Times New Roman" panose="02020603050405020304" pitchFamily="18" charset="0"/>
                  <a:cs typeface="Times New Roman" panose="02020603050405020304" pitchFamily="18" charset="0"/>
                </a:rPr>
                <a:t>c</a:t>
              </a:r>
              <a:r>
                <a:rPr lang="en-US" altLang="zh-CN" sz="2400" baseline="-25000">
                  <a:solidFill>
                    <a:srgbClr val="FF0000"/>
                  </a:solidFill>
                  <a:latin typeface="Times New Roman" panose="02020603050405020304" pitchFamily="18" charset="0"/>
                  <a:cs typeface="Times New Roman" panose="02020603050405020304" pitchFamily="18" charset="0"/>
                </a:rPr>
                <a:t>2</a:t>
              </a:r>
              <a:r>
                <a:rPr lang="en-US" altLang="zh-CN" sz="2400">
                  <a:solidFill>
                    <a:srgbClr val="FF0000"/>
                  </a:solidFill>
                  <a:latin typeface="Times New Roman" panose="02020603050405020304" pitchFamily="18" charset="0"/>
                  <a:cs typeface="Times New Roman" panose="02020603050405020304" pitchFamily="18" charset="0"/>
                </a:rPr>
                <a:t> </a:t>
              </a:r>
              <a:r>
                <a:rPr lang="zh-CN" altLang="en-US" sz="2400">
                  <a:solidFill>
                    <a:srgbClr val="FF0000"/>
                  </a:solidFill>
                  <a:latin typeface="Times New Roman" panose="02020603050405020304" pitchFamily="18" charset="0"/>
                  <a:cs typeface="Times New Roman" panose="02020603050405020304" pitchFamily="18" charset="0"/>
                </a:rPr>
                <a:t>可以在</a:t>
              </a:r>
              <a:r>
                <a:rPr lang="en-US" altLang="zh-CN" sz="2400">
                  <a:solidFill>
                    <a:srgbClr val="FF0000"/>
                  </a:solidFill>
                  <a:latin typeface="Times New Roman" panose="02020603050405020304" pitchFamily="18" charset="0"/>
                  <a:cs typeface="Times New Roman" panose="02020603050405020304" pitchFamily="18" charset="0"/>
                </a:rPr>
                <a:t>[0 , 4 ]</a:t>
              </a:r>
              <a:r>
                <a:rPr lang="zh-CN" altLang="en-US" sz="2400">
                  <a:solidFill>
                    <a:srgbClr val="FF0000"/>
                  </a:solidFill>
                  <a:latin typeface="Times New Roman" panose="02020603050405020304" pitchFamily="18" charset="0"/>
                  <a:cs typeface="Times New Roman" panose="02020603050405020304" pitchFamily="18" charset="0"/>
                </a:rPr>
                <a:t>之间变化</a:t>
              </a:r>
              <a:r>
                <a:rPr lang="en-US" altLang="zh-CN" sz="2400">
                  <a:solidFill>
                    <a:srgbClr val="FF0000"/>
                  </a:solidFill>
                  <a:latin typeface="Times New Roman" panose="02020603050405020304" pitchFamily="18" charset="0"/>
                  <a:cs typeface="Times New Roman" panose="02020603050405020304" pitchFamily="18" charset="0"/>
                </a:rPr>
                <a:t>, </a:t>
              </a:r>
              <a:r>
                <a:rPr lang="zh-CN" altLang="en-US" sz="2400">
                  <a:solidFill>
                    <a:srgbClr val="FF0000"/>
                  </a:solidFill>
                  <a:latin typeface="Times New Roman" panose="02020603050405020304" pitchFamily="18" charset="0"/>
                  <a:cs typeface="Times New Roman" panose="02020603050405020304" pitchFamily="18" charset="0"/>
                </a:rPr>
                <a:t>而不影响原最优解。</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nodeType="clickEffect">
                                  <p:stCondLst>
                                    <p:cond delay="0"/>
                                  </p:stCondLst>
                                  <p:childTnLst>
                                    <p:animEffect transition="out" filter="fad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randombar(horizontal)">
                                      <p:cBhvr>
                                        <p:cTn id="17" dur="500"/>
                                        <p:tgtEl>
                                          <p:spTgt spid="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nodeType="clickEffect">
                                  <p:stCondLst>
                                    <p:cond delay="0"/>
                                  </p:stCondLst>
                                  <p:childTnLst>
                                    <p:animEffect transition="out" filter="fade">
                                      <p:cBhvr>
                                        <p:cTn id="21" dur="500"/>
                                        <p:tgtEl>
                                          <p:spTgt spid="24"/>
                                        </p:tgtEl>
                                      </p:cBhvr>
                                    </p:animEffect>
                                    <p:set>
                                      <p:cBhvr>
                                        <p:cTn id="22" dur="1" fill="hold">
                                          <p:stCondLst>
                                            <p:cond delay="499"/>
                                          </p:stCondLst>
                                        </p:cTn>
                                        <p:tgtEl>
                                          <p:spTgt spid="2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DDCE53F4-9FC9-4DCE-992F-77B217B32784}"/>
              </a:ext>
            </a:extLst>
          </p:cNvPr>
          <p:cNvSpPr>
            <a:spLocks noGrp="1" noChangeArrowheads="1"/>
          </p:cNvSpPr>
          <p:nvPr>
            <p:ph type="title"/>
          </p:nvPr>
        </p:nvSpPr>
        <p:spPr/>
        <p:txBody>
          <a:bodyPr/>
          <a:lstStyle/>
          <a:p>
            <a:pPr eaLnBrk="1" hangingPunct="1"/>
            <a:r>
              <a:rPr lang="zh-CN" altLang="en-US"/>
              <a:t>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的变化</a:t>
            </a:r>
          </a:p>
        </p:txBody>
      </p:sp>
      <p:sp>
        <p:nvSpPr>
          <p:cNvPr id="137219" name="Rectangle 3">
            <a:extLst>
              <a:ext uri="{FF2B5EF4-FFF2-40B4-BE49-F238E27FC236}">
                <a16:creationId xmlns:a16="http://schemas.microsoft.com/office/drawing/2014/main" id="{39A8DF16-7B95-4243-AC97-0626C17A3913}"/>
              </a:ext>
            </a:extLst>
          </p:cNvPr>
          <p:cNvSpPr>
            <a:spLocks noGrp="1" noChangeArrowheads="1"/>
          </p:cNvSpPr>
          <p:nvPr>
            <p:ph type="body" idx="1"/>
          </p:nvPr>
        </p:nvSpPr>
        <p:spPr/>
        <p:txBody>
          <a:bodyPr/>
          <a:lstStyle/>
          <a:p>
            <a:pPr eaLnBrk="1" hangingPunct="1"/>
            <a:r>
              <a:rPr kumimoji="1" lang="zh-CN" altLang="en-US">
                <a:latin typeface="Times New Roman" panose="02020603050405020304" pitchFamily="18" charset="0"/>
              </a:rPr>
              <a:t>如果变化的</a:t>
            </a:r>
            <a:r>
              <a:rPr kumimoji="1" lang="en-US" altLang="zh-CN" i="1">
                <a:latin typeface="Times New Roman" panose="02020603050405020304" pitchFamily="18" charset="0"/>
              </a:rPr>
              <a:t>a</a:t>
            </a:r>
            <a:r>
              <a:rPr kumimoji="1" lang="en-US" altLang="zh-CN" i="1" baseline="-25000">
                <a:latin typeface="Times New Roman" panose="02020603050405020304" pitchFamily="18" charset="0"/>
              </a:rPr>
              <a:t>ij</a:t>
            </a:r>
            <a:r>
              <a:rPr kumimoji="1" lang="zh-CN" altLang="en-US">
                <a:latin typeface="Times New Roman" panose="02020603050405020304" pitchFamily="18" charset="0"/>
              </a:rPr>
              <a:t>不出现在最终单纯形表的基矩阵</a:t>
            </a:r>
            <a:r>
              <a:rPr kumimoji="1" lang="en-US" altLang="zh-CN">
                <a:latin typeface="Times New Roman" panose="02020603050405020304" pitchFamily="18" charset="0"/>
              </a:rPr>
              <a:t>B</a:t>
            </a:r>
            <a:r>
              <a:rPr kumimoji="1" lang="zh-CN" altLang="en-US">
                <a:latin typeface="Times New Roman" panose="02020603050405020304" pitchFamily="18" charset="0"/>
              </a:rPr>
              <a:t>中，我们可以将变化的对应列当作一新的产品的技术系数。通过添加一个变量来分析。</a:t>
            </a:r>
          </a:p>
          <a:p>
            <a:pPr eaLnBrk="1" hangingPunct="1"/>
            <a:endParaRPr kumimoji="1" lang="zh-CN" altLang="en-US">
              <a:latin typeface="Times New Roman" panose="02020603050405020304" pitchFamily="18" charset="0"/>
            </a:endParaRPr>
          </a:p>
          <a:p>
            <a:pPr eaLnBrk="1" hangingPunct="1"/>
            <a:r>
              <a:rPr kumimoji="1" lang="zh-CN" altLang="en-US">
                <a:latin typeface="Times New Roman" panose="02020603050405020304" pitchFamily="18" charset="0"/>
              </a:rPr>
              <a:t>如果变化的</a:t>
            </a:r>
            <a:r>
              <a:rPr kumimoji="1" lang="en-US" altLang="zh-CN" i="1">
                <a:latin typeface="Times New Roman" panose="02020603050405020304" pitchFamily="18" charset="0"/>
              </a:rPr>
              <a:t>a</a:t>
            </a:r>
            <a:r>
              <a:rPr kumimoji="1" lang="en-US" altLang="zh-CN" i="1" baseline="-25000">
                <a:latin typeface="Times New Roman" panose="02020603050405020304" pitchFamily="18" charset="0"/>
              </a:rPr>
              <a:t>ij</a:t>
            </a:r>
            <a:r>
              <a:rPr kumimoji="1" lang="zh-CN" altLang="en-US">
                <a:latin typeface="Times New Roman" panose="02020603050405020304" pitchFamily="18" charset="0"/>
              </a:rPr>
              <a:t>出现在最终单纯形表的基矩阵</a:t>
            </a:r>
            <a:r>
              <a:rPr kumimoji="1" lang="en-US" altLang="zh-CN">
                <a:latin typeface="Times New Roman" panose="02020603050405020304" pitchFamily="18" charset="0"/>
              </a:rPr>
              <a:t>B</a:t>
            </a:r>
            <a:r>
              <a:rPr kumimoji="1" lang="zh-CN" altLang="en-US">
                <a:latin typeface="Times New Roman" panose="02020603050405020304" pitchFamily="18" charset="0"/>
              </a:rPr>
              <a:t>中，则先用原来的</a:t>
            </a:r>
            <a:r>
              <a:rPr kumimoji="1" lang="en-US" altLang="zh-CN">
                <a:latin typeface="Times New Roman" panose="02020603050405020304" pitchFamily="18" charset="0"/>
              </a:rPr>
              <a:t>B</a:t>
            </a:r>
            <a:r>
              <a:rPr kumimoji="1" lang="zh-CN" altLang="en-US">
                <a:latin typeface="Times New Roman" panose="02020603050405020304" pitchFamily="18" charset="0"/>
              </a:rPr>
              <a:t>计算变化后的</a:t>
            </a:r>
            <a:r>
              <a:rPr kumimoji="1" lang="en-US" altLang="zh-CN">
                <a:latin typeface="Times New Roman" panose="02020603050405020304" pitchFamily="18" charset="0"/>
              </a:rPr>
              <a:t>B’</a:t>
            </a:r>
            <a:r>
              <a:rPr kumimoji="1" lang="zh-CN" altLang="en-US">
                <a:latin typeface="Times New Roman" panose="02020603050405020304" pitchFamily="18" charset="0"/>
              </a:rPr>
              <a:t>，让</a:t>
            </a:r>
            <a:r>
              <a:rPr kumimoji="1" lang="en-US" altLang="zh-CN">
                <a:latin typeface="Times New Roman" panose="02020603050405020304" pitchFamily="18" charset="0"/>
              </a:rPr>
              <a:t>B’</a:t>
            </a:r>
            <a:r>
              <a:rPr kumimoji="1" lang="zh-CN" altLang="en-US">
                <a:latin typeface="Times New Roman" panose="02020603050405020304" pitchFamily="18" charset="0"/>
              </a:rPr>
              <a:t>取代</a:t>
            </a:r>
            <a:r>
              <a:rPr kumimoji="1" lang="en-US" altLang="zh-CN">
                <a:latin typeface="Times New Roman" panose="02020603050405020304" pitchFamily="18" charset="0"/>
              </a:rPr>
              <a:t>B</a:t>
            </a:r>
            <a:r>
              <a:rPr kumimoji="1" lang="zh-CN" altLang="en-US">
                <a:latin typeface="Times New Roman" panose="02020603050405020304" pitchFamily="18" charset="0"/>
              </a:rPr>
              <a:t>的位置，然后进行检验计算。这时有可能出现原问题和对偶问题都是非可行解，需要引进人工变量将问题转化为可行解，然后用单纯形</a:t>
            </a:r>
            <a:r>
              <a:rPr kumimoji="1" lang="zh-CN" altLang="en-US"/>
              <a:t>法继续。</a:t>
            </a:r>
          </a:p>
        </p:txBody>
      </p:sp>
      <p:sp>
        <p:nvSpPr>
          <p:cNvPr id="111620" name="矩形 1">
            <a:extLst>
              <a:ext uri="{FF2B5EF4-FFF2-40B4-BE49-F238E27FC236}">
                <a16:creationId xmlns:a16="http://schemas.microsoft.com/office/drawing/2014/main" id="{7C7DAFE9-44B6-4445-9FEC-A6C21E34A419}"/>
              </a:ext>
            </a:extLst>
          </p:cNvPr>
          <p:cNvSpPr>
            <a:spLocks noChangeArrowheads="1"/>
          </p:cNvSpPr>
          <p:nvPr/>
        </p:nvSpPr>
        <p:spPr bwMode="auto">
          <a:xfrm>
            <a:off x="4724400" y="984251"/>
            <a:ext cx="4427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kumimoji="1" lang="zh-CN" altLang="en-US" sz="2400">
                <a:solidFill>
                  <a:srgbClr val="FF00FF"/>
                </a:solidFill>
                <a:latin typeface="Times New Roman" panose="02020603050405020304" pitchFamily="18" charset="0"/>
              </a:rPr>
              <a:t>非基变量检验数</a:t>
            </a:r>
            <a:r>
              <a:rPr lang="el-GR" altLang="zh-CN" sz="2400">
                <a:solidFill>
                  <a:srgbClr val="FF00FF"/>
                </a:solidFill>
                <a:latin typeface="Times New Roman" panose="02020603050405020304" pitchFamily="18" charset="0"/>
                <a:cs typeface="Arial" panose="020B0604020202020204" pitchFamily="34" charset="0"/>
              </a:rPr>
              <a:t>σ</a:t>
            </a:r>
            <a:r>
              <a:rPr lang="en-US" altLang="zh-CN" sz="2400" baseline="-25000">
                <a:solidFill>
                  <a:srgbClr val="FF00FF"/>
                </a:solidFill>
                <a:latin typeface="Times New Roman" panose="02020603050405020304" pitchFamily="18" charset="0"/>
                <a:cs typeface="Arial" panose="020B0604020202020204" pitchFamily="34" charset="0"/>
              </a:rPr>
              <a:t>N</a:t>
            </a:r>
            <a:r>
              <a:rPr lang="en-US" altLang="zh-CN" sz="2400">
                <a:solidFill>
                  <a:srgbClr val="FF00FF"/>
                </a:solidFill>
                <a:latin typeface="Times New Roman" panose="02020603050405020304" pitchFamily="18" charset="0"/>
                <a:cs typeface="Arial" panose="020B0604020202020204" pitchFamily="34" charset="0"/>
              </a:rPr>
              <a:t> =C</a:t>
            </a:r>
            <a:r>
              <a:rPr lang="en-US" altLang="zh-CN" sz="2400" baseline="-25000">
                <a:solidFill>
                  <a:srgbClr val="FF00FF"/>
                </a:solidFill>
                <a:latin typeface="Times New Roman" panose="02020603050405020304" pitchFamily="18" charset="0"/>
                <a:cs typeface="Arial" panose="020B0604020202020204" pitchFamily="34" charset="0"/>
              </a:rPr>
              <a:t>N </a:t>
            </a:r>
            <a:r>
              <a:rPr lang="en-US" altLang="zh-CN" sz="2400">
                <a:solidFill>
                  <a:srgbClr val="FF00FF"/>
                </a:solidFill>
                <a:latin typeface="Times New Roman" panose="02020603050405020304" pitchFamily="18" charset="0"/>
                <a:cs typeface="Arial" panose="020B0604020202020204" pitchFamily="34" charset="0"/>
              </a:rPr>
              <a:t>- C</a:t>
            </a:r>
            <a:r>
              <a:rPr lang="en-US" altLang="zh-CN" sz="2400" baseline="-25000">
                <a:solidFill>
                  <a:srgbClr val="FF00FF"/>
                </a:solidFill>
                <a:latin typeface="Times New Roman" panose="02020603050405020304" pitchFamily="18" charset="0"/>
                <a:cs typeface="Arial" panose="020B0604020202020204" pitchFamily="34" charset="0"/>
              </a:rPr>
              <a:t>B</a:t>
            </a:r>
            <a:r>
              <a:rPr lang="en-US" altLang="zh-CN" sz="2400">
                <a:solidFill>
                  <a:srgbClr val="FF00FF"/>
                </a:solidFill>
                <a:latin typeface="Times New Roman" panose="02020603050405020304" pitchFamily="18" charset="0"/>
                <a:cs typeface="Arial" panose="020B0604020202020204" pitchFamily="34" charset="0"/>
              </a:rPr>
              <a:t>B</a:t>
            </a:r>
            <a:r>
              <a:rPr lang="en-US" altLang="zh-CN" sz="2400" baseline="30000">
                <a:solidFill>
                  <a:srgbClr val="FF00FF"/>
                </a:solidFill>
                <a:latin typeface="Times New Roman" panose="02020603050405020304" pitchFamily="18" charset="0"/>
                <a:cs typeface="Arial" panose="020B0604020202020204" pitchFamily="34" charset="0"/>
              </a:rPr>
              <a:t>-1</a:t>
            </a:r>
            <a:r>
              <a:rPr lang="en-US" altLang="zh-CN" sz="2400">
                <a:solidFill>
                  <a:srgbClr val="FF00FF"/>
                </a:solidFill>
                <a:latin typeface="Times New Roman" panose="02020603050405020304" pitchFamily="18" charset="0"/>
                <a:cs typeface="Arial" panose="020B0604020202020204" pitchFamily="34" charset="0"/>
              </a:rPr>
              <a:t>N</a:t>
            </a:r>
            <a:endParaRPr lang="zh-CN" altLang="en-US" sz="24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19">
                                            <p:txEl>
                                              <p:pRg st="0" end="0"/>
                                            </p:txEl>
                                          </p:spTgt>
                                        </p:tgtEl>
                                        <p:attrNameLst>
                                          <p:attrName>style.visibility</p:attrName>
                                        </p:attrNameLst>
                                      </p:cBhvr>
                                      <p:to>
                                        <p:strVal val="visible"/>
                                      </p:to>
                                    </p:set>
                                    <p:animEffect transition="in" filter="blinds(horizontal)">
                                      <p:cBhvr>
                                        <p:cTn id="7" dur="500"/>
                                        <p:tgtEl>
                                          <p:spTgt spid="137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7219">
                                            <p:txEl>
                                              <p:pRg st="2" end="2"/>
                                            </p:txEl>
                                          </p:spTgt>
                                        </p:tgtEl>
                                        <p:attrNameLst>
                                          <p:attrName>style.visibility</p:attrName>
                                        </p:attrNameLst>
                                      </p:cBhvr>
                                      <p:to>
                                        <p:strVal val="visible"/>
                                      </p:to>
                                    </p:set>
                                    <p:animEffect transition="in" filter="blinds(horizontal)">
                                      <p:cBhvr>
                                        <p:cTn id="12" dur="500"/>
                                        <p:tgtEl>
                                          <p:spTgt spid="1372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descr="Large confetti">
            <a:extLst>
              <a:ext uri="{FF2B5EF4-FFF2-40B4-BE49-F238E27FC236}">
                <a16:creationId xmlns:a16="http://schemas.microsoft.com/office/drawing/2014/main" id="{69510D9C-6F2C-484F-BB6B-BD3F70802894}"/>
              </a:ext>
            </a:extLst>
          </p:cNvPr>
          <p:cNvSpPr>
            <a:spLocks noGrp="1" noChangeArrowheads="1"/>
          </p:cNvSpPr>
          <p:nvPr>
            <p:ph type="title"/>
          </p:nvPr>
        </p:nvSpPr>
        <p:spPr/>
        <p:txBody>
          <a:bodyPr/>
          <a:lstStyle/>
          <a:p>
            <a:pPr eaLnBrk="1" hangingPunct="1"/>
            <a:r>
              <a:rPr lang="zh-CN" altLang="en-US"/>
              <a:t>例子：技术系数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变化分析</a:t>
            </a:r>
          </a:p>
        </p:txBody>
      </p:sp>
      <p:sp>
        <p:nvSpPr>
          <p:cNvPr id="6" name="Rectangle 3">
            <a:extLst>
              <a:ext uri="{FF2B5EF4-FFF2-40B4-BE49-F238E27FC236}">
                <a16:creationId xmlns:a16="http://schemas.microsoft.com/office/drawing/2014/main" id="{C0FB2B61-B463-4FE4-AA48-7D3B4408F881}"/>
              </a:ext>
            </a:extLst>
          </p:cNvPr>
          <p:cNvSpPr txBox="1">
            <a:spLocks noChangeArrowheads="1"/>
          </p:cNvSpPr>
          <p:nvPr/>
        </p:nvSpPr>
        <p:spPr bwMode="auto">
          <a:xfrm>
            <a:off x="1981200" y="1236664"/>
            <a:ext cx="8077200" cy="333533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a:buClr>
                <a:srgbClr val="CC9900"/>
              </a:buClr>
              <a:defRPr/>
            </a:pPr>
            <a:r>
              <a:rPr lang="zh-CN" altLang="en-US" sz="2000" kern="0" dirty="0">
                <a:solidFill>
                  <a:srgbClr val="FF00FF"/>
                </a:solidFill>
                <a:latin typeface="Arial"/>
                <a:ea typeface="宋体"/>
              </a:rPr>
              <a:t>设有一种新产品</a:t>
            </a:r>
            <a:r>
              <a:rPr lang="en-US" altLang="zh-CN" sz="2000" kern="0" dirty="0">
                <a:solidFill>
                  <a:srgbClr val="FF00FF"/>
                </a:solidFill>
                <a:latin typeface="Arial"/>
                <a:ea typeface="宋体"/>
                <a:sym typeface="cajcd fnta1" pitchFamily="18" charset="2"/>
              </a:rPr>
              <a:t>III </a:t>
            </a:r>
            <a:r>
              <a:rPr lang="zh-CN" altLang="en-US" sz="2000" kern="0" dirty="0">
                <a:solidFill>
                  <a:srgbClr val="FF00FF"/>
                </a:solidFill>
                <a:latin typeface="Arial"/>
                <a:ea typeface="宋体"/>
              </a:rPr>
              <a:t>，已知每件消耗</a:t>
            </a:r>
            <a:r>
              <a:rPr lang="en-US" altLang="zh-CN" sz="2000" kern="0" dirty="0">
                <a:solidFill>
                  <a:srgbClr val="FF00FF"/>
                </a:solidFill>
                <a:latin typeface="Arial"/>
                <a:ea typeface="宋体"/>
              </a:rPr>
              <a:t>A,B</a:t>
            </a:r>
            <a:r>
              <a:rPr lang="zh-CN" altLang="en-US" sz="2000" kern="0" dirty="0">
                <a:solidFill>
                  <a:srgbClr val="FF00FF"/>
                </a:solidFill>
                <a:latin typeface="Arial"/>
                <a:ea typeface="宋体"/>
              </a:rPr>
              <a:t>各为</a:t>
            </a:r>
            <a:r>
              <a:rPr lang="en-US" altLang="zh-CN" sz="2000" kern="0" dirty="0">
                <a:solidFill>
                  <a:srgbClr val="FF00FF"/>
                </a:solidFill>
                <a:latin typeface="Arial"/>
                <a:ea typeface="宋体"/>
              </a:rPr>
              <a:t>6kg,3kg</a:t>
            </a:r>
            <a:r>
              <a:rPr lang="zh-CN" altLang="en-US" sz="2000" kern="0" dirty="0">
                <a:solidFill>
                  <a:srgbClr val="FF00FF"/>
                </a:solidFill>
                <a:latin typeface="Arial"/>
                <a:ea typeface="宋体"/>
              </a:rPr>
              <a:t> 。使用设备</a:t>
            </a:r>
            <a:r>
              <a:rPr lang="en-US" altLang="zh-CN" sz="2000" kern="0" dirty="0">
                <a:solidFill>
                  <a:srgbClr val="FF00FF"/>
                </a:solidFill>
                <a:latin typeface="Arial"/>
                <a:ea typeface="宋体"/>
              </a:rPr>
              <a:t>2</a:t>
            </a:r>
            <a:r>
              <a:rPr lang="zh-CN" altLang="en-US" sz="2000" kern="0" dirty="0">
                <a:solidFill>
                  <a:srgbClr val="FF00FF"/>
                </a:solidFill>
                <a:latin typeface="Arial"/>
                <a:ea typeface="宋体"/>
              </a:rPr>
              <a:t>小时，每件可以获利</a:t>
            </a:r>
            <a:r>
              <a:rPr lang="en-US" altLang="zh-CN" sz="2000" kern="0" dirty="0">
                <a:solidFill>
                  <a:srgbClr val="FF00FF"/>
                </a:solidFill>
                <a:latin typeface="Arial"/>
                <a:ea typeface="宋体"/>
              </a:rPr>
              <a:t>5</a:t>
            </a:r>
            <a:r>
              <a:rPr lang="zh-CN" altLang="en-US" sz="2000" kern="0" dirty="0">
                <a:solidFill>
                  <a:srgbClr val="FF00FF"/>
                </a:solidFill>
                <a:latin typeface="Arial"/>
                <a:ea typeface="宋体"/>
              </a:rPr>
              <a:t>元。问是否生产该产品，如何安排生产？</a:t>
            </a:r>
            <a:endParaRPr lang="en-US" altLang="zh-CN" sz="2000" kern="0" dirty="0">
              <a:solidFill>
                <a:srgbClr val="FF00FF"/>
              </a:solidFill>
              <a:latin typeface="Arial"/>
              <a:ea typeface="宋体"/>
            </a:endParaRPr>
          </a:p>
        </p:txBody>
      </p:sp>
      <p:graphicFrame>
        <p:nvGraphicFramePr>
          <p:cNvPr id="7" name="Group 50">
            <a:extLst>
              <a:ext uri="{FF2B5EF4-FFF2-40B4-BE49-F238E27FC236}">
                <a16:creationId xmlns:a16="http://schemas.microsoft.com/office/drawing/2014/main" id="{EACF2F07-6033-441F-AE8F-67883B148B33}"/>
              </a:ext>
            </a:extLst>
          </p:cNvPr>
          <p:cNvGraphicFramePr>
            <a:graphicFrameLocks/>
          </p:cNvGraphicFramePr>
          <p:nvPr/>
        </p:nvGraphicFramePr>
        <p:xfrm>
          <a:off x="2133600" y="1905000"/>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112676" name="对象 33">
            <a:extLst>
              <a:ext uri="{FF2B5EF4-FFF2-40B4-BE49-F238E27FC236}">
                <a16:creationId xmlns:a16="http://schemas.microsoft.com/office/drawing/2014/main" id="{A3D6C251-9D5B-4299-9683-55C371526271}"/>
              </a:ext>
            </a:extLst>
          </p:cNvPr>
          <p:cNvGraphicFramePr>
            <a:graphicFrameLocks noChangeAspect="1"/>
          </p:cNvGraphicFramePr>
          <p:nvPr/>
        </p:nvGraphicFramePr>
        <p:xfrm>
          <a:off x="6324601" y="1752600"/>
          <a:ext cx="3400425" cy="1828800"/>
        </p:xfrm>
        <a:graphic>
          <a:graphicData uri="http://schemas.openxmlformats.org/presentationml/2006/ole">
            <mc:AlternateContent xmlns:mc="http://schemas.openxmlformats.org/markup-compatibility/2006">
              <mc:Choice xmlns:v="urn:schemas-microsoft-com:vml" Requires="v">
                <p:oleObj spid="_x0000_s11266" name="Equation" r:id="rId3" imgW="1511300" imgH="812800" progId="Equation.DSMT4">
                  <p:embed/>
                </p:oleObj>
              </mc:Choice>
              <mc:Fallback>
                <p:oleObj name="Equation" r:id="rId3" imgW="1511300" imgH="812800" progId="Equation.DSMT4">
                  <p:embed/>
                  <p:pic>
                    <p:nvPicPr>
                      <p:cNvPr id="112676" name="对象 33">
                        <a:extLst>
                          <a:ext uri="{FF2B5EF4-FFF2-40B4-BE49-F238E27FC236}">
                            <a16:creationId xmlns:a16="http://schemas.microsoft.com/office/drawing/2014/main" id="{A3D6C251-9D5B-4299-9683-55C3715262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1" y="1752600"/>
                        <a:ext cx="34004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77" name="对象 33">
            <a:extLst>
              <a:ext uri="{FF2B5EF4-FFF2-40B4-BE49-F238E27FC236}">
                <a16:creationId xmlns:a16="http://schemas.microsoft.com/office/drawing/2014/main" id="{FEFC4C24-AF20-4E94-855E-5CDE70E4FAAA}"/>
              </a:ext>
            </a:extLst>
          </p:cNvPr>
          <p:cNvGraphicFramePr>
            <a:graphicFrameLocks noChangeAspect="1"/>
          </p:cNvGraphicFramePr>
          <p:nvPr/>
        </p:nvGraphicFramePr>
        <p:xfrm>
          <a:off x="1981201" y="4267200"/>
          <a:ext cx="3914775" cy="1828800"/>
        </p:xfrm>
        <a:graphic>
          <a:graphicData uri="http://schemas.openxmlformats.org/presentationml/2006/ole">
            <mc:AlternateContent xmlns:mc="http://schemas.openxmlformats.org/markup-compatibility/2006">
              <mc:Choice xmlns:v="urn:schemas-microsoft-com:vml" Requires="v">
                <p:oleObj spid="_x0000_s11267" name="Equation" r:id="rId5" imgW="1739900" imgH="812800" progId="Equation.DSMT4">
                  <p:embed/>
                </p:oleObj>
              </mc:Choice>
              <mc:Fallback>
                <p:oleObj name="Equation" r:id="rId5" imgW="1739900" imgH="812800" progId="Equation.DSMT4">
                  <p:embed/>
                  <p:pic>
                    <p:nvPicPr>
                      <p:cNvPr id="112677" name="对象 33">
                        <a:extLst>
                          <a:ext uri="{FF2B5EF4-FFF2-40B4-BE49-F238E27FC236}">
                            <a16:creationId xmlns:a16="http://schemas.microsoft.com/office/drawing/2014/main" id="{FEFC4C24-AF20-4E94-855E-5CDE70E4FA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1" y="4267200"/>
                        <a:ext cx="39147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CC1937A9-A31A-4FB4-80F7-276881E289DB}"/>
              </a:ext>
            </a:extLst>
          </p:cNvPr>
          <p:cNvGrpSpPr>
            <a:grpSpLocks/>
          </p:cNvGrpSpPr>
          <p:nvPr/>
        </p:nvGrpSpPr>
        <p:grpSpPr bwMode="auto">
          <a:xfrm>
            <a:off x="6096001" y="4191000"/>
            <a:ext cx="4379913" cy="1543050"/>
            <a:chOff x="4572000" y="4191000"/>
            <a:chExt cx="4379119" cy="1543050"/>
          </a:xfrm>
        </p:grpSpPr>
        <p:sp>
          <p:nvSpPr>
            <p:cNvPr id="3" name="矩形 2">
              <a:extLst>
                <a:ext uri="{FF2B5EF4-FFF2-40B4-BE49-F238E27FC236}">
                  <a16:creationId xmlns:a16="http://schemas.microsoft.com/office/drawing/2014/main" id="{2A6712B3-303D-4E64-A374-16E48B8B8873}"/>
                </a:ext>
              </a:extLst>
            </p:cNvPr>
            <p:cNvSpPr/>
            <p:nvPr/>
          </p:nvSpPr>
          <p:spPr>
            <a:xfrm>
              <a:off x="4572000" y="4219575"/>
              <a:ext cx="4266426" cy="923925"/>
            </a:xfrm>
            <a:prstGeom prst="rect">
              <a:avLst/>
            </a:prstGeom>
          </p:spPr>
          <p:txBody>
            <a:bodyPr>
              <a:spAutoFit/>
            </a:bodyPr>
            <a:lstStyle/>
            <a:p>
              <a:pPr eaLnBrk="0" fontAlgn="base" hangingPunct="0">
                <a:spcBef>
                  <a:spcPct val="0"/>
                </a:spcBef>
                <a:spcAft>
                  <a:spcPct val="0"/>
                </a:spcAft>
                <a:defRPr/>
              </a:pPr>
              <a:r>
                <a:rPr kumimoji="1" lang="zh-CN" altLang="en-US" dirty="0">
                  <a:solidFill>
                    <a:srgbClr val="000000"/>
                  </a:solidFill>
                  <a:latin typeface="宋体"/>
                  <a:ea typeface="宋体" panose="02010600030101010101" pitchFamily="2" charset="-122"/>
                </a:rPr>
                <a:t>增加一变量   </a:t>
              </a:r>
              <a:r>
                <a:rPr kumimoji="1" lang="en-US" altLang="zh-CN" dirty="0">
                  <a:solidFill>
                    <a:srgbClr val="000000"/>
                  </a:solidFill>
                  <a:latin typeface="宋体"/>
                  <a:ea typeface="宋体" panose="02010600030101010101" pitchFamily="2" charset="-122"/>
                </a:rPr>
                <a:t>,</a:t>
              </a:r>
              <a:r>
                <a:rPr kumimoji="1" lang="zh-CN" altLang="en-US" dirty="0">
                  <a:solidFill>
                    <a:srgbClr val="000000"/>
                  </a:solidFill>
                  <a:latin typeface="宋体"/>
                  <a:ea typeface="宋体" panose="02010600030101010101" pitchFamily="2" charset="-122"/>
                </a:rPr>
                <a:t>其技术系数</a:t>
              </a:r>
              <a:endParaRPr kumimoji="1" lang="en-US" altLang="zh-CN" dirty="0">
                <a:solidFill>
                  <a:srgbClr val="000000"/>
                </a:solidFill>
                <a:latin typeface="宋体"/>
                <a:ea typeface="宋体" panose="02010600030101010101" pitchFamily="2" charset="-122"/>
              </a:endParaRPr>
            </a:p>
            <a:p>
              <a:pPr eaLnBrk="0" fontAlgn="base" hangingPunct="0">
                <a:spcBef>
                  <a:spcPct val="0"/>
                </a:spcBef>
                <a:spcAft>
                  <a:spcPct val="0"/>
                </a:spcAft>
                <a:defRPr/>
              </a:pPr>
              <a:r>
                <a:rPr kumimoji="1" lang="zh-CN" altLang="en-US" dirty="0">
                  <a:solidFill>
                    <a:srgbClr val="000000"/>
                  </a:solidFill>
                  <a:latin typeface="宋体"/>
                  <a:ea typeface="宋体" panose="02010600030101010101" pitchFamily="2" charset="-122"/>
                </a:rPr>
                <a:t>先计算检验数</a:t>
              </a:r>
              <a:endParaRPr kumimoji="1" lang="en-US" altLang="zh-CN" dirty="0">
                <a:solidFill>
                  <a:srgbClr val="000000"/>
                </a:solidFill>
                <a:latin typeface="宋体"/>
                <a:ea typeface="宋体" panose="02010600030101010101" pitchFamily="2" charset="-122"/>
              </a:endParaRPr>
            </a:p>
            <a:p>
              <a:pPr eaLnBrk="0" fontAlgn="base" hangingPunct="0">
                <a:spcBef>
                  <a:spcPct val="0"/>
                </a:spcBef>
                <a:spcAft>
                  <a:spcPct val="0"/>
                </a:spcAft>
                <a:defRPr/>
              </a:pP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12681" name="对象 1">
              <a:extLst>
                <a:ext uri="{FF2B5EF4-FFF2-40B4-BE49-F238E27FC236}">
                  <a16:creationId xmlns:a16="http://schemas.microsoft.com/office/drawing/2014/main" id="{01A1B9C4-C1B6-48DF-B705-4981A6F80615}"/>
                </a:ext>
              </a:extLst>
            </p:cNvPr>
            <p:cNvGraphicFramePr>
              <a:graphicFrameLocks noChangeAspect="1"/>
            </p:cNvGraphicFramePr>
            <p:nvPr/>
          </p:nvGraphicFramePr>
          <p:xfrm>
            <a:off x="5872162" y="4227443"/>
            <a:ext cx="285750" cy="400050"/>
          </p:xfrm>
          <a:graphic>
            <a:graphicData uri="http://schemas.openxmlformats.org/presentationml/2006/ole">
              <mc:AlternateContent xmlns:mc="http://schemas.openxmlformats.org/markup-compatibility/2006">
                <mc:Choice xmlns:v="urn:schemas-microsoft-com:vml" Requires="v">
                  <p:oleObj spid="_x0000_s11268" name="Equation" r:id="rId7" imgW="126725" imgH="177415" progId="Equation.DSMT4">
                    <p:embed/>
                  </p:oleObj>
                </mc:Choice>
                <mc:Fallback>
                  <p:oleObj name="Equation" r:id="rId7" imgW="126725" imgH="177415" progId="Equation.DSMT4">
                    <p:embed/>
                    <p:pic>
                      <p:nvPicPr>
                        <p:cNvPr id="112681" name="对象 1">
                          <a:extLst>
                            <a:ext uri="{FF2B5EF4-FFF2-40B4-BE49-F238E27FC236}">
                              <a16:creationId xmlns:a16="http://schemas.microsoft.com/office/drawing/2014/main" id="{01A1B9C4-C1B6-48DF-B705-4981A6F8061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2162" y="4227443"/>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82" name="对象 1">
              <a:extLst>
                <a:ext uri="{FF2B5EF4-FFF2-40B4-BE49-F238E27FC236}">
                  <a16:creationId xmlns:a16="http://schemas.microsoft.com/office/drawing/2014/main" id="{3C818EFF-7D20-4BF3-82BD-53A514EA11FA}"/>
                </a:ext>
              </a:extLst>
            </p:cNvPr>
            <p:cNvGraphicFramePr>
              <a:graphicFrameLocks noChangeAspect="1"/>
            </p:cNvGraphicFramePr>
            <p:nvPr/>
          </p:nvGraphicFramePr>
          <p:xfrm>
            <a:off x="7408069" y="4191000"/>
            <a:ext cx="1543050" cy="457200"/>
          </p:xfrm>
          <a:graphic>
            <a:graphicData uri="http://schemas.openxmlformats.org/presentationml/2006/ole">
              <mc:AlternateContent xmlns:mc="http://schemas.openxmlformats.org/markup-compatibility/2006">
                <mc:Choice xmlns:v="urn:schemas-microsoft-com:vml" Requires="v">
                  <p:oleObj spid="_x0000_s11269" name="Equation" r:id="rId9" imgW="685800" imgH="203200" progId="Equation.DSMT4">
                    <p:embed/>
                  </p:oleObj>
                </mc:Choice>
                <mc:Fallback>
                  <p:oleObj name="Equation" r:id="rId9" imgW="685800" imgH="203200" progId="Equation.DSMT4">
                    <p:embed/>
                    <p:pic>
                      <p:nvPicPr>
                        <p:cNvPr id="112682" name="对象 1">
                          <a:extLst>
                            <a:ext uri="{FF2B5EF4-FFF2-40B4-BE49-F238E27FC236}">
                              <a16:creationId xmlns:a16="http://schemas.microsoft.com/office/drawing/2014/main" id="{3C818EFF-7D20-4BF3-82BD-53A514EA11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08069" y="4191000"/>
                          <a:ext cx="154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683" name="对象 1">
              <a:extLst>
                <a:ext uri="{FF2B5EF4-FFF2-40B4-BE49-F238E27FC236}">
                  <a16:creationId xmlns:a16="http://schemas.microsoft.com/office/drawing/2014/main" id="{DF1D6BAE-8E53-4CCC-BF0E-0B1527136E5C}"/>
                </a:ext>
              </a:extLst>
            </p:cNvPr>
            <p:cNvGraphicFramePr>
              <a:graphicFrameLocks noChangeAspect="1"/>
            </p:cNvGraphicFramePr>
            <p:nvPr/>
          </p:nvGraphicFramePr>
          <p:xfrm>
            <a:off x="4652920" y="4876800"/>
            <a:ext cx="4029075" cy="857250"/>
          </p:xfrm>
          <a:graphic>
            <a:graphicData uri="http://schemas.openxmlformats.org/presentationml/2006/ole">
              <mc:AlternateContent xmlns:mc="http://schemas.openxmlformats.org/markup-compatibility/2006">
                <mc:Choice xmlns:v="urn:schemas-microsoft-com:vml" Requires="v">
                  <p:oleObj spid="_x0000_s11270" name="Equation" r:id="rId11" imgW="1790700" imgH="381000" progId="Equation.DSMT4">
                    <p:embed/>
                  </p:oleObj>
                </mc:Choice>
                <mc:Fallback>
                  <p:oleObj name="Equation" r:id="rId11" imgW="1790700" imgH="381000" progId="Equation.DSMT4">
                    <p:embed/>
                    <p:pic>
                      <p:nvPicPr>
                        <p:cNvPr id="112683" name="对象 1">
                          <a:extLst>
                            <a:ext uri="{FF2B5EF4-FFF2-40B4-BE49-F238E27FC236}">
                              <a16:creationId xmlns:a16="http://schemas.microsoft.com/office/drawing/2014/main" id="{DF1D6BAE-8E53-4CCC-BF0E-0B1527136E5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2920" y="4876800"/>
                          <a:ext cx="40290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5" name="矩形 4">
            <a:extLst>
              <a:ext uri="{FF2B5EF4-FFF2-40B4-BE49-F238E27FC236}">
                <a16:creationId xmlns:a16="http://schemas.microsoft.com/office/drawing/2014/main" id="{C4CCED08-3C81-453F-B291-79BAE46F7831}"/>
              </a:ext>
            </a:extLst>
          </p:cNvPr>
          <p:cNvSpPr/>
          <p:nvPr/>
        </p:nvSpPr>
        <p:spPr>
          <a:xfrm>
            <a:off x="6096000" y="5778500"/>
            <a:ext cx="2262188" cy="368300"/>
          </a:xfrm>
          <a:prstGeom prst="rect">
            <a:avLst/>
          </a:prstGeom>
        </p:spPr>
        <p:txBody>
          <a:bodyPr wrap="none">
            <a:spAutoFit/>
          </a:bodyPr>
          <a:lstStyle/>
          <a:p>
            <a:pPr eaLnBrk="0" fontAlgn="base" hangingPunct="0">
              <a:spcBef>
                <a:spcPct val="0"/>
              </a:spcBef>
              <a:spcAft>
                <a:spcPct val="0"/>
              </a:spcAft>
              <a:defRPr/>
            </a:pPr>
            <a:r>
              <a:rPr kumimoji="1" lang="zh-CN" altLang="en-US" b="1" dirty="0">
                <a:solidFill>
                  <a:srgbClr val="FF0000"/>
                </a:solidFill>
                <a:latin typeface="宋体"/>
                <a:ea typeface="宋体" panose="02010600030101010101" pitchFamily="2" charset="-122"/>
              </a:rPr>
              <a:t>说明安排生产有利！</a:t>
            </a:r>
            <a:endParaRPr kumimoji="1" lang="en-US" altLang="zh-CN" b="1" dirty="0">
              <a:solidFill>
                <a:srgbClr val="FF0000"/>
              </a:solidFill>
              <a:latin typeface="宋体"/>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D6CC2032-D14F-42D6-84B1-B1C40A6524E9}"/>
              </a:ext>
            </a:extLst>
          </p:cNvPr>
          <p:cNvSpPr>
            <a:spLocks noGrp="1" noChangeArrowheads="1"/>
          </p:cNvSpPr>
          <p:nvPr>
            <p:ph type="title"/>
          </p:nvPr>
        </p:nvSpPr>
        <p:spPr/>
        <p:txBody>
          <a:bodyPr/>
          <a:lstStyle/>
          <a:p>
            <a:pPr eaLnBrk="1" hangingPunct="1"/>
            <a:r>
              <a:rPr lang="zh-CN" altLang="en-US"/>
              <a:t>例子：技术系数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变化分析</a:t>
            </a:r>
          </a:p>
        </p:txBody>
      </p:sp>
      <p:sp>
        <p:nvSpPr>
          <p:cNvPr id="160772" name="Text Box 4">
            <a:extLst>
              <a:ext uri="{FF2B5EF4-FFF2-40B4-BE49-F238E27FC236}">
                <a16:creationId xmlns:a16="http://schemas.microsoft.com/office/drawing/2014/main" id="{EBF73FF7-D097-4F8F-9CBA-EBC52D3BA001}"/>
              </a:ext>
            </a:extLst>
          </p:cNvPr>
          <p:cNvSpPr txBox="1">
            <a:spLocks noChangeArrowheads="1"/>
          </p:cNvSpPr>
          <p:nvPr/>
        </p:nvSpPr>
        <p:spPr bwMode="auto">
          <a:xfrm>
            <a:off x="1676400" y="914400"/>
            <a:ext cx="4953000" cy="2235200"/>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358775">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2" fontAlgn="base">
              <a:spcBef>
                <a:spcPct val="20000"/>
              </a:spcBef>
              <a:spcAft>
                <a:spcPct val="0"/>
              </a:spcAft>
              <a:defRPr/>
            </a:pPr>
            <a:r>
              <a:rPr kumimoji="1" lang="zh-CN" altLang="en-US" sz="2400" dirty="0">
                <a:solidFill>
                  <a:srgbClr val="000000"/>
                </a:solidFill>
                <a:latin typeface="宋体"/>
                <a:ea typeface="宋体"/>
              </a:rPr>
              <a:t>然后计算    对应的列向量：</a:t>
            </a: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r>
              <a:rPr kumimoji="1" lang="zh-CN" altLang="en-US" sz="2400" dirty="0">
                <a:solidFill>
                  <a:srgbClr val="000000"/>
                </a:solidFill>
                <a:latin typeface="宋体"/>
                <a:ea typeface="宋体"/>
              </a:rPr>
              <a:t>将上述结果填入表中如下：</a:t>
            </a:r>
          </a:p>
        </p:txBody>
      </p:sp>
      <p:graphicFrame>
        <p:nvGraphicFramePr>
          <p:cNvPr id="113668" name="对象 5">
            <a:extLst>
              <a:ext uri="{FF2B5EF4-FFF2-40B4-BE49-F238E27FC236}">
                <a16:creationId xmlns:a16="http://schemas.microsoft.com/office/drawing/2014/main" id="{4C266E5E-0D5C-4A01-81FE-ECC52B74C324}"/>
              </a:ext>
            </a:extLst>
          </p:cNvPr>
          <p:cNvGraphicFramePr>
            <a:graphicFrameLocks noChangeAspect="1"/>
          </p:cNvGraphicFramePr>
          <p:nvPr/>
        </p:nvGraphicFramePr>
        <p:xfrm>
          <a:off x="2133601" y="1392238"/>
          <a:ext cx="3686175" cy="1085850"/>
        </p:xfrm>
        <a:graphic>
          <a:graphicData uri="http://schemas.openxmlformats.org/presentationml/2006/ole">
            <mc:AlternateContent xmlns:mc="http://schemas.openxmlformats.org/markup-compatibility/2006">
              <mc:Choice xmlns:v="urn:schemas-microsoft-com:vml" Requires="v">
                <p:oleObj spid="_x0000_s12290" name="Equation" r:id="rId3" imgW="1637589" imgH="482391" progId="Equation.DSMT4">
                  <p:embed/>
                </p:oleObj>
              </mc:Choice>
              <mc:Fallback>
                <p:oleObj name="Equation" r:id="rId3" imgW="1637589" imgH="482391" progId="Equation.DSMT4">
                  <p:embed/>
                  <p:pic>
                    <p:nvPicPr>
                      <p:cNvPr id="113668" name="对象 5">
                        <a:extLst>
                          <a:ext uri="{FF2B5EF4-FFF2-40B4-BE49-F238E27FC236}">
                            <a16:creationId xmlns:a16="http://schemas.microsoft.com/office/drawing/2014/main" id="{4C266E5E-0D5C-4A01-81FE-ECC52B74C3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1" y="1392238"/>
                        <a:ext cx="368617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669" name="对象 1">
            <a:extLst>
              <a:ext uri="{FF2B5EF4-FFF2-40B4-BE49-F238E27FC236}">
                <a16:creationId xmlns:a16="http://schemas.microsoft.com/office/drawing/2014/main" id="{75899726-F069-42DF-8B11-902B247614EB}"/>
              </a:ext>
            </a:extLst>
          </p:cNvPr>
          <p:cNvGraphicFramePr>
            <a:graphicFrameLocks noChangeAspect="1"/>
          </p:cNvGraphicFramePr>
          <p:nvPr/>
        </p:nvGraphicFramePr>
        <p:xfrm>
          <a:off x="3505200" y="962025"/>
          <a:ext cx="285750" cy="400050"/>
        </p:xfrm>
        <a:graphic>
          <a:graphicData uri="http://schemas.openxmlformats.org/presentationml/2006/ole">
            <mc:AlternateContent xmlns:mc="http://schemas.openxmlformats.org/markup-compatibility/2006">
              <mc:Choice xmlns:v="urn:schemas-microsoft-com:vml" Requires="v">
                <p:oleObj spid="_x0000_s12291" name="Equation" r:id="rId5" imgW="126725" imgH="177415" progId="Equation.DSMT4">
                  <p:embed/>
                </p:oleObj>
              </mc:Choice>
              <mc:Fallback>
                <p:oleObj name="Equation" r:id="rId5" imgW="126725" imgH="177415" progId="Equation.DSMT4">
                  <p:embed/>
                  <p:pic>
                    <p:nvPicPr>
                      <p:cNvPr id="113669" name="对象 1">
                        <a:extLst>
                          <a:ext uri="{FF2B5EF4-FFF2-40B4-BE49-F238E27FC236}">
                            <a16:creationId xmlns:a16="http://schemas.microsoft.com/office/drawing/2014/main" id="{75899726-F069-42DF-8B11-902B247614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962025"/>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Group 719">
            <a:extLst>
              <a:ext uri="{FF2B5EF4-FFF2-40B4-BE49-F238E27FC236}">
                <a16:creationId xmlns:a16="http://schemas.microsoft.com/office/drawing/2014/main" id="{5EBA3494-6596-4795-8BB8-A09011544B48}"/>
              </a:ext>
            </a:extLst>
          </p:cNvPr>
          <p:cNvGraphicFramePr>
            <a:graphicFrameLocks noGrp="1"/>
          </p:cNvGraphicFramePr>
          <p:nvPr/>
        </p:nvGraphicFramePr>
        <p:xfrm>
          <a:off x="2209800" y="3276600"/>
          <a:ext cx="7315200" cy="2706688"/>
        </p:xfrm>
        <a:graphic>
          <a:graphicData uri="http://schemas.openxmlformats.org/drawingml/2006/table">
            <a:tbl>
              <a:tblPr/>
              <a:tblGrid>
                <a:gridCol w="522518">
                  <a:extLst>
                    <a:ext uri="{9D8B030D-6E8A-4147-A177-3AD203B41FA5}">
                      <a16:colId xmlns:a16="http://schemas.microsoft.com/office/drawing/2014/main" val="20000"/>
                    </a:ext>
                  </a:extLst>
                </a:gridCol>
                <a:gridCol w="447869">
                  <a:extLst>
                    <a:ext uri="{9D8B030D-6E8A-4147-A177-3AD203B41FA5}">
                      <a16:colId xmlns:a16="http://schemas.microsoft.com/office/drawing/2014/main" val="20001"/>
                    </a:ext>
                  </a:extLst>
                </a:gridCol>
                <a:gridCol w="522514">
                  <a:extLst>
                    <a:ext uri="{9D8B030D-6E8A-4147-A177-3AD203B41FA5}">
                      <a16:colId xmlns:a16="http://schemas.microsoft.com/office/drawing/2014/main" val="20002"/>
                    </a:ext>
                  </a:extLst>
                </a:gridCol>
                <a:gridCol w="597159">
                  <a:extLst>
                    <a:ext uri="{9D8B030D-6E8A-4147-A177-3AD203B41FA5}">
                      <a16:colId xmlns:a16="http://schemas.microsoft.com/office/drawing/2014/main" val="20003"/>
                    </a:ext>
                  </a:extLst>
                </a:gridCol>
                <a:gridCol w="597159">
                  <a:extLst>
                    <a:ext uri="{9D8B030D-6E8A-4147-A177-3AD203B41FA5}">
                      <a16:colId xmlns:a16="http://schemas.microsoft.com/office/drawing/2014/main" val="20004"/>
                    </a:ext>
                  </a:extLst>
                </a:gridCol>
                <a:gridCol w="821094">
                  <a:extLst>
                    <a:ext uri="{9D8B030D-6E8A-4147-A177-3AD203B41FA5}">
                      <a16:colId xmlns:a16="http://schemas.microsoft.com/office/drawing/2014/main" val="20005"/>
                    </a:ext>
                  </a:extLst>
                </a:gridCol>
                <a:gridCol w="1045028">
                  <a:extLst>
                    <a:ext uri="{9D8B030D-6E8A-4147-A177-3AD203B41FA5}">
                      <a16:colId xmlns:a16="http://schemas.microsoft.com/office/drawing/2014/main" val="20006"/>
                    </a:ext>
                  </a:extLst>
                </a:gridCol>
                <a:gridCol w="895739">
                  <a:extLst>
                    <a:ext uri="{9D8B030D-6E8A-4147-A177-3AD203B41FA5}">
                      <a16:colId xmlns:a16="http://schemas.microsoft.com/office/drawing/2014/main" val="20007"/>
                    </a:ext>
                  </a:extLst>
                </a:gridCol>
                <a:gridCol w="895739">
                  <a:extLst>
                    <a:ext uri="{9D8B030D-6E8A-4147-A177-3AD203B41FA5}">
                      <a16:colId xmlns:a16="http://schemas.microsoft.com/office/drawing/2014/main" val="20008"/>
                    </a:ext>
                  </a:extLst>
                </a:gridCol>
                <a:gridCol w="970383">
                  <a:extLst>
                    <a:ext uri="{9D8B030D-6E8A-4147-A177-3AD203B41FA5}">
                      <a16:colId xmlns:a16="http://schemas.microsoft.com/office/drawing/2014/main" val="20009"/>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   x</a:t>
                      </a:r>
                      <a:r>
                        <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rPr>
                        <a:t>3</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1" lang="en-US" altLang="zh-CN" sz="1800" b="1"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rPr>
                        <a:t>0.5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-0.125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0.25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1.25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0" name="组合 9">
            <a:extLst>
              <a:ext uri="{FF2B5EF4-FFF2-40B4-BE49-F238E27FC236}">
                <a16:creationId xmlns:a16="http://schemas.microsoft.com/office/drawing/2014/main" id="{12397F8F-9D26-4A4B-99E9-F3B83351B307}"/>
              </a:ext>
            </a:extLst>
          </p:cNvPr>
          <p:cNvGrpSpPr>
            <a:grpSpLocks/>
          </p:cNvGrpSpPr>
          <p:nvPr/>
        </p:nvGrpSpPr>
        <p:grpSpPr bwMode="auto">
          <a:xfrm>
            <a:off x="8680546" y="4146549"/>
            <a:ext cx="768159" cy="1371196"/>
            <a:chOff x="6934295" y="4528268"/>
            <a:chExt cx="767968" cy="1371210"/>
          </a:xfrm>
        </p:grpSpPr>
        <p:sp>
          <p:nvSpPr>
            <p:cNvPr id="113748" name="矩形 10">
              <a:extLst>
                <a:ext uri="{FF2B5EF4-FFF2-40B4-BE49-F238E27FC236}">
                  <a16:creationId xmlns:a16="http://schemas.microsoft.com/office/drawing/2014/main" id="{ED53F353-451C-4C17-BBD4-CC7343D46724}"/>
                </a:ext>
              </a:extLst>
            </p:cNvPr>
            <p:cNvSpPr>
              <a:spLocks noChangeArrowheads="1"/>
            </p:cNvSpPr>
            <p:nvPr/>
          </p:nvSpPr>
          <p:spPr bwMode="auto">
            <a:xfrm>
              <a:off x="6967338" y="4528268"/>
              <a:ext cx="652581" cy="39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4/1.5</a:t>
              </a:r>
              <a:endParaRPr kumimoji="1" lang="zh-CN" altLang="zh-CN" b="1">
                <a:solidFill>
                  <a:srgbClr val="5F5F5F"/>
                </a:solidFill>
                <a:latin typeface="Times New Roman" panose="02020603050405020304" pitchFamily="18" charset="0"/>
                <a:ea typeface="华文细黑" panose="02010600040101010101" pitchFamily="2" charset="-122"/>
              </a:endParaRPr>
            </a:p>
          </p:txBody>
        </p:sp>
        <p:sp>
          <p:nvSpPr>
            <p:cNvPr id="113749" name="矩形 11">
              <a:extLst>
                <a:ext uri="{FF2B5EF4-FFF2-40B4-BE49-F238E27FC236}">
                  <a16:creationId xmlns:a16="http://schemas.microsoft.com/office/drawing/2014/main" id="{DBDBE27D-2BE7-4468-A351-CB99F96FB960}"/>
                </a:ext>
              </a:extLst>
            </p:cNvPr>
            <p:cNvSpPr>
              <a:spLocks noChangeArrowheads="1"/>
            </p:cNvSpPr>
            <p:nvPr/>
          </p:nvSpPr>
          <p:spPr bwMode="auto">
            <a:xfrm>
              <a:off x="7064241" y="5029200"/>
              <a:ext cx="479499" cy="39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4/2</a:t>
              </a:r>
              <a:endParaRPr kumimoji="1" lang="zh-CN" altLang="zh-CN" b="1">
                <a:solidFill>
                  <a:srgbClr val="5F5F5F"/>
                </a:solidFill>
                <a:latin typeface="Times New Roman" panose="02020603050405020304" pitchFamily="18" charset="0"/>
                <a:ea typeface="华文细黑" panose="02010600040101010101" pitchFamily="2" charset="-122"/>
              </a:endParaRPr>
            </a:p>
          </p:txBody>
        </p:sp>
        <p:sp>
          <p:nvSpPr>
            <p:cNvPr id="113750" name="矩形 12">
              <a:extLst>
                <a:ext uri="{FF2B5EF4-FFF2-40B4-BE49-F238E27FC236}">
                  <a16:creationId xmlns:a16="http://schemas.microsoft.com/office/drawing/2014/main" id="{474A6C25-4AC2-4D4B-ACAF-88A715E771E4}"/>
                </a:ext>
              </a:extLst>
            </p:cNvPr>
            <p:cNvSpPr>
              <a:spLocks noChangeArrowheads="1"/>
            </p:cNvSpPr>
            <p:nvPr/>
          </p:nvSpPr>
          <p:spPr bwMode="auto">
            <a:xfrm>
              <a:off x="6934295" y="5503725"/>
              <a:ext cx="767968" cy="39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2/0.25</a:t>
              </a:r>
              <a:endParaRPr kumimoji="1" lang="zh-CN" altLang="zh-CN" b="1">
                <a:solidFill>
                  <a:srgbClr val="5F5F5F"/>
                </a:solidFill>
                <a:latin typeface="Times New Roman" panose="02020603050405020304" pitchFamily="18" charset="0"/>
                <a:ea typeface="华文细黑" panose="02010600040101010101" pitchFamily="2" charset="-122"/>
              </a:endParaRPr>
            </a:p>
          </p:txBody>
        </p:sp>
      </p:grpSp>
      <p:sp>
        <p:nvSpPr>
          <p:cNvPr id="14" name="椭圆 13">
            <a:extLst>
              <a:ext uri="{FF2B5EF4-FFF2-40B4-BE49-F238E27FC236}">
                <a16:creationId xmlns:a16="http://schemas.microsoft.com/office/drawing/2014/main" id="{8D3AE59E-D1E3-4A6B-8E0D-BFC83B7774A2}"/>
              </a:ext>
            </a:extLst>
          </p:cNvPr>
          <p:cNvSpPr/>
          <p:nvPr/>
        </p:nvSpPr>
        <p:spPr bwMode="auto">
          <a:xfrm>
            <a:off x="8001000" y="4613276"/>
            <a:ext cx="304800" cy="415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zh-CN" altLang="en-US">
              <a:solidFill>
                <a:srgbClr val="FFFFFF"/>
              </a:solidFill>
              <a:latin typeface="Arial"/>
              <a:ea typeface="宋体"/>
            </a:endParaRPr>
          </a:p>
        </p:txBody>
      </p:sp>
      <p:cxnSp>
        <p:nvCxnSpPr>
          <p:cNvPr id="15" name="直接箭头连接符 14">
            <a:extLst>
              <a:ext uri="{FF2B5EF4-FFF2-40B4-BE49-F238E27FC236}">
                <a16:creationId xmlns:a16="http://schemas.microsoft.com/office/drawing/2014/main" id="{FDF77445-057A-42A1-B572-97CE07D28C7D}"/>
              </a:ext>
            </a:extLst>
          </p:cNvPr>
          <p:cNvCxnSpPr>
            <a:cxnSpLocks/>
            <a:stCxn id="103429" idx="3"/>
          </p:cNvCxnSpPr>
          <p:nvPr/>
        </p:nvCxnSpPr>
        <p:spPr bwMode="auto">
          <a:xfrm>
            <a:off x="5819776" y="1935164"/>
            <a:ext cx="2257425" cy="23320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8" name="Group 719">
            <a:extLst>
              <a:ext uri="{FF2B5EF4-FFF2-40B4-BE49-F238E27FC236}">
                <a16:creationId xmlns:a16="http://schemas.microsoft.com/office/drawing/2014/main" id="{6FF27216-E7BD-4713-A726-978FE5205845}"/>
              </a:ext>
            </a:extLst>
          </p:cNvPr>
          <p:cNvGraphicFramePr>
            <a:graphicFrameLocks noGrp="1"/>
          </p:cNvGraphicFramePr>
          <p:nvPr/>
        </p:nvGraphicFramePr>
        <p:xfrm>
          <a:off x="2209800" y="3389314"/>
          <a:ext cx="7315200" cy="2706687"/>
        </p:xfrm>
        <a:graphic>
          <a:graphicData uri="http://schemas.openxmlformats.org/drawingml/2006/table">
            <a:tbl>
              <a:tblPr/>
              <a:tblGrid>
                <a:gridCol w="522518">
                  <a:extLst>
                    <a:ext uri="{9D8B030D-6E8A-4147-A177-3AD203B41FA5}">
                      <a16:colId xmlns:a16="http://schemas.microsoft.com/office/drawing/2014/main" val="20000"/>
                    </a:ext>
                  </a:extLst>
                </a:gridCol>
                <a:gridCol w="447869">
                  <a:extLst>
                    <a:ext uri="{9D8B030D-6E8A-4147-A177-3AD203B41FA5}">
                      <a16:colId xmlns:a16="http://schemas.microsoft.com/office/drawing/2014/main" val="20001"/>
                    </a:ext>
                  </a:extLst>
                </a:gridCol>
                <a:gridCol w="522514">
                  <a:extLst>
                    <a:ext uri="{9D8B030D-6E8A-4147-A177-3AD203B41FA5}">
                      <a16:colId xmlns:a16="http://schemas.microsoft.com/office/drawing/2014/main" val="20002"/>
                    </a:ext>
                  </a:extLst>
                </a:gridCol>
                <a:gridCol w="597159">
                  <a:extLst>
                    <a:ext uri="{9D8B030D-6E8A-4147-A177-3AD203B41FA5}">
                      <a16:colId xmlns:a16="http://schemas.microsoft.com/office/drawing/2014/main" val="20003"/>
                    </a:ext>
                  </a:extLst>
                </a:gridCol>
                <a:gridCol w="597159">
                  <a:extLst>
                    <a:ext uri="{9D8B030D-6E8A-4147-A177-3AD203B41FA5}">
                      <a16:colId xmlns:a16="http://schemas.microsoft.com/office/drawing/2014/main" val="20004"/>
                    </a:ext>
                  </a:extLst>
                </a:gridCol>
                <a:gridCol w="821094">
                  <a:extLst>
                    <a:ext uri="{9D8B030D-6E8A-4147-A177-3AD203B41FA5}">
                      <a16:colId xmlns:a16="http://schemas.microsoft.com/office/drawing/2014/main" val="20005"/>
                    </a:ext>
                  </a:extLst>
                </a:gridCol>
                <a:gridCol w="1045028">
                  <a:extLst>
                    <a:ext uri="{9D8B030D-6E8A-4147-A177-3AD203B41FA5}">
                      <a16:colId xmlns:a16="http://schemas.microsoft.com/office/drawing/2014/main" val="20006"/>
                    </a:ext>
                  </a:extLst>
                </a:gridCol>
                <a:gridCol w="895739">
                  <a:extLst>
                    <a:ext uri="{9D8B030D-6E8A-4147-A177-3AD203B41FA5}">
                      <a16:colId xmlns:a16="http://schemas.microsoft.com/office/drawing/2014/main" val="20007"/>
                    </a:ext>
                  </a:extLst>
                </a:gridCol>
                <a:gridCol w="895739">
                  <a:extLst>
                    <a:ext uri="{9D8B030D-6E8A-4147-A177-3AD203B41FA5}">
                      <a16:colId xmlns:a16="http://schemas.microsoft.com/office/drawing/2014/main" val="20008"/>
                    </a:ext>
                  </a:extLst>
                </a:gridCol>
                <a:gridCol w="970383">
                  <a:extLst>
                    <a:ext uri="{9D8B030D-6E8A-4147-A177-3AD203B41FA5}">
                      <a16:colId xmlns:a16="http://schemas.microsoft.com/office/drawing/2014/main" val="20009"/>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0"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bg2"/>
                        </a:solidFill>
                        <a:effectLst/>
                        <a:latin typeface="Times New Roman" panose="02020603050405020304" pitchFamily="18" charset="0"/>
                        <a:ea typeface="宋体" panose="0201060003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   x</a:t>
                      </a:r>
                      <a:r>
                        <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rPr>
                        <a:t>3</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1" lang="en-US" altLang="zh-CN" sz="1800" b="1" i="0" u="none" strike="noStrike" cap="none" normalizeH="0" baseline="-30000" dirty="0">
                        <a:ln>
                          <a:noFill/>
                        </a:ln>
                        <a:solidFill>
                          <a:srgbClr val="FF0000"/>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5</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rPr>
                        <a:t>3</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kern="1200" cap="none" normalizeH="0" baseline="0" dirty="0">
                        <a:ln>
                          <a:noFill/>
                        </a:ln>
                        <a:solidFill>
                          <a:srgbClr val="FF3399"/>
                        </a:solidFill>
                        <a:effectLst/>
                        <a:latin typeface="Times New Roman" panose="02020603050405020304" pitchFamily="18" charset="0"/>
                        <a:ea typeface="华文细黑" panose="02010600040101010101" pitchFamily="2" charset="-122"/>
                        <a:cs typeface="+mn-cs"/>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1800" b="1" i="0" u="none" strike="noStrike" cap="none" normalizeH="0" baseline="0" dirty="0">
                        <a:ln>
                          <a:noFill/>
                        </a:ln>
                        <a:solidFill>
                          <a:srgbClr val="FF3399"/>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114765" name="对象 17">
            <a:extLst>
              <a:ext uri="{FF2B5EF4-FFF2-40B4-BE49-F238E27FC236}">
                <a16:creationId xmlns:a16="http://schemas.microsoft.com/office/drawing/2014/main" id="{716AEEDB-26CA-41E0-BDD0-070DA82535B2}"/>
              </a:ext>
            </a:extLst>
          </p:cNvPr>
          <p:cNvGraphicFramePr>
            <a:graphicFrameLocks noChangeAspect="1"/>
          </p:cNvGraphicFramePr>
          <p:nvPr/>
        </p:nvGraphicFramePr>
        <p:xfrm>
          <a:off x="1970088" y="685800"/>
          <a:ext cx="8032750" cy="2522538"/>
        </p:xfrm>
        <a:graphic>
          <a:graphicData uri="http://schemas.openxmlformats.org/presentationml/2006/ole">
            <mc:AlternateContent xmlns:mc="http://schemas.openxmlformats.org/markup-compatibility/2006">
              <mc:Choice xmlns:v="urn:schemas-microsoft-com:vml" Requires="v">
                <p:oleObj spid="_x0000_s13314" name="Equation" r:id="rId3" imgW="4622800" imgH="1447800" progId="Equation.DSMT4">
                  <p:embed/>
                </p:oleObj>
              </mc:Choice>
              <mc:Fallback>
                <p:oleObj name="Equation" r:id="rId3" imgW="4622800" imgH="1447800" progId="Equation.DSMT4">
                  <p:embed/>
                  <p:pic>
                    <p:nvPicPr>
                      <p:cNvPr id="114765" name="对象 17">
                        <a:extLst>
                          <a:ext uri="{FF2B5EF4-FFF2-40B4-BE49-F238E27FC236}">
                            <a16:creationId xmlns:a16="http://schemas.microsoft.com/office/drawing/2014/main" id="{716AEEDB-26CA-41E0-BDD0-070DA82535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0088" y="685800"/>
                        <a:ext cx="8032750" cy="252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5" name="组合 34">
            <a:extLst>
              <a:ext uri="{FF2B5EF4-FFF2-40B4-BE49-F238E27FC236}">
                <a16:creationId xmlns:a16="http://schemas.microsoft.com/office/drawing/2014/main" id="{DDB770AF-BB56-4649-8B64-6905CE3AFD16}"/>
              </a:ext>
            </a:extLst>
          </p:cNvPr>
          <p:cNvGrpSpPr>
            <a:grpSpLocks/>
          </p:cNvGrpSpPr>
          <p:nvPr/>
        </p:nvGrpSpPr>
        <p:grpSpPr bwMode="auto">
          <a:xfrm>
            <a:off x="5029201" y="1524000"/>
            <a:ext cx="2743201" cy="4063628"/>
            <a:chOff x="3505200" y="1524000"/>
            <a:chExt cx="2743201" cy="4063969"/>
          </a:xfrm>
        </p:grpSpPr>
        <p:grpSp>
          <p:nvGrpSpPr>
            <p:cNvPr id="114779" name="组合 20">
              <a:extLst>
                <a:ext uri="{FF2B5EF4-FFF2-40B4-BE49-F238E27FC236}">
                  <a16:creationId xmlns:a16="http://schemas.microsoft.com/office/drawing/2014/main" id="{EA1DBF5E-389B-458C-80FB-265D5693060D}"/>
                </a:ext>
              </a:extLst>
            </p:cNvPr>
            <p:cNvGrpSpPr>
              <a:grpSpLocks/>
            </p:cNvGrpSpPr>
            <p:nvPr/>
          </p:nvGrpSpPr>
          <p:grpSpPr bwMode="auto">
            <a:xfrm>
              <a:off x="3505200" y="4267200"/>
              <a:ext cx="2590331" cy="1320769"/>
              <a:chOff x="3505200" y="4267200"/>
              <a:chExt cx="2590331" cy="1320769"/>
            </a:xfrm>
          </p:grpSpPr>
          <p:sp>
            <p:nvSpPr>
              <p:cNvPr id="114781" name="矩形 6">
                <a:extLst>
                  <a:ext uri="{FF2B5EF4-FFF2-40B4-BE49-F238E27FC236}">
                    <a16:creationId xmlns:a16="http://schemas.microsoft.com/office/drawing/2014/main" id="{F47DD913-8446-4B6E-AA74-F42814FA14B0}"/>
                  </a:ext>
                </a:extLst>
              </p:cNvPr>
              <p:cNvSpPr>
                <a:spLocks noChangeArrowheads="1"/>
              </p:cNvSpPr>
              <p:nvPr/>
            </p:nvSpPr>
            <p:spPr bwMode="auto">
              <a:xfrm>
                <a:off x="3562908" y="4267200"/>
                <a:ext cx="473206"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1.5</a:t>
                </a:r>
              </a:p>
            </p:txBody>
          </p:sp>
          <p:sp>
            <p:nvSpPr>
              <p:cNvPr id="114782" name="矩形 9">
                <a:extLst>
                  <a:ext uri="{FF2B5EF4-FFF2-40B4-BE49-F238E27FC236}">
                    <a16:creationId xmlns:a16="http://schemas.microsoft.com/office/drawing/2014/main" id="{18C94BC7-4AF9-4B10-935E-C52505C078ED}"/>
                  </a:ext>
                </a:extLst>
              </p:cNvPr>
              <p:cNvSpPr>
                <a:spLocks noChangeArrowheads="1"/>
              </p:cNvSpPr>
              <p:nvPr/>
            </p:nvSpPr>
            <p:spPr bwMode="auto">
              <a:xfrm>
                <a:off x="3610998" y="4742655"/>
                <a:ext cx="377026"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-1</a:t>
                </a:r>
              </a:p>
            </p:txBody>
          </p:sp>
          <p:sp>
            <p:nvSpPr>
              <p:cNvPr id="114783" name="矩形 10">
                <a:extLst>
                  <a:ext uri="{FF2B5EF4-FFF2-40B4-BE49-F238E27FC236}">
                    <a16:creationId xmlns:a16="http://schemas.microsoft.com/office/drawing/2014/main" id="{A55AF4DA-E713-4E7D-92FF-46238C5B0FDF}"/>
                  </a:ext>
                </a:extLst>
              </p:cNvPr>
              <p:cNvSpPr>
                <a:spLocks noChangeArrowheads="1"/>
              </p:cNvSpPr>
              <p:nvPr/>
            </p:nvSpPr>
            <p:spPr bwMode="auto">
              <a:xfrm>
                <a:off x="3505200" y="5181600"/>
                <a:ext cx="588623"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0.75</a:t>
                </a:r>
              </a:p>
            </p:txBody>
          </p:sp>
          <p:sp>
            <p:nvSpPr>
              <p:cNvPr id="114784" name="矩形 11">
                <a:extLst>
                  <a:ext uri="{FF2B5EF4-FFF2-40B4-BE49-F238E27FC236}">
                    <a16:creationId xmlns:a16="http://schemas.microsoft.com/office/drawing/2014/main" id="{487CE830-1338-4C41-BB2F-10B3BDD4C1F4}"/>
                  </a:ext>
                </a:extLst>
              </p:cNvPr>
              <p:cNvSpPr>
                <a:spLocks noChangeArrowheads="1"/>
              </p:cNvSpPr>
              <p:nvPr/>
            </p:nvSpPr>
            <p:spPr bwMode="auto">
              <a:xfrm>
                <a:off x="4313694" y="4267200"/>
                <a:ext cx="780983"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-0.125</a:t>
                </a:r>
              </a:p>
            </p:txBody>
          </p:sp>
          <p:sp>
            <p:nvSpPr>
              <p:cNvPr id="114785" name="矩形 12">
                <a:extLst>
                  <a:ext uri="{FF2B5EF4-FFF2-40B4-BE49-F238E27FC236}">
                    <a16:creationId xmlns:a16="http://schemas.microsoft.com/office/drawing/2014/main" id="{C945D03B-620F-421A-9C28-AE55ECE48C49}"/>
                  </a:ext>
                </a:extLst>
              </p:cNvPr>
              <p:cNvSpPr>
                <a:spLocks noChangeArrowheads="1"/>
              </p:cNvSpPr>
              <p:nvPr/>
            </p:nvSpPr>
            <p:spPr bwMode="auto">
              <a:xfrm>
                <a:off x="4462463" y="4713107"/>
                <a:ext cx="588623"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0.25</a:t>
                </a:r>
              </a:p>
            </p:txBody>
          </p:sp>
          <p:sp>
            <p:nvSpPr>
              <p:cNvPr id="114786" name="矩形 14">
                <a:extLst>
                  <a:ext uri="{FF2B5EF4-FFF2-40B4-BE49-F238E27FC236}">
                    <a16:creationId xmlns:a16="http://schemas.microsoft.com/office/drawing/2014/main" id="{7AB9033F-6F1E-494F-8025-DE50B5D1EDA0}"/>
                  </a:ext>
                </a:extLst>
              </p:cNvPr>
              <p:cNvSpPr>
                <a:spLocks noChangeArrowheads="1"/>
              </p:cNvSpPr>
              <p:nvPr/>
            </p:nvSpPr>
            <p:spPr bwMode="auto">
              <a:xfrm>
                <a:off x="4313694" y="5192187"/>
                <a:ext cx="896399"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-0.1875</a:t>
                </a:r>
              </a:p>
            </p:txBody>
          </p:sp>
          <p:sp>
            <p:nvSpPr>
              <p:cNvPr id="114787" name="矩形 17">
                <a:extLst>
                  <a:ext uri="{FF2B5EF4-FFF2-40B4-BE49-F238E27FC236}">
                    <a16:creationId xmlns:a16="http://schemas.microsoft.com/office/drawing/2014/main" id="{4F342883-51A9-421D-A9EE-150918F231A3}"/>
                  </a:ext>
                </a:extLst>
              </p:cNvPr>
              <p:cNvSpPr>
                <a:spLocks noChangeArrowheads="1"/>
              </p:cNvSpPr>
              <p:nvPr/>
            </p:nvSpPr>
            <p:spPr bwMode="auto">
              <a:xfrm>
                <a:off x="5372257" y="4267200"/>
                <a:ext cx="665567"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-0.75</a:t>
                </a:r>
              </a:p>
            </p:txBody>
          </p:sp>
          <p:sp>
            <p:nvSpPr>
              <p:cNvPr id="114788" name="矩形 18">
                <a:extLst>
                  <a:ext uri="{FF2B5EF4-FFF2-40B4-BE49-F238E27FC236}">
                    <a16:creationId xmlns:a16="http://schemas.microsoft.com/office/drawing/2014/main" id="{BA7DA468-D97F-4D61-A6F2-3F58272EA225}"/>
                  </a:ext>
                </a:extLst>
              </p:cNvPr>
              <p:cNvSpPr>
                <a:spLocks noChangeArrowheads="1"/>
              </p:cNvSpPr>
              <p:nvPr/>
            </p:nvSpPr>
            <p:spPr bwMode="auto">
              <a:xfrm>
                <a:off x="5502334" y="4742655"/>
                <a:ext cx="473206"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0.5</a:t>
                </a:r>
              </a:p>
            </p:txBody>
          </p:sp>
          <p:sp>
            <p:nvSpPr>
              <p:cNvPr id="114789" name="矩形 19">
                <a:extLst>
                  <a:ext uri="{FF2B5EF4-FFF2-40B4-BE49-F238E27FC236}">
                    <a16:creationId xmlns:a16="http://schemas.microsoft.com/office/drawing/2014/main" id="{DAA3B117-A02A-4CD4-9FE8-725453B650D3}"/>
                  </a:ext>
                </a:extLst>
              </p:cNvPr>
              <p:cNvSpPr>
                <a:spLocks noChangeArrowheads="1"/>
              </p:cNvSpPr>
              <p:nvPr/>
            </p:nvSpPr>
            <p:spPr bwMode="auto">
              <a:xfrm>
                <a:off x="5314548" y="5181600"/>
                <a:ext cx="780983" cy="395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FF3399"/>
                    </a:solidFill>
                    <a:latin typeface="Times New Roman" panose="02020603050405020304" pitchFamily="18" charset="0"/>
                    <a:ea typeface="华文细黑" panose="02010600040101010101" pitchFamily="2" charset="-122"/>
                  </a:rPr>
                  <a:t>-0.125</a:t>
                </a:r>
              </a:p>
            </p:txBody>
          </p:sp>
        </p:grpSp>
        <p:cxnSp>
          <p:nvCxnSpPr>
            <p:cNvPr id="36" name="直接箭头连接符 35">
              <a:extLst>
                <a:ext uri="{FF2B5EF4-FFF2-40B4-BE49-F238E27FC236}">
                  <a16:creationId xmlns:a16="http://schemas.microsoft.com/office/drawing/2014/main" id="{65665832-D644-4F1D-9A9E-5BE5862A4CA0}"/>
                </a:ext>
              </a:extLst>
            </p:cNvPr>
            <p:cNvCxnSpPr>
              <a:cxnSpLocks/>
              <a:endCxn id="114784" idx="0"/>
            </p:cNvCxnSpPr>
            <p:nvPr/>
          </p:nvCxnSpPr>
          <p:spPr bwMode="auto">
            <a:xfrm flipH="1">
              <a:off x="4704186" y="1524000"/>
              <a:ext cx="1544215" cy="27432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CA329B25-F275-4C42-A81C-0AA970D4EFC7}"/>
              </a:ext>
            </a:extLst>
          </p:cNvPr>
          <p:cNvGrpSpPr>
            <a:grpSpLocks/>
          </p:cNvGrpSpPr>
          <p:nvPr/>
        </p:nvGrpSpPr>
        <p:grpSpPr bwMode="auto">
          <a:xfrm>
            <a:off x="3189384" y="2286001"/>
            <a:ext cx="1839816" cy="3291975"/>
            <a:chOff x="1666134" y="2286000"/>
            <a:chExt cx="1839066" cy="3291263"/>
          </a:xfrm>
        </p:grpSpPr>
        <p:grpSp>
          <p:nvGrpSpPr>
            <p:cNvPr id="114774" name="组合 24">
              <a:extLst>
                <a:ext uri="{FF2B5EF4-FFF2-40B4-BE49-F238E27FC236}">
                  <a16:creationId xmlns:a16="http://schemas.microsoft.com/office/drawing/2014/main" id="{0705D9A3-AF7C-40E8-92DE-864396FB69FA}"/>
                </a:ext>
              </a:extLst>
            </p:cNvPr>
            <p:cNvGrpSpPr>
              <a:grpSpLocks/>
            </p:cNvGrpSpPr>
            <p:nvPr/>
          </p:nvGrpSpPr>
          <p:grpSpPr bwMode="auto">
            <a:xfrm>
              <a:off x="1666134" y="4288375"/>
              <a:ext cx="473013" cy="1288888"/>
              <a:chOff x="1666134" y="4288375"/>
              <a:chExt cx="473013" cy="1288888"/>
            </a:xfrm>
          </p:grpSpPr>
          <p:sp>
            <p:nvSpPr>
              <p:cNvPr id="114776" name="矩形 21">
                <a:extLst>
                  <a:ext uri="{FF2B5EF4-FFF2-40B4-BE49-F238E27FC236}">
                    <a16:creationId xmlns:a16="http://schemas.microsoft.com/office/drawing/2014/main" id="{47D73F72-5E8E-4C4A-92E0-F61AF6E6A588}"/>
                  </a:ext>
                </a:extLst>
              </p:cNvPr>
              <p:cNvSpPr>
                <a:spLocks noChangeArrowheads="1"/>
              </p:cNvSpPr>
              <p:nvPr/>
            </p:nvSpPr>
            <p:spPr bwMode="auto">
              <a:xfrm>
                <a:off x="1752661" y="4288375"/>
                <a:ext cx="299960" cy="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1</a:t>
                </a:r>
              </a:p>
            </p:txBody>
          </p:sp>
          <p:sp>
            <p:nvSpPr>
              <p:cNvPr id="114777" name="矩形 22">
                <a:extLst>
                  <a:ext uri="{FF2B5EF4-FFF2-40B4-BE49-F238E27FC236}">
                    <a16:creationId xmlns:a16="http://schemas.microsoft.com/office/drawing/2014/main" id="{3CDEC8A2-7F2D-4A57-A259-2F12533A1BC6}"/>
                  </a:ext>
                </a:extLst>
              </p:cNvPr>
              <p:cNvSpPr>
                <a:spLocks noChangeArrowheads="1"/>
              </p:cNvSpPr>
              <p:nvPr/>
            </p:nvSpPr>
            <p:spPr bwMode="auto">
              <a:xfrm>
                <a:off x="1752661" y="4729701"/>
                <a:ext cx="299960" cy="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2</a:t>
                </a:r>
              </a:p>
            </p:txBody>
          </p:sp>
          <p:sp>
            <p:nvSpPr>
              <p:cNvPr id="114778" name="矩形 23">
                <a:extLst>
                  <a:ext uri="{FF2B5EF4-FFF2-40B4-BE49-F238E27FC236}">
                    <a16:creationId xmlns:a16="http://schemas.microsoft.com/office/drawing/2014/main" id="{731F2130-46B2-4376-B12E-9BAB9DFB5407}"/>
                  </a:ext>
                </a:extLst>
              </p:cNvPr>
              <p:cNvSpPr>
                <a:spLocks noChangeArrowheads="1"/>
              </p:cNvSpPr>
              <p:nvPr/>
            </p:nvSpPr>
            <p:spPr bwMode="auto">
              <a:xfrm>
                <a:off x="1666134" y="5181600"/>
                <a:ext cx="473013" cy="39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5F5F5F"/>
                    </a:solidFill>
                    <a:latin typeface="Times New Roman" panose="02020603050405020304" pitchFamily="18" charset="0"/>
                    <a:ea typeface="华文细黑" panose="02010600040101010101" pitchFamily="2" charset="-122"/>
                  </a:rPr>
                  <a:t>1.5</a:t>
                </a:r>
              </a:p>
            </p:txBody>
          </p:sp>
        </p:grpSp>
        <p:cxnSp>
          <p:nvCxnSpPr>
            <p:cNvPr id="39" name="直接箭头连接符 38">
              <a:extLst>
                <a:ext uri="{FF2B5EF4-FFF2-40B4-BE49-F238E27FC236}">
                  <a16:creationId xmlns:a16="http://schemas.microsoft.com/office/drawing/2014/main" id="{DCB8F01B-74F0-4130-9581-5395F8670997}"/>
                </a:ext>
              </a:extLst>
            </p:cNvPr>
            <p:cNvCxnSpPr>
              <a:cxnSpLocks/>
            </p:cNvCxnSpPr>
            <p:nvPr/>
          </p:nvCxnSpPr>
          <p:spPr bwMode="auto">
            <a:xfrm flipH="1">
              <a:off x="1880263" y="2286000"/>
              <a:ext cx="1624937" cy="20569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57223E28-47F5-4536-9FB5-748696BD50C2}"/>
              </a:ext>
            </a:extLst>
          </p:cNvPr>
          <p:cNvGrpSpPr>
            <a:grpSpLocks/>
          </p:cNvGrpSpPr>
          <p:nvPr/>
        </p:nvGrpSpPr>
        <p:grpSpPr bwMode="auto">
          <a:xfrm>
            <a:off x="4953001" y="2868613"/>
            <a:ext cx="4017963" cy="3189028"/>
            <a:chOff x="3428256" y="2868073"/>
            <a:chExt cx="4019131" cy="3190148"/>
          </a:xfrm>
        </p:grpSpPr>
        <p:grpSp>
          <p:nvGrpSpPr>
            <p:cNvPr id="114769" name="组合 28">
              <a:extLst>
                <a:ext uri="{FF2B5EF4-FFF2-40B4-BE49-F238E27FC236}">
                  <a16:creationId xmlns:a16="http://schemas.microsoft.com/office/drawing/2014/main" id="{9292CEF6-D0B7-4905-87B7-8295976C03A5}"/>
                </a:ext>
              </a:extLst>
            </p:cNvPr>
            <p:cNvGrpSpPr>
              <a:grpSpLocks/>
            </p:cNvGrpSpPr>
            <p:nvPr/>
          </p:nvGrpSpPr>
          <p:grpSpPr bwMode="auto">
            <a:xfrm>
              <a:off x="3428256" y="5651708"/>
              <a:ext cx="2689918" cy="406513"/>
              <a:chOff x="3428256" y="5651708"/>
              <a:chExt cx="2689918" cy="406513"/>
            </a:xfrm>
          </p:grpSpPr>
          <p:sp>
            <p:nvSpPr>
              <p:cNvPr id="114771" name="矩形 25">
                <a:extLst>
                  <a:ext uri="{FF2B5EF4-FFF2-40B4-BE49-F238E27FC236}">
                    <a16:creationId xmlns:a16="http://schemas.microsoft.com/office/drawing/2014/main" id="{4F81C890-F14C-4EF3-A7CF-791704D09AEB}"/>
                  </a:ext>
                </a:extLst>
              </p:cNvPr>
              <p:cNvSpPr>
                <a:spLocks noChangeArrowheads="1"/>
              </p:cNvSpPr>
              <p:nvPr/>
            </p:nvSpPr>
            <p:spPr bwMode="auto">
              <a:xfrm>
                <a:off x="3428256" y="5662333"/>
                <a:ext cx="665567" cy="39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000000"/>
                    </a:solidFill>
                    <a:latin typeface="Times New Roman" panose="02020603050405020304" pitchFamily="18" charset="0"/>
                    <a:ea typeface="华文细黑" panose="02010600040101010101" pitchFamily="2" charset="-122"/>
                  </a:rPr>
                  <a:t>-0.25</a:t>
                </a:r>
              </a:p>
            </p:txBody>
          </p:sp>
          <p:sp>
            <p:nvSpPr>
              <p:cNvPr id="114772" name="矩形 26">
                <a:extLst>
                  <a:ext uri="{FF2B5EF4-FFF2-40B4-BE49-F238E27FC236}">
                    <a16:creationId xmlns:a16="http://schemas.microsoft.com/office/drawing/2014/main" id="{4D5DC9D4-68C7-4BA0-8565-075C481FFD74}"/>
                  </a:ext>
                </a:extLst>
              </p:cNvPr>
              <p:cNvSpPr>
                <a:spLocks noChangeArrowheads="1"/>
              </p:cNvSpPr>
              <p:nvPr/>
            </p:nvSpPr>
            <p:spPr bwMode="auto">
              <a:xfrm>
                <a:off x="4308444" y="5651708"/>
                <a:ext cx="896660" cy="39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000000"/>
                    </a:solidFill>
                    <a:latin typeface="Times New Roman" panose="02020603050405020304" pitchFamily="18" charset="0"/>
                    <a:ea typeface="华文细黑" panose="02010600040101010101" pitchFamily="2" charset="-122"/>
                  </a:rPr>
                  <a:t>-0.4375</a:t>
                </a:r>
              </a:p>
            </p:txBody>
          </p:sp>
          <p:sp>
            <p:nvSpPr>
              <p:cNvPr id="114773" name="矩形 27">
                <a:extLst>
                  <a:ext uri="{FF2B5EF4-FFF2-40B4-BE49-F238E27FC236}">
                    <a16:creationId xmlns:a16="http://schemas.microsoft.com/office/drawing/2014/main" id="{78E8A73A-40A2-41C6-AE38-DBDB15645DD8}"/>
                  </a:ext>
                </a:extLst>
              </p:cNvPr>
              <p:cNvSpPr>
                <a:spLocks noChangeArrowheads="1"/>
              </p:cNvSpPr>
              <p:nvPr/>
            </p:nvSpPr>
            <p:spPr bwMode="auto">
              <a:xfrm>
                <a:off x="5336964" y="5651708"/>
                <a:ext cx="781210" cy="39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lnSpc>
                    <a:spcPct val="120000"/>
                  </a:lnSpc>
                  <a:spcBef>
                    <a:spcPct val="15000"/>
                  </a:spcBef>
                  <a:spcAft>
                    <a:spcPct val="0"/>
                  </a:spcAft>
                  <a:buSzPct val="85000"/>
                </a:pPr>
                <a:r>
                  <a:rPr kumimoji="1" lang="en-US" altLang="zh-CN" b="1">
                    <a:solidFill>
                      <a:srgbClr val="000000"/>
                    </a:solidFill>
                    <a:latin typeface="Times New Roman" panose="02020603050405020304" pitchFamily="18" charset="0"/>
                    <a:ea typeface="华文细黑" panose="02010600040101010101" pitchFamily="2" charset="-122"/>
                  </a:rPr>
                  <a:t>-0.625</a:t>
                </a:r>
              </a:p>
            </p:txBody>
          </p:sp>
        </p:grpSp>
        <p:cxnSp>
          <p:nvCxnSpPr>
            <p:cNvPr id="41" name="直接箭头连接符 40">
              <a:extLst>
                <a:ext uri="{FF2B5EF4-FFF2-40B4-BE49-F238E27FC236}">
                  <a16:creationId xmlns:a16="http://schemas.microsoft.com/office/drawing/2014/main" id="{9C3E995E-5C10-483C-8EB1-DEAB866D0089}"/>
                </a:ext>
              </a:extLst>
            </p:cNvPr>
            <p:cNvCxnSpPr>
              <a:cxnSpLocks/>
            </p:cNvCxnSpPr>
            <p:nvPr/>
          </p:nvCxnSpPr>
          <p:spPr bwMode="auto">
            <a:xfrm flipH="1">
              <a:off x="4876477" y="2868073"/>
              <a:ext cx="2570910" cy="29188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randombar(horizontal)">
                                      <p:cBhvr>
                                        <p:cTn id="7" dur="500"/>
                                        <p:tgtEl>
                                          <p:spTgt spid="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randombar(horizontal)">
                                      <p:cBhvr>
                                        <p:cTn id="12" dur="500"/>
                                        <p:tgtEl>
                                          <p:spTgt spid="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randombar(horizontal)">
                                      <p:cBhvr>
                                        <p:cTn id="1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descr="Large confetti">
            <a:extLst>
              <a:ext uri="{FF2B5EF4-FFF2-40B4-BE49-F238E27FC236}">
                <a16:creationId xmlns:a16="http://schemas.microsoft.com/office/drawing/2014/main" id="{D0397A90-07CA-42BB-9EC8-4CE5086C7867}"/>
              </a:ext>
            </a:extLst>
          </p:cNvPr>
          <p:cNvSpPr>
            <a:spLocks noGrp="1" noChangeArrowheads="1"/>
          </p:cNvSpPr>
          <p:nvPr>
            <p:ph type="title"/>
          </p:nvPr>
        </p:nvSpPr>
        <p:spPr/>
        <p:txBody>
          <a:bodyPr/>
          <a:lstStyle/>
          <a:p>
            <a:pPr eaLnBrk="1" hangingPunct="1"/>
            <a:r>
              <a:rPr lang="zh-CN" altLang="en-US"/>
              <a:t>例子：技术系数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变化分析</a:t>
            </a:r>
          </a:p>
        </p:txBody>
      </p:sp>
      <p:sp>
        <p:nvSpPr>
          <p:cNvPr id="6" name="Rectangle 3">
            <a:extLst>
              <a:ext uri="{FF2B5EF4-FFF2-40B4-BE49-F238E27FC236}">
                <a16:creationId xmlns:a16="http://schemas.microsoft.com/office/drawing/2014/main" id="{94A77952-A237-4851-8D33-0171842C9BB4}"/>
              </a:ext>
            </a:extLst>
          </p:cNvPr>
          <p:cNvSpPr txBox="1">
            <a:spLocks noChangeArrowheads="1"/>
          </p:cNvSpPr>
          <p:nvPr/>
        </p:nvSpPr>
        <p:spPr bwMode="auto">
          <a:xfrm>
            <a:off x="1981200" y="1236664"/>
            <a:ext cx="8077200" cy="333533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a:buClr>
                <a:srgbClr val="CC9900"/>
              </a:buClr>
              <a:defRPr/>
            </a:pPr>
            <a:r>
              <a:rPr kumimoji="1" lang="zh-CN" altLang="en-US" sz="2000" dirty="0">
                <a:solidFill>
                  <a:srgbClr val="FF00FF"/>
                </a:solidFill>
                <a:latin typeface="Times New Roman" panose="02020603050405020304" pitchFamily="18" charset="0"/>
                <a:ea typeface="宋体"/>
              </a:rPr>
              <a:t>设产品</a:t>
            </a:r>
            <a:r>
              <a:rPr kumimoji="1" lang="en-US" altLang="zh-CN" sz="2000" dirty="0">
                <a:solidFill>
                  <a:srgbClr val="FF00FF"/>
                </a:solidFill>
                <a:latin typeface="Times New Roman" panose="02020603050405020304" pitchFamily="18" charset="0"/>
                <a:ea typeface="宋体"/>
              </a:rPr>
              <a:t>I</a:t>
            </a:r>
            <a:r>
              <a:rPr kumimoji="1" lang="zh-CN" altLang="en-US" sz="2000" dirty="0">
                <a:solidFill>
                  <a:srgbClr val="FF00FF"/>
                </a:solidFill>
                <a:latin typeface="Times New Roman" panose="02020603050405020304" pitchFamily="18" charset="0"/>
                <a:ea typeface="宋体"/>
              </a:rPr>
              <a:t>的生产工艺有了改进，这时其技术系数为</a:t>
            </a:r>
            <a:r>
              <a:rPr kumimoji="1" lang="en-US" altLang="zh-CN" sz="2000" dirty="0">
                <a:solidFill>
                  <a:srgbClr val="FF00FF"/>
                </a:solidFill>
                <a:latin typeface="Times New Roman" panose="02020603050405020304" pitchFamily="18" charset="0"/>
                <a:ea typeface="宋体"/>
              </a:rPr>
              <a:t>P</a:t>
            </a:r>
            <a:r>
              <a:rPr kumimoji="1" lang="en-US" altLang="zh-CN" sz="2000" baseline="-25000" dirty="0">
                <a:solidFill>
                  <a:srgbClr val="FF00FF"/>
                </a:solidFill>
                <a:latin typeface="Times New Roman" panose="02020603050405020304" pitchFamily="18" charset="0"/>
                <a:ea typeface="宋体"/>
              </a:rPr>
              <a:t>1</a:t>
            </a:r>
            <a:r>
              <a:rPr kumimoji="1" lang="en-US" altLang="zh-CN" sz="2000" dirty="0">
                <a:solidFill>
                  <a:srgbClr val="FF00FF"/>
                </a:solidFill>
                <a:latin typeface="Times New Roman" panose="02020603050405020304" pitchFamily="18" charset="0"/>
                <a:ea typeface="宋体"/>
              </a:rPr>
              <a:t>’=(4,5,2)</a:t>
            </a:r>
            <a:r>
              <a:rPr kumimoji="1" lang="en-US" altLang="zh-CN" sz="2000" baseline="30000" dirty="0">
                <a:solidFill>
                  <a:srgbClr val="FF00FF"/>
                </a:solidFill>
                <a:latin typeface="Times New Roman" panose="02020603050405020304" pitchFamily="18" charset="0"/>
                <a:ea typeface="宋体"/>
              </a:rPr>
              <a:t>T    </a:t>
            </a:r>
            <a:r>
              <a:rPr kumimoji="1" lang="en-US" altLang="zh-CN" sz="2000" dirty="0">
                <a:solidFill>
                  <a:srgbClr val="FF00FF"/>
                </a:solidFill>
                <a:latin typeface="Times New Roman" panose="02020603050405020304" pitchFamily="18" charset="0"/>
                <a:ea typeface="宋体"/>
              </a:rPr>
              <a:t> </a:t>
            </a:r>
            <a:r>
              <a:rPr kumimoji="1" lang="zh-CN" altLang="en-US" sz="2000" dirty="0">
                <a:solidFill>
                  <a:srgbClr val="FF00FF"/>
                </a:solidFill>
                <a:latin typeface="Times New Roman" panose="02020603050405020304" pitchFamily="18" charset="0"/>
                <a:ea typeface="宋体"/>
              </a:rPr>
              <a:t>每件利润为</a:t>
            </a:r>
            <a:r>
              <a:rPr kumimoji="1" lang="en-US" altLang="zh-CN" sz="2000" dirty="0">
                <a:solidFill>
                  <a:srgbClr val="FF00FF"/>
                </a:solidFill>
                <a:latin typeface="Times New Roman" panose="02020603050405020304" pitchFamily="18" charset="0"/>
                <a:ea typeface="宋体"/>
              </a:rPr>
              <a:t>4</a:t>
            </a:r>
            <a:r>
              <a:rPr kumimoji="1" lang="zh-CN" altLang="en-US" sz="2000" dirty="0">
                <a:solidFill>
                  <a:srgbClr val="FF00FF"/>
                </a:solidFill>
                <a:latin typeface="Times New Roman" panose="02020603050405020304" pitchFamily="18" charset="0"/>
                <a:ea typeface="宋体"/>
              </a:rPr>
              <a:t>元。如何安排生产？</a:t>
            </a:r>
          </a:p>
          <a:p>
            <a:pPr>
              <a:buClr>
                <a:srgbClr val="CC9900"/>
              </a:buClr>
              <a:defRPr/>
            </a:pPr>
            <a:endParaRPr lang="en-US" altLang="zh-CN" sz="2000" kern="0" dirty="0">
              <a:solidFill>
                <a:srgbClr val="FF00FF"/>
              </a:solidFill>
              <a:latin typeface="Arial"/>
              <a:ea typeface="宋体"/>
            </a:endParaRPr>
          </a:p>
        </p:txBody>
      </p:sp>
      <p:graphicFrame>
        <p:nvGraphicFramePr>
          <p:cNvPr id="7" name="Group 50">
            <a:extLst>
              <a:ext uri="{FF2B5EF4-FFF2-40B4-BE49-F238E27FC236}">
                <a16:creationId xmlns:a16="http://schemas.microsoft.com/office/drawing/2014/main" id="{7AF7BE83-0326-4AFD-853D-0643A8F2FBC9}"/>
              </a:ext>
            </a:extLst>
          </p:cNvPr>
          <p:cNvGraphicFramePr>
            <a:graphicFrameLocks/>
          </p:cNvGraphicFramePr>
          <p:nvPr/>
        </p:nvGraphicFramePr>
        <p:xfrm>
          <a:off x="2133600" y="1905000"/>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115748" name="对象 33">
            <a:extLst>
              <a:ext uri="{FF2B5EF4-FFF2-40B4-BE49-F238E27FC236}">
                <a16:creationId xmlns:a16="http://schemas.microsoft.com/office/drawing/2014/main" id="{E20CA00E-768A-494A-871B-27DD5F98A1F9}"/>
              </a:ext>
            </a:extLst>
          </p:cNvPr>
          <p:cNvGraphicFramePr>
            <a:graphicFrameLocks noChangeAspect="1"/>
          </p:cNvGraphicFramePr>
          <p:nvPr/>
        </p:nvGraphicFramePr>
        <p:xfrm>
          <a:off x="6324601" y="1752600"/>
          <a:ext cx="3400425" cy="1828800"/>
        </p:xfrm>
        <a:graphic>
          <a:graphicData uri="http://schemas.openxmlformats.org/presentationml/2006/ole">
            <mc:AlternateContent xmlns:mc="http://schemas.openxmlformats.org/markup-compatibility/2006">
              <mc:Choice xmlns:v="urn:schemas-microsoft-com:vml" Requires="v">
                <p:oleObj spid="_x0000_s14338" name="Equation" r:id="rId3" imgW="1511300" imgH="812800" progId="Equation.DSMT4">
                  <p:embed/>
                </p:oleObj>
              </mc:Choice>
              <mc:Fallback>
                <p:oleObj name="Equation" r:id="rId3" imgW="1511300" imgH="812800" progId="Equation.DSMT4">
                  <p:embed/>
                  <p:pic>
                    <p:nvPicPr>
                      <p:cNvPr id="115748" name="对象 33">
                        <a:extLst>
                          <a:ext uri="{FF2B5EF4-FFF2-40B4-BE49-F238E27FC236}">
                            <a16:creationId xmlns:a16="http://schemas.microsoft.com/office/drawing/2014/main" id="{E20CA00E-768A-494A-871B-27DD5F98A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1" y="1752600"/>
                        <a:ext cx="34004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49" name="对象 33">
            <a:extLst>
              <a:ext uri="{FF2B5EF4-FFF2-40B4-BE49-F238E27FC236}">
                <a16:creationId xmlns:a16="http://schemas.microsoft.com/office/drawing/2014/main" id="{D0BC82AB-324D-4E94-8F6B-65F59DDBC3BC}"/>
              </a:ext>
            </a:extLst>
          </p:cNvPr>
          <p:cNvGraphicFramePr>
            <a:graphicFrameLocks noChangeAspect="1"/>
          </p:cNvGraphicFramePr>
          <p:nvPr/>
        </p:nvGraphicFramePr>
        <p:xfrm>
          <a:off x="2286001" y="4267200"/>
          <a:ext cx="3400425" cy="1828800"/>
        </p:xfrm>
        <a:graphic>
          <a:graphicData uri="http://schemas.openxmlformats.org/presentationml/2006/ole">
            <mc:AlternateContent xmlns:mc="http://schemas.openxmlformats.org/markup-compatibility/2006">
              <mc:Choice xmlns:v="urn:schemas-microsoft-com:vml" Requires="v">
                <p:oleObj spid="_x0000_s14339" name="Equation" r:id="rId5" imgW="1511300" imgH="812800" progId="Equation.DSMT4">
                  <p:embed/>
                </p:oleObj>
              </mc:Choice>
              <mc:Fallback>
                <p:oleObj name="Equation" r:id="rId5" imgW="1511300" imgH="812800" progId="Equation.DSMT4">
                  <p:embed/>
                  <p:pic>
                    <p:nvPicPr>
                      <p:cNvPr id="115749" name="对象 33">
                        <a:extLst>
                          <a:ext uri="{FF2B5EF4-FFF2-40B4-BE49-F238E27FC236}">
                            <a16:creationId xmlns:a16="http://schemas.microsoft.com/office/drawing/2014/main" id="{D0BC82AB-324D-4E94-8F6B-65F59DDBC3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1" y="4267200"/>
                        <a:ext cx="34004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a:extLst>
              <a:ext uri="{FF2B5EF4-FFF2-40B4-BE49-F238E27FC236}">
                <a16:creationId xmlns:a16="http://schemas.microsoft.com/office/drawing/2014/main" id="{E9424F7D-BCD9-4E56-99F7-1E3A5F33F441}"/>
              </a:ext>
            </a:extLst>
          </p:cNvPr>
          <p:cNvGrpSpPr>
            <a:grpSpLocks/>
          </p:cNvGrpSpPr>
          <p:nvPr/>
        </p:nvGrpSpPr>
        <p:grpSpPr bwMode="auto">
          <a:xfrm>
            <a:off x="6019800" y="4276726"/>
            <a:ext cx="4267200" cy="1743075"/>
            <a:chOff x="4572000" y="4219492"/>
            <a:chExt cx="4267200" cy="1743158"/>
          </a:xfrm>
        </p:grpSpPr>
        <p:sp>
          <p:nvSpPr>
            <p:cNvPr id="9" name="矩形 8">
              <a:extLst>
                <a:ext uri="{FF2B5EF4-FFF2-40B4-BE49-F238E27FC236}">
                  <a16:creationId xmlns:a16="http://schemas.microsoft.com/office/drawing/2014/main" id="{6C1C38AB-83DC-4645-8EF3-4414BE36C4FE}"/>
                </a:ext>
              </a:extLst>
            </p:cNvPr>
            <p:cNvSpPr/>
            <p:nvPr/>
          </p:nvSpPr>
          <p:spPr>
            <a:xfrm>
              <a:off x="4572000" y="4219492"/>
              <a:ext cx="4267200" cy="1200207"/>
            </a:xfrm>
            <a:prstGeom prst="rect">
              <a:avLst/>
            </a:prstGeom>
          </p:spPr>
          <p:txBody>
            <a:bodyPr>
              <a:spAutoFit/>
            </a:bodyPr>
            <a:lstStyle/>
            <a:p>
              <a:pPr eaLnBrk="0" fontAlgn="base" hangingPunct="0">
                <a:spcBef>
                  <a:spcPct val="0"/>
                </a:spcBef>
                <a:spcAft>
                  <a:spcPct val="0"/>
                </a:spcAft>
                <a:defRPr/>
              </a:pPr>
              <a:r>
                <a:rPr kumimoji="1" lang="zh-CN" altLang="en-US" dirty="0">
                  <a:solidFill>
                    <a:srgbClr val="000000"/>
                  </a:solidFill>
                  <a:latin typeface="宋体"/>
                  <a:ea typeface="宋体" panose="02010600030101010101" pitchFamily="2" charset="-122"/>
                </a:rPr>
                <a:t>将改进工艺的产品当作新产品，增加一变量   </a:t>
              </a:r>
              <a:r>
                <a:rPr kumimoji="1" lang="en-US" altLang="zh-CN" dirty="0">
                  <a:solidFill>
                    <a:srgbClr val="000000"/>
                  </a:solidFill>
                  <a:latin typeface="宋体"/>
                  <a:ea typeface="宋体" panose="02010600030101010101" pitchFamily="2" charset="-122"/>
                </a:rPr>
                <a:t>,</a:t>
              </a:r>
              <a:r>
                <a:rPr kumimoji="1" lang="zh-CN" altLang="en-US" dirty="0">
                  <a:solidFill>
                    <a:srgbClr val="000000"/>
                  </a:solidFill>
                  <a:latin typeface="宋体"/>
                  <a:ea typeface="宋体" panose="02010600030101010101" pitchFamily="2" charset="-122"/>
                </a:rPr>
                <a:t>其技术系数</a:t>
              </a:r>
              <a:endParaRPr kumimoji="1" lang="en-US" altLang="zh-CN" dirty="0">
                <a:solidFill>
                  <a:srgbClr val="000000"/>
                </a:solidFill>
                <a:latin typeface="宋体"/>
                <a:ea typeface="宋体" panose="02010600030101010101" pitchFamily="2" charset="-122"/>
              </a:endParaRPr>
            </a:p>
            <a:p>
              <a:pPr eaLnBrk="0" fontAlgn="base" hangingPunct="0">
                <a:spcBef>
                  <a:spcPct val="0"/>
                </a:spcBef>
                <a:spcAft>
                  <a:spcPct val="0"/>
                </a:spcAft>
                <a:defRPr/>
              </a:pPr>
              <a:r>
                <a:rPr kumimoji="1" lang="zh-CN" altLang="en-US" dirty="0">
                  <a:solidFill>
                    <a:srgbClr val="000000"/>
                  </a:solidFill>
                  <a:latin typeface="宋体"/>
                  <a:ea typeface="宋体" panose="02010600030101010101" pitchFamily="2" charset="-122"/>
                </a:rPr>
                <a:t>先计算检验数</a:t>
              </a:r>
              <a:endParaRPr kumimoji="1" lang="en-US" altLang="zh-CN" dirty="0">
                <a:solidFill>
                  <a:srgbClr val="000000"/>
                </a:solidFill>
                <a:latin typeface="宋体"/>
                <a:ea typeface="宋体" panose="02010600030101010101" pitchFamily="2" charset="-122"/>
              </a:endParaRPr>
            </a:p>
            <a:p>
              <a:pPr eaLnBrk="0" fontAlgn="base" hangingPunct="0">
                <a:spcBef>
                  <a:spcPct val="0"/>
                </a:spcBef>
                <a:spcAft>
                  <a:spcPct val="0"/>
                </a:spcAft>
                <a:defRPr/>
              </a:pP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115752" name="对象 1">
              <a:extLst>
                <a:ext uri="{FF2B5EF4-FFF2-40B4-BE49-F238E27FC236}">
                  <a16:creationId xmlns:a16="http://schemas.microsoft.com/office/drawing/2014/main" id="{F2B0B0D9-0650-4B94-B486-329C4C018318}"/>
                </a:ext>
              </a:extLst>
            </p:cNvPr>
            <p:cNvGraphicFramePr>
              <a:graphicFrameLocks noChangeAspect="1"/>
            </p:cNvGraphicFramePr>
            <p:nvPr/>
          </p:nvGraphicFramePr>
          <p:xfrm>
            <a:off x="5124450" y="4495800"/>
            <a:ext cx="285750" cy="400050"/>
          </p:xfrm>
          <a:graphic>
            <a:graphicData uri="http://schemas.openxmlformats.org/presentationml/2006/ole">
              <mc:AlternateContent xmlns:mc="http://schemas.openxmlformats.org/markup-compatibility/2006">
                <mc:Choice xmlns:v="urn:schemas-microsoft-com:vml" Requires="v">
                  <p:oleObj spid="_x0000_s14340" name="Equation" r:id="rId7" imgW="126725" imgH="177415" progId="Equation.DSMT4">
                    <p:embed/>
                  </p:oleObj>
                </mc:Choice>
                <mc:Fallback>
                  <p:oleObj name="Equation" r:id="rId7" imgW="126725" imgH="177415" progId="Equation.DSMT4">
                    <p:embed/>
                    <p:pic>
                      <p:nvPicPr>
                        <p:cNvPr id="115752" name="对象 1">
                          <a:extLst>
                            <a:ext uri="{FF2B5EF4-FFF2-40B4-BE49-F238E27FC236}">
                              <a16:creationId xmlns:a16="http://schemas.microsoft.com/office/drawing/2014/main" id="{F2B0B0D9-0650-4B94-B486-329C4C0183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24450" y="4495800"/>
                          <a:ext cx="28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53" name="对象 1">
              <a:extLst>
                <a:ext uri="{FF2B5EF4-FFF2-40B4-BE49-F238E27FC236}">
                  <a16:creationId xmlns:a16="http://schemas.microsoft.com/office/drawing/2014/main" id="{C77DF9CF-ED59-4FD7-8638-F92EFD256EAE}"/>
                </a:ext>
              </a:extLst>
            </p:cNvPr>
            <p:cNvGraphicFramePr>
              <a:graphicFrameLocks noChangeAspect="1"/>
            </p:cNvGraphicFramePr>
            <p:nvPr/>
          </p:nvGraphicFramePr>
          <p:xfrm>
            <a:off x="6762750" y="4438650"/>
            <a:ext cx="1543050" cy="457200"/>
          </p:xfrm>
          <a:graphic>
            <a:graphicData uri="http://schemas.openxmlformats.org/presentationml/2006/ole">
              <mc:AlternateContent xmlns:mc="http://schemas.openxmlformats.org/markup-compatibility/2006">
                <mc:Choice xmlns:v="urn:schemas-microsoft-com:vml" Requires="v">
                  <p:oleObj spid="_x0000_s14341" name="Equation" r:id="rId9" imgW="685800" imgH="203200" progId="Equation.DSMT4">
                    <p:embed/>
                  </p:oleObj>
                </mc:Choice>
                <mc:Fallback>
                  <p:oleObj name="Equation" r:id="rId9" imgW="685800" imgH="203200" progId="Equation.DSMT4">
                    <p:embed/>
                    <p:pic>
                      <p:nvPicPr>
                        <p:cNvPr id="115753" name="对象 1">
                          <a:extLst>
                            <a:ext uri="{FF2B5EF4-FFF2-40B4-BE49-F238E27FC236}">
                              <a16:creationId xmlns:a16="http://schemas.microsoft.com/office/drawing/2014/main" id="{C77DF9CF-ED59-4FD7-8638-F92EFD256E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62750" y="4438650"/>
                          <a:ext cx="1543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5754" name="对象 1">
              <a:extLst>
                <a:ext uri="{FF2B5EF4-FFF2-40B4-BE49-F238E27FC236}">
                  <a16:creationId xmlns:a16="http://schemas.microsoft.com/office/drawing/2014/main" id="{BE3234FB-76C8-4438-A9C2-A07387415DBD}"/>
                </a:ext>
              </a:extLst>
            </p:cNvPr>
            <p:cNvGraphicFramePr>
              <a:graphicFrameLocks noChangeAspect="1"/>
            </p:cNvGraphicFramePr>
            <p:nvPr/>
          </p:nvGraphicFramePr>
          <p:xfrm>
            <a:off x="4638675" y="5105400"/>
            <a:ext cx="3971925" cy="857250"/>
          </p:xfrm>
          <a:graphic>
            <a:graphicData uri="http://schemas.openxmlformats.org/presentationml/2006/ole">
              <mc:AlternateContent xmlns:mc="http://schemas.openxmlformats.org/markup-compatibility/2006">
                <mc:Choice xmlns:v="urn:schemas-microsoft-com:vml" Requires="v">
                  <p:oleObj spid="_x0000_s14342" name="Equation" r:id="rId11" imgW="1765300" imgH="381000" progId="Equation.DSMT4">
                    <p:embed/>
                  </p:oleObj>
                </mc:Choice>
                <mc:Fallback>
                  <p:oleObj name="Equation" r:id="rId11" imgW="1765300" imgH="381000" progId="Equation.DSMT4">
                    <p:embed/>
                    <p:pic>
                      <p:nvPicPr>
                        <p:cNvPr id="115754" name="对象 1">
                          <a:extLst>
                            <a:ext uri="{FF2B5EF4-FFF2-40B4-BE49-F238E27FC236}">
                              <a16:creationId xmlns:a16="http://schemas.microsoft.com/office/drawing/2014/main" id="{BE3234FB-76C8-4438-A9C2-A07387415DB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38675" y="5105400"/>
                          <a:ext cx="39719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EFD8A2C7-07FC-463A-B829-0E2CDA526FFF}"/>
              </a:ext>
            </a:extLst>
          </p:cNvPr>
          <p:cNvSpPr>
            <a:spLocks noGrp="1" noChangeArrowheads="1"/>
          </p:cNvSpPr>
          <p:nvPr>
            <p:ph type="title"/>
          </p:nvPr>
        </p:nvSpPr>
        <p:spPr/>
        <p:txBody>
          <a:bodyPr/>
          <a:lstStyle/>
          <a:p>
            <a:pPr eaLnBrk="1" hangingPunct="1"/>
            <a:r>
              <a:rPr lang="zh-CN" altLang="en-US"/>
              <a:t>例子：技术系数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变化分析</a:t>
            </a:r>
          </a:p>
        </p:txBody>
      </p:sp>
      <p:sp>
        <p:nvSpPr>
          <p:cNvPr id="6" name="Text Box 4">
            <a:extLst>
              <a:ext uri="{FF2B5EF4-FFF2-40B4-BE49-F238E27FC236}">
                <a16:creationId xmlns:a16="http://schemas.microsoft.com/office/drawing/2014/main" id="{BD4562BD-82BC-4F80-A100-B5E88F716E19}"/>
              </a:ext>
            </a:extLst>
          </p:cNvPr>
          <p:cNvSpPr txBox="1">
            <a:spLocks noChangeArrowheads="1"/>
          </p:cNvSpPr>
          <p:nvPr/>
        </p:nvSpPr>
        <p:spPr bwMode="auto">
          <a:xfrm>
            <a:off x="1752600" y="914400"/>
            <a:ext cx="5334000" cy="2235200"/>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358775">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2" fontAlgn="base">
              <a:spcBef>
                <a:spcPct val="20000"/>
              </a:spcBef>
              <a:spcAft>
                <a:spcPct val="0"/>
              </a:spcAft>
              <a:defRPr/>
            </a:pPr>
            <a:r>
              <a:rPr kumimoji="1" lang="zh-CN" altLang="en-US" sz="2400" dirty="0">
                <a:solidFill>
                  <a:srgbClr val="000000"/>
                </a:solidFill>
                <a:latin typeface="宋体"/>
                <a:ea typeface="宋体"/>
              </a:rPr>
              <a:t>然后计算</a:t>
            </a:r>
            <a:r>
              <a:rPr kumimoji="1" lang="en-US" altLang="zh-CN" sz="2400" dirty="0">
                <a:solidFill>
                  <a:srgbClr val="000000"/>
                </a:solidFill>
                <a:latin typeface="宋体"/>
                <a:ea typeface="宋体"/>
              </a:rPr>
              <a:t>x</a:t>
            </a:r>
            <a:r>
              <a:rPr kumimoji="1" lang="en-US" altLang="zh-CN" sz="2400" baseline="-25000" dirty="0">
                <a:solidFill>
                  <a:srgbClr val="000000"/>
                </a:solidFill>
                <a:latin typeface="宋体"/>
                <a:ea typeface="宋体"/>
              </a:rPr>
              <a:t>1</a:t>
            </a:r>
            <a:r>
              <a:rPr kumimoji="1" lang="en-US" altLang="zh-CN" sz="2400" dirty="0">
                <a:solidFill>
                  <a:srgbClr val="000000"/>
                </a:solidFill>
                <a:latin typeface="宋体"/>
                <a:ea typeface="宋体"/>
              </a:rPr>
              <a:t>’</a:t>
            </a:r>
            <a:r>
              <a:rPr kumimoji="1" lang="zh-CN" altLang="en-US" sz="2400" dirty="0">
                <a:solidFill>
                  <a:srgbClr val="000000"/>
                </a:solidFill>
                <a:latin typeface="宋体"/>
                <a:ea typeface="宋体"/>
              </a:rPr>
              <a:t>对应的列向量：</a:t>
            </a: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endParaRPr kumimoji="1" lang="en-US" altLang="zh-CN" sz="2400" dirty="0">
              <a:solidFill>
                <a:srgbClr val="000000"/>
              </a:solidFill>
              <a:latin typeface="宋体"/>
              <a:ea typeface="宋体"/>
            </a:endParaRPr>
          </a:p>
          <a:p>
            <a:pPr lvl="2" fontAlgn="base">
              <a:spcBef>
                <a:spcPct val="20000"/>
              </a:spcBef>
              <a:spcAft>
                <a:spcPct val="0"/>
              </a:spcAft>
              <a:defRPr/>
            </a:pPr>
            <a:r>
              <a:rPr kumimoji="1" lang="zh-CN" altLang="en-US" sz="2400" dirty="0">
                <a:solidFill>
                  <a:srgbClr val="000000"/>
                </a:solidFill>
                <a:latin typeface="宋体"/>
                <a:ea typeface="宋体"/>
              </a:rPr>
              <a:t>将上述结果填入表中如下：</a:t>
            </a:r>
          </a:p>
        </p:txBody>
      </p:sp>
      <p:graphicFrame>
        <p:nvGraphicFramePr>
          <p:cNvPr id="116740" name="对象 7">
            <a:extLst>
              <a:ext uri="{FF2B5EF4-FFF2-40B4-BE49-F238E27FC236}">
                <a16:creationId xmlns:a16="http://schemas.microsoft.com/office/drawing/2014/main" id="{689B59A1-C610-49FD-A2D3-2B1A86866DDA}"/>
              </a:ext>
            </a:extLst>
          </p:cNvPr>
          <p:cNvGraphicFramePr>
            <a:graphicFrameLocks noChangeAspect="1"/>
          </p:cNvGraphicFramePr>
          <p:nvPr/>
        </p:nvGraphicFramePr>
        <p:xfrm>
          <a:off x="2209801" y="1489075"/>
          <a:ext cx="3743325" cy="1085850"/>
        </p:xfrm>
        <a:graphic>
          <a:graphicData uri="http://schemas.openxmlformats.org/presentationml/2006/ole">
            <mc:AlternateContent xmlns:mc="http://schemas.openxmlformats.org/markup-compatibility/2006">
              <mc:Choice xmlns:v="urn:schemas-microsoft-com:vml" Requires="v">
                <p:oleObj spid="_x0000_s15362" name="Equation" r:id="rId3" imgW="1663700" imgH="482600" progId="Equation.DSMT4">
                  <p:embed/>
                </p:oleObj>
              </mc:Choice>
              <mc:Fallback>
                <p:oleObj name="Equation" r:id="rId3" imgW="1663700" imgH="482600" progId="Equation.DSMT4">
                  <p:embed/>
                  <p:pic>
                    <p:nvPicPr>
                      <p:cNvPr id="116740" name="对象 7">
                        <a:extLst>
                          <a:ext uri="{FF2B5EF4-FFF2-40B4-BE49-F238E27FC236}">
                            <a16:creationId xmlns:a16="http://schemas.microsoft.com/office/drawing/2014/main" id="{689B59A1-C610-49FD-A2D3-2B1A86866D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1489075"/>
                        <a:ext cx="3743325"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Group 719">
            <a:extLst>
              <a:ext uri="{FF2B5EF4-FFF2-40B4-BE49-F238E27FC236}">
                <a16:creationId xmlns:a16="http://schemas.microsoft.com/office/drawing/2014/main" id="{230047F8-1C4F-4864-8ACB-0A7B99708E66}"/>
              </a:ext>
            </a:extLst>
          </p:cNvPr>
          <p:cNvGraphicFramePr>
            <a:graphicFrameLocks noGrp="1"/>
          </p:cNvGraphicFramePr>
          <p:nvPr/>
        </p:nvGraphicFramePr>
        <p:xfrm>
          <a:off x="2209800" y="3276600"/>
          <a:ext cx="7315200" cy="2706688"/>
        </p:xfrm>
        <a:graphic>
          <a:graphicData uri="http://schemas.openxmlformats.org/drawingml/2006/table">
            <a:tbl>
              <a:tblPr/>
              <a:tblGrid>
                <a:gridCol w="522518">
                  <a:extLst>
                    <a:ext uri="{9D8B030D-6E8A-4147-A177-3AD203B41FA5}">
                      <a16:colId xmlns:a16="http://schemas.microsoft.com/office/drawing/2014/main" val="20000"/>
                    </a:ext>
                  </a:extLst>
                </a:gridCol>
                <a:gridCol w="447869">
                  <a:extLst>
                    <a:ext uri="{9D8B030D-6E8A-4147-A177-3AD203B41FA5}">
                      <a16:colId xmlns:a16="http://schemas.microsoft.com/office/drawing/2014/main" val="20001"/>
                    </a:ext>
                  </a:extLst>
                </a:gridCol>
                <a:gridCol w="522514">
                  <a:extLst>
                    <a:ext uri="{9D8B030D-6E8A-4147-A177-3AD203B41FA5}">
                      <a16:colId xmlns:a16="http://schemas.microsoft.com/office/drawing/2014/main" val="20002"/>
                    </a:ext>
                  </a:extLst>
                </a:gridCol>
                <a:gridCol w="597159">
                  <a:extLst>
                    <a:ext uri="{9D8B030D-6E8A-4147-A177-3AD203B41FA5}">
                      <a16:colId xmlns:a16="http://schemas.microsoft.com/office/drawing/2014/main" val="20003"/>
                    </a:ext>
                  </a:extLst>
                </a:gridCol>
                <a:gridCol w="957943">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990599">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4</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-3.5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1.375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-2.625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-0.125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ext Box 70">
            <a:extLst>
              <a:ext uri="{FF2B5EF4-FFF2-40B4-BE49-F238E27FC236}">
                <a16:creationId xmlns:a16="http://schemas.microsoft.com/office/drawing/2014/main" id="{D89C5F22-5E7B-4642-B445-CC5FE26B72A6}"/>
              </a:ext>
            </a:extLst>
          </p:cNvPr>
          <p:cNvSpPr txBox="1">
            <a:spLocks noChangeArrowheads="1"/>
          </p:cNvSpPr>
          <p:nvPr/>
        </p:nvSpPr>
        <p:spPr bwMode="auto">
          <a:xfrm>
            <a:off x="1943100" y="1295401"/>
            <a:ext cx="8305800" cy="830263"/>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defRP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用单纯形法将</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换出基变量</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且在下一表中不再保留</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得下表</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a:t>
            </a:r>
          </a:p>
        </p:txBody>
      </p:sp>
      <p:graphicFrame>
        <p:nvGraphicFramePr>
          <p:cNvPr id="5" name="Group 719">
            <a:extLst>
              <a:ext uri="{FF2B5EF4-FFF2-40B4-BE49-F238E27FC236}">
                <a16:creationId xmlns:a16="http://schemas.microsoft.com/office/drawing/2014/main" id="{D61A82B4-0D3A-4E98-930A-6327ACFA8876}"/>
              </a:ext>
            </a:extLst>
          </p:cNvPr>
          <p:cNvGraphicFramePr>
            <a:graphicFrameLocks noGrp="1"/>
          </p:cNvGraphicFramePr>
          <p:nvPr/>
        </p:nvGraphicFramePr>
        <p:xfrm>
          <a:off x="2057400" y="2286000"/>
          <a:ext cx="7543800" cy="2706688"/>
        </p:xfrm>
        <a:graphic>
          <a:graphicData uri="http://schemas.openxmlformats.org/drawingml/2006/table">
            <a:tbl>
              <a:tblPr/>
              <a:tblGrid>
                <a:gridCol w="538846">
                  <a:extLst>
                    <a:ext uri="{9D8B030D-6E8A-4147-A177-3AD203B41FA5}">
                      <a16:colId xmlns:a16="http://schemas.microsoft.com/office/drawing/2014/main" val="20000"/>
                    </a:ext>
                  </a:extLst>
                </a:gridCol>
                <a:gridCol w="461865">
                  <a:extLst>
                    <a:ext uri="{9D8B030D-6E8A-4147-A177-3AD203B41FA5}">
                      <a16:colId xmlns:a16="http://schemas.microsoft.com/office/drawing/2014/main" val="20001"/>
                    </a:ext>
                  </a:extLst>
                </a:gridCol>
                <a:gridCol w="675689">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035845">
                  <a:extLst>
                    <a:ext uri="{9D8B030D-6E8A-4147-A177-3AD203B41FA5}">
                      <a16:colId xmlns:a16="http://schemas.microsoft.com/office/drawing/2014/main" val="20004"/>
                    </a:ext>
                  </a:extLst>
                </a:gridCol>
                <a:gridCol w="785812">
                  <a:extLst>
                    <a:ext uri="{9D8B030D-6E8A-4147-A177-3AD203B41FA5}">
                      <a16:colId xmlns:a16="http://schemas.microsoft.com/office/drawing/2014/main" val="20005"/>
                    </a:ext>
                  </a:extLst>
                </a:gridCol>
                <a:gridCol w="1021556">
                  <a:extLst>
                    <a:ext uri="{9D8B030D-6E8A-4147-A177-3AD203B41FA5}">
                      <a16:colId xmlns:a16="http://schemas.microsoft.com/office/drawing/2014/main" val="20006"/>
                    </a:ext>
                  </a:extLst>
                </a:gridCol>
                <a:gridCol w="942974">
                  <a:extLst>
                    <a:ext uri="{9D8B030D-6E8A-4147-A177-3AD203B41FA5}">
                      <a16:colId xmlns:a16="http://schemas.microsoft.com/office/drawing/2014/main" val="20007"/>
                    </a:ext>
                  </a:extLst>
                </a:gridCol>
                <a:gridCol w="785812">
                  <a:extLst>
                    <a:ext uri="{9D8B030D-6E8A-4147-A177-3AD203B41FA5}">
                      <a16:colId xmlns:a16="http://schemas.microsoft.com/office/drawing/2014/main" val="20008"/>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4</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0" lang="en-US" altLang="zh-CN" sz="1800" b="1" i="0" u="none" strike="noStrike" cap="none" normalizeH="0" baseline="-25000" dirty="0">
                        <a:ln>
                          <a:noFill/>
                        </a:ln>
                        <a:solidFill>
                          <a:srgbClr val="FF0000"/>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4</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rgbClr val="FF0000"/>
                          </a:solidFill>
                          <a:effectLst/>
                          <a:latin typeface="楷体_GB2312" pitchFamily="49" charset="-122"/>
                          <a:ea typeface="楷体_GB2312" pitchFamily="49" charset="-122"/>
                        </a:rPr>
                        <a:t>’</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3.2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15.2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rgbClr val="FF0000"/>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56DBEE9A-9F41-40C2-BDFD-7FE7ACA0CF58}"/>
              </a:ext>
            </a:extLst>
          </p:cNvPr>
          <p:cNvSpPr txBox="1">
            <a:spLocks noChangeArrowheads="1"/>
          </p:cNvSpPr>
          <p:nvPr/>
        </p:nvSpPr>
        <p:spPr bwMode="auto">
          <a:xfrm>
            <a:off x="2154238" y="1219201"/>
            <a:ext cx="7848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kumimoji="1" lang="zh-CN" altLang="en-US" sz="2400" b="1">
                <a:solidFill>
                  <a:srgbClr val="000000"/>
                </a:solidFill>
                <a:latin typeface="Times New Roman" panose="02020603050405020304" pitchFamily="18" charset="0"/>
              </a:rPr>
              <a:t>原问题和对偶问题都是非可行解。于是引入人工变量将原问题解转为可行。</a:t>
            </a:r>
          </a:p>
        </p:txBody>
      </p:sp>
      <p:graphicFrame>
        <p:nvGraphicFramePr>
          <p:cNvPr id="4" name="Group 719">
            <a:extLst>
              <a:ext uri="{FF2B5EF4-FFF2-40B4-BE49-F238E27FC236}">
                <a16:creationId xmlns:a16="http://schemas.microsoft.com/office/drawing/2014/main" id="{2E51665A-B621-4F69-BAFC-AEFBB19065A3}"/>
              </a:ext>
            </a:extLst>
          </p:cNvPr>
          <p:cNvGraphicFramePr>
            <a:graphicFrameLocks noGrp="1"/>
          </p:cNvGraphicFramePr>
          <p:nvPr/>
        </p:nvGraphicFramePr>
        <p:xfrm>
          <a:off x="2286000" y="2438400"/>
          <a:ext cx="7543800" cy="2706688"/>
        </p:xfrm>
        <a:graphic>
          <a:graphicData uri="http://schemas.openxmlformats.org/drawingml/2006/table">
            <a:tbl>
              <a:tblPr/>
              <a:tblGrid>
                <a:gridCol w="538846">
                  <a:extLst>
                    <a:ext uri="{9D8B030D-6E8A-4147-A177-3AD203B41FA5}">
                      <a16:colId xmlns:a16="http://schemas.microsoft.com/office/drawing/2014/main" val="20000"/>
                    </a:ext>
                  </a:extLst>
                </a:gridCol>
                <a:gridCol w="461865">
                  <a:extLst>
                    <a:ext uri="{9D8B030D-6E8A-4147-A177-3AD203B41FA5}">
                      <a16:colId xmlns:a16="http://schemas.microsoft.com/office/drawing/2014/main" val="20001"/>
                    </a:ext>
                  </a:extLst>
                </a:gridCol>
                <a:gridCol w="675689">
                  <a:extLst>
                    <a:ext uri="{9D8B030D-6E8A-4147-A177-3AD203B41FA5}">
                      <a16:colId xmlns:a16="http://schemas.microsoft.com/office/drawing/2014/main" val="20002"/>
                    </a:ext>
                  </a:extLst>
                </a:gridCol>
                <a:gridCol w="761999">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12954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61988">
                  <a:extLst>
                    <a:ext uri="{9D8B030D-6E8A-4147-A177-3AD203B41FA5}">
                      <a16:colId xmlns:a16="http://schemas.microsoft.com/office/drawing/2014/main" val="20008"/>
                    </a:ext>
                  </a:extLst>
                </a:gridCol>
                <a:gridCol w="785812">
                  <a:extLst>
                    <a:ext uri="{9D8B030D-6E8A-4147-A177-3AD203B41FA5}">
                      <a16:colId xmlns:a16="http://schemas.microsoft.com/office/drawing/2014/main" val="20009"/>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-M</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chemeClr val="tx1"/>
                          </a:solidFill>
                          <a:effectLst/>
                          <a:latin typeface="楷体_GB2312" pitchFamily="49" charset="-122"/>
                          <a:ea typeface="楷体_GB2312" pitchFamily="49" charset="-122"/>
                        </a:rPr>
                        <a:t>’</a:t>
                      </a: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chemeClr val="tx1"/>
                          </a:solidFill>
                          <a:effectLst/>
                          <a:latin typeface="楷体_GB2312" pitchFamily="49" charset="-122"/>
                          <a:ea typeface="楷体_GB2312" pitchFamily="49" charset="-122"/>
                        </a:rPr>
                        <a:t>’</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3.2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15.2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-M</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3-M</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-0.5M</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-0.8+0.4M</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Text Box 2">
            <a:extLst>
              <a:ext uri="{FF2B5EF4-FFF2-40B4-BE49-F238E27FC236}">
                <a16:creationId xmlns:a16="http://schemas.microsoft.com/office/drawing/2014/main" id="{1E46698C-F250-4CB6-8091-713BE40EA908}"/>
              </a:ext>
            </a:extLst>
          </p:cNvPr>
          <p:cNvSpPr txBox="1">
            <a:spLocks noChangeArrowheads="1"/>
          </p:cNvSpPr>
          <p:nvPr/>
        </p:nvSpPr>
        <p:spPr bwMode="auto">
          <a:xfrm>
            <a:off x="2154238" y="1066801"/>
            <a:ext cx="5008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kumimoji="1" lang="zh-CN" altLang="en-US" sz="2400" b="1">
                <a:solidFill>
                  <a:srgbClr val="000000"/>
                </a:solidFill>
                <a:latin typeface="Times New Roman" panose="02020603050405020304" pitchFamily="18" charset="0"/>
              </a:rPr>
              <a:t>继续迭代求出最优解。</a:t>
            </a:r>
          </a:p>
        </p:txBody>
      </p:sp>
      <p:graphicFrame>
        <p:nvGraphicFramePr>
          <p:cNvPr id="4" name="Group 719">
            <a:extLst>
              <a:ext uri="{FF2B5EF4-FFF2-40B4-BE49-F238E27FC236}">
                <a16:creationId xmlns:a16="http://schemas.microsoft.com/office/drawing/2014/main" id="{CC7D2739-29A1-4878-B98B-92E0EF0ADDF0}"/>
              </a:ext>
            </a:extLst>
          </p:cNvPr>
          <p:cNvGraphicFramePr>
            <a:graphicFrameLocks noGrp="1"/>
          </p:cNvGraphicFramePr>
          <p:nvPr/>
        </p:nvGraphicFramePr>
        <p:xfrm>
          <a:off x="2286000" y="1828800"/>
          <a:ext cx="7543800" cy="2706688"/>
        </p:xfrm>
        <a:graphic>
          <a:graphicData uri="http://schemas.openxmlformats.org/drawingml/2006/table">
            <a:tbl>
              <a:tblPr/>
              <a:tblGrid>
                <a:gridCol w="538846">
                  <a:extLst>
                    <a:ext uri="{9D8B030D-6E8A-4147-A177-3AD203B41FA5}">
                      <a16:colId xmlns:a16="http://schemas.microsoft.com/office/drawing/2014/main" val="20000"/>
                    </a:ext>
                  </a:extLst>
                </a:gridCol>
                <a:gridCol w="461865">
                  <a:extLst>
                    <a:ext uri="{9D8B030D-6E8A-4147-A177-3AD203B41FA5}">
                      <a16:colId xmlns:a16="http://schemas.microsoft.com/office/drawing/2014/main" val="20001"/>
                    </a:ext>
                  </a:extLst>
                </a:gridCol>
                <a:gridCol w="828088">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1219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57211">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-M</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4">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chemeClr val="tx1"/>
                          </a:solidFill>
                          <a:effectLst/>
                          <a:latin typeface="楷体_GB2312" pitchFamily="49" charset="-122"/>
                          <a:ea typeface="楷体_GB2312" pitchFamily="49" charset="-122"/>
                        </a:rPr>
                        <a:t>’</a:t>
                      </a:r>
                      <a:endPar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11">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r>
                        <a:rPr kumimoji="0" lang="zh-CN" altLang="en-US" sz="1800" b="1" i="0" u="none" strike="noStrike" cap="none" normalizeH="0" baseline="0" dirty="0">
                          <a:ln>
                            <a:noFill/>
                          </a:ln>
                          <a:solidFill>
                            <a:schemeClr val="tx1"/>
                          </a:solidFill>
                          <a:effectLst/>
                          <a:latin typeface="楷体_GB2312" pitchFamily="49" charset="-122"/>
                          <a:ea typeface="楷体_GB2312" pitchFamily="49" charset="-122"/>
                        </a:rPr>
                        <a:t>’</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0.667</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0.33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-0.33×0.5</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2.667</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-0.167</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0.33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11">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12.667</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1.667</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0.83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11">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-0.83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-0.33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-M+3</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9886" name="Text Box 2">
            <a:extLst>
              <a:ext uri="{FF2B5EF4-FFF2-40B4-BE49-F238E27FC236}">
                <a16:creationId xmlns:a16="http://schemas.microsoft.com/office/drawing/2014/main" id="{53703547-061B-489F-B8EE-BABE63D6D658}"/>
              </a:ext>
            </a:extLst>
          </p:cNvPr>
          <p:cNvSpPr txBox="1">
            <a:spLocks noChangeArrowheads="1"/>
          </p:cNvSpPr>
          <p:nvPr/>
        </p:nvSpPr>
        <p:spPr bwMode="auto">
          <a:xfrm>
            <a:off x="2154238" y="4876801"/>
            <a:ext cx="8077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pPr>
            <a:r>
              <a:rPr kumimoji="1" lang="zh-CN" altLang="en-US" sz="2400" b="1">
                <a:solidFill>
                  <a:srgbClr val="000000"/>
                </a:solidFill>
                <a:latin typeface="Times New Roman" panose="02020603050405020304" pitchFamily="18" charset="0"/>
              </a:rPr>
              <a:t>最优生产方案为生产产品</a:t>
            </a:r>
            <a:r>
              <a:rPr kumimoji="1" lang="en-US" altLang="zh-CN" sz="2400" b="1">
                <a:solidFill>
                  <a:srgbClr val="000000"/>
                </a:solidFill>
                <a:latin typeface="Times New Roman" panose="02020603050405020304" pitchFamily="18" charset="0"/>
              </a:rPr>
              <a:t>I</a:t>
            </a:r>
            <a:r>
              <a:rPr kumimoji="1" lang="zh-CN" altLang="en-US" sz="2400" b="1">
                <a:solidFill>
                  <a:srgbClr val="000000"/>
                </a:solidFill>
                <a:latin typeface="Times New Roman" panose="02020603050405020304" pitchFamily="18" charset="0"/>
              </a:rPr>
              <a:t>’ </a:t>
            </a:r>
            <a:r>
              <a:rPr kumimoji="1" lang="en-US" altLang="zh-CN" sz="2400" b="1">
                <a:solidFill>
                  <a:srgbClr val="000000"/>
                </a:solidFill>
                <a:latin typeface="Times New Roman" panose="02020603050405020304" pitchFamily="18" charset="0"/>
              </a:rPr>
              <a:t>0.667</a:t>
            </a:r>
            <a:r>
              <a:rPr kumimoji="1" lang="zh-CN" altLang="en-US" sz="2400" b="1">
                <a:solidFill>
                  <a:srgbClr val="000000"/>
                </a:solidFill>
                <a:latin typeface="Times New Roman" panose="02020603050405020304" pitchFamily="18" charset="0"/>
              </a:rPr>
              <a:t>单位，产品</a:t>
            </a:r>
            <a:r>
              <a:rPr kumimoji="1" lang="en-US" altLang="zh-CN" sz="2400" b="1">
                <a:solidFill>
                  <a:srgbClr val="000000"/>
                </a:solidFill>
                <a:latin typeface="Times New Roman" panose="02020603050405020304" pitchFamily="18" charset="0"/>
              </a:rPr>
              <a:t>II 2.667</a:t>
            </a:r>
            <a:r>
              <a:rPr kumimoji="1" lang="zh-CN" altLang="en-US" sz="2400" b="1">
                <a:solidFill>
                  <a:srgbClr val="000000"/>
                </a:solidFill>
                <a:latin typeface="Times New Roman" panose="02020603050405020304" pitchFamily="18" charset="0"/>
              </a:rPr>
              <a:t>单位，可得最大理论</a:t>
            </a:r>
            <a:r>
              <a:rPr kumimoji="1" lang="en-US" altLang="zh-CN" sz="2400" b="1">
                <a:solidFill>
                  <a:srgbClr val="000000"/>
                </a:solidFill>
                <a:latin typeface="Times New Roman" panose="02020603050405020304" pitchFamily="18" charset="0"/>
              </a:rPr>
              <a:t>10.67</a:t>
            </a:r>
            <a:r>
              <a:rPr kumimoji="1" lang="zh-CN" altLang="en-US" sz="2400" b="1">
                <a:solidFill>
                  <a:srgbClr val="000000"/>
                </a:solidFill>
                <a:latin typeface="Times New Roman" panose="02020603050405020304" pitchFamily="18" charset="0"/>
              </a:rPr>
              <a:t>元。</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8C04D73-E90A-4DD7-B5EF-0EF5F33A2157}"/>
              </a:ext>
            </a:extLst>
          </p:cNvPr>
          <p:cNvSpPr>
            <a:spLocks noGrp="1" noChangeArrowheads="1"/>
          </p:cNvSpPr>
          <p:nvPr>
            <p:ph type="title"/>
          </p:nvPr>
        </p:nvSpPr>
        <p:spPr/>
        <p:txBody>
          <a:bodyPr/>
          <a:lstStyle/>
          <a:p>
            <a:pPr eaLnBrk="1" hangingPunct="1"/>
            <a:r>
              <a:rPr lang="zh-CN" altLang="en-US"/>
              <a:t>新增约束条件分析</a:t>
            </a:r>
          </a:p>
        </p:txBody>
      </p:sp>
      <p:sp>
        <p:nvSpPr>
          <p:cNvPr id="167939" name="Rectangle 3">
            <a:extLst>
              <a:ext uri="{FF2B5EF4-FFF2-40B4-BE49-F238E27FC236}">
                <a16:creationId xmlns:a16="http://schemas.microsoft.com/office/drawing/2014/main" id="{A893677A-9B29-4633-BEC8-D478C29307D8}"/>
              </a:ext>
            </a:extLst>
          </p:cNvPr>
          <p:cNvSpPr>
            <a:spLocks noGrp="1" noChangeArrowheads="1"/>
          </p:cNvSpPr>
          <p:nvPr>
            <p:ph type="body" idx="1"/>
          </p:nvPr>
        </p:nvSpPr>
        <p:spPr/>
        <p:txBody>
          <a:bodyPr/>
          <a:lstStyle/>
          <a:p>
            <a:pPr eaLnBrk="1" hangingPunct="1"/>
            <a:r>
              <a:rPr lang="zh-CN" altLang="en-US"/>
              <a:t>将最优解代入新的约束条件，若满足，则最优解不变</a:t>
            </a:r>
          </a:p>
          <a:p>
            <a:pPr eaLnBrk="1" hangingPunct="1"/>
            <a:r>
              <a:rPr lang="zh-CN" altLang="en-US"/>
              <a:t>若不满足，则当前最优解要发生变化</a:t>
            </a:r>
            <a:endParaRPr lang="zh-CN" altLang="en-US">
              <a:ea typeface="楷体_GB2312" pitchFamily="49" charset="-122"/>
            </a:endParaRPr>
          </a:p>
          <a:p>
            <a:pPr lvl="1" eaLnBrk="1" hangingPunct="1"/>
            <a:r>
              <a:rPr lang="zh-CN" altLang="en-US"/>
              <a:t>将新增约束条件加入最优单纯形表（增加一行一列）</a:t>
            </a:r>
          </a:p>
          <a:p>
            <a:pPr lvl="1" eaLnBrk="1" hangingPunct="1"/>
            <a:r>
              <a:rPr lang="zh-CN" altLang="en-US"/>
              <a:t>变换为标准型</a:t>
            </a:r>
          </a:p>
          <a:p>
            <a:pPr lvl="1" eaLnBrk="1" hangingPunct="1"/>
            <a:r>
              <a:rPr lang="zh-CN" altLang="en-US"/>
              <a:t>利用对偶单纯形法继续迭代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animEffect transition="in" filter="blinds(horizontal)">
                                      <p:cBhvr>
                                        <p:cTn id="7" dur="500"/>
                                        <p:tgtEl>
                                          <p:spTgt spid="167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7939">
                                            <p:txEl>
                                              <p:pRg st="1" end="1"/>
                                            </p:txEl>
                                          </p:spTgt>
                                        </p:tgtEl>
                                        <p:attrNameLst>
                                          <p:attrName>style.visibility</p:attrName>
                                        </p:attrNameLst>
                                      </p:cBhvr>
                                      <p:to>
                                        <p:strVal val="visible"/>
                                      </p:to>
                                    </p:set>
                                    <p:animEffect transition="in" filter="blinds(horizontal)">
                                      <p:cBhvr>
                                        <p:cTn id="12" dur="500"/>
                                        <p:tgtEl>
                                          <p:spTgt spid="16793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7939">
                                            <p:txEl>
                                              <p:pRg st="2" end="2"/>
                                            </p:txEl>
                                          </p:spTgt>
                                        </p:tgtEl>
                                        <p:attrNameLst>
                                          <p:attrName>style.visibility</p:attrName>
                                        </p:attrNameLst>
                                      </p:cBhvr>
                                      <p:to>
                                        <p:strVal val="visible"/>
                                      </p:to>
                                    </p:set>
                                    <p:animEffect transition="in" filter="blinds(horizontal)">
                                      <p:cBhvr>
                                        <p:cTn id="15" dur="500"/>
                                        <p:tgtEl>
                                          <p:spTgt spid="167939">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67939">
                                            <p:txEl>
                                              <p:pRg st="3" end="3"/>
                                            </p:txEl>
                                          </p:spTgt>
                                        </p:tgtEl>
                                        <p:attrNameLst>
                                          <p:attrName>style.visibility</p:attrName>
                                        </p:attrNameLst>
                                      </p:cBhvr>
                                      <p:to>
                                        <p:strVal val="visible"/>
                                      </p:to>
                                    </p:set>
                                    <p:animEffect transition="in" filter="blinds(horizontal)">
                                      <p:cBhvr>
                                        <p:cTn id="18" dur="500"/>
                                        <p:tgtEl>
                                          <p:spTgt spid="167939">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67939">
                                            <p:txEl>
                                              <p:pRg st="4" end="4"/>
                                            </p:txEl>
                                          </p:spTgt>
                                        </p:tgtEl>
                                        <p:attrNameLst>
                                          <p:attrName>style.visibility</p:attrName>
                                        </p:attrNameLst>
                                      </p:cBhvr>
                                      <p:to>
                                        <p:strVal val="visible"/>
                                      </p:to>
                                    </p:set>
                                    <p:animEffect transition="in" filter="blinds(horizontal)">
                                      <p:cBhvr>
                                        <p:cTn id="21" dur="500"/>
                                        <p:tgtEl>
                                          <p:spTgt spid="1679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descr="Large confetti">
            <a:extLst>
              <a:ext uri="{FF2B5EF4-FFF2-40B4-BE49-F238E27FC236}">
                <a16:creationId xmlns:a16="http://schemas.microsoft.com/office/drawing/2014/main" id="{EAF4A3B0-35CD-4E7F-8E52-87F17C2BDA70}"/>
              </a:ext>
            </a:extLst>
          </p:cNvPr>
          <p:cNvSpPr>
            <a:spLocks noGrp="1" noChangeArrowheads="1"/>
          </p:cNvSpPr>
          <p:nvPr>
            <p:ph type="title"/>
          </p:nvPr>
        </p:nvSpPr>
        <p:spPr/>
        <p:txBody>
          <a:bodyPr/>
          <a:lstStyle/>
          <a:p>
            <a:pPr eaLnBrk="1" hangingPunct="1"/>
            <a:r>
              <a:rPr lang="zh-CN" altLang="en-US"/>
              <a:t>例子：技术系数 </a:t>
            </a:r>
            <a:r>
              <a:rPr lang="en-US" altLang="zh-CN" b="0" i="1">
                <a:latin typeface="Times New Roman" panose="02020603050405020304" pitchFamily="18" charset="0"/>
              </a:rPr>
              <a:t>a</a:t>
            </a:r>
            <a:r>
              <a:rPr lang="en-US" altLang="zh-CN" i="1" baseline="-25000">
                <a:latin typeface="Times New Roman" panose="02020603050405020304" pitchFamily="18" charset="0"/>
              </a:rPr>
              <a:t>ij </a:t>
            </a:r>
            <a:r>
              <a:rPr lang="zh-CN" altLang="en-US"/>
              <a:t>变化分析</a:t>
            </a:r>
          </a:p>
        </p:txBody>
      </p:sp>
      <p:sp>
        <p:nvSpPr>
          <p:cNvPr id="6" name="Rectangle 3">
            <a:extLst>
              <a:ext uri="{FF2B5EF4-FFF2-40B4-BE49-F238E27FC236}">
                <a16:creationId xmlns:a16="http://schemas.microsoft.com/office/drawing/2014/main" id="{77B1A1C1-688E-41A6-A967-2B693FCF5D82}"/>
              </a:ext>
            </a:extLst>
          </p:cNvPr>
          <p:cNvSpPr txBox="1">
            <a:spLocks noChangeArrowheads="1"/>
          </p:cNvSpPr>
          <p:nvPr/>
        </p:nvSpPr>
        <p:spPr bwMode="auto">
          <a:xfrm>
            <a:off x="1981200" y="1236664"/>
            <a:ext cx="8077200" cy="3335337"/>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0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16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1600">
                <a:solidFill>
                  <a:schemeClr val="tx1"/>
                </a:solidFill>
                <a:latin typeface="+mn-lt"/>
                <a:ea typeface="+mn-ea"/>
              </a:defRPr>
            </a:lvl9pPr>
          </a:lstStyle>
          <a:p>
            <a:pPr marL="0" indent="0" eaLnBrk="1" hangingPunct="1">
              <a:lnSpc>
                <a:spcPct val="90000"/>
              </a:lnSpc>
              <a:buClr>
                <a:srgbClr val="CC9900"/>
              </a:buClr>
              <a:buNone/>
              <a:defRPr/>
            </a:pPr>
            <a:r>
              <a:rPr lang="zh-CN" altLang="en-US" sz="2000" kern="0" dirty="0">
                <a:solidFill>
                  <a:srgbClr val="000000"/>
                </a:solidFill>
                <a:latin typeface="Arial"/>
                <a:ea typeface="宋体"/>
              </a:rPr>
              <a:t>例  某工厂安排生产 </a:t>
            </a:r>
            <a:r>
              <a:rPr lang="en-US" altLang="zh-CN" sz="2000" kern="0" dirty="0">
                <a:solidFill>
                  <a:srgbClr val="000000"/>
                </a:solidFill>
                <a:latin typeface="Times New Roman" panose="02020603050405020304" pitchFamily="18" charset="0"/>
                <a:ea typeface="宋体"/>
              </a:rPr>
              <a:t>I</a:t>
            </a:r>
            <a:r>
              <a:rPr lang="zh-CN" altLang="en-US" sz="2000" kern="0" dirty="0">
                <a:solidFill>
                  <a:srgbClr val="000000"/>
                </a:solidFill>
                <a:latin typeface="Arial"/>
                <a:ea typeface="宋体"/>
              </a:rPr>
              <a:t>，</a:t>
            </a:r>
            <a:r>
              <a:rPr lang="en-US" altLang="zh-CN" sz="2000" kern="0" dirty="0">
                <a:solidFill>
                  <a:srgbClr val="000000"/>
                </a:solidFill>
                <a:latin typeface="Times New Roman" panose="02020603050405020304" pitchFamily="18" charset="0"/>
                <a:ea typeface="宋体"/>
              </a:rPr>
              <a:t>II</a:t>
            </a:r>
            <a:r>
              <a:rPr lang="zh-CN" altLang="en-US" sz="2000" kern="0" dirty="0">
                <a:solidFill>
                  <a:srgbClr val="000000"/>
                </a:solidFill>
                <a:latin typeface="Times New Roman" panose="02020603050405020304" pitchFamily="18" charset="0"/>
                <a:ea typeface="宋体"/>
              </a:rPr>
              <a:t>两种产品，</a:t>
            </a:r>
            <a:r>
              <a:rPr lang="zh-CN" altLang="en-US" sz="2000" kern="0" dirty="0">
                <a:solidFill>
                  <a:srgbClr val="000000"/>
                </a:solidFill>
                <a:latin typeface="Arial"/>
                <a:ea typeface="宋体"/>
              </a:rPr>
              <a:t>已知生产单位产品所需的设备台时及</a:t>
            </a:r>
            <a:r>
              <a:rPr lang="en-US" altLang="zh-CN" sz="2000" kern="0" dirty="0">
                <a:solidFill>
                  <a:srgbClr val="000000"/>
                </a:solidFill>
                <a:latin typeface="Arial"/>
                <a:ea typeface="宋体"/>
              </a:rPr>
              <a:t>A</a:t>
            </a:r>
            <a:r>
              <a:rPr lang="zh-CN" altLang="en-US" sz="2000" kern="0" dirty="0">
                <a:solidFill>
                  <a:srgbClr val="000000"/>
                </a:solidFill>
                <a:latin typeface="Arial"/>
                <a:ea typeface="宋体"/>
              </a:rPr>
              <a:t>、</a:t>
            </a:r>
            <a:r>
              <a:rPr lang="en-US" altLang="zh-CN" sz="2000" kern="0" dirty="0">
                <a:solidFill>
                  <a:srgbClr val="000000"/>
                </a:solidFill>
                <a:latin typeface="Arial"/>
                <a:ea typeface="宋体"/>
              </a:rPr>
              <a:t>B</a:t>
            </a:r>
            <a:r>
              <a:rPr lang="zh-CN" altLang="en-US" sz="2000" kern="0" dirty="0">
                <a:solidFill>
                  <a:srgbClr val="000000"/>
                </a:solidFill>
                <a:latin typeface="Arial"/>
                <a:ea typeface="宋体"/>
              </a:rPr>
              <a:t>两种原材料的消耗以及资源的限制，如下表：</a:t>
            </a: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endParaRPr lang="zh-CN" altLang="en-US" sz="2000" kern="0" dirty="0">
              <a:solidFill>
                <a:srgbClr val="000000"/>
              </a:solidFill>
              <a:latin typeface="Arial"/>
              <a:ea typeface="宋体"/>
            </a:endParaRPr>
          </a:p>
          <a:p>
            <a:pPr marL="0" indent="0" eaLnBrk="1" hangingPunct="1">
              <a:lnSpc>
                <a:spcPct val="90000"/>
              </a:lnSpc>
              <a:buClr>
                <a:srgbClr val="CC9900"/>
              </a:buClr>
              <a:defRPr/>
            </a:pPr>
            <a:endParaRPr lang="zh-CN" altLang="en-US" sz="2000" kern="0" dirty="0">
              <a:solidFill>
                <a:srgbClr val="000000"/>
              </a:solidFill>
              <a:latin typeface="Arial"/>
              <a:ea typeface="宋体"/>
            </a:endParaRPr>
          </a:p>
          <a:p>
            <a:pPr marL="0" indent="0" eaLnBrk="1" hangingPunct="1">
              <a:lnSpc>
                <a:spcPct val="90000"/>
              </a:lnSpc>
              <a:buClr>
                <a:srgbClr val="CC9900"/>
              </a:buClr>
              <a:buNone/>
              <a:defRPr/>
            </a:pPr>
            <a:r>
              <a:rPr lang="zh-CN" altLang="en-US" sz="2000" kern="0" dirty="0">
                <a:solidFill>
                  <a:srgbClr val="000000"/>
                </a:solidFill>
                <a:latin typeface="Arial"/>
                <a:ea typeface="宋体"/>
              </a:rPr>
              <a:t>    </a:t>
            </a:r>
          </a:p>
          <a:p>
            <a:pPr>
              <a:buClr>
                <a:srgbClr val="CC9900"/>
              </a:buClr>
              <a:defRPr/>
            </a:pPr>
            <a:r>
              <a:rPr kumimoji="1" lang="zh-CN" altLang="en-US" sz="2000" dirty="0">
                <a:solidFill>
                  <a:srgbClr val="FF00FF"/>
                </a:solidFill>
                <a:latin typeface="Times New Roman" panose="02020603050405020304" pitchFamily="18" charset="0"/>
                <a:ea typeface="宋体"/>
              </a:rPr>
              <a:t>如果产品还需要一道出厂试验工序，</a:t>
            </a:r>
            <a:r>
              <a:rPr kumimoji="1" lang="en-US" altLang="zh-CN" sz="2000" dirty="0">
                <a:solidFill>
                  <a:srgbClr val="FF00FF"/>
                </a:solidFill>
                <a:latin typeface="Times New Roman" panose="02020603050405020304" pitchFamily="18" charset="0"/>
                <a:ea typeface="宋体"/>
              </a:rPr>
              <a:t>Ⅰ</a:t>
            </a:r>
            <a:r>
              <a:rPr kumimoji="1" lang="zh-CN" altLang="en-US" sz="2000" dirty="0">
                <a:solidFill>
                  <a:srgbClr val="FF00FF"/>
                </a:solidFill>
                <a:latin typeface="Times New Roman" panose="02020603050405020304" pitchFamily="18" charset="0"/>
                <a:ea typeface="宋体"/>
              </a:rPr>
              <a:t>需要每件</a:t>
            </a:r>
            <a:r>
              <a:rPr kumimoji="1" lang="en-US" altLang="zh-CN" sz="2000" dirty="0">
                <a:solidFill>
                  <a:srgbClr val="FF00FF"/>
                </a:solidFill>
                <a:latin typeface="Times New Roman" panose="02020603050405020304" pitchFamily="18" charset="0"/>
                <a:ea typeface="宋体"/>
              </a:rPr>
              <a:t>2</a:t>
            </a:r>
            <a:r>
              <a:rPr kumimoji="1" lang="zh-CN" altLang="en-US" sz="2000" dirty="0">
                <a:solidFill>
                  <a:srgbClr val="FF00FF"/>
                </a:solidFill>
                <a:latin typeface="Times New Roman" panose="02020603050405020304" pitchFamily="18" charset="0"/>
                <a:ea typeface="宋体"/>
              </a:rPr>
              <a:t>小时， </a:t>
            </a:r>
            <a:r>
              <a:rPr kumimoji="1" lang="en-US" altLang="zh-CN" sz="2000" dirty="0">
                <a:solidFill>
                  <a:srgbClr val="FF00FF"/>
                </a:solidFill>
                <a:latin typeface="Times New Roman" panose="02020603050405020304" pitchFamily="18" charset="0"/>
                <a:ea typeface="宋体"/>
                <a:sym typeface="cajcd fnta1" pitchFamily="18" charset="2"/>
              </a:rPr>
              <a:t>Ⅱ</a:t>
            </a:r>
            <a:r>
              <a:rPr kumimoji="1" lang="zh-CN" altLang="en-US" sz="2000" dirty="0">
                <a:solidFill>
                  <a:srgbClr val="FF00FF"/>
                </a:solidFill>
                <a:latin typeface="Times New Roman" panose="02020603050405020304" pitchFamily="18" charset="0"/>
                <a:ea typeface="宋体"/>
              </a:rPr>
              <a:t>需要每件</a:t>
            </a:r>
            <a:r>
              <a:rPr kumimoji="1" lang="en-US" altLang="zh-CN" sz="2000" dirty="0">
                <a:solidFill>
                  <a:srgbClr val="FF00FF"/>
                </a:solidFill>
                <a:latin typeface="Times New Roman" panose="02020603050405020304" pitchFamily="18" charset="0"/>
                <a:ea typeface="宋体"/>
              </a:rPr>
              <a:t>3</a:t>
            </a:r>
            <a:r>
              <a:rPr kumimoji="1" lang="zh-CN" altLang="en-US" sz="2000" dirty="0">
                <a:solidFill>
                  <a:srgbClr val="FF00FF"/>
                </a:solidFill>
                <a:latin typeface="Times New Roman" panose="02020603050405020304" pitchFamily="18" charset="0"/>
                <a:ea typeface="宋体"/>
              </a:rPr>
              <a:t>小时。每天的实验能力为</a:t>
            </a:r>
            <a:r>
              <a:rPr kumimoji="1" lang="en-US" altLang="zh-CN" sz="2000" dirty="0">
                <a:solidFill>
                  <a:srgbClr val="FF00FF"/>
                </a:solidFill>
                <a:latin typeface="Times New Roman" panose="02020603050405020304" pitchFamily="18" charset="0"/>
                <a:ea typeface="宋体"/>
              </a:rPr>
              <a:t>12</a:t>
            </a:r>
            <a:r>
              <a:rPr kumimoji="1" lang="zh-CN" altLang="en-US" sz="2000" dirty="0">
                <a:solidFill>
                  <a:srgbClr val="FF00FF"/>
                </a:solidFill>
                <a:latin typeface="Times New Roman" panose="02020603050405020304" pitchFamily="18" charset="0"/>
                <a:ea typeface="宋体"/>
              </a:rPr>
              <a:t>小时。分析其生产计划。</a:t>
            </a:r>
          </a:p>
          <a:p>
            <a:pPr>
              <a:buClr>
                <a:srgbClr val="CC9900"/>
              </a:buClr>
              <a:defRPr/>
            </a:pPr>
            <a:endParaRPr lang="en-US" altLang="zh-CN" sz="2000" kern="0" dirty="0">
              <a:solidFill>
                <a:srgbClr val="FF00FF"/>
              </a:solidFill>
              <a:latin typeface="Arial"/>
              <a:ea typeface="宋体"/>
            </a:endParaRPr>
          </a:p>
        </p:txBody>
      </p:sp>
      <p:graphicFrame>
        <p:nvGraphicFramePr>
          <p:cNvPr id="7" name="Group 50">
            <a:extLst>
              <a:ext uri="{FF2B5EF4-FFF2-40B4-BE49-F238E27FC236}">
                <a16:creationId xmlns:a16="http://schemas.microsoft.com/office/drawing/2014/main" id="{2C6C0721-EF3A-48AB-B64E-EFFE94689CF2}"/>
              </a:ext>
            </a:extLst>
          </p:cNvPr>
          <p:cNvGraphicFramePr>
            <a:graphicFrameLocks/>
          </p:cNvGraphicFramePr>
          <p:nvPr/>
        </p:nvGraphicFramePr>
        <p:xfrm>
          <a:off x="2133600" y="1905000"/>
          <a:ext cx="3581400" cy="1524000"/>
        </p:xfrm>
        <a:graphic>
          <a:graphicData uri="http://schemas.openxmlformats.org/drawingml/2006/table">
            <a:tbl>
              <a:tblPr/>
              <a:tblGrid>
                <a:gridCol w="1371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I</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II</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资源限制</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0"/>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设备</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8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台时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242888">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16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2"/>
                  </a:ext>
                </a:extLst>
              </a:tr>
              <a:tr h="241300">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原料 </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endParaRPr kumimoji="0" lang="en-US" altLang="zh-CN"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12 kg</a:t>
                      </a: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180975">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利润（元</a:t>
                      </a: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件）</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2 </a:t>
                      </a:r>
                      <a:r>
                        <a:rPr kumimoji="0" lang="zh-CN" altLang="en-US" sz="1400" b="1"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dirty="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r>
                        <a:rPr kumimoji="0" lang="en-US" altLang="zh-CN"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3 </a:t>
                      </a:r>
                      <a:r>
                        <a:rPr kumimoji="0" lang="zh-CN" altLang="en-US" sz="1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元</a:t>
                      </a:r>
                      <a:endParaRPr kumimoji="0" lang="zh-CN" altLang="en-US" sz="1400" b="1" i="0" u="none" strike="noStrike" cap="none" normalizeH="0" baseline="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tc>
                  <a:txBody>
                    <a:bodyPr/>
                    <a:lstStyle/>
                    <a:p>
                      <a:pPr marL="342900" marR="0" lvl="0" indent="-342900" algn="ctr" defTabSz="914400" rtl="0" eaLnBrk="1" fontAlgn="base" latinLnBrk="0" hangingPunct="1">
                        <a:lnSpc>
                          <a:spcPct val="100000"/>
                        </a:lnSpc>
                        <a:spcBef>
                          <a:spcPct val="0"/>
                        </a:spcBef>
                        <a:spcAft>
                          <a:spcPct val="0"/>
                        </a:spcAft>
                        <a:buClr>
                          <a:schemeClr val="accent1"/>
                        </a:buClr>
                        <a:buSzPct val="6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anchor="ct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00FF00"/>
                    </a:solidFill>
                  </a:tcPr>
                </a:tc>
                <a:extLst>
                  <a:ext uri="{0D108BD9-81ED-4DB2-BD59-A6C34878D82A}">
                    <a16:rowId xmlns:a16="http://schemas.microsoft.com/office/drawing/2014/main" val="10004"/>
                  </a:ext>
                </a:extLst>
              </a:tr>
            </a:tbl>
          </a:graphicData>
        </a:graphic>
      </p:graphicFrame>
      <p:graphicFrame>
        <p:nvGraphicFramePr>
          <p:cNvPr id="121892" name="对象 33">
            <a:extLst>
              <a:ext uri="{FF2B5EF4-FFF2-40B4-BE49-F238E27FC236}">
                <a16:creationId xmlns:a16="http://schemas.microsoft.com/office/drawing/2014/main" id="{DE6B95B0-B0FF-4543-BF98-EFE59CFB1DE1}"/>
              </a:ext>
            </a:extLst>
          </p:cNvPr>
          <p:cNvGraphicFramePr>
            <a:graphicFrameLocks noChangeAspect="1"/>
          </p:cNvGraphicFramePr>
          <p:nvPr/>
        </p:nvGraphicFramePr>
        <p:xfrm>
          <a:off x="6324601" y="1752600"/>
          <a:ext cx="3400425" cy="1828800"/>
        </p:xfrm>
        <a:graphic>
          <a:graphicData uri="http://schemas.openxmlformats.org/presentationml/2006/ole">
            <mc:AlternateContent xmlns:mc="http://schemas.openxmlformats.org/markup-compatibility/2006">
              <mc:Choice xmlns:v="urn:schemas-microsoft-com:vml" Requires="v">
                <p:oleObj spid="_x0000_s16386" name="Equation" r:id="rId3" imgW="1511300" imgH="812800" progId="Equation.DSMT4">
                  <p:embed/>
                </p:oleObj>
              </mc:Choice>
              <mc:Fallback>
                <p:oleObj name="Equation" r:id="rId3" imgW="1511300" imgH="812800" progId="Equation.DSMT4">
                  <p:embed/>
                  <p:pic>
                    <p:nvPicPr>
                      <p:cNvPr id="121892" name="对象 33">
                        <a:extLst>
                          <a:ext uri="{FF2B5EF4-FFF2-40B4-BE49-F238E27FC236}">
                            <a16:creationId xmlns:a16="http://schemas.microsoft.com/office/drawing/2014/main" id="{DE6B95B0-B0FF-4543-BF98-EFE59CFB1D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1" y="1752600"/>
                        <a:ext cx="34004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1893" name="对象 33">
            <a:extLst>
              <a:ext uri="{FF2B5EF4-FFF2-40B4-BE49-F238E27FC236}">
                <a16:creationId xmlns:a16="http://schemas.microsoft.com/office/drawing/2014/main" id="{BE1DD7CB-1574-41A2-B355-C5FD35E22984}"/>
              </a:ext>
            </a:extLst>
          </p:cNvPr>
          <p:cNvGraphicFramePr>
            <a:graphicFrameLocks noChangeAspect="1"/>
          </p:cNvGraphicFramePr>
          <p:nvPr/>
        </p:nvGraphicFramePr>
        <p:xfrm>
          <a:off x="3657601" y="4419600"/>
          <a:ext cx="3514725" cy="2171700"/>
        </p:xfrm>
        <a:graphic>
          <a:graphicData uri="http://schemas.openxmlformats.org/presentationml/2006/ole">
            <mc:AlternateContent xmlns:mc="http://schemas.openxmlformats.org/markup-compatibility/2006">
              <mc:Choice xmlns:v="urn:schemas-microsoft-com:vml" Requires="v">
                <p:oleObj spid="_x0000_s16387" name="Equation" r:id="rId5" imgW="1562100" imgH="965200" progId="Equation.DSMT4">
                  <p:embed/>
                </p:oleObj>
              </mc:Choice>
              <mc:Fallback>
                <p:oleObj name="Equation" r:id="rId5" imgW="1562100" imgH="965200" progId="Equation.DSMT4">
                  <p:embed/>
                  <p:pic>
                    <p:nvPicPr>
                      <p:cNvPr id="121893" name="对象 33">
                        <a:extLst>
                          <a:ext uri="{FF2B5EF4-FFF2-40B4-BE49-F238E27FC236}">
                            <a16:creationId xmlns:a16="http://schemas.microsoft.com/office/drawing/2014/main" id="{BE1DD7CB-1574-41A2-B355-C5FD35E229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1" y="4419600"/>
                        <a:ext cx="3514725"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006266A9-9BFF-4313-8108-A7ED75815F3E}"/>
              </a:ext>
            </a:extLst>
          </p:cNvPr>
          <p:cNvSpPr>
            <a:spLocks noGrp="1" noChangeArrowheads="1"/>
          </p:cNvSpPr>
          <p:nvPr>
            <p:ph type="title"/>
          </p:nvPr>
        </p:nvSpPr>
        <p:spPr/>
        <p:txBody>
          <a:bodyPr/>
          <a:lstStyle/>
          <a:p>
            <a:pPr eaLnBrk="1" hangingPunct="1"/>
            <a:r>
              <a:rPr lang="zh-CN" altLang="en-US"/>
              <a:t>例子</a:t>
            </a:r>
          </a:p>
        </p:txBody>
      </p:sp>
      <p:sp>
        <p:nvSpPr>
          <p:cNvPr id="168964" name="Text Box 4">
            <a:extLst>
              <a:ext uri="{FF2B5EF4-FFF2-40B4-BE49-F238E27FC236}">
                <a16:creationId xmlns:a16="http://schemas.microsoft.com/office/drawing/2014/main" id="{5B29B0BD-9B7C-47B8-BA9E-FA4B3A537AC7}"/>
              </a:ext>
            </a:extLst>
          </p:cNvPr>
          <p:cNvSpPr txBox="1">
            <a:spLocks noChangeArrowheads="1"/>
          </p:cNvSpPr>
          <p:nvPr/>
        </p:nvSpPr>
        <p:spPr bwMode="auto">
          <a:xfrm>
            <a:off x="1568450" y="1295400"/>
            <a:ext cx="8534400" cy="1200150"/>
          </a:xfrm>
          <a:prstGeom prst="rect">
            <a:avLst/>
          </a:prstGeom>
          <a:noFill/>
          <a:ln>
            <a:noFill/>
          </a:ln>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fontAlgn="base">
              <a:spcBef>
                <a:spcPct val="20000"/>
              </a:spcBef>
              <a:spcAft>
                <a:spcPct val="0"/>
              </a:spcAft>
              <a:defRPr/>
            </a:pP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解：题中的意思是增加一约束条件 </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2x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+3x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2</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 12</a:t>
            </a:r>
            <a:r>
              <a:rPr kumimoji="1" lang="zh-CN" altLang="en-US" sz="2400" b="1" dirty="0">
                <a:solidFill>
                  <a:srgbClr val="000000"/>
                </a:solidFill>
                <a:latin typeface="Times New Roman" panose="02020603050405020304" pitchFamily="18" charset="0"/>
                <a:cs typeface="Times New Roman" panose="02020603050405020304" pitchFamily="18" charset="0"/>
              </a:rPr>
              <a:t>。</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将原最优解</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=4,x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2</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=2</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代入，条件不成立。在约束条件中增加一松弛变量</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6</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2x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1</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+3x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2</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+x</a:t>
            </a:r>
            <a:r>
              <a:rPr kumimoji="1" lang="en-US" altLang="zh-CN" sz="2400" b="1" baseline="-25000" dirty="0">
                <a:solidFill>
                  <a:srgbClr val="000000"/>
                </a:solidFill>
                <a:latin typeface="Times New Roman" panose="02020603050405020304" pitchFamily="18" charset="0"/>
                <a:ea typeface="宋体"/>
                <a:cs typeface="Times New Roman" panose="02020603050405020304" pitchFamily="18" charset="0"/>
              </a:rPr>
              <a:t>6</a:t>
            </a:r>
            <a:r>
              <a:rPr kumimoji="1" lang="en-US" altLang="zh-CN" sz="2400" b="1" dirty="0">
                <a:solidFill>
                  <a:srgbClr val="000000"/>
                </a:solidFill>
                <a:latin typeface="Times New Roman" panose="02020603050405020304" pitchFamily="18" charset="0"/>
                <a:ea typeface="宋体"/>
                <a:cs typeface="Times New Roman" panose="02020603050405020304" pitchFamily="18" charset="0"/>
              </a:rPr>
              <a:t> = 12 </a:t>
            </a:r>
            <a:r>
              <a:rPr kumimoji="1" lang="zh-CN" altLang="en-US" sz="2400" b="1" dirty="0">
                <a:solidFill>
                  <a:srgbClr val="000000"/>
                </a:solidFill>
                <a:latin typeface="Times New Roman" panose="02020603050405020304" pitchFamily="18" charset="0"/>
                <a:ea typeface="宋体"/>
                <a:cs typeface="Times New Roman" panose="02020603050405020304" pitchFamily="18" charset="0"/>
              </a:rPr>
              <a:t>反映到最终表中。</a:t>
            </a:r>
          </a:p>
        </p:txBody>
      </p:sp>
      <p:sp>
        <p:nvSpPr>
          <p:cNvPr id="7" name="Text Box 84">
            <a:extLst>
              <a:ext uri="{FF2B5EF4-FFF2-40B4-BE49-F238E27FC236}">
                <a16:creationId xmlns:a16="http://schemas.microsoft.com/office/drawing/2014/main" id="{D93A3F66-DDF0-4B62-AADB-D7B1002171A3}"/>
              </a:ext>
            </a:extLst>
          </p:cNvPr>
          <p:cNvSpPr txBox="1">
            <a:spLocks noChangeArrowheads="1"/>
          </p:cNvSpPr>
          <p:nvPr/>
        </p:nvSpPr>
        <p:spPr bwMode="auto">
          <a:xfrm>
            <a:off x="1981200" y="6172200"/>
            <a:ext cx="8077200" cy="45720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defRPr/>
            </a:pPr>
            <a:r>
              <a:rPr kumimoji="1" lang="zh-CN" altLang="en-US" sz="2400" b="1" dirty="0">
                <a:solidFill>
                  <a:srgbClr val="000000"/>
                </a:solidFill>
                <a:latin typeface="宋体"/>
                <a:ea typeface="宋体"/>
              </a:rPr>
              <a:t>上表变换成标准形，</a:t>
            </a:r>
            <a:r>
              <a:rPr kumimoji="1" lang="en-US" altLang="zh-CN" sz="2400" b="1" dirty="0">
                <a:solidFill>
                  <a:srgbClr val="000000"/>
                </a:solidFill>
                <a:latin typeface="宋体"/>
                <a:ea typeface="宋体"/>
              </a:rPr>
              <a:t>4</a:t>
            </a:r>
            <a:r>
              <a:rPr kumimoji="1" lang="zh-CN" altLang="en-US" sz="2400" b="1" dirty="0">
                <a:solidFill>
                  <a:srgbClr val="000000"/>
                </a:solidFill>
                <a:latin typeface="宋体"/>
                <a:ea typeface="宋体"/>
              </a:rPr>
              <a:t>行减去（</a:t>
            </a:r>
            <a:r>
              <a:rPr kumimoji="1" lang="en-US" altLang="zh-CN" sz="2400" b="1" dirty="0">
                <a:solidFill>
                  <a:srgbClr val="000000"/>
                </a:solidFill>
                <a:latin typeface="宋体"/>
                <a:ea typeface="宋体"/>
              </a:rPr>
              <a:t>1</a:t>
            </a:r>
            <a:r>
              <a:rPr kumimoji="1" lang="zh-CN" altLang="en-US" sz="2400" b="1" dirty="0">
                <a:solidFill>
                  <a:srgbClr val="000000"/>
                </a:solidFill>
                <a:latin typeface="宋体"/>
                <a:ea typeface="宋体"/>
              </a:rPr>
              <a:t>行乘</a:t>
            </a:r>
            <a:r>
              <a:rPr kumimoji="1" lang="en-US" altLang="zh-CN" sz="2400" b="1" dirty="0">
                <a:solidFill>
                  <a:srgbClr val="000000"/>
                </a:solidFill>
                <a:latin typeface="宋体"/>
                <a:ea typeface="宋体"/>
              </a:rPr>
              <a:t>2</a:t>
            </a:r>
            <a:r>
              <a:rPr kumimoji="1" lang="zh-CN" altLang="en-US" sz="2400" b="1" dirty="0">
                <a:solidFill>
                  <a:srgbClr val="000000"/>
                </a:solidFill>
                <a:latin typeface="宋体"/>
                <a:ea typeface="宋体"/>
              </a:rPr>
              <a:t>）减去（</a:t>
            </a:r>
            <a:r>
              <a:rPr kumimoji="1" lang="en-US" altLang="zh-CN" sz="2400" b="1" dirty="0">
                <a:solidFill>
                  <a:srgbClr val="000000"/>
                </a:solidFill>
                <a:latin typeface="宋体"/>
                <a:ea typeface="宋体"/>
              </a:rPr>
              <a:t>3</a:t>
            </a:r>
            <a:r>
              <a:rPr kumimoji="1" lang="zh-CN" altLang="en-US" sz="2400" b="1" dirty="0">
                <a:solidFill>
                  <a:srgbClr val="000000"/>
                </a:solidFill>
                <a:latin typeface="宋体"/>
                <a:ea typeface="宋体"/>
              </a:rPr>
              <a:t>行乘</a:t>
            </a:r>
            <a:r>
              <a:rPr kumimoji="1" lang="en-US" altLang="zh-CN" sz="2400" b="1" dirty="0">
                <a:solidFill>
                  <a:srgbClr val="000000"/>
                </a:solidFill>
                <a:latin typeface="宋体"/>
                <a:ea typeface="宋体"/>
              </a:rPr>
              <a:t>3</a:t>
            </a:r>
            <a:r>
              <a:rPr kumimoji="1" lang="zh-CN" altLang="en-US" sz="2400" b="1" dirty="0">
                <a:solidFill>
                  <a:srgbClr val="000000"/>
                </a:solidFill>
                <a:latin typeface="宋体"/>
                <a:ea typeface="宋体"/>
              </a:rPr>
              <a:t>）</a:t>
            </a:r>
          </a:p>
        </p:txBody>
      </p:sp>
      <p:graphicFrame>
        <p:nvGraphicFramePr>
          <p:cNvPr id="8" name="Group 719">
            <a:extLst>
              <a:ext uri="{FF2B5EF4-FFF2-40B4-BE49-F238E27FC236}">
                <a16:creationId xmlns:a16="http://schemas.microsoft.com/office/drawing/2014/main" id="{2CF75BDA-59C4-4F01-A5E1-243EE4F96099}"/>
              </a:ext>
            </a:extLst>
          </p:cNvPr>
          <p:cNvGraphicFramePr>
            <a:graphicFrameLocks noGrp="1"/>
          </p:cNvGraphicFramePr>
          <p:nvPr/>
        </p:nvGraphicFramePr>
        <p:xfrm>
          <a:off x="2209800" y="2667000"/>
          <a:ext cx="7543800" cy="3163888"/>
        </p:xfrm>
        <a:graphic>
          <a:graphicData uri="http://schemas.openxmlformats.org/drawingml/2006/table">
            <a:tbl>
              <a:tblPr/>
              <a:tblGrid>
                <a:gridCol w="538846">
                  <a:extLst>
                    <a:ext uri="{9D8B030D-6E8A-4147-A177-3AD203B41FA5}">
                      <a16:colId xmlns:a16="http://schemas.microsoft.com/office/drawing/2014/main" val="20000"/>
                    </a:ext>
                  </a:extLst>
                </a:gridCol>
                <a:gridCol w="461865">
                  <a:extLst>
                    <a:ext uri="{9D8B030D-6E8A-4147-A177-3AD203B41FA5}">
                      <a16:colId xmlns:a16="http://schemas.microsoft.com/office/drawing/2014/main" val="20001"/>
                    </a:ext>
                  </a:extLst>
                </a:gridCol>
                <a:gridCol w="523289">
                  <a:extLst>
                    <a:ext uri="{9D8B030D-6E8A-4147-A177-3AD203B41FA5}">
                      <a16:colId xmlns:a16="http://schemas.microsoft.com/office/drawing/2014/main" val="20002"/>
                    </a:ext>
                  </a:extLst>
                </a:gridCol>
                <a:gridCol w="914399">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1219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57209">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2">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09">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9">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1/2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6</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9">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blinds(horizontal)">
                                      <p:cBhvr>
                                        <p:cTn id="7" dur="500"/>
                                        <p:tgtEl>
                                          <p:spTgt spid="1689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4" grpId="0"/>
      <p:bldP spid="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82">
            <a:extLst>
              <a:ext uri="{FF2B5EF4-FFF2-40B4-BE49-F238E27FC236}">
                <a16:creationId xmlns:a16="http://schemas.microsoft.com/office/drawing/2014/main" id="{FBF4EE30-8501-4870-9E11-BB12CC6D05D2}"/>
              </a:ext>
            </a:extLst>
          </p:cNvPr>
          <p:cNvSpPr>
            <a:spLocks noGrp="1" noChangeArrowheads="1"/>
          </p:cNvSpPr>
          <p:nvPr>
            <p:ph type="title"/>
          </p:nvPr>
        </p:nvSpPr>
        <p:spPr/>
        <p:txBody>
          <a:bodyPr/>
          <a:lstStyle/>
          <a:p>
            <a:pPr eaLnBrk="1" hangingPunct="1"/>
            <a:endParaRPr lang="zh-CN" altLang="zh-CN"/>
          </a:p>
        </p:txBody>
      </p:sp>
      <p:sp>
        <p:nvSpPr>
          <p:cNvPr id="172117" name="Text Box 85">
            <a:extLst>
              <a:ext uri="{FF2B5EF4-FFF2-40B4-BE49-F238E27FC236}">
                <a16:creationId xmlns:a16="http://schemas.microsoft.com/office/drawing/2014/main" id="{7A00802F-FA67-4A2A-86A0-A294D26E0DA9}"/>
              </a:ext>
            </a:extLst>
          </p:cNvPr>
          <p:cNvSpPr txBox="1">
            <a:spLocks noChangeArrowheads="1"/>
          </p:cNvSpPr>
          <p:nvPr/>
        </p:nvSpPr>
        <p:spPr bwMode="auto">
          <a:xfrm>
            <a:off x="2133600" y="5181600"/>
            <a:ext cx="6096000" cy="457200"/>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defRPr/>
            </a:pPr>
            <a:r>
              <a:rPr kumimoji="1" lang="zh-CN" altLang="en-US" sz="2400" b="1" dirty="0">
                <a:solidFill>
                  <a:srgbClr val="000000"/>
                </a:solidFill>
                <a:latin typeface="宋体"/>
                <a:ea typeface="宋体"/>
              </a:rPr>
              <a:t>然后用对偶单纯形法继续迭代</a:t>
            </a:r>
            <a:r>
              <a:rPr kumimoji="1" lang="en-US" altLang="zh-CN" sz="2400" b="1" dirty="0">
                <a:solidFill>
                  <a:srgbClr val="000000"/>
                </a:solidFill>
                <a:latin typeface="宋体"/>
                <a:ea typeface="宋体"/>
              </a:rPr>
              <a:t>…</a:t>
            </a:r>
            <a:endParaRPr kumimoji="1" lang="zh-CN" altLang="en-US" sz="2400" b="1" dirty="0">
              <a:solidFill>
                <a:srgbClr val="000000"/>
              </a:solidFill>
              <a:latin typeface="宋体"/>
              <a:ea typeface="宋体"/>
            </a:endParaRPr>
          </a:p>
        </p:txBody>
      </p:sp>
      <p:graphicFrame>
        <p:nvGraphicFramePr>
          <p:cNvPr id="5" name="Group 719">
            <a:extLst>
              <a:ext uri="{FF2B5EF4-FFF2-40B4-BE49-F238E27FC236}">
                <a16:creationId xmlns:a16="http://schemas.microsoft.com/office/drawing/2014/main" id="{D57EE3C7-EE92-4154-AC1C-710142619841}"/>
              </a:ext>
            </a:extLst>
          </p:cNvPr>
          <p:cNvGraphicFramePr>
            <a:graphicFrameLocks noGrp="1"/>
          </p:cNvGraphicFramePr>
          <p:nvPr/>
        </p:nvGraphicFramePr>
        <p:xfrm>
          <a:off x="2209800" y="1717675"/>
          <a:ext cx="7543800" cy="3163888"/>
        </p:xfrm>
        <a:graphic>
          <a:graphicData uri="http://schemas.openxmlformats.org/drawingml/2006/table">
            <a:tbl>
              <a:tblPr/>
              <a:tblGrid>
                <a:gridCol w="538846">
                  <a:extLst>
                    <a:ext uri="{9D8B030D-6E8A-4147-A177-3AD203B41FA5}">
                      <a16:colId xmlns:a16="http://schemas.microsoft.com/office/drawing/2014/main" val="20000"/>
                    </a:ext>
                  </a:extLst>
                </a:gridCol>
                <a:gridCol w="461865">
                  <a:extLst>
                    <a:ext uri="{9D8B030D-6E8A-4147-A177-3AD203B41FA5}">
                      <a16:colId xmlns:a16="http://schemas.microsoft.com/office/drawing/2014/main" val="20001"/>
                    </a:ext>
                  </a:extLst>
                </a:gridCol>
                <a:gridCol w="523289">
                  <a:extLst>
                    <a:ext uri="{9D8B030D-6E8A-4147-A177-3AD203B41FA5}">
                      <a16:colId xmlns:a16="http://schemas.microsoft.com/office/drawing/2014/main" val="20002"/>
                    </a:ext>
                  </a:extLst>
                </a:gridCol>
                <a:gridCol w="914399">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12192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457209">
                <a:tc gridSpan="3">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1"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c</a:t>
                      </a:r>
                      <a:r>
                        <a:rPr kumimoji="1" lang="en-US" altLang="zh-CN" sz="2000" b="1" i="1" u="none" strike="noStrike" cap="none" normalizeH="0" baseline="-25000" dirty="0">
                          <a:ln>
                            <a:noFill/>
                          </a:ln>
                          <a:solidFill>
                            <a:schemeClr val="bg2"/>
                          </a:solidFill>
                          <a:effectLst/>
                          <a:latin typeface="Times New Roman" panose="02020603050405020304" pitchFamily="18" charset="0"/>
                          <a:ea typeface="华文细黑" panose="02010600040101010101" pitchFamily="2" charset="-122"/>
                        </a:rPr>
                        <a:t>j</a:t>
                      </a:r>
                    </a:p>
                  </a:txBody>
                  <a:tcPr marT="45722" marB="45722" anchor="ctr" anchorCtr="1" horzOverflow="overflow">
                    <a:lnL w="3810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anchor="ctr" anchorCtr="1"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华文细黑" panose="02010600040101010101" pitchFamily="2" charset="-122"/>
                        </a:rPr>
                        <a:t>0</a:t>
                      </a:r>
                    </a:p>
                  </a:txBody>
                  <a:tcPr marT="45722" marB="45722" anchor="ctr" anchorCtr="1"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row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600" b="1" i="1" u="none" strike="noStrike" cap="none" normalizeH="0" baseline="0">
                          <a:ln>
                            <a:noFill/>
                          </a:ln>
                          <a:solidFill>
                            <a:schemeClr val="bg2"/>
                          </a:solidFill>
                          <a:effectLst/>
                          <a:latin typeface="Times New Roman" panose="02020603050405020304" pitchFamily="18" charset="0"/>
                          <a:ea typeface="华文细黑" panose="02010600040101010101" pitchFamily="2" charset="-122"/>
                        </a:rPr>
                        <a:t>θ</a:t>
                      </a:r>
                      <a:r>
                        <a:rPr kumimoji="1" lang="en-US" altLang="zh-CN" sz="1600" b="1" i="1" u="none" strike="noStrike" cap="none" normalizeH="0" baseline="-30000">
                          <a:ln>
                            <a:noFill/>
                          </a:ln>
                          <a:solidFill>
                            <a:schemeClr val="bg2"/>
                          </a:solidFill>
                          <a:effectLst/>
                          <a:latin typeface="Times New Roman" panose="02020603050405020304" pitchFamily="18" charset="0"/>
                          <a:ea typeface="华文细黑" panose="02010600040101010101" pitchFamily="2" charset="-122"/>
                        </a:rPr>
                        <a:t>i</a:t>
                      </a:r>
                    </a:p>
                  </a:txBody>
                  <a:tcPr marT="45722" marB="45722" anchor="ctr"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3810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0632">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C</a:t>
                      </a:r>
                      <a:r>
                        <a:rPr kumimoji="0" lang="en-US" altLang="zh-CN" sz="1800" b="1"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B</a:t>
                      </a:r>
                      <a:endParaRPr kumimoji="0" lang="zh-CN" altLang="en-US" sz="1800" b="0" i="1"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b</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algn="ct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2</a:t>
                      </a:r>
                      <a:endParaRPr lang="zh-CN" altLang="en-US" sz="1800" dirty="0">
                        <a:solidFill>
                          <a:schemeClr val="tx1"/>
                        </a:solidFill>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3</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1" lang="en-US" altLang="zh-CN" sz="18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6</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1"/>
                  </a:ext>
                </a:extLst>
              </a:tr>
              <a:tr h="457209">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2</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defRPr/>
                      </a:pPr>
                      <a:r>
                        <a:rPr kumimoji="0" lang="en-US" altLang="zh-CN" sz="1800" b="1" i="1"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chemeClr val="tx1"/>
                          </a:solidFill>
                          <a:effectLst/>
                          <a:latin typeface="Times New Roman" panose="02020603050405020304" pitchFamily="18" charset="0"/>
                          <a:ea typeface="华文细黑" panose="02010600040101010101" pitchFamily="2" charset="-122"/>
                        </a:rPr>
                        <a:t>1</a:t>
                      </a:r>
                      <a:endPar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0.25</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5</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4</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09">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3</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2</a:t>
                      </a:r>
                      <a:endPar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1/2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09">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rPr>
                        <a:t>0</a:t>
                      </a: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0" lang="en-US" altLang="zh-CN" sz="1800" b="1" i="1" u="none" strike="noStrike" cap="none" normalizeH="0" baseline="0" dirty="0">
                          <a:ln>
                            <a:noFill/>
                          </a:ln>
                          <a:solidFill>
                            <a:srgbClr val="000000"/>
                          </a:solidFill>
                          <a:effectLst/>
                          <a:latin typeface="Times New Roman" panose="02020603050405020304" pitchFamily="18" charset="0"/>
                          <a:ea typeface="华文细黑" panose="02010600040101010101" pitchFamily="2" charset="-122"/>
                        </a:rPr>
                        <a:t>x</a:t>
                      </a:r>
                      <a:r>
                        <a:rPr kumimoji="0" lang="en-US" altLang="zh-CN" sz="1800" b="1" i="0" u="none" strike="noStrike" cap="none" normalizeH="0" baseline="-25000" dirty="0">
                          <a:ln>
                            <a:noFill/>
                          </a:ln>
                          <a:solidFill>
                            <a:srgbClr val="000000"/>
                          </a:solidFill>
                          <a:effectLst/>
                          <a:latin typeface="Times New Roman" panose="02020603050405020304" pitchFamily="18" charset="0"/>
                          <a:ea typeface="华文细黑" panose="02010600040101010101" pitchFamily="2" charset="-122"/>
                        </a:rPr>
                        <a:t>6</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bg2"/>
                          </a:solidFill>
                          <a:effectLst/>
                          <a:latin typeface="Times New Roman" panose="02020603050405020304" pitchFamily="18" charset="0"/>
                          <a:ea typeface="华文细黑" panose="02010600040101010101" pitchFamily="2" charset="-122"/>
                          <a:cs typeface="+mn-cs"/>
                        </a:rPr>
                        <a:t>-2</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kern="1200" cap="none" normalizeH="0" baseline="0" dirty="0">
                          <a:ln>
                            <a:noFill/>
                          </a:ln>
                          <a:solidFill>
                            <a:schemeClr val="tx1"/>
                          </a:solidFill>
                          <a:effectLst/>
                          <a:latin typeface="Times New Roman" panose="02020603050405020304" pitchFamily="18" charset="0"/>
                          <a:ea typeface="华文细黑" panose="02010600040101010101" pitchFamily="2" charset="-122"/>
                          <a:cs typeface="+mn-cs"/>
                        </a:rPr>
                        <a:t>-3/2</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9">
                <a:tc gridSpan="2">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defRPr/>
                      </a:pPr>
                      <a:r>
                        <a:rPr lang="el-GR" altLang="zh-CN" sz="1800" b="1" dirty="0">
                          <a:latin typeface="Times New Roman" panose="02020603050405020304" pitchFamily="18" charset="0"/>
                        </a:rPr>
                        <a:t>σ</a:t>
                      </a:r>
                      <a:r>
                        <a:rPr lang="en-US" altLang="zh-CN" sz="1800" b="1" i="1" baseline="-25000" dirty="0">
                          <a:latin typeface="Times New Roman" panose="02020603050405020304" pitchFamily="18" charset="0"/>
                        </a:rPr>
                        <a:t>j</a:t>
                      </a:r>
                      <a:r>
                        <a:rPr lang="en-US" altLang="zh-CN" sz="1800" b="1" dirty="0">
                          <a:latin typeface="Times New Roman" panose="02020603050405020304" pitchFamily="18" charset="0"/>
                        </a:rPr>
                        <a:t>=</a:t>
                      </a:r>
                      <a:r>
                        <a:rPr lang="en-US" altLang="zh-CN" sz="1800" b="1" dirty="0" err="1">
                          <a:latin typeface="Times New Roman" panose="02020603050405020304" pitchFamily="18" charset="0"/>
                        </a:rPr>
                        <a:t>c</a:t>
                      </a:r>
                      <a:r>
                        <a:rPr lang="en-US" altLang="zh-CN" sz="1800" b="1" i="1" baseline="-25000" dirty="0" err="1">
                          <a:latin typeface="Times New Roman" panose="02020603050405020304" pitchFamily="18" charset="0"/>
                        </a:rPr>
                        <a:t>j</a:t>
                      </a:r>
                      <a:r>
                        <a:rPr lang="en-US" altLang="zh-CN" sz="1800" b="1" dirty="0" err="1">
                          <a:latin typeface="Times New Roman" panose="02020603050405020304" pitchFamily="18" charset="0"/>
                        </a:rPr>
                        <a:t>-z</a:t>
                      </a:r>
                      <a:r>
                        <a:rPr lang="en-US" altLang="zh-CN" sz="1800" b="1" i="1" baseline="-25000" dirty="0" err="1">
                          <a:latin typeface="Times New Roman" panose="02020603050405020304" pitchFamily="18" charset="0"/>
                        </a:rPr>
                        <a:t>j</a:t>
                      </a:r>
                      <a:endParaRPr lang="en-US" altLang="zh-CN" sz="1800" b="1" i="1" baseline="-25000" dirty="0">
                        <a:latin typeface="Times New Roman" panose="02020603050405020304" pitchFamily="18" charset="0"/>
                      </a:endParaRPr>
                    </a:p>
                  </a:txBody>
                  <a:tcPr marT="45722" marB="45722" horzOverflow="overflow">
                    <a:lnL w="3810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-1.5</a:t>
                      </a:r>
                    </a:p>
                  </a:txBody>
                  <a:tcPr marT="45722" marB="45722" horzOverflow="overflow">
                    <a:lnL w="6350" cap="flat" cmpd="sng" algn="ctr">
                      <a:solidFill>
                        <a:srgbClr val="3333CC"/>
                      </a:solidFill>
                      <a:prstDash val="solid"/>
                      <a:round/>
                      <a:headEnd type="none" w="med" len="med"/>
                      <a:tailEnd type="none" w="med" len="med"/>
                    </a:lnL>
                    <a:lnR w="635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-1/8</a:t>
                      </a:r>
                    </a:p>
                  </a:txBody>
                  <a:tcPr marT="45722" marB="45722" horzOverflow="overflow">
                    <a:lnL w="6350" cap="flat" cmpd="sng" algn="ctr">
                      <a:solidFill>
                        <a:srgbClr val="3333CC"/>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15000"/>
                        </a:spcBef>
                        <a:spcAft>
                          <a:spcPct val="0"/>
                        </a:spcAft>
                        <a:buClrTx/>
                        <a:buSzPct val="85000"/>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华文细黑" panose="02010600040101010101" pitchFamily="2" charset="-122"/>
                        </a:rPr>
                        <a:t>0</a:t>
                      </a:r>
                    </a:p>
                  </a:txBody>
                  <a:tcPr marT="45722" marB="45722"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tc>
                  <a:txBody>
                    <a:bodyPr/>
                    <a:lstStyle>
                      <a:lvl1pPr algn="l">
                        <a:lnSpc>
                          <a:spcPct val="120000"/>
                        </a:lnSpc>
                        <a:spcBef>
                          <a:spcPct val="15000"/>
                        </a:spcBef>
                        <a:buSzPct val="85000"/>
                        <a:defRPr kumimoji="1" sz="2000" b="1">
                          <a:solidFill>
                            <a:schemeClr val="bg2"/>
                          </a:solidFill>
                          <a:latin typeface="Times New Roman" panose="02020603050405020304" pitchFamily="18" charset="0"/>
                          <a:ea typeface="华文细黑" panose="02010600040101010101" pitchFamily="2" charset="-122"/>
                        </a:defRPr>
                      </a:lvl1pPr>
                      <a:lvl2pPr indent="87313" algn="l">
                        <a:spcBef>
                          <a:spcPct val="20000"/>
                        </a:spcBef>
                        <a:buClr>
                          <a:schemeClr val="bg2"/>
                        </a:buClr>
                        <a:buSzPct val="70000"/>
                        <a:buFont typeface="Wingdings" panose="05000000000000000000" pitchFamily="2" charset="2"/>
                        <a:defRPr kumimoji="1" sz="22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2pPr>
                      <a:lvl3pPr indent="95250" algn="l">
                        <a:spcBef>
                          <a:spcPct val="20000"/>
                        </a:spcBef>
                        <a:buSzPct val="70000"/>
                        <a:buFont typeface="Wingdings" panose="05000000000000000000" pitchFamily="2" charset="2"/>
                        <a:defRPr kumimoji="1" sz="2000" b="1">
                          <a:solidFill>
                            <a:srgbClr val="003300"/>
                          </a:solidFill>
                          <a:effectLst>
                            <a:outerShdw blurRad="38100" dist="38100" dir="2700000" algn="tl">
                              <a:srgbClr val="000000"/>
                            </a:outerShdw>
                          </a:effectLst>
                          <a:latin typeface="Times New Roman" panose="02020603050405020304" pitchFamily="18" charset="0"/>
                          <a:ea typeface="华文细黑" panose="02010600040101010101" pitchFamily="2" charset="-122"/>
                        </a:defRPr>
                      </a:lvl3pPr>
                      <a:lvl4pPr indent="46038" algn="l">
                        <a:spcBef>
                          <a:spcPct val="20000"/>
                        </a:spcBef>
                        <a:buSzPct val="70000"/>
                        <a:buFont typeface="Wingdings" panose="05000000000000000000" pitchFamily="2" charset="2"/>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15000"/>
                        </a:spcBef>
                        <a:spcAft>
                          <a:spcPct val="0"/>
                        </a:spcAft>
                        <a:buClrTx/>
                        <a:buSzPct val="85000"/>
                        <a:buFontTx/>
                        <a:buNone/>
                        <a:tabLst/>
                      </a:pPr>
                      <a:endParaRPr kumimoji="1" lang="zh-CN" altLang="zh-CN" sz="2000" b="1" i="0" u="none" strike="noStrike" cap="none" normalizeH="0" baseline="0" dirty="0">
                        <a:ln>
                          <a:noFill/>
                        </a:ln>
                        <a:solidFill>
                          <a:schemeClr val="bg2"/>
                        </a:solidFill>
                        <a:effectLst/>
                        <a:latin typeface="Times New Roman" panose="02020603050405020304" pitchFamily="18" charset="0"/>
                        <a:ea typeface="华文细黑" panose="02010600040101010101" pitchFamily="2" charset="-122"/>
                      </a:endParaRPr>
                    </a:p>
                  </a:txBody>
                  <a:tcPr marT="45722" marB="45722" horzOverflow="overflow">
                    <a:lnL w="28575" cap="flat" cmpd="sng" algn="ctr">
                      <a:solidFill>
                        <a:schemeClr val="tx1"/>
                      </a:solidFill>
                      <a:prstDash val="solid"/>
                      <a:round/>
                      <a:headEnd type="none" w="med" len="med"/>
                      <a:tailEnd type="none" w="med" len="med"/>
                    </a:lnL>
                    <a:lnR w="38100" cap="flat" cmpd="sng" algn="ctr">
                      <a:solidFill>
                        <a:srgbClr val="3333CC"/>
                      </a:solidFill>
                      <a:prstDash val="solid"/>
                      <a:round/>
                      <a:headEnd type="none" w="med" len="med"/>
                      <a:tailEnd type="none" w="med" len="med"/>
                    </a:lnR>
                    <a:lnT w="6350" cap="flat" cmpd="sng" algn="ctr">
                      <a:solidFill>
                        <a:srgbClr val="3333CC"/>
                      </a:solidFill>
                      <a:prstDash val="solid"/>
                      <a:round/>
                      <a:headEnd type="none" w="med" len="med"/>
                      <a:tailEnd type="none" w="med" len="med"/>
                    </a:lnT>
                    <a:lnB w="6350" cap="flat" cmpd="sng" algn="ctr">
                      <a:solidFill>
                        <a:srgbClr val="3333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2117"/>
                                        </p:tgtEl>
                                        <p:attrNameLst>
                                          <p:attrName>style.visibility</p:attrName>
                                        </p:attrNameLst>
                                      </p:cBhvr>
                                      <p:to>
                                        <p:strVal val="visible"/>
                                      </p:to>
                                    </p:set>
                                    <p:anim calcmode="lin" valueType="num">
                                      <p:cBhvr additive="base">
                                        <p:cTn id="12" dur="500" fill="hold"/>
                                        <p:tgtEl>
                                          <p:spTgt spid="172117"/>
                                        </p:tgtEl>
                                        <p:attrNameLst>
                                          <p:attrName>ppt_x</p:attrName>
                                        </p:attrNameLst>
                                      </p:cBhvr>
                                      <p:tavLst>
                                        <p:tav tm="0">
                                          <p:val>
                                            <p:strVal val="0-#ppt_w/2"/>
                                          </p:val>
                                        </p:tav>
                                        <p:tav tm="100000">
                                          <p:val>
                                            <p:strVal val="#ppt_x"/>
                                          </p:val>
                                        </p:tav>
                                      </p:tavLst>
                                    </p:anim>
                                    <p:anim calcmode="lin" valueType="num">
                                      <p:cBhvr additive="base">
                                        <p:cTn id="13" dur="500" fill="hold"/>
                                        <p:tgtEl>
                                          <p:spTgt spid="172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11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标题 1">
            <a:extLst>
              <a:ext uri="{FF2B5EF4-FFF2-40B4-BE49-F238E27FC236}">
                <a16:creationId xmlns:a16="http://schemas.microsoft.com/office/drawing/2014/main" id="{34FFA989-7364-4BD4-AA92-02860041E1C4}"/>
              </a:ext>
            </a:extLst>
          </p:cNvPr>
          <p:cNvSpPr>
            <a:spLocks noGrp="1" noChangeArrowheads="1"/>
          </p:cNvSpPr>
          <p:nvPr>
            <p:ph type="title"/>
          </p:nvPr>
        </p:nvSpPr>
        <p:spPr>
          <a:xfrm>
            <a:off x="1981200" y="277814"/>
            <a:ext cx="7010400" cy="788987"/>
          </a:xfrm>
        </p:spPr>
        <p:txBody>
          <a:bodyPr/>
          <a:lstStyle/>
          <a:p>
            <a:r>
              <a:rPr lang="zh-CN" altLang="en-US"/>
              <a:t>课后练习</a:t>
            </a:r>
            <a:r>
              <a:rPr lang="zh-CN" altLang="zh-CN"/>
              <a:t>题（运筹学第</a:t>
            </a:r>
            <a:r>
              <a:rPr lang="en-US" altLang="zh-CN"/>
              <a:t>4</a:t>
            </a:r>
            <a:r>
              <a:rPr lang="zh-CN" altLang="zh-CN"/>
              <a:t>版）</a:t>
            </a:r>
            <a:endParaRPr lang="zh-CN" altLang="en-US"/>
          </a:p>
        </p:txBody>
      </p:sp>
      <p:sp>
        <p:nvSpPr>
          <p:cNvPr id="124931" name="AutoShape 1" descr="C:\Users\john\AppData\Roaming\Tencent\Users\22892665\QQ\WinTemp\RichOle\~J5Q7I]{QM{GQR[]T5)7K.jpg">
            <a:extLst>
              <a:ext uri="{FF2B5EF4-FFF2-40B4-BE49-F238E27FC236}">
                <a16:creationId xmlns:a16="http://schemas.microsoft.com/office/drawing/2014/main" id="{C83C7754-E43C-4B14-B166-2344A6532B6E}"/>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4932" name="AutoShape 2" descr="C:\Users\john\AppData\Roaming\Tencent\Users\22892665\QQ\WinTemp\RichOle\~J5Q7I]{QM{GQR[]T5)7K.jpg">
            <a:extLst>
              <a:ext uri="{FF2B5EF4-FFF2-40B4-BE49-F238E27FC236}">
                <a16:creationId xmlns:a16="http://schemas.microsoft.com/office/drawing/2014/main" id="{EBC1A662-69C3-42B5-982F-BF31A81FCC6E}"/>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4933" name="AutoShape 3" descr="C:\Users\john\AppData\Roaming\Tencent\Users\22892665\QQ\WinTemp\RichOle\~J5Q7I]{QM{GQR[]T5)7K.jpg">
            <a:extLst>
              <a:ext uri="{FF2B5EF4-FFF2-40B4-BE49-F238E27FC236}">
                <a16:creationId xmlns:a16="http://schemas.microsoft.com/office/drawing/2014/main" id="{7D1B4A75-79F7-49CF-9E05-C2FBB06C3E96}"/>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9" name="Rectangle 3">
            <a:extLst>
              <a:ext uri="{FF2B5EF4-FFF2-40B4-BE49-F238E27FC236}">
                <a16:creationId xmlns:a16="http://schemas.microsoft.com/office/drawing/2014/main" id="{44BBBB05-278F-42A6-9EA3-B82FDF0CA893}"/>
              </a:ext>
            </a:extLst>
          </p:cNvPr>
          <p:cNvSpPr txBox="1">
            <a:spLocks noChangeArrowheads="1"/>
          </p:cNvSpPr>
          <p:nvPr/>
        </p:nvSpPr>
        <p:spPr bwMode="auto">
          <a:xfrm>
            <a:off x="1981200" y="1219200"/>
            <a:ext cx="8229600" cy="5029200"/>
          </a:xfrm>
          <a:prstGeom prst="rect">
            <a:avLst/>
          </a:prstGeom>
          <a:noFill/>
          <a:ln w="9525">
            <a:noFill/>
            <a:miter lim="800000"/>
            <a:headEnd/>
            <a:tailEnd/>
          </a:ln>
        </p:spPr>
        <p:txBody>
          <a:bodyPr/>
          <a:lstStyle/>
          <a:p>
            <a:pPr marL="342900" indent="-342900" fontAlgn="base">
              <a:spcBef>
                <a:spcPct val="20000"/>
              </a:spcBef>
              <a:spcAft>
                <a:spcPct val="0"/>
              </a:spcAft>
              <a:buClr>
                <a:srgbClr val="CC9900"/>
              </a:buClr>
              <a:buSzPct val="65000"/>
              <a:buFont typeface="Wingdings" pitchFamily="2" charset="2"/>
              <a:buChar char="n"/>
              <a:defRPr/>
            </a:pPr>
            <a:r>
              <a:rPr lang="zh-CN" altLang="zh-CN" sz="2800" dirty="0">
                <a:solidFill>
                  <a:srgbClr val="000000"/>
                </a:solidFill>
                <a:latin typeface="Calibri" pitchFamily="34" charset="0"/>
                <a:ea typeface="宋体" panose="02010600030101010101" pitchFamily="2" charset="-122"/>
                <a:cs typeface="Times New Roman" pitchFamily="18" charset="0"/>
              </a:rPr>
              <a:t>第</a:t>
            </a:r>
            <a:r>
              <a:rPr lang="en-US" altLang="zh-CN" sz="2800" dirty="0">
                <a:solidFill>
                  <a:srgbClr val="000000"/>
                </a:solidFill>
                <a:latin typeface="Calibri" pitchFamily="34" charset="0"/>
                <a:ea typeface="宋体" panose="02010600030101010101" pitchFamily="2" charset="-122"/>
                <a:cs typeface="Times New Roman" pitchFamily="18" charset="0"/>
              </a:rPr>
              <a:t>3</a:t>
            </a:r>
            <a:r>
              <a:rPr lang="zh-CN" altLang="en-US" sz="2800" dirty="0">
                <a:solidFill>
                  <a:srgbClr val="000000"/>
                </a:solidFill>
                <a:latin typeface="Calibri" pitchFamily="34" charset="0"/>
                <a:ea typeface="宋体" panose="02010600030101010101" pitchFamily="2" charset="-122"/>
                <a:cs typeface="Times New Roman" pitchFamily="18" charset="0"/>
              </a:rPr>
              <a:t>章 线性规划与单纯形法</a:t>
            </a:r>
            <a:endParaRPr lang="zh-CN" altLang="en-US" sz="800" dirty="0">
              <a:solidFill>
                <a:srgbClr val="000000"/>
              </a:solidFill>
              <a:latin typeface="Arial" charset="0"/>
              <a:ea typeface="宋体" panose="02010600030101010101" pitchFamily="2" charset="-122"/>
            </a:endParaRPr>
          </a:p>
          <a:p>
            <a:pPr marL="669925" lvl="1" indent="-325438" fontAlgn="base">
              <a:spcBef>
                <a:spcPct val="20000"/>
              </a:spcBef>
              <a:spcAft>
                <a:spcPct val="0"/>
              </a:spcAft>
              <a:buClr>
                <a:srgbClr val="3B812F"/>
              </a:buClr>
              <a:buSzPct val="60000"/>
              <a:buFont typeface="Wingdings" pitchFamily="2" charset="2"/>
              <a:buChar char="q"/>
              <a:defRPr/>
            </a:pPr>
            <a:r>
              <a:rPr lang="en-US" altLang="zh-CN" sz="2400" kern="0" dirty="0">
                <a:solidFill>
                  <a:srgbClr val="FF0000"/>
                </a:solidFill>
                <a:latin typeface="华文细黑" pitchFamily="2" charset="-122"/>
                <a:ea typeface="宋体" panose="02010600030101010101" pitchFamily="2" charset="-122"/>
              </a:rPr>
              <a:t>3.8</a:t>
            </a:r>
            <a:endParaRPr lang="zh-CN" altLang="zh-CN" sz="2400" kern="0" dirty="0">
              <a:solidFill>
                <a:srgbClr val="FF0000"/>
              </a:solidFill>
              <a:latin typeface="华文细黑" pitchFamily="2" charset="-122"/>
              <a:ea typeface="宋体" panose="02010600030101010101" pitchFamily="2" charset="-122"/>
            </a:endParaRPr>
          </a:p>
          <a:p>
            <a:pPr marL="669925" lvl="1" indent="-325438" fontAlgn="base">
              <a:spcBef>
                <a:spcPct val="20000"/>
              </a:spcBef>
              <a:spcAft>
                <a:spcPct val="0"/>
              </a:spcAft>
              <a:buClr>
                <a:srgbClr val="3B812F"/>
              </a:buClr>
              <a:buSzPct val="60000"/>
              <a:buFont typeface="Wingdings" pitchFamily="2" charset="2"/>
              <a:buChar char="q"/>
              <a:defRPr/>
            </a:pPr>
            <a:r>
              <a:rPr lang="en-US" altLang="zh-CN" sz="2400" kern="0" dirty="0">
                <a:solidFill>
                  <a:srgbClr val="FF0000"/>
                </a:solidFill>
                <a:latin typeface="华文细黑" pitchFamily="2" charset="-122"/>
                <a:ea typeface="宋体" panose="02010600030101010101" pitchFamily="2" charset="-122"/>
              </a:rPr>
              <a:t>3.9 </a:t>
            </a:r>
            <a:r>
              <a:rPr lang="zh-CN" altLang="en-US" sz="2400" kern="0" dirty="0">
                <a:solidFill>
                  <a:srgbClr val="FF0000"/>
                </a:solidFill>
                <a:latin typeface="华文细黑" pitchFamily="2" charset="-122"/>
                <a:ea typeface="宋体" panose="02010600030101010101" pitchFamily="2" charset="-122"/>
              </a:rPr>
              <a:t>（</a:t>
            </a:r>
            <a:r>
              <a:rPr lang="en-US" altLang="zh-CN" sz="2400" kern="0" dirty="0">
                <a:solidFill>
                  <a:srgbClr val="FF0000"/>
                </a:solidFill>
                <a:latin typeface="华文细黑" pitchFamily="2" charset="-122"/>
                <a:ea typeface="宋体" panose="02010600030101010101" pitchFamily="2" charset="-122"/>
              </a:rPr>
              <a:t>1</a:t>
            </a:r>
            <a:r>
              <a:rPr lang="zh-CN" altLang="en-US" sz="2400" kern="0" dirty="0">
                <a:solidFill>
                  <a:srgbClr val="FF0000"/>
                </a:solidFill>
                <a:latin typeface="华文细黑" pitchFamily="2" charset="-122"/>
                <a:ea typeface="宋体" panose="02010600030101010101" pitchFamily="2" charset="-122"/>
              </a:rPr>
              <a:t>）</a:t>
            </a:r>
            <a:endParaRPr lang="en-US" altLang="zh-CN" sz="2400" kern="0" dirty="0">
              <a:solidFill>
                <a:srgbClr val="FF0000"/>
              </a:solidFill>
              <a:latin typeface="华文细黑" pitchFamily="2" charset="-122"/>
              <a:ea typeface="宋体" panose="02010600030101010101" pitchFamily="2" charset="-122"/>
            </a:endParaRPr>
          </a:p>
          <a:p>
            <a:pPr marL="669925" lvl="1" indent="-325438" fontAlgn="base">
              <a:spcBef>
                <a:spcPct val="20000"/>
              </a:spcBef>
              <a:spcAft>
                <a:spcPct val="0"/>
              </a:spcAft>
              <a:buClr>
                <a:srgbClr val="3B812F"/>
              </a:buClr>
              <a:buSzPct val="60000"/>
              <a:buFont typeface="Wingdings" pitchFamily="2" charset="2"/>
              <a:buChar char="q"/>
              <a:defRPr/>
            </a:pPr>
            <a:r>
              <a:rPr lang="en-US" altLang="zh-CN" sz="2400" kern="0" dirty="0">
                <a:solidFill>
                  <a:srgbClr val="FF0000"/>
                </a:solidFill>
                <a:latin typeface="华文细黑" pitchFamily="2" charset="-122"/>
                <a:ea typeface="宋体" panose="02010600030101010101" pitchFamily="2" charset="-122"/>
              </a:rPr>
              <a:t>3.10</a:t>
            </a:r>
            <a:endParaRPr lang="zh-CN" altLang="zh-CN" sz="2400" kern="0" dirty="0">
              <a:solidFill>
                <a:srgbClr val="FF0000"/>
              </a:solidFill>
              <a:latin typeface="华文细黑" pitchFamily="2" charset="-122"/>
              <a:ea typeface="宋体" panose="02010600030101010101" pitchFamily="2" charset="-122"/>
            </a:endParaRPr>
          </a:p>
          <a:p>
            <a:pPr marL="669925" lvl="1" indent="-325438" fontAlgn="base">
              <a:spcBef>
                <a:spcPct val="20000"/>
              </a:spcBef>
              <a:spcAft>
                <a:spcPct val="0"/>
              </a:spcAft>
              <a:buClr>
                <a:srgbClr val="3B812F"/>
              </a:buClr>
              <a:buSzPct val="60000"/>
              <a:defRPr/>
            </a:pPr>
            <a:endParaRPr lang="zh-CN" altLang="en-US" sz="2400" dirty="0">
              <a:solidFill>
                <a:srgbClr val="FF0000"/>
              </a:solidFill>
              <a:latin typeface="Calibri" pitchFamily="34" charset="0"/>
              <a:ea typeface="宋体" panose="02010600030101010101" pitchFamily="2" charset="-122"/>
              <a:cs typeface="Times New Roman" pitchFamily="18" charset="0"/>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dirty="0">
              <a:solidFill>
                <a:srgbClr val="000000"/>
              </a:solidFill>
              <a:latin typeface="Calibri" pitchFamily="34" charset="0"/>
              <a:ea typeface="宋体" panose="02010600030101010101" pitchFamily="2" charset="-122"/>
              <a:cs typeface="Times New Roman" pitchFamily="18" charset="0"/>
            </a:endParaRPr>
          </a:p>
          <a:p>
            <a:pPr marL="669925" lvl="1" indent="-325438" fontAlgn="base">
              <a:spcBef>
                <a:spcPct val="20000"/>
              </a:spcBef>
              <a:spcAft>
                <a:spcPct val="0"/>
              </a:spcAft>
              <a:buClr>
                <a:srgbClr val="3B812F"/>
              </a:buClr>
              <a:buSzPct val="60000"/>
              <a:buFont typeface="Wingdings" pitchFamily="2" charset="2"/>
              <a:buChar char="q"/>
              <a:defRPr/>
            </a:pPr>
            <a:endParaRPr lang="zh-CN" altLang="en-US"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defRPr/>
            </a:pPr>
            <a:endParaRPr lang="en-US" altLang="zh-CN" sz="2200" kern="0" dirty="0">
              <a:solidFill>
                <a:srgbClr val="000000"/>
              </a:solidFill>
              <a:latin typeface="Arial"/>
              <a:ea typeface="宋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标题 1">
            <a:extLst>
              <a:ext uri="{FF2B5EF4-FFF2-40B4-BE49-F238E27FC236}">
                <a16:creationId xmlns:a16="http://schemas.microsoft.com/office/drawing/2014/main" id="{DE52AD4A-F4E4-48B7-A4B9-A6DED7976090}"/>
              </a:ext>
            </a:extLst>
          </p:cNvPr>
          <p:cNvSpPr>
            <a:spLocks noGrp="1" noChangeArrowheads="1"/>
          </p:cNvSpPr>
          <p:nvPr>
            <p:ph type="title"/>
          </p:nvPr>
        </p:nvSpPr>
        <p:spPr>
          <a:xfrm>
            <a:off x="1981200" y="277814"/>
            <a:ext cx="7010400" cy="788987"/>
          </a:xfrm>
        </p:spPr>
        <p:txBody>
          <a:bodyPr/>
          <a:lstStyle/>
          <a:p>
            <a:r>
              <a:rPr lang="zh-CN" altLang="en-US"/>
              <a:t>实践内容（</a:t>
            </a:r>
            <a:r>
              <a:rPr lang="en-US" altLang="zh-CN"/>
              <a:t>P77-84</a:t>
            </a:r>
            <a:r>
              <a:rPr lang="zh-CN" altLang="en-US"/>
              <a:t>）</a:t>
            </a:r>
          </a:p>
        </p:txBody>
      </p:sp>
      <p:sp>
        <p:nvSpPr>
          <p:cNvPr id="125955" name="AutoShape 1" descr="C:\Users\john\AppData\Roaming\Tencent\Users\22892665\QQ\WinTemp\RichOle\~J5Q7I]{QM{GQR[]T5)7K.jpg">
            <a:extLst>
              <a:ext uri="{FF2B5EF4-FFF2-40B4-BE49-F238E27FC236}">
                <a16:creationId xmlns:a16="http://schemas.microsoft.com/office/drawing/2014/main" id="{C5AF549B-3DD7-4286-A73C-087139DD27BB}"/>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5956" name="AutoShape 2" descr="C:\Users\john\AppData\Roaming\Tencent\Users\22892665\QQ\WinTemp\RichOle\~J5Q7I]{QM{GQR[]T5)7K.jpg">
            <a:extLst>
              <a:ext uri="{FF2B5EF4-FFF2-40B4-BE49-F238E27FC236}">
                <a16:creationId xmlns:a16="http://schemas.microsoft.com/office/drawing/2014/main" id="{D1B655F6-4392-4699-8FDD-E7784D7A3B2C}"/>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5957" name="AutoShape 3" descr="C:\Users\john\AppData\Roaming\Tencent\Users\22892665\QQ\WinTemp\RichOle\~J5Q7I]{QM{GQR[]T5)7K.jpg">
            <a:extLst>
              <a:ext uri="{FF2B5EF4-FFF2-40B4-BE49-F238E27FC236}">
                <a16:creationId xmlns:a16="http://schemas.microsoft.com/office/drawing/2014/main" id="{4E26CD4C-0DC8-49A4-828F-A6BD266E6FDA}"/>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9" name="Rectangle 3">
            <a:extLst>
              <a:ext uri="{FF2B5EF4-FFF2-40B4-BE49-F238E27FC236}">
                <a16:creationId xmlns:a16="http://schemas.microsoft.com/office/drawing/2014/main" id="{AB864B55-93A4-4168-9B7F-35A7AB8FD4B3}"/>
              </a:ext>
            </a:extLst>
          </p:cNvPr>
          <p:cNvSpPr txBox="1">
            <a:spLocks noChangeArrowheads="1"/>
          </p:cNvSpPr>
          <p:nvPr/>
        </p:nvSpPr>
        <p:spPr bwMode="auto">
          <a:xfrm>
            <a:off x="1981200" y="1219200"/>
            <a:ext cx="8229600" cy="5029200"/>
          </a:xfrm>
          <a:prstGeom prst="rect">
            <a:avLst/>
          </a:prstGeom>
          <a:noFill/>
          <a:ln w="9525">
            <a:noFill/>
            <a:miter lim="800000"/>
            <a:headEnd/>
            <a:tailEnd/>
          </a:ln>
        </p:spPr>
        <p:txBody>
          <a:bodyPr/>
          <a:lstStyle/>
          <a:p>
            <a:pPr marL="342900" indent="-342900" fontAlgn="base">
              <a:spcBef>
                <a:spcPct val="20000"/>
              </a:spcBef>
              <a:spcAft>
                <a:spcPct val="0"/>
              </a:spcAft>
              <a:buClr>
                <a:srgbClr val="CC9900"/>
              </a:buClr>
              <a:buSzPct val="65000"/>
              <a:buFont typeface="Wingdings" pitchFamily="2" charset="2"/>
              <a:buChar char="n"/>
              <a:defRPr/>
            </a:pPr>
            <a:r>
              <a:rPr lang="zh-CN" altLang="zh-CN" sz="2800" dirty="0">
                <a:solidFill>
                  <a:srgbClr val="000000"/>
                </a:solidFill>
                <a:latin typeface="Calibri" pitchFamily="34" charset="0"/>
                <a:ea typeface="宋体" panose="02010600030101010101" pitchFamily="2" charset="-122"/>
                <a:cs typeface="Times New Roman" pitchFamily="18" charset="0"/>
              </a:rPr>
              <a:t>第</a:t>
            </a:r>
            <a:r>
              <a:rPr lang="en-US" altLang="zh-CN" sz="2800" dirty="0">
                <a:solidFill>
                  <a:srgbClr val="000000"/>
                </a:solidFill>
                <a:latin typeface="Calibri" pitchFamily="34" charset="0"/>
                <a:ea typeface="宋体" panose="02010600030101010101" pitchFamily="2" charset="-122"/>
                <a:cs typeface="Times New Roman" pitchFamily="18" charset="0"/>
              </a:rPr>
              <a:t>3</a:t>
            </a:r>
            <a:r>
              <a:rPr lang="zh-CN" altLang="zh-CN" sz="2800" dirty="0">
                <a:solidFill>
                  <a:srgbClr val="000000"/>
                </a:solidFill>
                <a:latin typeface="Calibri" pitchFamily="34" charset="0"/>
                <a:ea typeface="宋体" panose="02010600030101010101" pitchFamily="2" charset="-122"/>
                <a:cs typeface="Times New Roman" pitchFamily="18" charset="0"/>
              </a:rPr>
              <a:t>章 对偶单纯形法</a:t>
            </a:r>
            <a:endParaRPr lang="zh-CN" altLang="en-US" sz="2800" dirty="0">
              <a:solidFill>
                <a:srgbClr val="000000"/>
              </a:solidFill>
              <a:latin typeface="Calibri" pitchFamily="34" charset="0"/>
              <a:ea typeface="宋体" panose="02010600030101010101" pitchFamily="2" charset="-122"/>
              <a:cs typeface="Times New Roman" pitchFamily="18" charset="0"/>
            </a:endParaRPr>
          </a:p>
          <a:p>
            <a:pPr fontAlgn="base">
              <a:spcBef>
                <a:spcPct val="0"/>
              </a:spcBef>
              <a:spcAft>
                <a:spcPct val="0"/>
              </a:spcAft>
              <a:defRPr/>
            </a:pPr>
            <a:endParaRPr lang="en-US" altLang="zh-CN" dirty="0">
              <a:solidFill>
                <a:srgbClr val="000000"/>
              </a:solidFill>
              <a:latin typeface="Arial" charset="0"/>
              <a:ea typeface="宋体" panose="02010600030101010101" pitchFamily="2" charset="-122"/>
            </a:endParaRP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1</a:t>
            </a:r>
            <a:r>
              <a:rPr lang="zh-CN" altLang="zh-CN" dirty="0">
                <a:solidFill>
                  <a:srgbClr val="000000"/>
                </a:solidFill>
                <a:latin typeface="Arial" charset="0"/>
                <a:ea typeface="宋体" panose="02010600030101010101" pitchFamily="2" charset="-122"/>
              </a:rPr>
              <a:t>、灵敏度分析</a:t>
            </a:r>
            <a:r>
              <a:rPr lang="en-US" altLang="zh-CN" dirty="0">
                <a:solidFill>
                  <a:srgbClr val="000000"/>
                </a:solidFill>
                <a:latin typeface="Arial" charset="0"/>
                <a:ea typeface="宋体" panose="02010600030101010101" pitchFamily="2" charset="-122"/>
              </a:rPr>
              <a:t>---</a:t>
            </a:r>
            <a:r>
              <a:rPr lang="zh-CN" altLang="zh-CN" dirty="0">
                <a:solidFill>
                  <a:srgbClr val="000000"/>
                </a:solidFill>
                <a:latin typeface="Arial" charset="0"/>
                <a:ea typeface="宋体" panose="02010600030101010101" pitchFamily="2" charset="-122"/>
              </a:rPr>
              <a:t>资源数量变化</a:t>
            </a: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      </a:t>
            </a:r>
            <a:endParaRPr lang="zh-CN" altLang="zh-CN" dirty="0">
              <a:solidFill>
                <a:srgbClr val="000000"/>
              </a:solidFill>
              <a:latin typeface="Arial" charset="0"/>
              <a:ea typeface="宋体" panose="02010600030101010101" pitchFamily="2" charset="-122"/>
            </a:endParaRP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2</a:t>
            </a:r>
            <a:r>
              <a:rPr lang="zh-CN" altLang="zh-CN" dirty="0">
                <a:solidFill>
                  <a:srgbClr val="000000"/>
                </a:solidFill>
                <a:latin typeface="Arial" charset="0"/>
                <a:ea typeface="宋体" panose="02010600030101010101" pitchFamily="2" charset="-122"/>
              </a:rPr>
              <a:t>、灵敏度分析</a:t>
            </a:r>
            <a:r>
              <a:rPr lang="en-US" altLang="zh-CN" dirty="0">
                <a:solidFill>
                  <a:srgbClr val="000000"/>
                </a:solidFill>
                <a:latin typeface="Arial" charset="0"/>
                <a:ea typeface="宋体" panose="02010600030101010101" pitchFamily="2" charset="-122"/>
              </a:rPr>
              <a:t>---</a:t>
            </a:r>
            <a:r>
              <a:rPr lang="zh-CN" altLang="zh-CN" dirty="0">
                <a:solidFill>
                  <a:srgbClr val="000000"/>
                </a:solidFill>
                <a:latin typeface="Arial" charset="0"/>
                <a:ea typeface="宋体" panose="02010600030101010101" pitchFamily="2" charset="-122"/>
              </a:rPr>
              <a:t>目标函数价值系数变化</a:t>
            </a: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 </a:t>
            </a:r>
            <a:endParaRPr lang="zh-CN" altLang="zh-CN" sz="1200" dirty="0">
              <a:solidFill>
                <a:srgbClr val="000000"/>
              </a:solidFill>
              <a:latin typeface="Arial" charset="0"/>
              <a:ea typeface="宋体" panose="02010600030101010101" pitchFamily="2" charset="-122"/>
            </a:endParaRP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3</a:t>
            </a:r>
            <a:r>
              <a:rPr lang="zh-CN" altLang="zh-CN" dirty="0">
                <a:solidFill>
                  <a:srgbClr val="000000"/>
                </a:solidFill>
                <a:latin typeface="Arial" charset="0"/>
                <a:ea typeface="宋体" panose="02010600030101010101" pitchFamily="2" charset="-122"/>
              </a:rPr>
              <a:t>、灵敏度分析</a:t>
            </a:r>
            <a:r>
              <a:rPr lang="en-US" altLang="zh-CN" dirty="0">
                <a:solidFill>
                  <a:srgbClr val="000000"/>
                </a:solidFill>
                <a:latin typeface="Arial" charset="0"/>
                <a:ea typeface="宋体" panose="02010600030101010101" pitchFamily="2" charset="-122"/>
              </a:rPr>
              <a:t>--</a:t>
            </a:r>
            <a:r>
              <a:rPr lang="zh-CN" altLang="zh-CN" dirty="0">
                <a:solidFill>
                  <a:srgbClr val="000000"/>
                </a:solidFill>
                <a:latin typeface="Arial" charset="0"/>
                <a:ea typeface="宋体" panose="02010600030101010101" pitchFamily="2" charset="-122"/>
              </a:rPr>
              <a:t>技术系数变化</a:t>
            </a: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 </a:t>
            </a:r>
            <a:endParaRPr lang="zh-CN" altLang="zh-CN" dirty="0">
              <a:solidFill>
                <a:srgbClr val="000000"/>
              </a:solidFill>
              <a:latin typeface="Arial" charset="0"/>
              <a:ea typeface="宋体" panose="02010600030101010101" pitchFamily="2" charset="-122"/>
            </a:endParaRP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     </a:t>
            </a:r>
          </a:p>
          <a:p>
            <a:pPr fontAlgn="base">
              <a:spcBef>
                <a:spcPct val="0"/>
              </a:spcBef>
              <a:spcAft>
                <a:spcPct val="0"/>
              </a:spcAft>
              <a:defRPr/>
            </a:pPr>
            <a:r>
              <a:rPr lang="en-US" altLang="zh-CN" dirty="0">
                <a:solidFill>
                  <a:srgbClr val="000000"/>
                </a:solidFill>
                <a:latin typeface="Arial" charset="0"/>
                <a:ea typeface="宋体" panose="02010600030101010101" pitchFamily="2" charset="-122"/>
              </a:rPr>
              <a:t>    </a:t>
            </a:r>
            <a:r>
              <a:rPr lang="en-US" altLang="zh-CN" sz="2400" dirty="0">
                <a:solidFill>
                  <a:srgbClr val="FF0000"/>
                </a:solidFill>
                <a:latin typeface="Arial" charset="0"/>
                <a:ea typeface="宋体" panose="02010600030101010101" pitchFamily="2" charset="-122"/>
              </a:rPr>
              <a:t>LINGO/MATLAB </a:t>
            </a:r>
            <a:r>
              <a:rPr lang="zh-CN" altLang="en-US" sz="2400" dirty="0">
                <a:solidFill>
                  <a:srgbClr val="FF0000"/>
                </a:solidFill>
                <a:latin typeface="Arial" charset="0"/>
                <a:ea typeface="宋体" panose="02010600030101010101" pitchFamily="2" charset="-122"/>
              </a:rPr>
              <a:t>任选一种</a:t>
            </a:r>
            <a:r>
              <a:rPr lang="zh-CN" altLang="zh-CN" sz="2400" dirty="0">
                <a:solidFill>
                  <a:srgbClr val="FF0000"/>
                </a:solidFill>
                <a:latin typeface="Arial" charset="0"/>
                <a:ea typeface="宋体" panose="02010600030101010101" pitchFamily="2" charset="-122"/>
              </a:rPr>
              <a:t>软件对上述</a:t>
            </a:r>
            <a:r>
              <a:rPr lang="zh-CN" altLang="en-US" sz="2400" dirty="0">
                <a:solidFill>
                  <a:srgbClr val="FF0000"/>
                </a:solidFill>
                <a:latin typeface="Arial" charset="0"/>
                <a:ea typeface="宋体" panose="02010600030101010101" pitchFamily="2" charset="-122"/>
              </a:rPr>
              <a:t>任一种</a:t>
            </a:r>
            <a:r>
              <a:rPr lang="zh-CN" altLang="zh-CN" sz="2400" dirty="0">
                <a:solidFill>
                  <a:srgbClr val="FF0000"/>
                </a:solidFill>
                <a:latin typeface="Arial" charset="0"/>
                <a:ea typeface="宋体" panose="02010600030101010101" pitchFamily="2" charset="-122"/>
              </a:rPr>
              <a:t>变化</a:t>
            </a:r>
            <a:r>
              <a:rPr lang="zh-CN" altLang="en-US" sz="2400" dirty="0">
                <a:solidFill>
                  <a:srgbClr val="FF0000"/>
                </a:solidFill>
                <a:latin typeface="Arial" charset="0"/>
                <a:ea typeface="宋体" panose="02010600030101010101" pitchFamily="2" charset="-122"/>
              </a:rPr>
              <a:t>进行</a:t>
            </a:r>
            <a:r>
              <a:rPr lang="zh-CN" altLang="zh-CN" sz="2400" dirty="0">
                <a:solidFill>
                  <a:srgbClr val="FF0000"/>
                </a:solidFill>
                <a:latin typeface="Arial" charset="0"/>
                <a:ea typeface="宋体" panose="02010600030101010101" pitchFamily="2" charset="-122"/>
              </a:rPr>
              <a:t>灵敏度分析</a:t>
            </a:r>
            <a:r>
              <a:rPr lang="zh-CN" altLang="en-US" sz="2400" dirty="0">
                <a:solidFill>
                  <a:srgbClr val="FF0000"/>
                </a:solidFill>
                <a:latin typeface="Arial" charset="0"/>
                <a:ea typeface="宋体" panose="02010600030101010101" pitchFamily="2" charset="-122"/>
              </a:rPr>
              <a:t>？</a:t>
            </a:r>
            <a:endParaRPr lang="zh-CN" altLang="zh-CN" sz="2400" dirty="0">
              <a:solidFill>
                <a:srgbClr val="FF0000"/>
              </a:solidFill>
              <a:latin typeface="Arial" charset="0"/>
              <a:ea typeface="宋体" panose="02010600030101010101" pitchFamily="2" charset="-122"/>
            </a:endParaRPr>
          </a:p>
          <a:p>
            <a:pPr marL="669925" lvl="1" indent="-325438" fontAlgn="base">
              <a:spcBef>
                <a:spcPct val="20000"/>
              </a:spcBef>
              <a:spcAft>
                <a:spcPct val="0"/>
              </a:spcAft>
              <a:buClr>
                <a:srgbClr val="3B812F"/>
              </a:buClr>
              <a:buSzPct val="60000"/>
              <a:buFont typeface="Wingdings" pitchFamily="2" charset="2"/>
              <a:buChar char="q"/>
              <a:defRPr/>
            </a:pPr>
            <a:endParaRPr lang="zh-CN" altLang="en-US" sz="2400" dirty="0">
              <a:solidFill>
                <a:srgbClr val="FF0000"/>
              </a:solidFill>
              <a:latin typeface="Calibri" pitchFamily="34" charset="0"/>
              <a:ea typeface="宋体" panose="02010600030101010101" pitchFamily="2" charset="-122"/>
              <a:cs typeface="Times New Roman" pitchFamily="18" charset="0"/>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dirty="0">
              <a:solidFill>
                <a:srgbClr val="000000"/>
              </a:solidFill>
              <a:latin typeface="Calibri" pitchFamily="34" charset="0"/>
              <a:ea typeface="宋体" panose="02010600030101010101" pitchFamily="2" charset="-122"/>
              <a:cs typeface="Times New Roman" pitchFamily="18" charset="0"/>
            </a:endParaRPr>
          </a:p>
          <a:p>
            <a:pPr marL="669925" lvl="1" indent="-325438" fontAlgn="base">
              <a:spcBef>
                <a:spcPct val="20000"/>
              </a:spcBef>
              <a:spcAft>
                <a:spcPct val="0"/>
              </a:spcAft>
              <a:buClr>
                <a:srgbClr val="3B812F"/>
              </a:buClr>
              <a:buSzPct val="60000"/>
              <a:buFont typeface="Wingdings" pitchFamily="2" charset="2"/>
              <a:buChar char="q"/>
              <a:defRPr/>
            </a:pPr>
            <a:endParaRPr lang="zh-CN" altLang="en-US"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buFont typeface="Wingdings" pitchFamily="2" charset="2"/>
              <a:buChar char="q"/>
              <a:defRPr/>
            </a:pPr>
            <a:endParaRPr lang="en-US" altLang="zh-CN" sz="2400" kern="0" dirty="0">
              <a:solidFill>
                <a:srgbClr val="3333FF"/>
              </a:solidFill>
              <a:latin typeface="华文细黑" pitchFamily="2" charset="-122"/>
              <a:ea typeface="宋体"/>
            </a:endParaRPr>
          </a:p>
          <a:p>
            <a:pPr marL="669925" lvl="1" indent="-325438" fontAlgn="base">
              <a:spcBef>
                <a:spcPct val="20000"/>
              </a:spcBef>
              <a:spcAft>
                <a:spcPct val="0"/>
              </a:spcAft>
              <a:buClr>
                <a:srgbClr val="3B812F"/>
              </a:buClr>
              <a:buSzPct val="60000"/>
              <a:defRPr/>
            </a:pPr>
            <a:endParaRPr lang="en-US" altLang="zh-CN" sz="2200" kern="0" dirty="0">
              <a:solidFill>
                <a:srgbClr val="000000"/>
              </a:solidFill>
              <a:latin typeface="Arial"/>
              <a:ea typeface="宋体"/>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a:extLst>
              <a:ext uri="{FF2B5EF4-FFF2-40B4-BE49-F238E27FC236}">
                <a16:creationId xmlns:a16="http://schemas.microsoft.com/office/drawing/2014/main" id="{59BE8C0C-468F-4269-A9DB-4087B9D2372F}"/>
              </a:ext>
            </a:extLst>
          </p:cNvPr>
          <p:cNvSpPr>
            <a:spLocks noGrp="1" noChangeArrowheads="1"/>
          </p:cNvSpPr>
          <p:nvPr>
            <p:ph type="title"/>
          </p:nvPr>
        </p:nvSpPr>
        <p:spPr>
          <a:xfrm>
            <a:off x="1981200" y="277814"/>
            <a:ext cx="7010400" cy="788987"/>
          </a:xfrm>
        </p:spPr>
        <p:txBody>
          <a:bodyPr/>
          <a:lstStyle/>
          <a:p>
            <a:r>
              <a:rPr lang="zh-CN" altLang="en-US"/>
              <a:t>课后练习</a:t>
            </a:r>
            <a:r>
              <a:rPr lang="zh-CN" altLang="zh-CN"/>
              <a:t>题</a:t>
            </a:r>
            <a:r>
              <a:rPr lang="en-US" altLang="zh-CN"/>
              <a:t> 3.8</a:t>
            </a:r>
            <a:endParaRPr lang="zh-CN" altLang="en-US"/>
          </a:p>
        </p:txBody>
      </p:sp>
      <p:sp>
        <p:nvSpPr>
          <p:cNvPr id="126979" name="AutoShape 1" descr="C:\Users\john\AppData\Roaming\Tencent\Users\22892665\QQ\WinTemp\RichOle\~J5Q7I]{QM{GQR[]T5)7K.jpg">
            <a:extLst>
              <a:ext uri="{FF2B5EF4-FFF2-40B4-BE49-F238E27FC236}">
                <a16:creationId xmlns:a16="http://schemas.microsoft.com/office/drawing/2014/main" id="{739875D5-72AE-4B48-B134-CBF30E81F637}"/>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6980" name="AutoShape 2" descr="C:\Users\john\AppData\Roaming\Tencent\Users\22892665\QQ\WinTemp\RichOle\~J5Q7I]{QM{GQR[]T5)7K.jpg">
            <a:extLst>
              <a:ext uri="{FF2B5EF4-FFF2-40B4-BE49-F238E27FC236}">
                <a16:creationId xmlns:a16="http://schemas.microsoft.com/office/drawing/2014/main" id="{DC15E4A7-65E1-488A-B774-43A643260941}"/>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6981" name="AutoShape 3" descr="C:\Users\john\AppData\Roaming\Tencent\Users\22892665\QQ\WinTemp\RichOle\~J5Q7I]{QM{GQR[]T5)7K.jpg">
            <a:extLst>
              <a:ext uri="{FF2B5EF4-FFF2-40B4-BE49-F238E27FC236}">
                <a16:creationId xmlns:a16="http://schemas.microsoft.com/office/drawing/2014/main" id="{5580D06A-AC2B-40BA-9F7B-6E34CC049F2F}"/>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9" name="矩形 8">
            <a:extLst>
              <a:ext uri="{FF2B5EF4-FFF2-40B4-BE49-F238E27FC236}">
                <a16:creationId xmlns:a16="http://schemas.microsoft.com/office/drawing/2014/main" id="{6F04316A-740F-4FE0-A73C-CF9E44B0919D}"/>
              </a:ext>
            </a:extLst>
          </p:cNvPr>
          <p:cNvSpPr/>
          <p:nvPr/>
        </p:nvSpPr>
        <p:spPr>
          <a:xfrm>
            <a:off x="2057401" y="1077914"/>
            <a:ext cx="504825" cy="369887"/>
          </a:xfrm>
          <a:prstGeom prst="rect">
            <a:avLst/>
          </a:prstGeom>
        </p:spPr>
        <p:txBody>
          <a:bodyPr wrap="none">
            <a:spAutoFit/>
          </a:bodyPr>
          <a:lstStyle/>
          <a:p>
            <a:pPr eaLnBrk="0" fontAlgn="base" hangingPunct="0">
              <a:spcBef>
                <a:spcPct val="0"/>
              </a:spcBef>
              <a:spcAft>
                <a:spcPct val="0"/>
              </a:spcAft>
              <a:defRPr/>
            </a:pPr>
            <a:r>
              <a:rPr lang="en-US" altLang="zh-CN" kern="0" dirty="0">
                <a:solidFill>
                  <a:srgbClr val="FF0000"/>
                </a:solidFill>
                <a:latin typeface="华文细黑" pitchFamily="2" charset="-122"/>
                <a:ea typeface="宋体" panose="02010600030101010101" pitchFamily="2" charset="-122"/>
              </a:rPr>
              <a:t>3.8</a:t>
            </a:r>
            <a:endParaRPr lang="zh-CN" altLang="en-US" dirty="0">
              <a:solidFill>
                <a:srgbClr val="000000"/>
              </a:solidFill>
              <a:latin typeface="Arial" charset="0"/>
              <a:ea typeface="宋体" panose="02010600030101010101" pitchFamily="2" charset="-122"/>
            </a:endParaRPr>
          </a:p>
        </p:txBody>
      </p:sp>
      <p:pic>
        <p:nvPicPr>
          <p:cNvPr id="126983" name="Picture 2">
            <a:extLst>
              <a:ext uri="{FF2B5EF4-FFF2-40B4-BE49-F238E27FC236}">
                <a16:creationId xmlns:a16="http://schemas.microsoft.com/office/drawing/2014/main" id="{E997A895-1DDF-4EBF-97D4-D2D957A8E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6" y="1785938"/>
            <a:ext cx="8391525"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a:extLst>
              <a:ext uri="{FF2B5EF4-FFF2-40B4-BE49-F238E27FC236}">
                <a16:creationId xmlns:a16="http://schemas.microsoft.com/office/drawing/2014/main" id="{81EFFA6A-FCC8-4B10-82FB-8E0473535FCA}"/>
              </a:ext>
            </a:extLst>
          </p:cNvPr>
          <p:cNvSpPr>
            <a:spLocks noGrp="1" noChangeArrowheads="1"/>
          </p:cNvSpPr>
          <p:nvPr>
            <p:ph type="title"/>
          </p:nvPr>
        </p:nvSpPr>
        <p:spPr>
          <a:xfrm>
            <a:off x="1981200" y="277814"/>
            <a:ext cx="7010400" cy="788987"/>
          </a:xfrm>
        </p:spPr>
        <p:txBody>
          <a:bodyPr/>
          <a:lstStyle/>
          <a:p>
            <a:r>
              <a:rPr lang="zh-CN" altLang="en-US"/>
              <a:t>课后练习</a:t>
            </a:r>
            <a:r>
              <a:rPr lang="zh-CN" altLang="zh-CN"/>
              <a:t>题</a:t>
            </a:r>
            <a:r>
              <a:rPr lang="en-US" altLang="zh-CN"/>
              <a:t> 3.9(1)</a:t>
            </a:r>
            <a:endParaRPr lang="zh-CN" altLang="en-US"/>
          </a:p>
        </p:txBody>
      </p:sp>
      <p:sp>
        <p:nvSpPr>
          <p:cNvPr id="128003" name="AutoShape 1" descr="C:\Users\john\AppData\Roaming\Tencent\Users\22892665\QQ\WinTemp\RichOle\~J5Q7I]{QM{GQR[]T5)7K.jpg">
            <a:extLst>
              <a:ext uri="{FF2B5EF4-FFF2-40B4-BE49-F238E27FC236}">
                <a16:creationId xmlns:a16="http://schemas.microsoft.com/office/drawing/2014/main" id="{3CEC1383-F20A-4E13-B7DE-E39AC536ACDC}"/>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8004" name="AutoShape 2" descr="C:\Users\john\AppData\Roaming\Tencent\Users\22892665\QQ\WinTemp\RichOle\~J5Q7I]{QM{GQR[]T5)7K.jpg">
            <a:extLst>
              <a:ext uri="{FF2B5EF4-FFF2-40B4-BE49-F238E27FC236}">
                <a16:creationId xmlns:a16="http://schemas.microsoft.com/office/drawing/2014/main" id="{12D373A3-32CB-4F49-BB0C-5E1600AA9D74}"/>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8005" name="AutoShape 3" descr="C:\Users\john\AppData\Roaming\Tencent\Users\22892665\QQ\WinTemp\RichOle\~J5Q7I]{QM{GQR[]T5)7K.jpg">
            <a:extLst>
              <a:ext uri="{FF2B5EF4-FFF2-40B4-BE49-F238E27FC236}">
                <a16:creationId xmlns:a16="http://schemas.microsoft.com/office/drawing/2014/main" id="{630F9BF7-08DF-4065-9FE7-BB93CC2A262F}"/>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pic>
        <p:nvPicPr>
          <p:cNvPr id="128006" name="Picture 2">
            <a:extLst>
              <a:ext uri="{FF2B5EF4-FFF2-40B4-BE49-F238E27FC236}">
                <a16:creationId xmlns:a16="http://schemas.microsoft.com/office/drawing/2014/main" id="{A5C425C5-16D1-42EC-A885-48226383E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2975" b="58363"/>
          <a:stretch>
            <a:fillRect/>
          </a:stretch>
        </p:blipFill>
        <p:spPr bwMode="auto">
          <a:xfrm>
            <a:off x="2743200" y="1371600"/>
            <a:ext cx="6324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2390399A-5DB1-4ADF-800A-37422C410AF4}"/>
              </a:ext>
            </a:extLst>
          </p:cNvPr>
          <p:cNvSpPr/>
          <p:nvPr/>
        </p:nvSpPr>
        <p:spPr>
          <a:xfrm>
            <a:off x="2133601" y="1371600"/>
            <a:ext cx="504825" cy="369888"/>
          </a:xfrm>
          <a:prstGeom prst="rect">
            <a:avLst/>
          </a:prstGeom>
        </p:spPr>
        <p:txBody>
          <a:bodyPr wrap="none">
            <a:spAutoFit/>
          </a:bodyPr>
          <a:lstStyle/>
          <a:p>
            <a:pPr eaLnBrk="0" fontAlgn="base" hangingPunct="0">
              <a:spcBef>
                <a:spcPct val="0"/>
              </a:spcBef>
              <a:spcAft>
                <a:spcPct val="0"/>
              </a:spcAft>
              <a:defRPr/>
            </a:pPr>
            <a:r>
              <a:rPr lang="en-US" altLang="zh-CN" kern="0" dirty="0">
                <a:solidFill>
                  <a:srgbClr val="FF0000"/>
                </a:solidFill>
                <a:latin typeface="华文细黑" pitchFamily="2" charset="-122"/>
                <a:ea typeface="宋体" panose="02010600030101010101" pitchFamily="2" charset="-122"/>
              </a:rPr>
              <a:t>3.9</a:t>
            </a:r>
            <a:endParaRPr lang="zh-CN" altLang="en-US" dirty="0">
              <a:solidFill>
                <a:srgbClr val="000000"/>
              </a:solidFill>
              <a:latin typeface="Arial" charset="0"/>
              <a:ea typeface="宋体" panose="02010600030101010101" pitchFamily="2" charset="-122"/>
            </a:endParaRPr>
          </a:p>
        </p:txBody>
      </p:sp>
      <p:pic>
        <p:nvPicPr>
          <p:cNvPr id="128008" name="Picture 2">
            <a:extLst>
              <a:ext uri="{FF2B5EF4-FFF2-40B4-BE49-F238E27FC236}">
                <a16:creationId xmlns:a16="http://schemas.microsoft.com/office/drawing/2014/main" id="{D2D0C843-ADE5-412D-942D-3CE7DCC14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9764" t="41637"/>
          <a:stretch>
            <a:fillRect/>
          </a:stretch>
        </p:blipFill>
        <p:spPr bwMode="auto">
          <a:xfrm>
            <a:off x="2819401" y="2743201"/>
            <a:ext cx="292417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a:extLst>
              <a:ext uri="{FF2B5EF4-FFF2-40B4-BE49-F238E27FC236}">
                <a16:creationId xmlns:a16="http://schemas.microsoft.com/office/drawing/2014/main" id="{B5F70098-91EB-4A5F-9D58-8490F1E162AA}"/>
              </a:ext>
            </a:extLst>
          </p:cNvPr>
          <p:cNvSpPr>
            <a:spLocks noGrp="1" noChangeArrowheads="1"/>
          </p:cNvSpPr>
          <p:nvPr>
            <p:ph type="title"/>
          </p:nvPr>
        </p:nvSpPr>
        <p:spPr>
          <a:xfrm>
            <a:off x="1981200" y="277814"/>
            <a:ext cx="7010400" cy="788987"/>
          </a:xfrm>
        </p:spPr>
        <p:txBody>
          <a:bodyPr/>
          <a:lstStyle/>
          <a:p>
            <a:r>
              <a:rPr lang="zh-CN" altLang="en-US"/>
              <a:t>课后练习</a:t>
            </a:r>
            <a:r>
              <a:rPr lang="zh-CN" altLang="zh-CN"/>
              <a:t>题</a:t>
            </a:r>
            <a:r>
              <a:rPr lang="en-US" altLang="zh-CN"/>
              <a:t> 3.10</a:t>
            </a:r>
            <a:endParaRPr lang="zh-CN" altLang="en-US"/>
          </a:p>
        </p:txBody>
      </p:sp>
      <p:sp>
        <p:nvSpPr>
          <p:cNvPr id="129027" name="AutoShape 1" descr="C:\Users\john\AppData\Roaming\Tencent\Users\22892665\QQ\WinTemp\RichOle\~J5Q7I]{QM{GQR[]T5)7K.jpg">
            <a:extLst>
              <a:ext uri="{FF2B5EF4-FFF2-40B4-BE49-F238E27FC236}">
                <a16:creationId xmlns:a16="http://schemas.microsoft.com/office/drawing/2014/main" id="{85687499-FD4D-434D-8A73-D64CF699BAEE}"/>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9028" name="AutoShape 2" descr="C:\Users\john\AppData\Roaming\Tencent\Users\22892665\QQ\WinTemp\RichOle\~J5Q7I]{QM{GQR[]T5)7K.jpg">
            <a:extLst>
              <a:ext uri="{FF2B5EF4-FFF2-40B4-BE49-F238E27FC236}">
                <a16:creationId xmlns:a16="http://schemas.microsoft.com/office/drawing/2014/main" id="{90BD8838-4001-4DCE-8EF8-4A99ECBA5004}"/>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129029" name="AutoShape 3" descr="C:\Users\john\AppData\Roaming\Tencent\Users\22892665\QQ\WinTemp\RichOle\~J5Q7I]{QM{GQR[]T5)7K.jpg">
            <a:extLst>
              <a:ext uri="{FF2B5EF4-FFF2-40B4-BE49-F238E27FC236}">
                <a16:creationId xmlns:a16="http://schemas.microsoft.com/office/drawing/2014/main" id="{99B3540C-F5CF-47DE-BA83-570E9B4CF234}"/>
              </a:ext>
            </a:extLst>
          </p:cNvPr>
          <p:cNvSpPr>
            <a:spLocks noChangeAspect="1" noChangeArrowheads="1"/>
          </p:cNvSpPr>
          <p:nvPr/>
        </p:nvSpPr>
        <p:spPr bwMode="auto">
          <a:xfrm>
            <a:off x="1524000" y="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pPr>
            <a:endParaRPr lang="zh-CN" altLang="en-US">
              <a:solidFill>
                <a:srgbClr val="000000"/>
              </a:solidFill>
            </a:endParaRPr>
          </a:p>
        </p:txBody>
      </p:sp>
      <p:sp>
        <p:nvSpPr>
          <p:cNvPr id="9" name="矩形 8">
            <a:extLst>
              <a:ext uri="{FF2B5EF4-FFF2-40B4-BE49-F238E27FC236}">
                <a16:creationId xmlns:a16="http://schemas.microsoft.com/office/drawing/2014/main" id="{0B8A6982-EB0F-4D39-B33A-020669C306CE}"/>
              </a:ext>
            </a:extLst>
          </p:cNvPr>
          <p:cNvSpPr/>
          <p:nvPr/>
        </p:nvSpPr>
        <p:spPr>
          <a:xfrm>
            <a:off x="1828801" y="1382714"/>
            <a:ext cx="633413" cy="369887"/>
          </a:xfrm>
          <a:prstGeom prst="rect">
            <a:avLst/>
          </a:prstGeom>
        </p:spPr>
        <p:txBody>
          <a:bodyPr wrap="none">
            <a:spAutoFit/>
          </a:bodyPr>
          <a:lstStyle/>
          <a:p>
            <a:pPr eaLnBrk="0" fontAlgn="base" hangingPunct="0">
              <a:spcBef>
                <a:spcPct val="0"/>
              </a:spcBef>
              <a:spcAft>
                <a:spcPct val="0"/>
              </a:spcAft>
              <a:defRPr/>
            </a:pPr>
            <a:r>
              <a:rPr lang="en-US" altLang="zh-CN" kern="0" dirty="0">
                <a:solidFill>
                  <a:srgbClr val="FF0000"/>
                </a:solidFill>
                <a:latin typeface="华文细黑" pitchFamily="2" charset="-122"/>
                <a:ea typeface="宋体" panose="02010600030101010101" pitchFamily="2" charset="-122"/>
              </a:rPr>
              <a:t>3.10</a:t>
            </a:r>
            <a:endParaRPr lang="zh-CN" altLang="en-US" dirty="0">
              <a:solidFill>
                <a:srgbClr val="000000"/>
              </a:solidFill>
              <a:latin typeface="Arial" charset="0"/>
              <a:ea typeface="宋体" panose="02010600030101010101" pitchFamily="2" charset="-122"/>
            </a:endParaRPr>
          </a:p>
        </p:txBody>
      </p:sp>
      <p:pic>
        <p:nvPicPr>
          <p:cNvPr id="129031" name="Picture 8">
            <a:extLst>
              <a:ext uri="{FF2B5EF4-FFF2-40B4-BE49-F238E27FC236}">
                <a16:creationId xmlns:a16="http://schemas.microsoft.com/office/drawing/2014/main" id="{1E18558A-37E5-41B6-8E56-B6C7DC1AE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14" y="1447801"/>
            <a:ext cx="5743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2" name="Picture 9">
            <a:extLst>
              <a:ext uri="{FF2B5EF4-FFF2-40B4-BE49-F238E27FC236}">
                <a16:creationId xmlns:a16="http://schemas.microsoft.com/office/drawing/2014/main" id="{16FD0A06-F60A-4A12-9809-F6F36961E8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209801"/>
            <a:ext cx="7543800" cy="354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BACE3C87-DDA5-4B70-8A7C-C9C49E7D008D}"/>
              </a:ext>
            </a:extLst>
          </p:cNvPr>
          <p:cNvSpPr>
            <a:spLocks noGrp="1" noChangeArrowheads="1"/>
          </p:cNvSpPr>
          <p:nvPr>
            <p:ph type="title"/>
          </p:nvPr>
        </p:nvSpPr>
        <p:spPr/>
        <p:txBody>
          <a:bodyPr/>
          <a:lstStyle/>
          <a:p>
            <a:pPr eaLnBrk="1" hangingPunct="1"/>
            <a:r>
              <a:rPr lang="zh-CN" altLang="en-US"/>
              <a:t>庖丁解牛的故事</a:t>
            </a:r>
          </a:p>
        </p:txBody>
      </p:sp>
      <p:sp>
        <p:nvSpPr>
          <p:cNvPr id="130051" name="矩形 5">
            <a:extLst>
              <a:ext uri="{FF2B5EF4-FFF2-40B4-BE49-F238E27FC236}">
                <a16:creationId xmlns:a16="http://schemas.microsoft.com/office/drawing/2014/main" id="{845C283F-F5F7-4ABE-85F1-97B03A414D8E}"/>
              </a:ext>
            </a:extLst>
          </p:cNvPr>
          <p:cNvSpPr>
            <a:spLocks noChangeArrowheads="1"/>
          </p:cNvSpPr>
          <p:nvPr/>
        </p:nvSpPr>
        <p:spPr bwMode="auto">
          <a:xfrm>
            <a:off x="1828800" y="6324600"/>
            <a:ext cx="6096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zh-CN" altLang="en-US" sz="1600" b="1">
                <a:solidFill>
                  <a:srgbClr val="000000"/>
                </a:solidFill>
                <a:latin typeface="Times New Roman" panose="02020603050405020304" pitchFamily="18" charset="0"/>
                <a:cs typeface="Times New Roman" panose="02020603050405020304" pitchFamily="18" charset="0"/>
              </a:rPr>
              <a:t>你是自己人生的工匠</a:t>
            </a:r>
            <a:r>
              <a:rPr lang="en-US" altLang="zh-CN" sz="1600" b="1">
                <a:solidFill>
                  <a:srgbClr val="000000"/>
                </a:solidFill>
                <a:latin typeface="Times New Roman" panose="02020603050405020304" pitchFamily="18" charset="0"/>
                <a:cs typeface="Times New Roman" panose="02020603050405020304" pitchFamily="18" charset="0"/>
              </a:rPr>
              <a:t>. </a:t>
            </a:r>
            <a:r>
              <a:rPr lang="en-US" altLang="zh-CN" sz="1600">
                <a:solidFill>
                  <a:srgbClr val="000000"/>
                </a:solidFill>
                <a:latin typeface="Times New Roman" panose="02020603050405020304" pitchFamily="18" charset="0"/>
                <a:cs typeface="Times New Roman" panose="02020603050405020304" pitchFamily="18" charset="0"/>
              </a:rPr>
              <a:t>http://www.lohasxt.com/article-31208-1.html</a:t>
            </a:r>
            <a:endParaRPr lang="zh-CN" altLang="en-US" sz="1600">
              <a:solidFill>
                <a:srgbClr val="000000"/>
              </a:solidFill>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7603559B-ADAE-49B5-8829-F68D4A901FE9}"/>
              </a:ext>
            </a:extLst>
          </p:cNvPr>
          <p:cNvSpPr>
            <a:spLocks noChangeArrowheads="1"/>
          </p:cNvSpPr>
          <p:nvPr/>
        </p:nvSpPr>
        <p:spPr bwMode="auto">
          <a:xfrm>
            <a:off x="8624888" y="2408238"/>
            <a:ext cx="18669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zh-CN" altLang="en-US" b="1">
                <a:solidFill>
                  <a:srgbClr val="FF0000"/>
                </a:solidFill>
              </a:rPr>
              <a:t>启示：我们需要运用规律对复杂抽象的问题进行逐层解剖！比如：</a:t>
            </a:r>
            <a:endParaRPr lang="zh-CN" altLang="en-US">
              <a:solidFill>
                <a:srgbClr val="FF0000"/>
              </a:solidFill>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157427AC-4E16-483C-B9E1-782BEC89D8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1382713"/>
            <a:ext cx="3554413"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E89293A0-2FB7-40B3-81FF-A47A3F5949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71651" y="3592514"/>
            <a:ext cx="3535363"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a:extLst>
              <a:ext uri="{FF2B5EF4-FFF2-40B4-BE49-F238E27FC236}">
                <a16:creationId xmlns:a16="http://schemas.microsoft.com/office/drawing/2014/main" id="{4658429A-265D-4F71-8D7A-48019F50957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2613" y="1209676"/>
            <a:ext cx="33528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10">
            <a:extLst>
              <a:ext uri="{FF2B5EF4-FFF2-40B4-BE49-F238E27FC236}">
                <a16:creationId xmlns:a16="http://schemas.microsoft.com/office/drawing/2014/main" id="{86A6F6C3-0E2D-4F5E-A943-E895CB19386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48288" y="1182689"/>
            <a:ext cx="3352800"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绪论">
  <a:themeElements>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绪论">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绪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绪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绪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绪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绪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绪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绪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
  <Words>2712</Words>
  <Application>Microsoft Office PowerPoint</Application>
  <PresentationFormat>宽屏</PresentationFormat>
  <Paragraphs>985</Paragraphs>
  <Slides>34</Slides>
  <Notes>1</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34</vt:i4>
      </vt:variant>
    </vt:vector>
  </HeadingPairs>
  <TitlesOfParts>
    <vt:vector size="53" baseType="lpstr">
      <vt:lpstr>cajcd fnta1</vt:lpstr>
      <vt:lpstr>TimesNewRomanPS-ItalicMT</vt:lpstr>
      <vt:lpstr>TimesNewRomanPSMT</vt:lpstr>
      <vt:lpstr>等线</vt:lpstr>
      <vt:lpstr>等线 Light</vt:lpstr>
      <vt:lpstr>华文细黑</vt:lpstr>
      <vt:lpstr>楷体_GB2312</vt:lpstr>
      <vt:lpstr>宋体</vt:lpstr>
      <vt:lpstr>Arial</vt:lpstr>
      <vt:lpstr>Calibri</vt:lpstr>
      <vt:lpstr>Courier New</vt:lpstr>
      <vt:lpstr>Garamond</vt:lpstr>
      <vt:lpstr>Symbol</vt:lpstr>
      <vt:lpstr>Times New Roman</vt:lpstr>
      <vt:lpstr>Wingdings</vt:lpstr>
      <vt:lpstr>Office 主题​​</vt:lpstr>
      <vt:lpstr>绪论</vt:lpstr>
      <vt:lpstr>Equation</vt:lpstr>
      <vt:lpstr>公式</vt:lpstr>
      <vt:lpstr>第 7 节</vt:lpstr>
      <vt:lpstr>灵敏度分析</vt:lpstr>
      <vt:lpstr>分析方法</vt:lpstr>
      <vt:lpstr>可能的变化</vt:lpstr>
      <vt:lpstr>利用Lingo进行灵敏度分析</vt:lpstr>
      <vt:lpstr>利用Lingo进行灵敏度分析</vt:lpstr>
      <vt:lpstr>利用Lingo进行灵敏度分析</vt:lpstr>
      <vt:lpstr>资源数量b变化分析</vt:lpstr>
      <vt:lpstr>PowerPoint 演示文稿</vt:lpstr>
      <vt:lpstr>例子：资源数量b变化分析</vt:lpstr>
      <vt:lpstr>例子：资源数量b变化分析</vt:lpstr>
      <vt:lpstr>例子：资源数量b变化分析</vt:lpstr>
      <vt:lpstr>价值系数cj的变化分析</vt:lpstr>
      <vt:lpstr>例子：价值系数cj变化分析</vt:lpstr>
      <vt:lpstr>例子：价值系数cj变化分析</vt:lpstr>
      <vt:lpstr>技术系数 aij 的变化</vt:lpstr>
      <vt:lpstr>例子：技术系数 aij 变化分析</vt:lpstr>
      <vt:lpstr>例子：技术系数 aij 变化分析</vt:lpstr>
      <vt:lpstr>PowerPoint 演示文稿</vt:lpstr>
      <vt:lpstr>例子：技术系数 aij 变化分析</vt:lpstr>
      <vt:lpstr>例子：技术系数 aij 变化分析</vt:lpstr>
      <vt:lpstr>PowerPoint 演示文稿</vt:lpstr>
      <vt:lpstr>PowerPoint 演示文稿</vt:lpstr>
      <vt:lpstr>PowerPoint 演示文稿</vt:lpstr>
      <vt:lpstr>新增约束条件分析</vt:lpstr>
      <vt:lpstr>例子：技术系数 aij 变化分析</vt:lpstr>
      <vt:lpstr>例子</vt:lpstr>
      <vt:lpstr>PowerPoint 演示文稿</vt:lpstr>
      <vt:lpstr>课后练习题（运筹学第4版）</vt:lpstr>
      <vt:lpstr>实践内容（P77-84）</vt:lpstr>
      <vt:lpstr>课后练习题 3.8</vt:lpstr>
      <vt:lpstr>课后练习题 3.9(1)</vt:lpstr>
      <vt:lpstr>课后练习题 3.10</vt:lpstr>
      <vt:lpstr>庖丁解牛的故事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dc:title>第 7 节</dc:title>
  <cp:revision>1</cp:revision>
</cp:coreProperties>
</file>